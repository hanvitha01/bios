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6"/>
  </p:notesMasterIdLst>
  <p:sldIdLst>
    <p:sldId id="351" r:id="rId2"/>
    <p:sldId id="364" r:id="rId3"/>
    <p:sldId id="365" r:id="rId4"/>
    <p:sldId id="366" r:id="rId5"/>
    <p:sldId id="367" r:id="rId6"/>
    <p:sldId id="368" r:id="rId7"/>
    <p:sldId id="406" r:id="rId8"/>
    <p:sldId id="407" r:id="rId9"/>
    <p:sldId id="409" r:id="rId10"/>
    <p:sldId id="408" r:id="rId11"/>
    <p:sldId id="410" r:id="rId12"/>
    <p:sldId id="411" r:id="rId13"/>
    <p:sldId id="412" r:id="rId14"/>
    <p:sldId id="413" r:id="rId15"/>
    <p:sldId id="352" r:id="rId16"/>
    <p:sldId id="361" r:id="rId17"/>
    <p:sldId id="414" r:id="rId18"/>
    <p:sldId id="415" r:id="rId19"/>
    <p:sldId id="374" r:id="rId20"/>
    <p:sldId id="376" r:id="rId21"/>
    <p:sldId id="416" r:id="rId22"/>
    <p:sldId id="417" r:id="rId23"/>
    <p:sldId id="418" r:id="rId24"/>
    <p:sldId id="419" r:id="rId25"/>
    <p:sldId id="420" r:id="rId26"/>
    <p:sldId id="421" r:id="rId27"/>
    <p:sldId id="428" r:id="rId28"/>
    <p:sldId id="422" r:id="rId29"/>
    <p:sldId id="423" r:id="rId30"/>
    <p:sldId id="430" r:id="rId31"/>
    <p:sldId id="424" r:id="rId32"/>
    <p:sldId id="425" r:id="rId33"/>
    <p:sldId id="426" r:id="rId34"/>
    <p:sldId id="42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24" d="100"/>
          <a:sy n="124" d="100"/>
        </p:scale>
        <p:origin x="2218" y="106"/>
      </p:cViewPr>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Build\NtEmulatorPkg\DEBUG_DEVTLSxVC10\X64\InsydeModulePkg\Universal\PcdSmmDxe\Pcd\DEBUG</a:t>
            </a:r>
          </a:p>
        </p:txBody>
      </p:sp>
      <p:sp>
        <p:nvSpPr>
          <p:cNvPr id="4" name="Slide Number Placeholder 3"/>
          <p:cNvSpPr>
            <a:spLocks noGrp="1"/>
          </p:cNvSpPr>
          <p:nvPr>
            <p:ph type="sldNum" sz="quarter" idx="5"/>
          </p:nvPr>
        </p:nvSpPr>
        <p:spPr/>
        <p:txBody>
          <a:bodyPr/>
          <a:lstStyle/>
          <a:p>
            <a:fld id="{D43976C4-ACCA-4C47-8066-C01E23D4E079}" type="slidenum">
              <a:rPr lang="en-US" smtClean="0"/>
              <a:t>31</a:t>
            </a:fld>
            <a:endParaRPr lang="en-US"/>
          </a:p>
        </p:txBody>
      </p:sp>
    </p:spTree>
    <p:extLst>
      <p:ext uri="{BB962C8B-B14F-4D97-AF65-F5344CB8AC3E}">
        <p14:creationId xmlns:p14="http://schemas.microsoft.com/office/powerpoint/2010/main" val="12107712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3/26/2021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Platform Configuration Database</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054828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7160">
              <a:lnSpc>
                <a:spcPct val="100000"/>
              </a:lnSpc>
              <a:buClr>
                <a:srgbClr val="FFFFFF"/>
              </a:buClr>
              <a:buFont typeface="Arial"/>
              <a:buChar char="•"/>
            </a:pPr>
            <a:r>
              <a:rPr lang="en-US" altLang="zh-TW" dirty="0"/>
              <a:t>Goals &amp; Target Audience</a:t>
            </a:r>
          </a:p>
          <a:p>
            <a:pPr marL="228600" indent="-227160">
              <a:lnSpc>
                <a:spcPct val="100000"/>
              </a:lnSpc>
              <a:buClr>
                <a:srgbClr val="FFFFFF"/>
              </a:buClr>
              <a:buFont typeface="Arial"/>
              <a:buChar char="•"/>
            </a:pPr>
            <a:r>
              <a:rPr lang="en-US" altLang="zh-TW" dirty="0"/>
              <a:t>Overview</a:t>
            </a:r>
          </a:p>
          <a:p>
            <a:pPr marL="228600" indent="-227160">
              <a:lnSpc>
                <a:spcPct val="100000"/>
              </a:lnSpc>
              <a:buClr>
                <a:srgbClr val="FFFFFF"/>
              </a:buClr>
              <a:buFont typeface="Arial"/>
              <a:buChar char="•"/>
            </a:pPr>
            <a:r>
              <a:rPr lang="en-US" altLang="zh-TW" dirty="0"/>
              <a:t>How to Add New PCD</a:t>
            </a:r>
          </a:p>
          <a:p>
            <a:pPr marL="228600" indent="-227160">
              <a:lnSpc>
                <a:spcPct val="100000"/>
              </a:lnSpc>
              <a:buClr>
                <a:srgbClr val="FFFFFF"/>
              </a:buClr>
              <a:buFont typeface="Arial"/>
              <a:buChar char="•"/>
            </a:pPr>
            <a:r>
              <a:rPr lang="en-US" altLang="zh-TW" dirty="0"/>
              <a:t>How to Use PCD</a:t>
            </a:r>
          </a:p>
          <a:p>
            <a:pPr marL="228600" indent="-227160">
              <a:lnSpc>
                <a:spcPct val="100000"/>
              </a:lnSpc>
              <a:buClr>
                <a:srgbClr val="FFFFFF"/>
              </a:buClr>
              <a:buFont typeface="Arial"/>
              <a:buChar char="•"/>
            </a:pPr>
            <a:r>
              <a:rPr lang="en-US" altLang="zh-TW" dirty="0"/>
              <a:t>How to Change PCD in Build Time</a:t>
            </a:r>
          </a:p>
          <a:p>
            <a:pPr marL="228600" indent="-227160">
              <a:lnSpc>
                <a:spcPct val="100000"/>
              </a:lnSpc>
              <a:buClr>
                <a:srgbClr val="FFFFFF"/>
              </a:buClr>
              <a:buFont typeface="Arial"/>
              <a:buChar char="•"/>
            </a:pPr>
            <a:r>
              <a:rPr lang="en-US" altLang="zh-TW" dirty="0"/>
              <a:t>PCD Deep Dive</a:t>
            </a:r>
          </a:p>
          <a:p>
            <a:pPr marL="228600" indent="-227160">
              <a:lnSpc>
                <a:spcPct val="100000"/>
              </a:lnSpc>
              <a:buClr>
                <a:srgbClr val="FFFFFF"/>
              </a:buClr>
              <a:buFont typeface="Arial"/>
              <a:buChar char="•"/>
            </a:pPr>
            <a:r>
              <a:rPr lang="en-US" altLang="zh-TW" dirty="0"/>
              <a:t>Others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207666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 &amp; Target Audience</a:t>
            </a:r>
          </a:p>
        </p:txBody>
      </p:sp>
    </p:spTree>
    <p:extLst>
      <p:ext uri="{BB962C8B-B14F-4D97-AF65-F5344CB8AC3E}">
        <p14:creationId xmlns:p14="http://schemas.microsoft.com/office/powerpoint/2010/main" val="237913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 &amp; Target Audience</a:t>
            </a:r>
            <a:endParaRPr lang="zh-TW" altLang="en-US"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fontScale="92500" lnSpcReduction="20000"/>
          </a:bodyPr>
          <a:lstStyle/>
          <a:p>
            <a:pPr marL="228600" indent="-227160">
              <a:lnSpc>
                <a:spcPct val="100000"/>
              </a:lnSpc>
              <a:buClr>
                <a:srgbClr val="3F3F3F"/>
              </a:buClr>
              <a:buFont typeface="Arial"/>
              <a:buChar char="•"/>
            </a:pPr>
            <a:r>
              <a:rPr lang="en-US" altLang="zh-TW" sz="3000" b="0" strike="noStrike" spc="-1" dirty="0">
                <a:solidFill>
                  <a:srgbClr val="3F3F3F"/>
                </a:solidFill>
                <a:ea typeface="DejaVu Sans"/>
              </a:rPr>
              <a:t>Target Audience:</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BIOS developers who use InsydeH2O 5.x (EDK II) to create their firmware products.</a:t>
            </a:r>
            <a:endParaRPr lang="en-US" altLang="zh-TW" sz="26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Goals:</a:t>
            </a:r>
            <a:endParaRPr lang="en-US" altLang="zh-TW" sz="28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latin typeface="Segoe UI"/>
                <a:ea typeface="DejaVu Sans"/>
              </a:rPr>
              <a:t>Understand the concept of EDK II PCD.</a:t>
            </a:r>
            <a:endParaRPr lang="en-US" altLang="zh-TW" sz="2600" b="0" strike="noStrike" spc="-1" dirty="0">
              <a:latin typeface="Arial"/>
            </a:endParaRPr>
          </a:p>
          <a:p>
            <a:pPr marL="685800" lvl="1" indent="-227160">
              <a:lnSpc>
                <a:spcPct val="100000"/>
              </a:lnSpc>
              <a:buClr>
                <a:srgbClr val="3F3F3F"/>
              </a:buClr>
              <a:buFont typeface="Arial"/>
              <a:buChar char="•"/>
            </a:pPr>
            <a:r>
              <a:rPr lang="en-US" altLang="zh-TW" sz="2600" b="0" strike="noStrike" spc="-1" dirty="0">
                <a:solidFill>
                  <a:srgbClr val="3F3F3F"/>
                </a:solidFill>
                <a:latin typeface="Segoe UI"/>
                <a:ea typeface="DejaVu Sans"/>
              </a:rPr>
              <a:t>Know how to create a declaration for a new PCD.</a:t>
            </a:r>
            <a:endParaRPr lang="en-US" altLang="zh-TW" sz="2600" b="0" strike="noStrike" spc="-1" dirty="0">
              <a:latin typeface="Arial"/>
            </a:endParaRPr>
          </a:p>
          <a:p>
            <a:pPr marL="685800" lvl="1" indent="-227160">
              <a:lnSpc>
                <a:spcPct val="100000"/>
              </a:lnSpc>
              <a:buClr>
                <a:srgbClr val="3F3F3F"/>
              </a:buClr>
              <a:buFont typeface="Arial"/>
              <a:buChar char="•"/>
            </a:pPr>
            <a:r>
              <a:rPr lang="en-US" altLang="zh-TW" sz="2600" b="0" strike="noStrike" spc="-1" dirty="0">
                <a:solidFill>
                  <a:srgbClr val="3F3F3F"/>
                </a:solidFill>
                <a:latin typeface="Segoe UI"/>
                <a:ea typeface="DejaVu Sans"/>
              </a:rPr>
              <a:t>Know how to use PCD in module.</a:t>
            </a:r>
            <a:endParaRPr lang="en-US" altLang="zh-TW" sz="2600" b="0" strike="noStrike" spc="-1" dirty="0">
              <a:latin typeface="Arial"/>
            </a:endParaRPr>
          </a:p>
          <a:p>
            <a:pPr marL="685800" lvl="1" indent="-227160">
              <a:lnSpc>
                <a:spcPct val="100000"/>
              </a:lnSpc>
              <a:buClr>
                <a:srgbClr val="3F3F3F"/>
              </a:buClr>
              <a:buFont typeface="Arial"/>
              <a:buChar char="•"/>
            </a:pPr>
            <a:r>
              <a:rPr lang="en-US" altLang="zh-TW" sz="2600" b="0" strike="noStrike" spc="-1" dirty="0">
                <a:solidFill>
                  <a:srgbClr val="3F3F3F"/>
                </a:solidFill>
                <a:latin typeface="Segoe UI"/>
                <a:ea typeface="DejaVu Sans"/>
              </a:rPr>
              <a:t>Know how to change PCD value in build time.</a:t>
            </a:r>
            <a:endParaRPr lang="en-US" altLang="zh-TW" sz="2600" b="0" strike="noStrike" spc="-1" dirty="0">
              <a:latin typeface="Arial"/>
            </a:endParaRPr>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Requirements:</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InsydeH2O 5.x source code</a:t>
            </a:r>
            <a:endParaRPr lang="en-US" altLang="zh-TW" sz="26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Overview</a:t>
            </a:r>
            <a:br>
              <a:rPr lang="en-US" altLang="zh-TW" dirty="0"/>
            </a:br>
            <a:r>
              <a:rPr lang="en-US" altLang="zh-TW" sz="2000" b="1" strike="noStrike" spc="-1" dirty="0">
                <a:solidFill>
                  <a:srgbClr val="3F3F3F"/>
                </a:solidFill>
                <a:ea typeface="DejaVu Sans"/>
              </a:rPr>
              <a:t>EDK2 Platform Configuration Database (PCD)</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lstStyle/>
          <a:p>
            <a:pPr marL="228600" indent="-227160">
              <a:lnSpc>
                <a:spcPct val="100000"/>
              </a:lnSpc>
              <a:buClr>
                <a:srgbClr val="3F3F3F"/>
              </a:buClr>
              <a:buFont typeface="Arial"/>
              <a:buChar char="•"/>
            </a:pPr>
            <a:r>
              <a:rPr lang="en-US" altLang="zh-TW" sz="2800" b="1" strike="noStrike" spc="-1" dirty="0">
                <a:solidFill>
                  <a:srgbClr val="3F3F3F"/>
                </a:solidFill>
                <a:ea typeface="DejaVu Sans"/>
              </a:rPr>
              <a:t>Platform Configuration Database (PCD)</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Uniform configuration interface for module writers</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Platform configuration can be set both in build time and runtime with same interface (</a:t>
            </a:r>
            <a:r>
              <a:rPr lang="en-US" altLang="zh-TW" sz="2000" b="0" strike="noStrike" spc="-1" dirty="0" err="1">
                <a:solidFill>
                  <a:srgbClr val="3F3F3F"/>
                </a:solidFill>
                <a:ea typeface="DejaVu Sans"/>
              </a:rPr>
              <a:t>Pcd</a:t>
            </a:r>
            <a:r>
              <a:rPr lang="en-US" altLang="zh-TW" sz="2000" b="0" strike="noStrike" spc="-1" dirty="0">
                <a:solidFill>
                  <a:srgbClr val="3F3F3F"/>
                </a:solidFill>
                <a:ea typeface="DejaVu Sans"/>
              </a:rPr>
              <a:t> Get &amp; Set functions)</a:t>
            </a:r>
            <a:endParaRPr lang="en-US" altLang="zh-TW" sz="2000" b="0" strike="noStrike" spc="-1" dirty="0"/>
          </a:p>
          <a:p>
            <a:endParaRPr lang="zh-TW" altLang="en-US" dirty="0"/>
          </a:p>
        </p:txBody>
      </p:sp>
    </p:spTree>
    <p:extLst>
      <p:ext uri="{BB962C8B-B14F-4D97-AF65-F5344CB8AC3E}">
        <p14:creationId xmlns:p14="http://schemas.microsoft.com/office/powerpoint/2010/main" val="1048913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Overview</a:t>
            </a:r>
            <a:br>
              <a:rPr lang="en-US" altLang="zh-TW" dirty="0"/>
            </a:br>
            <a:r>
              <a:rPr lang="en-US" altLang="zh-TW" sz="2000" b="1" strike="noStrike" spc="-1" dirty="0">
                <a:solidFill>
                  <a:srgbClr val="3F3F3F"/>
                </a:solidFill>
                <a:ea typeface="DejaVu Sans"/>
              </a:rPr>
              <a:t>Goal</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lnSpcReduction="10000"/>
          </a:bodyPr>
          <a:lstStyle/>
          <a:p>
            <a:pPr marL="228600" indent="-227160">
              <a:lnSpc>
                <a:spcPct val="100000"/>
              </a:lnSpc>
              <a:buClr>
                <a:srgbClr val="3F3F3F"/>
              </a:buClr>
              <a:buFont typeface="Arial"/>
              <a:buChar char="•"/>
            </a:pPr>
            <a:r>
              <a:rPr lang="en-US" altLang="zh-TW" sz="2800" b="0" strike="noStrike" spc="-1" dirty="0">
                <a:solidFill>
                  <a:srgbClr val="3F3F3F"/>
                </a:solidFill>
                <a:ea typeface="DejaVu Sans"/>
              </a:rPr>
              <a:t>PCD entries are used for module “parameterization”. </a:t>
            </a:r>
            <a:endParaRPr lang="en-US" altLang="zh-TW" sz="28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DejaVu Sans"/>
              </a:rPr>
              <a:t>Benefits:</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Reduce the need to edit source code</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No searching for “magic” #define statements</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Maximize module reuse across platforms</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APIs for access to PCD entries</a:t>
            </a:r>
            <a:endParaRPr lang="en-US" altLang="zh-TW" sz="20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DejaVu Sans"/>
              </a:rPr>
              <a:t>The PCD is generated by the build. It contains PCD entries specified by: </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DEC: declarations of PCD entries</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INF: which PCDs are referenced</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DSC: value and access method</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FDF: flash layout related values</a:t>
            </a:r>
            <a:endParaRPr lang="en-US" altLang="zh-TW" sz="2000" b="0" strike="noStrike" spc="-1" dirty="0"/>
          </a:p>
          <a:p>
            <a:pPr>
              <a:lnSpc>
                <a:spcPct val="100000"/>
              </a:lnSpc>
            </a:pPr>
            <a:endParaRPr lang="en-US" altLang="zh-TW" sz="2000" b="0" strike="noStrike" spc="-1" dirty="0"/>
          </a:p>
          <a:p>
            <a:pPr>
              <a:lnSpc>
                <a:spcPct val="100000"/>
              </a:lnSpc>
            </a:pPr>
            <a:endParaRPr lang="en-US" altLang="zh-TW" sz="2000" b="0" strike="noStrike" spc="-1" dirty="0"/>
          </a:p>
        </p:txBody>
      </p:sp>
    </p:spTree>
    <p:extLst>
      <p:ext uri="{BB962C8B-B14F-4D97-AF65-F5344CB8AC3E}">
        <p14:creationId xmlns:p14="http://schemas.microsoft.com/office/powerpoint/2010/main" val="230954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Overview</a:t>
            </a:r>
            <a:br>
              <a:rPr lang="en-US" altLang="zh-TW" dirty="0"/>
            </a:br>
            <a:r>
              <a:rPr lang="en-US" altLang="zh-TW" sz="2000" spc="-1" dirty="0">
                <a:solidFill>
                  <a:srgbClr val="3F3F3F"/>
                </a:solidFill>
              </a:rPr>
              <a:t>PCD Types</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sz="2600" b="0" strike="noStrike" spc="-1" dirty="0" err="1">
                <a:solidFill>
                  <a:srgbClr val="3F3F3F"/>
                </a:solidFill>
                <a:ea typeface="DejaVu Sans"/>
              </a:rPr>
              <a:t>FeatureFlag</a:t>
            </a:r>
            <a:r>
              <a:rPr lang="en-US" altLang="zh-TW" sz="2600" b="0" strike="noStrike" spc="-1" dirty="0">
                <a:solidFill>
                  <a:srgbClr val="3F3F3F"/>
                </a:solidFill>
                <a:ea typeface="DejaVu Sans"/>
              </a:rPr>
              <a:t> </a:t>
            </a:r>
            <a:endParaRPr lang="en-US" altLang="zh-TW" sz="2600" b="0" strike="noStrike" spc="-1" dirty="0"/>
          </a:p>
          <a:p>
            <a:pPr marL="685800" lvl="1" indent="-227160">
              <a:lnSpc>
                <a:spcPct val="100000"/>
              </a:lnSpc>
              <a:buClr>
                <a:srgbClr val="3F3F3F"/>
              </a:buClr>
              <a:buFont typeface="Arial"/>
              <a:buChar char="•"/>
            </a:pPr>
            <a:r>
              <a:rPr lang="en-US" altLang="zh-TW" sz="1800" b="0" strike="noStrike" spc="-1" dirty="0">
                <a:solidFill>
                  <a:srgbClr val="3F3F3F"/>
                </a:solidFill>
                <a:ea typeface="DejaVu Sans"/>
              </a:rPr>
              <a:t>Replaces a switch MACRO to enable or disable a feature (TRUE or FALSE)</a:t>
            </a:r>
            <a:endParaRPr lang="en-US" altLang="zh-TW" sz="1800" b="0" strike="noStrike" spc="-1" dirty="0"/>
          </a:p>
          <a:p>
            <a:pPr marL="228600" indent="-227160">
              <a:lnSpc>
                <a:spcPct val="100000"/>
              </a:lnSpc>
              <a:buClr>
                <a:srgbClr val="3F3F3F"/>
              </a:buClr>
              <a:buFont typeface="Arial"/>
              <a:buChar char="•"/>
            </a:pPr>
            <a:r>
              <a:rPr lang="en-US" altLang="zh-TW" sz="2600" b="0" strike="noStrike" spc="-1" dirty="0" err="1">
                <a:solidFill>
                  <a:srgbClr val="3F3F3F"/>
                </a:solidFill>
                <a:ea typeface="DejaVu Sans"/>
              </a:rPr>
              <a:t>FixedAtBuild</a:t>
            </a:r>
            <a:endParaRPr lang="en-US" altLang="zh-TW" sz="2600" b="0" strike="noStrike" spc="-1" dirty="0"/>
          </a:p>
          <a:p>
            <a:pPr marL="685800" lvl="1" indent="-227160">
              <a:lnSpc>
                <a:spcPct val="100000"/>
              </a:lnSpc>
              <a:buClr>
                <a:srgbClr val="3F3F3F"/>
              </a:buClr>
              <a:buFont typeface="Arial"/>
              <a:buChar char="•"/>
            </a:pPr>
            <a:r>
              <a:rPr lang="en-US" altLang="zh-TW" sz="1800" b="0" strike="noStrike" spc="-1" dirty="0">
                <a:solidFill>
                  <a:srgbClr val="3F3F3F"/>
                </a:solidFill>
                <a:ea typeface="DejaVu Sans"/>
              </a:rPr>
              <a:t>Replaces a macro that produced a customizable value</a:t>
            </a:r>
            <a:endParaRPr lang="en-US" altLang="zh-TW" sz="1800" b="0" strike="noStrike" spc="-1" dirty="0"/>
          </a:p>
          <a:p>
            <a:pPr marL="685800" lvl="1" indent="-227160">
              <a:lnSpc>
                <a:spcPct val="100000"/>
              </a:lnSpc>
              <a:buClr>
                <a:srgbClr val="3F3F3F"/>
              </a:buClr>
              <a:buFont typeface="Arial"/>
              <a:buChar char="•"/>
            </a:pPr>
            <a:r>
              <a:rPr lang="en-US" altLang="zh-TW" sz="1800" b="0" strike="noStrike" spc="-1" dirty="0">
                <a:solidFill>
                  <a:srgbClr val="3F3F3F"/>
                </a:solidFill>
                <a:ea typeface="DejaVu Sans"/>
              </a:rPr>
              <a:t>Value of this PCD type is determined at build time and is stored in the code section of a module’s PE image </a:t>
            </a:r>
            <a:endParaRPr lang="en-US" altLang="zh-TW" sz="1800" b="0" strike="noStrike" spc="-1" dirty="0"/>
          </a:p>
          <a:p>
            <a:pPr marL="228600" indent="-227160">
              <a:lnSpc>
                <a:spcPct val="100000"/>
              </a:lnSpc>
              <a:buClr>
                <a:srgbClr val="3F3F3F"/>
              </a:buClr>
              <a:buFont typeface="Arial"/>
              <a:buChar char="•"/>
            </a:pPr>
            <a:r>
              <a:rPr lang="en-US" altLang="zh-TW" sz="2600" b="0" strike="noStrike" spc="-1" dirty="0" err="1">
                <a:solidFill>
                  <a:srgbClr val="3F3F3F"/>
                </a:solidFill>
                <a:ea typeface="DejaVu Sans"/>
              </a:rPr>
              <a:t>PatchableInModule</a:t>
            </a:r>
            <a:endParaRPr lang="en-US" altLang="zh-TW" sz="2600" b="0" strike="noStrike" spc="-1" dirty="0"/>
          </a:p>
          <a:p>
            <a:pPr marL="685800" lvl="1" indent="-227160">
              <a:lnSpc>
                <a:spcPct val="100000"/>
              </a:lnSpc>
              <a:buClr>
                <a:srgbClr val="3F3F3F"/>
              </a:buClr>
              <a:buFont typeface="Arial"/>
              <a:buChar char="•"/>
            </a:pPr>
            <a:r>
              <a:rPr lang="en-US" altLang="zh-TW" sz="1800" b="0" strike="noStrike" spc="-1" dirty="0">
                <a:solidFill>
                  <a:srgbClr val="3F3F3F"/>
                </a:solidFill>
                <a:ea typeface="DejaVu Sans"/>
              </a:rPr>
              <a:t>Value is stored in the data section, rather than the code section, of the module’s PE image. </a:t>
            </a:r>
            <a:endParaRPr lang="en-US" altLang="zh-TW" sz="1800" b="0" strike="noStrike" spc="-1" dirty="0"/>
          </a:p>
          <a:p>
            <a:pPr marL="228600" indent="-227160">
              <a:lnSpc>
                <a:spcPct val="100000"/>
              </a:lnSpc>
              <a:buClr>
                <a:srgbClr val="3F3F3F"/>
              </a:buClr>
              <a:buFont typeface="Arial"/>
              <a:buChar char="•"/>
            </a:pPr>
            <a:r>
              <a:rPr lang="en-US" altLang="zh-TW" sz="2600" b="0" strike="noStrike" spc="-1" dirty="0">
                <a:solidFill>
                  <a:srgbClr val="3F3F3F"/>
                </a:solidFill>
                <a:ea typeface="DejaVu Sans"/>
              </a:rPr>
              <a:t>Dynamic/</a:t>
            </a:r>
            <a:r>
              <a:rPr lang="en-US" altLang="zh-TW" sz="2600" b="0" strike="noStrike" spc="-1" dirty="0" err="1">
                <a:solidFill>
                  <a:srgbClr val="3F3F3F"/>
                </a:solidFill>
                <a:ea typeface="DejaVu Sans"/>
              </a:rPr>
              <a:t>DynamicEx</a:t>
            </a:r>
            <a:endParaRPr lang="en-US" altLang="zh-TW" sz="2600" b="0" strike="noStrike" spc="-1" dirty="0"/>
          </a:p>
          <a:p>
            <a:pPr marL="685800" lvl="1" indent="-227160">
              <a:lnSpc>
                <a:spcPct val="100000"/>
              </a:lnSpc>
              <a:buClr>
                <a:srgbClr val="3F3F3F"/>
              </a:buClr>
              <a:buFont typeface="Arial"/>
              <a:buChar char="•"/>
            </a:pPr>
            <a:r>
              <a:rPr lang="en-US" altLang="zh-TW" sz="1800" b="0" strike="noStrike" spc="-1" dirty="0">
                <a:solidFill>
                  <a:srgbClr val="3F3F3F"/>
                </a:solidFill>
                <a:ea typeface="DejaVu Sans"/>
              </a:rPr>
              <a:t>Value is assigned by one module and is accessed by other modules in execution time </a:t>
            </a:r>
            <a:endParaRPr lang="en-US" altLang="zh-TW" sz="1800" b="0" strike="noStrike" spc="-1" dirty="0"/>
          </a:p>
        </p:txBody>
      </p:sp>
    </p:spTree>
    <p:extLst>
      <p:ext uri="{BB962C8B-B14F-4D97-AF65-F5344CB8AC3E}">
        <p14:creationId xmlns:p14="http://schemas.microsoft.com/office/powerpoint/2010/main" val="156712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2339C7-5632-4B72-B5B9-5F3014C1E9BD}"/>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9F1A3C30-8A6E-4502-A60F-D368DEC18009}"/>
              </a:ext>
            </a:extLst>
          </p:cNvPr>
          <p:cNvSpPr>
            <a:spLocks noGrp="1"/>
          </p:cNvSpPr>
          <p:nvPr>
            <p:ph idx="1"/>
          </p:nvPr>
        </p:nvSpPr>
        <p:spPr/>
        <p:txBody>
          <a:bodyPr/>
          <a:lstStyle/>
          <a:p>
            <a:pPr marL="0" indent="0">
              <a:buNone/>
            </a:pPr>
            <a:r>
              <a:rPr lang="en-US" altLang="zh-TW" sz="2800" b="0" strike="noStrike" spc="-1" dirty="0">
                <a:solidFill>
                  <a:srgbClr val="3F3F3F"/>
                </a:solidFill>
                <a:ea typeface="DejaVu Sans"/>
              </a:rPr>
              <a:t>The PCD is generated by the build process parsing the build description files that define and specify PCD entries</a:t>
            </a:r>
            <a:endParaRPr lang="en-US" altLang="zh-TW" sz="2800" b="0" strike="noStrike" spc="-1" dirty="0"/>
          </a:p>
          <a:p>
            <a:endParaRPr lang="zh-TW" altLang="en-US" dirty="0"/>
          </a:p>
        </p:txBody>
      </p:sp>
      <p:grpSp>
        <p:nvGrpSpPr>
          <p:cNvPr id="4" name="群組 3">
            <a:extLst>
              <a:ext uri="{FF2B5EF4-FFF2-40B4-BE49-F238E27FC236}">
                <a16:creationId xmlns:a16="http://schemas.microsoft.com/office/drawing/2014/main" id="{8E7B58C0-BA4D-44BA-9C78-2947CC860C71}"/>
              </a:ext>
            </a:extLst>
          </p:cNvPr>
          <p:cNvGrpSpPr/>
          <p:nvPr/>
        </p:nvGrpSpPr>
        <p:grpSpPr>
          <a:xfrm>
            <a:off x="2181768" y="2214694"/>
            <a:ext cx="7744320" cy="4471332"/>
            <a:chOff x="755640" y="1781280"/>
            <a:chExt cx="7744320" cy="4541760"/>
          </a:xfrm>
        </p:grpSpPr>
        <p:sp>
          <p:nvSpPr>
            <p:cNvPr id="5" name="CustomShape 3">
              <a:extLst>
                <a:ext uri="{FF2B5EF4-FFF2-40B4-BE49-F238E27FC236}">
                  <a16:creationId xmlns:a16="http://schemas.microsoft.com/office/drawing/2014/main" id="{7D5D01AE-55DD-41B4-B885-CBE6D7282B0D}"/>
                </a:ext>
              </a:extLst>
            </p:cNvPr>
            <p:cNvSpPr/>
            <p:nvPr/>
          </p:nvSpPr>
          <p:spPr>
            <a:xfrm>
              <a:off x="3419640" y="1801800"/>
              <a:ext cx="2210040" cy="2513160"/>
            </a:xfrm>
            <a:prstGeom prst="rec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0" strike="noStrike" spc="-1" dirty="0">
                  <a:solidFill>
                    <a:srgbClr val="3F3F3F"/>
                  </a:solidFill>
                  <a:latin typeface="Verdana"/>
                  <a:ea typeface="DejaVu Sans"/>
                </a:rPr>
                <a:t>Defines usage of PCD tokens by the module</a:t>
              </a:r>
              <a:endParaRPr lang="en-US" sz="1200" b="0" strike="noStrike" spc="-1" dirty="0">
                <a:latin typeface="Arial"/>
              </a:endParaRPr>
            </a:p>
            <a:p>
              <a:pPr algn="ctr">
                <a:lnSpc>
                  <a:spcPct val="100000"/>
                </a:lnSpc>
              </a:pPr>
              <a:endParaRPr lang="en-US" sz="1200" b="0" strike="noStrike" spc="-1" dirty="0">
                <a:latin typeface="Arial"/>
              </a:endParaRPr>
            </a:p>
            <a:p>
              <a:pPr algn="ctr">
                <a:lnSpc>
                  <a:spcPct val="100000"/>
                </a:lnSpc>
              </a:pPr>
              <a:r>
                <a:rPr lang="en-US" sz="1200" b="0" strike="noStrike" spc="-1" dirty="0">
                  <a:solidFill>
                    <a:srgbClr val="3F3F3F"/>
                  </a:solidFill>
                  <a:latin typeface="Verdana"/>
                  <a:ea typeface="DejaVu Sans"/>
                </a:rPr>
                <a:t>Defines what PCD entries are being used within the module, the PCD restriction (or DYNAMIC for none), and a default value for the PCD within this module only.</a:t>
              </a:r>
              <a:endParaRPr lang="en-US" sz="1200" b="0" strike="noStrike" spc="-1" dirty="0">
                <a:latin typeface="Arial"/>
              </a:endParaRPr>
            </a:p>
          </p:txBody>
        </p:sp>
        <p:sp>
          <p:nvSpPr>
            <p:cNvPr id="6" name="CustomShape 4">
              <a:extLst>
                <a:ext uri="{FF2B5EF4-FFF2-40B4-BE49-F238E27FC236}">
                  <a16:creationId xmlns:a16="http://schemas.microsoft.com/office/drawing/2014/main" id="{3CED35BB-7722-4811-8C01-AE7D81FCF768}"/>
                </a:ext>
              </a:extLst>
            </p:cNvPr>
            <p:cNvSpPr/>
            <p:nvPr/>
          </p:nvSpPr>
          <p:spPr>
            <a:xfrm>
              <a:off x="755640" y="1781280"/>
              <a:ext cx="2210040" cy="2513160"/>
            </a:xfrm>
            <a:prstGeom prst="rec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0" strike="noStrike" spc="-1" dirty="0">
                  <a:solidFill>
                    <a:srgbClr val="3F3F3F"/>
                  </a:solidFill>
                  <a:latin typeface="Verdana"/>
                  <a:ea typeface="DejaVu Sans"/>
                </a:rPr>
                <a:t>Defines list of PCD tokens that modules can use.</a:t>
              </a:r>
              <a:endParaRPr lang="en-US" sz="1200" b="0" strike="noStrike" spc="-1" dirty="0">
                <a:latin typeface="Arial"/>
              </a:endParaRPr>
            </a:p>
            <a:p>
              <a:pPr algn="ctr">
                <a:lnSpc>
                  <a:spcPct val="100000"/>
                </a:lnSpc>
              </a:pPr>
              <a:endParaRPr lang="en-US" sz="1200" b="0" strike="noStrike" spc="-1" dirty="0">
                <a:latin typeface="Arial"/>
              </a:endParaRPr>
            </a:p>
            <a:p>
              <a:pPr algn="ctr">
                <a:lnSpc>
                  <a:spcPct val="100000"/>
                </a:lnSpc>
              </a:pPr>
              <a:r>
                <a:rPr lang="en-US" sz="1200" b="0" strike="noStrike" spc="-1" dirty="0">
                  <a:solidFill>
                    <a:srgbClr val="3F3F3F"/>
                  </a:solidFill>
                  <a:latin typeface="Verdana"/>
                  <a:ea typeface="DejaVu Sans"/>
                </a:rPr>
                <a:t>Defines the PCD entries that will exist under the GUID for that  package, the PCD restriction, valid types for the PCD, and a default value for the PCD.</a:t>
              </a:r>
              <a:endParaRPr lang="en-US" sz="1200" b="0" strike="noStrike" spc="-1" dirty="0">
                <a:latin typeface="Arial"/>
              </a:endParaRPr>
            </a:p>
          </p:txBody>
        </p:sp>
        <p:sp>
          <p:nvSpPr>
            <p:cNvPr id="7" name="CustomShape 5">
              <a:extLst>
                <a:ext uri="{FF2B5EF4-FFF2-40B4-BE49-F238E27FC236}">
                  <a16:creationId xmlns:a16="http://schemas.microsoft.com/office/drawing/2014/main" id="{77273F4B-0EA3-4F43-8355-65742A4226FA}"/>
                </a:ext>
              </a:extLst>
            </p:cNvPr>
            <p:cNvSpPr/>
            <p:nvPr/>
          </p:nvSpPr>
          <p:spPr>
            <a:xfrm>
              <a:off x="6153120" y="1781280"/>
              <a:ext cx="2214720" cy="2513160"/>
            </a:xfrm>
            <a:prstGeom prst="rec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0" strike="noStrike" spc="-1" dirty="0">
                  <a:solidFill>
                    <a:srgbClr val="3F3F3F"/>
                  </a:solidFill>
                  <a:latin typeface="Verdana"/>
                  <a:ea typeface="DejaVu Sans"/>
                </a:rPr>
                <a:t>Platform level file which describes the contents of the build for a specific platform.</a:t>
              </a:r>
              <a:endParaRPr lang="en-US" sz="1200" b="0" strike="noStrike" spc="-1" dirty="0">
                <a:latin typeface="Arial"/>
              </a:endParaRPr>
            </a:p>
            <a:p>
              <a:pPr algn="ctr">
                <a:lnSpc>
                  <a:spcPct val="100000"/>
                </a:lnSpc>
              </a:pPr>
              <a:endParaRPr lang="en-US" sz="1200" b="0" strike="noStrike" spc="-1" dirty="0">
                <a:latin typeface="Arial"/>
              </a:endParaRPr>
            </a:p>
            <a:p>
              <a:pPr algn="ctr">
                <a:lnSpc>
                  <a:spcPct val="100000"/>
                </a:lnSpc>
              </a:pPr>
              <a:r>
                <a:rPr lang="en-US" sz="1200" b="0" strike="noStrike" spc="-1" dirty="0">
                  <a:solidFill>
                    <a:srgbClr val="3F3F3F"/>
                  </a:solidFill>
                  <a:latin typeface="Verdana"/>
                  <a:ea typeface="DejaVu Sans"/>
                </a:rPr>
                <a:t>PCD entries are assigned values and types for the platform build.  Cannot conflict with established restrictions.</a:t>
              </a:r>
              <a:endParaRPr lang="en-US" sz="1200" b="0" strike="noStrike" spc="-1" dirty="0">
                <a:latin typeface="Arial"/>
              </a:endParaRPr>
            </a:p>
          </p:txBody>
        </p:sp>
        <p:sp>
          <p:nvSpPr>
            <p:cNvPr id="8" name="CustomShape 6">
              <a:extLst>
                <a:ext uri="{FF2B5EF4-FFF2-40B4-BE49-F238E27FC236}">
                  <a16:creationId xmlns:a16="http://schemas.microsoft.com/office/drawing/2014/main" id="{A2F73ECB-0DE2-4D10-B81D-6DF6017DD5BA}"/>
                </a:ext>
              </a:extLst>
            </p:cNvPr>
            <p:cNvSpPr/>
            <p:nvPr/>
          </p:nvSpPr>
          <p:spPr>
            <a:xfrm>
              <a:off x="3419640" y="4821120"/>
              <a:ext cx="2210040" cy="1417680"/>
            </a:xfrm>
            <a:prstGeom prst="flowChartDocumen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0" strike="noStrike" spc="-1" dirty="0">
                  <a:solidFill>
                    <a:srgbClr val="000000"/>
                  </a:solidFill>
                  <a:latin typeface="Verdana"/>
                  <a:ea typeface="DejaVu Sans"/>
                </a:rPr>
                <a:t>The INF file also carries descriptive text for a given PCD entry</a:t>
              </a:r>
              <a:endParaRPr lang="en-US" sz="1000" b="0" strike="noStrike" spc="-1" dirty="0">
                <a:latin typeface="Arial"/>
              </a:endParaRPr>
            </a:p>
            <a:p>
              <a:pPr algn="ctr">
                <a:lnSpc>
                  <a:spcPct val="100000"/>
                </a:lnSpc>
              </a:pPr>
              <a:endParaRPr lang="en-US" sz="1000" b="0" strike="noStrike" spc="-1" dirty="0">
                <a:latin typeface="Arial"/>
              </a:endParaRPr>
            </a:p>
          </p:txBody>
        </p:sp>
        <p:sp>
          <p:nvSpPr>
            <p:cNvPr id="9" name="CustomShape 7">
              <a:extLst>
                <a:ext uri="{FF2B5EF4-FFF2-40B4-BE49-F238E27FC236}">
                  <a16:creationId xmlns:a16="http://schemas.microsoft.com/office/drawing/2014/main" id="{33A3C3AC-BF78-422F-BBC2-E1FB8BB21E96}"/>
                </a:ext>
              </a:extLst>
            </p:cNvPr>
            <p:cNvSpPr/>
            <p:nvPr/>
          </p:nvSpPr>
          <p:spPr>
            <a:xfrm>
              <a:off x="755640" y="4800600"/>
              <a:ext cx="2210040" cy="1522440"/>
            </a:xfrm>
            <a:prstGeom prst="flowChartDocumen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0" strike="noStrike" spc="-1">
                  <a:solidFill>
                    <a:srgbClr val="000000"/>
                  </a:solidFill>
                  <a:latin typeface="Verdana"/>
                  <a:ea typeface="DejaVu Sans"/>
                </a:rPr>
                <a:t>The DEC file is part of a</a:t>
              </a:r>
              <a:r>
                <a:rPr lang="en-US" sz="1000" b="0" strike="noStrike" spc="-1">
                  <a:solidFill>
                    <a:srgbClr val="3F3F3F"/>
                  </a:solidFill>
                  <a:latin typeface="Verdana"/>
                  <a:ea typeface="DejaVu Sans"/>
                </a:rPr>
                <a:t> </a:t>
              </a:r>
              <a:r>
                <a:rPr lang="en-US" sz="1000" b="0" strike="noStrike" spc="-1">
                  <a:solidFill>
                    <a:srgbClr val="000000"/>
                  </a:solidFill>
                  <a:latin typeface="Verdana"/>
                  <a:ea typeface="DejaVu Sans"/>
                </a:rPr>
                <a:t>package.  Any package may define PCD entries. Any module that depends on a package may</a:t>
              </a:r>
              <a:r>
                <a:rPr lang="en-US" sz="1000" b="0" strike="noStrike" spc="-1">
                  <a:solidFill>
                    <a:srgbClr val="3F3F3F"/>
                  </a:solidFill>
                  <a:latin typeface="Verdana"/>
                  <a:ea typeface="DejaVu Sans"/>
                </a:rPr>
                <a:t> </a:t>
              </a:r>
              <a:r>
                <a:rPr lang="en-US" sz="1000" b="0" strike="noStrike" spc="-1">
                  <a:solidFill>
                    <a:srgbClr val="000000"/>
                  </a:solidFill>
                  <a:latin typeface="Verdana"/>
                  <a:ea typeface="DejaVu Sans"/>
                </a:rPr>
                <a:t>use the PCD entries defined in that packages' DEC file</a:t>
              </a:r>
              <a:r>
                <a:rPr lang="en-US" sz="1000" b="0" strike="noStrike" spc="-1">
                  <a:solidFill>
                    <a:srgbClr val="3F3F3F"/>
                  </a:solidFill>
                  <a:latin typeface="Verdana"/>
                  <a:ea typeface="DejaVu Sans"/>
                </a:rPr>
                <a:t> </a:t>
              </a:r>
              <a:endParaRPr lang="en-US" sz="1000" b="0" strike="noStrike" spc="-1">
                <a:latin typeface="Arial"/>
              </a:endParaRPr>
            </a:p>
            <a:p>
              <a:pPr algn="ctr">
                <a:lnSpc>
                  <a:spcPct val="100000"/>
                </a:lnSpc>
              </a:pPr>
              <a:r>
                <a:rPr lang="en-US" sz="1000" b="0" strike="noStrike" spc="-1">
                  <a:solidFill>
                    <a:srgbClr val="3F3F3F"/>
                  </a:solidFill>
                  <a:latin typeface="Verdana"/>
                  <a:ea typeface="DejaVu Sans"/>
                </a:rPr>
                <a:t> </a:t>
              </a:r>
              <a:endParaRPr lang="en-US" sz="1000" b="0" strike="noStrike" spc="-1">
                <a:latin typeface="Arial"/>
              </a:endParaRPr>
            </a:p>
          </p:txBody>
        </p:sp>
        <p:sp>
          <p:nvSpPr>
            <p:cNvPr id="10" name="CustomShape 8">
              <a:extLst>
                <a:ext uri="{FF2B5EF4-FFF2-40B4-BE49-F238E27FC236}">
                  <a16:creationId xmlns:a16="http://schemas.microsoft.com/office/drawing/2014/main" id="{409E5D7B-03CC-4C59-90D0-946073F477E1}"/>
                </a:ext>
              </a:extLst>
            </p:cNvPr>
            <p:cNvSpPr/>
            <p:nvPr/>
          </p:nvSpPr>
          <p:spPr>
            <a:xfrm>
              <a:off x="6153120" y="4800600"/>
              <a:ext cx="2210040" cy="1465560"/>
            </a:xfrm>
            <a:prstGeom prst="flowChartDocument">
              <a:avLst/>
            </a:prstGeom>
            <a:solidFill>
              <a:srgbClr val="CC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0" strike="noStrike" spc="-1">
                  <a:solidFill>
                    <a:srgbClr val="000000"/>
                  </a:solidFill>
                  <a:latin typeface="Verdana"/>
                  <a:ea typeface="DejaVu Sans"/>
                </a:rPr>
                <a:t>In most cases, PCD entries do not have SKU enabled and have a single value associated with them. However, if a PCD entry is SKU the PCD entry may have multiple values.</a:t>
              </a:r>
              <a:endParaRPr lang="en-US" sz="1000" b="0" strike="noStrike" spc="-1">
                <a:latin typeface="Arial"/>
              </a:endParaRPr>
            </a:p>
            <a:p>
              <a:pPr algn="ctr">
                <a:lnSpc>
                  <a:spcPct val="100000"/>
                </a:lnSpc>
              </a:pPr>
              <a:endParaRPr lang="en-US" sz="1000" b="0" strike="noStrike" spc="-1">
                <a:latin typeface="Arial"/>
              </a:endParaRPr>
            </a:p>
          </p:txBody>
        </p:sp>
        <p:sp>
          <p:nvSpPr>
            <p:cNvPr id="11" name="CustomShape 9">
              <a:extLst>
                <a:ext uri="{FF2B5EF4-FFF2-40B4-BE49-F238E27FC236}">
                  <a16:creationId xmlns:a16="http://schemas.microsoft.com/office/drawing/2014/main" id="{9CFD297F-9894-4EF2-BC5C-6AD3498D30E3}"/>
                </a:ext>
              </a:extLst>
            </p:cNvPr>
            <p:cNvSpPr/>
            <p:nvPr/>
          </p:nvSpPr>
          <p:spPr>
            <a:xfrm>
              <a:off x="4037400" y="4309920"/>
              <a:ext cx="821520" cy="455040"/>
            </a:xfrm>
            <a:prstGeom prst="rect">
              <a:avLst/>
            </a:prstGeom>
            <a:noFill/>
            <a:ln w="507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400" b="0" strike="noStrike" spc="-1">
                  <a:solidFill>
                    <a:srgbClr val="3F3F3F"/>
                  </a:solidFill>
                  <a:latin typeface="Verdana"/>
                  <a:ea typeface="DejaVu Sans"/>
                </a:rPr>
                <a:t>.INF</a:t>
              </a:r>
              <a:endParaRPr lang="en-US" sz="2400" b="0" strike="noStrike" spc="-1">
                <a:latin typeface="Arial"/>
              </a:endParaRPr>
            </a:p>
          </p:txBody>
        </p:sp>
        <p:sp>
          <p:nvSpPr>
            <p:cNvPr id="12" name="CustomShape 10">
              <a:extLst>
                <a:ext uri="{FF2B5EF4-FFF2-40B4-BE49-F238E27FC236}">
                  <a16:creationId xmlns:a16="http://schemas.microsoft.com/office/drawing/2014/main" id="{4BFF59AC-785A-4AC1-A1DA-CA44F9C8AA8F}"/>
                </a:ext>
              </a:extLst>
            </p:cNvPr>
            <p:cNvSpPr/>
            <p:nvPr/>
          </p:nvSpPr>
          <p:spPr>
            <a:xfrm>
              <a:off x="1385280" y="4299120"/>
              <a:ext cx="931320" cy="455040"/>
            </a:xfrm>
            <a:prstGeom prst="rect">
              <a:avLst/>
            </a:prstGeom>
            <a:noFill/>
            <a:ln w="507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400" b="0" strike="noStrike" spc="-1">
                  <a:solidFill>
                    <a:srgbClr val="3F3F3F"/>
                  </a:solidFill>
                  <a:latin typeface="Verdana"/>
                  <a:ea typeface="DejaVu Sans"/>
                </a:rPr>
                <a:t>.DEC</a:t>
              </a:r>
              <a:endParaRPr lang="en-US" sz="2400" b="0" strike="noStrike" spc="-1">
                <a:latin typeface="Arial"/>
              </a:endParaRPr>
            </a:p>
          </p:txBody>
        </p:sp>
        <p:sp>
          <p:nvSpPr>
            <p:cNvPr id="13" name="CustomShape 11">
              <a:extLst>
                <a:ext uri="{FF2B5EF4-FFF2-40B4-BE49-F238E27FC236}">
                  <a16:creationId xmlns:a16="http://schemas.microsoft.com/office/drawing/2014/main" id="{5CBEB950-DF67-45B1-A0C6-AF6A90DFBFD1}"/>
                </a:ext>
              </a:extLst>
            </p:cNvPr>
            <p:cNvSpPr/>
            <p:nvPr/>
          </p:nvSpPr>
          <p:spPr>
            <a:xfrm>
              <a:off x="6755040" y="4308480"/>
              <a:ext cx="948240" cy="455040"/>
            </a:xfrm>
            <a:prstGeom prst="rect">
              <a:avLst/>
            </a:prstGeom>
            <a:noFill/>
            <a:ln w="507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gn="ctr">
                <a:lnSpc>
                  <a:spcPct val="100000"/>
                </a:lnSpc>
              </a:pPr>
              <a:r>
                <a:rPr lang="en-US" sz="2400" b="0" strike="noStrike" spc="-1">
                  <a:solidFill>
                    <a:srgbClr val="3F3F3F"/>
                  </a:solidFill>
                  <a:latin typeface="Verdana"/>
                  <a:ea typeface="DejaVu Sans"/>
                </a:rPr>
                <a:t>.DSC</a:t>
              </a:r>
              <a:endParaRPr lang="en-US" sz="2400" b="0" strike="noStrike" spc="-1">
                <a:latin typeface="Arial"/>
              </a:endParaRPr>
            </a:p>
          </p:txBody>
        </p:sp>
        <p:sp>
          <p:nvSpPr>
            <p:cNvPr id="14" name="CustomShape 12">
              <a:extLst>
                <a:ext uri="{FF2B5EF4-FFF2-40B4-BE49-F238E27FC236}">
                  <a16:creationId xmlns:a16="http://schemas.microsoft.com/office/drawing/2014/main" id="{396D6451-DA40-4EF6-BDC5-4D7BEE3F462E}"/>
                </a:ext>
              </a:extLst>
            </p:cNvPr>
            <p:cNvSpPr/>
            <p:nvPr/>
          </p:nvSpPr>
          <p:spPr>
            <a:xfrm>
              <a:off x="7347600" y="5943600"/>
              <a:ext cx="1152360" cy="2718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3F3F3F"/>
                  </a:solidFill>
                  <a:latin typeface="Segoe UI"/>
                  <a:ea typeface="DejaVu Sans"/>
                </a:rPr>
                <a:t>Source: Intel</a:t>
              </a:r>
              <a:r>
                <a:rPr lang="en-US" sz="1200" b="1" strike="noStrike" spc="-1" baseline="30000">
                  <a:solidFill>
                    <a:srgbClr val="3F3F3F"/>
                  </a:solidFill>
                  <a:latin typeface="Segoe UI"/>
                  <a:ea typeface="DejaVu Sans"/>
                </a:rPr>
                <a:t>®</a:t>
              </a:r>
              <a:endParaRPr lang="en-US" sz="1200" b="0" strike="noStrike" spc="-1">
                <a:latin typeface="Arial"/>
              </a:endParaRPr>
            </a:p>
          </p:txBody>
        </p:sp>
      </p:grpSp>
    </p:spTree>
    <p:extLst>
      <p:ext uri="{BB962C8B-B14F-4D97-AF65-F5344CB8AC3E}">
        <p14:creationId xmlns:p14="http://schemas.microsoft.com/office/powerpoint/2010/main" val="1895127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2339C7-5632-4B72-B5B9-5F3014C1E9BD}"/>
              </a:ext>
            </a:extLst>
          </p:cNvPr>
          <p:cNvSpPr>
            <a:spLocks noGrp="1"/>
          </p:cNvSpPr>
          <p:nvPr>
            <p:ph type="title"/>
          </p:nvPr>
        </p:nvSpPr>
        <p:spPr/>
        <p:txBody>
          <a:bodyPr>
            <a:normAutofit/>
          </a:bodyPr>
          <a:lstStyle/>
          <a:p>
            <a:r>
              <a:rPr lang="en-US" altLang="zh-TW" dirty="0"/>
              <a:t>Overview</a:t>
            </a:r>
            <a:br>
              <a:rPr lang="en-US" altLang="zh-TW" dirty="0"/>
            </a:br>
            <a:r>
              <a:rPr lang="en-US" altLang="zh-TW" sz="2000" dirty="0"/>
              <a:t>Syntax</a:t>
            </a:r>
            <a:endParaRPr lang="zh-TW" altLang="en-US" sz="2000" dirty="0"/>
          </a:p>
        </p:txBody>
      </p:sp>
      <p:sp>
        <p:nvSpPr>
          <p:cNvPr id="3" name="內容版面配置區 2">
            <a:extLst>
              <a:ext uri="{FF2B5EF4-FFF2-40B4-BE49-F238E27FC236}">
                <a16:creationId xmlns:a16="http://schemas.microsoft.com/office/drawing/2014/main" id="{9F1A3C30-8A6E-4502-A60F-D368DEC18009}"/>
              </a:ext>
            </a:extLst>
          </p:cNvPr>
          <p:cNvSpPr>
            <a:spLocks noGrp="1"/>
          </p:cNvSpPr>
          <p:nvPr>
            <p:ph idx="1"/>
          </p:nvPr>
        </p:nvSpPr>
        <p:spPr/>
        <p:txBody>
          <a:bodyPr>
            <a:normAutofit fontScale="55000" lnSpcReduction="20000"/>
          </a:bodyPr>
          <a:lstStyle/>
          <a:p>
            <a:pPr marL="1440" indent="0">
              <a:lnSpc>
                <a:spcPct val="100000"/>
              </a:lnSpc>
              <a:buClr>
                <a:srgbClr val="3F3F3F"/>
              </a:buClr>
              <a:buNone/>
            </a:pPr>
            <a:r>
              <a:rPr lang="en-US" altLang="zh-TW" sz="4800" b="0" strike="noStrike" spc="-1" dirty="0">
                <a:solidFill>
                  <a:srgbClr val="3F3F3F"/>
                </a:solidFill>
                <a:latin typeface="Segoe UI"/>
                <a:ea typeface="DejaVu Sans"/>
              </a:rPr>
              <a:t>PCD defined in the DEC file from any package</a:t>
            </a:r>
            <a:endParaRPr lang="en-US" altLang="zh-TW" sz="4800" b="0" strike="noStrike" spc="-1" dirty="0">
              <a:latin typeface="Arial"/>
            </a:endParaRPr>
          </a:p>
          <a:p>
            <a:pPr marL="458640" indent="0">
              <a:lnSpc>
                <a:spcPct val="100000"/>
              </a:lnSpc>
              <a:buNone/>
            </a:pP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Guids.common</a:t>
            </a:r>
            <a:r>
              <a:rPr lang="en-US" altLang="zh-TW" sz="2800" b="1" strike="noStrike" spc="-1" dirty="0">
                <a:solidFill>
                  <a:srgbClr val="3F3F3F"/>
                </a:solidFill>
                <a:latin typeface="Courier New"/>
                <a:ea typeface="DejaVu Sans"/>
              </a:rPr>
              <a:t>]</a:t>
            </a:r>
            <a:endParaRPr lang="en-US" altLang="zh-TW" sz="2800" b="0" strike="noStrike" spc="-1" dirty="0">
              <a:latin typeface="Arial"/>
            </a:endParaRPr>
          </a:p>
          <a:p>
            <a:pPr marL="458640" indent="0">
              <a:lnSpc>
                <a:spcPct val="100000"/>
              </a:lnSpc>
              <a:buNone/>
            </a:pPr>
            <a:r>
              <a:rPr lang="en-US" altLang="zh-TW" sz="2800" b="1" strike="noStrike" spc="-1" dirty="0" err="1">
                <a:solidFill>
                  <a:srgbClr val="990000"/>
                </a:solidFill>
                <a:latin typeface="Courier New"/>
                <a:ea typeface="DejaVu Sans"/>
              </a:rPr>
              <a:t>PcdTokenSpaceGuidName</a:t>
            </a:r>
            <a:r>
              <a:rPr lang="en-US" altLang="zh-TW" sz="2800" b="1" strike="noStrike" spc="-1" dirty="0">
                <a:solidFill>
                  <a:srgbClr val="3F3F3F"/>
                </a:solidFill>
                <a:latin typeface="Courier New"/>
                <a:ea typeface="DejaVu Sans"/>
              </a:rPr>
              <a:t>={ 0xXXXXXXXX, 0xXXXX, 0xXXXX, { 0xXX, . . .}}</a:t>
            </a:r>
            <a:endParaRPr lang="en-US" altLang="zh-TW" sz="2800" b="0" strike="noStrike" spc="-1" dirty="0">
              <a:latin typeface="Arial"/>
            </a:endParaRPr>
          </a:p>
          <a:p>
            <a:pPr marL="458640" indent="0">
              <a:lnSpc>
                <a:spcPct val="100000"/>
              </a:lnSpc>
              <a:buNone/>
            </a:pPr>
            <a:r>
              <a:rPr lang="en-US" altLang="zh-TW" sz="2800" b="1" strike="noStrike" spc="-1" dirty="0">
                <a:solidFill>
                  <a:srgbClr val="3F3F3F"/>
                </a:solidFill>
                <a:latin typeface="Courier New"/>
                <a:ea typeface="DejaVu Sans"/>
              </a:rPr>
              <a:t>. . .</a:t>
            </a:r>
            <a:endParaRPr lang="en-US" altLang="zh-TW" sz="2800" b="0" strike="noStrike" spc="-1" dirty="0">
              <a:latin typeface="Arial"/>
            </a:endParaRPr>
          </a:p>
          <a:p>
            <a:pPr marL="458640" indent="0">
              <a:lnSpc>
                <a:spcPct val="100000"/>
              </a:lnSpc>
              <a:buNone/>
            </a:pP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Pcds</a:t>
            </a:r>
            <a:r>
              <a:rPr lang="en-US" altLang="zh-TW" sz="2800" b="1" strike="noStrike" spc="-1" dirty="0">
                <a:solidFill>
                  <a:srgbClr val="3F3F3F"/>
                </a:solidFill>
                <a:latin typeface="Courier New"/>
                <a:ea typeface="DejaVu Sans"/>
              </a:rPr>
              <a:t>...]</a:t>
            </a:r>
            <a:endParaRPr lang="en-US" altLang="zh-TW" sz="2800" b="0" strike="noStrike" spc="-1" dirty="0">
              <a:latin typeface="Arial"/>
            </a:endParaRPr>
          </a:p>
          <a:p>
            <a:pPr marL="458640" indent="0">
              <a:lnSpc>
                <a:spcPct val="100000"/>
              </a:lnSpc>
              <a:buNone/>
            </a:pPr>
            <a:r>
              <a:rPr lang="en-US" altLang="zh-TW" sz="2800" b="1" strike="noStrike" spc="-1" dirty="0" err="1">
                <a:solidFill>
                  <a:srgbClr val="990000"/>
                </a:solidFill>
                <a:latin typeface="Courier New"/>
                <a:ea typeface="DejaVu Sans"/>
              </a:rPr>
              <a:t>PcdTokenSpaceGuidName</a:t>
            </a:r>
            <a:r>
              <a:rPr lang="en-US" altLang="zh-TW" sz="2800" b="1" strike="noStrike" spc="-1" dirty="0" err="1">
                <a:solidFill>
                  <a:srgbClr val="3F3F3F"/>
                </a:solidFill>
                <a:latin typeface="Courier New"/>
                <a:ea typeface="DejaVu Sans"/>
              </a:rPr>
              <a:t>.PcdTokenName|Value</a:t>
            </a: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DatumType</a:t>
            </a: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MaxSize</a:t>
            </a:r>
            <a:r>
              <a:rPr lang="en-US" altLang="zh-TW" sz="2800" b="1" strike="noStrike" spc="-1" dirty="0">
                <a:solidFill>
                  <a:srgbClr val="3F3F3F"/>
                </a:solidFill>
                <a:latin typeface="Courier New"/>
                <a:ea typeface="DejaVu Sans"/>
              </a:rPr>
              <a:t>]]|Token</a:t>
            </a:r>
            <a:endParaRPr lang="en-US" altLang="zh-TW" sz="2800" b="0" strike="noStrike" spc="-1" dirty="0">
              <a:latin typeface="Arial"/>
            </a:endParaRPr>
          </a:p>
          <a:p>
            <a:pPr marL="458640" indent="0">
              <a:lnSpc>
                <a:spcPct val="100000"/>
              </a:lnSpc>
              <a:buNone/>
            </a:pPr>
            <a:r>
              <a:rPr lang="en-US" altLang="zh-TW" sz="2800" b="1" strike="noStrike" spc="-1" dirty="0" err="1">
                <a:solidFill>
                  <a:srgbClr val="3F3F3F"/>
                </a:solidFill>
                <a:latin typeface="Courier New"/>
                <a:ea typeface="DejaVu Sans"/>
              </a:rPr>
              <a:t>DatumType</a:t>
            </a:r>
            <a:r>
              <a:rPr lang="en-US" altLang="zh-TW" sz="2800" b="1" strike="noStrike" spc="-1" dirty="0">
                <a:solidFill>
                  <a:srgbClr val="3F3F3F"/>
                </a:solidFill>
                <a:latin typeface="Courier New"/>
                <a:ea typeface="DejaVu Sans"/>
              </a:rPr>
              <a:t>: BOOLEAN/UINT8/UINT16/UINT32/UINT64/*VOID</a:t>
            </a:r>
            <a:endParaRPr lang="en-US" altLang="zh-TW" sz="2800" b="0" strike="noStrike" spc="-1" dirty="0">
              <a:latin typeface="Arial"/>
            </a:endParaRPr>
          </a:p>
          <a:p>
            <a:pPr marL="1440" indent="0">
              <a:lnSpc>
                <a:spcPct val="100000"/>
              </a:lnSpc>
              <a:buClr>
                <a:srgbClr val="3F3F3F"/>
              </a:buClr>
              <a:buNone/>
            </a:pPr>
            <a:r>
              <a:rPr lang="en-US" altLang="zh-TW" sz="4800" b="0" strike="noStrike" spc="-1" dirty="0">
                <a:solidFill>
                  <a:srgbClr val="3F3F3F"/>
                </a:solidFill>
                <a:latin typeface="Segoe UI"/>
                <a:ea typeface="DejaVu Sans"/>
              </a:rPr>
              <a:t>PCD usage listed in INF file for module</a:t>
            </a:r>
            <a:endParaRPr lang="en-US" altLang="zh-TW" sz="4800" b="0" strike="noStrike" spc="-1" dirty="0">
              <a:latin typeface="Arial"/>
            </a:endParaRPr>
          </a:p>
          <a:p>
            <a:pPr marL="458640" indent="0">
              <a:lnSpc>
                <a:spcPct val="100000"/>
              </a:lnSpc>
              <a:buNone/>
            </a:pP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Pcd</a:t>
            </a:r>
            <a:r>
              <a:rPr lang="en-US" altLang="zh-TW" sz="2800" b="1" strike="noStrike" spc="-1" dirty="0">
                <a:solidFill>
                  <a:srgbClr val="3F3F3F"/>
                </a:solidFill>
                <a:latin typeface="Courier New"/>
                <a:ea typeface="DejaVu Sans"/>
              </a:rPr>
              <a:t>…] </a:t>
            </a:r>
            <a:endParaRPr lang="en-US" altLang="zh-TW" sz="2800" b="0" strike="noStrike" spc="-1" dirty="0">
              <a:latin typeface="Arial"/>
            </a:endParaRPr>
          </a:p>
          <a:p>
            <a:pPr marL="458640" indent="0">
              <a:lnSpc>
                <a:spcPct val="100000"/>
              </a:lnSpc>
              <a:buNone/>
            </a:pPr>
            <a:r>
              <a:rPr lang="en-US" altLang="zh-TW" sz="2800" b="1" strike="noStrike" spc="-1" dirty="0" err="1">
                <a:solidFill>
                  <a:srgbClr val="990000"/>
                </a:solidFill>
                <a:latin typeface="Courier New"/>
                <a:ea typeface="DejaVu Sans"/>
              </a:rPr>
              <a:t>PcdTokenSpaceGuidName</a:t>
            </a:r>
            <a:r>
              <a:rPr lang="en-US" altLang="zh-TW" sz="2800" b="1" strike="noStrike" spc="-1" dirty="0" err="1">
                <a:solidFill>
                  <a:srgbClr val="3F3F3F"/>
                </a:solidFill>
                <a:latin typeface="Courier New"/>
                <a:ea typeface="DejaVu Sans"/>
              </a:rPr>
              <a:t>.PcdTokenName</a:t>
            </a:r>
            <a:r>
              <a:rPr lang="en-US" altLang="zh-TW" sz="2800" b="1" strike="noStrike" spc="-1" dirty="0">
                <a:solidFill>
                  <a:srgbClr val="3F3F3F"/>
                </a:solidFill>
                <a:latin typeface="Courier New"/>
                <a:ea typeface="DejaVu Sans"/>
              </a:rPr>
              <a:t>|[Value]</a:t>
            </a:r>
            <a:endParaRPr lang="en-US" altLang="zh-TW" sz="2800" b="0" strike="noStrike" spc="-1" dirty="0">
              <a:latin typeface="Arial"/>
            </a:endParaRPr>
          </a:p>
          <a:p>
            <a:pPr marL="1440" indent="0">
              <a:lnSpc>
                <a:spcPct val="100000"/>
              </a:lnSpc>
              <a:buClr>
                <a:srgbClr val="3F3F3F"/>
              </a:buClr>
              <a:buNone/>
            </a:pPr>
            <a:r>
              <a:rPr lang="en-US" altLang="zh-TW" sz="4800" b="0" strike="noStrike" spc="-1" dirty="0">
                <a:solidFill>
                  <a:srgbClr val="3F3F3F"/>
                </a:solidFill>
                <a:latin typeface="Segoe UI"/>
                <a:ea typeface="DejaVu Sans"/>
              </a:rPr>
              <a:t>Value of PCD set in Platform DSC</a:t>
            </a:r>
            <a:endParaRPr lang="en-US" altLang="zh-TW" sz="4800" b="0" strike="noStrike" spc="-1" dirty="0">
              <a:latin typeface="Arial"/>
            </a:endParaRPr>
          </a:p>
          <a:p>
            <a:pPr marL="458640" indent="0">
              <a:lnSpc>
                <a:spcPct val="100000"/>
              </a:lnSpc>
              <a:buNone/>
            </a:pP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Pcds</a:t>
            </a:r>
            <a:r>
              <a:rPr lang="en-US" altLang="zh-TW" sz="2800" b="1" strike="noStrike" spc="-1" dirty="0">
                <a:solidFill>
                  <a:srgbClr val="3F3F3F"/>
                </a:solidFill>
                <a:latin typeface="Courier New"/>
                <a:ea typeface="DejaVu Sans"/>
              </a:rPr>
              <a:t>...]</a:t>
            </a:r>
            <a:endParaRPr lang="en-US" altLang="zh-TW" sz="2800" b="0" strike="noStrike" spc="-1" dirty="0">
              <a:latin typeface="Arial"/>
            </a:endParaRPr>
          </a:p>
          <a:p>
            <a:pPr marL="458640" indent="0">
              <a:lnSpc>
                <a:spcPct val="100000"/>
              </a:lnSpc>
              <a:buNone/>
            </a:pPr>
            <a:r>
              <a:rPr lang="en-US" altLang="zh-TW" sz="2800" b="1" strike="noStrike" spc="-1" dirty="0" err="1">
                <a:solidFill>
                  <a:srgbClr val="990000"/>
                </a:solidFill>
                <a:latin typeface="Courier New"/>
                <a:ea typeface="DejaVu Sans"/>
              </a:rPr>
              <a:t>PcdTokenSpaceGuidName</a:t>
            </a:r>
            <a:r>
              <a:rPr lang="en-US" altLang="zh-TW" sz="2800" b="1" strike="noStrike" spc="-1" dirty="0" err="1">
                <a:solidFill>
                  <a:srgbClr val="3F3F3F"/>
                </a:solidFill>
                <a:latin typeface="Courier New"/>
                <a:ea typeface="DejaVu Sans"/>
              </a:rPr>
              <a:t>.PcdTokenName|Value</a:t>
            </a: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DatumType</a:t>
            </a:r>
            <a:r>
              <a:rPr lang="en-US" altLang="zh-TW" sz="2800" b="1" strike="noStrike" spc="-1" dirty="0">
                <a:solidFill>
                  <a:srgbClr val="3F3F3F"/>
                </a:solidFill>
                <a:latin typeface="Courier New"/>
                <a:ea typeface="DejaVu Sans"/>
              </a:rPr>
              <a:t>[|</a:t>
            </a:r>
            <a:r>
              <a:rPr lang="en-US" altLang="zh-TW" sz="2800" b="1" strike="noStrike" spc="-1" dirty="0" err="1">
                <a:solidFill>
                  <a:srgbClr val="3F3F3F"/>
                </a:solidFill>
                <a:latin typeface="Courier New"/>
                <a:ea typeface="DejaVu Sans"/>
              </a:rPr>
              <a:t>MaximumDatumSize</a:t>
            </a:r>
            <a:r>
              <a:rPr lang="en-US" altLang="zh-TW" sz="2800" b="1" strike="noStrike" spc="-1" dirty="0">
                <a:solidFill>
                  <a:srgbClr val="3F3F3F"/>
                </a:solidFill>
                <a:latin typeface="Courier New"/>
                <a:ea typeface="DejaVu Sans"/>
              </a:rPr>
              <a:t>]]</a:t>
            </a:r>
            <a:endParaRPr lang="en-US" altLang="zh-TW" sz="2800" b="0" strike="noStrike" spc="-1" dirty="0">
              <a:latin typeface="Arial"/>
            </a:endParaRPr>
          </a:p>
        </p:txBody>
      </p:sp>
      <p:grpSp>
        <p:nvGrpSpPr>
          <p:cNvPr id="25" name="群組 24">
            <a:extLst>
              <a:ext uri="{FF2B5EF4-FFF2-40B4-BE49-F238E27FC236}">
                <a16:creationId xmlns:a16="http://schemas.microsoft.com/office/drawing/2014/main" id="{3DE8CFDB-DB04-4F9E-9436-9C49DF037F32}"/>
              </a:ext>
            </a:extLst>
          </p:cNvPr>
          <p:cNvGrpSpPr/>
          <p:nvPr/>
        </p:nvGrpSpPr>
        <p:grpSpPr>
          <a:xfrm>
            <a:off x="112168" y="1383342"/>
            <a:ext cx="785454" cy="3859777"/>
            <a:chOff x="179280" y="1297440"/>
            <a:chExt cx="790560" cy="3425400"/>
          </a:xfrm>
        </p:grpSpPr>
        <p:sp>
          <p:nvSpPr>
            <p:cNvPr id="26" name="CustomShape 3">
              <a:extLst>
                <a:ext uri="{FF2B5EF4-FFF2-40B4-BE49-F238E27FC236}">
                  <a16:creationId xmlns:a16="http://schemas.microsoft.com/office/drawing/2014/main" id="{D2D84734-DE81-4008-9A12-287AF6B0060E}"/>
                </a:ext>
              </a:extLst>
            </p:cNvPr>
            <p:cNvSpPr/>
            <p:nvPr/>
          </p:nvSpPr>
          <p:spPr>
            <a:xfrm>
              <a:off x="179280" y="1297440"/>
              <a:ext cx="790560" cy="38700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strike="noStrike" spc="-1" dirty="0">
                  <a:solidFill>
                    <a:srgbClr val="FFFFFF"/>
                  </a:solidFill>
                  <a:latin typeface="Segoe UI"/>
                  <a:ea typeface="新細明體"/>
                </a:rPr>
                <a:t>DEC</a:t>
              </a:r>
              <a:endParaRPr lang="en-US" sz="1800" b="0" strike="noStrike" spc="-1" dirty="0">
                <a:latin typeface="Arial"/>
              </a:endParaRPr>
            </a:p>
          </p:txBody>
        </p:sp>
        <p:sp>
          <p:nvSpPr>
            <p:cNvPr id="27" name="CustomShape 4">
              <a:extLst>
                <a:ext uri="{FF2B5EF4-FFF2-40B4-BE49-F238E27FC236}">
                  <a16:creationId xmlns:a16="http://schemas.microsoft.com/office/drawing/2014/main" id="{E02FAADB-421A-4738-9634-0035A5BB2086}"/>
                </a:ext>
              </a:extLst>
            </p:cNvPr>
            <p:cNvSpPr/>
            <p:nvPr/>
          </p:nvSpPr>
          <p:spPr>
            <a:xfrm>
              <a:off x="179280" y="3326400"/>
              <a:ext cx="790560" cy="38700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i="1" strike="noStrike" spc="-1">
                  <a:solidFill>
                    <a:srgbClr val="FFFFFF"/>
                  </a:solidFill>
                  <a:latin typeface="Segoe UI"/>
                  <a:ea typeface="新細明體"/>
                </a:rPr>
                <a:t>INF</a:t>
              </a:r>
              <a:endParaRPr lang="en-US" sz="1800" b="0" strike="noStrike" spc="-1">
                <a:latin typeface="Arial"/>
              </a:endParaRPr>
            </a:p>
          </p:txBody>
        </p:sp>
        <p:sp>
          <p:nvSpPr>
            <p:cNvPr id="28" name="CustomShape 5">
              <a:extLst>
                <a:ext uri="{FF2B5EF4-FFF2-40B4-BE49-F238E27FC236}">
                  <a16:creationId xmlns:a16="http://schemas.microsoft.com/office/drawing/2014/main" id="{14F7A466-7156-4889-880D-F49A2DB41100}"/>
                </a:ext>
              </a:extLst>
            </p:cNvPr>
            <p:cNvSpPr/>
            <p:nvPr/>
          </p:nvSpPr>
          <p:spPr>
            <a:xfrm>
              <a:off x="179280" y="4334400"/>
              <a:ext cx="790560" cy="38844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i="1" strike="noStrike" spc="-1">
                  <a:solidFill>
                    <a:srgbClr val="FFFFFF"/>
                  </a:solidFill>
                  <a:latin typeface="Segoe UI"/>
                  <a:ea typeface="新細明體"/>
                </a:rPr>
                <a:t>DSC</a:t>
              </a:r>
              <a:endParaRPr lang="en-US" sz="1800" b="0" strike="noStrike" spc="-1">
                <a:latin typeface="Arial"/>
              </a:endParaRPr>
            </a:p>
          </p:txBody>
        </p:sp>
        <p:sp>
          <p:nvSpPr>
            <p:cNvPr id="29" name="CustomShape 6">
              <a:extLst>
                <a:ext uri="{FF2B5EF4-FFF2-40B4-BE49-F238E27FC236}">
                  <a16:creationId xmlns:a16="http://schemas.microsoft.com/office/drawing/2014/main" id="{302A45B7-FCB4-465F-80B2-55F48F719003}"/>
                </a:ext>
              </a:extLst>
            </p:cNvPr>
            <p:cNvSpPr/>
            <p:nvPr/>
          </p:nvSpPr>
          <p:spPr>
            <a:xfrm>
              <a:off x="575640" y="1660320"/>
              <a:ext cx="360" cy="1664640"/>
            </a:xfrm>
            <a:custGeom>
              <a:avLst/>
              <a:gdLst/>
              <a:ahLst/>
              <a:cxnLst/>
              <a:rect l="l" t="t" r="r" b="b"/>
              <a:pathLst>
                <a:path w="21600" h="21600">
                  <a:moveTo>
                    <a:pt x="0" y="0"/>
                  </a:moveTo>
                  <a:lnTo>
                    <a:pt x="21600" y="21600"/>
                  </a:lnTo>
                </a:path>
              </a:pathLst>
            </a:custGeom>
            <a:noFill/>
            <a:ln w="9360">
              <a:solidFill>
                <a:schemeClr val="tx1"/>
              </a:solidFill>
              <a:round/>
            </a:ln>
          </p:spPr>
          <p:style>
            <a:lnRef idx="0">
              <a:scrgbClr r="0" g="0" b="0"/>
            </a:lnRef>
            <a:fillRef idx="0">
              <a:scrgbClr r="0" g="0" b="0"/>
            </a:fillRef>
            <a:effectRef idx="0">
              <a:scrgbClr r="0" g="0" b="0"/>
            </a:effectRef>
            <a:fontRef idx="minor"/>
          </p:style>
        </p:sp>
        <p:sp>
          <p:nvSpPr>
            <p:cNvPr id="30" name="CustomShape 7">
              <a:extLst>
                <a:ext uri="{FF2B5EF4-FFF2-40B4-BE49-F238E27FC236}">
                  <a16:creationId xmlns:a16="http://schemas.microsoft.com/office/drawing/2014/main" id="{A84D38D6-35DB-4009-8792-62FE4780A6BC}"/>
                </a:ext>
              </a:extLst>
            </p:cNvPr>
            <p:cNvSpPr/>
            <p:nvPr/>
          </p:nvSpPr>
          <p:spPr>
            <a:xfrm>
              <a:off x="575640" y="3688920"/>
              <a:ext cx="360" cy="644040"/>
            </a:xfrm>
            <a:custGeom>
              <a:avLst/>
              <a:gdLst/>
              <a:ahLst/>
              <a:cxnLst/>
              <a:rect l="l" t="t" r="r" b="b"/>
              <a:pathLst>
                <a:path w="21600" h="21600">
                  <a:moveTo>
                    <a:pt x="0" y="0"/>
                  </a:moveTo>
                  <a:lnTo>
                    <a:pt x="21600" y="21600"/>
                  </a:lnTo>
                </a:path>
              </a:pathLst>
            </a:custGeom>
            <a:noFill/>
            <a:ln w="9360">
              <a:solidFill>
                <a:schemeClr val="tx1"/>
              </a:solidFill>
              <a:roun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787229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2339C7-5632-4B72-B5B9-5F3014C1E9BD}"/>
              </a:ext>
            </a:extLst>
          </p:cNvPr>
          <p:cNvSpPr>
            <a:spLocks noGrp="1"/>
          </p:cNvSpPr>
          <p:nvPr>
            <p:ph type="title"/>
          </p:nvPr>
        </p:nvSpPr>
        <p:spPr/>
        <p:txBody>
          <a:bodyPr>
            <a:normAutofit/>
          </a:bodyPr>
          <a:lstStyle/>
          <a:p>
            <a:r>
              <a:rPr lang="en-US" altLang="zh-TW" dirty="0"/>
              <a:t>Overview</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9F1A3C30-8A6E-4502-A60F-D368DEC18009}"/>
              </a:ext>
            </a:extLst>
          </p:cNvPr>
          <p:cNvSpPr>
            <a:spLocks noGrp="1"/>
          </p:cNvSpPr>
          <p:nvPr>
            <p:ph idx="1"/>
          </p:nvPr>
        </p:nvSpPr>
        <p:spPr/>
        <p:txBody>
          <a:bodyPr>
            <a:normAutofit fontScale="25000" lnSpcReduction="20000"/>
          </a:bodyPr>
          <a:lstStyle/>
          <a:p>
            <a:pPr marL="1440" indent="0">
              <a:lnSpc>
                <a:spcPct val="100000"/>
              </a:lnSpc>
              <a:buClr>
                <a:srgbClr val="3F3F3F"/>
              </a:buClr>
              <a:buNone/>
            </a:pPr>
            <a:r>
              <a:rPr lang="en-US" altLang="zh-TW" sz="8000" b="0" strike="noStrike" spc="-1" dirty="0">
                <a:solidFill>
                  <a:srgbClr val="3F3F3F"/>
                </a:solidFill>
                <a:latin typeface="Segoe UI"/>
                <a:ea typeface="DejaVu Sans"/>
              </a:rPr>
              <a:t>Defined in Nt32Pkg Package .DEC</a:t>
            </a:r>
            <a:endParaRPr lang="en-US" altLang="zh-TW" sz="80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a:t>
            </a:r>
            <a:r>
              <a:rPr lang="en-US" altLang="zh-TW" sz="4800" b="1" strike="noStrike" spc="-1" dirty="0" err="1">
                <a:solidFill>
                  <a:srgbClr val="3F3F3F"/>
                </a:solidFill>
                <a:latin typeface="Courier New"/>
                <a:ea typeface="DejaVu Sans"/>
              </a:rPr>
              <a:t>PcdsDynamic.common</a:t>
            </a:r>
            <a:r>
              <a:rPr lang="en-US" altLang="zh-TW" sz="4800" b="1" strike="noStrike" spc="-1" dirty="0">
                <a:solidFill>
                  <a:srgbClr val="3F3F3F"/>
                </a:solidFill>
                <a:latin typeface="Courier New"/>
                <a:ea typeface="DejaVu Sans"/>
              </a:rPr>
              <a:t>]</a:t>
            </a:r>
            <a:endParaRPr lang="en-US" altLang="zh-TW" sz="48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gEfiNt32PkgTokenSpaceGuid.</a:t>
            </a:r>
            <a:r>
              <a:rPr lang="en-US" altLang="zh-TW" sz="4800" b="1" strike="noStrike" spc="-1" dirty="0">
                <a:solidFill>
                  <a:srgbClr val="990000"/>
                </a:solidFill>
                <a:latin typeface="Courier New"/>
                <a:ea typeface="DejaVu Sans"/>
              </a:rPr>
              <a:t>PcdWinNtGop</a:t>
            </a:r>
            <a:r>
              <a:rPr lang="en-US" altLang="zh-TW" sz="4800" b="1" strike="noStrike" spc="-1" dirty="0">
                <a:solidFill>
                  <a:srgbClr val="3F3F3F"/>
                </a:solidFill>
                <a:latin typeface="Courier New"/>
                <a:ea typeface="DejaVu Sans"/>
              </a:rPr>
              <a:t>|L"UGA Window 1!UGA Window 2"|VOID*|0x0000100d</a:t>
            </a:r>
            <a:endParaRPr lang="en-US" altLang="zh-TW" sz="4800" b="0" strike="noStrike" spc="-1" dirty="0">
              <a:latin typeface="Arial"/>
            </a:endParaRPr>
          </a:p>
          <a:p>
            <a:pPr marL="1440" indent="0">
              <a:lnSpc>
                <a:spcPct val="100000"/>
              </a:lnSpc>
              <a:buClr>
                <a:srgbClr val="3F3F3F"/>
              </a:buClr>
              <a:buNone/>
            </a:pPr>
            <a:r>
              <a:rPr lang="en-US" altLang="zh-TW" sz="8000" b="0" strike="noStrike" spc="-1" dirty="0">
                <a:solidFill>
                  <a:srgbClr val="3F3F3F"/>
                </a:solidFill>
                <a:latin typeface="Segoe UI"/>
                <a:ea typeface="DejaVu Sans"/>
              </a:rPr>
              <a:t>Module INF lists which PCDs get accessed</a:t>
            </a:r>
            <a:endParaRPr lang="en-US" altLang="zh-TW" sz="8000" b="0" strike="noStrike" spc="-1" dirty="0">
              <a:latin typeface="Arial"/>
            </a:endParaRPr>
          </a:p>
          <a:p>
            <a:pPr marL="1440" indent="0">
              <a:lnSpc>
                <a:spcPct val="100000"/>
              </a:lnSpc>
              <a:buNone/>
            </a:pPr>
            <a:r>
              <a:rPr lang="en-US" altLang="zh-TW" sz="5400" spc="-1" dirty="0">
                <a:solidFill>
                  <a:srgbClr val="3F3F3F"/>
                </a:solidFill>
                <a:latin typeface="Segoe UI"/>
                <a:ea typeface="DejaVu Sans"/>
              </a:rPr>
              <a:t>     </a:t>
            </a:r>
            <a:r>
              <a:rPr lang="en-US" altLang="zh-TW" sz="5400" b="0" strike="noStrike" spc="-1" dirty="0">
                <a:solidFill>
                  <a:srgbClr val="3F3F3F"/>
                </a:solidFill>
                <a:latin typeface="Segoe UI"/>
                <a:ea typeface="DejaVu Sans"/>
              </a:rPr>
              <a:t>Nt32Pkg\</a:t>
            </a:r>
            <a:r>
              <a:rPr lang="en-US" altLang="zh-TW" sz="5400" b="0" strike="noStrike" spc="-1" dirty="0" err="1">
                <a:solidFill>
                  <a:srgbClr val="3F3F3F"/>
                </a:solidFill>
                <a:latin typeface="Segoe UI"/>
                <a:ea typeface="DejaVu Sans"/>
              </a:rPr>
              <a:t>WinNtBusDriverDxe</a:t>
            </a:r>
            <a:r>
              <a:rPr lang="en-US" altLang="zh-TW" sz="5400" b="0" strike="noStrike" spc="-1" dirty="0">
                <a:solidFill>
                  <a:srgbClr val="3F3F3F"/>
                </a:solidFill>
                <a:latin typeface="Segoe UI"/>
                <a:ea typeface="DejaVu Sans"/>
              </a:rPr>
              <a:t>\WinNtBusDriverDxe.inf</a:t>
            </a:r>
            <a:endParaRPr lang="en-US" altLang="zh-TW" sz="54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a:t>
            </a:r>
            <a:r>
              <a:rPr lang="en-US" altLang="zh-TW" sz="4800" b="1" strike="noStrike" spc="-1" dirty="0" err="1">
                <a:solidFill>
                  <a:srgbClr val="3F3F3F"/>
                </a:solidFill>
                <a:latin typeface="Courier New"/>
                <a:ea typeface="DejaVu Sans"/>
              </a:rPr>
              <a:t>Pcd</a:t>
            </a:r>
            <a:r>
              <a:rPr lang="en-US" altLang="zh-TW" sz="4800" b="1" strike="noStrike" spc="-1" dirty="0">
                <a:solidFill>
                  <a:srgbClr val="3F3F3F"/>
                </a:solidFill>
                <a:latin typeface="Courier New"/>
                <a:ea typeface="DejaVu Sans"/>
              </a:rPr>
              <a:t>]</a:t>
            </a:r>
            <a:endParaRPr lang="en-US" altLang="zh-TW" sz="48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gEfiNt32PkgTokenSpaceGuid.</a:t>
            </a:r>
            <a:r>
              <a:rPr lang="en-US" altLang="zh-TW" sz="4800" b="1" strike="noStrike" spc="-1" dirty="0">
                <a:solidFill>
                  <a:srgbClr val="990000"/>
                </a:solidFill>
                <a:latin typeface="Courier New"/>
                <a:ea typeface="DejaVu Sans"/>
              </a:rPr>
              <a:t>PcdWinNtGop</a:t>
            </a:r>
            <a:endParaRPr lang="en-US" altLang="zh-TW" sz="4800" b="0" strike="noStrike" spc="-1" dirty="0">
              <a:latin typeface="Arial"/>
            </a:endParaRPr>
          </a:p>
          <a:p>
            <a:pPr marL="1440" indent="0">
              <a:lnSpc>
                <a:spcPct val="100000"/>
              </a:lnSpc>
              <a:buClr>
                <a:srgbClr val="3F3F3F"/>
              </a:buClr>
              <a:buNone/>
            </a:pPr>
            <a:r>
              <a:rPr lang="en-US" altLang="zh-TW" sz="8000" b="0" strike="noStrike" spc="-1" dirty="0">
                <a:solidFill>
                  <a:srgbClr val="3F3F3F"/>
                </a:solidFill>
                <a:latin typeface="Segoe UI"/>
                <a:ea typeface="DejaVu Sans"/>
              </a:rPr>
              <a:t>Value to use in Nt32Pkg Package .DSC</a:t>
            </a:r>
            <a:endParaRPr lang="en-US" altLang="zh-TW" sz="80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a:t>
            </a:r>
            <a:r>
              <a:rPr lang="en-US" altLang="zh-TW" sz="4800" b="1" strike="noStrike" spc="-1" dirty="0" err="1">
                <a:solidFill>
                  <a:srgbClr val="3F3F3F"/>
                </a:solidFill>
                <a:latin typeface="Courier New"/>
                <a:ea typeface="DejaVu Sans"/>
              </a:rPr>
              <a:t>PcdsDynamicDefault.common.DEFAULT</a:t>
            </a:r>
            <a:r>
              <a:rPr lang="en-US" altLang="zh-TW" sz="4800" b="1" strike="noStrike" spc="-1" dirty="0">
                <a:solidFill>
                  <a:srgbClr val="3F3F3F"/>
                </a:solidFill>
                <a:latin typeface="Courier New"/>
                <a:ea typeface="DejaVu Sans"/>
              </a:rPr>
              <a:t>]	 gEfiNt32PkgTokenSpaceGuid.</a:t>
            </a:r>
            <a:r>
              <a:rPr lang="en-US" altLang="zh-TW" sz="4800" b="1" strike="noStrike" spc="-1" dirty="0">
                <a:solidFill>
                  <a:srgbClr val="990000"/>
                </a:solidFill>
                <a:latin typeface="Courier New"/>
                <a:ea typeface="DejaVu Sans"/>
              </a:rPr>
              <a:t>PcdWinNtGop</a:t>
            </a:r>
            <a:r>
              <a:rPr lang="en-US" altLang="zh-TW" sz="4800" b="1" strike="noStrike" spc="-1" dirty="0">
                <a:solidFill>
                  <a:srgbClr val="3F3F3F"/>
                </a:solidFill>
                <a:latin typeface="Courier New"/>
                <a:ea typeface="DejaVu Sans"/>
              </a:rPr>
              <a:t>|</a:t>
            </a:r>
            <a:r>
              <a:rPr lang="en-US" altLang="zh-TW" sz="4800" b="1" strike="noStrike" spc="-1" dirty="0">
                <a:solidFill>
                  <a:srgbClr val="008000"/>
                </a:solidFill>
                <a:latin typeface="Courier New"/>
                <a:ea typeface="DejaVu Sans"/>
              </a:rPr>
              <a:t>L"My EDK II Window 1!My EDK II</a:t>
            </a:r>
            <a:r>
              <a:rPr lang="en-US" altLang="zh-TW" sz="4800" b="1" strike="noStrike" spc="-1" dirty="0">
                <a:solidFill>
                  <a:srgbClr val="3F3F3F"/>
                </a:solidFill>
                <a:latin typeface="Courier New"/>
                <a:ea typeface="DejaVu Sans"/>
              </a:rPr>
              <a:t> </a:t>
            </a:r>
            <a:r>
              <a:rPr lang="en-US" altLang="zh-TW" sz="4800" b="1" strike="noStrike" spc="-1" dirty="0">
                <a:solidFill>
                  <a:srgbClr val="008000"/>
                </a:solidFill>
                <a:latin typeface="Courier New"/>
                <a:ea typeface="DejaVu Sans"/>
              </a:rPr>
              <a:t>Window 2"</a:t>
            </a:r>
            <a:r>
              <a:rPr lang="en-US" altLang="zh-TW" sz="4800" b="1" strike="noStrike" spc="-1" dirty="0">
                <a:solidFill>
                  <a:srgbClr val="3F3F3F"/>
                </a:solidFill>
                <a:latin typeface="Courier New"/>
                <a:ea typeface="DejaVu Sans"/>
              </a:rPr>
              <a:t>|VOID*|50</a:t>
            </a:r>
            <a:endParaRPr lang="en-US" altLang="zh-TW" sz="4800" b="0" strike="noStrike" spc="-1" dirty="0">
              <a:latin typeface="Arial"/>
            </a:endParaRPr>
          </a:p>
          <a:p>
            <a:pPr marL="1440" indent="0">
              <a:lnSpc>
                <a:spcPct val="100000"/>
              </a:lnSpc>
              <a:buClr>
                <a:srgbClr val="3F3F3F"/>
              </a:buClr>
              <a:buNone/>
            </a:pPr>
            <a:r>
              <a:rPr lang="en-US" altLang="zh-TW" sz="8000" b="0" strike="noStrike" spc="-1" dirty="0">
                <a:solidFill>
                  <a:srgbClr val="3F3F3F"/>
                </a:solidFill>
                <a:latin typeface="Segoe UI"/>
                <a:ea typeface="DejaVu Sans"/>
              </a:rPr>
              <a:t>Referenced in the code</a:t>
            </a:r>
            <a:endParaRPr lang="en-US" altLang="zh-TW" sz="8000" b="0" strike="noStrike" spc="-1" dirty="0">
              <a:latin typeface="Arial"/>
            </a:endParaRPr>
          </a:p>
          <a:p>
            <a:pPr marL="1440" indent="0">
              <a:lnSpc>
                <a:spcPct val="100000"/>
              </a:lnSpc>
              <a:buNone/>
            </a:pPr>
            <a:r>
              <a:rPr lang="en-US" altLang="zh-TW" sz="5400" spc="-1" dirty="0">
                <a:solidFill>
                  <a:srgbClr val="3F3F3F"/>
                </a:solidFill>
                <a:latin typeface="Segoe UI"/>
                <a:ea typeface="DejaVu Sans"/>
              </a:rPr>
              <a:t>      </a:t>
            </a:r>
            <a:r>
              <a:rPr lang="en-US" altLang="zh-TW" sz="5400" b="1" strike="noStrike" spc="-1" dirty="0">
                <a:solidFill>
                  <a:srgbClr val="3F3F3F"/>
                </a:solidFill>
                <a:latin typeface="Segoe UI"/>
                <a:ea typeface="DejaVu Sans"/>
              </a:rPr>
              <a:t>Nt32Pkg\</a:t>
            </a:r>
            <a:r>
              <a:rPr lang="en-US" altLang="zh-TW" sz="5400" b="1" strike="noStrike" spc="-1" dirty="0" err="1">
                <a:solidFill>
                  <a:srgbClr val="3F3F3F"/>
                </a:solidFill>
                <a:latin typeface="Segoe UI"/>
                <a:ea typeface="DejaVu Sans"/>
              </a:rPr>
              <a:t>WinNtBusDriverDxe</a:t>
            </a:r>
            <a:r>
              <a:rPr lang="en-US" altLang="zh-TW" sz="5400" b="1" strike="noStrike" spc="-1" dirty="0">
                <a:solidFill>
                  <a:srgbClr val="3F3F3F"/>
                </a:solidFill>
                <a:latin typeface="Segoe UI"/>
                <a:ea typeface="DejaVu Sans"/>
              </a:rPr>
              <a:t>\</a:t>
            </a:r>
            <a:r>
              <a:rPr lang="en-US" altLang="zh-TW" sz="5400" b="1" strike="noStrike" spc="-1" dirty="0" err="1">
                <a:solidFill>
                  <a:srgbClr val="3F3F3F"/>
                </a:solidFill>
                <a:latin typeface="Segoe UI"/>
                <a:ea typeface="DejaVu Sans"/>
              </a:rPr>
              <a:t>WinNtBusDriver.c</a:t>
            </a:r>
            <a:endParaRPr lang="en-US" altLang="zh-TW" sz="54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NT_PCD_ENTRY  </a:t>
            </a:r>
            <a:r>
              <a:rPr lang="en-US" altLang="zh-TW" sz="4800" b="1" strike="noStrike" spc="-1" dirty="0" err="1">
                <a:solidFill>
                  <a:srgbClr val="3F3F3F"/>
                </a:solidFill>
                <a:latin typeface="Courier New"/>
                <a:ea typeface="DejaVu Sans"/>
              </a:rPr>
              <a:t>mPcdEnvironment</a:t>
            </a:r>
            <a:r>
              <a:rPr lang="en-US" altLang="zh-TW" sz="4800" b="1" strike="noStrike" spc="-1" dirty="0">
                <a:solidFill>
                  <a:srgbClr val="3F3F3F"/>
                </a:solidFill>
                <a:latin typeface="Courier New"/>
                <a:ea typeface="DejaVu Sans"/>
              </a:rPr>
              <a:t>[] = {</a:t>
            </a:r>
            <a:endParaRPr lang="en-US" altLang="zh-TW" sz="4800" b="0" strike="noStrike" spc="-1" dirty="0">
              <a:latin typeface="Arial"/>
            </a:endParaRPr>
          </a:p>
          <a:p>
            <a:pPr marL="1440" indent="0">
              <a:lnSpc>
                <a:spcPct val="100000"/>
              </a:lnSpc>
              <a:buNone/>
            </a:pPr>
            <a:r>
              <a:rPr lang="en-US" altLang="zh-TW" sz="4800" b="1" strike="noStrike" spc="-1" dirty="0">
                <a:solidFill>
                  <a:srgbClr val="3F3F3F"/>
                </a:solidFill>
                <a:latin typeface="Courier New"/>
                <a:ea typeface="DejaVu Sans"/>
              </a:rPr>
              <a:t>  		</a:t>
            </a:r>
            <a:r>
              <a:rPr lang="en-US" altLang="zh-TW" sz="4800" b="1" strike="noStrike" spc="-1" dirty="0" err="1">
                <a:solidFill>
                  <a:srgbClr val="3F3F3F"/>
                </a:solidFill>
                <a:latin typeface="Courier New"/>
                <a:ea typeface="DejaVu Sans"/>
              </a:rPr>
              <a:t>PcdToken</a:t>
            </a:r>
            <a:r>
              <a:rPr lang="en-US" altLang="zh-TW" sz="4800" b="1" strike="noStrike" spc="-1" dirty="0">
                <a:solidFill>
                  <a:srgbClr val="3F3F3F"/>
                </a:solidFill>
                <a:latin typeface="Courier New"/>
                <a:ea typeface="DejaVu Sans"/>
              </a:rPr>
              <a:t>(</a:t>
            </a:r>
            <a:r>
              <a:rPr lang="en-US" altLang="zh-TW" sz="4800" b="1" strike="noStrike" spc="-1" dirty="0" err="1">
                <a:solidFill>
                  <a:srgbClr val="990000"/>
                </a:solidFill>
                <a:latin typeface="Courier New"/>
                <a:ea typeface="DejaVu Sans"/>
              </a:rPr>
              <a:t>PcdWinNtGop</a:t>
            </a:r>
            <a:r>
              <a:rPr lang="en-US" altLang="zh-TW" sz="4800" b="1" strike="noStrike" spc="-1" dirty="0">
                <a:solidFill>
                  <a:srgbClr val="3F3F3F"/>
                </a:solidFill>
                <a:latin typeface="Courier New"/>
                <a:ea typeface="DejaVu Sans"/>
              </a:rPr>
              <a:t>),     &amp;</a:t>
            </a:r>
            <a:r>
              <a:rPr lang="en-US" altLang="zh-TW" sz="4800" b="1" strike="noStrike" spc="-1" dirty="0" err="1">
                <a:solidFill>
                  <a:srgbClr val="3F3F3F"/>
                </a:solidFill>
                <a:latin typeface="Courier New"/>
                <a:ea typeface="DejaVu Sans"/>
              </a:rPr>
              <a:t>gEfiWinNtGopGuid</a:t>
            </a:r>
            <a:r>
              <a:rPr lang="en-US" altLang="zh-TW" sz="4800" b="1" strike="noStrike" spc="-1" dirty="0">
                <a:solidFill>
                  <a:srgbClr val="3F3F3F"/>
                </a:solidFill>
                <a:latin typeface="Courier New"/>
                <a:ea typeface="DejaVu Sans"/>
              </a:rPr>
              <a:t>,</a:t>
            </a:r>
            <a:endParaRPr lang="en-US" altLang="zh-TW" sz="4800" b="0" strike="noStrike" spc="-1" dirty="0">
              <a:latin typeface="Arial"/>
            </a:endParaRPr>
          </a:p>
          <a:p>
            <a:pPr marL="343080" indent="-341640">
              <a:lnSpc>
                <a:spcPct val="100000"/>
              </a:lnSpc>
            </a:pPr>
            <a:endParaRPr lang="en-US" altLang="zh-TW" sz="4800" b="0" strike="noStrike" spc="-1" dirty="0">
              <a:latin typeface="Arial"/>
            </a:endParaRPr>
          </a:p>
        </p:txBody>
      </p:sp>
      <p:grpSp>
        <p:nvGrpSpPr>
          <p:cNvPr id="10" name="群組 9">
            <a:extLst>
              <a:ext uri="{FF2B5EF4-FFF2-40B4-BE49-F238E27FC236}">
                <a16:creationId xmlns:a16="http://schemas.microsoft.com/office/drawing/2014/main" id="{443C1F55-5175-470B-87A4-12FCDB7D1058}"/>
              </a:ext>
            </a:extLst>
          </p:cNvPr>
          <p:cNvGrpSpPr/>
          <p:nvPr/>
        </p:nvGrpSpPr>
        <p:grpSpPr>
          <a:xfrm>
            <a:off x="47640" y="1398494"/>
            <a:ext cx="916560" cy="3651989"/>
            <a:chOff x="395280" y="1219320"/>
            <a:chExt cx="916560" cy="4242683"/>
          </a:xfrm>
        </p:grpSpPr>
        <p:sp>
          <p:nvSpPr>
            <p:cNvPr id="11" name="CustomShape 3">
              <a:extLst>
                <a:ext uri="{FF2B5EF4-FFF2-40B4-BE49-F238E27FC236}">
                  <a16:creationId xmlns:a16="http://schemas.microsoft.com/office/drawing/2014/main" id="{D6B8B95A-B8D6-4257-A48A-07F35F8C1ADA}"/>
                </a:ext>
              </a:extLst>
            </p:cNvPr>
            <p:cNvSpPr/>
            <p:nvPr/>
          </p:nvSpPr>
          <p:spPr>
            <a:xfrm>
              <a:off x="395280" y="1219320"/>
              <a:ext cx="790560" cy="41148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strike="noStrike" spc="-1">
                  <a:solidFill>
                    <a:srgbClr val="FFFFFF"/>
                  </a:solidFill>
                  <a:latin typeface="Segoe UI"/>
                  <a:ea typeface="新細明體"/>
                </a:rPr>
                <a:t>DEC</a:t>
              </a:r>
              <a:endParaRPr lang="en-US" sz="1800" b="0" strike="noStrike" spc="-1">
                <a:latin typeface="Arial"/>
              </a:endParaRPr>
            </a:p>
          </p:txBody>
        </p:sp>
        <p:sp>
          <p:nvSpPr>
            <p:cNvPr id="12" name="CustomShape 4">
              <a:extLst>
                <a:ext uri="{FF2B5EF4-FFF2-40B4-BE49-F238E27FC236}">
                  <a16:creationId xmlns:a16="http://schemas.microsoft.com/office/drawing/2014/main" id="{09DE73ED-3CAB-46DB-A138-0CBB0822BA42}"/>
                </a:ext>
              </a:extLst>
            </p:cNvPr>
            <p:cNvSpPr/>
            <p:nvPr/>
          </p:nvSpPr>
          <p:spPr>
            <a:xfrm>
              <a:off x="395280" y="2371680"/>
              <a:ext cx="790560" cy="41148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i="1" strike="noStrike" spc="-1">
                  <a:solidFill>
                    <a:srgbClr val="FFFFFF"/>
                  </a:solidFill>
                  <a:latin typeface="Segoe UI"/>
                  <a:ea typeface="新細明體"/>
                </a:rPr>
                <a:t>INF</a:t>
              </a:r>
              <a:endParaRPr lang="en-US" sz="1800" b="0" strike="noStrike" spc="-1">
                <a:latin typeface="Arial"/>
              </a:endParaRPr>
            </a:p>
          </p:txBody>
        </p:sp>
        <p:sp>
          <p:nvSpPr>
            <p:cNvPr id="13" name="CustomShape 5">
              <a:extLst>
                <a:ext uri="{FF2B5EF4-FFF2-40B4-BE49-F238E27FC236}">
                  <a16:creationId xmlns:a16="http://schemas.microsoft.com/office/drawing/2014/main" id="{1FDC1CEC-19A7-4971-8BDA-1C159713F081}"/>
                </a:ext>
              </a:extLst>
            </p:cNvPr>
            <p:cNvSpPr/>
            <p:nvPr/>
          </p:nvSpPr>
          <p:spPr>
            <a:xfrm>
              <a:off x="395280" y="3740400"/>
              <a:ext cx="790560" cy="412920"/>
            </a:xfrm>
            <a:prstGeom prst="flowChartDocumen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i="1" strike="noStrike" spc="-1">
                  <a:solidFill>
                    <a:srgbClr val="FFFFFF"/>
                  </a:solidFill>
                  <a:latin typeface="Segoe UI"/>
                  <a:ea typeface="新細明體"/>
                </a:rPr>
                <a:t>DSC</a:t>
              </a:r>
              <a:endParaRPr lang="en-US" sz="1800" b="0" strike="noStrike" spc="-1">
                <a:latin typeface="Arial"/>
              </a:endParaRPr>
            </a:p>
          </p:txBody>
        </p:sp>
        <p:sp>
          <p:nvSpPr>
            <p:cNvPr id="14" name="CustomShape 6">
              <a:extLst>
                <a:ext uri="{FF2B5EF4-FFF2-40B4-BE49-F238E27FC236}">
                  <a16:creationId xmlns:a16="http://schemas.microsoft.com/office/drawing/2014/main" id="{98709B53-E711-40FB-BC8F-4A6289036967}"/>
                </a:ext>
              </a:extLst>
            </p:cNvPr>
            <p:cNvSpPr/>
            <p:nvPr/>
          </p:nvSpPr>
          <p:spPr>
            <a:xfrm>
              <a:off x="791280" y="2757240"/>
              <a:ext cx="360" cy="981360"/>
            </a:xfrm>
            <a:custGeom>
              <a:avLst/>
              <a:gdLst/>
              <a:ahLst/>
              <a:cxnLst/>
              <a:rect l="l" t="t" r="r" b="b"/>
              <a:pathLst>
                <a:path w="21600" h="21600">
                  <a:moveTo>
                    <a:pt x="0" y="0"/>
                  </a:moveTo>
                  <a:lnTo>
                    <a:pt x="21600" y="21600"/>
                  </a:lnTo>
                </a:path>
              </a:pathLst>
            </a:custGeom>
            <a:noFill/>
            <a:ln w="9360">
              <a:solidFill>
                <a:schemeClr val="tx1"/>
              </a:solidFill>
              <a:round/>
            </a:ln>
          </p:spPr>
          <p:style>
            <a:lnRef idx="0">
              <a:scrgbClr r="0" g="0" b="0"/>
            </a:lnRef>
            <a:fillRef idx="0">
              <a:scrgbClr r="0" g="0" b="0"/>
            </a:fillRef>
            <a:effectRef idx="0">
              <a:scrgbClr r="0" g="0" b="0"/>
            </a:effectRef>
            <a:fontRef idx="minor"/>
          </p:style>
        </p:sp>
        <p:sp>
          <p:nvSpPr>
            <p:cNvPr id="15" name="CustomShape 7">
              <a:extLst>
                <a:ext uri="{FF2B5EF4-FFF2-40B4-BE49-F238E27FC236}">
                  <a16:creationId xmlns:a16="http://schemas.microsoft.com/office/drawing/2014/main" id="{78AEE807-A5CF-4BB7-ADB2-C352C2E22A49}"/>
                </a:ext>
              </a:extLst>
            </p:cNvPr>
            <p:cNvSpPr/>
            <p:nvPr/>
          </p:nvSpPr>
          <p:spPr>
            <a:xfrm>
              <a:off x="791280" y="2757240"/>
              <a:ext cx="360" cy="981360"/>
            </a:xfrm>
            <a:custGeom>
              <a:avLst/>
              <a:gdLst/>
              <a:ahLst/>
              <a:cxnLst/>
              <a:rect l="l" t="t" r="r" b="b"/>
              <a:pathLst>
                <a:path w="21600" h="21600">
                  <a:moveTo>
                    <a:pt x="0" y="0"/>
                  </a:moveTo>
                  <a:lnTo>
                    <a:pt x="21600" y="21600"/>
                  </a:lnTo>
                </a:path>
              </a:pathLst>
            </a:custGeom>
            <a:noFill/>
            <a:ln w="9360">
              <a:solidFill>
                <a:schemeClr val="tx1"/>
              </a:solidFill>
              <a:round/>
            </a:ln>
          </p:spPr>
          <p:style>
            <a:lnRef idx="0">
              <a:scrgbClr r="0" g="0" b="0"/>
            </a:lnRef>
            <a:fillRef idx="0">
              <a:scrgbClr r="0" g="0" b="0"/>
            </a:fillRef>
            <a:effectRef idx="0">
              <a:scrgbClr r="0" g="0" b="0"/>
            </a:effectRef>
            <a:fontRef idx="minor"/>
          </p:style>
        </p:sp>
        <p:sp>
          <p:nvSpPr>
            <p:cNvPr id="16" name="CustomShape 8">
              <a:extLst>
                <a:ext uri="{FF2B5EF4-FFF2-40B4-BE49-F238E27FC236}">
                  <a16:creationId xmlns:a16="http://schemas.microsoft.com/office/drawing/2014/main" id="{BA02A56F-48E4-4F5B-ABCB-052849F1EE92}"/>
                </a:ext>
              </a:extLst>
            </p:cNvPr>
            <p:cNvSpPr/>
            <p:nvPr/>
          </p:nvSpPr>
          <p:spPr>
            <a:xfrm>
              <a:off x="665640" y="5050523"/>
              <a:ext cx="646200" cy="411480"/>
            </a:xfrm>
            <a:prstGeom prst="flowChartProcess">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800" b="0" strike="noStrike" spc="-1" dirty="0">
                  <a:solidFill>
                    <a:srgbClr val="FFFFFF"/>
                  </a:solidFill>
                  <a:latin typeface="Segoe UI"/>
                  <a:ea typeface="新細明體"/>
                </a:rPr>
                <a:t>code</a:t>
              </a:r>
              <a:endParaRPr lang="en-US" sz="1800" b="0" strike="noStrike" spc="-1" dirty="0">
                <a:latin typeface="Arial"/>
              </a:endParaRPr>
            </a:p>
          </p:txBody>
        </p:sp>
        <p:sp>
          <p:nvSpPr>
            <p:cNvPr id="17" name="CustomShape 9">
              <a:extLst>
                <a:ext uri="{FF2B5EF4-FFF2-40B4-BE49-F238E27FC236}">
                  <a16:creationId xmlns:a16="http://schemas.microsoft.com/office/drawing/2014/main" id="{15315FFB-7CDA-4C6B-A36B-CB09600E3B2B}"/>
                </a:ext>
              </a:extLst>
            </p:cNvPr>
            <p:cNvSpPr/>
            <p:nvPr/>
          </p:nvSpPr>
          <p:spPr>
            <a:xfrm>
              <a:off x="791280" y="1604880"/>
              <a:ext cx="360" cy="765360"/>
            </a:xfrm>
            <a:custGeom>
              <a:avLst/>
              <a:gdLst/>
              <a:ahLst/>
              <a:cxnLst/>
              <a:rect l="l" t="t" r="r" b="b"/>
              <a:pathLst>
                <a:path w="21600" h="21600">
                  <a:moveTo>
                    <a:pt x="0" y="0"/>
                  </a:moveTo>
                  <a:lnTo>
                    <a:pt x="21600" y="21600"/>
                  </a:lnTo>
                </a:path>
              </a:pathLst>
            </a:custGeom>
            <a:noFill/>
            <a:ln w="9360">
              <a:solidFill>
                <a:schemeClr val="tx1"/>
              </a:solidFill>
              <a:roun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17001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2339C7-5632-4B72-B5B9-5F3014C1E9BD}"/>
              </a:ext>
            </a:extLst>
          </p:cNvPr>
          <p:cNvSpPr>
            <a:spLocks noGrp="1"/>
          </p:cNvSpPr>
          <p:nvPr>
            <p:ph type="title"/>
          </p:nvPr>
        </p:nvSpPr>
        <p:spPr/>
        <p:txBody>
          <a:bodyPr>
            <a:normAutofit/>
          </a:bodyPr>
          <a:lstStyle/>
          <a:p>
            <a:r>
              <a:rPr lang="en-US" altLang="zh-TW" dirty="0"/>
              <a:t>Overview</a:t>
            </a:r>
            <a:br>
              <a:rPr lang="en-US" altLang="zh-TW" dirty="0"/>
            </a:br>
            <a:r>
              <a:rPr lang="en-US" altLang="zh-TW" sz="2000" dirty="0"/>
              <a:t>PCD Parsing Precedence</a:t>
            </a:r>
            <a:endParaRPr lang="zh-TW" altLang="en-US" sz="2000" dirty="0"/>
          </a:p>
        </p:txBody>
      </p:sp>
      <p:sp>
        <p:nvSpPr>
          <p:cNvPr id="3" name="內容版面配置區 2">
            <a:extLst>
              <a:ext uri="{FF2B5EF4-FFF2-40B4-BE49-F238E27FC236}">
                <a16:creationId xmlns:a16="http://schemas.microsoft.com/office/drawing/2014/main" id="{9F1A3C30-8A6E-4502-A60F-D368DEC18009}"/>
              </a:ext>
            </a:extLst>
          </p:cNvPr>
          <p:cNvSpPr>
            <a:spLocks noGrp="1"/>
          </p:cNvSpPr>
          <p:nvPr>
            <p:ph idx="1"/>
          </p:nvPr>
        </p:nvSpPr>
        <p:spPr/>
        <p:txBody>
          <a:bodyPr>
            <a:normAutofit fontScale="32500" lnSpcReduction="20000"/>
          </a:bodyPr>
          <a:lstStyle/>
          <a:p>
            <a:pPr marL="228600" indent="-227160">
              <a:lnSpc>
                <a:spcPct val="100000"/>
              </a:lnSpc>
              <a:buClr>
                <a:srgbClr val="3F3F3F"/>
              </a:buClr>
              <a:buFont typeface="Arial"/>
              <a:buChar char="•"/>
            </a:pPr>
            <a:r>
              <a:rPr lang="en-US" altLang="zh-TW" sz="8000" b="0" strike="noStrike" spc="-1" dirty="0">
                <a:solidFill>
                  <a:srgbClr val="3F3F3F"/>
                </a:solidFill>
                <a:latin typeface="Segoe UI"/>
                <a:ea typeface="新細明體"/>
              </a:rPr>
              <a:t>A PCD value defined on the command-line using -D </a:t>
            </a:r>
            <a:r>
              <a:rPr lang="en-US" altLang="zh-TW" sz="8000" b="0" strike="noStrike" spc="-1" dirty="0" err="1">
                <a:solidFill>
                  <a:srgbClr val="3F3F3F"/>
                </a:solidFill>
                <a:latin typeface="Segoe UI"/>
                <a:ea typeface="新細明體"/>
              </a:rPr>
              <a:t>PcdName</a:t>
            </a:r>
            <a:r>
              <a:rPr lang="en-US" altLang="zh-TW" sz="8000" b="0" strike="noStrike" spc="-1" dirty="0">
                <a:solidFill>
                  <a:srgbClr val="3F3F3F"/>
                </a:solidFill>
                <a:latin typeface="Segoe UI"/>
                <a:ea typeface="新細明體"/>
              </a:rPr>
              <a:t>=Value</a:t>
            </a:r>
            <a:endParaRPr lang="en-US" altLang="zh-TW" sz="8000" b="0" strike="noStrike" spc="-1" dirty="0">
              <a:latin typeface="Arial"/>
            </a:endParaRPr>
          </a:p>
          <a:p>
            <a:pPr marL="228600" indent="-227160">
              <a:lnSpc>
                <a:spcPct val="100000"/>
              </a:lnSpc>
              <a:buClr>
                <a:srgbClr val="3F3F3F"/>
              </a:buClr>
              <a:buFont typeface="Arial"/>
              <a:buChar char="•"/>
            </a:pPr>
            <a:r>
              <a:rPr lang="en-US" altLang="zh-TW" sz="8000" b="0" strike="noStrike" spc="-1" dirty="0">
                <a:solidFill>
                  <a:srgbClr val="3F3F3F"/>
                </a:solidFill>
                <a:latin typeface="Segoe UI"/>
                <a:ea typeface="新細明體"/>
              </a:rPr>
              <a:t>A PCD value defined in the FDF file SET statements</a:t>
            </a:r>
            <a:endParaRPr lang="en-US" altLang="zh-TW" sz="8000" b="0" strike="noStrike" spc="-1" dirty="0">
              <a:latin typeface="Arial"/>
            </a:endParaRPr>
          </a:p>
          <a:p>
            <a:pPr marL="228600" indent="-227160">
              <a:lnSpc>
                <a:spcPct val="100000"/>
              </a:lnSpc>
              <a:buClr>
                <a:srgbClr val="3F3F3F"/>
              </a:buClr>
              <a:buFont typeface="Arial"/>
              <a:buChar char="•"/>
            </a:pPr>
            <a:r>
              <a:rPr lang="en-US" altLang="zh-TW" sz="8000" b="0" strike="noStrike" spc="-1" dirty="0">
                <a:solidFill>
                  <a:srgbClr val="3F3F3F"/>
                </a:solidFill>
                <a:latin typeface="Segoe UI"/>
                <a:ea typeface="新細明體"/>
              </a:rPr>
              <a:t>A PCD value defined positionally in the FDF file</a:t>
            </a:r>
            <a:endParaRPr lang="en-US" altLang="zh-TW" sz="8000" b="0" strike="noStrike" spc="-1" dirty="0">
              <a:latin typeface="Arial"/>
            </a:endParaRPr>
          </a:p>
          <a:p>
            <a:pPr marL="228600" indent="-227160">
              <a:lnSpc>
                <a:spcPct val="100000"/>
              </a:lnSpc>
              <a:buClr>
                <a:srgbClr val="0070C0"/>
              </a:buClr>
              <a:buFont typeface="Arial"/>
              <a:buChar char="•"/>
            </a:pPr>
            <a:r>
              <a:rPr lang="en-US" altLang="zh-TW" sz="8000" b="0" strike="noStrike" spc="-1" dirty="0">
                <a:solidFill>
                  <a:srgbClr val="0070C0"/>
                </a:solidFill>
                <a:latin typeface="Segoe UI"/>
                <a:ea typeface="新細明體"/>
              </a:rPr>
              <a:t>A PCD value defined in the [Components] INF scoping section (DSC)</a:t>
            </a:r>
            <a:endParaRPr lang="en-US" altLang="zh-TW" sz="8000" b="0" strike="noStrike" spc="-1" dirty="0">
              <a:latin typeface="Arial"/>
            </a:endParaRPr>
          </a:p>
          <a:p>
            <a:pPr marL="228600" indent="-227160">
              <a:lnSpc>
                <a:spcPct val="100000"/>
              </a:lnSpc>
              <a:buClr>
                <a:srgbClr val="0070C0"/>
              </a:buClr>
              <a:buFont typeface="Arial"/>
              <a:buChar char="•"/>
            </a:pPr>
            <a:r>
              <a:rPr lang="en-US" altLang="zh-TW" sz="8000" b="0" strike="noStrike" spc="-1" dirty="0">
                <a:solidFill>
                  <a:srgbClr val="0070C0"/>
                </a:solidFill>
                <a:latin typeface="Segoe UI"/>
                <a:ea typeface="新細明體"/>
              </a:rPr>
              <a:t>A PCD value defined in a [</a:t>
            </a:r>
            <a:r>
              <a:rPr lang="en-US" altLang="zh-TW" sz="8000" b="0" strike="noStrike" spc="-1" dirty="0" err="1">
                <a:solidFill>
                  <a:srgbClr val="0070C0"/>
                </a:solidFill>
                <a:latin typeface="Segoe UI"/>
                <a:ea typeface="新細明體"/>
              </a:rPr>
              <a:t>Pcds</a:t>
            </a:r>
            <a:r>
              <a:rPr lang="en-US" altLang="zh-TW" sz="8000" b="0" strike="noStrike" spc="-1" dirty="0">
                <a:solidFill>
                  <a:srgbClr val="0070C0"/>
                </a:solidFill>
                <a:latin typeface="Segoe UI"/>
                <a:ea typeface="新細明體"/>
              </a:rPr>
              <a:t>*] architectural section (DSC)</a:t>
            </a:r>
            <a:endParaRPr lang="en-US" altLang="zh-TW" sz="8000" b="0" strike="noStrike" spc="-1" dirty="0">
              <a:latin typeface="Arial"/>
            </a:endParaRPr>
          </a:p>
          <a:p>
            <a:pPr marL="228600" indent="-227160">
              <a:lnSpc>
                <a:spcPct val="100000"/>
              </a:lnSpc>
              <a:buClr>
                <a:srgbClr val="0070C0"/>
              </a:buClr>
              <a:buFont typeface="Arial"/>
              <a:buChar char="•"/>
            </a:pPr>
            <a:r>
              <a:rPr lang="en-US" altLang="zh-TW" sz="8000" b="0" strike="noStrike" spc="-1" dirty="0">
                <a:solidFill>
                  <a:srgbClr val="0070C0"/>
                </a:solidFill>
                <a:latin typeface="Segoe UI"/>
                <a:ea typeface="新細明體"/>
              </a:rPr>
              <a:t>A PCD value defined in a [</a:t>
            </a:r>
            <a:r>
              <a:rPr lang="en-US" altLang="zh-TW" sz="8000" b="0" strike="noStrike" spc="-1" dirty="0" err="1">
                <a:solidFill>
                  <a:srgbClr val="0070C0"/>
                </a:solidFill>
                <a:latin typeface="Segoe UI"/>
                <a:ea typeface="新細明體"/>
              </a:rPr>
              <a:t>Pcds</a:t>
            </a:r>
            <a:r>
              <a:rPr lang="en-US" altLang="zh-TW" sz="8000" b="0" strike="noStrike" spc="-1" dirty="0">
                <a:solidFill>
                  <a:srgbClr val="0070C0"/>
                </a:solidFill>
                <a:latin typeface="Segoe UI"/>
                <a:ea typeface="新細明體"/>
              </a:rPr>
              <a:t>*] common architectural section (DSC)</a:t>
            </a:r>
            <a:endParaRPr lang="en-US" altLang="zh-TW" sz="8000" b="0" strike="noStrike" spc="-1" dirty="0">
              <a:latin typeface="Arial"/>
            </a:endParaRPr>
          </a:p>
          <a:p>
            <a:pPr marL="228600" indent="-227160">
              <a:lnSpc>
                <a:spcPct val="100000"/>
              </a:lnSpc>
              <a:buClr>
                <a:srgbClr val="3F3F3F"/>
              </a:buClr>
              <a:buFont typeface="Arial"/>
              <a:buChar char="•"/>
            </a:pPr>
            <a:r>
              <a:rPr lang="en-US" altLang="zh-TW" sz="8000" b="0" strike="noStrike" spc="-1" dirty="0">
                <a:solidFill>
                  <a:srgbClr val="3F3F3F"/>
                </a:solidFill>
                <a:latin typeface="Segoe UI"/>
                <a:ea typeface="新細明體"/>
              </a:rPr>
              <a:t>A PCD value defined in an INF</a:t>
            </a:r>
            <a:endParaRPr lang="en-US" altLang="zh-TW" sz="8000" b="0" strike="noStrike" spc="-1" dirty="0">
              <a:latin typeface="Arial"/>
            </a:endParaRPr>
          </a:p>
          <a:p>
            <a:pPr marL="228600" indent="-227160">
              <a:lnSpc>
                <a:spcPct val="100000"/>
              </a:lnSpc>
              <a:buClr>
                <a:srgbClr val="3F3F3F"/>
              </a:buClr>
              <a:buFont typeface="Arial"/>
              <a:buChar char="•"/>
            </a:pPr>
            <a:r>
              <a:rPr lang="en-US" altLang="zh-TW" sz="8000" b="0" strike="noStrike" spc="-1" dirty="0">
                <a:solidFill>
                  <a:srgbClr val="3F3F3F"/>
                </a:solidFill>
                <a:latin typeface="Segoe UI"/>
                <a:ea typeface="新細明體"/>
              </a:rPr>
              <a:t>A PCD default value defined in the DEC file that declares the PCD</a:t>
            </a:r>
            <a:endParaRPr lang="en-US" altLang="zh-TW" sz="8000" b="0" strike="noStrike" spc="-1" dirty="0">
              <a:latin typeface="Arial"/>
            </a:endParaRPr>
          </a:p>
        </p:txBody>
      </p:sp>
      <p:sp>
        <p:nvSpPr>
          <p:cNvPr id="4" name="CustomShape 3">
            <a:extLst>
              <a:ext uri="{FF2B5EF4-FFF2-40B4-BE49-F238E27FC236}">
                <a16:creationId xmlns:a16="http://schemas.microsoft.com/office/drawing/2014/main" id="{374882C5-98B6-4B26-B842-D1465D7211DF}"/>
              </a:ext>
            </a:extLst>
          </p:cNvPr>
          <p:cNvSpPr/>
          <p:nvPr/>
        </p:nvSpPr>
        <p:spPr>
          <a:xfrm>
            <a:off x="1943760" y="5141173"/>
            <a:ext cx="8304480" cy="836640"/>
          </a:xfrm>
          <a:prstGeom prst="rect">
            <a:avLst/>
          </a:prstGeom>
          <a:solidFill>
            <a:srgbClr val="FFBE3B"/>
          </a:solidFill>
          <a:ln w="9360">
            <a:solidFill>
              <a:srgbClr val="FF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400" b="0" strike="noStrike" spc="-1" dirty="0">
                <a:solidFill>
                  <a:srgbClr val="FF0000"/>
                </a:solidFill>
                <a:latin typeface="Segoe UI"/>
                <a:ea typeface="DejaVu Sans"/>
              </a:rPr>
              <a:t>Recommend that you modify the PCDs value in the .</a:t>
            </a:r>
            <a:r>
              <a:rPr lang="en-US" sz="2400" b="0" strike="noStrike" spc="-1" dirty="0" err="1">
                <a:solidFill>
                  <a:srgbClr val="FF0000"/>
                </a:solidFill>
                <a:latin typeface="Segoe UI"/>
                <a:ea typeface="DejaVu Sans"/>
              </a:rPr>
              <a:t>dsc</a:t>
            </a:r>
            <a:r>
              <a:rPr lang="en-US" sz="2400" b="0" strike="noStrike" spc="-1" dirty="0">
                <a:solidFill>
                  <a:srgbClr val="FF0000"/>
                </a:solidFill>
                <a:latin typeface="Segoe UI"/>
                <a:ea typeface="DejaVu Sans"/>
              </a:rPr>
              <a:t> !!</a:t>
            </a:r>
            <a:endParaRPr lang="en-US" sz="2400" b="0" strike="noStrike" spc="-1" dirty="0">
              <a:latin typeface="Arial"/>
            </a:endParaRPr>
          </a:p>
        </p:txBody>
      </p:sp>
    </p:spTree>
    <p:extLst>
      <p:ext uri="{BB962C8B-B14F-4D97-AF65-F5344CB8AC3E}">
        <p14:creationId xmlns:p14="http://schemas.microsoft.com/office/powerpoint/2010/main" val="407303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2339C7-5632-4B72-B5B9-5F3014C1E9BD}"/>
              </a:ext>
            </a:extLst>
          </p:cNvPr>
          <p:cNvSpPr>
            <a:spLocks noGrp="1"/>
          </p:cNvSpPr>
          <p:nvPr>
            <p:ph type="title"/>
          </p:nvPr>
        </p:nvSpPr>
        <p:spPr/>
        <p:txBody>
          <a:bodyPr>
            <a:normAutofit/>
          </a:bodyPr>
          <a:lstStyle/>
          <a:p>
            <a:r>
              <a:rPr lang="en-US" altLang="zh-TW" dirty="0"/>
              <a:t>Overview</a:t>
            </a:r>
            <a:br>
              <a:rPr lang="en-US" altLang="zh-TW" dirty="0"/>
            </a:br>
            <a:r>
              <a:rPr lang="en-US" altLang="zh-TW" sz="2000" dirty="0"/>
              <a:t>PCD Parsing Precedence</a:t>
            </a:r>
            <a:endParaRPr lang="zh-TW" altLang="en-US" sz="2000" dirty="0"/>
          </a:p>
        </p:txBody>
      </p:sp>
      <p:sp>
        <p:nvSpPr>
          <p:cNvPr id="3" name="內容版面配置區 2">
            <a:extLst>
              <a:ext uri="{FF2B5EF4-FFF2-40B4-BE49-F238E27FC236}">
                <a16:creationId xmlns:a16="http://schemas.microsoft.com/office/drawing/2014/main" id="{9F1A3C30-8A6E-4502-A60F-D368DEC18009}"/>
              </a:ext>
            </a:extLst>
          </p:cNvPr>
          <p:cNvSpPr>
            <a:spLocks noGrp="1"/>
          </p:cNvSpPr>
          <p:nvPr>
            <p:ph idx="1"/>
          </p:nvPr>
        </p:nvSpPr>
        <p:spPr>
          <a:xfrm>
            <a:off x="838200" y="3991390"/>
            <a:ext cx="10515600" cy="2185573"/>
          </a:xfrm>
        </p:spPr>
        <p:txBody>
          <a:bodyPr>
            <a:normAutofit/>
          </a:bodyPr>
          <a:lstStyle/>
          <a:p>
            <a:pPr marL="0" indent="0">
              <a:lnSpc>
                <a:spcPct val="100000"/>
              </a:lnSpc>
              <a:buNone/>
            </a:pPr>
            <a:r>
              <a:rPr lang="en-US" altLang="zh-TW" sz="1800" b="0" strike="noStrike" spc="-1" dirty="0" err="1">
                <a:solidFill>
                  <a:srgbClr val="3F3F3F"/>
                </a:solidFill>
                <a:latin typeface="Segoe UI"/>
                <a:ea typeface="DejaVu Sans"/>
              </a:rPr>
              <a:t>Xxx</a:t>
            </a:r>
            <a:r>
              <a:rPr lang="en-US" altLang="zh-TW" sz="1800" b="0" strike="noStrike" spc="-1" dirty="0">
                <a:solidFill>
                  <a:srgbClr val="3F3F3F"/>
                </a:solidFill>
                <a:latin typeface="Segoe UI"/>
                <a:ea typeface="DejaVu Sans"/>
              </a:rPr>
              <a:t>: 8, 16, 32, 64, </a:t>
            </a:r>
            <a:r>
              <a:rPr lang="en-US" altLang="zh-TW" sz="1800" b="0" strike="noStrike" spc="-1" dirty="0" err="1">
                <a:solidFill>
                  <a:srgbClr val="3F3F3F"/>
                </a:solidFill>
                <a:latin typeface="Segoe UI"/>
                <a:ea typeface="DejaVu Sans"/>
              </a:rPr>
              <a:t>Ptr</a:t>
            </a:r>
            <a:r>
              <a:rPr lang="en-US" altLang="zh-TW" sz="1800" b="0" strike="noStrike" spc="-1" dirty="0">
                <a:solidFill>
                  <a:srgbClr val="3F3F3F"/>
                </a:solidFill>
                <a:latin typeface="Segoe UI"/>
                <a:ea typeface="DejaVu Sans"/>
              </a:rPr>
              <a:t>, Bool</a:t>
            </a:r>
            <a:endParaRPr lang="en-US" altLang="zh-TW" sz="1800" b="0" strike="noStrike" spc="-1" dirty="0">
              <a:latin typeface="Arial"/>
            </a:endParaRPr>
          </a:p>
        </p:txBody>
      </p:sp>
      <p:graphicFrame>
        <p:nvGraphicFramePr>
          <p:cNvPr id="8" name="Table 2">
            <a:extLst>
              <a:ext uri="{FF2B5EF4-FFF2-40B4-BE49-F238E27FC236}">
                <a16:creationId xmlns:a16="http://schemas.microsoft.com/office/drawing/2014/main" id="{34CFC11A-1528-4AAF-B883-5767E59F78C0}"/>
              </a:ext>
            </a:extLst>
          </p:cNvPr>
          <p:cNvGraphicFramePr/>
          <p:nvPr>
            <p:extLst>
              <p:ext uri="{D42A27DB-BD31-4B8C-83A1-F6EECF244321}">
                <p14:modId xmlns:p14="http://schemas.microsoft.com/office/powerpoint/2010/main" val="4034133493"/>
              </p:ext>
            </p:extLst>
          </p:nvPr>
        </p:nvGraphicFramePr>
        <p:xfrm>
          <a:off x="838200" y="1316230"/>
          <a:ext cx="8756640" cy="2675160"/>
        </p:xfrm>
        <a:graphic>
          <a:graphicData uri="http://schemas.openxmlformats.org/drawingml/2006/table">
            <a:tbl>
              <a:tblPr/>
              <a:tblGrid>
                <a:gridCol w="4378320">
                  <a:extLst>
                    <a:ext uri="{9D8B030D-6E8A-4147-A177-3AD203B41FA5}">
                      <a16:colId xmlns:a16="http://schemas.microsoft.com/office/drawing/2014/main" val="20000"/>
                    </a:ext>
                  </a:extLst>
                </a:gridCol>
                <a:gridCol w="4378320">
                  <a:extLst>
                    <a:ext uri="{9D8B030D-6E8A-4147-A177-3AD203B41FA5}">
                      <a16:colId xmlns:a16="http://schemas.microsoft.com/office/drawing/2014/main" val="20001"/>
                    </a:ext>
                  </a:extLst>
                </a:gridCol>
              </a:tblGrid>
              <a:tr h="395280">
                <a:tc>
                  <a:txBody>
                    <a:bodyPr/>
                    <a:lstStyle/>
                    <a:p>
                      <a:pPr algn="ctr">
                        <a:lnSpc>
                          <a:spcPct val="100000"/>
                        </a:lnSpc>
                      </a:pPr>
                      <a:r>
                        <a:rPr lang="en-US" sz="1800" b="1" strike="noStrike" spc="-1" dirty="0">
                          <a:solidFill>
                            <a:srgbClr val="FFFFFF"/>
                          </a:solidFill>
                          <a:latin typeface="Segoe UI"/>
                        </a:rPr>
                        <a:t>Function Name</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tc>
                  <a:txBody>
                    <a:bodyPr/>
                    <a:lstStyle/>
                    <a:p>
                      <a:pPr algn="ctr">
                        <a:lnSpc>
                          <a:spcPct val="100000"/>
                        </a:lnSpc>
                      </a:pPr>
                      <a:r>
                        <a:rPr lang="en-US" sz="1800" b="1" strike="noStrike" spc="-1" dirty="0">
                          <a:solidFill>
                            <a:srgbClr val="FFFFFF"/>
                          </a:solidFill>
                          <a:latin typeface="Segoe UI"/>
                        </a:rPr>
                        <a:t>Usage</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extLst>
                  <a:ext uri="{0D108BD9-81ED-4DB2-BD59-A6C34878D82A}">
                    <a16:rowId xmlns:a16="http://schemas.microsoft.com/office/drawing/2014/main" val="10000"/>
                  </a:ext>
                </a:extLst>
              </a:tr>
              <a:tr h="698760">
                <a:tc>
                  <a:txBody>
                    <a:bodyPr/>
                    <a:lstStyle/>
                    <a:p>
                      <a:pPr>
                        <a:lnSpc>
                          <a:spcPct val="100000"/>
                        </a:lnSpc>
                      </a:pPr>
                      <a:r>
                        <a:rPr lang="en-US" sz="1800" b="1" strike="noStrike" spc="-1" dirty="0" err="1">
                          <a:solidFill>
                            <a:srgbClr val="FF0000"/>
                          </a:solidFill>
                          <a:latin typeface="Segoe UI"/>
                        </a:rPr>
                        <a:t>PcdGetXxx</a:t>
                      </a:r>
                      <a:r>
                        <a:rPr lang="en-US" sz="1800" b="0" strike="noStrike" spc="-1" dirty="0">
                          <a:solidFill>
                            <a:srgbClr val="3F3F3F"/>
                          </a:solidFill>
                          <a:latin typeface="Segoe UI"/>
                        </a:rPr>
                        <a:t>()/</a:t>
                      </a:r>
                      <a:r>
                        <a:rPr lang="en-US" sz="1800" b="0" strike="noStrike" spc="-1" dirty="0" err="1">
                          <a:solidFill>
                            <a:srgbClr val="3F3F3F"/>
                          </a:solidFill>
                          <a:latin typeface="Segoe UI"/>
                        </a:rPr>
                        <a:t>PcdSetXxxS</a:t>
                      </a:r>
                      <a:r>
                        <a:rPr lang="en-US" sz="1800" b="0" strike="noStrike" spc="-1" dirty="0">
                          <a:solidFill>
                            <a:srgbClr val="3F3F3F"/>
                          </a:solidFill>
                          <a:latin typeface="Segoe UI"/>
                        </a:rPr>
                        <a:t>()</a:t>
                      </a:r>
                      <a:endParaRPr lang="en-US" sz="1800" b="0" strike="noStrike" spc="-1" dirty="0">
                        <a:latin typeface="Arial"/>
                      </a:endParaRPr>
                    </a:p>
                  </a:txBody>
                  <a:tcPr marL="92160" marR="9216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tc>
                  <a:txBody>
                    <a:bodyPr/>
                    <a:lstStyle/>
                    <a:p>
                      <a:pPr>
                        <a:lnSpc>
                          <a:spcPct val="100000"/>
                        </a:lnSpc>
                      </a:pPr>
                      <a:r>
                        <a:rPr lang="en-US" sz="1800" b="0" strike="noStrike" spc="-1">
                          <a:solidFill>
                            <a:srgbClr val="3F3F3F"/>
                          </a:solidFill>
                          <a:latin typeface="Segoe UI"/>
                        </a:rPr>
                        <a:t>Common Get/Set function for all PCDs type</a:t>
                      </a:r>
                      <a:endParaRPr lang="en-US" sz="1800" b="0" strike="noStrike" spc="-1">
                        <a:latin typeface="Arial"/>
                      </a:endParaRPr>
                    </a:p>
                  </a:txBody>
                  <a:tcPr marL="92160" marR="9216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extLst>
                  <a:ext uri="{0D108BD9-81ED-4DB2-BD59-A6C34878D82A}">
                    <a16:rowId xmlns:a16="http://schemas.microsoft.com/office/drawing/2014/main" val="10001"/>
                  </a:ext>
                </a:extLst>
              </a:tr>
              <a:tr h="395280">
                <a:tc>
                  <a:txBody>
                    <a:bodyPr/>
                    <a:lstStyle/>
                    <a:p>
                      <a:pPr>
                        <a:lnSpc>
                          <a:spcPct val="100000"/>
                        </a:lnSpc>
                      </a:pPr>
                      <a:r>
                        <a:rPr lang="en-US" sz="1800" b="0" strike="noStrike" spc="-1" dirty="0" err="1">
                          <a:solidFill>
                            <a:srgbClr val="3F3F3F"/>
                          </a:solidFill>
                          <a:latin typeface="Segoe UI"/>
                        </a:rPr>
                        <a:t>FeaturePcdGet</a:t>
                      </a:r>
                      <a:r>
                        <a:rPr lang="en-US" sz="1800" b="0" strike="noStrike" spc="-1" dirty="0">
                          <a:solidFill>
                            <a:srgbClr val="3F3F3F"/>
                          </a:solidFill>
                          <a:latin typeface="Segoe UI"/>
                        </a:rPr>
                        <a:t>()</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nSpc>
                          <a:spcPct val="100000"/>
                        </a:lnSpc>
                      </a:pPr>
                      <a:r>
                        <a:rPr lang="en-US" sz="1800" b="0" strike="noStrike" spc="-1">
                          <a:solidFill>
                            <a:srgbClr val="3F3F3F"/>
                          </a:solidFill>
                          <a:latin typeface="Segoe UI"/>
                        </a:rPr>
                        <a:t>Get function for “FeaturePcd”</a:t>
                      </a:r>
                      <a:endParaRPr lang="en-US" sz="1800" b="0" strike="noStrike" spc="-1">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2"/>
                  </a:ext>
                </a:extLst>
              </a:tr>
              <a:tr h="395280">
                <a:tc>
                  <a:txBody>
                    <a:bodyPr/>
                    <a:lstStyle/>
                    <a:p>
                      <a:pPr>
                        <a:lnSpc>
                          <a:spcPct val="100000"/>
                        </a:lnSpc>
                      </a:pPr>
                      <a:r>
                        <a:rPr lang="en-US" sz="1800" b="0" strike="noStrike" spc="-1">
                          <a:solidFill>
                            <a:srgbClr val="3F3F3F"/>
                          </a:solidFill>
                          <a:latin typeface="Segoe UI"/>
                        </a:rPr>
                        <a:t>FixedPcdGetXxx()</a:t>
                      </a:r>
                      <a:endParaRPr lang="en-US" sz="1800" b="0" strike="noStrike" spc="-1">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nSpc>
                          <a:spcPct val="100000"/>
                        </a:lnSpc>
                      </a:pPr>
                      <a:r>
                        <a:rPr lang="en-US" sz="1800" b="0" strike="noStrike" spc="-1">
                          <a:solidFill>
                            <a:srgbClr val="3F3F3F"/>
                          </a:solidFill>
                          <a:latin typeface="Segoe UI"/>
                        </a:rPr>
                        <a:t>Get function for “FixedPcd”</a:t>
                      </a:r>
                      <a:endParaRPr lang="en-US" sz="1800" b="0" strike="noStrike" spc="-1">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extLst>
                  <a:ext uri="{0D108BD9-81ED-4DB2-BD59-A6C34878D82A}">
                    <a16:rowId xmlns:a16="http://schemas.microsoft.com/office/drawing/2014/main" val="10003"/>
                  </a:ext>
                </a:extLst>
              </a:tr>
              <a:tr h="395280">
                <a:tc>
                  <a:txBody>
                    <a:bodyPr/>
                    <a:lstStyle/>
                    <a:p>
                      <a:pPr>
                        <a:lnSpc>
                          <a:spcPct val="100000"/>
                        </a:lnSpc>
                      </a:pPr>
                      <a:r>
                        <a:rPr lang="en-US" sz="1800" b="0" strike="noStrike" spc="-1" dirty="0" err="1">
                          <a:solidFill>
                            <a:srgbClr val="3F3F3F"/>
                          </a:solidFill>
                          <a:latin typeface="Segoe UI"/>
                        </a:rPr>
                        <a:t>PatchPcdGetXxx</a:t>
                      </a:r>
                      <a:r>
                        <a:rPr lang="en-US" sz="1800" b="0" strike="noStrike" spc="-1" dirty="0">
                          <a:solidFill>
                            <a:srgbClr val="3F3F3F"/>
                          </a:solidFill>
                          <a:latin typeface="Segoe UI"/>
                        </a:rPr>
                        <a:t>()/</a:t>
                      </a:r>
                      <a:r>
                        <a:rPr lang="en-US" sz="1800" b="0" strike="noStrike" spc="-1" dirty="0" err="1">
                          <a:solidFill>
                            <a:srgbClr val="3F3F3F"/>
                          </a:solidFill>
                          <a:latin typeface="Segoe UI"/>
                        </a:rPr>
                        <a:t>PatchPcdSetXxx</a:t>
                      </a:r>
                      <a:r>
                        <a:rPr lang="en-US" sz="1800" b="0" strike="noStrike" spc="-1" dirty="0">
                          <a:solidFill>
                            <a:srgbClr val="3F3F3F"/>
                          </a:solidFill>
                          <a:latin typeface="Segoe UI"/>
                        </a:rPr>
                        <a:t>()</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nSpc>
                          <a:spcPct val="100000"/>
                        </a:lnSpc>
                      </a:pPr>
                      <a:r>
                        <a:rPr lang="en-US" sz="1800" b="0" strike="noStrike" spc="-1">
                          <a:solidFill>
                            <a:srgbClr val="3F3F3F"/>
                          </a:solidFill>
                          <a:latin typeface="Segoe UI"/>
                        </a:rPr>
                        <a:t>Get/Set function for “PatchPcd”</a:t>
                      </a:r>
                      <a:endParaRPr lang="en-US" sz="1800" b="0" strike="noStrike" spc="-1">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4"/>
                  </a:ext>
                </a:extLst>
              </a:tr>
              <a:tr h="395280">
                <a:tc>
                  <a:txBody>
                    <a:bodyPr/>
                    <a:lstStyle/>
                    <a:p>
                      <a:pPr>
                        <a:lnSpc>
                          <a:spcPct val="100000"/>
                        </a:lnSpc>
                      </a:pPr>
                      <a:r>
                        <a:rPr lang="en-US" sz="1800" b="0" strike="noStrike" spc="-1" dirty="0" err="1">
                          <a:solidFill>
                            <a:srgbClr val="3F3F3F"/>
                          </a:solidFill>
                          <a:latin typeface="Segoe UI"/>
                        </a:rPr>
                        <a:t>PcdGetExXxx</a:t>
                      </a:r>
                      <a:r>
                        <a:rPr lang="en-US" sz="1800" b="0" strike="noStrike" spc="-1" dirty="0">
                          <a:solidFill>
                            <a:srgbClr val="3F3F3F"/>
                          </a:solidFill>
                          <a:latin typeface="Segoe UI"/>
                        </a:rPr>
                        <a:t>()/</a:t>
                      </a:r>
                      <a:r>
                        <a:rPr lang="en-US" sz="1800" b="0" strike="noStrike" spc="-1" dirty="0" err="1">
                          <a:solidFill>
                            <a:srgbClr val="3F3F3F"/>
                          </a:solidFill>
                          <a:latin typeface="Segoe UI"/>
                        </a:rPr>
                        <a:t>PcdSetExXxxS</a:t>
                      </a:r>
                      <a:r>
                        <a:rPr lang="en-US" sz="1800" b="0" strike="noStrike" spc="-1" dirty="0">
                          <a:solidFill>
                            <a:srgbClr val="3F3F3F"/>
                          </a:solidFill>
                          <a:latin typeface="Segoe UI"/>
                        </a:rPr>
                        <a:t>()</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nSpc>
                          <a:spcPct val="100000"/>
                        </a:lnSpc>
                      </a:pPr>
                      <a:r>
                        <a:rPr lang="en-US" sz="1800" b="0" strike="noStrike" spc="-1" dirty="0">
                          <a:solidFill>
                            <a:srgbClr val="3F3F3F"/>
                          </a:solidFill>
                          <a:latin typeface="Segoe UI"/>
                        </a:rPr>
                        <a:t>Get/Set function for “</a:t>
                      </a:r>
                      <a:r>
                        <a:rPr lang="en-US" sz="1800" b="0" strike="noStrike" spc="-1" dirty="0" err="1">
                          <a:solidFill>
                            <a:srgbClr val="3F3F3F"/>
                          </a:solidFill>
                          <a:latin typeface="Segoe UI"/>
                        </a:rPr>
                        <a:t>DynamicPcd</a:t>
                      </a:r>
                      <a:r>
                        <a:rPr lang="en-US" sz="1800" b="0" strike="noStrike" spc="-1" dirty="0">
                          <a:solidFill>
                            <a:srgbClr val="3F3F3F"/>
                          </a:solidFill>
                          <a:latin typeface="Segoe UI"/>
                        </a:rPr>
                        <a:t>”</a:t>
                      </a:r>
                      <a:endParaRPr lang="en-US" sz="1800" b="0" strike="noStrike" spc="-1" dirty="0">
                        <a:latin typeface="Arial"/>
                      </a:endParaRPr>
                    </a:p>
                  </a:txBody>
                  <a:tcPr marL="92160" marR="92160">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00266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15</a:t>
            </a:fld>
            <a:endParaRPr lang="en-US" dirty="0"/>
          </a:p>
        </p:txBody>
      </p:sp>
      <p:sp>
        <p:nvSpPr>
          <p:cNvPr id="2" name="Title 1"/>
          <p:cNvSpPr>
            <a:spLocks noGrp="1"/>
          </p:cNvSpPr>
          <p:nvPr>
            <p:ph type="title"/>
          </p:nvPr>
        </p:nvSpPr>
        <p:spPr/>
        <p:txBody>
          <a:bodyPr/>
          <a:lstStyle/>
          <a:p>
            <a:r>
              <a:rPr lang="en-US" dirty="0"/>
              <a:t>How to Add New PCD</a:t>
            </a:r>
          </a:p>
        </p:txBody>
      </p:sp>
    </p:spTree>
    <p:extLst>
      <p:ext uri="{BB962C8B-B14F-4D97-AF65-F5344CB8AC3E}">
        <p14:creationId xmlns:p14="http://schemas.microsoft.com/office/powerpoint/2010/main" val="4267046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Add New PCD</a:t>
            </a:r>
            <a:endParaRPr lang="en-US" sz="2000" dirty="0"/>
          </a:p>
        </p:txBody>
      </p:sp>
      <p:sp>
        <p:nvSpPr>
          <p:cNvPr id="3" name="Content Placeholder 2"/>
          <p:cNvSpPr>
            <a:spLocks noGrp="1"/>
          </p:cNvSpPr>
          <p:nvPr>
            <p:ph idx="1"/>
          </p:nvPr>
        </p:nvSpPr>
        <p:spPr/>
        <p:txBody>
          <a:bodyPr>
            <a:normAutofit lnSpcReduction="10000"/>
          </a:bodyPr>
          <a:lstStyle/>
          <a:p>
            <a:pPr marL="228600" indent="-227160">
              <a:lnSpc>
                <a:spcPct val="100000"/>
              </a:lnSpc>
              <a:buClr>
                <a:srgbClr val="3F3F3F"/>
              </a:buClr>
              <a:buFont typeface="Arial"/>
              <a:buChar char="•"/>
            </a:pPr>
            <a:r>
              <a:rPr lang="en-US" altLang="zh-TW" sz="2800" b="0" strike="noStrike" spc="-1" dirty="0">
                <a:solidFill>
                  <a:srgbClr val="3F3F3F"/>
                </a:solidFill>
                <a:ea typeface="DejaVu Sans"/>
              </a:rPr>
              <a:t>The format for entries in the PCDs sections is four fields, with a pipe “|” character as the field separator, as shown below:</a:t>
            </a:r>
            <a:endParaRPr lang="en-US" altLang="zh-TW" sz="2800" b="0" strike="noStrike" spc="-1" dirty="0"/>
          </a:p>
          <a:p>
            <a:pPr marL="685800" lvl="1" indent="-227160">
              <a:lnSpc>
                <a:spcPct val="100000"/>
              </a:lnSpc>
              <a:buClr>
                <a:srgbClr val="EE6F31"/>
              </a:buClr>
              <a:buFont typeface="Arial"/>
              <a:buChar char="•"/>
            </a:pPr>
            <a:r>
              <a:rPr lang="en-US" altLang="zh-TW" sz="1600" b="1" strike="noStrike" spc="-1" dirty="0">
                <a:solidFill>
                  <a:srgbClr val="EE6F31"/>
                </a:solidFill>
                <a:ea typeface="DejaVu Sans"/>
              </a:rPr>
              <a:t># Comment</a:t>
            </a:r>
            <a:endParaRPr lang="en-US" altLang="zh-TW" sz="1600" b="0" strike="noStrike" spc="-1" dirty="0"/>
          </a:p>
          <a:p>
            <a:pPr marL="685800" lvl="1" indent="-227160">
              <a:lnSpc>
                <a:spcPct val="100000"/>
              </a:lnSpc>
              <a:buClr>
                <a:srgbClr val="EE6F31"/>
              </a:buClr>
              <a:buFont typeface="Arial"/>
              <a:buChar char="•"/>
            </a:pPr>
            <a:r>
              <a:rPr lang="en-US" altLang="zh-TW" sz="1600" b="1" strike="noStrike" spc="-1" dirty="0" err="1">
                <a:solidFill>
                  <a:srgbClr val="EE6F31"/>
                </a:solidFill>
                <a:ea typeface="DejaVu Sans"/>
              </a:rPr>
              <a:t>TokenSpaceGuidCname.PcdCname|DefaultValue|DatumType|Token</a:t>
            </a:r>
            <a:endParaRPr lang="en-US" altLang="zh-TW" sz="1600" b="0" strike="noStrike" spc="-1" dirty="0"/>
          </a:p>
          <a:p>
            <a:pPr>
              <a:lnSpc>
                <a:spcPct val="100000"/>
              </a:lnSpc>
            </a:pP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PcdsFeatureFlag</a:t>
            </a:r>
            <a:r>
              <a:rPr lang="en-US" altLang="zh-TW" sz="1600" b="1" strike="noStrike" spc="-1" dirty="0">
                <a:solidFill>
                  <a:srgbClr val="3F3F3F"/>
                </a:solidFill>
                <a:ea typeface="DejaVu Sans"/>
              </a:rPr>
              <a:t>]</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#FeatureFlag PCD is BOOLEAN type, the value is TRUR or FALSE.</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a:t>
            </a:r>
            <a:r>
              <a:rPr lang="en-US" altLang="zh-TW" sz="1600" b="1" strike="noStrike" spc="-1" dirty="0" err="1">
                <a:solidFill>
                  <a:srgbClr val="FF0000"/>
                </a:solidFill>
                <a:ea typeface="DejaVu Sans"/>
              </a:rPr>
              <a:t>PcdTokenSpaceCGuidName</a:t>
            </a:r>
            <a:r>
              <a:rPr lang="en-US" altLang="zh-TW" sz="1600" b="1" strike="noStrike" spc="-1" dirty="0" err="1">
                <a:solidFill>
                  <a:srgbClr val="3F3F3F"/>
                </a:solidFill>
                <a:ea typeface="DejaVu Sans"/>
              </a:rPr>
              <a:t>.</a:t>
            </a:r>
            <a:r>
              <a:rPr lang="en-US" altLang="zh-TW" sz="1600" b="1" strike="noStrike" spc="-1" dirty="0" err="1">
                <a:solidFill>
                  <a:srgbClr val="FF0000"/>
                </a:solidFill>
                <a:ea typeface="DejaVu Sans"/>
              </a:rPr>
              <a:t>PcdCName</a:t>
            </a:r>
            <a:r>
              <a:rPr lang="en-US" altLang="zh-TW" sz="1600" b="1" strike="noStrike" spc="-1" dirty="0" err="1">
                <a:solidFill>
                  <a:srgbClr val="3F3F3F"/>
                </a:solidFill>
                <a:ea typeface="DejaVu Sans"/>
              </a:rPr>
              <a:t>|</a:t>
            </a:r>
            <a:r>
              <a:rPr lang="en-US" altLang="zh-TW" sz="1600" b="1" strike="noStrike" spc="-1" dirty="0" err="1">
                <a:solidFill>
                  <a:srgbClr val="FF0000"/>
                </a:solidFill>
                <a:ea typeface="DejaVu Sans"/>
              </a:rPr>
              <a:t>TRUE</a:t>
            </a:r>
            <a:r>
              <a:rPr lang="en-US" altLang="zh-TW" sz="1600" b="1" strike="noStrike" spc="-1" dirty="0" err="1">
                <a:solidFill>
                  <a:srgbClr val="3F3F3F"/>
                </a:solidFill>
                <a:ea typeface="DejaVu Sans"/>
              </a:rPr>
              <a:t>|BOOLEAN|</a:t>
            </a:r>
            <a:r>
              <a:rPr lang="en-US" altLang="zh-TW" sz="1600" b="1" strike="noStrike" spc="-1" dirty="0" err="1">
                <a:solidFill>
                  <a:srgbClr val="FF0000"/>
                </a:solidFill>
                <a:ea typeface="DejaVu Sans"/>
              </a:rPr>
              <a:t>TokenNumber</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a:t>
            </a:r>
            <a:r>
              <a:rPr lang="en-US" altLang="zh-TW" sz="1600" b="1" strike="noStrike" spc="-1" dirty="0" err="1">
                <a:solidFill>
                  <a:srgbClr val="FF0000"/>
                </a:solidFill>
                <a:ea typeface="DejaVu Sans"/>
              </a:rPr>
              <a:t>PcdTokenSpaceCGuidName</a:t>
            </a:r>
            <a:r>
              <a:rPr lang="en-US" altLang="zh-TW" sz="1600" b="1" strike="noStrike" spc="-1" dirty="0" err="1">
                <a:solidFill>
                  <a:srgbClr val="3F3F3F"/>
                </a:solidFill>
                <a:ea typeface="DejaVu Sans"/>
              </a:rPr>
              <a:t>.</a:t>
            </a:r>
            <a:r>
              <a:rPr lang="en-US" altLang="zh-TW" sz="1600" b="1" strike="noStrike" spc="-1" dirty="0" err="1">
                <a:solidFill>
                  <a:srgbClr val="FF0000"/>
                </a:solidFill>
                <a:ea typeface="DejaVu Sans"/>
              </a:rPr>
              <a:t>PcdCName</a:t>
            </a:r>
            <a:r>
              <a:rPr lang="en-US" altLang="zh-TW" sz="1600" b="1" strike="noStrike" spc="-1" dirty="0" err="1">
                <a:solidFill>
                  <a:srgbClr val="3F3F3F"/>
                </a:solidFill>
                <a:ea typeface="DejaVu Sans"/>
              </a:rPr>
              <a:t>|</a:t>
            </a:r>
            <a:r>
              <a:rPr lang="en-US" altLang="zh-TW" sz="1600" b="1" strike="noStrike" spc="-1" dirty="0" err="1">
                <a:solidFill>
                  <a:srgbClr val="FF0000"/>
                </a:solidFill>
                <a:ea typeface="DejaVu Sans"/>
              </a:rPr>
              <a:t>FALSE</a:t>
            </a:r>
            <a:r>
              <a:rPr lang="en-US" altLang="zh-TW" sz="1600" b="1" strike="noStrike" spc="-1" dirty="0" err="1">
                <a:solidFill>
                  <a:srgbClr val="3F3F3F"/>
                </a:solidFill>
                <a:ea typeface="DejaVu Sans"/>
              </a:rPr>
              <a:t>|BOOLEAN|</a:t>
            </a:r>
            <a:r>
              <a:rPr lang="en-US" altLang="zh-TW" sz="1600" b="1" strike="noStrike" spc="-1" dirty="0" err="1">
                <a:solidFill>
                  <a:srgbClr val="FF0000"/>
                </a:solidFill>
                <a:ea typeface="DejaVu Sans"/>
              </a:rPr>
              <a:t>TokenNumber</a:t>
            </a:r>
            <a:endParaRPr lang="en-US" altLang="zh-TW" sz="1600" b="0" strike="noStrike" spc="-1" dirty="0"/>
          </a:p>
          <a:p>
            <a:pPr marL="0" indent="0">
              <a:lnSpc>
                <a:spcPct val="100000"/>
              </a:lnSpc>
              <a:buNone/>
            </a:pP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PcdsFeatureFlag</a:t>
            </a:r>
            <a:r>
              <a:rPr lang="en-US" altLang="zh-TW" sz="1600" b="1" strike="noStrike" spc="-1" dirty="0">
                <a:solidFill>
                  <a:srgbClr val="3F3F3F"/>
                </a:solidFill>
                <a:ea typeface="DejaVu Sans"/>
              </a:rPr>
              <a:t>]</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If TRUE, the component name protocol will not be installed.</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gEfiMdePkgTokenSpaceGuid.PcdComponentNameDisable|FALSE|BOOLEAN|0x0000000d</a:t>
            </a:r>
            <a:endParaRPr lang="en-US" altLang="zh-TW" sz="1600" b="0" strike="noStrike" spc="-1" dirty="0"/>
          </a:p>
        </p:txBody>
      </p:sp>
    </p:spTree>
    <p:extLst>
      <p:ext uri="{BB962C8B-B14F-4D97-AF65-F5344CB8AC3E}">
        <p14:creationId xmlns:p14="http://schemas.microsoft.com/office/powerpoint/2010/main" val="104483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Add New PCD</a:t>
            </a:r>
            <a:endParaRPr lang="en-US" sz="2000" dirty="0"/>
          </a:p>
        </p:txBody>
      </p:sp>
      <p:sp>
        <p:nvSpPr>
          <p:cNvPr id="3" name="Content Placeholder 2"/>
          <p:cNvSpPr>
            <a:spLocks noGrp="1"/>
          </p:cNvSpPr>
          <p:nvPr>
            <p:ph idx="1"/>
          </p:nvPr>
        </p:nvSpPr>
        <p:spPr/>
        <p:txBody>
          <a:bodyPr>
            <a:normAutofit fontScale="70000" lnSpcReduction="20000"/>
          </a:bodyPr>
          <a:lstStyle/>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PcdsFixedAtBuild</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a:t>
            </a:r>
            <a:r>
              <a:rPr lang="en-US" altLang="zh-TW" sz="2800" b="1" strike="noStrike" spc="-1" dirty="0">
                <a:solidFill>
                  <a:srgbClr val="FF0000"/>
                </a:solidFill>
                <a:ea typeface="DejaVu Sans"/>
              </a:rPr>
              <a:t>PcdTokenSpaceCGuidName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PcdName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DefaultValue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DataType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TokenNumber</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PcdsPatchableInModule</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a:t>
            </a:r>
            <a:r>
              <a:rPr lang="en-US" altLang="zh-TW" sz="2800" b="1" strike="noStrike" spc="-1" dirty="0">
                <a:solidFill>
                  <a:srgbClr val="FF0000"/>
                </a:solidFill>
                <a:ea typeface="DejaVu Sans"/>
              </a:rPr>
              <a:t>PcdTokenSpaceCGuidName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PcdName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DefaultValue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DataType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TokenNumber</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PcdsDynamicEx</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a:t>
            </a:r>
            <a:r>
              <a:rPr lang="en-US" altLang="zh-TW" sz="2800" b="1" strike="noStrike" spc="-1" dirty="0">
                <a:solidFill>
                  <a:srgbClr val="FF0000"/>
                </a:solidFill>
                <a:ea typeface="DejaVu Sans"/>
              </a:rPr>
              <a:t>PcdTokenSpaceCGuidName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PcdName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DefaultValue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DataType</a:t>
            </a:r>
            <a:r>
              <a:rPr lang="en-US" altLang="zh-TW" sz="2800" b="1" strike="noStrike" spc="-1" dirty="0">
                <a:solidFill>
                  <a:srgbClr val="3F3F3F"/>
                </a:solidFill>
                <a:ea typeface="DejaVu Sans"/>
              </a:rPr>
              <a:t>|</a:t>
            </a:r>
            <a:r>
              <a:rPr lang="en-US" altLang="zh-TW" sz="2800" b="1" strike="noStrike" spc="-1" dirty="0">
                <a:solidFill>
                  <a:srgbClr val="FF0000"/>
                </a:solidFill>
                <a:ea typeface="DejaVu Sans"/>
              </a:rPr>
              <a:t>TokenNumber</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PcdsFixedAtBuild</a:t>
            </a:r>
            <a:r>
              <a:rPr lang="en-US" altLang="zh-TW" sz="2800" b="1" strike="noStrike" spc="-1" dirty="0">
                <a:solidFill>
                  <a:srgbClr val="3F3F3F"/>
                </a:solidFill>
                <a:ea typeface="DejaVu Sans"/>
              </a:rPr>
              <a:t>, </a:t>
            </a:r>
            <a:r>
              <a:rPr lang="en-US" altLang="zh-TW" sz="2800" b="1" strike="noStrike" spc="-1" dirty="0" err="1">
                <a:solidFill>
                  <a:srgbClr val="3F3F3F"/>
                </a:solidFill>
                <a:ea typeface="DejaVu Sans"/>
              </a:rPr>
              <a:t>PcdsPatchableInModule</a:t>
            </a:r>
            <a:r>
              <a:rPr lang="en-US" altLang="zh-TW" sz="2800" b="1" strike="noStrike" spc="-1" dirty="0">
                <a:solidFill>
                  <a:srgbClr val="3F3F3F"/>
                </a:solidFill>
                <a:ea typeface="DejaVu Sans"/>
              </a:rPr>
              <a:t>, </a:t>
            </a:r>
            <a:r>
              <a:rPr lang="en-US" altLang="zh-TW" sz="2800" b="1" strike="noStrike" spc="-1" dirty="0" err="1">
                <a:solidFill>
                  <a:srgbClr val="3F3F3F"/>
                </a:solidFill>
                <a:ea typeface="DejaVu Sans"/>
              </a:rPr>
              <a:t>PcdsDynamic</a:t>
            </a:r>
            <a:r>
              <a:rPr lang="en-US" altLang="zh-TW" sz="2800" b="1" strike="noStrike" spc="-1" dirty="0">
                <a:solidFill>
                  <a:srgbClr val="3F3F3F"/>
                </a:solidFill>
                <a:ea typeface="DejaVu Sans"/>
              </a:rPr>
              <a:t>, </a:t>
            </a:r>
            <a:r>
              <a:rPr lang="en-US" altLang="zh-TW" sz="2800" b="1" strike="noStrike" spc="-1" dirty="0" err="1">
                <a:solidFill>
                  <a:srgbClr val="3F3F3F"/>
                </a:solidFill>
                <a:ea typeface="DejaVu Sans"/>
              </a:rPr>
              <a:t>PcdsDynamicEx</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This value is used to set the base address of </a:t>
            </a:r>
            <a:r>
              <a:rPr lang="en-US" altLang="zh-TW" sz="2800" b="1" strike="noStrike" spc="-1" dirty="0" err="1">
                <a:solidFill>
                  <a:srgbClr val="3F3F3F"/>
                </a:solidFill>
                <a:ea typeface="DejaVu Sans"/>
              </a:rPr>
              <a:t>pci</a:t>
            </a:r>
            <a:r>
              <a:rPr lang="en-US" altLang="zh-TW" sz="2800" b="1" strike="noStrike" spc="-1" dirty="0">
                <a:solidFill>
                  <a:srgbClr val="3F3F3F"/>
                </a:solidFill>
                <a:ea typeface="DejaVu Sans"/>
              </a:rPr>
              <a:t> express hierarchy</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gEfiMdePkgTokenSpaceGuid.PcdPciExpressBaseAddress|0xE0000000|UINT64|0x0000000a</a:t>
            </a:r>
            <a:endParaRPr lang="en-US" altLang="zh-TW" sz="2800" b="0" strike="noStrike" spc="-1" dirty="0"/>
          </a:p>
        </p:txBody>
      </p:sp>
    </p:spTree>
    <p:extLst>
      <p:ext uri="{BB962C8B-B14F-4D97-AF65-F5344CB8AC3E}">
        <p14:creationId xmlns:p14="http://schemas.microsoft.com/office/powerpoint/2010/main" val="1782252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Add New PCD</a:t>
            </a:r>
            <a:endParaRPr lang="en-US" sz="2000" dirty="0"/>
          </a:p>
        </p:txBody>
      </p:sp>
      <p:sp>
        <p:nvSpPr>
          <p:cNvPr id="3" name="Content Placeholder 2"/>
          <p:cNvSpPr>
            <a:spLocks noGrp="1"/>
          </p:cNvSpPr>
          <p:nvPr>
            <p:ph idx="1"/>
          </p:nvPr>
        </p:nvSpPr>
        <p:spPr/>
        <p:txBody>
          <a:bodyPr>
            <a:normAutofit fontScale="70000" lnSpcReduction="20000"/>
          </a:bodyPr>
          <a:lstStyle/>
          <a:p>
            <a:pPr marL="228600" indent="-227160">
              <a:lnSpc>
                <a:spcPct val="100000"/>
              </a:lnSpc>
              <a:buClr>
                <a:srgbClr val="3F3F3F"/>
              </a:buClr>
              <a:buFont typeface="Arial"/>
              <a:buChar char="•"/>
            </a:pPr>
            <a:r>
              <a:rPr lang="en-US" altLang="zh-TW" sz="4400" b="0" strike="noStrike" spc="-1" dirty="0" err="1">
                <a:solidFill>
                  <a:srgbClr val="3F3F3F"/>
                </a:solidFill>
                <a:latin typeface="Segoe UI"/>
                <a:ea typeface="DejaVu Sans"/>
              </a:rPr>
              <a:t>SamplePkg</a:t>
            </a:r>
            <a:r>
              <a:rPr lang="en-US" altLang="zh-TW" sz="4400" b="0" strike="noStrike" spc="-1" dirty="0">
                <a:solidFill>
                  <a:srgbClr val="3F3F3F"/>
                </a:solidFill>
                <a:latin typeface="Segoe UI"/>
                <a:ea typeface="DejaVu Sans"/>
              </a:rPr>
              <a:t>/</a:t>
            </a:r>
            <a:r>
              <a:rPr lang="en-US" altLang="zh-TW" sz="4400" b="0" strike="noStrike" spc="-1" dirty="0" err="1">
                <a:solidFill>
                  <a:srgbClr val="3F3F3F"/>
                </a:solidFill>
                <a:latin typeface="Segoe UI"/>
                <a:ea typeface="DejaVu Sans"/>
              </a:rPr>
              <a:t>SamplePkg.dec</a:t>
            </a:r>
            <a:endParaRPr lang="en-US" altLang="zh-TW" sz="44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PcdsFeatureFlag</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a:solidFill>
                  <a:srgbClr val="FF0000"/>
                </a:solidFill>
                <a:latin typeface="Segoe UI"/>
                <a:ea typeface="DejaVu Sans"/>
              </a:rPr>
              <a:t>gEfiSamplePkgTokenSpaceGuid.PcdFlag</a:t>
            </a:r>
            <a:r>
              <a:rPr lang="en-US" altLang="zh-TW" sz="2800" b="1" strike="noStrike" spc="-1" dirty="0">
                <a:solidFill>
                  <a:srgbClr val="3F3F3F"/>
                </a:solidFill>
                <a:latin typeface="Segoe UI"/>
                <a:ea typeface="DejaVu Sans"/>
              </a:rPr>
              <a:t>|TRUE|BOOLEAN|0x00000001</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PcdsFixedAtBuild</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a:solidFill>
                  <a:srgbClr val="FF0000"/>
                </a:solidFill>
                <a:latin typeface="Segoe UI"/>
                <a:ea typeface="DejaVu Sans"/>
              </a:rPr>
              <a:t>gEfiSamplePkgTokenSpaceGuid.PcdFixed</a:t>
            </a:r>
            <a:r>
              <a:rPr lang="en-US" altLang="zh-TW" sz="2800" b="1" strike="noStrike" spc="-1" dirty="0">
                <a:solidFill>
                  <a:srgbClr val="3F3F3F"/>
                </a:solidFill>
                <a:latin typeface="Segoe UI"/>
                <a:ea typeface="DejaVu Sans"/>
              </a:rPr>
              <a:t>|0x12|UINT8|0x00000002</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PcdsPatchableInModule</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a:solidFill>
                  <a:srgbClr val="FF0000"/>
                </a:solidFill>
                <a:latin typeface="Segoe UI"/>
                <a:ea typeface="DejaVu Sans"/>
              </a:rPr>
              <a:t>gEfiSamplePkgTokenSpaceGuid.PcdPatch</a:t>
            </a:r>
            <a:r>
              <a:rPr lang="en-US" altLang="zh-TW" sz="2800" b="1" strike="noStrike" spc="-1" dirty="0">
                <a:solidFill>
                  <a:srgbClr val="3F3F3F"/>
                </a:solidFill>
                <a:latin typeface="Segoe UI"/>
                <a:ea typeface="DejaVu Sans"/>
              </a:rPr>
              <a:t>|0x1234|UINT16|0x00000003</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PcdsDynamicEx</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err="1">
                <a:solidFill>
                  <a:srgbClr val="FF0000"/>
                </a:solidFill>
                <a:latin typeface="Segoe UI"/>
                <a:ea typeface="DejaVu Sans"/>
              </a:rPr>
              <a:t>gEfiSamplePkgTokenSpaceGuid.PcdSampleDynEx</a:t>
            </a:r>
            <a:r>
              <a:rPr lang="en-US" altLang="zh-TW" sz="2800" b="1" strike="noStrike" spc="-1" dirty="0" err="1">
                <a:solidFill>
                  <a:srgbClr val="3F3F3F"/>
                </a:solidFill>
                <a:latin typeface="Segoe UI"/>
                <a:ea typeface="DejaVu Sans"/>
              </a:rPr>
              <a:t>|L”Hello</a:t>
            </a:r>
            <a:r>
              <a:rPr lang="en-US" altLang="zh-TW" sz="2800" b="1" strike="noStrike" spc="-1" dirty="0">
                <a:solidFill>
                  <a:srgbClr val="3F3F3F"/>
                </a:solidFill>
                <a:latin typeface="Segoe UI"/>
                <a:ea typeface="DejaVu Sans"/>
              </a:rPr>
              <a:t>”| VOID* |0x00000005</a:t>
            </a:r>
            <a:endParaRPr lang="en-US" altLang="zh-TW" sz="2800" b="0" strike="noStrike" spc="-1" dirty="0">
              <a:latin typeface="Arial"/>
            </a:endParaRPr>
          </a:p>
        </p:txBody>
      </p:sp>
    </p:spTree>
    <p:extLst>
      <p:ext uri="{BB962C8B-B14F-4D97-AF65-F5344CB8AC3E}">
        <p14:creationId xmlns:p14="http://schemas.microsoft.com/office/powerpoint/2010/main" val="4268393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19</a:t>
            </a:fld>
            <a:endParaRPr lang="en-US" dirty="0"/>
          </a:p>
        </p:txBody>
      </p:sp>
      <p:sp>
        <p:nvSpPr>
          <p:cNvPr id="2" name="Title 1"/>
          <p:cNvSpPr>
            <a:spLocks noGrp="1"/>
          </p:cNvSpPr>
          <p:nvPr>
            <p:ph type="title"/>
          </p:nvPr>
        </p:nvSpPr>
        <p:spPr/>
        <p:txBody>
          <a:bodyPr/>
          <a:lstStyle/>
          <a:p>
            <a:r>
              <a:rPr lang="en-US" altLang="zh-TW" dirty="0"/>
              <a:t>How to Use PCD</a:t>
            </a:r>
            <a:endParaRPr lang="en-US" dirty="0"/>
          </a:p>
        </p:txBody>
      </p:sp>
    </p:spTree>
    <p:extLst>
      <p:ext uri="{BB962C8B-B14F-4D97-AF65-F5344CB8AC3E}">
        <p14:creationId xmlns:p14="http://schemas.microsoft.com/office/powerpoint/2010/main" val="2114555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normAutofit/>
          </a:bodyPr>
          <a:lstStyle/>
          <a:p>
            <a:r>
              <a:rPr lang="en-US" altLang="zh-TW" dirty="0"/>
              <a:t>How to Use PCD</a:t>
            </a:r>
            <a:endParaRPr lang="zh-TW" altLang="en-US" sz="2200"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341280" indent="-339840">
              <a:lnSpc>
                <a:spcPct val="100000"/>
              </a:lnSpc>
              <a:buClr>
                <a:srgbClr val="3F3F3F"/>
              </a:buClr>
              <a:buFont typeface="Arial"/>
              <a:buChar char="•"/>
            </a:pPr>
            <a:r>
              <a:rPr lang="en-US" altLang="zh-TW" sz="2800" b="0" strike="noStrike" spc="-1" dirty="0">
                <a:solidFill>
                  <a:srgbClr val="0070C0"/>
                </a:solidFill>
                <a:ea typeface="DejaVu Sans"/>
              </a:rPr>
              <a:t>Identify where the PCD is declared</a:t>
            </a:r>
            <a:endParaRPr lang="en-US" altLang="zh-TW" sz="2800" b="0" strike="noStrike" spc="-1" dirty="0"/>
          </a:p>
        </p:txBody>
      </p:sp>
      <p:pic>
        <p:nvPicPr>
          <p:cNvPr id="5" name="Picture 6">
            <a:extLst>
              <a:ext uri="{FF2B5EF4-FFF2-40B4-BE49-F238E27FC236}">
                <a16:creationId xmlns:a16="http://schemas.microsoft.com/office/drawing/2014/main" id="{7E9F7E8E-9698-4EB4-B4F6-349607D8F4E6}"/>
              </a:ext>
            </a:extLst>
          </p:cNvPr>
          <p:cNvPicPr/>
          <p:nvPr/>
        </p:nvPicPr>
        <p:blipFill>
          <a:blip r:embed="rId2"/>
          <a:stretch/>
        </p:blipFill>
        <p:spPr>
          <a:xfrm>
            <a:off x="905312" y="1944827"/>
            <a:ext cx="6766200" cy="3870360"/>
          </a:xfrm>
          <a:prstGeom prst="rect">
            <a:avLst/>
          </a:prstGeom>
          <a:ln w="9360">
            <a:noFill/>
          </a:ln>
        </p:spPr>
      </p:pic>
    </p:spTree>
    <p:extLst>
      <p:ext uri="{BB962C8B-B14F-4D97-AF65-F5344CB8AC3E}">
        <p14:creationId xmlns:p14="http://schemas.microsoft.com/office/powerpoint/2010/main" val="1120187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normAutofit/>
          </a:bodyPr>
          <a:lstStyle/>
          <a:p>
            <a:r>
              <a:rPr lang="en-US" altLang="zh-TW" dirty="0"/>
              <a:t>How to Use PCD</a:t>
            </a:r>
            <a:endParaRPr lang="zh-TW" altLang="en-US" sz="2200"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341280" indent="-339840">
              <a:lnSpc>
                <a:spcPct val="100000"/>
              </a:lnSpc>
              <a:buClr>
                <a:srgbClr val="3F3F3F"/>
              </a:buClr>
              <a:buFont typeface="Arial"/>
              <a:buChar char="•"/>
            </a:pPr>
            <a:r>
              <a:rPr lang="en-US" altLang="zh-TW" sz="2800" b="0" strike="noStrike" spc="-1" dirty="0">
                <a:solidFill>
                  <a:srgbClr val="3F3F3F"/>
                </a:solidFill>
                <a:ea typeface="DejaVu Sans"/>
              </a:rPr>
              <a:t>Identify where the PCD is declared</a:t>
            </a:r>
            <a:endParaRPr lang="en-US" altLang="zh-TW" sz="2800" b="0" strike="noStrike" spc="-1" dirty="0"/>
          </a:p>
          <a:p>
            <a:pPr marL="341280" indent="-339840">
              <a:lnSpc>
                <a:spcPct val="100000"/>
              </a:lnSpc>
              <a:buClr>
                <a:srgbClr val="3F3F3F"/>
              </a:buClr>
              <a:buFont typeface="Arial"/>
              <a:buChar char="•"/>
            </a:pPr>
            <a:r>
              <a:rPr lang="en-US" altLang="zh-TW" sz="2800" b="0" strike="noStrike" spc="-1" dirty="0">
                <a:solidFill>
                  <a:srgbClr val="0070C0"/>
                </a:solidFill>
                <a:ea typeface="DejaVu Sans"/>
              </a:rPr>
              <a:t>Add the package to the INF’s [Packages] section</a:t>
            </a:r>
            <a:endParaRPr lang="en-US" altLang="zh-TW" sz="2800" b="0" strike="noStrike" spc="-1" dirty="0"/>
          </a:p>
          <a:p>
            <a:pPr marL="341280" indent="-339840">
              <a:lnSpc>
                <a:spcPct val="100000"/>
              </a:lnSpc>
              <a:buClr>
                <a:srgbClr val="3F3F3F"/>
              </a:buClr>
              <a:buFont typeface="Arial"/>
              <a:buChar char="•"/>
            </a:pPr>
            <a:r>
              <a:rPr lang="en-US" altLang="zh-TW" sz="2800" b="0" strike="noStrike" spc="-1" dirty="0">
                <a:solidFill>
                  <a:srgbClr val="0070C0"/>
                </a:solidFill>
                <a:ea typeface="DejaVu Sans"/>
              </a:rPr>
              <a:t>Add </a:t>
            </a:r>
            <a:r>
              <a:rPr lang="en-US" altLang="zh-TW" sz="2800" b="0" strike="noStrike" spc="-1" dirty="0" err="1">
                <a:solidFill>
                  <a:srgbClr val="0070C0"/>
                </a:solidFill>
                <a:ea typeface="DejaVu Sans"/>
              </a:rPr>
              <a:t>PcdLib</a:t>
            </a:r>
            <a:r>
              <a:rPr lang="en-US" altLang="zh-TW" sz="2800" b="0" strike="noStrike" spc="-1" dirty="0">
                <a:solidFill>
                  <a:srgbClr val="0070C0"/>
                </a:solidFill>
                <a:ea typeface="DejaVu Sans"/>
              </a:rPr>
              <a:t> to the INF’s [</a:t>
            </a:r>
            <a:r>
              <a:rPr lang="en-US" altLang="zh-TW" sz="2800" b="0" strike="noStrike" spc="-1" dirty="0" err="1">
                <a:solidFill>
                  <a:srgbClr val="0070C0"/>
                </a:solidFill>
                <a:ea typeface="DejaVu Sans"/>
              </a:rPr>
              <a:t>LibraryClasses</a:t>
            </a:r>
            <a:r>
              <a:rPr lang="en-US" altLang="zh-TW" sz="2800" b="0" strike="noStrike" spc="-1" dirty="0">
                <a:solidFill>
                  <a:srgbClr val="0070C0"/>
                </a:solidFill>
                <a:ea typeface="DejaVu Sans"/>
              </a:rPr>
              <a:t>] section</a:t>
            </a:r>
            <a:endParaRPr lang="en-US" altLang="zh-TW" sz="2800" b="0" strike="noStrike" spc="-1" dirty="0"/>
          </a:p>
          <a:p>
            <a:pPr marL="341280" indent="-339840">
              <a:lnSpc>
                <a:spcPct val="100000"/>
              </a:lnSpc>
              <a:buClr>
                <a:srgbClr val="3F3F3F"/>
              </a:buClr>
              <a:buFont typeface="Arial"/>
              <a:buChar char="•"/>
            </a:pPr>
            <a:r>
              <a:rPr lang="en-US" altLang="zh-TW" sz="2800" b="0" strike="noStrike" spc="-1" dirty="0">
                <a:solidFill>
                  <a:srgbClr val="0070C0"/>
                </a:solidFill>
                <a:ea typeface="DejaVu Sans"/>
              </a:rPr>
              <a:t>Add the PCD to the INF’s [</a:t>
            </a:r>
            <a:r>
              <a:rPr lang="en-US" altLang="zh-TW" sz="2800" b="0" strike="noStrike" spc="-1" dirty="0" err="1">
                <a:solidFill>
                  <a:srgbClr val="0070C0"/>
                </a:solidFill>
                <a:ea typeface="DejaVu Sans"/>
              </a:rPr>
              <a:t>Pcd</a:t>
            </a:r>
            <a:r>
              <a:rPr lang="en-US" altLang="zh-TW" sz="2800" b="0" strike="noStrike" spc="-1" dirty="0">
                <a:solidFill>
                  <a:srgbClr val="0070C0"/>
                </a:solidFill>
                <a:ea typeface="DejaVu Sans"/>
              </a:rPr>
              <a:t>] section</a:t>
            </a:r>
            <a:endParaRPr lang="en-US" altLang="zh-TW" sz="2800" b="0" strike="noStrike" spc="-1" dirty="0"/>
          </a:p>
        </p:txBody>
      </p:sp>
      <p:grpSp>
        <p:nvGrpSpPr>
          <p:cNvPr id="6" name="群組 5">
            <a:extLst>
              <a:ext uri="{FF2B5EF4-FFF2-40B4-BE49-F238E27FC236}">
                <a16:creationId xmlns:a16="http://schemas.microsoft.com/office/drawing/2014/main" id="{23350E28-C95C-4FEB-821D-82098B1122B8}"/>
              </a:ext>
            </a:extLst>
          </p:cNvPr>
          <p:cNvGrpSpPr/>
          <p:nvPr/>
        </p:nvGrpSpPr>
        <p:grpSpPr>
          <a:xfrm>
            <a:off x="1391874" y="3578700"/>
            <a:ext cx="8681760" cy="2906280"/>
            <a:chOff x="304920" y="3167640"/>
            <a:chExt cx="8681760" cy="2906280"/>
          </a:xfrm>
        </p:grpSpPr>
        <p:pic>
          <p:nvPicPr>
            <p:cNvPr id="7" name="Picture 7">
              <a:extLst>
                <a:ext uri="{FF2B5EF4-FFF2-40B4-BE49-F238E27FC236}">
                  <a16:creationId xmlns:a16="http://schemas.microsoft.com/office/drawing/2014/main" id="{0D35A8FF-7C54-4E58-8707-8E3382A5E122}"/>
                </a:ext>
              </a:extLst>
            </p:cNvPr>
            <p:cNvPicPr/>
            <p:nvPr/>
          </p:nvPicPr>
          <p:blipFill>
            <a:blip r:embed="rId2"/>
            <a:stretch/>
          </p:blipFill>
          <p:spPr>
            <a:xfrm>
              <a:off x="304920" y="3167640"/>
              <a:ext cx="4951440" cy="1841760"/>
            </a:xfrm>
            <a:prstGeom prst="rect">
              <a:avLst/>
            </a:prstGeom>
            <a:ln w="9360">
              <a:noFill/>
            </a:ln>
          </p:spPr>
        </p:pic>
        <p:pic>
          <p:nvPicPr>
            <p:cNvPr id="8" name="Picture 6">
              <a:extLst>
                <a:ext uri="{FF2B5EF4-FFF2-40B4-BE49-F238E27FC236}">
                  <a16:creationId xmlns:a16="http://schemas.microsoft.com/office/drawing/2014/main" id="{7457ED8E-17CF-4395-9011-39410A98668B}"/>
                </a:ext>
              </a:extLst>
            </p:cNvPr>
            <p:cNvPicPr/>
            <p:nvPr/>
          </p:nvPicPr>
          <p:blipFill>
            <a:blip r:embed="rId3"/>
            <a:stretch/>
          </p:blipFill>
          <p:spPr>
            <a:xfrm>
              <a:off x="4789080" y="4194000"/>
              <a:ext cx="4197600" cy="1879920"/>
            </a:xfrm>
            <a:prstGeom prst="rect">
              <a:avLst/>
            </a:prstGeom>
            <a:ln w="9360">
              <a:noFill/>
            </a:ln>
          </p:spPr>
        </p:pic>
      </p:grpSp>
    </p:spTree>
    <p:extLst>
      <p:ext uri="{BB962C8B-B14F-4D97-AF65-F5344CB8AC3E}">
        <p14:creationId xmlns:p14="http://schemas.microsoft.com/office/powerpoint/2010/main" val="3083418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normAutofit/>
          </a:bodyPr>
          <a:lstStyle/>
          <a:p>
            <a:r>
              <a:rPr lang="en-US" altLang="zh-TW" dirty="0"/>
              <a:t>How to Use PCD</a:t>
            </a:r>
            <a:endParaRPr lang="zh-TW" altLang="en-US" sz="2200"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341280" indent="-339840">
              <a:lnSpc>
                <a:spcPct val="100000"/>
              </a:lnSpc>
              <a:buClr>
                <a:srgbClr val="3F3F3F"/>
              </a:buClr>
              <a:buFont typeface="Arial"/>
              <a:buChar char="•"/>
            </a:pPr>
            <a:r>
              <a:rPr lang="en-US" altLang="zh-TW" sz="2800" b="0" strike="noStrike" spc="-1" dirty="0">
                <a:solidFill>
                  <a:srgbClr val="3F3F3F"/>
                </a:solidFill>
                <a:latin typeface="Segoe UI"/>
                <a:ea typeface="DejaVu Sans"/>
              </a:rPr>
              <a:t>Identify where the PCD is declared</a:t>
            </a:r>
            <a:endParaRPr lang="en-US" altLang="zh-TW" sz="2800" b="0" strike="noStrike" spc="-1" dirty="0">
              <a:latin typeface="Arial"/>
            </a:endParaRPr>
          </a:p>
          <a:p>
            <a:pPr marL="341280" indent="-339840">
              <a:lnSpc>
                <a:spcPct val="100000"/>
              </a:lnSpc>
              <a:buClr>
                <a:srgbClr val="3F3F3F"/>
              </a:buClr>
              <a:buFont typeface="Arial"/>
              <a:buChar char="•"/>
            </a:pPr>
            <a:r>
              <a:rPr lang="en-US" altLang="zh-TW" sz="2800" b="0" strike="noStrike" spc="-1" dirty="0">
                <a:solidFill>
                  <a:srgbClr val="3F3F3F"/>
                </a:solidFill>
                <a:latin typeface="Segoe UI"/>
                <a:ea typeface="DejaVu Sans"/>
              </a:rPr>
              <a:t>Add the package to the INF’s [Packages] section</a:t>
            </a:r>
            <a:endParaRPr lang="en-US" altLang="zh-TW" sz="2800" b="0" strike="noStrike" spc="-1" dirty="0">
              <a:latin typeface="Arial"/>
            </a:endParaRPr>
          </a:p>
          <a:p>
            <a:pPr marL="341280" indent="-339840">
              <a:lnSpc>
                <a:spcPct val="100000"/>
              </a:lnSpc>
              <a:buClr>
                <a:srgbClr val="3F3F3F"/>
              </a:buClr>
              <a:buFont typeface="Arial"/>
              <a:buChar char="•"/>
            </a:pPr>
            <a:r>
              <a:rPr lang="en-US" altLang="zh-TW" sz="2800" b="0" strike="noStrike" spc="-1" dirty="0">
                <a:solidFill>
                  <a:srgbClr val="3F3F3F"/>
                </a:solidFill>
                <a:latin typeface="Segoe UI"/>
                <a:ea typeface="DejaVu Sans"/>
              </a:rPr>
              <a:t>Add </a:t>
            </a:r>
            <a:r>
              <a:rPr lang="en-US" altLang="zh-TW" sz="2800" b="0" strike="noStrike" spc="-1" dirty="0" err="1">
                <a:solidFill>
                  <a:srgbClr val="3F3F3F"/>
                </a:solidFill>
                <a:latin typeface="Segoe UI"/>
                <a:ea typeface="DejaVu Sans"/>
              </a:rPr>
              <a:t>PcdLib</a:t>
            </a:r>
            <a:r>
              <a:rPr lang="en-US" altLang="zh-TW" sz="2800" b="0" strike="noStrike" spc="-1" dirty="0">
                <a:solidFill>
                  <a:srgbClr val="3F3F3F"/>
                </a:solidFill>
                <a:latin typeface="Segoe UI"/>
                <a:ea typeface="DejaVu Sans"/>
              </a:rPr>
              <a:t> to the INF’s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 section</a:t>
            </a:r>
            <a:endParaRPr lang="en-US" altLang="zh-TW" sz="2800" b="0" strike="noStrike" spc="-1" dirty="0">
              <a:latin typeface="Arial"/>
            </a:endParaRPr>
          </a:p>
          <a:p>
            <a:pPr marL="341280" indent="-339840">
              <a:lnSpc>
                <a:spcPct val="100000"/>
              </a:lnSpc>
              <a:buClr>
                <a:srgbClr val="3F3F3F"/>
              </a:buClr>
              <a:buFont typeface="Arial"/>
              <a:buChar char="•"/>
            </a:pPr>
            <a:r>
              <a:rPr lang="en-US" altLang="zh-TW" sz="2800" b="0" strike="noStrike" spc="-1" dirty="0">
                <a:solidFill>
                  <a:srgbClr val="3F3F3F"/>
                </a:solidFill>
                <a:latin typeface="Segoe UI"/>
                <a:ea typeface="DejaVu Sans"/>
              </a:rPr>
              <a:t>Add the PCD to the INF’s [</a:t>
            </a:r>
            <a:r>
              <a:rPr lang="en-US" altLang="zh-TW" sz="2800" b="0" strike="noStrike" spc="-1" dirty="0" err="1">
                <a:solidFill>
                  <a:srgbClr val="3F3F3F"/>
                </a:solidFill>
                <a:latin typeface="Segoe UI"/>
                <a:ea typeface="DejaVu Sans"/>
              </a:rPr>
              <a:t>Pcd</a:t>
            </a:r>
            <a:r>
              <a:rPr lang="en-US" altLang="zh-TW" sz="2800" b="0" strike="noStrike" spc="-1" dirty="0">
                <a:solidFill>
                  <a:srgbClr val="3F3F3F"/>
                </a:solidFill>
                <a:latin typeface="Segoe UI"/>
                <a:ea typeface="DejaVu Sans"/>
              </a:rPr>
              <a:t>] section</a:t>
            </a:r>
            <a:endParaRPr lang="en-US" altLang="zh-TW" sz="2800" b="0" strike="noStrike" spc="-1" dirty="0">
              <a:latin typeface="Arial"/>
            </a:endParaRPr>
          </a:p>
          <a:p>
            <a:pPr marL="341280" indent="-339840">
              <a:lnSpc>
                <a:spcPct val="100000"/>
              </a:lnSpc>
              <a:buClr>
                <a:srgbClr val="3F3F3F"/>
              </a:buClr>
              <a:buFont typeface="Arial"/>
              <a:buChar char="•"/>
            </a:pPr>
            <a:r>
              <a:rPr lang="en-US" altLang="zh-TW" sz="2800" b="0" strike="noStrike" spc="-1" dirty="0">
                <a:solidFill>
                  <a:srgbClr val="0070C0"/>
                </a:solidFill>
                <a:latin typeface="Segoe UI"/>
                <a:ea typeface="DejaVu Sans"/>
              </a:rPr>
              <a:t>Include </a:t>
            </a:r>
            <a:r>
              <a:rPr lang="en-US" altLang="zh-TW" sz="2800" b="0" strike="noStrike" spc="-1" dirty="0" err="1">
                <a:solidFill>
                  <a:srgbClr val="0070C0"/>
                </a:solidFill>
                <a:latin typeface="Segoe UI"/>
                <a:ea typeface="DejaVu Sans"/>
              </a:rPr>
              <a:t>PcdLib</a:t>
            </a:r>
            <a:r>
              <a:rPr lang="en-US" altLang="zh-TW" sz="2800" b="0" strike="noStrike" spc="-1" dirty="0">
                <a:solidFill>
                  <a:srgbClr val="0070C0"/>
                </a:solidFill>
                <a:latin typeface="Segoe UI"/>
                <a:ea typeface="DejaVu Sans"/>
              </a:rPr>
              <a:t> Library Class header file and use PCD access function in C file</a:t>
            </a:r>
            <a:endParaRPr lang="en-US" altLang="zh-TW" sz="2800" b="0" strike="noStrike" spc="-1" dirty="0">
              <a:latin typeface="Arial"/>
            </a:endParaRPr>
          </a:p>
        </p:txBody>
      </p:sp>
      <p:pic>
        <p:nvPicPr>
          <p:cNvPr id="4" name="Picture 7">
            <a:extLst>
              <a:ext uri="{FF2B5EF4-FFF2-40B4-BE49-F238E27FC236}">
                <a16:creationId xmlns:a16="http://schemas.microsoft.com/office/drawing/2014/main" id="{936296A4-DFD2-4FA4-8003-D1AAE1C91CAD}"/>
              </a:ext>
            </a:extLst>
          </p:cNvPr>
          <p:cNvPicPr/>
          <p:nvPr/>
        </p:nvPicPr>
        <p:blipFill>
          <a:blip r:embed="rId2"/>
          <a:stretch/>
        </p:blipFill>
        <p:spPr>
          <a:xfrm>
            <a:off x="2604095" y="4492195"/>
            <a:ext cx="6279846" cy="2085624"/>
          </a:xfrm>
          <a:prstGeom prst="rect">
            <a:avLst/>
          </a:prstGeom>
          <a:ln w="9360">
            <a:noFill/>
          </a:ln>
        </p:spPr>
      </p:pic>
    </p:spTree>
    <p:extLst>
      <p:ext uri="{BB962C8B-B14F-4D97-AF65-F5344CB8AC3E}">
        <p14:creationId xmlns:p14="http://schemas.microsoft.com/office/powerpoint/2010/main" val="1352906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A7BAB58F-9F55-4B51-B28A-E5800B447B0E}"/>
              </a:ext>
            </a:extLst>
          </p:cNvPr>
          <p:cNvSpPr>
            <a:spLocks noGrp="1"/>
          </p:cNvSpPr>
          <p:nvPr>
            <p:ph type="sldNum" sz="quarter" idx="12"/>
          </p:nvPr>
        </p:nvSpPr>
        <p:spPr/>
        <p:txBody>
          <a:bodyPr/>
          <a:lstStyle/>
          <a:p>
            <a:fld id="{711F1488-76AD-4E7F-AEC8-BF811B7D74A5}" type="slidenum">
              <a:rPr lang="en-US" smtClean="0"/>
              <a:pPr/>
              <a:t>23</a:t>
            </a:fld>
            <a:endParaRPr lang="en-US"/>
          </a:p>
        </p:txBody>
      </p:sp>
      <p:sp>
        <p:nvSpPr>
          <p:cNvPr id="3" name="標題 2">
            <a:extLst>
              <a:ext uri="{FF2B5EF4-FFF2-40B4-BE49-F238E27FC236}">
                <a16:creationId xmlns:a16="http://schemas.microsoft.com/office/drawing/2014/main" id="{E5BCF040-D1C6-4B41-BB2F-561DF61794FD}"/>
              </a:ext>
            </a:extLst>
          </p:cNvPr>
          <p:cNvSpPr>
            <a:spLocks noGrp="1"/>
          </p:cNvSpPr>
          <p:nvPr>
            <p:ph type="title"/>
          </p:nvPr>
        </p:nvSpPr>
        <p:spPr/>
        <p:txBody>
          <a:bodyPr/>
          <a:lstStyle/>
          <a:p>
            <a:r>
              <a:rPr lang="en-US" altLang="zh-TW" dirty="0"/>
              <a:t>How to Change PCD in Build Time</a:t>
            </a:r>
            <a:endParaRPr lang="zh-TW" altLang="en-US" dirty="0"/>
          </a:p>
        </p:txBody>
      </p:sp>
    </p:spTree>
    <p:extLst>
      <p:ext uri="{BB962C8B-B14F-4D97-AF65-F5344CB8AC3E}">
        <p14:creationId xmlns:p14="http://schemas.microsoft.com/office/powerpoint/2010/main" val="1362266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6EFE70-60CD-4E27-8334-CE9D1063C4AF}"/>
              </a:ext>
            </a:extLst>
          </p:cNvPr>
          <p:cNvSpPr>
            <a:spLocks noGrp="1"/>
          </p:cNvSpPr>
          <p:nvPr>
            <p:ph type="title"/>
          </p:nvPr>
        </p:nvSpPr>
        <p:spPr/>
        <p:txBody>
          <a:bodyPr/>
          <a:lstStyle/>
          <a:p>
            <a:r>
              <a:rPr lang="en-US" altLang="zh-TW" dirty="0"/>
              <a:t>How to Change PCD in Build Time</a:t>
            </a:r>
            <a:endParaRPr lang="zh-TW" altLang="en-US" dirty="0"/>
          </a:p>
        </p:txBody>
      </p:sp>
      <p:sp>
        <p:nvSpPr>
          <p:cNvPr id="3" name="內容版面配置區 2">
            <a:extLst>
              <a:ext uri="{FF2B5EF4-FFF2-40B4-BE49-F238E27FC236}">
                <a16:creationId xmlns:a16="http://schemas.microsoft.com/office/drawing/2014/main" id="{B94A0502-E833-4A29-8038-3BBB11FDACAA}"/>
              </a:ext>
            </a:extLst>
          </p:cNvPr>
          <p:cNvSpPr>
            <a:spLocks noGrp="1"/>
          </p:cNvSpPr>
          <p:nvPr>
            <p:ph idx="1"/>
          </p:nvPr>
        </p:nvSpPr>
        <p:spPr/>
        <p:txBody>
          <a:bodyPr>
            <a:normAutofit fontScale="70000" lnSpcReduction="20000"/>
          </a:bodyPr>
          <a:lstStyle/>
          <a:p>
            <a:pPr marL="228600" indent="-227160">
              <a:lnSpc>
                <a:spcPct val="100000"/>
              </a:lnSpc>
              <a:buClr>
                <a:srgbClr val="3F3F3F"/>
              </a:buClr>
              <a:buFont typeface="Arial"/>
              <a:buChar char="•"/>
            </a:pPr>
            <a:r>
              <a:rPr lang="en-US" altLang="zh-TW" sz="4400" b="0" strike="noStrike" spc="-1" dirty="0">
                <a:solidFill>
                  <a:srgbClr val="3F3F3F"/>
                </a:solidFill>
                <a:latin typeface="Segoe UI"/>
                <a:ea typeface="DejaVu Sans"/>
              </a:rPr>
              <a:t>$(PROJECT_PKG)/</a:t>
            </a:r>
            <a:r>
              <a:rPr lang="en-US" altLang="zh-TW" sz="4400" b="0" strike="noStrike" spc="-1" dirty="0" err="1">
                <a:solidFill>
                  <a:srgbClr val="3F3F3F"/>
                </a:solidFill>
                <a:latin typeface="Segoe UI"/>
                <a:ea typeface="DejaVu Sans"/>
              </a:rPr>
              <a:t>Project.dsc</a:t>
            </a:r>
            <a:endParaRPr lang="en-US" altLang="zh-TW" sz="44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PcdsFeatureFlag</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err="1">
                <a:solidFill>
                  <a:srgbClr val="FF0000"/>
                </a:solidFill>
                <a:latin typeface="Segoe UI"/>
                <a:ea typeface="DejaVu Sans"/>
              </a:rPr>
              <a:t>gEfiSamplePkgTokenSpaceGuid.PcdFlag</a:t>
            </a:r>
            <a:r>
              <a:rPr lang="en-US" altLang="zh-TW" sz="2800" b="1" strike="noStrike" spc="-1" dirty="0" err="1">
                <a:solidFill>
                  <a:srgbClr val="3F3F3F"/>
                </a:solidFill>
                <a:latin typeface="Segoe UI"/>
                <a:ea typeface="DejaVu Sans"/>
              </a:rPr>
              <a:t>|FALSE</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PcdsFixedAtBuild</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a:solidFill>
                  <a:srgbClr val="FF0000"/>
                </a:solidFill>
                <a:latin typeface="Segoe UI"/>
                <a:ea typeface="DejaVu Sans"/>
              </a:rPr>
              <a:t>gEfiSamplePkgTokenSpaceGuid.PcdFixed</a:t>
            </a:r>
            <a:r>
              <a:rPr lang="en-US" altLang="zh-TW" sz="2800" b="1" strike="noStrike" spc="-1" dirty="0">
                <a:solidFill>
                  <a:srgbClr val="3F3F3F"/>
                </a:solidFill>
                <a:latin typeface="Segoe UI"/>
                <a:ea typeface="DejaVu Sans"/>
              </a:rPr>
              <a:t>|0x21</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PcdsPatchableInModule</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a:solidFill>
                  <a:srgbClr val="FF0000"/>
                </a:solidFill>
                <a:latin typeface="Segoe UI"/>
                <a:ea typeface="DejaVu Sans"/>
              </a:rPr>
              <a:t>gEfiSamplePkgTokenSpaceGuid.PcdPatch</a:t>
            </a:r>
            <a:r>
              <a:rPr lang="en-US" altLang="zh-TW" sz="2800" b="1" strike="noStrike" spc="-1" dirty="0">
                <a:solidFill>
                  <a:srgbClr val="3F3F3F"/>
                </a:solidFill>
                <a:latin typeface="Segoe UI"/>
                <a:ea typeface="DejaVu Sans"/>
              </a:rPr>
              <a:t>|0x4321</a:t>
            </a:r>
            <a:endParaRPr lang="en-US" altLang="zh-TW" sz="2800" b="0" strike="noStrike" spc="-1" dirty="0">
              <a:latin typeface="Arial"/>
            </a:endParaRPr>
          </a:p>
          <a:p>
            <a:pPr marL="0" indent="0">
              <a:lnSpc>
                <a:spcPct val="100000"/>
              </a:lnSpc>
              <a:buNone/>
            </a:pPr>
            <a:endParaRPr lang="en-US" altLang="zh-TW" sz="2800" b="0" strike="noStrike" spc="-1" dirty="0">
              <a:latin typeface="Arial"/>
            </a:endParaRPr>
          </a:p>
          <a:p>
            <a:pPr marL="0" indent="0">
              <a:lnSpc>
                <a:spcPct val="100000"/>
              </a:lnSpc>
              <a:buNone/>
            </a:pPr>
            <a:r>
              <a:rPr lang="en-US" altLang="zh-TW" sz="2800" b="1" strike="noStrike" spc="-1" dirty="0">
                <a:solidFill>
                  <a:srgbClr val="3F3F3F"/>
                </a:solidFill>
                <a:latin typeface="Segoe UI"/>
                <a:ea typeface="DejaVu Sans"/>
              </a:rPr>
              <a:t>[</a:t>
            </a:r>
            <a:r>
              <a:rPr lang="en-US" altLang="zh-TW" sz="2800" b="1" strike="noStrike" spc="-1" dirty="0" err="1">
                <a:solidFill>
                  <a:srgbClr val="3F3F3F"/>
                </a:solidFill>
                <a:latin typeface="Segoe UI"/>
                <a:ea typeface="DejaVu Sans"/>
              </a:rPr>
              <a:t>PcdsDynamicExDefault</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a:p>
            <a:pPr marL="0" indent="0">
              <a:lnSpc>
                <a:spcPct val="100000"/>
              </a:lnSpc>
              <a:buNone/>
            </a:pPr>
            <a:r>
              <a:rPr lang="en-US" altLang="zh-TW" sz="2800" b="1" strike="noStrike" spc="-1" dirty="0" err="1">
                <a:solidFill>
                  <a:srgbClr val="FF0000"/>
                </a:solidFill>
                <a:latin typeface="Segoe UI"/>
                <a:ea typeface="DejaVu Sans"/>
              </a:rPr>
              <a:t>gEfiSamplePkgTokenSpaceGuid.PcdSampleDynEx</a:t>
            </a:r>
            <a:r>
              <a:rPr lang="en-US" altLang="zh-TW" sz="2800" b="1" strike="noStrike" spc="-1" dirty="0" err="1">
                <a:solidFill>
                  <a:srgbClr val="3F3F3F"/>
                </a:solidFill>
                <a:latin typeface="Segoe UI"/>
                <a:ea typeface="DejaVu Sans"/>
              </a:rPr>
              <a:t>|L”Hi</a:t>
            </a:r>
            <a:r>
              <a:rPr lang="en-US" altLang="zh-TW" sz="2800" b="1" strike="noStrike" spc="-1" dirty="0">
                <a:solidFill>
                  <a:srgbClr val="3F3F3F"/>
                </a:solidFill>
                <a:latin typeface="Segoe UI"/>
                <a:ea typeface="DejaVu Sans"/>
              </a:rPr>
              <a:t>”</a:t>
            </a:r>
            <a:endParaRPr lang="en-US" altLang="zh-TW" sz="2800" b="0" strike="noStrike" spc="-1" dirty="0">
              <a:latin typeface="Arial"/>
            </a:endParaRPr>
          </a:p>
        </p:txBody>
      </p:sp>
    </p:spTree>
    <p:extLst>
      <p:ext uri="{BB962C8B-B14F-4D97-AF65-F5344CB8AC3E}">
        <p14:creationId xmlns:p14="http://schemas.microsoft.com/office/powerpoint/2010/main" val="2966182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EE7AAEF9-7303-40ED-97C1-CB5626FDE7DD}"/>
              </a:ext>
            </a:extLst>
          </p:cNvPr>
          <p:cNvSpPr>
            <a:spLocks noGrp="1"/>
          </p:cNvSpPr>
          <p:nvPr>
            <p:ph type="sldNum" sz="quarter" idx="12"/>
          </p:nvPr>
        </p:nvSpPr>
        <p:spPr/>
        <p:txBody>
          <a:bodyPr/>
          <a:lstStyle/>
          <a:p>
            <a:fld id="{711F1488-76AD-4E7F-AEC8-BF811B7D74A5}" type="slidenum">
              <a:rPr lang="en-US" smtClean="0"/>
              <a:pPr/>
              <a:t>25</a:t>
            </a:fld>
            <a:endParaRPr lang="en-US"/>
          </a:p>
        </p:txBody>
      </p:sp>
      <p:sp>
        <p:nvSpPr>
          <p:cNvPr id="3" name="標題 2">
            <a:extLst>
              <a:ext uri="{FF2B5EF4-FFF2-40B4-BE49-F238E27FC236}">
                <a16:creationId xmlns:a16="http://schemas.microsoft.com/office/drawing/2014/main" id="{5C2066C5-DDD2-49E0-9700-7EBAFCD04C49}"/>
              </a:ext>
            </a:extLst>
          </p:cNvPr>
          <p:cNvSpPr>
            <a:spLocks noGrp="1"/>
          </p:cNvSpPr>
          <p:nvPr>
            <p:ph type="title"/>
          </p:nvPr>
        </p:nvSpPr>
        <p:spPr/>
        <p:txBody>
          <a:bodyPr/>
          <a:lstStyle/>
          <a:p>
            <a:r>
              <a:rPr lang="en-US" altLang="zh-TW" dirty="0"/>
              <a:t>PCD Deep Dive</a:t>
            </a:r>
            <a:endParaRPr lang="zh-TW" altLang="en-US" dirty="0"/>
          </a:p>
        </p:txBody>
      </p:sp>
    </p:spTree>
    <p:extLst>
      <p:ext uri="{BB962C8B-B14F-4D97-AF65-F5344CB8AC3E}">
        <p14:creationId xmlns:p14="http://schemas.microsoft.com/office/powerpoint/2010/main" val="1543712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D0031-41CF-4977-BC26-7AFCF43B6B94}"/>
              </a:ext>
            </a:extLst>
          </p:cNvPr>
          <p:cNvSpPr>
            <a:spLocks noGrp="1"/>
          </p:cNvSpPr>
          <p:nvPr>
            <p:ph type="title"/>
          </p:nvPr>
        </p:nvSpPr>
        <p:spPr/>
        <p:txBody>
          <a:bodyPr/>
          <a:lstStyle/>
          <a:p>
            <a:r>
              <a:rPr lang="en-US" altLang="zh-TW" dirty="0"/>
              <a:t>PCD Deep Dive</a:t>
            </a:r>
            <a:endParaRPr lang="zh-TW" altLang="en-US" dirty="0"/>
          </a:p>
        </p:txBody>
      </p:sp>
      <p:sp>
        <p:nvSpPr>
          <p:cNvPr id="3" name="內容版面配置區 2">
            <a:extLst>
              <a:ext uri="{FF2B5EF4-FFF2-40B4-BE49-F238E27FC236}">
                <a16:creationId xmlns:a16="http://schemas.microsoft.com/office/drawing/2014/main" id="{7D5FFC30-C52C-4C94-8A52-E45A7BF6F11A}"/>
              </a:ext>
            </a:extLst>
          </p:cNvPr>
          <p:cNvSpPr>
            <a:spLocks noGrp="1"/>
          </p:cNvSpPr>
          <p:nvPr>
            <p:ph idx="1"/>
          </p:nvPr>
        </p:nvSpPr>
        <p:spPr/>
        <p:txBody>
          <a:bodyPr>
            <a:normAutofit/>
          </a:bodyPr>
          <a:lstStyle/>
          <a:p>
            <a:pPr marL="0" indent="0">
              <a:lnSpc>
                <a:spcPct val="100000"/>
              </a:lnSpc>
              <a:buNone/>
            </a:pPr>
            <a:r>
              <a:rPr lang="en-US" altLang="zh-TW" sz="2000" b="0" strike="noStrike" spc="-1" dirty="0">
                <a:solidFill>
                  <a:srgbClr val="3F3F3F"/>
                </a:solidFill>
                <a:ea typeface="DejaVu Sans"/>
              </a:rPr>
              <a:t>DEC (PCD Declaration in </a:t>
            </a:r>
            <a:r>
              <a:rPr lang="en-US" altLang="zh-TW" sz="2000" b="0" strike="noStrike" spc="-1" dirty="0" err="1">
                <a:solidFill>
                  <a:srgbClr val="3F3F3F"/>
                </a:solidFill>
                <a:ea typeface="DejaVu Sans"/>
              </a:rPr>
              <a:t>TestPkg</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TestPkg.dec</a:t>
            </a:r>
            <a:r>
              <a:rPr lang="en-US" altLang="zh-TW" sz="2000" b="0" strike="noStrike" spc="-1" dirty="0">
                <a:solidFill>
                  <a:srgbClr val="3F3F3F"/>
                </a:solidFill>
                <a:ea typeface="DejaVu Sans"/>
              </a:rPr>
              <a:t>)</a:t>
            </a:r>
          </a:p>
          <a:p>
            <a:pPr marL="0" indent="0">
              <a:lnSpc>
                <a:spcPct val="100000"/>
              </a:lnSpc>
              <a:buNone/>
            </a:pPr>
            <a:endParaRPr lang="en-US" altLang="zh-TW" sz="2000" b="0" strike="noStrike" spc="-1" dirty="0">
              <a:solidFill>
                <a:srgbClr val="3F3F3F"/>
              </a:solidFill>
              <a:ea typeface="DejaVu Sans"/>
            </a:endParaRPr>
          </a:p>
          <a:p>
            <a:pPr marL="0" indent="0">
              <a:lnSpc>
                <a:spcPct val="100000"/>
              </a:lnSpc>
              <a:buNone/>
            </a:pPr>
            <a:endParaRPr lang="en-US" altLang="zh-TW" sz="2000" spc="-1" dirty="0">
              <a:solidFill>
                <a:srgbClr val="3F3F3F"/>
              </a:solidFill>
            </a:endParaRPr>
          </a:p>
          <a:p>
            <a:pPr marL="0" indent="0">
              <a:lnSpc>
                <a:spcPct val="100000"/>
              </a:lnSpc>
              <a:buNone/>
            </a:pPr>
            <a:endParaRPr lang="en-US" altLang="zh-TW" sz="2000" b="0" strike="noStrike" spc="-1" dirty="0">
              <a:solidFill>
                <a:srgbClr val="3F3F3F"/>
              </a:solidFill>
            </a:endParaRPr>
          </a:p>
          <a:p>
            <a:pPr marL="0" indent="0">
              <a:lnSpc>
                <a:spcPct val="100000"/>
              </a:lnSpc>
              <a:buNone/>
            </a:pPr>
            <a:endParaRPr lang="en-US" altLang="zh-TW" sz="2000" spc="-1" dirty="0">
              <a:solidFill>
                <a:srgbClr val="3F3F3F"/>
              </a:solidFill>
            </a:endParaRPr>
          </a:p>
          <a:p>
            <a:pPr marL="0" indent="0">
              <a:lnSpc>
                <a:spcPct val="100000"/>
              </a:lnSpc>
              <a:buNone/>
            </a:pPr>
            <a:r>
              <a:rPr lang="en-US" altLang="zh-TW" sz="2000" b="0" strike="noStrike" spc="-1" dirty="0">
                <a:solidFill>
                  <a:srgbClr val="3F3F3F"/>
                </a:solidFill>
                <a:ea typeface="DejaVu Sans"/>
              </a:rPr>
              <a:t>DSC (PCD Value Initialization in Nt32Pkg/Nt32Pkg.dsc)</a:t>
            </a:r>
            <a:endParaRPr lang="en-US" altLang="zh-TW" sz="2000" b="0" strike="noStrike" spc="-1" dirty="0"/>
          </a:p>
          <a:p>
            <a:pPr>
              <a:lnSpc>
                <a:spcPct val="100000"/>
              </a:lnSpc>
            </a:pPr>
            <a:endParaRPr lang="en-US" altLang="zh-TW" sz="2000" b="0" strike="noStrike" spc="-1" dirty="0"/>
          </a:p>
          <a:p>
            <a:pPr>
              <a:lnSpc>
                <a:spcPct val="100000"/>
              </a:lnSpc>
            </a:pPr>
            <a:endParaRPr lang="en-US" altLang="zh-TW" sz="2000" b="0" strike="noStrike" spc="-1" dirty="0"/>
          </a:p>
          <a:p>
            <a:pPr marL="0" indent="0">
              <a:buNone/>
            </a:pPr>
            <a:endParaRPr lang="zh-TW" altLang="en-US" sz="2000" dirty="0"/>
          </a:p>
        </p:txBody>
      </p:sp>
      <p:pic>
        <p:nvPicPr>
          <p:cNvPr id="16" name="Picture 15">
            <a:extLst>
              <a:ext uri="{FF2B5EF4-FFF2-40B4-BE49-F238E27FC236}">
                <a16:creationId xmlns:a16="http://schemas.microsoft.com/office/drawing/2014/main" id="{3882D26F-F2B9-4BF4-ABD4-D82826AF7C3B}"/>
              </a:ext>
            </a:extLst>
          </p:cNvPr>
          <p:cNvPicPr>
            <a:picLocks noChangeAspect="1"/>
          </p:cNvPicPr>
          <p:nvPr/>
        </p:nvPicPr>
        <p:blipFill>
          <a:blip r:embed="rId2"/>
          <a:stretch>
            <a:fillRect/>
          </a:stretch>
        </p:blipFill>
        <p:spPr>
          <a:xfrm>
            <a:off x="1093177" y="1778572"/>
            <a:ext cx="9501554" cy="1742448"/>
          </a:xfrm>
          <a:prstGeom prst="rect">
            <a:avLst/>
          </a:prstGeom>
        </p:spPr>
      </p:pic>
      <p:pic>
        <p:nvPicPr>
          <p:cNvPr id="18" name="Picture 17">
            <a:extLst>
              <a:ext uri="{FF2B5EF4-FFF2-40B4-BE49-F238E27FC236}">
                <a16:creationId xmlns:a16="http://schemas.microsoft.com/office/drawing/2014/main" id="{597822C5-5129-4753-AE34-0B197D26DF7A}"/>
              </a:ext>
            </a:extLst>
          </p:cNvPr>
          <p:cNvPicPr>
            <a:picLocks noChangeAspect="1"/>
          </p:cNvPicPr>
          <p:nvPr/>
        </p:nvPicPr>
        <p:blipFill>
          <a:blip r:embed="rId3"/>
          <a:stretch>
            <a:fillRect/>
          </a:stretch>
        </p:blipFill>
        <p:spPr>
          <a:xfrm>
            <a:off x="1093177" y="4005531"/>
            <a:ext cx="9501554" cy="1684366"/>
          </a:xfrm>
          <a:prstGeom prst="rect">
            <a:avLst/>
          </a:prstGeom>
        </p:spPr>
      </p:pic>
    </p:spTree>
    <p:extLst>
      <p:ext uri="{BB962C8B-B14F-4D97-AF65-F5344CB8AC3E}">
        <p14:creationId xmlns:p14="http://schemas.microsoft.com/office/powerpoint/2010/main" val="1329891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D0031-41CF-4977-BC26-7AFCF43B6B94}"/>
              </a:ext>
            </a:extLst>
          </p:cNvPr>
          <p:cNvSpPr>
            <a:spLocks noGrp="1"/>
          </p:cNvSpPr>
          <p:nvPr>
            <p:ph type="title"/>
          </p:nvPr>
        </p:nvSpPr>
        <p:spPr/>
        <p:txBody>
          <a:bodyPr/>
          <a:lstStyle/>
          <a:p>
            <a:r>
              <a:rPr lang="en-US" altLang="zh-TW" dirty="0"/>
              <a:t>PCD Deep Dive</a:t>
            </a:r>
            <a:endParaRPr lang="zh-TW" altLang="en-US" dirty="0"/>
          </a:p>
        </p:txBody>
      </p:sp>
      <p:sp>
        <p:nvSpPr>
          <p:cNvPr id="3" name="內容版面配置區 2">
            <a:extLst>
              <a:ext uri="{FF2B5EF4-FFF2-40B4-BE49-F238E27FC236}">
                <a16:creationId xmlns:a16="http://schemas.microsoft.com/office/drawing/2014/main" id="{7D5FFC30-C52C-4C94-8A52-E45A7BF6F11A}"/>
              </a:ext>
            </a:extLst>
          </p:cNvPr>
          <p:cNvSpPr>
            <a:spLocks noGrp="1"/>
          </p:cNvSpPr>
          <p:nvPr>
            <p:ph idx="1"/>
          </p:nvPr>
        </p:nvSpPr>
        <p:spPr/>
        <p:txBody>
          <a:bodyPr>
            <a:normAutofit/>
          </a:bodyPr>
          <a:lstStyle/>
          <a:p>
            <a:pPr marL="0" indent="0">
              <a:lnSpc>
                <a:spcPct val="100000"/>
              </a:lnSpc>
              <a:buNone/>
            </a:pPr>
            <a:r>
              <a:rPr lang="en-US" altLang="zh-TW" sz="2000" b="0" strike="noStrike" spc="-1" dirty="0">
                <a:solidFill>
                  <a:srgbClr val="3F3F3F"/>
                </a:solidFill>
                <a:ea typeface="DejaVu Sans"/>
              </a:rPr>
              <a:t>PcdUtility.inf</a:t>
            </a:r>
          </a:p>
          <a:p>
            <a:pPr marL="0" indent="0">
              <a:lnSpc>
                <a:spcPct val="100000"/>
              </a:lnSpc>
              <a:buNone/>
            </a:pPr>
            <a:endParaRPr lang="en-US" altLang="zh-TW" sz="2000" b="0" strike="noStrike" spc="-1" dirty="0">
              <a:solidFill>
                <a:srgbClr val="3F3F3F"/>
              </a:solidFill>
              <a:ea typeface="DejaVu Sans"/>
            </a:endParaRPr>
          </a:p>
          <a:p>
            <a:pPr marL="0" indent="0">
              <a:lnSpc>
                <a:spcPct val="100000"/>
              </a:lnSpc>
              <a:buNone/>
            </a:pPr>
            <a:endParaRPr lang="en-US" altLang="zh-TW" sz="2000" spc="-1" dirty="0">
              <a:solidFill>
                <a:srgbClr val="3F3F3F"/>
              </a:solidFill>
            </a:endParaRPr>
          </a:p>
          <a:p>
            <a:pPr marL="0" indent="0">
              <a:lnSpc>
                <a:spcPct val="100000"/>
              </a:lnSpc>
              <a:buNone/>
            </a:pPr>
            <a:endParaRPr lang="en-US" altLang="zh-TW" sz="2000" b="0" strike="noStrike" spc="-1" dirty="0">
              <a:solidFill>
                <a:srgbClr val="3F3F3F"/>
              </a:solidFill>
            </a:endParaRPr>
          </a:p>
          <a:p>
            <a:pPr marL="0" indent="0">
              <a:lnSpc>
                <a:spcPct val="100000"/>
              </a:lnSpc>
              <a:buNone/>
            </a:pPr>
            <a:endParaRPr lang="en-US" altLang="zh-TW" sz="2000" spc="-1" dirty="0">
              <a:solidFill>
                <a:srgbClr val="3F3F3F"/>
              </a:solidFill>
            </a:endParaRPr>
          </a:p>
          <a:p>
            <a:pPr>
              <a:lnSpc>
                <a:spcPct val="100000"/>
              </a:lnSpc>
            </a:pPr>
            <a:endParaRPr lang="en-US" altLang="zh-TW" sz="2000" b="0" strike="noStrike" spc="-1" dirty="0"/>
          </a:p>
          <a:p>
            <a:pPr>
              <a:lnSpc>
                <a:spcPct val="100000"/>
              </a:lnSpc>
            </a:pPr>
            <a:endParaRPr lang="en-US" altLang="zh-TW" sz="2000" b="0" strike="noStrike" spc="-1" dirty="0"/>
          </a:p>
          <a:p>
            <a:pPr marL="0" indent="0">
              <a:buNone/>
            </a:pPr>
            <a:endParaRPr lang="zh-TW" altLang="en-US" sz="2000" dirty="0"/>
          </a:p>
        </p:txBody>
      </p:sp>
      <p:pic>
        <p:nvPicPr>
          <p:cNvPr id="5" name="Picture 4">
            <a:extLst>
              <a:ext uri="{FF2B5EF4-FFF2-40B4-BE49-F238E27FC236}">
                <a16:creationId xmlns:a16="http://schemas.microsoft.com/office/drawing/2014/main" id="{DC07109A-303B-4190-85EA-9244F75E3B90}"/>
              </a:ext>
            </a:extLst>
          </p:cNvPr>
          <p:cNvPicPr>
            <a:picLocks noChangeAspect="1"/>
          </p:cNvPicPr>
          <p:nvPr/>
        </p:nvPicPr>
        <p:blipFill>
          <a:blip r:embed="rId2"/>
          <a:stretch>
            <a:fillRect/>
          </a:stretch>
        </p:blipFill>
        <p:spPr>
          <a:xfrm>
            <a:off x="1143732" y="1952992"/>
            <a:ext cx="8518675" cy="1476008"/>
          </a:xfrm>
          <a:prstGeom prst="rect">
            <a:avLst/>
          </a:prstGeom>
        </p:spPr>
      </p:pic>
    </p:spTree>
    <p:extLst>
      <p:ext uri="{BB962C8B-B14F-4D97-AF65-F5344CB8AC3E}">
        <p14:creationId xmlns:p14="http://schemas.microsoft.com/office/powerpoint/2010/main" val="2166380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D0031-41CF-4977-BC26-7AFCF43B6B94}"/>
              </a:ext>
            </a:extLst>
          </p:cNvPr>
          <p:cNvSpPr>
            <a:spLocks noGrp="1"/>
          </p:cNvSpPr>
          <p:nvPr>
            <p:ph type="title"/>
          </p:nvPr>
        </p:nvSpPr>
        <p:spPr/>
        <p:txBody>
          <a:bodyPr/>
          <a:lstStyle/>
          <a:p>
            <a:r>
              <a:rPr lang="en-US" altLang="zh-TW" dirty="0"/>
              <a:t>PCD Deep Dive</a:t>
            </a:r>
            <a:endParaRPr lang="zh-TW" altLang="en-US" dirty="0"/>
          </a:p>
        </p:txBody>
      </p:sp>
      <p:pic>
        <p:nvPicPr>
          <p:cNvPr id="7" name="Picture 6">
            <a:extLst>
              <a:ext uri="{FF2B5EF4-FFF2-40B4-BE49-F238E27FC236}">
                <a16:creationId xmlns:a16="http://schemas.microsoft.com/office/drawing/2014/main" id="{1812D64D-D894-4F4F-9DBB-EDC14A004E1D}"/>
              </a:ext>
            </a:extLst>
          </p:cNvPr>
          <p:cNvPicPr>
            <a:picLocks noChangeAspect="1"/>
          </p:cNvPicPr>
          <p:nvPr/>
        </p:nvPicPr>
        <p:blipFill>
          <a:blip r:embed="rId2"/>
          <a:stretch>
            <a:fillRect/>
          </a:stretch>
        </p:blipFill>
        <p:spPr>
          <a:xfrm>
            <a:off x="901211" y="1137138"/>
            <a:ext cx="7419975" cy="4953000"/>
          </a:xfrm>
          <a:prstGeom prst="rect">
            <a:avLst/>
          </a:prstGeom>
        </p:spPr>
      </p:pic>
      <p:pic>
        <p:nvPicPr>
          <p:cNvPr id="9" name="Picture 8">
            <a:extLst>
              <a:ext uri="{FF2B5EF4-FFF2-40B4-BE49-F238E27FC236}">
                <a16:creationId xmlns:a16="http://schemas.microsoft.com/office/drawing/2014/main" id="{896D4A84-FF4D-46C8-BFB5-87D39EF00255}"/>
              </a:ext>
            </a:extLst>
          </p:cNvPr>
          <p:cNvPicPr>
            <a:picLocks noChangeAspect="1"/>
          </p:cNvPicPr>
          <p:nvPr/>
        </p:nvPicPr>
        <p:blipFill rotWithShape="1">
          <a:blip r:embed="rId3"/>
          <a:srcRect t="22015"/>
          <a:stretch/>
        </p:blipFill>
        <p:spPr>
          <a:xfrm>
            <a:off x="8384197" y="2568818"/>
            <a:ext cx="3651986" cy="2089639"/>
          </a:xfrm>
          <a:prstGeom prst="rect">
            <a:avLst/>
          </a:prstGeom>
        </p:spPr>
      </p:pic>
    </p:spTree>
    <p:extLst>
      <p:ext uri="{BB962C8B-B14F-4D97-AF65-F5344CB8AC3E}">
        <p14:creationId xmlns:p14="http://schemas.microsoft.com/office/powerpoint/2010/main" val="4212302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04B5E6-C5AD-4DA7-ACFC-D96AD95D1352}"/>
              </a:ext>
            </a:extLst>
          </p:cNvPr>
          <p:cNvSpPr>
            <a:spLocks noGrp="1"/>
          </p:cNvSpPr>
          <p:nvPr>
            <p:ph type="title"/>
          </p:nvPr>
        </p:nvSpPr>
        <p:spPr/>
        <p:txBody>
          <a:bodyPr/>
          <a:lstStyle/>
          <a:p>
            <a:r>
              <a:rPr lang="en-US" altLang="zh-TW" dirty="0"/>
              <a:t>PCD Deep Dive</a:t>
            </a:r>
            <a:endParaRPr lang="zh-TW" altLang="en-US" dirty="0"/>
          </a:p>
        </p:txBody>
      </p:sp>
      <p:sp>
        <p:nvSpPr>
          <p:cNvPr id="3" name="內容版面配置區 2">
            <a:extLst>
              <a:ext uri="{FF2B5EF4-FFF2-40B4-BE49-F238E27FC236}">
                <a16:creationId xmlns:a16="http://schemas.microsoft.com/office/drawing/2014/main" id="{2634A06A-3A14-41A1-97AB-0D8A94C75B97}"/>
              </a:ext>
            </a:extLst>
          </p:cNvPr>
          <p:cNvSpPr>
            <a:spLocks noGrp="1"/>
          </p:cNvSpPr>
          <p:nvPr>
            <p:ph idx="1"/>
          </p:nvPr>
        </p:nvSpPr>
        <p:spPr/>
        <p:txBody>
          <a:bodyPr/>
          <a:lstStyle/>
          <a:p>
            <a:pPr marL="228600" indent="-227160">
              <a:lnSpc>
                <a:spcPct val="100000"/>
              </a:lnSpc>
              <a:buClr>
                <a:srgbClr val="3F3F3F"/>
              </a:buClr>
              <a:buFont typeface="Arial"/>
              <a:buChar char="•"/>
            </a:pPr>
            <a:r>
              <a:rPr lang="en-US" altLang="zh-TW" sz="2800" b="0" strike="noStrike" spc="-1" dirty="0" err="1">
                <a:solidFill>
                  <a:srgbClr val="3F3F3F"/>
                </a:solidFill>
                <a:latin typeface="Segoe UI"/>
                <a:ea typeface="DejaVu Sans"/>
              </a:rPr>
              <a:t>AutoGen.h</a:t>
            </a:r>
            <a:r>
              <a:rPr lang="en-US" altLang="zh-TW" sz="2800" b="0" strike="noStrike" spc="-1" dirty="0">
                <a:solidFill>
                  <a:srgbClr val="3F3F3F"/>
                </a:solidFill>
                <a:latin typeface="Segoe UI"/>
                <a:ea typeface="DejaVu Sans"/>
              </a:rPr>
              <a:t> of </a:t>
            </a:r>
            <a:r>
              <a:rPr lang="en-US" altLang="zh-TW" sz="2800" b="0" strike="noStrike" spc="-1" dirty="0" err="1">
                <a:solidFill>
                  <a:srgbClr val="3F3F3F"/>
                </a:solidFill>
                <a:latin typeface="Segoe UI"/>
                <a:ea typeface="DejaVu Sans"/>
              </a:rPr>
              <a:t>PcdUtility</a:t>
            </a:r>
            <a:r>
              <a:rPr lang="en-US" altLang="zh-TW" sz="2800" b="0" strike="noStrike" spc="-1" dirty="0">
                <a:solidFill>
                  <a:srgbClr val="3F3F3F"/>
                </a:solidFill>
                <a:latin typeface="Segoe UI"/>
                <a:ea typeface="DejaVu Sans"/>
              </a:rPr>
              <a:t> application build output</a:t>
            </a:r>
            <a:endParaRPr lang="en-US" altLang="zh-TW" sz="2800" b="0" strike="noStrike" spc="-1" dirty="0">
              <a:latin typeface="Arial"/>
            </a:endParaRPr>
          </a:p>
          <a:p>
            <a:pPr>
              <a:lnSpc>
                <a:spcPct val="100000"/>
              </a:lnSpc>
            </a:pPr>
            <a:endParaRPr lang="en-US" altLang="zh-TW" sz="2800" b="0" strike="noStrike" spc="-1" dirty="0">
              <a:latin typeface="Arial"/>
            </a:endParaRPr>
          </a:p>
          <a:p>
            <a:endParaRPr lang="zh-TW" altLang="en-US" dirty="0"/>
          </a:p>
        </p:txBody>
      </p:sp>
      <p:pic>
        <p:nvPicPr>
          <p:cNvPr id="10" name="Picture 9">
            <a:extLst>
              <a:ext uri="{FF2B5EF4-FFF2-40B4-BE49-F238E27FC236}">
                <a16:creationId xmlns:a16="http://schemas.microsoft.com/office/drawing/2014/main" id="{E42FD5F7-63AA-4450-B36E-87E668A38063}"/>
              </a:ext>
            </a:extLst>
          </p:cNvPr>
          <p:cNvPicPr>
            <a:picLocks noChangeAspect="1"/>
          </p:cNvPicPr>
          <p:nvPr/>
        </p:nvPicPr>
        <p:blipFill>
          <a:blip r:embed="rId2"/>
          <a:stretch>
            <a:fillRect/>
          </a:stretch>
        </p:blipFill>
        <p:spPr>
          <a:xfrm>
            <a:off x="838200" y="1879451"/>
            <a:ext cx="9107000" cy="4494972"/>
          </a:xfrm>
          <a:prstGeom prst="rect">
            <a:avLst/>
          </a:prstGeom>
        </p:spPr>
      </p:pic>
      <p:sp>
        <p:nvSpPr>
          <p:cNvPr id="11" name="Rectangle 10">
            <a:extLst>
              <a:ext uri="{FF2B5EF4-FFF2-40B4-BE49-F238E27FC236}">
                <a16:creationId xmlns:a16="http://schemas.microsoft.com/office/drawing/2014/main" id="{8EFE76CE-F000-42D8-BABD-C38FC51D461C}"/>
              </a:ext>
            </a:extLst>
          </p:cNvPr>
          <p:cNvSpPr/>
          <p:nvPr/>
        </p:nvSpPr>
        <p:spPr>
          <a:xfrm>
            <a:off x="838200" y="1879452"/>
            <a:ext cx="9107000" cy="12769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48B522-0BD9-4315-B39F-F3460AE80224}"/>
              </a:ext>
            </a:extLst>
          </p:cNvPr>
          <p:cNvSpPr/>
          <p:nvPr/>
        </p:nvSpPr>
        <p:spPr>
          <a:xfrm>
            <a:off x="838200" y="3324321"/>
            <a:ext cx="9107000" cy="16169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382C97E-C97F-43C1-87C2-F285A933E1A8}"/>
              </a:ext>
            </a:extLst>
          </p:cNvPr>
          <p:cNvSpPr/>
          <p:nvPr/>
        </p:nvSpPr>
        <p:spPr>
          <a:xfrm>
            <a:off x="838200" y="5067860"/>
            <a:ext cx="9107000" cy="12769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154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04B5E6-C5AD-4DA7-ACFC-D96AD95D1352}"/>
              </a:ext>
            </a:extLst>
          </p:cNvPr>
          <p:cNvSpPr>
            <a:spLocks noGrp="1"/>
          </p:cNvSpPr>
          <p:nvPr>
            <p:ph type="title"/>
          </p:nvPr>
        </p:nvSpPr>
        <p:spPr/>
        <p:txBody>
          <a:bodyPr/>
          <a:lstStyle/>
          <a:p>
            <a:r>
              <a:rPr lang="en-US" altLang="zh-TW" dirty="0"/>
              <a:t>PCD Deep Dive</a:t>
            </a:r>
            <a:endParaRPr lang="zh-TW" altLang="en-US" dirty="0"/>
          </a:p>
        </p:txBody>
      </p:sp>
      <p:sp>
        <p:nvSpPr>
          <p:cNvPr id="3" name="內容版面配置區 2">
            <a:extLst>
              <a:ext uri="{FF2B5EF4-FFF2-40B4-BE49-F238E27FC236}">
                <a16:creationId xmlns:a16="http://schemas.microsoft.com/office/drawing/2014/main" id="{2634A06A-3A14-41A1-97AB-0D8A94C75B97}"/>
              </a:ext>
            </a:extLst>
          </p:cNvPr>
          <p:cNvSpPr>
            <a:spLocks noGrp="1"/>
          </p:cNvSpPr>
          <p:nvPr>
            <p:ph idx="1"/>
          </p:nvPr>
        </p:nvSpPr>
        <p:spPr/>
        <p:txBody>
          <a:bodyPr/>
          <a:lstStyle/>
          <a:p>
            <a:pPr marL="228600" indent="-227160">
              <a:lnSpc>
                <a:spcPct val="100000"/>
              </a:lnSpc>
              <a:buClr>
                <a:srgbClr val="3F3F3F"/>
              </a:buClr>
              <a:buFont typeface="Arial"/>
              <a:buChar char="•"/>
            </a:pPr>
            <a:r>
              <a:rPr lang="en-US" altLang="zh-TW" sz="2800" b="0" strike="noStrike" spc="-1" dirty="0" err="1">
                <a:solidFill>
                  <a:srgbClr val="3F3F3F"/>
                </a:solidFill>
                <a:latin typeface="Segoe UI"/>
                <a:ea typeface="DejaVu Sans"/>
              </a:rPr>
              <a:t>AutoGen.c</a:t>
            </a:r>
            <a:r>
              <a:rPr lang="en-US" altLang="zh-TW" sz="2800" b="0" strike="noStrike" spc="-1" dirty="0">
                <a:solidFill>
                  <a:srgbClr val="3F3F3F"/>
                </a:solidFill>
                <a:latin typeface="Segoe UI"/>
                <a:ea typeface="DejaVu Sans"/>
              </a:rPr>
              <a:t> &amp; </a:t>
            </a:r>
            <a:r>
              <a:rPr lang="en-US" altLang="zh-TW" spc="-1" dirty="0" err="1">
                <a:solidFill>
                  <a:srgbClr val="3F3F3F"/>
                </a:solidFill>
                <a:latin typeface="Segoe UI"/>
                <a:ea typeface="DejaVu Sans"/>
              </a:rPr>
              <a:t>AutoGen.h</a:t>
            </a:r>
            <a:r>
              <a:rPr lang="en-US" altLang="zh-TW" spc="-1" dirty="0">
                <a:solidFill>
                  <a:srgbClr val="3F3F3F"/>
                </a:solidFill>
                <a:latin typeface="Segoe UI"/>
                <a:ea typeface="DejaVu Sans"/>
              </a:rPr>
              <a:t> </a:t>
            </a:r>
            <a:r>
              <a:rPr lang="en-US" altLang="zh-TW" sz="2800" b="0" strike="noStrike" spc="-1" dirty="0">
                <a:solidFill>
                  <a:srgbClr val="3F3F3F"/>
                </a:solidFill>
                <a:latin typeface="Segoe UI"/>
                <a:ea typeface="DejaVu Sans"/>
              </a:rPr>
              <a:t>of </a:t>
            </a:r>
            <a:r>
              <a:rPr lang="en-US" altLang="zh-TW" sz="2800" b="0" strike="noStrike" spc="-1" dirty="0" err="1">
                <a:solidFill>
                  <a:srgbClr val="3F3F3F"/>
                </a:solidFill>
                <a:latin typeface="Segoe UI"/>
                <a:ea typeface="DejaVu Sans"/>
              </a:rPr>
              <a:t>PcdUtility</a:t>
            </a:r>
            <a:r>
              <a:rPr lang="en-US" altLang="zh-TW" sz="2800" b="0" strike="noStrike" spc="-1" dirty="0">
                <a:solidFill>
                  <a:srgbClr val="3F3F3F"/>
                </a:solidFill>
                <a:latin typeface="Segoe UI"/>
                <a:ea typeface="DejaVu Sans"/>
              </a:rPr>
              <a:t> application build output</a:t>
            </a:r>
            <a:endParaRPr lang="en-US" altLang="zh-TW" sz="2800" b="0" strike="noStrike" spc="-1" dirty="0">
              <a:latin typeface="Arial"/>
            </a:endParaRPr>
          </a:p>
          <a:p>
            <a:pPr>
              <a:lnSpc>
                <a:spcPct val="100000"/>
              </a:lnSpc>
            </a:pPr>
            <a:endParaRPr lang="en-US" altLang="zh-TW" sz="2800" b="0" strike="noStrike" spc="-1" dirty="0">
              <a:latin typeface="Arial"/>
            </a:endParaRPr>
          </a:p>
          <a:p>
            <a:endParaRPr lang="zh-TW" altLang="en-US" dirty="0"/>
          </a:p>
        </p:txBody>
      </p:sp>
      <p:pic>
        <p:nvPicPr>
          <p:cNvPr id="5" name="Picture 4">
            <a:extLst>
              <a:ext uri="{FF2B5EF4-FFF2-40B4-BE49-F238E27FC236}">
                <a16:creationId xmlns:a16="http://schemas.microsoft.com/office/drawing/2014/main" id="{A4BBBA2F-A9CD-4DE9-83B6-DE33983405F5}"/>
              </a:ext>
            </a:extLst>
          </p:cNvPr>
          <p:cNvPicPr>
            <a:picLocks noChangeAspect="1"/>
          </p:cNvPicPr>
          <p:nvPr/>
        </p:nvPicPr>
        <p:blipFill>
          <a:blip r:embed="rId2"/>
          <a:stretch>
            <a:fillRect/>
          </a:stretch>
        </p:blipFill>
        <p:spPr>
          <a:xfrm>
            <a:off x="838200" y="2046044"/>
            <a:ext cx="9620250" cy="552450"/>
          </a:xfrm>
          <a:prstGeom prst="rect">
            <a:avLst/>
          </a:prstGeom>
        </p:spPr>
      </p:pic>
      <p:pic>
        <p:nvPicPr>
          <p:cNvPr id="14" name="Picture 13">
            <a:extLst>
              <a:ext uri="{FF2B5EF4-FFF2-40B4-BE49-F238E27FC236}">
                <a16:creationId xmlns:a16="http://schemas.microsoft.com/office/drawing/2014/main" id="{79CAEF59-1D64-46B2-945C-5A31911376E1}"/>
              </a:ext>
            </a:extLst>
          </p:cNvPr>
          <p:cNvPicPr>
            <a:picLocks noChangeAspect="1"/>
          </p:cNvPicPr>
          <p:nvPr/>
        </p:nvPicPr>
        <p:blipFill rotWithShape="1">
          <a:blip r:embed="rId3"/>
          <a:srcRect b="76090"/>
          <a:stretch/>
        </p:blipFill>
        <p:spPr>
          <a:xfrm>
            <a:off x="838200" y="3859138"/>
            <a:ext cx="9107000" cy="1074764"/>
          </a:xfrm>
          <a:prstGeom prst="rect">
            <a:avLst/>
          </a:prstGeom>
        </p:spPr>
      </p:pic>
      <p:cxnSp>
        <p:nvCxnSpPr>
          <p:cNvPr id="7" name="Connector: Elbow 6">
            <a:extLst>
              <a:ext uri="{FF2B5EF4-FFF2-40B4-BE49-F238E27FC236}">
                <a16:creationId xmlns:a16="http://schemas.microsoft.com/office/drawing/2014/main" id="{307514B6-E75B-4FEA-9E63-791C4988F838}"/>
              </a:ext>
            </a:extLst>
          </p:cNvPr>
          <p:cNvCxnSpPr>
            <a:cxnSpLocks/>
            <a:stCxn id="17" idx="3"/>
            <a:endCxn id="15" idx="3"/>
          </p:cNvCxnSpPr>
          <p:nvPr/>
        </p:nvCxnSpPr>
        <p:spPr>
          <a:xfrm flipV="1">
            <a:off x="5129097" y="2292069"/>
            <a:ext cx="5329353" cy="2202163"/>
          </a:xfrm>
          <a:prstGeom prst="bentConnector3">
            <a:avLst>
              <a:gd name="adj1" fmla="val 10428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0CE4BA3-AE9B-4611-B966-FC41B49B5994}"/>
              </a:ext>
            </a:extLst>
          </p:cNvPr>
          <p:cNvSpPr/>
          <p:nvPr/>
        </p:nvSpPr>
        <p:spPr>
          <a:xfrm>
            <a:off x="7737230" y="2166252"/>
            <a:ext cx="2721220" cy="2516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89DC394-365F-4C63-8B0E-6AE54A73EFC5}"/>
              </a:ext>
            </a:extLst>
          </p:cNvPr>
          <p:cNvSpPr txBox="1"/>
          <p:nvPr/>
        </p:nvSpPr>
        <p:spPr>
          <a:xfrm>
            <a:off x="838200" y="4933902"/>
            <a:ext cx="1263295"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err="1"/>
              <a:t>AutoGen.h</a:t>
            </a:r>
            <a:endParaRPr lang="en-US" dirty="0"/>
          </a:p>
        </p:txBody>
      </p:sp>
      <p:sp>
        <p:nvSpPr>
          <p:cNvPr id="16" name="TextBox 15">
            <a:extLst>
              <a:ext uri="{FF2B5EF4-FFF2-40B4-BE49-F238E27FC236}">
                <a16:creationId xmlns:a16="http://schemas.microsoft.com/office/drawing/2014/main" id="{3BDA0776-375D-4356-93E6-B71711C89D44}"/>
              </a:ext>
            </a:extLst>
          </p:cNvPr>
          <p:cNvSpPr txBox="1"/>
          <p:nvPr/>
        </p:nvSpPr>
        <p:spPr>
          <a:xfrm>
            <a:off x="826978" y="2598494"/>
            <a:ext cx="124085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err="1"/>
              <a:t>AutoGen.c</a:t>
            </a:r>
            <a:endParaRPr lang="en-US" dirty="0"/>
          </a:p>
        </p:txBody>
      </p:sp>
      <p:sp>
        <p:nvSpPr>
          <p:cNvPr id="17" name="Rectangle 16">
            <a:extLst>
              <a:ext uri="{FF2B5EF4-FFF2-40B4-BE49-F238E27FC236}">
                <a16:creationId xmlns:a16="http://schemas.microsoft.com/office/drawing/2014/main" id="{20C6E21E-D69E-49A3-8A7E-CF184CF057D1}"/>
              </a:ext>
            </a:extLst>
          </p:cNvPr>
          <p:cNvSpPr/>
          <p:nvPr/>
        </p:nvSpPr>
        <p:spPr>
          <a:xfrm>
            <a:off x="1424354" y="4396154"/>
            <a:ext cx="3704743" cy="1961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8957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04B5E6-C5AD-4DA7-ACFC-D96AD95D1352}"/>
              </a:ext>
            </a:extLst>
          </p:cNvPr>
          <p:cNvSpPr>
            <a:spLocks noGrp="1"/>
          </p:cNvSpPr>
          <p:nvPr>
            <p:ph type="title"/>
          </p:nvPr>
        </p:nvSpPr>
        <p:spPr/>
        <p:txBody>
          <a:bodyPr/>
          <a:lstStyle/>
          <a:p>
            <a:r>
              <a:rPr lang="en-US" altLang="zh-TW" dirty="0"/>
              <a:t>PCD Deep Dive</a:t>
            </a:r>
            <a:endParaRPr lang="zh-TW" altLang="en-US" dirty="0"/>
          </a:p>
        </p:txBody>
      </p:sp>
      <p:sp>
        <p:nvSpPr>
          <p:cNvPr id="3" name="內容版面配置區 2">
            <a:extLst>
              <a:ext uri="{FF2B5EF4-FFF2-40B4-BE49-F238E27FC236}">
                <a16:creationId xmlns:a16="http://schemas.microsoft.com/office/drawing/2014/main" id="{2634A06A-3A14-41A1-97AB-0D8A94C75B97}"/>
              </a:ext>
            </a:extLst>
          </p:cNvPr>
          <p:cNvSpPr>
            <a:spLocks noGrp="1"/>
          </p:cNvSpPr>
          <p:nvPr>
            <p:ph idx="1"/>
          </p:nvPr>
        </p:nvSpPr>
        <p:spPr/>
        <p:txBody>
          <a:bodyPr/>
          <a:lstStyle/>
          <a:p>
            <a:pPr marL="228600" indent="-227160">
              <a:lnSpc>
                <a:spcPct val="100000"/>
              </a:lnSpc>
              <a:buClr>
                <a:srgbClr val="4D4D4D"/>
              </a:buClr>
              <a:buFont typeface="Arial"/>
              <a:buChar char="•"/>
            </a:pPr>
            <a:r>
              <a:rPr lang="en-US" altLang="zh-TW" sz="2800" b="0" strike="noStrike" spc="-1" dirty="0" err="1">
                <a:solidFill>
                  <a:srgbClr val="4D4D4D"/>
                </a:solidFill>
                <a:ea typeface="DejaVu Sans"/>
              </a:rPr>
              <a:t>AutoGen.h</a:t>
            </a:r>
            <a:r>
              <a:rPr lang="en-US" altLang="zh-TW" sz="2800" b="0" strike="noStrike" spc="-1" dirty="0">
                <a:solidFill>
                  <a:srgbClr val="4D4D4D"/>
                </a:solidFill>
                <a:ea typeface="DejaVu Sans"/>
              </a:rPr>
              <a:t> &amp; </a:t>
            </a:r>
            <a:r>
              <a:rPr lang="en-US" altLang="zh-TW" sz="2800" b="0" strike="noStrike" spc="-1" dirty="0" err="1">
                <a:solidFill>
                  <a:srgbClr val="4D4D4D"/>
                </a:solidFill>
                <a:ea typeface="DejaVu Sans"/>
              </a:rPr>
              <a:t>AutoGen.c</a:t>
            </a:r>
            <a:r>
              <a:rPr lang="en-US" altLang="zh-TW" sz="2800" b="0" strike="noStrike" spc="-1" dirty="0">
                <a:solidFill>
                  <a:srgbClr val="4D4D4D"/>
                </a:solidFill>
                <a:ea typeface="DejaVu Sans"/>
              </a:rPr>
              <a:t> of </a:t>
            </a:r>
            <a:r>
              <a:rPr lang="en-US" altLang="zh-TW" sz="2800" b="0" strike="noStrike" spc="-1">
                <a:solidFill>
                  <a:srgbClr val="4D4D4D"/>
                </a:solidFill>
                <a:ea typeface="DejaVu Sans"/>
              </a:rPr>
              <a:t>PcdSmmDxe</a:t>
            </a:r>
            <a:r>
              <a:rPr lang="en-US" altLang="zh-TW" sz="2800" b="0" strike="noStrike" spc="-1" dirty="0">
                <a:solidFill>
                  <a:srgbClr val="4D4D4D"/>
                </a:solidFill>
                <a:ea typeface="DejaVu Sans"/>
              </a:rPr>
              <a:t> driver build output</a:t>
            </a:r>
            <a:endParaRPr lang="en-US" altLang="zh-TW" sz="2800" b="0" strike="noStrike" spc="-1" dirty="0"/>
          </a:p>
        </p:txBody>
      </p:sp>
      <p:grpSp>
        <p:nvGrpSpPr>
          <p:cNvPr id="9" name="群組 8">
            <a:extLst>
              <a:ext uri="{FF2B5EF4-FFF2-40B4-BE49-F238E27FC236}">
                <a16:creationId xmlns:a16="http://schemas.microsoft.com/office/drawing/2014/main" id="{8D53F1F9-521A-49DE-BE5D-40E38BAE321E}"/>
              </a:ext>
            </a:extLst>
          </p:cNvPr>
          <p:cNvGrpSpPr/>
          <p:nvPr/>
        </p:nvGrpSpPr>
        <p:grpSpPr>
          <a:xfrm>
            <a:off x="1068778" y="2911413"/>
            <a:ext cx="7770960" cy="3375136"/>
            <a:chOff x="380880" y="2804851"/>
            <a:chExt cx="7770960" cy="3500549"/>
          </a:xfrm>
        </p:grpSpPr>
        <p:sp>
          <p:nvSpPr>
            <p:cNvPr id="13" name="CustomShape 4">
              <a:extLst>
                <a:ext uri="{FF2B5EF4-FFF2-40B4-BE49-F238E27FC236}">
                  <a16:creationId xmlns:a16="http://schemas.microsoft.com/office/drawing/2014/main" id="{ECDBB1E3-5102-4ED8-96A4-7010AC611CD0}"/>
                </a:ext>
              </a:extLst>
            </p:cNvPr>
            <p:cNvSpPr/>
            <p:nvPr/>
          </p:nvSpPr>
          <p:spPr>
            <a:xfrm>
              <a:off x="1675855" y="2804851"/>
              <a:ext cx="35820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3F3F3F"/>
                  </a:solidFill>
                  <a:latin typeface="Segoe UI"/>
                  <a:ea typeface="DejaVu Sans"/>
                </a:rPr>
                <a:t>…</a:t>
              </a:r>
              <a:endParaRPr lang="en-US" sz="1800" b="0" strike="noStrike" spc="-1" dirty="0">
                <a:latin typeface="Arial"/>
              </a:endParaRPr>
            </a:p>
          </p:txBody>
        </p:sp>
        <p:sp>
          <p:nvSpPr>
            <p:cNvPr id="15" name="CustomShape 5">
              <a:extLst>
                <a:ext uri="{FF2B5EF4-FFF2-40B4-BE49-F238E27FC236}">
                  <a16:creationId xmlns:a16="http://schemas.microsoft.com/office/drawing/2014/main" id="{1D8D97D0-12CE-490D-92C9-32DB57FEE7B1}"/>
                </a:ext>
              </a:extLst>
            </p:cNvPr>
            <p:cNvSpPr/>
            <p:nvPr/>
          </p:nvSpPr>
          <p:spPr>
            <a:xfrm>
              <a:off x="380880" y="5773320"/>
              <a:ext cx="7770960" cy="532080"/>
            </a:xfrm>
            <a:prstGeom prst="rect">
              <a:avLst/>
            </a:prstGeom>
            <a:solidFill>
              <a:srgbClr val="FFBE3B"/>
            </a:solidFill>
            <a:ln w="936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400" b="0" strike="noStrike" spc="-1">
                  <a:solidFill>
                    <a:srgbClr val="3F3F3F"/>
                  </a:solidFill>
                  <a:latin typeface="Segoe UI"/>
                  <a:ea typeface="DejaVu Sans"/>
                </a:rPr>
                <a:t>Build tool</a:t>
              </a:r>
              <a:r>
                <a:rPr lang="en-US" sz="1400" b="1" strike="noStrike" spc="-1">
                  <a:solidFill>
                    <a:srgbClr val="3F3F3F"/>
                  </a:solidFill>
                  <a:latin typeface="Segoe UI"/>
                  <a:ea typeface="DejaVu Sans"/>
                </a:rPr>
                <a:t> GATHERS</a:t>
              </a:r>
              <a:r>
                <a:rPr lang="en-US" sz="1400" b="0" strike="noStrike" spc="-1">
                  <a:solidFill>
                    <a:srgbClr val="3F3F3F"/>
                  </a:solidFill>
                  <a:latin typeface="Segoe UI"/>
                  <a:ea typeface="DejaVu Sans"/>
                </a:rPr>
                <a:t> all the dynamic PCDs used in the modules listed in the </a:t>
              </a:r>
              <a:r>
                <a:rPr lang="en-US" sz="1400" b="1" strike="noStrike" spc="-1">
                  <a:solidFill>
                    <a:srgbClr val="3F3F3F"/>
                  </a:solidFill>
                  <a:latin typeface="Segoe UI"/>
                  <a:ea typeface="DejaVu Sans"/>
                </a:rPr>
                <a:t>[Components]</a:t>
              </a:r>
              <a:r>
                <a:rPr lang="en-US" sz="1400" b="0" strike="noStrike" spc="-1">
                  <a:solidFill>
                    <a:srgbClr val="3F3F3F"/>
                  </a:solidFill>
                  <a:latin typeface="Segoe UI"/>
                  <a:ea typeface="DejaVu Sans"/>
                </a:rPr>
                <a:t> </a:t>
              </a:r>
              <a:endParaRPr lang="en-US" sz="1400" b="0" strike="noStrike" spc="-1">
                <a:latin typeface="Arial"/>
              </a:endParaRPr>
            </a:p>
            <a:p>
              <a:pPr>
                <a:lnSpc>
                  <a:spcPct val="100000"/>
                </a:lnSpc>
              </a:pPr>
              <a:r>
                <a:rPr lang="en-US" sz="1400" b="0" strike="noStrike" spc="-1">
                  <a:solidFill>
                    <a:srgbClr val="3F3F3F"/>
                  </a:solidFill>
                  <a:latin typeface="Segoe UI"/>
                  <a:ea typeface="DejaVu Sans"/>
                </a:rPr>
                <a:t>section of platform package DSC, and creates PCD database in PcdDxe driver</a:t>
              </a:r>
              <a:endParaRPr lang="en-US" sz="1400" b="0" strike="noStrike" spc="-1">
                <a:latin typeface="Arial"/>
              </a:endParaRPr>
            </a:p>
          </p:txBody>
        </p:sp>
      </p:grpSp>
      <p:pic>
        <p:nvPicPr>
          <p:cNvPr id="5" name="Picture 4">
            <a:extLst>
              <a:ext uri="{FF2B5EF4-FFF2-40B4-BE49-F238E27FC236}">
                <a16:creationId xmlns:a16="http://schemas.microsoft.com/office/drawing/2014/main" id="{07051C3F-C7DB-45AC-AE09-2F14344780A5}"/>
              </a:ext>
            </a:extLst>
          </p:cNvPr>
          <p:cNvPicPr>
            <a:picLocks noChangeAspect="1"/>
          </p:cNvPicPr>
          <p:nvPr/>
        </p:nvPicPr>
        <p:blipFill>
          <a:blip r:embed="rId3"/>
          <a:stretch>
            <a:fillRect/>
          </a:stretch>
        </p:blipFill>
        <p:spPr>
          <a:xfrm>
            <a:off x="2363753" y="2020873"/>
            <a:ext cx="7820025" cy="1000125"/>
          </a:xfrm>
          <a:prstGeom prst="rect">
            <a:avLst/>
          </a:prstGeom>
        </p:spPr>
      </p:pic>
      <p:sp>
        <p:nvSpPr>
          <p:cNvPr id="16" name="TextBox 15">
            <a:extLst>
              <a:ext uri="{FF2B5EF4-FFF2-40B4-BE49-F238E27FC236}">
                <a16:creationId xmlns:a16="http://schemas.microsoft.com/office/drawing/2014/main" id="{852927D7-3D9A-4130-92AF-ECDFC7DFEC2A}"/>
              </a:ext>
            </a:extLst>
          </p:cNvPr>
          <p:cNvSpPr txBox="1"/>
          <p:nvPr/>
        </p:nvSpPr>
        <p:spPr>
          <a:xfrm>
            <a:off x="1084618" y="2020873"/>
            <a:ext cx="1263295"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err="1"/>
              <a:t>AutoGen.h</a:t>
            </a:r>
            <a:endParaRPr lang="en-US" dirty="0"/>
          </a:p>
        </p:txBody>
      </p:sp>
      <p:pic>
        <p:nvPicPr>
          <p:cNvPr id="7" name="Picture 6">
            <a:extLst>
              <a:ext uri="{FF2B5EF4-FFF2-40B4-BE49-F238E27FC236}">
                <a16:creationId xmlns:a16="http://schemas.microsoft.com/office/drawing/2014/main" id="{0AE30C2A-1497-47B3-A4A2-B7AC34645833}"/>
              </a:ext>
            </a:extLst>
          </p:cNvPr>
          <p:cNvPicPr>
            <a:picLocks noChangeAspect="1"/>
          </p:cNvPicPr>
          <p:nvPr/>
        </p:nvPicPr>
        <p:blipFill>
          <a:blip r:embed="rId4"/>
          <a:stretch>
            <a:fillRect/>
          </a:stretch>
        </p:blipFill>
        <p:spPr>
          <a:xfrm>
            <a:off x="2347913" y="3234665"/>
            <a:ext cx="4552950" cy="1104900"/>
          </a:xfrm>
          <a:prstGeom prst="rect">
            <a:avLst/>
          </a:prstGeom>
        </p:spPr>
      </p:pic>
      <p:sp>
        <p:nvSpPr>
          <p:cNvPr id="17" name="Rectangle 16">
            <a:extLst>
              <a:ext uri="{FF2B5EF4-FFF2-40B4-BE49-F238E27FC236}">
                <a16:creationId xmlns:a16="http://schemas.microsoft.com/office/drawing/2014/main" id="{30D8CBB7-64D4-4AAA-8A03-7015AECE39BC}"/>
              </a:ext>
            </a:extLst>
          </p:cNvPr>
          <p:cNvSpPr/>
          <p:nvPr/>
        </p:nvSpPr>
        <p:spPr>
          <a:xfrm>
            <a:off x="2470637" y="4083837"/>
            <a:ext cx="1943101" cy="2557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B08CF40-FEDD-4B1F-B6B7-C915927462D8}"/>
              </a:ext>
            </a:extLst>
          </p:cNvPr>
          <p:cNvPicPr>
            <a:picLocks noChangeAspect="1"/>
          </p:cNvPicPr>
          <p:nvPr/>
        </p:nvPicPr>
        <p:blipFill>
          <a:blip r:embed="rId5"/>
          <a:stretch>
            <a:fillRect/>
          </a:stretch>
        </p:blipFill>
        <p:spPr>
          <a:xfrm>
            <a:off x="2317551" y="4467796"/>
            <a:ext cx="7724775" cy="1333500"/>
          </a:xfrm>
          <a:prstGeom prst="rect">
            <a:avLst/>
          </a:prstGeom>
        </p:spPr>
      </p:pic>
      <p:sp>
        <p:nvSpPr>
          <p:cNvPr id="19" name="TextBox 18">
            <a:extLst>
              <a:ext uri="{FF2B5EF4-FFF2-40B4-BE49-F238E27FC236}">
                <a16:creationId xmlns:a16="http://schemas.microsoft.com/office/drawing/2014/main" id="{434F91EB-A185-4A7C-907D-84FDEA9C9167}"/>
              </a:ext>
            </a:extLst>
          </p:cNvPr>
          <p:cNvSpPr txBox="1"/>
          <p:nvPr/>
        </p:nvSpPr>
        <p:spPr>
          <a:xfrm>
            <a:off x="1076698" y="4467796"/>
            <a:ext cx="124085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err="1"/>
              <a:t>AutoGen.c</a:t>
            </a:r>
            <a:endParaRPr lang="en-US" dirty="0"/>
          </a:p>
        </p:txBody>
      </p:sp>
      <p:sp>
        <p:nvSpPr>
          <p:cNvPr id="20" name="Rectangle 19">
            <a:extLst>
              <a:ext uri="{FF2B5EF4-FFF2-40B4-BE49-F238E27FC236}">
                <a16:creationId xmlns:a16="http://schemas.microsoft.com/office/drawing/2014/main" id="{A42F4FF8-78E1-46AE-AAB6-2A116E0FCC55}"/>
              </a:ext>
            </a:extLst>
          </p:cNvPr>
          <p:cNvSpPr/>
          <p:nvPr/>
        </p:nvSpPr>
        <p:spPr>
          <a:xfrm>
            <a:off x="4017875" y="2726841"/>
            <a:ext cx="4857031" cy="1933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31F4043-46EE-4C7E-A47D-137234AD0B25}"/>
              </a:ext>
            </a:extLst>
          </p:cNvPr>
          <p:cNvSpPr/>
          <p:nvPr/>
        </p:nvSpPr>
        <p:spPr>
          <a:xfrm>
            <a:off x="2525742" y="5339577"/>
            <a:ext cx="6785312" cy="2347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855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3D0181E-F755-4944-99A7-DDBC7D6E7B5F}"/>
              </a:ext>
            </a:extLst>
          </p:cNvPr>
          <p:cNvSpPr>
            <a:spLocks noGrp="1"/>
          </p:cNvSpPr>
          <p:nvPr>
            <p:ph type="sldNum" sz="quarter" idx="12"/>
          </p:nvPr>
        </p:nvSpPr>
        <p:spPr/>
        <p:txBody>
          <a:bodyPr/>
          <a:lstStyle/>
          <a:p>
            <a:fld id="{711F1488-76AD-4E7F-AEC8-BF811B7D74A5}" type="slidenum">
              <a:rPr lang="en-US" smtClean="0"/>
              <a:pPr/>
              <a:t>32</a:t>
            </a:fld>
            <a:endParaRPr lang="en-US"/>
          </a:p>
        </p:txBody>
      </p:sp>
      <p:sp>
        <p:nvSpPr>
          <p:cNvPr id="3" name="標題 2">
            <a:extLst>
              <a:ext uri="{FF2B5EF4-FFF2-40B4-BE49-F238E27FC236}">
                <a16:creationId xmlns:a16="http://schemas.microsoft.com/office/drawing/2014/main" id="{48CE357D-0D0B-4E75-89A9-74942571FDEA}"/>
              </a:ext>
            </a:extLst>
          </p:cNvPr>
          <p:cNvSpPr>
            <a:spLocks noGrp="1"/>
          </p:cNvSpPr>
          <p:nvPr>
            <p:ph type="title"/>
          </p:nvPr>
        </p:nvSpPr>
        <p:spPr/>
        <p:txBody>
          <a:bodyPr/>
          <a:lstStyle/>
          <a:p>
            <a:r>
              <a:rPr lang="en-US" altLang="zh-TW" dirty="0"/>
              <a:t>Others</a:t>
            </a:r>
            <a:endParaRPr lang="zh-TW" altLang="en-US" dirty="0"/>
          </a:p>
        </p:txBody>
      </p:sp>
    </p:spTree>
    <p:extLst>
      <p:ext uri="{BB962C8B-B14F-4D97-AF65-F5344CB8AC3E}">
        <p14:creationId xmlns:p14="http://schemas.microsoft.com/office/powerpoint/2010/main" val="3083951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43DC6A-2069-4A69-8D4F-822D62CF59C4}"/>
              </a:ext>
            </a:extLst>
          </p:cNvPr>
          <p:cNvSpPr>
            <a:spLocks noGrp="1"/>
          </p:cNvSpPr>
          <p:nvPr>
            <p:ph type="title"/>
          </p:nvPr>
        </p:nvSpPr>
        <p:spPr/>
        <p:txBody>
          <a:bodyPr>
            <a:normAutofit/>
          </a:bodyPr>
          <a:lstStyle/>
          <a:p>
            <a:r>
              <a:rPr lang="en-US" altLang="zh-TW" dirty="0"/>
              <a:t>Others</a:t>
            </a:r>
            <a:br>
              <a:rPr lang="en-US" altLang="zh-TW" dirty="0"/>
            </a:br>
            <a:r>
              <a:rPr lang="en-US" altLang="zh-TW" sz="2000" b="1" strike="noStrike" spc="-1" dirty="0">
                <a:solidFill>
                  <a:srgbClr val="262626"/>
                </a:solidFill>
                <a:ea typeface="新細明體"/>
              </a:rPr>
              <a:t>Caution on Binary Modules using Dynamic PCDs</a:t>
            </a:r>
            <a:endParaRPr lang="zh-TW" altLang="en-US" sz="2000" dirty="0"/>
          </a:p>
        </p:txBody>
      </p:sp>
      <p:sp>
        <p:nvSpPr>
          <p:cNvPr id="3" name="內容版面配置區 2">
            <a:extLst>
              <a:ext uri="{FF2B5EF4-FFF2-40B4-BE49-F238E27FC236}">
                <a16:creationId xmlns:a16="http://schemas.microsoft.com/office/drawing/2014/main" id="{092DC059-73C1-47DC-BB5E-A9E99E3A91A9}"/>
              </a:ext>
            </a:extLst>
          </p:cNvPr>
          <p:cNvSpPr>
            <a:spLocks noGrp="1"/>
          </p:cNvSpPr>
          <p:nvPr>
            <p:ph idx="1"/>
          </p:nvPr>
        </p:nvSpPr>
        <p:spPr/>
        <p:txBody>
          <a:bodyPr/>
          <a:lstStyle/>
          <a:p>
            <a:r>
              <a:rPr lang="en-US" altLang="zh-TW" sz="2800" b="0" strike="noStrike" spc="-1" dirty="0">
                <a:solidFill>
                  <a:srgbClr val="3F3F3F"/>
                </a:solidFill>
                <a:ea typeface="新細明體"/>
              </a:rPr>
              <a:t>INF format drivers with </a:t>
            </a:r>
            <a:r>
              <a:rPr lang="en-US" altLang="zh-TW" sz="2800" b="1" strike="noStrike" spc="-1" dirty="0">
                <a:solidFill>
                  <a:srgbClr val="3F3F3F"/>
                </a:solidFill>
                <a:ea typeface="新細明體"/>
              </a:rPr>
              <a:t>[PCD]</a:t>
            </a:r>
            <a:r>
              <a:rPr lang="en-US" altLang="zh-TW" sz="2800" b="0" strike="noStrike" spc="-1" dirty="0">
                <a:solidFill>
                  <a:srgbClr val="3F3F3F"/>
                </a:solidFill>
                <a:ea typeface="新細明體"/>
              </a:rPr>
              <a:t> section should be used and added to the [Components] section of DSC to ensure dynamic PCDs are generated into PCD database by build tool.</a:t>
            </a:r>
            <a:endParaRPr lang="en-US" altLang="zh-TW" sz="2800" b="0" strike="noStrike" spc="-1" dirty="0"/>
          </a:p>
          <a:p>
            <a:endParaRPr lang="zh-TW" altLang="en-US" dirty="0"/>
          </a:p>
        </p:txBody>
      </p:sp>
      <p:sp>
        <p:nvSpPr>
          <p:cNvPr id="6" name="CustomShape 3">
            <a:extLst>
              <a:ext uri="{FF2B5EF4-FFF2-40B4-BE49-F238E27FC236}">
                <a16:creationId xmlns:a16="http://schemas.microsoft.com/office/drawing/2014/main" id="{FB41D3B7-C300-48FD-AC27-97B2E1B783CF}"/>
              </a:ext>
            </a:extLst>
          </p:cNvPr>
          <p:cNvSpPr/>
          <p:nvPr/>
        </p:nvSpPr>
        <p:spPr>
          <a:xfrm>
            <a:off x="4779661" y="2589545"/>
            <a:ext cx="102132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Example</a:t>
            </a:r>
            <a:endParaRPr lang="en-US" sz="1800" b="0" strike="noStrike" spc="-1">
              <a:latin typeface="Arial"/>
            </a:endParaRPr>
          </a:p>
        </p:txBody>
      </p:sp>
      <p:sp>
        <p:nvSpPr>
          <p:cNvPr id="7" name="CustomShape 4">
            <a:extLst>
              <a:ext uri="{FF2B5EF4-FFF2-40B4-BE49-F238E27FC236}">
                <a16:creationId xmlns:a16="http://schemas.microsoft.com/office/drawing/2014/main" id="{AF79CBDA-B731-4339-B373-0130BC2E3993}"/>
              </a:ext>
            </a:extLst>
          </p:cNvPr>
          <p:cNvSpPr/>
          <p:nvPr/>
        </p:nvSpPr>
        <p:spPr>
          <a:xfrm>
            <a:off x="6168181" y="4646945"/>
            <a:ext cx="2523960" cy="6379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FF0000"/>
                </a:solidFill>
                <a:latin typeface="Segoe UI"/>
                <a:ea typeface="DejaVu Sans"/>
              </a:rPr>
              <a:t>Do not remove it if it </a:t>
            </a:r>
            <a:endParaRPr lang="en-US" sz="1800" b="0" strike="noStrike" spc="-1" dirty="0">
              <a:latin typeface="Arial"/>
            </a:endParaRPr>
          </a:p>
          <a:p>
            <a:pPr>
              <a:lnSpc>
                <a:spcPct val="100000"/>
              </a:lnSpc>
            </a:pPr>
            <a:r>
              <a:rPr lang="en-US" sz="1800" b="0" strike="noStrike" spc="-1" dirty="0">
                <a:solidFill>
                  <a:srgbClr val="FF0000"/>
                </a:solidFill>
                <a:latin typeface="Segoe UI"/>
                <a:ea typeface="DejaVu Sans"/>
              </a:rPr>
              <a:t>contains dynamic PCDs</a:t>
            </a:r>
            <a:endParaRPr lang="en-US" sz="1800" b="0" strike="noStrike" spc="-1" dirty="0">
              <a:latin typeface="Arial"/>
            </a:endParaRPr>
          </a:p>
        </p:txBody>
      </p:sp>
      <p:sp>
        <p:nvSpPr>
          <p:cNvPr id="8" name="Line 5">
            <a:extLst>
              <a:ext uri="{FF2B5EF4-FFF2-40B4-BE49-F238E27FC236}">
                <a16:creationId xmlns:a16="http://schemas.microsoft.com/office/drawing/2014/main" id="{59AEA98C-E55B-4F5A-8BD9-669301A5DF2A}"/>
              </a:ext>
            </a:extLst>
          </p:cNvPr>
          <p:cNvSpPr/>
          <p:nvPr/>
        </p:nvSpPr>
        <p:spPr>
          <a:xfrm flipV="1">
            <a:off x="4144621" y="4951505"/>
            <a:ext cx="2133720" cy="838440"/>
          </a:xfrm>
          <a:prstGeom prst="line">
            <a:avLst/>
          </a:prstGeom>
          <a:ln w="9360">
            <a:solidFill>
              <a:schemeClr val="tx1"/>
            </a:solidFill>
            <a:round/>
            <a:tailEnd type="triangle" w="med" len="med"/>
          </a:ln>
        </p:spPr>
        <p:style>
          <a:lnRef idx="0">
            <a:scrgbClr r="0" g="0" b="0"/>
          </a:lnRef>
          <a:fillRef idx="0">
            <a:scrgbClr r="0" g="0" b="0"/>
          </a:fillRef>
          <a:effectRef idx="0">
            <a:scrgbClr r="0" g="0" b="0"/>
          </a:effectRef>
          <a:fontRef idx="minor"/>
        </p:style>
      </p:sp>
      <p:grpSp>
        <p:nvGrpSpPr>
          <p:cNvPr id="10" name="Group 9">
            <a:extLst>
              <a:ext uri="{FF2B5EF4-FFF2-40B4-BE49-F238E27FC236}">
                <a16:creationId xmlns:a16="http://schemas.microsoft.com/office/drawing/2014/main" id="{584ECDEC-635B-42E0-99D5-7E1A3A6B1148}"/>
              </a:ext>
            </a:extLst>
          </p:cNvPr>
          <p:cNvGrpSpPr/>
          <p:nvPr/>
        </p:nvGrpSpPr>
        <p:grpSpPr>
          <a:xfrm>
            <a:off x="2468461" y="2894465"/>
            <a:ext cx="6551640" cy="3517454"/>
            <a:chOff x="2468461" y="2894465"/>
            <a:chExt cx="6551640" cy="3517454"/>
          </a:xfrm>
        </p:grpSpPr>
        <p:pic>
          <p:nvPicPr>
            <p:cNvPr id="5" name="Picture 4">
              <a:extLst>
                <a:ext uri="{FF2B5EF4-FFF2-40B4-BE49-F238E27FC236}">
                  <a16:creationId xmlns:a16="http://schemas.microsoft.com/office/drawing/2014/main" id="{0FE27A4D-2C06-4CBC-BFED-E9E951B46386}"/>
                </a:ext>
              </a:extLst>
            </p:cNvPr>
            <p:cNvPicPr/>
            <p:nvPr/>
          </p:nvPicPr>
          <p:blipFill rotWithShape="1">
            <a:blip r:embed="rId2"/>
            <a:srcRect b="10991"/>
            <a:stretch/>
          </p:blipFill>
          <p:spPr>
            <a:xfrm>
              <a:off x="2468461" y="2894465"/>
              <a:ext cx="6551640" cy="3282498"/>
            </a:xfrm>
            <a:prstGeom prst="rect">
              <a:avLst/>
            </a:prstGeom>
            <a:ln w="9360">
              <a:noFill/>
            </a:ln>
          </p:spPr>
        </p:pic>
        <p:pic>
          <p:nvPicPr>
            <p:cNvPr id="9" name="Picture 8">
              <a:extLst>
                <a:ext uri="{FF2B5EF4-FFF2-40B4-BE49-F238E27FC236}">
                  <a16:creationId xmlns:a16="http://schemas.microsoft.com/office/drawing/2014/main" id="{6692965B-6DA8-4C3E-ABD2-4080E043FFF1}"/>
                </a:ext>
              </a:extLst>
            </p:cNvPr>
            <p:cNvPicPr/>
            <p:nvPr/>
          </p:nvPicPr>
          <p:blipFill rotWithShape="1">
            <a:blip r:embed="rId2"/>
            <a:srcRect t="93444"/>
            <a:stretch/>
          </p:blipFill>
          <p:spPr>
            <a:xfrm>
              <a:off x="2468461" y="6170147"/>
              <a:ext cx="6551640" cy="241772"/>
            </a:xfrm>
            <a:prstGeom prst="rect">
              <a:avLst/>
            </a:prstGeom>
            <a:ln w="9360">
              <a:noFill/>
            </a:ln>
          </p:spPr>
        </p:pic>
      </p:grpSp>
    </p:spTree>
    <p:extLst>
      <p:ext uri="{BB962C8B-B14F-4D97-AF65-F5344CB8AC3E}">
        <p14:creationId xmlns:p14="http://schemas.microsoft.com/office/powerpoint/2010/main" val="119845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34</a:t>
            </a:fld>
            <a:endParaRPr lang="en-US" dirty="0"/>
          </a:p>
        </p:txBody>
      </p:sp>
    </p:spTree>
    <p:extLst>
      <p:ext uri="{BB962C8B-B14F-4D97-AF65-F5344CB8AC3E}">
        <p14:creationId xmlns:p14="http://schemas.microsoft.com/office/powerpoint/2010/main" val="3274229808"/>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7275</TotalTime>
  <Words>1884</Words>
  <Application>Microsoft Office PowerPoint</Application>
  <PresentationFormat>寬螢幕</PresentationFormat>
  <Paragraphs>255</Paragraphs>
  <Slides>34</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34</vt:i4>
      </vt:variant>
    </vt:vector>
  </HeadingPairs>
  <TitlesOfParts>
    <vt:vector size="40" baseType="lpstr">
      <vt:lpstr>Arial</vt:lpstr>
      <vt:lpstr>Calibri</vt:lpstr>
      <vt:lpstr>Courier New</vt:lpstr>
      <vt:lpstr>Segoe UI</vt:lpstr>
      <vt:lpstr>Verdana</vt:lpstr>
      <vt:lpstr>2018 Theme</vt:lpstr>
      <vt:lpstr>Platform Configuration Database</vt:lpstr>
      <vt:lpstr>Copyright 2021 Insyde Software Corp., All Rights Reserved.</vt:lpstr>
      <vt:lpstr>Agenda</vt:lpstr>
      <vt:lpstr>Goal &amp; Target Audience</vt:lpstr>
      <vt:lpstr>Goal &amp; Target Audience</vt:lpstr>
      <vt:lpstr>Overview</vt:lpstr>
      <vt:lpstr>Overview EDK2 Platform Configuration Database (PCD)</vt:lpstr>
      <vt:lpstr>Overview Goal</vt:lpstr>
      <vt:lpstr>Overview PCD Types</vt:lpstr>
      <vt:lpstr>Overview</vt:lpstr>
      <vt:lpstr>Overview Syntax</vt:lpstr>
      <vt:lpstr>Overview Example</vt:lpstr>
      <vt:lpstr>Overview PCD Parsing Precedence</vt:lpstr>
      <vt:lpstr>Overview PCD Parsing Precedence</vt:lpstr>
      <vt:lpstr>How to Add New PCD</vt:lpstr>
      <vt:lpstr>How to Add New PCD</vt:lpstr>
      <vt:lpstr>How to Add New PCD</vt:lpstr>
      <vt:lpstr>How to Add New PCD</vt:lpstr>
      <vt:lpstr>How to Use PCD</vt:lpstr>
      <vt:lpstr>How to Use PCD</vt:lpstr>
      <vt:lpstr>How to Use PCD</vt:lpstr>
      <vt:lpstr>How to Use PCD</vt:lpstr>
      <vt:lpstr>How to Change PCD in Build Time</vt:lpstr>
      <vt:lpstr>How to Change PCD in Build Time</vt:lpstr>
      <vt:lpstr>PCD Deep Dive</vt:lpstr>
      <vt:lpstr>PCD Deep Dive</vt:lpstr>
      <vt:lpstr>PCD Deep Dive</vt:lpstr>
      <vt:lpstr>PCD Deep Dive</vt:lpstr>
      <vt:lpstr>PCD Deep Dive</vt:lpstr>
      <vt:lpstr>PCD Deep Dive</vt:lpstr>
      <vt:lpstr>PCD Deep Dive</vt:lpstr>
      <vt:lpstr>Others</vt:lpstr>
      <vt:lpstr>Others Caution on Binary Modules using Dynamic PCDs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思賢 李</cp:lastModifiedBy>
  <cp:revision>154</cp:revision>
  <dcterms:created xsi:type="dcterms:W3CDTF">2018-02-02T23:50:52Z</dcterms:created>
  <dcterms:modified xsi:type="dcterms:W3CDTF">2021-03-26T07:56:46Z</dcterms:modified>
</cp:coreProperties>
</file>