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35"/>
  </p:notesMasterIdLst>
  <p:sldIdLst>
    <p:sldId id="351" r:id="rId2"/>
    <p:sldId id="364" r:id="rId3"/>
    <p:sldId id="365" r:id="rId4"/>
    <p:sldId id="366" r:id="rId5"/>
    <p:sldId id="367" r:id="rId6"/>
    <p:sldId id="496" r:id="rId7"/>
    <p:sldId id="524" r:id="rId8"/>
    <p:sldId id="518" r:id="rId9"/>
    <p:sldId id="498" r:id="rId10"/>
    <p:sldId id="499" r:id="rId11"/>
    <p:sldId id="500" r:id="rId12"/>
    <p:sldId id="497" r:id="rId13"/>
    <p:sldId id="525" r:id="rId14"/>
    <p:sldId id="501" r:id="rId15"/>
    <p:sldId id="502" r:id="rId16"/>
    <p:sldId id="436" r:id="rId17"/>
    <p:sldId id="503" r:id="rId18"/>
    <p:sldId id="523" r:id="rId19"/>
    <p:sldId id="526" r:id="rId20"/>
    <p:sldId id="504" r:id="rId21"/>
    <p:sldId id="505" r:id="rId22"/>
    <p:sldId id="506" r:id="rId23"/>
    <p:sldId id="507" r:id="rId24"/>
    <p:sldId id="522" r:id="rId25"/>
    <p:sldId id="508" r:id="rId26"/>
    <p:sldId id="527" r:id="rId27"/>
    <p:sldId id="468" r:id="rId28"/>
    <p:sldId id="510" r:id="rId29"/>
    <p:sldId id="512" r:id="rId30"/>
    <p:sldId id="514" r:id="rId31"/>
    <p:sldId id="515" r:id="rId32"/>
    <p:sldId id="513" r:id="rId33"/>
    <p:sldId id="50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8" d="100"/>
          <a:sy n="68" d="100"/>
        </p:scale>
        <p:origin x="616"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4/1/2021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4/1/2021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Visio_Drawing1.vsdx"/><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GPIO Programming</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59203854"/>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Goals &amp; Target Audience</a:t>
            </a:r>
            <a:endParaRPr lang="en-US" altLang="zh-TW" sz="2800" b="0" strike="noStrike" spc="-1" dirty="0">
              <a:solidFill>
                <a:srgbClr val="3F3F3F"/>
              </a:solidFill>
              <a:latin typeface="Segoe UI"/>
            </a:endParaRPr>
          </a:p>
          <a:p>
            <a:r>
              <a:rPr lang="en-US" altLang="zh-TW" spc="-1" dirty="0">
                <a:solidFill>
                  <a:srgbClr val="FFFFFF"/>
                </a:solidFill>
                <a:latin typeface="Segoe UI"/>
              </a:rPr>
              <a:t>Overview</a:t>
            </a:r>
          </a:p>
          <a:p>
            <a:r>
              <a:rPr lang="en-US" altLang="zh-TW" spc="-1" dirty="0">
                <a:solidFill>
                  <a:srgbClr val="FFFFFF"/>
                </a:solidFill>
                <a:latin typeface="Segoe UI"/>
              </a:rPr>
              <a:t>Related Files</a:t>
            </a:r>
          </a:p>
          <a:p>
            <a:r>
              <a:rPr lang="en-US" altLang="zh-TW" spc="-1" dirty="0">
                <a:solidFill>
                  <a:srgbClr val="FFFFFF"/>
                </a:solidFill>
                <a:latin typeface="Segoe UI"/>
              </a:rPr>
              <a:t>Customization Steps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49951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2252991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r>
              <a:rPr lang="en-US" altLang="zh-TW" b="1" dirty="0"/>
              <a:t>Target Audience:</a:t>
            </a:r>
          </a:p>
          <a:p>
            <a:pPr lvl="1"/>
            <a:r>
              <a:rPr lang="en-US" altLang="zh-TW" sz="2000" dirty="0"/>
              <a:t>BIOS developers who use InsydeH2O 5.4 (EDK II) to create their firmware products.</a:t>
            </a:r>
          </a:p>
          <a:p>
            <a:endParaRPr lang="en-US" altLang="zh-TW" dirty="0"/>
          </a:p>
          <a:p>
            <a:r>
              <a:rPr lang="en-US" altLang="zh-TW" b="1" dirty="0"/>
              <a:t>Goals:</a:t>
            </a:r>
            <a:endParaRPr lang="en-US" altLang="zh-TW" sz="2000" b="1" dirty="0">
              <a:ea typeface="新細明體" charset="-120"/>
            </a:endParaRPr>
          </a:p>
          <a:p>
            <a:pPr lvl="1"/>
            <a:r>
              <a:rPr lang="en-US" altLang="zh-TW" sz="2000" dirty="0">
                <a:ea typeface="新細明體" charset="-120"/>
              </a:rPr>
              <a:t>Know how to program GPIO in InsydeH2O 5.4.</a:t>
            </a:r>
          </a:p>
          <a:p>
            <a:pPr marL="0" indent="0">
              <a:buNone/>
            </a:pPr>
            <a:endParaRPr lang="en-US" altLang="zh-TW" dirty="0"/>
          </a:p>
          <a:p>
            <a:r>
              <a:rPr lang="en-US" altLang="zh-TW" b="1" dirty="0"/>
              <a:t>Requirements:</a:t>
            </a:r>
          </a:p>
          <a:p>
            <a:pPr lvl="1"/>
            <a:r>
              <a:rPr lang="en-US" altLang="zh-TW" sz="2000" dirty="0"/>
              <a:t>InsydeH2O 5.4 source code</a:t>
            </a:r>
            <a:endParaRPr lang="en-US" altLang="zh-TW" sz="2000" dirty="0">
              <a:ea typeface="新細明體" charset="-120"/>
            </a:endParaRPr>
          </a:p>
          <a:p>
            <a:pPr lvl="1"/>
            <a:r>
              <a:rPr lang="en-US" altLang="zh-TW" sz="2000" dirty="0">
                <a:ea typeface="新細明體" charset="-120"/>
              </a:rPr>
              <a:t>GPIO Schematic </a:t>
            </a:r>
          </a:p>
          <a:p>
            <a:pPr marL="457200" lvl="1" indent="0">
              <a:buNone/>
            </a:pPr>
            <a:endParaRPr lang="zh-TW" altLang="en-US" sz="2000" dirty="0">
              <a:ea typeface="新細明體" charset="-120"/>
            </a:endParaRP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2925107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8FF2BD-D282-48B9-B518-D7503868A83D}"/>
              </a:ext>
            </a:extLst>
          </p:cNvPr>
          <p:cNvSpPr>
            <a:spLocks noGrp="1"/>
          </p:cNvSpPr>
          <p:nvPr>
            <p:ph type="title"/>
          </p:nvPr>
        </p:nvSpPr>
        <p:spPr/>
        <p:txBody>
          <a:bodyPr/>
          <a:lstStyle/>
          <a:p>
            <a:r>
              <a:rPr lang="en-US" altLang="zh-TW" dirty="0"/>
              <a:t>Overview</a:t>
            </a:r>
            <a:endParaRPr lang="zh-TW" altLang="en-US" dirty="0"/>
          </a:p>
        </p:txBody>
      </p:sp>
      <p:sp>
        <p:nvSpPr>
          <p:cNvPr id="3" name="內容版面配置區 2">
            <a:extLst>
              <a:ext uri="{FF2B5EF4-FFF2-40B4-BE49-F238E27FC236}">
                <a16:creationId xmlns:a16="http://schemas.microsoft.com/office/drawing/2014/main" id="{5EDF6DD4-C12C-4F65-BC69-1DFB6A2E612A}"/>
              </a:ext>
            </a:extLst>
          </p:cNvPr>
          <p:cNvSpPr>
            <a:spLocks noGrp="1"/>
          </p:cNvSpPr>
          <p:nvPr>
            <p:ph idx="1"/>
          </p:nvPr>
        </p:nvSpPr>
        <p:spPr/>
        <p:txBody>
          <a:bodyPr/>
          <a:lstStyle/>
          <a:p>
            <a:r>
              <a:rPr lang="en-US" altLang="zh-TW" dirty="0"/>
              <a:t>There are two methods to set the GPIO settings in build time</a:t>
            </a:r>
          </a:p>
          <a:p>
            <a:pPr marL="914400" lvl="1" indent="-457200">
              <a:buFont typeface="+mj-lt"/>
              <a:buAutoNum type="arabicPeriod"/>
            </a:pPr>
            <a:r>
              <a:rPr lang="en-US" altLang="zh-TW" dirty="0"/>
              <a:t>PCD</a:t>
            </a:r>
            <a:r>
              <a:rPr lang="zh-TW" altLang="en-US" dirty="0"/>
              <a:t> </a:t>
            </a:r>
            <a:r>
              <a:rPr lang="en-US" altLang="zh-TW" dirty="0"/>
              <a:t>(</a:t>
            </a:r>
            <a:r>
              <a:rPr lang="zh-TW" altLang="en-US" dirty="0"/>
              <a:t>*</a:t>
            </a:r>
            <a:r>
              <a:rPr lang="en-US" altLang="zh-TW" dirty="0"/>
              <a:t>.GPIO)</a:t>
            </a:r>
          </a:p>
          <a:p>
            <a:pPr marL="914400" lvl="1" indent="-457200">
              <a:buFont typeface="+mj-lt"/>
              <a:buAutoNum type="arabicPeriod"/>
            </a:pPr>
            <a:endParaRPr lang="zh-TW" altLang="en-US" dirty="0"/>
          </a:p>
          <a:p>
            <a:pPr marL="914400" lvl="1" indent="-457200">
              <a:buFont typeface="+mj-lt"/>
              <a:buAutoNum type="arabicPeriod"/>
            </a:pPr>
            <a:r>
              <a:rPr lang="en-US" altLang="zh-TW" dirty="0"/>
              <a:t>UBA</a:t>
            </a:r>
          </a:p>
          <a:p>
            <a:pPr marL="914400" lvl="1" indent="-457200">
              <a:buFont typeface="+mj-lt"/>
              <a:buAutoNum type="arabicPeriod"/>
            </a:pPr>
            <a:endParaRPr lang="en-US" altLang="zh-TW" dirty="0"/>
          </a:p>
          <a:p>
            <a:pPr marL="457200" lvl="1" indent="0">
              <a:buNone/>
            </a:pPr>
            <a:r>
              <a:rPr lang="en-US" altLang="zh-TW" dirty="0"/>
              <a:t>Note: Use </a:t>
            </a:r>
            <a:r>
              <a:rPr lang="en-US" altLang="zh-TW" dirty="0" err="1">
                <a:solidFill>
                  <a:srgbClr val="FF0000"/>
                </a:solidFill>
              </a:rPr>
              <a:t>gChipsetPkgTokenSpaceGuid.PcdGpioTableSource</a:t>
            </a:r>
            <a:r>
              <a:rPr lang="en-US" altLang="zh-TW" dirty="0">
                <a:solidFill>
                  <a:srgbClr val="FF0000"/>
                </a:solidFill>
              </a:rPr>
              <a:t> </a:t>
            </a:r>
            <a:r>
              <a:rPr lang="en-US" altLang="zh-TW" dirty="0"/>
              <a:t>to decide which one to use.</a:t>
            </a:r>
          </a:p>
        </p:txBody>
      </p:sp>
    </p:spTree>
    <p:extLst>
      <p:ext uri="{BB962C8B-B14F-4D97-AF65-F5344CB8AC3E}">
        <p14:creationId xmlns:p14="http://schemas.microsoft.com/office/powerpoint/2010/main" val="1785487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19013-AB54-4423-9B8D-9AE07B6E9311}"/>
              </a:ext>
            </a:extLst>
          </p:cNvPr>
          <p:cNvSpPr>
            <a:spLocks noGrp="1"/>
          </p:cNvSpPr>
          <p:nvPr>
            <p:ph type="title"/>
          </p:nvPr>
        </p:nvSpPr>
        <p:spPr/>
        <p:txBody>
          <a:bodyPr/>
          <a:lstStyle/>
          <a:p>
            <a:r>
              <a:rPr lang="en-US" altLang="zh-TW" dirty="0"/>
              <a:t>Overview – PCD (*.</a:t>
            </a:r>
            <a:r>
              <a:rPr lang="en-US" altLang="zh-TW" dirty="0" err="1"/>
              <a:t>gpio</a:t>
            </a:r>
            <a:r>
              <a:rPr lang="en-US" altLang="zh-TW" dirty="0"/>
              <a:t>)</a:t>
            </a:r>
            <a:endParaRPr lang="zh-TW" altLang="en-US" dirty="0"/>
          </a:p>
        </p:txBody>
      </p:sp>
      <p:sp>
        <p:nvSpPr>
          <p:cNvPr id="3" name="內容版面配置區 2">
            <a:extLst>
              <a:ext uri="{FF2B5EF4-FFF2-40B4-BE49-F238E27FC236}">
                <a16:creationId xmlns:a16="http://schemas.microsoft.com/office/drawing/2014/main" id="{4337B654-7EEF-4D91-A2BE-4FA7421B432F}"/>
              </a:ext>
            </a:extLst>
          </p:cNvPr>
          <p:cNvSpPr>
            <a:spLocks noGrp="1"/>
          </p:cNvSpPr>
          <p:nvPr>
            <p:ph idx="1"/>
          </p:nvPr>
        </p:nvSpPr>
        <p:spPr>
          <a:xfrm>
            <a:off x="838201" y="1398494"/>
            <a:ext cx="5889770" cy="4778469"/>
          </a:xfrm>
        </p:spPr>
        <p:txBody>
          <a:bodyPr>
            <a:normAutofit fontScale="92500"/>
          </a:bodyPr>
          <a:lstStyle/>
          <a:p>
            <a:r>
              <a:rPr lang="en-US" altLang="zh-TW" sz="2000" dirty="0"/>
              <a:t>The </a:t>
            </a:r>
            <a:r>
              <a:rPr lang="en-US" altLang="zh-TW" sz="2000" b="1" dirty="0">
                <a:solidFill>
                  <a:srgbClr val="0070C0"/>
                </a:solidFill>
              </a:rPr>
              <a:t>Create</a:t>
            </a:r>
            <a:r>
              <a:rPr lang="en-US" altLang="zh-TW" sz="2000" dirty="0"/>
              <a:t> step uses Excel or H2OIDE to create the basic GPIO setting template for a specific chipset.</a:t>
            </a:r>
          </a:p>
          <a:p>
            <a:r>
              <a:rPr lang="en-US" altLang="zh-TW" sz="2000" dirty="0"/>
              <a:t>The </a:t>
            </a:r>
            <a:r>
              <a:rPr lang="en-US" altLang="zh-TW" sz="2000" b="1" dirty="0">
                <a:solidFill>
                  <a:srgbClr val="0070C0"/>
                </a:solidFill>
              </a:rPr>
              <a:t>Edit</a:t>
            </a:r>
            <a:r>
              <a:rPr lang="en-US" altLang="zh-TW" sz="2000" b="1" dirty="0"/>
              <a:t> </a:t>
            </a:r>
            <a:r>
              <a:rPr lang="en-US" altLang="zh-TW" sz="2000" dirty="0"/>
              <a:t>step uses Excel or H2OIDE to control the GPIO Settings by directly editing the GPIO Settings file. There is one GPIO Settings file for each of the boards.</a:t>
            </a:r>
          </a:p>
          <a:p>
            <a:r>
              <a:rPr lang="en-US" altLang="zh-TW" sz="2000" dirty="0"/>
              <a:t>The </a:t>
            </a:r>
            <a:r>
              <a:rPr lang="en-US" altLang="zh-TW" sz="2000" b="1" dirty="0">
                <a:solidFill>
                  <a:srgbClr val="0070C0"/>
                </a:solidFill>
              </a:rPr>
              <a:t>Build</a:t>
            </a:r>
            <a:r>
              <a:rPr lang="en-US" altLang="zh-TW" sz="2000" dirty="0"/>
              <a:t> step uses the </a:t>
            </a:r>
            <a:r>
              <a:rPr lang="en-US" altLang="zh-TW" sz="2000" dirty="0">
                <a:solidFill>
                  <a:srgbClr val="FF0000"/>
                </a:solidFill>
              </a:rPr>
              <a:t>GenGpioCfg.exe</a:t>
            </a:r>
            <a:r>
              <a:rPr lang="en-US" altLang="zh-TW" sz="2000" dirty="0"/>
              <a:t> build tool to convert the GPIO setting files into GPIO setting tables that are built into the Flash device image.</a:t>
            </a:r>
          </a:p>
          <a:p>
            <a:r>
              <a:rPr lang="en-US" altLang="zh-TW" sz="2000" dirty="0"/>
              <a:t>The </a:t>
            </a:r>
            <a:r>
              <a:rPr lang="en-US" altLang="zh-TW" sz="2000" b="1" dirty="0">
                <a:solidFill>
                  <a:srgbClr val="0070C0"/>
                </a:solidFill>
              </a:rPr>
              <a:t>Modify</a:t>
            </a:r>
            <a:r>
              <a:rPr lang="en-US" altLang="zh-TW" sz="2000" b="1" dirty="0"/>
              <a:t> </a:t>
            </a:r>
            <a:r>
              <a:rPr lang="en-US" altLang="zh-TW" sz="2000" dirty="0"/>
              <a:t>step uses an external tool, such as H2OUVE, to modify the GPIO Settings Table inside the Flash Device Image. </a:t>
            </a:r>
            <a:r>
              <a:rPr lang="en-US" altLang="zh-TW" sz="2000" b="1" dirty="0"/>
              <a:t>This is currently not supported.</a:t>
            </a:r>
            <a:endParaRPr lang="zh-TW" altLang="zh-TW" sz="2000" dirty="0"/>
          </a:p>
          <a:p>
            <a:r>
              <a:rPr lang="en-US" altLang="zh-TW" sz="2000" dirty="0"/>
              <a:t>The </a:t>
            </a:r>
            <a:r>
              <a:rPr lang="en-US" altLang="zh-TW" sz="2000" b="1" dirty="0">
                <a:solidFill>
                  <a:srgbClr val="0070C0"/>
                </a:solidFill>
              </a:rPr>
              <a:t>Configure</a:t>
            </a:r>
            <a:r>
              <a:rPr lang="en-US" altLang="zh-TW" sz="2000" dirty="0"/>
              <a:t> step uses the </a:t>
            </a:r>
            <a:r>
              <a:rPr lang="en-US" altLang="zh-TW" sz="2000" dirty="0" err="1">
                <a:solidFill>
                  <a:srgbClr val="FF0000"/>
                </a:solidFill>
              </a:rPr>
              <a:t>ProgramGpioPei</a:t>
            </a:r>
            <a:r>
              <a:rPr lang="en-US" altLang="zh-TW" sz="2000" dirty="0"/>
              <a:t> driver to retrieve the GPIO setting table and configure the GPIO in the components.</a:t>
            </a:r>
          </a:p>
        </p:txBody>
      </p:sp>
      <p:graphicFrame>
        <p:nvGraphicFramePr>
          <p:cNvPr id="5" name="物件 4">
            <a:extLst>
              <a:ext uri="{FF2B5EF4-FFF2-40B4-BE49-F238E27FC236}">
                <a16:creationId xmlns:a16="http://schemas.microsoft.com/office/drawing/2014/main" id="{8C2D3400-BB52-4B67-9C70-5D04CF21191E}"/>
              </a:ext>
            </a:extLst>
          </p:cNvPr>
          <p:cNvGraphicFramePr>
            <a:graphicFrameLocks noChangeAspect="1"/>
          </p:cNvGraphicFramePr>
          <p:nvPr/>
        </p:nvGraphicFramePr>
        <p:xfrm>
          <a:off x="7166354" y="1316230"/>
          <a:ext cx="4515667" cy="5084562"/>
        </p:xfrm>
        <a:graphic>
          <a:graphicData uri="http://schemas.openxmlformats.org/presentationml/2006/ole">
            <mc:AlternateContent xmlns:mc="http://schemas.openxmlformats.org/markup-compatibility/2006">
              <mc:Choice xmlns:v="urn:schemas-microsoft-com:vml" Requires="v">
                <p:oleObj r:id="rId2" imgW="6442166" imgH="4624864" progId="Visio.Drawing.15">
                  <p:embed/>
                </p:oleObj>
              </mc:Choice>
              <mc:Fallback>
                <p:oleObj r:id="rId2" imgW="6442166" imgH="4624864" progId="Visio.Drawing.15">
                  <p:embed/>
                  <p:pic>
                    <p:nvPicPr>
                      <p:cNvPr id="5" name="物件 4">
                        <a:extLst>
                          <a:ext uri="{FF2B5EF4-FFF2-40B4-BE49-F238E27FC236}">
                            <a16:creationId xmlns:a16="http://schemas.microsoft.com/office/drawing/2014/main" id="{8C2D3400-BB52-4B67-9C70-5D04CF2119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6354" y="1316230"/>
                        <a:ext cx="4515667" cy="5084562"/>
                      </a:xfrm>
                      <a:prstGeom prst="rect">
                        <a:avLst/>
                      </a:prstGeom>
                      <a:noFill/>
                    </p:spPr>
                  </p:pic>
                </p:oleObj>
              </mc:Fallback>
            </mc:AlternateContent>
          </a:graphicData>
        </a:graphic>
      </p:graphicFrame>
    </p:spTree>
    <p:extLst>
      <p:ext uri="{BB962C8B-B14F-4D97-AF65-F5344CB8AC3E}">
        <p14:creationId xmlns:p14="http://schemas.microsoft.com/office/powerpoint/2010/main" val="3645013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9FE7DF-8924-4197-B38F-8ABA29E559A9}"/>
              </a:ext>
            </a:extLst>
          </p:cNvPr>
          <p:cNvSpPr>
            <a:spLocks noGrp="1"/>
          </p:cNvSpPr>
          <p:nvPr>
            <p:ph type="title"/>
          </p:nvPr>
        </p:nvSpPr>
        <p:spPr/>
        <p:txBody>
          <a:bodyPr/>
          <a:lstStyle/>
          <a:p>
            <a:r>
              <a:rPr lang="en-US" altLang="zh-TW" dirty="0"/>
              <a:t>GPIO Setting File</a:t>
            </a:r>
            <a:endParaRPr lang="zh-TW" altLang="en-US" dirty="0"/>
          </a:p>
        </p:txBody>
      </p:sp>
      <p:sp>
        <p:nvSpPr>
          <p:cNvPr id="3" name="內容版面配置區 2">
            <a:extLst>
              <a:ext uri="{FF2B5EF4-FFF2-40B4-BE49-F238E27FC236}">
                <a16:creationId xmlns:a16="http://schemas.microsoft.com/office/drawing/2014/main" id="{9EE19B0A-6492-4B45-9A97-9ABAAE84D195}"/>
              </a:ext>
            </a:extLst>
          </p:cNvPr>
          <p:cNvSpPr>
            <a:spLocks noGrp="1"/>
          </p:cNvSpPr>
          <p:nvPr>
            <p:ph idx="1"/>
          </p:nvPr>
        </p:nvSpPr>
        <p:spPr/>
        <p:txBody>
          <a:bodyPr>
            <a:normAutofit lnSpcReduction="10000"/>
          </a:bodyPr>
          <a:lstStyle/>
          <a:p>
            <a:r>
              <a:rPr lang="en-US" altLang="zh-TW" sz="2400" dirty="0"/>
              <a:t>Contains GPIO settings for </a:t>
            </a:r>
            <a:r>
              <a:rPr lang="en-US" altLang="zh-TW" sz="2400" u="sng" dirty="0"/>
              <a:t>one chip</a:t>
            </a:r>
            <a:r>
              <a:rPr lang="en-US" altLang="zh-TW" sz="2400" dirty="0"/>
              <a:t> for </a:t>
            </a:r>
            <a:r>
              <a:rPr lang="en-US" altLang="zh-TW" sz="2400" u="sng" dirty="0"/>
              <a:t>one board</a:t>
            </a:r>
            <a:r>
              <a:rPr lang="en-US" altLang="zh-TW" sz="2400" dirty="0"/>
              <a:t>.</a:t>
            </a:r>
          </a:p>
          <a:p>
            <a:pPr lvl="1"/>
            <a:r>
              <a:rPr lang="en-US" altLang="zh-TW" sz="2200" dirty="0"/>
              <a:t>Possibly one for each board listed in [</a:t>
            </a:r>
            <a:r>
              <a:rPr lang="en-US" altLang="zh-TW" sz="2200" dirty="0" err="1"/>
              <a:t>SkuIds</a:t>
            </a:r>
            <a:r>
              <a:rPr lang="en-US" altLang="zh-TW" sz="2200" dirty="0"/>
              <a:t>] in </a:t>
            </a:r>
            <a:r>
              <a:rPr lang="en-US" altLang="zh-TW" sz="2200" dirty="0" err="1"/>
              <a:t>Project.dsc</a:t>
            </a:r>
            <a:endParaRPr lang="en-US" altLang="zh-TW" sz="2200" dirty="0"/>
          </a:p>
          <a:p>
            <a:pPr lvl="1"/>
            <a:r>
              <a:rPr lang="en-US" altLang="zh-TW" sz="2200" dirty="0"/>
              <a:t>File name is </a:t>
            </a:r>
            <a:r>
              <a:rPr lang="en-US" altLang="zh-TW" sz="2200" dirty="0" err="1"/>
              <a:t>GPIO_xxxx.gpio</a:t>
            </a:r>
            <a:r>
              <a:rPr lang="en-US" altLang="zh-TW" sz="2200" dirty="0"/>
              <a:t>, where </a:t>
            </a:r>
            <a:r>
              <a:rPr lang="en-US" altLang="zh-TW" sz="2200" dirty="0" err="1"/>
              <a:t>xxxx</a:t>
            </a:r>
            <a:r>
              <a:rPr lang="en-US" altLang="zh-TW" sz="2200" dirty="0"/>
              <a:t> matches [</a:t>
            </a:r>
            <a:r>
              <a:rPr lang="en-US" altLang="zh-TW" sz="2200" dirty="0" err="1"/>
              <a:t>SkuId</a:t>
            </a:r>
            <a:r>
              <a:rPr lang="en-US" altLang="zh-TW" sz="2200" dirty="0"/>
              <a:t>] board name. </a:t>
            </a:r>
          </a:p>
          <a:p>
            <a:pPr lvl="1"/>
            <a:r>
              <a:rPr lang="en-US" altLang="zh-TW" sz="2200" dirty="0"/>
              <a:t>File is part of </a:t>
            </a:r>
            <a:r>
              <a:rPr lang="en-US" altLang="zh-TW" sz="2200" dirty="0" err="1"/>
              <a:t>GpioCfgLib</a:t>
            </a:r>
            <a:r>
              <a:rPr lang="en-US" altLang="zh-TW" sz="2200" dirty="0"/>
              <a:t> in board package, listed in .INF</a:t>
            </a:r>
            <a:endParaRPr lang="en-US" altLang="zh-TW" dirty="0"/>
          </a:p>
          <a:p>
            <a:r>
              <a:rPr lang="en-US" altLang="zh-TW" sz="2400" dirty="0"/>
              <a:t>Formatted using comma-separated values (.csv)</a:t>
            </a:r>
          </a:p>
          <a:p>
            <a:pPr lvl="1"/>
            <a:r>
              <a:rPr lang="en-US" altLang="zh-TW" sz="2200" dirty="0"/>
              <a:t>This text format can be read/written by Excel or build tool.</a:t>
            </a:r>
          </a:p>
          <a:p>
            <a:pPr lvl="1"/>
            <a:r>
              <a:rPr lang="en-US" altLang="zh-TW" sz="2200" dirty="0"/>
              <a:t>Each row describes one GPIO/pad.</a:t>
            </a:r>
          </a:p>
          <a:p>
            <a:pPr lvl="1"/>
            <a:r>
              <a:rPr lang="en-US" altLang="zh-TW" sz="2200" dirty="0"/>
              <a:t>Each column describes one GPIO/pad attribute (input/output, etc.)</a:t>
            </a:r>
          </a:p>
          <a:p>
            <a:pPr lvl="1"/>
            <a:r>
              <a:rPr lang="en-US" altLang="zh-TW" sz="2200" dirty="0"/>
              <a:t>EXCEPT: Row 1 lists attribute names, Column 1 lists pad names.</a:t>
            </a:r>
          </a:p>
          <a:p>
            <a:pPr lvl="1"/>
            <a:r>
              <a:rPr lang="en-US" altLang="zh-TW" sz="2200" dirty="0"/>
              <a:t>EXCEPT: Row 2 lists valid values for the attributes separated by a ‘;’ character. Empty cells indicate no validation is required.</a:t>
            </a:r>
          </a:p>
          <a:p>
            <a:r>
              <a:rPr lang="en-US" altLang="zh-TW" sz="2400" dirty="0"/>
              <a:t>Each cell contains the text that will be output to the GPIO initialization macro.</a:t>
            </a:r>
          </a:p>
        </p:txBody>
      </p:sp>
    </p:spTree>
    <p:extLst>
      <p:ext uri="{BB962C8B-B14F-4D97-AF65-F5344CB8AC3E}">
        <p14:creationId xmlns:p14="http://schemas.microsoft.com/office/powerpoint/2010/main" val="782654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6026A6-77CC-41A3-B20C-D92F15B3FC8C}"/>
              </a:ext>
            </a:extLst>
          </p:cNvPr>
          <p:cNvSpPr>
            <a:spLocks noGrp="1"/>
          </p:cNvSpPr>
          <p:nvPr>
            <p:ph type="title"/>
          </p:nvPr>
        </p:nvSpPr>
        <p:spPr/>
        <p:txBody>
          <a:bodyPr/>
          <a:lstStyle/>
          <a:p>
            <a:r>
              <a:rPr lang="en-US" altLang="zh-TW" dirty="0" err="1"/>
              <a:t>GpioCfgLib</a:t>
            </a:r>
            <a:endParaRPr lang="zh-TW" altLang="en-US" dirty="0"/>
          </a:p>
        </p:txBody>
      </p:sp>
      <p:sp>
        <p:nvSpPr>
          <p:cNvPr id="3" name="內容版面配置區 2">
            <a:extLst>
              <a:ext uri="{FF2B5EF4-FFF2-40B4-BE49-F238E27FC236}">
                <a16:creationId xmlns:a16="http://schemas.microsoft.com/office/drawing/2014/main" id="{1CE19252-5FAB-42AB-97C7-A0FEDE4EB677}"/>
              </a:ext>
            </a:extLst>
          </p:cNvPr>
          <p:cNvSpPr>
            <a:spLocks noGrp="1"/>
          </p:cNvSpPr>
          <p:nvPr>
            <p:ph idx="1"/>
          </p:nvPr>
        </p:nvSpPr>
        <p:spPr/>
        <p:txBody>
          <a:bodyPr/>
          <a:lstStyle/>
          <a:p>
            <a:r>
              <a:rPr lang="en-US" altLang="zh-TW" sz="2400" dirty="0"/>
              <a:t>Implements </a:t>
            </a:r>
            <a:r>
              <a:rPr lang="en-US" altLang="zh-TW" sz="2400" dirty="0" err="1"/>
              <a:t>GpioCfgLib</a:t>
            </a:r>
            <a:r>
              <a:rPr lang="en-US" altLang="zh-TW" sz="2400" dirty="0"/>
              <a:t> library class produced by </a:t>
            </a:r>
            <a:r>
              <a:rPr lang="en-US" altLang="zh-TW" sz="2400" dirty="0" err="1"/>
              <a:t>Insyde</a:t>
            </a:r>
            <a:r>
              <a:rPr lang="en-US" altLang="zh-TW" sz="2400" dirty="0"/>
              <a:t> chipset package.</a:t>
            </a:r>
          </a:p>
          <a:p>
            <a:endParaRPr lang="en-US" altLang="zh-TW" sz="2400" dirty="0"/>
          </a:p>
          <a:p>
            <a:r>
              <a:rPr lang="en-US" altLang="zh-TW" sz="2400" dirty="0"/>
              <a:t>Library is in the project package.</a:t>
            </a:r>
          </a:p>
          <a:p>
            <a:endParaRPr lang="en-US" altLang="zh-TW" sz="2400" dirty="0"/>
          </a:p>
          <a:p>
            <a:r>
              <a:rPr lang="en-US" altLang="zh-TW" sz="2400" dirty="0"/>
              <a:t>Header file is in $(CHIPSET_PKG)\Include\Library\</a:t>
            </a:r>
            <a:r>
              <a:rPr lang="en-US" altLang="zh-TW" sz="2400" dirty="0" err="1"/>
              <a:t>GpioCfgLib.h</a:t>
            </a:r>
            <a:endParaRPr lang="en-US" altLang="zh-TW" sz="2400" dirty="0"/>
          </a:p>
          <a:p>
            <a:endParaRPr lang="en-US" altLang="zh-TW" sz="2400" dirty="0"/>
          </a:p>
          <a:p>
            <a:r>
              <a:rPr lang="en-US" altLang="zh-TW" sz="2400" dirty="0"/>
              <a:t>Contains all the .</a:t>
            </a:r>
            <a:r>
              <a:rPr lang="en-US" altLang="zh-TW" sz="2400" dirty="0" err="1"/>
              <a:t>gpio</a:t>
            </a:r>
            <a:r>
              <a:rPr lang="en-US" altLang="zh-TW" sz="2400" dirty="0"/>
              <a:t> files.</a:t>
            </a:r>
          </a:p>
          <a:p>
            <a:pPr lvl="1"/>
            <a:r>
              <a:rPr lang="en-US" altLang="zh-TW" sz="2000" dirty="0"/>
              <a:t>.</a:t>
            </a:r>
            <a:r>
              <a:rPr lang="en-US" altLang="zh-TW" sz="2000" dirty="0" err="1"/>
              <a:t>gpio</a:t>
            </a:r>
            <a:r>
              <a:rPr lang="en-US" altLang="zh-TW" sz="2000" dirty="0"/>
              <a:t> files are converted into .c files by GpioConvertCsvToC.exe</a:t>
            </a:r>
          </a:p>
          <a:p>
            <a:pPr lvl="1"/>
            <a:r>
              <a:rPr lang="en-US" altLang="zh-TW" sz="2000" dirty="0"/>
              <a:t>.c files are combined as part of the library.</a:t>
            </a:r>
          </a:p>
          <a:p>
            <a:endParaRPr lang="en-US" altLang="zh-TW" sz="2400" dirty="0"/>
          </a:p>
          <a:p>
            <a:r>
              <a:rPr lang="en-US" altLang="zh-TW" sz="2400" dirty="0"/>
              <a:t>Produces one function: </a:t>
            </a:r>
            <a:r>
              <a:rPr lang="en-US" altLang="zh-TW" sz="2400" dirty="0" err="1"/>
              <a:t>GpioGetCfg</a:t>
            </a:r>
            <a:r>
              <a:rPr lang="en-US" altLang="zh-TW" sz="2400" dirty="0"/>
              <a:t>().</a:t>
            </a:r>
          </a:p>
        </p:txBody>
      </p:sp>
    </p:spTree>
    <p:extLst>
      <p:ext uri="{BB962C8B-B14F-4D97-AF65-F5344CB8AC3E}">
        <p14:creationId xmlns:p14="http://schemas.microsoft.com/office/powerpoint/2010/main" val="2398413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6026A6-77CC-41A3-B20C-D92F15B3FC8C}"/>
              </a:ext>
            </a:extLst>
          </p:cNvPr>
          <p:cNvSpPr>
            <a:spLocks noGrp="1"/>
          </p:cNvSpPr>
          <p:nvPr>
            <p:ph type="title"/>
          </p:nvPr>
        </p:nvSpPr>
        <p:spPr/>
        <p:txBody>
          <a:bodyPr/>
          <a:lstStyle/>
          <a:p>
            <a:r>
              <a:rPr lang="en-US" altLang="zh-TW" dirty="0" err="1"/>
              <a:t>GpioCfgLib</a:t>
            </a:r>
            <a:endParaRPr lang="zh-TW" altLang="en-US" dirty="0"/>
          </a:p>
        </p:txBody>
      </p:sp>
      <p:sp>
        <p:nvSpPr>
          <p:cNvPr id="3" name="內容版面配置區 2">
            <a:extLst>
              <a:ext uri="{FF2B5EF4-FFF2-40B4-BE49-F238E27FC236}">
                <a16:creationId xmlns:a16="http://schemas.microsoft.com/office/drawing/2014/main" id="{1CE19252-5FAB-42AB-97C7-A0FEDE4EB677}"/>
              </a:ext>
            </a:extLst>
          </p:cNvPr>
          <p:cNvSpPr>
            <a:spLocks noGrp="1"/>
          </p:cNvSpPr>
          <p:nvPr>
            <p:ph idx="1"/>
          </p:nvPr>
        </p:nvSpPr>
        <p:spPr>
          <a:xfrm>
            <a:off x="838200" y="1398494"/>
            <a:ext cx="10910455" cy="4778469"/>
          </a:xfrm>
        </p:spPr>
        <p:txBody>
          <a:bodyPr/>
          <a:lstStyle/>
          <a:p>
            <a:r>
              <a:rPr lang="en-US" altLang="zh-TW" sz="2000" dirty="0"/>
              <a:t>Includes GPIO header files from reference code.</a:t>
            </a:r>
          </a:p>
          <a:p>
            <a:pPr marL="457200" lvl="1" indent="0">
              <a:buNone/>
            </a:pPr>
            <a:r>
              <a:rPr lang="en-US" altLang="zh-TW" sz="1600" b="1" dirty="0">
                <a:solidFill>
                  <a:srgbClr val="0070C0"/>
                </a:solidFill>
                <a:latin typeface="Courier New" panose="02070309020205020404" pitchFamily="49" charset="0"/>
              </a:rPr>
              <a:t>#include &lt;</a:t>
            </a:r>
            <a:r>
              <a:rPr lang="en-US" altLang="zh-TW" sz="1600" b="1" dirty="0" err="1">
                <a:solidFill>
                  <a:srgbClr val="0070C0"/>
                </a:solidFill>
                <a:latin typeface="Courier New" panose="02070309020205020404" pitchFamily="49" charset="0"/>
              </a:rPr>
              <a:t>GpioLib.h</a:t>
            </a:r>
            <a:r>
              <a:rPr lang="en-US" altLang="zh-TW" sz="1600" b="1" dirty="0">
                <a:solidFill>
                  <a:srgbClr val="0070C0"/>
                </a:solidFill>
                <a:latin typeface="Courier New" panose="02070309020205020404" pitchFamily="49" charset="0"/>
              </a:rPr>
              <a:t>&gt;</a:t>
            </a:r>
          </a:p>
          <a:p>
            <a:pPr marL="0" indent="0">
              <a:buNone/>
            </a:pPr>
            <a:endParaRPr lang="en-US" altLang="zh-TW" sz="800" dirty="0"/>
          </a:p>
          <a:p>
            <a:r>
              <a:rPr lang="en-US" altLang="zh-TW" sz="2000" dirty="0"/>
              <a:t>Defines </a:t>
            </a:r>
            <a:r>
              <a:rPr lang="en-US" altLang="zh-TW" sz="2000" b="1" dirty="0">
                <a:solidFill>
                  <a:srgbClr val="FF0000"/>
                </a:solidFill>
                <a:latin typeface="Courier New" panose="02070309020205020404" pitchFamily="49" charset="0"/>
              </a:rPr>
              <a:t>H2O_GPIO_INIT_STRUCT</a:t>
            </a:r>
            <a:r>
              <a:rPr lang="en-US" altLang="zh-TW" sz="2000" dirty="0"/>
              <a:t> to be the same as reference code GPIO initialization structure:</a:t>
            </a:r>
          </a:p>
          <a:p>
            <a:pPr marL="457200" lvl="1" indent="0">
              <a:buNone/>
            </a:pPr>
            <a:r>
              <a:rPr lang="pt-BR" altLang="zh-TW" sz="1600" b="1" dirty="0">
                <a:solidFill>
                  <a:srgbClr val="0070C0"/>
                </a:solidFill>
                <a:latin typeface="Courier New" panose="02070309020205020404" pitchFamily="49" charset="0"/>
              </a:rPr>
              <a:t>typedef</a:t>
            </a:r>
            <a:r>
              <a:rPr lang="pt-BR" altLang="zh-TW" sz="1600" b="1" dirty="0">
                <a:latin typeface="Courier New" panose="02070309020205020404" pitchFamily="49" charset="0"/>
              </a:rPr>
              <a:t> </a:t>
            </a:r>
            <a:r>
              <a:rPr lang="pt-BR" altLang="zh-TW" sz="1600" b="1" dirty="0">
                <a:solidFill>
                  <a:schemeClr val="accent3"/>
                </a:solidFill>
                <a:latin typeface="Courier New" panose="02070309020205020404" pitchFamily="49" charset="0"/>
              </a:rPr>
              <a:t>PCD_GPIO_CONFIG</a:t>
            </a:r>
            <a:r>
              <a:rPr lang="pt-BR" altLang="zh-TW" sz="1600" b="1" dirty="0">
                <a:latin typeface="Courier New" panose="02070309020205020404" pitchFamily="49" charset="0"/>
              </a:rPr>
              <a:t> </a:t>
            </a:r>
            <a:r>
              <a:rPr lang="pt-BR" altLang="zh-TW" sz="1600" b="1" dirty="0">
                <a:solidFill>
                  <a:srgbClr val="0070C0"/>
                </a:solidFill>
                <a:latin typeface="Courier New" panose="02070309020205020404" pitchFamily="49" charset="0"/>
              </a:rPr>
              <a:t>H2O_GPIO_INIT_STRUCT</a:t>
            </a:r>
            <a:r>
              <a:rPr lang="pt-BR" altLang="zh-TW" sz="1600" b="1" dirty="0">
                <a:latin typeface="Courier New" panose="02070309020205020404" pitchFamily="49" charset="0"/>
              </a:rPr>
              <a:t>;</a:t>
            </a:r>
          </a:p>
          <a:p>
            <a:pPr marL="457200" lvl="1" indent="0">
              <a:buNone/>
            </a:pPr>
            <a:endParaRPr lang="en-US" altLang="zh-TW" sz="1600" dirty="0"/>
          </a:p>
          <a:p>
            <a:r>
              <a:rPr lang="en-US" altLang="zh-TW" sz="2000" dirty="0"/>
              <a:t>Defines </a:t>
            </a:r>
            <a:r>
              <a:rPr lang="en-US" altLang="zh-TW" sz="2000" b="1" dirty="0">
                <a:solidFill>
                  <a:srgbClr val="FF0000"/>
                </a:solidFill>
                <a:latin typeface="Courier New" panose="02070309020205020404" pitchFamily="49" charset="0"/>
              </a:rPr>
              <a:t>H2O_GPIO_INIT</a:t>
            </a:r>
            <a:r>
              <a:rPr lang="en-US" altLang="zh-TW" sz="2000" dirty="0"/>
              <a:t> macro to initialize all elements in the structure.</a:t>
            </a:r>
          </a:p>
          <a:p>
            <a:pPr marL="457200" lvl="1" indent="0">
              <a:buNone/>
            </a:pPr>
            <a:r>
              <a:rPr lang="pt-BR" altLang="zh-TW" sz="1600" b="1" dirty="0">
                <a:solidFill>
                  <a:schemeClr val="accent3"/>
                </a:solidFill>
                <a:latin typeface="Courier New" panose="02070309020205020404" pitchFamily="49" charset="0"/>
              </a:rPr>
              <a:t>#define</a:t>
            </a:r>
            <a:r>
              <a:rPr lang="pt-BR" altLang="zh-TW" sz="1600" b="1" dirty="0">
                <a:latin typeface="Courier New" panose="02070309020205020404" pitchFamily="49" charset="0"/>
              </a:rPr>
              <a:t> </a:t>
            </a:r>
            <a:r>
              <a:rPr lang="pt-BR" altLang="zh-TW" sz="1600" b="1" dirty="0">
                <a:solidFill>
                  <a:srgbClr val="0070C0"/>
                </a:solidFill>
                <a:latin typeface="Courier New" panose="02070309020205020404" pitchFamily="49" charset="0"/>
              </a:rPr>
              <a:t>H2O_GPIO_INIT(a,b,c,d,e,f,g,h,i,j,k)</a:t>
            </a:r>
            <a:r>
              <a:rPr lang="pt-BR" altLang="zh-TW" sz="1600" b="1" dirty="0">
                <a:latin typeface="Courier New" panose="02070309020205020404" pitchFamily="49" charset="0"/>
              </a:rPr>
              <a:t> {</a:t>
            </a:r>
            <a:r>
              <a:rPr lang="pt-BR" altLang="zh-TW" sz="1600" b="1" dirty="0">
                <a:solidFill>
                  <a:srgbClr val="00B0F0"/>
                </a:solidFill>
                <a:latin typeface="Courier New" panose="02070309020205020404" pitchFamily="49" charset="0"/>
              </a:rPr>
              <a:t>a</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b</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c</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d</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e</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f</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g</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h</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i</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j</a:t>
            </a:r>
            <a:r>
              <a:rPr lang="pt-BR" altLang="zh-TW" sz="1600" b="1" dirty="0">
                <a:latin typeface="Courier New" panose="02070309020205020404" pitchFamily="49" charset="0"/>
              </a:rPr>
              <a:t>,</a:t>
            </a:r>
            <a:r>
              <a:rPr lang="pt-BR" altLang="zh-TW" sz="1600" b="1" dirty="0">
                <a:solidFill>
                  <a:srgbClr val="00B0F0"/>
                </a:solidFill>
                <a:latin typeface="Courier New" panose="02070309020205020404" pitchFamily="49" charset="0"/>
              </a:rPr>
              <a:t>k</a:t>
            </a:r>
            <a:r>
              <a:rPr lang="pt-BR" altLang="zh-TW" sz="1600" b="1" dirty="0">
                <a:latin typeface="Courier New" panose="02070309020205020404" pitchFamily="49" charset="0"/>
              </a:rPr>
              <a:t>}</a:t>
            </a:r>
          </a:p>
          <a:p>
            <a:pPr marL="457200" lvl="1" indent="0">
              <a:buNone/>
            </a:pPr>
            <a:endParaRPr lang="en-US" altLang="zh-TW" sz="2000" dirty="0"/>
          </a:p>
          <a:p>
            <a:r>
              <a:rPr lang="en-US" altLang="zh-TW" sz="2000" dirty="0"/>
              <a:t>Defines </a:t>
            </a:r>
            <a:r>
              <a:rPr lang="en-US" altLang="zh-TW" sz="2000" b="1" dirty="0">
                <a:solidFill>
                  <a:srgbClr val="FF0000"/>
                </a:solidFill>
                <a:latin typeface="Courier New" panose="02070309020205020404" pitchFamily="49" charset="0"/>
              </a:rPr>
              <a:t>H2O_GET_BOARD_GPIO</a:t>
            </a:r>
            <a:r>
              <a:rPr lang="en-US" altLang="zh-TW" sz="2000" dirty="0"/>
              <a:t> macro that verifies that the board is supported and currently executing.</a:t>
            </a:r>
          </a:p>
        </p:txBody>
      </p:sp>
    </p:spTree>
    <p:extLst>
      <p:ext uri="{BB962C8B-B14F-4D97-AF65-F5344CB8AC3E}">
        <p14:creationId xmlns:p14="http://schemas.microsoft.com/office/powerpoint/2010/main" val="2024581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519013-AB54-4423-9B8D-9AE07B6E9311}"/>
              </a:ext>
            </a:extLst>
          </p:cNvPr>
          <p:cNvSpPr>
            <a:spLocks noGrp="1"/>
          </p:cNvSpPr>
          <p:nvPr>
            <p:ph type="title"/>
          </p:nvPr>
        </p:nvSpPr>
        <p:spPr/>
        <p:txBody>
          <a:bodyPr/>
          <a:lstStyle/>
          <a:p>
            <a:r>
              <a:rPr lang="en-US" altLang="zh-TW" dirty="0"/>
              <a:t>Overview - UBA</a:t>
            </a:r>
            <a:endParaRPr lang="zh-TW" altLang="en-US" dirty="0"/>
          </a:p>
        </p:txBody>
      </p:sp>
      <p:sp>
        <p:nvSpPr>
          <p:cNvPr id="3" name="內容版面配置區 2">
            <a:extLst>
              <a:ext uri="{FF2B5EF4-FFF2-40B4-BE49-F238E27FC236}">
                <a16:creationId xmlns:a16="http://schemas.microsoft.com/office/drawing/2014/main" id="{4337B654-7EEF-4D91-A2BE-4FA7421B432F}"/>
              </a:ext>
            </a:extLst>
          </p:cNvPr>
          <p:cNvSpPr>
            <a:spLocks noGrp="1"/>
          </p:cNvSpPr>
          <p:nvPr>
            <p:ph idx="1"/>
          </p:nvPr>
        </p:nvSpPr>
        <p:spPr>
          <a:xfrm>
            <a:off x="838200" y="1398494"/>
            <a:ext cx="9813324" cy="4778469"/>
          </a:xfrm>
        </p:spPr>
        <p:txBody>
          <a:bodyPr>
            <a:normAutofit/>
          </a:bodyPr>
          <a:lstStyle/>
          <a:p>
            <a:pPr marL="228600" indent="-226440">
              <a:lnSpc>
                <a:spcPct val="90000"/>
              </a:lnSpc>
              <a:spcBef>
                <a:spcPts val="1001"/>
              </a:spcBef>
              <a:buClr>
                <a:srgbClr val="3F3F3F"/>
              </a:buClr>
              <a:buFont typeface="Arial"/>
              <a:buChar char="•"/>
            </a:pPr>
            <a:r>
              <a:rPr lang="en-US" altLang="zh-TW" sz="2000" b="0" strike="noStrike" spc="-1" dirty="0">
                <a:solidFill>
                  <a:srgbClr val="3F3F3F"/>
                </a:solidFill>
                <a:ea typeface="DejaVu Sans"/>
              </a:rPr>
              <a:t>The Unified Board Abstraction (UBA) contains the common support for Unified Board Interface that can be shared by multiple boards.</a:t>
            </a:r>
            <a:endParaRPr lang="en-US" altLang="zh-TW" sz="2000" b="0" strike="noStrike" spc="-1" dirty="0"/>
          </a:p>
          <a:p>
            <a:pPr marL="228600" indent="-226440">
              <a:lnSpc>
                <a:spcPct val="90000"/>
              </a:lnSpc>
              <a:spcBef>
                <a:spcPts val="1001"/>
              </a:spcBef>
              <a:buClr>
                <a:srgbClr val="3F3F3F"/>
              </a:buClr>
              <a:buFont typeface="Arial"/>
              <a:buChar char="•"/>
            </a:pPr>
            <a:r>
              <a:rPr lang="en-US" altLang="zh-TW" sz="2000" b="0" strike="noStrike" spc="-1" dirty="0">
                <a:solidFill>
                  <a:srgbClr val="3F3F3F"/>
                </a:solidFill>
                <a:ea typeface="DejaVu Sans"/>
              </a:rPr>
              <a:t>UBA is a database, that contains specific configurations (GPIO…) for different boards in the same BIOS. </a:t>
            </a:r>
            <a:endParaRPr lang="en-US" altLang="zh-TW" sz="2000" b="0" strike="noStrike" spc="-1" dirty="0"/>
          </a:p>
          <a:p>
            <a:pPr marL="228600" indent="-226440">
              <a:lnSpc>
                <a:spcPct val="90000"/>
              </a:lnSpc>
              <a:spcBef>
                <a:spcPts val="1001"/>
              </a:spcBef>
              <a:buClr>
                <a:srgbClr val="3F3F3F"/>
              </a:buClr>
              <a:buFont typeface="Arial"/>
              <a:buChar char="•"/>
            </a:pPr>
            <a:r>
              <a:rPr lang="en-US" altLang="zh-TW" sz="2000" b="0" strike="noStrike" spc="-1" dirty="0">
                <a:solidFill>
                  <a:srgbClr val="3F3F3F"/>
                </a:solidFill>
                <a:ea typeface="DejaVu Sans"/>
              </a:rPr>
              <a:t>Edit it in the C source file directly.</a:t>
            </a:r>
          </a:p>
          <a:p>
            <a:pPr marL="228600" indent="-226440">
              <a:lnSpc>
                <a:spcPct val="90000"/>
              </a:lnSpc>
              <a:spcBef>
                <a:spcPts val="1001"/>
              </a:spcBef>
              <a:buClr>
                <a:srgbClr val="3F3F3F"/>
              </a:buClr>
              <a:buFont typeface="Arial"/>
              <a:buChar char="•"/>
            </a:pPr>
            <a:endParaRPr lang="en-US" altLang="zh-TW" sz="2000" spc="-1" dirty="0">
              <a:solidFill>
                <a:srgbClr val="3F3F3F"/>
              </a:solidFill>
            </a:endParaRPr>
          </a:p>
          <a:p>
            <a:pPr marL="228600" indent="-226440">
              <a:lnSpc>
                <a:spcPct val="90000"/>
              </a:lnSpc>
              <a:spcBef>
                <a:spcPts val="1001"/>
              </a:spcBef>
              <a:buClr>
                <a:srgbClr val="3F3F3F"/>
              </a:buClr>
              <a:buFont typeface="Arial"/>
              <a:buChar char="•"/>
            </a:pPr>
            <a:endParaRPr lang="en-US" altLang="zh-TW" sz="2000" b="0" strike="noStrike" spc="-1" dirty="0"/>
          </a:p>
        </p:txBody>
      </p:sp>
      <p:pic>
        <p:nvPicPr>
          <p:cNvPr id="5" name="圖片 4">
            <a:extLst>
              <a:ext uri="{FF2B5EF4-FFF2-40B4-BE49-F238E27FC236}">
                <a16:creationId xmlns:a16="http://schemas.microsoft.com/office/drawing/2014/main" id="{988ECD9A-6577-4A89-9910-E19A109E8D17}"/>
              </a:ext>
            </a:extLst>
          </p:cNvPr>
          <p:cNvPicPr>
            <a:picLocks noChangeAspect="1"/>
          </p:cNvPicPr>
          <p:nvPr/>
        </p:nvPicPr>
        <p:blipFill>
          <a:blip r:embed="rId2"/>
          <a:stretch>
            <a:fillRect/>
          </a:stretch>
        </p:blipFill>
        <p:spPr>
          <a:xfrm>
            <a:off x="1199192" y="3182247"/>
            <a:ext cx="9091339" cy="2869612"/>
          </a:xfrm>
          <a:prstGeom prst="rect">
            <a:avLst/>
          </a:prstGeom>
        </p:spPr>
      </p:pic>
    </p:spTree>
    <p:extLst>
      <p:ext uri="{BB962C8B-B14F-4D97-AF65-F5344CB8AC3E}">
        <p14:creationId xmlns:p14="http://schemas.microsoft.com/office/powerpoint/2010/main" val="2092372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E459A9-CB06-470A-ABA9-DB5547417735}"/>
              </a:ext>
            </a:extLst>
          </p:cNvPr>
          <p:cNvSpPr>
            <a:spLocks noGrp="1"/>
          </p:cNvSpPr>
          <p:nvPr>
            <p:ph type="title"/>
          </p:nvPr>
        </p:nvSpPr>
        <p:spPr/>
        <p:txBody>
          <a:bodyPr/>
          <a:lstStyle/>
          <a:p>
            <a:r>
              <a:rPr lang="en-US" altLang="zh-TW" dirty="0"/>
              <a:t>GPIO Structure Define</a:t>
            </a:r>
            <a:endParaRPr lang="zh-TW" altLang="en-US" dirty="0"/>
          </a:p>
        </p:txBody>
      </p:sp>
      <p:pic>
        <p:nvPicPr>
          <p:cNvPr id="4" name="內容版面配置區 3">
            <a:extLst>
              <a:ext uri="{FF2B5EF4-FFF2-40B4-BE49-F238E27FC236}">
                <a16:creationId xmlns:a16="http://schemas.microsoft.com/office/drawing/2014/main" id="{046917EE-1A63-4DC1-8246-1606F608BB2D}"/>
              </a:ext>
            </a:extLst>
          </p:cNvPr>
          <p:cNvPicPr>
            <a:picLocks noGrp="1" noChangeAspect="1"/>
          </p:cNvPicPr>
          <p:nvPr>
            <p:ph idx="1"/>
          </p:nvPr>
        </p:nvPicPr>
        <p:blipFill>
          <a:blip r:embed="rId2"/>
          <a:stretch>
            <a:fillRect/>
          </a:stretch>
        </p:blipFill>
        <p:spPr>
          <a:xfrm>
            <a:off x="6323855" y="240465"/>
            <a:ext cx="5609526" cy="6058735"/>
          </a:xfrm>
          <a:prstGeom prst="rect">
            <a:avLst/>
          </a:prstGeom>
        </p:spPr>
      </p:pic>
      <p:pic>
        <p:nvPicPr>
          <p:cNvPr id="5" name="圖片 4">
            <a:extLst>
              <a:ext uri="{FF2B5EF4-FFF2-40B4-BE49-F238E27FC236}">
                <a16:creationId xmlns:a16="http://schemas.microsoft.com/office/drawing/2014/main" id="{841A293D-9C57-4D18-95F2-22512C768AC4}"/>
              </a:ext>
            </a:extLst>
          </p:cNvPr>
          <p:cNvPicPr>
            <a:picLocks noChangeAspect="1"/>
          </p:cNvPicPr>
          <p:nvPr/>
        </p:nvPicPr>
        <p:blipFill>
          <a:blip r:embed="rId3"/>
          <a:stretch>
            <a:fillRect/>
          </a:stretch>
        </p:blipFill>
        <p:spPr>
          <a:xfrm>
            <a:off x="1482266" y="3235341"/>
            <a:ext cx="2834886" cy="701101"/>
          </a:xfrm>
          <a:prstGeom prst="rect">
            <a:avLst/>
          </a:prstGeom>
        </p:spPr>
      </p:pic>
      <p:pic>
        <p:nvPicPr>
          <p:cNvPr id="7" name="圖片 6">
            <a:extLst>
              <a:ext uri="{FF2B5EF4-FFF2-40B4-BE49-F238E27FC236}">
                <a16:creationId xmlns:a16="http://schemas.microsoft.com/office/drawing/2014/main" id="{07218637-D640-442B-A6DB-07E17684240C}"/>
              </a:ext>
            </a:extLst>
          </p:cNvPr>
          <p:cNvPicPr>
            <a:picLocks noChangeAspect="1"/>
          </p:cNvPicPr>
          <p:nvPr/>
        </p:nvPicPr>
        <p:blipFill>
          <a:blip r:embed="rId4"/>
          <a:stretch>
            <a:fillRect/>
          </a:stretch>
        </p:blipFill>
        <p:spPr>
          <a:xfrm>
            <a:off x="708956" y="1580701"/>
            <a:ext cx="4557155" cy="701101"/>
          </a:xfrm>
          <a:prstGeom prst="rect">
            <a:avLst/>
          </a:prstGeom>
        </p:spPr>
      </p:pic>
      <p:cxnSp>
        <p:nvCxnSpPr>
          <p:cNvPr id="9" name="直線接點 8">
            <a:extLst>
              <a:ext uri="{FF2B5EF4-FFF2-40B4-BE49-F238E27FC236}">
                <a16:creationId xmlns:a16="http://schemas.microsoft.com/office/drawing/2014/main" id="{17FD5A98-37EE-4E68-AE77-F2127BD1B5EB}"/>
              </a:ext>
            </a:extLst>
          </p:cNvPr>
          <p:cNvCxnSpPr>
            <a:cxnSpLocks/>
          </p:cNvCxnSpPr>
          <p:nvPr/>
        </p:nvCxnSpPr>
        <p:spPr>
          <a:xfrm flipH="1">
            <a:off x="383740" y="3503141"/>
            <a:ext cx="1291906"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2" name="接點: 肘形 11">
            <a:extLst>
              <a:ext uri="{FF2B5EF4-FFF2-40B4-BE49-F238E27FC236}">
                <a16:creationId xmlns:a16="http://schemas.microsoft.com/office/drawing/2014/main" id="{C6B73870-89A0-485E-A0ED-69D18FE53A9C}"/>
              </a:ext>
            </a:extLst>
          </p:cNvPr>
          <p:cNvCxnSpPr>
            <a:cxnSpLocks/>
          </p:cNvCxnSpPr>
          <p:nvPr/>
        </p:nvCxnSpPr>
        <p:spPr>
          <a:xfrm rot="5400000" flipH="1" flipV="1">
            <a:off x="-111649" y="2682536"/>
            <a:ext cx="1315996" cy="325217"/>
          </a:xfrm>
          <a:prstGeom prst="bentConnector3">
            <a:avLst>
              <a:gd name="adj1" fmla="val 99765"/>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2A54A6B6-925D-4479-BB9B-820FF6C66F1D}"/>
              </a:ext>
            </a:extLst>
          </p:cNvPr>
          <p:cNvCxnSpPr>
            <a:cxnSpLocks/>
          </p:cNvCxnSpPr>
          <p:nvPr/>
        </p:nvCxnSpPr>
        <p:spPr>
          <a:xfrm flipV="1">
            <a:off x="4317152" y="3693856"/>
            <a:ext cx="1526040"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接點: 肘形 21">
            <a:extLst>
              <a:ext uri="{FF2B5EF4-FFF2-40B4-BE49-F238E27FC236}">
                <a16:creationId xmlns:a16="http://schemas.microsoft.com/office/drawing/2014/main" id="{2AB338C3-C600-4128-8D5E-550CC040497C}"/>
              </a:ext>
            </a:extLst>
          </p:cNvPr>
          <p:cNvCxnSpPr>
            <a:cxnSpLocks/>
          </p:cNvCxnSpPr>
          <p:nvPr/>
        </p:nvCxnSpPr>
        <p:spPr>
          <a:xfrm rot="16200000" flipH="1">
            <a:off x="4822330" y="4714717"/>
            <a:ext cx="2522388" cy="480665"/>
          </a:xfrm>
          <a:prstGeom prst="bentConnector3">
            <a:avLst>
              <a:gd name="adj1" fmla="val 10021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921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FB9E5D-949E-4DF9-90B6-2CFB70F9ACEE}"/>
              </a:ext>
            </a:extLst>
          </p:cNvPr>
          <p:cNvSpPr>
            <a:spLocks noGrp="1"/>
          </p:cNvSpPr>
          <p:nvPr>
            <p:ph type="title"/>
          </p:nvPr>
        </p:nvSpPr>
        <p:spPr/>
        <p:txBody>
          <a:bodyPr/>
          <a:lstStyle/>
          <a:p>
            <a:r>
              <a:rPr lang="en-US" altLang="zh-TW" dirty="0"/>
              <a:t>Programming GPIOs</a:t>
            </a:r>
            <a:endParaRPr lang="zh-TW" altLang="en-US" dirty="0"/>
          </a:p>
        </p:txBody>
      </p:sp>
      <p:sp>
        <p:nvSpPr>
          <p:cNvPr id="3" name="內容版面配置區 2">
            <a:extLst>
              <a:ext uri="{FF2B5EF4-FFF2-40B4-BE49-F238E27FC236}">
                <a16:creationId xmlns:a16="http://schemas.microsoft.com/office/drawing/2014/main" id="{9B7D5EF2-0A4C-4FC8-8980-385F2355A66F}"/>
              </a:ext>
            </a:extLst>
          </p:cNvPr>
          <p:cNvSpPr>
            <a:spLocks noGrp="1"/>
          </p:cNvSpPr>
          <p:nvPr>
            <p:ph idx="1"/>
          </p:nvPr>
        </p:nvSpPr>
        <p:spPr/>
        <p:txBody>
          <a:bodyPr>
            <a:normAutofit/>
          </a:bodyPr>
          <a:lstStyle/>
          <a:p>
            <a:r>
              <a:rPr lang="en-US" altLang="zh-TW" sz="2400" dirty="0" err="1"/>
              <a:t>Insyde</a:t>
            </a:r>
            <a:r>
              <a:rPr lang="en-US" altLang="zh-TW" sz="2400" dirty="0"/>
              <a:t> chipset package produces driver </a:t>
            </a:r>
            <a:r>
              <a:rPr lang="en-US" altLang="zh-TW" sz="2400" dirty="0" err="1"/>
              <a:t>ProgramGpioPei</a:t>
            </a:r>
            <a:endParaRPr lang="en-US" altLang="zh-TW" sz="2400" dirty="0"/>
          </a:p>
          <a:p>
            <a:endParaRPr lang="en-US" altLang="zh-TW" sz="2400" dirty="0"/>
          </a:p>
          <a:p>
            <a:r>
              <a:rPr lang="en-US" altLang="zh-TW" sz="2400" dirty="0"/>
              <a:t>Loop through all GPIOs in the configuration.</a:t>
            </a:r>
          </a:p>
          <a:p>
            <a:pPr lvl="1"/>
            <a:r>
              <a:rPr lang="en-US" altLang="zh-TW" sz="2000" dirty="0"/>
              <a:t>There are two methods to statically program GPIO</a:t>
            </a:r>
          </a:p>
          <a:p>
            <a:pPr marL="1371600" lvl="2" indent="-457200">
              <a:buFont typeface="+mj-lt"/>
              <a:buAutoNum type="arabicPeriod"/>
            </a:pPr>
            <a:r>
              <a:rPr lang="en-US" altLang="zh-TW" sz="1600" dirty="0"/>
              <a:t>Use </a:t>
            </a:r>
            <a:r>
              <a:rPr lang="en-US" altLang="zh-TW" sz="1600" dirty="0" err="1"/>
              <a:t>GetGpioCfg</a:t>
            </a:r>
            <a:r>
              <a:rPr lang="en-US" altLang="zh-TW" sz="1600" dirty="0"/>
              <a:t>() in to get GPIO configuration (PCD way)</a:t>
            </a:r>
            <a:endParaRPr lang="en-US" altLang="zh-TW" sz="1400" dirty="0"/>
          </a:p>
          <a:p>
            <a:pPr lvl="3"/>
            <a:r>
              <a:rPr lang="en-US" altLang="zh-TW" sz="1400" dirty="0"/>
              <a:t>Handle PCD-controlled chipset feature updates to GPIOs.</a:t>
            </a:r>
          </a:p>
          <a:p>
            <a:pPr lvl="3"/>
            <a:r>
              <a:rPr lang="en-US" altLang="zh-TW" sz="1400" dirty="0"/>
              <a:t>Call </a:t>
            </a:r>
            <a:r>
              <a:rPr lang="en-US" altLang="zh-TW" sz="1400" dirty="0" err="1"/>
              <a:t>OemSvcGetGpioTable</a:t>
            </a:r>
            <a:r>
              <a:rPr lang="en-US" altLang="zh-TW" sz="1400" dirty="0"/>
              <a:t>() to get the GPIO setting.</a:t>
            </a:r>
          </a:p>
          <a:p>
            <a:pPr marL="1371600" lvl="2" indent="-457200">
              <a:buFont typeface="+mj-lt"/>
              <a:buAutoNum type="arabicPeriod"/>
            </a:pPr>
            <a:r>
              <a:rPr lang="en-US" altLang="zh-TW" sz="1600" dirty="0"/>
              <a:t>Use </a:t>
            </a:r>
            <a:r>
              <a:rPr lang="en-US" altLang="zh-TW" sz="1600" dirty="0" err="1"/>
              <a:t>UbaConfigDataBasePpi</a:t>
            </a:r>
            <a:r>
              <a:rPr lang="en-US" altLang="zh-TW" sz="1600" dirty="0"/>
              <a:t>-&gt; </a:t>
            </a:r>
            <a:r>
              <a:rPr lang="en-US" altLang="zh-TW" sz="1600" dirty="0" err="1"/>
              <a:t>GetData</a:t>
            </a:r>
            <a:r>
              <a:rPr lang="en-US" altLang="zh-TW" sz="1600" dirty="0"/>
              <a:t>() to get GPIO configuration (Uba way)</a:t>
            </a:r>
            <a:endParaRPr lang="en-US" altLang="zh-TW" dirty="0"/>
          </a:p>
          <a:p>
            <a:pPr lvl="4"/>
            <a:endParaRPr lang="en-US" altLang="zh-TW" sz="1400" dirty="0"/>
          </a:p>
          <a:p>
            <a:pPr lvl="1"/>
            <a:r>
              <a:rPr lang="en-US" altLang="zh-TW" sz="2000" dirty="0"/>
              <a:t>Call </a:t>
            </a:r>
            <a:r>
              <a:rPr lang="en-US" altLang="zh-TW" sz="2000" dirty="0" err="1"/>
              <a:t>OemSvcModifyGpioSettingTable</a:t>
            </a:r>
            <a:r>
              <a:rPr lang="en-US" altLang="zh-TW" sz="2000" dirty="0"/>
              <a:t> to dynamically modify the GPIO</a:t>
            </a:r>
            <a:r>
              <a:rPr lang="zh-TW" altLang="en-US" sz="2000" dirty="0"/>
              <a:t> </a:t>
            </a:r>
            <a:r>
              <a:rPr lang="en-US" altLang="zh-TW" sz="2000" dirty="0"/>
              <a:t>setting.</a:t>
            </a:r>
          </a:p>
          <a:p>
            <a:pPr lvl="1"/>
            <a:endParaRPr lang="en-US" altLang="zh-TW" sz="2000" dirty="0"/>
          </a:p>
          <a:p>
            <a:pPr lvl="1"/>
            <a:r>
              <a:rPr lang="en-US" altLang="zh-TW" sz="2000" dirty="0"/>
              <a:t>Call </a:t>
            </a:r>
            <a:r>
              <a:rPr lang="en-US" altLang="zh-TW" sz="2000" dirty="0" err="1"/>
              <a:t>GpioConfigurePads</a:t>
            </a:r>
            <a:r>
              <a:rPr lang="en-US" altLang="zh-TW" sz="2000" dirty="0"/>
              <a:t>() to initialize the GPIO pins.</a:t>
            </a:r>
          </a:p>
          <a:p>
            <a:pPr lvl="2"/>
            <a:endParaRPr lang="en-US" altLang="zh-TW" sz="1600" dirty="0"/>
          </a:p>
        </p:txBody>
      </p:sp>
    </p:spTree>
    <p:extLst>
      <p:ext uri="{BB962C8B-B14F-4D97-AF65-F5344CB8AC3E}">
        <p14:creationId xmlns:p14="http://schemas.microsoft.com/office/powerpoint/2010/main" val="149397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15</a:t>
            </a:fld>
            <a:endParaRPr lang="en-US" dirty="0"/>
          </a:p>
        </p:txBody>
      </p:sp>
      <p:sp>
        <p:nvSpPr>
          <p:cNvPr id="2" name="Title 1"/>
          <p:cNvSpPr>
            <a:spLocks noGrp="1"/>
          </p:cNvSpPr>
          <p:nvPr>
            <p:ph type="title"/>
          </p:nvPr>
        </p:nvSpPr>
        <p:spPr/>
        <p:txBody>
          <a:bodyPr/>
          <a:lstStyle/>
          <a:p>
            <a:r>
              <a:rPr lang="en-US" dirty="0"/>
              <a:t>Related Files</a:t>
            </a:r>
          </a:p>
        </p:txBody>
      </p:sp>
    </p:spTree>
    <p:extLst>
      <p:ext uri="{BB962C8B-B14F-4D97-AF65-F5344CB8AC3E}">
        <p14:creationId xmlns:p14="http://schemas.microsoft.com/office/powerpoint/2010/main" val="1614986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98666" cy="4778469"/>
          </a:xfrm>
        </p:spPr>
        <p:txBody>
          <a:bodyPr>
            <a:normAutofit/>
          </a:bodyPr>
          <a:lstStyle/>
          <a:p>
            <a:r>
              <a:rPr lang="en-US" altLang="zh-TW" sz="2000" dirty="0"/>
              <a:t>Intel/</a:t>
            </a:r>
            <a:r>
              <a:rPr lang="en-US" altLang="zh-TW" sz="2000" dirty="0" err="1"/>
              <a:t>EagleStream</a:t>
            </a:r>
            <a:r>
              <a:rPr lang="en-US" altLang="zh-TW" sz="2000" dirty="0"/>
              <a:t>/$(CHIPSET_PKG)/Include/</a:t>
            </a:r>
            <a:r>
              <a:rPr lang="en-US" altLang="zh-TW" sz="2000" dirty="0" err="1">
                <a:solidFill>
                  <a:srgbClr val="3333CC"/>
                </a:solidFill>
              </a:rPr>
              <a:t>ChipsetGpio.h</a:t>
            </a:r>
            <a:endParaRPr lang="en-US" altLang="zh-TW" sz="2000" dirty="0">
              <a:solidFill>
                <a:srgbClr val="3333CC"/>
              </a:solidFill>
            </a:endParaRPr>
          </a:p>
          <a:p>
            <a:r>
              <a:rPr lang="en-US" altLang="zh-TW" sz="2000" dirty="0"/>
              <a:t>Intel/</a:t>
            </a:r>
            <a:r>
              <a:rPr lang="en-US" altLang="zh-TW" sz="2000" dirty="0" err="1"/>
              <a:t>EagleStream</a:t>
            </a:r>
            <a:r>
              <a:rPr lang="en-US" altLang="zh-TW" sz="2000" dirty="0"/>
              <a:t>/</a:t>
            </a:r>
            <a:r>
              <a:rPr lang="en-US" altLang="zh-TW" sz="2000" dirty="0" err="1"/>
              <a:t>ClientOneSiliconPkg</a:t>
            </a:r>
            <a:r>
              <a:rPr lang="en-US" altLang="zh-TW" sz="2000" dirty="0"/>
              <a:t>/Include/Library/</a:t>
            </a:r>
            <a:r>
              <a:rPr lang="en-US" altLang="zh-TW" sz="2000" dirty="0" err="1">
                <a:solidFill>
                  <a:srgbClr val="3333CC"/>
                </a:solidFill>
              </a:rPr>
              <a:t>GpioLib.h</a:t>
            </a:r>
            <a:endParaRPr lang="en-US" altLang="zh-TW" sz="2000" dirty="0">
              <a:solidFill>
                <a:srgbClr val="3333CC"/>
              </a:solidFill>
            </a:endParaRPr>
          </a:p>
          <a:p>
            <a:r>
              <a:rPr lang="en-US" altLang="zh-TW" sz="2000" dirty="0"/>
              <a:t>Intel/</a:t>
            </a:r>
            <a:r>
              <a:rPr lang="en-US" altLang="zh-TW" sz="2000" dirty="0" err="1"/>
              <a:t>EagleStream</a:t>
            </a:r>
            <a:r>
              <a:rPr lang="en-US" altLang="zh-TW" sz="2000" dirty="0"/>
              <a:t>/</a:t>
            </a:r>
            <a:r>
              <a:rPr lang="en-US" altLang="zh-TW" sz="2000" dirty="0" err="1"/>
              <a:t>ClientOneSiliconPkg</a:t>
            </a:r>
            <a:r>
              <a:rPr lang="en-US" altLang="zh-TW" sz="2000" dirty="0"/>
              <a:t>/Include/Library/</a:t>
            </a:r>
            <a:r>
              <a:rPr lang="en-US" altLang="zh-TW" sz="2000" dirty="0" err="1">
                <a:solidFill>
                  <a:srgbClr val="3333CC"/>
                </a:solidFill>
              </a:rPr>
              <a:t>GpioConfig.h</a:t>
            </a:r>
            <a:endParaRPr lang="en-US" altLang="zh-TW" sz="2000" dirty="0">
              <a:solidFill>
                <a:srgbClr val="3333CC"/>
              </a:solidFill>
            </a:endParaRPr>
          </a:p>
          <a:p>
            <a:pPr indent="-228240">
              <a:lnSpc>
                <a:spcPct val="100000"/>
              </a:lnSpc>
              <a:buClr>
                <a:srgbClr val="FF0000"/>
              </a:buClr>
              <a:buFont typeface="Arial"/>
              <a:buChar char="•"/>
            </a:pPr>
            <a:r>
              <a:rPr lang="en-US" altLang="zh-TW" sz="2000" spc="-1" dirty="0">
                <a:solidFill>
                  <a:srgbClr val="FF0000"/>
                </a:solidFill>
                <a:uFill>
                  <a:solidFill>
                    <a:srgbClr val="FFFFFF"/>
                  </a:solidFill>
                </a:uFill>
              </a:rPr>
              <a:t>Board/Intel/$(PROJECT_PKG)/</a:t>
            </a:r>
            <a:r>
              <a:rPr lang="en-US" altLang="zh-TW" sz="2000" spc="-1" dirty="0" err="1">
                <a:solidFill>
                  <a:srgbClr val="FF0000"/>
                </a:solidFill>
                <a:uFill>
                  <a:solidFill>
                    <a:srgbClr val="FFFFFF"/>
                  </a:solidFill>
                </a:uFill>
              </a:rPr>
              <a:t>Project.dsc</a:t>
            </a:r>
            <a:endParaRPr lang="en-US" altLang="zh-TW" sz="2000" spc="-1" dirty="0">
              <a:solidFill>
                <a:srgbClr val="FF0000"/>
              </a:solidFill>
              <a:uFill>
                <a:solidFill>
                  <a:srgbClr val="FFFFFF"/>
                </a:solidFill>
              </a:uFill>
            </a:endParaRPr>
          </a:p>
          <a:p>
            <a:r>
              <a:rPr lang="en-US" altLang="zh-TW" sz="2000" spc="-1" dirty="0">
                <a:solidFill>
                  <a:srgbClr val="FF0000"/>
                </a:solidFill>
                <a:uFill>
                  <a:solidFill>
                    <a:srgbClr val="FFFFFF"/>
                  </a:solidFill>
                </a:uFill>
              </a:rPr>
              <a:t>Board/Intel/</a:t>
            </a:r>
            <a:r>
              <a:rPr lang="en-US" altLang="zh-TW" sz="2000" dirty="0">
                <a:solidFill>
                  <a:srgbClr val="FF0000"/>
                </a:solidFill>
              </a:rPr>
              <a:t>$(PROJECT_PKG)/Library/</a:t>
            </a:r>
            <a:r>
              <a:rPr lang="en-US" altLang="zh-TW" sz="2000" dirty="0" err="1">
                <a:solidFill>
                  <a:srgbClr val="FF0000"/>
                </a:solidFill>
              </a:rPr>
              <a:t>GpioCfgLib</a:t>
            </a:r>
            <a:r>
              <a:rPr lang="en-US" altLang="zh-TW" sz="2000" dirty="0">
                <a:solidFill>
                  <a:srgbClr val="FF0000"/>
                </a:solidFill>
              </a:rPr>
              <a:t>/GpioCfgLib.inf</a:t>
            </a:r>
          </a:p>
          <a:p>
            <a:r>
              <a:rPr lang="en-US" altLang="zh-TW" sz="2000" dirty="0"/>
              <a:t>Intel/</a:t>
            </a:r>
            <a:r>
              <a:rPr lang="en-US" altLang="zh-TW" sz="2000" dirty="0" err="1"/>
              <a:t>EagleStream</a:t>
            </a:r>
            <a:r>
              <a:rPr lang="en-US" altLang="zh-TW" sz="2000" dirty="0"/>
              <a:t>/$(CHIPSET_PKG)/</a:t>
            </a:r>
            <a:r>
              <a:rPr lang="en-US" altLang="zh-TW" sz="2000" dirty="0" err="1"/>
              <a:t>ProgramGpioPei</a:t>
            </a:r>
            <a:r>
              <a:rPr lang="en-US" altLang="zh-TW" sz="2000" dirty="0"/>
              <a:t>/</a:t>
            </a:r>
            <a:r>
              <a:rPr lang="en-US" altLang="zh-TW" sz="2000" dirty="0">
                <a:solidFill>
                  <a:srgbClr val="3333CC"/>
                </a:solidFill>
              </a:rPr>
              <a:t>ProgramGpioPei.inf</a:t>
            </a:r>
            <a:endParaRPr lang="en-US" altLang="zh-TW" sz="2000" dirty="0">
              <a:solidFill>
                <a:srgbClr val="FF0000"/>
              </a:solidFill>
            </a:endParaRPr>
          </a:p>
          <a:p>
            <a:r>
              <a:rPr lang="en-US" altLang="zh-TW" sz="2000" dirty="0"/>
              <a:t>Intel/</a:t>
            </a:r>
            <a:r>
              <a:rPr lang="en-US" altLang="zh-TW" sz="2000" dirty="0" err="1"/>
              <a:t>EagleStream</a:t>
            </a:r>
            <a:r>
              <a:rPr lang="en-US" altLang="zh-TW" sz="2000" dirty="0"/>
              <a:t>/$(CHIPSET_PKG)/</a:t>
            </a:r>
            <a:r>
              <a:rPr lang="en-US" altLang="zh-TW" sz="2000" dirty="0" err="1"/>
              <a:t>ProgramGpioPei</a:t>
            </a:r>
            <a:r>
              <a:rPr lang="en-US" altLang="zh-TW" sz="2000" dirty="0"/>
              <a:t>/</a:t>
            </a:r>
            <a:r>
              <a:rPr lang="en-US" altLang="zh-TW" sz="2000" dirty="0" err="1">
                <a:solidFill>
                  <a:srgbClr val="3333CC"/>
                </a:solidFill>
              </a:rPr>
              <a:t>ProgramGpioPei.c</a:t>
            </a:r>
            <a:endParaRPr lang="en-US" altLang="zh-TW" sz="2000" spc="-1" dirty="0">
              <a:solidFill>
                <a:srgbClr val="FF0000"/>
              </a:solidFill>
              <a:uFill>
                <a:solidFill>
                  <a:srgbClr val="FFFFFF"/>
                </a:solidFill>
              </a:uFill>
            </a:endParaRPr>
          </a:p>
          <a:p>
            <a:r>
              <a:rPr lang="en-US" altLang="zh-TW" sz="2000" dirty="0">
                <a:solidFill>
                  <a:schemeClr val="tx2"/>
                </a:solidFill>
              </a:rPr>
              <a:t>Board/Intel/$(PROJECT_PKG)/Library/</a:t>
            </a:r>
            <a:r>
              <a:rPr lang="en-US" altLang="zh-TW" sz="2000" dirty="0" err="1">
                <a:solidFill>
                  <a:schemeClr val="tx2"/>
                </a:solidFill>
              </a:rPr>
              <a:t>PeiOemSvcChipsetLib</a:t>
            </a:r>
            <a:r>
              <a:rPr lang="en-US" altLang="zh-TW" sz="2000" dirty="0">
                <a:solidFill>
                  <a:schemeClr val="tx2"/>
                </a:solidFill>
              </a:rPr>
              <a:t>/</a:t>
            </a:r>
            <a:r>
              <a:rPr lang="en-US" altLang="zh-TW" sz="2000" dirty="0" err="1"/>
              <a:t>OemSvcGetGpioTable.c</a:t>
            </a:r>
            <a:endParaRPr lang="en-US" altLang="zh-TW" sz="2000" dirty="0">
              <a:solidFill>
                <a:srgbClr val="FF0000"/>
              </a:solidFill>
            </a:endParaRPr>
          </a:p>
          <a:p>
            <a:r>
              <a:rPr lang="en-US" altLang="zh-TW" sz="2000" dirty="0">
                <a:solidFill>
                  <a:schemeClr val="tx2"/>
                </a:solidFill>
              </a:rPr>
              <a:t>Board/Intel/$(PROJECT_PKG)/Library/</a:t>
            </a:r>
            <a:r>
              <a:rPr lang="en-US" altLang="zh-TW" sz="2000" dirty="0" err="1">
                <a:solidFill>
                  <a:schemeClr val="tx2"/>
                </a:solidFill>
              </a:rPr>
              <a:t>PeiOemSvcChipsetLib</a:t>
            </a:r>
            <a:r>
              <a:rPr lang="en-US" altLang="zh-TW" sz="2000" dirty="0">
                <a:solidFill>
                  <a:schemeClr val="tx2"/>
                </a:solidFill>
              </a:rPr>
              <a:t>/</a:t>
            </a:r>
            <a:r>
              <a:rPr lang="en-US" altLang="zh-TW" sz="2000" dirty="0" err="1">
                <a:solidFill>
                  <a:schemeClr val="tx2"/>
                </a:solidFill>
              </a:rPr>
              <a:t>OemSvcModifyGpioSettingTable.c</a:t>
            </a:r>
            <a:endParaRPr lang="en-US" altLang="zh-TW" sz="2000" dirty="0">
              <a:solidFill>
                <a:schemeClr val="tx2"/>
              </a:solidFill>
            </a:endParaRPr>
          </a:p>
          <a:p>
            <a:r>
              <a:rPr lang="en-US" altLang="zh-TW" sz="2000" spc="-1" dirty="0">
                <a:uFill>
                  <a:solidFill>
                    <a:srgbClr val="FFFFFF"/>
                  </a:solidFill>
                </a:uFill>
              </a:rPr>
              <a:t>Board/Intel/$(PROJECT_PKG)/Uba/</a:t>
            </a:r>
            <a:r>
              <a:rPr lang="en-US" altLang="zh-TW" sz="2000" spc="-1" dirty="0" err="1">
                <a:uFill>
                  <a:solidFill>
                    <a:srgbClr val="FFFFFF"/>
                  </a:solidFill>
                </a:uFill>
              </a:rPr>
              <a:t>UbaMain</a:t>
            </a:r>
            <a:r>
              <a:rPr lang="en-US" altLang="zh-TW" sz="2000" spc="-1" dirty="0">
                <a:uFill>
                  <a:solidFill>
                    <a:srgbClr val="FFFFFF"/>
                  </a:solidFill>
                </a:uFill>
              </a:rPr>
              <a:t>/$(BOARD_NAME)/Pei/</a:t>
            </a:r>
            <a:r>
              <a:rPr lang="en-US" altLang="zh-TW" sz="2000" spc="-1" dirty="0" err="1">
                <a:uFill>
                  <a:solidFill>
                    <a:srgbClr val="FFFFFF"/>
                  </a:solidFill>
                </a:uFill>
              </a:rPr>
              <a:t>GpioTable.c</a:t>
            </a:r>
            <a:endParaRPr lang="en-US" altLang="zh-TW" sz="2000" spc="-1" dirty="0">
              <a:uFill>
                <a:solidFill>
                  <a:srgbClr val="FFFFFF"/>
                </a:solidFill>
              </a:uFill>
            </a:endParaRPr>
          </a:p>
          <a:p>
            <a:endParaRPr lang="en-US" altLang="zh-TW" sz="2000" spc="-1" dirty="0">
              <a:uFill>
                <a:solidFill>
                  <a:srgbClr val="FFFFFF"/>
                </a:solidFill>
              </a:uFill>
            </a:endParaRPr>
          </a:p>
          <a:p>
            <a:pPr marL="360" indent="0">
              <a:lnSpc>
                <a:spcPct val="100000"/>
              </a:lnSpc>
              <a:buClr>
                <a:srgbClr val="FF0000"/>
              </a:buClr>
              <a:buNone/>
            </a:pPr>
            <a:endParaRPr lang="en-US" altLang="zh-TW" sz="2000" spc="-1" dirty="0">
              <a:uFill>
                <a:solidFill>
                  <a:srgbClr val="FFFFFF"/>
                </a:solidFill>
              </a:uFill>
            </a:endParaRPr>
          </a:p>
        </p:txBody>
      </p:sp>
    </p:spTree>
    <p:extLst>
      <p:ext uri="{BB962C8B-B14F-4D97-AF65-F5344CB8AC3E}">
        <p14:creationId xmlns:p14="http://schemas.microsoft.com/office/powerpoint/2010/main" val="3400971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ChipsetGpio.h</a:t>
            </a:r>
            <a:r>
              <a:rPr lang="en-US" altLang="zh-TW" dirty="0"/>
              <a:t> (PCD way)</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a:xfrm>
            <a:off x="753358" y="1316230"/>
            <a:ext cx="10515600" cy="4778469"/>
          </a:xfrm>
        </p:spPr>
        <p:txBody>
          <a:bodyPr/>
          <a:lstStyle/>
          <a:p>
            <a:r>
              <a:rPr lang="en-US" altLang="zh-TW" sz="2400" dirty="0"/>
              <a:t>Provide to Chipset to define GPIO function</a:t>
            </a:r>
          </a:p>
          <a:p>
            <a:pPr marL="457200" lvl="1" indent="0">
              <a:lnSpc>
                <a:spcPct val="100000"/>
              </a:lnSpc>
              <a:spcBef>
                <a:spcPts val="0"/>
              </a:spcBef>
              <a:buNone/>
            </a:pPr>
            <a:r>
              <a:rPr lang="en-US" altLang="zh-TW" sz="1600" dirty="0">
                <a:solidFill>
                  <a:srgbClr val="0070C0"/>
                </a:solidFill>
              </a:rPr>
              <a:t>typedef</a:t>
            </a:r>
            <a:r>
              <a:rPr lang="en-US" altLang="zh-TW" sz="1600" dirty="0"/>
              <a:t> </a:t>
            </a:r>
            <a:r>
              <a:rPr lang="en-US" altLang="zh-TW" sz="1600" dirty="0">
                <a:solidFill>
                  <a:srgbClr val="0070C0"/>
                </a:solidFill>
              </a:rPr>
              <a:t>struct</a:t>
            </a:r>
            <a:r>
              <a:rPr lang="en-US" altLang="zh-TW" sz="1600" dirty="0"/>
              <a:t> {</a:t>
            </a:r>
          </a:p>
          <a:p>
            <a:pPr marL="457200" lvl="1" indent="0">
              <a:lnSpc>
                <a:spcPct val="100000"/>
              </a:lnSpc>
              <a:spcBef>
                <a:spcPts val="0"/>
              </a:spcBef>
              <a:buNone/>
            </a:pPr>
            <a:r>
              <a:rPr lang="en-US" altLang="zh-TW" sz="1600" dirty="0"/>
              <a:t>  </a:t>
            </a:r>
            <a:r>
              <a:rPr lang="en-US" altLang="zh-TW" sz="1600" dirty="0">
                <a:solidFill>
                  <a:srgbClr val="5A9541"/>
                </a:solidFill>
              </a:rPr>
              <a:t>UINT32</a:t>
            </a:r>
            <a:r>
              <a:rPr lang="en-US" altLang="zh-TW" sz="1600" dirty="0"/>
              <a:t> </a:t>
            </a:r>
            <a:r>
              <a:rPr lang="en-US" altLang="zh-TW" sz="1600" dirty="0" err="1">
                <a:solidFill>
                  <a:srgbClr val="0070C0"/>
                </a:solidFill>
              </a:rPr>
              <a:t>GpioPad</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PadMode</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HostSoftPadOwn</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a:solidFill>
                  <a:srgbClr val="0070C0"/>
                </a:solidFill>
              </a:rPr>
              <a:t>Direction</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OutputState</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InterruptConfig</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PowerConfig</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ElectricalConfig</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LockConfig</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OtherSettings</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5A9541"/>
                </a:solidFill>
              </a:rPr>
              <a:t>UINT8</a:t>
            </a:r>
            <a:r>
              <a:rPr lang="en-US" altLang="zh-TW" sz="1600" dirty="0"/>
              <a:t>   </a:t>
            </a:r>
            <a:r>
              <a:rPr lang="en-US" altLang="zh-TW" sz="1600" dirty="0" err="1">
                <a:solidFill>
                  <a:srgbClr val="0070C0"/>
                </a:solidFill>
              </a:rPr>
              <a:t>Rsvdbits</a:t>
            </a:r>
            <a:r>
              <a:rPr lang="en-US" altLang="zh-TW" sz="1600" dirty="0"/>
              <a:t>;</a:t>
            </a:r>
          </a:p>
          <a:p>
            <a:pPr marL="457200" lvl="1" indent="0">
              <a:lnSpc>
                <a:spcPct val="100000"/>
              </a:lnSpc>
              <a:spcBef>
                <a:spcPts val="0"/>
              </a:spcBef>
              <a:buNone/>
            </a:pPr>
            <a:r>
              <a:rPr lang="en-US" altLang="zh-TW" sz="1600" dirty="0"/>
              <a:t>} </a:t>
            </a:r>
            <a:r>
              <a:rPr lang="en-US" altLang="zh-TW" sz="1600" dirty="0">
                <a:solidFill>
                  <a:srgbClr val="0070C0"/>
                </a:solidFill>
              </a:rPr>
              <a:t>PCD_GPIO_CONFIG</a:t>
            </a:r>
            <a:r>
              <a:rPr lang="en-US" altLang="zh-TW" sz="1600" dirty="0"/>
              <a:t>;</a:t>
            </a:r>
          </a:p>
        </p:txBody>
      </p:sp>
    </p:spTree>
    <p:extLst>
      <p:ext uri="{BB962C8B-B14F-4D97-AF65-F5344CB8AC3E}">
        <p14:creationId xmlns:p14="http://schemas.microsoft.com/office/powerpoint/2010/main" val="1186682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GpioLib.h</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normAutofit/>
          </a:bodyPr>
          <a:lstStyle/>
          <a:p>
            <a:r>
              <a:rPr lang="en-US" altLang="zh-TW" sz="2400" b="0" dirty="0">
                <a:effectLst/>
              </a:rPr>
              <a:t>GPIO structure define:</a:t>
            </a:r>
          </a:p>
          <a:p>
            <a:pPr marL="0" indent="0">
              <a:buNone/>
            </a:pPr>
            <a:endParaRPr lang="en-US" altLang="zh-TW" sz="2400" b="0" dirty="0">
              <a:solidFill>
                <a:srgbClr val="569CD6"/>
              </a:solidFill>
              <a:effectLst/>
            </a:endParaRPr>
          </a:p>
          <a:p>
            <a:pPr marL="457200" lvl="1" indent="0">
              <a:buNone/>
            </a:pPr>
            <a:r>
              <a:rPr lang="en-US" altLang="zh-TW" sz="2000" b="0" dirty="0">
                <a:solidFill>
                  <a:srgbClr val="569CD6"/>
                </a:solidFill>
                <a:effectLst/>
              </a:rPr>
              <a:t>typedef</a:t>
            </a:r>
            <a:r>
              <a:rPr lang="en-US" altLang="zh-TW" sz="2000" b="0" dirty="0">
                <a:solidFill>
                  <a:srgbClr val="D4D4D4"/>
                </a:solidFill>
                <a:effectLst/>
              </a:rPr>
              <a:t> </a:t>
            </a:r>
            <a:r>
              <a:rPr lang="en-US" altLang="zh-TW" sz="2000" b="0" dirty="0">
                <a:solidFill>
                  <a:srgbClr val="569CD6"/>
                </a:solidFill>
                <a:effectLst/>
              </a:rPr>
              <a:t>struct</a:t>
            </a:r>
            <a:r>
              <a:rPr lang="en-US" altLang="zh-TW" sz="2000" b="0" dirty="0">
                <a:solidFill>
                  <a:srgbClr val="D4D4D4"/>
                </a:solidFill>
                <a:effectLst/>
              </a:rPr>
              <a:t> {</a:t>
            </a:r>
          </a:p>
          <a:p>
            <a:pPr marL="457200" lvl="1" indent="0">
              <a:buNone/>
            </a:pPr>
            <a:r>
              <a:rPr lang="en-US" altLang="zh-TW" sz="2000" b="0" dirty="0">
                <a:solidFill>
                  <a:srgbClr val="D4D4D4"/>
                </a:solidFill>
                <a:effectLst/>
              </a:rPr>
              <a:t>  </a:t>
            </a:r>
            <a:r>
              <a:rPr lang="en-US" altLang="zh-TW" sz="2000" b="0" dirty="0">
                <a:solidFill>
                  <a:srgbClr val="4EC9B0"/>
                </a:solidFill>
                <a:effectLst/>
              </a:rPr>
              <a:t>GPIO_PAD</a:t>
            </a:r>
            <a:r>
              <a:rPr lang="en-US" altLang="zh-TW" sz="2000" b="0" dirty="0">
                <a:solidFill>
                  <a:srgbClr val="D4D4D4"/>
                </a:solidFill>
                <a:effectLst/>
              </a:rPr>
              <a:t>              </a:t>
            </a:r>
            <a:r>
              <a:rPr lang="en-US" altLang="zh-TW" sz="2000" b="0" dirty="0" err="1">
                <a:solidFill>
                  <a:srgbClr val="9CDCFE"/>
                </a:solidFill>
                <a:effectLst/>
              </a:rPr>
              <a:t>GpioPad</a:t>
            </a:r>
            <a:r>
              <a:rPr lang="en-US" altLang="zh-TW" sz="2000" b="0" dirty="0">
                <a:solidFill>
                  <a:srgbClr val="D4D4D4"/>
                </a:solidFill>
                <a:effectLst/>
              </a:rPr>
              <a:t>;</a:t>
            </a:r>
          </a:p>
          <a:p>
            <a:pPr marL="457200" lvl="1" indent="0">
              <a:buNone/>
            </a:pPr>
            <a:r>
              <a:rPr lang="en-US" altLang="zh-TW" sz="2000" b="0" dirty="0">
                <a:solidFill>
                  <a:srgbClr val="D4D4D4"/>
                </a:solidFill>
                <a:effectLst/>
              </a:rPr>
              <a:t>  </a:t>
            </a:r>
            <a:r>
              <a:rPr lang="en-US" altLang="zh-TW" sz="2000" b="0" dirty="0">
                <a:solidFill>
                  <a:srgbClr val="4EC9B0"/>
                </a:solidFill>
                <a:effectLst/>
              </a:rPr>
              <a:t>GPIO_CONFIG</a:t>
            </a:r>
            <a:r>
              <a:rPr lang="en-US" altLang="zh-TW" sz="2000" b="0" dirty="0">
                <a:solidFill>
                  <a:srgbClr val="D4D4D4"/>
                </a:solidFill>
                <a:effectLst/>
              </a:rPr>
              <a:t>        </a:t>
            </a:r>
            <a:r>
              <a:rPr lang="en-US" altLang="zh-TW" sz="2000" b="0" dirty="0" err="1">
                <a:solidFill>
                  <a:srgbClr val="9CDCFE"/>
                </a:solidFill>
                <a:effectLst/>
              </a:rPr>
              <a:t>GpioConfig</a:t>
            </a:r>
            <a:r>
              <a:rPr lang="en-US" altLang="zh-TW" sz="2000" b="0" dirty="0">
                <a:solidFill>
                  <a:srgbClr val="D4D4D4"/>
                </a:solidFill>
                <a:effectLst/>
              </a:rPr>
              <a:t>;</a:t>
            </a:r>
          </a:p>
          <a:p>
            <a:pPr marL="457200" lvl="1" indent="0">
              <a:buNone/>
            </a:pPr>
            <a:r>
              <a:rPr lang="en-US" altLang="zh-TW" sz="2000" b="0" dirty="0">
                <a:solidFill>
                  <a:srgbClr val="D4D4D4"/>
                </a:solidFill>
                <a:effectLst/>
              </a:rPr>
              <a:t>} </a:t>
            </a:r>
            <a:r>
              <a:rPr lang="en-US" altLang="zh-TW" sz="2000" b="0" dirty="0">
                <a:solidFill>
                  <a:srgbClr val="4EC9B0"/>
                </a:solidFill>
                <a:effectLst/>
              </a:rPr>
              <a:t>GPIO_INIT_CONFIG</a:t>
            </a:r>
            <a:r>
              <a:rPr lang="en-US" altLang="zh-TW" sz="2000" b="0" dirty="0">
                <a:solidFill>
                  <a:srgbClr val="D4D4D4"/>
                </a:solidFill>
                <a:effectLst/>
              </a:rPr>
              <a:t>;</a:t>
            </a:r>
          </a:p>
          <a:p>
            <a:endParaRPr lang="en-US" altLang="zh-TW" sz="2400" dirty="0"/>
          </a:p>
        </p:txBody>
      </p:sp>
    </p:spTree>
    <p:extLst>
      <p:ext uri="{BB962C8B-B14F-4D97-AF65-F5344CB8AC3E}">
        <p14:creationId xmlns:p14="http://schemas.microsoft.com/office/powerpoint/2010/main" val="1669940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04D5AB-267E-4C1C-A11B-0A3B5C1DB066}"/>
              </a:ext>
            </a:extLst>
          </p:cNvPr>
          <p:cNvSpPr>
            <a:spLocks noGrp="1"/>
          </p:cNvSpPr>
          <p:nvPr>
            <p:ph type="title"/>
          </p:nvPr>
        </p:nvSpPr>
        <p:spPr/>
        <p:txBody>
          <a:bodyPr/>
          <a:lstStyle/>
          <a:p>
            <a:r>
              <a:rPr lang="en-US" altLang="zh-TW" dirty="0" err="1"/>
              <a:t>GpioConfig.h</a:t>
            </a:r>
            <a:endParaRPr lang="zh-TW" altLang="en-US" dirty="0"/>
          </a:p>
        </p:txBody>
      </p:sp>
      <p:sp>
        <p:nvSpPr>
          <p:cNvPr id="3" name="內容版面配置區 2">
            <a:extLst>
              <a:ext uri="{FF2B5EF4-FFF2-40B4-BE49-F238E27FC236}">
                <a16:creationId xmlns:a16="http://schemas.microsoft.com/office/drawing/2014/main" id="{DC85BC9A-34B4-46D2-B215-72A9FA9B737E}"/>
              </a:ext>
            </a:extLst>
          </p:cNvPr>
          <p:cNvSpPr>
            <a:spLocks noGrp="1"/>
          </p:cNvSpPr>
          <p:nvPr>
            <p:ph idx="1"/>
          </p:nvPr>
        </p:nvSpPr>
        <p:spPr/>
        <p:txBody>
          <a:bodyPr>
            <a:normAutofit fontScale="85000" lnSpcReduction="20000"/>
          </a:bodyPr>
          <a:lstStyle/>
          <a:p>
            <a:r>
              <a:rPr lang="en-US" altLang="zh-TW" sz="2800" b="0" dirty="0">
                <a:effectLst/>
              </a:rPr>
              <a:t>GPIO structure define:</a:t>
            </a:r>
            <a:endParaRPr lang="en-US" altLang="zh-TW" sz="2800" b="0" dirty="0">
              <a:solidFill>
                <a:srgbClr val="569CD6"/>
              </a:solidFill>
              <a:effectLst/>
            </a:endParaRPr>
          </a:p>
          <a:p>
            <a:pPr marL="457200" lvl="1" indent="0">
              <a:buNone/>
            </a:pPr>
            <a:endParaRPr lang="en-US" altLang="zh-TW" b="0" dirty="0">
              <a:solidFill>
                <a:srgbClr val="569CD6"/>
              </a:solidFill>
              <a:effectLst/>
            </a:endParaRPr>
          </a:p>
          <a:p>
            <a:pPr marL="457200" lvl="1" indent="0">
              <a:buNone/>
            </a:pPr>
            <a:r>
              <a:rPr lang="en-US" altLang="zh-TW" b="0" dirty="0">
                <a:solidFill>
                  <a:srgbClr val="569CD6"/>
                </a:solidFill>
                <a:effectLst/>
              </a:rPr>
              <a:t>typedef</a:t>
            </a: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a:solidFill>
                  <a:srgbClr val="4EC9B0"/>
                </a:solidFill>
                <a:effectLst/>
              </a:rPr>
              <a:t>GPIO_PAD</a:t>
            </a:r>
            <a:r>
              <a:rPr lang="en-US" altLang="zh-TW" b="0" dirty="0">
                <a:solidFill>
                  <a:srgbClr val="D4D4D4"/>
                </a:solidFill>
                <a:effectLst/>
              </a:rPr>
              <a:t>;</a:t>
            </a:r>
          </a:p>
          <a:p>
            <a:pPr marL="457200" lvl="1" indent="0">
              <a:buNone/>
            </a:pPr>
            <a:endParaRPr lang="en-US" altLang="zh-TW" b="0" dirty="0">
              <a:solidFill>
                <a:srgbClr val="569CD6"/>
              </a:solidFill>
              <a:effectLst/>
            </a:endParaRPr>
          </a:p>
          <a:p>
            <a:pPr marL="457200" lvl="1" indent="0">
              <a:buNone/>
            </a:pPr>
            <a:r>
              <a:rPr lang="en-US" altLang="zh-TW" b="0" dirty="0">
                <a:solidFill>
                  <a:srgbClr val="569CD6"/>
                </a:solidFill>
                <a:effectLst/>
              </a:rPr>
              <a:t>typedef</a:t>
            </a:r>
            <a:r>
              <a:rPr lang="en-US" altLang="zh-TW" b="0" dirty="0">
                <a:solidFill>
                  <a:srgbClr val="D4D4D4"/>
                </a:solidFill>
                <a:effectLst/>
              </a:rPr>
              <a:t> </a:t>
            </a:r>
            <a:r>
              <a:rPr lang="en-US" altLang="zh-TW" b="0" dirty="0">
                <a:solidFill>
                  <a:srgbClr val="569CD6"/>
                </a:solidFill>
                <a:effectLst/>
              </a:rPr>
              <a:t>struct</a:t>
            </a:r>
            <a:r>
              <a:rPr lang="en-US" altLang="zh-TW" b="0" dirty="0">
                <a:solidFill>
                  <a:srgbClr val="D4D4D4"/>
                </a:solidFill>
                <a:effectLst/>
              </a:rPr>
              <a:t> {</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PadMode</a:t>
            </a:r>
            <a:r>
              <a:rPr lang="en-US" altLang="zh-TW" b="0" dirty="0">
                <a:solidFill>
                  <a:srgbClr val="D4D4D4"/>
                </a:solidFill>
                <a:effectLst/>
              </a:rPr>
              <a:t>            : </a:t>
            </a:r>
            <a:r>
              <a:rPr lang="en-US" altLang="zh-TW" b="0" dirty="0">
                <a:solidFill>
                  <a:srgbClr val="B5CEA8"/>
                </a:solidFill>
                <a:effectLst/>
              </a:rPr>
              <a:t>5</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HostSoftPadOwn</a:t>
            </a:r>
            <a:r>
              <a:rPr lang="en-US" altLang="zh-TW" b="0" dirty="0">
                <a:solidFill>
                  <a:srgbClr val="D4D4D4"/>
                </a:solidFill>
                <a:effectLst/>
              </a:rPr>
              <a:t> : </a:t>
            </a:r>
            <a:r>
              <a:rPr lang="en-US" altLang="zh-TW" b="0" dirty="0">
                <a:solidFill>
                  <a:srgbClr val="B5CEA8"/>
                </a:solidFill>
                <a:effectLst/>
              </a:rPr>
              <a:t>2</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a:solidFill>
                  <a:srgbClr val="9CDCFE"/>
                </a:solidFill>
                <a:effectLst/>
              </a:rPr>
              <a:t>Direction</a:t>
            </a:r>
            <a:r>
              <a:rPr lang="en-US" altLang="zh-TW" b="0" dirty="0">
                <a:solidFill>
                  <a:srgbClr val="D4D4D4"/>
                </a:solidFill>
                <a:effectLst/>
              </a:rPr>
              <a:t>             : </a:t>
            </a:r>
            <a:r>
              <a:rPr lang="en-US" altLang="zh-TW" b="0" dirty="0">
                <a:solidFill>
                  <a:srgbClr val="B5CEA8"/>
                </a:solidFill>
                <a:effectLst/>
              </a:rPr>
              <a:t>6</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OutputState</a:t>
            </a:r>
            <a:r>
              <a:rPr lang="en-US" altLang="zh-TW" b="0" dirty="0">
                <a:solidFill>
                  <a:srgbClr val="D4D4D4"/>
                </a:solidFill>
                <a:effectLst/>
              </a:rPr>
              <a:t>       : </a:t>
            </a:r>
            <a:r>
              <a:rPr lang="en-US" altLang="zh-TW" b="0" dirty="0">
                <a:solidFill>
                  <a:srgbClr val="B5CEA8"/>
                </a:solidFill>
                <a:effectLst/>
              </a:rPr>
              <a:t>2</a:t>
            </a:r>
            <a:r>
              <a:rPr lang="en-US" altLang="zh-TW" b="0" dirty="0">
                <a:solidFill>
                  <a:srgbClr val="D4D4D4"/>
                </a:solidFill>
                <a:effectLst/>
              </a:rPr>
              <a:t>; </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InterruptConfig</a:t>
            </a:r>
            <a:r>
              <a:rPr lang="en-US" altLang="zh-TW" b="0" dirty="0">
                <a:solidFill>
                  <a:srgbClr val="D4D4D4"/>
                </a:solidFill>
                <a:effectLst/>
              </a:rPr>
              <a:t>  : </a:t>
            </a:r>
            <a:r>
              <a:rPr lang="en-US" altLang="zh-TW" b="0" dirty="0">
                <a:solidFill>
                  <a:srgbClr val="B5CEA8"/>
                </a:solidFill>
                <a:effectLst/>
              </a:rPr>
              <a:t>9</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PowerConfig</a:t>
            </a:r>
            <a:r>
              <a:rPr lang="en-US" altLang="zh-TW" b="0" dirty="0">
                <a:solidFill>
                  <a:srgbClr val="D4D4D4"/>
                </a:solidFill>
                <a:effectLst/>
              </a:rPr>
              <a:t>      : </a:t>
            </a:r>
            <a:r>
              <a:rPr lang="en-US" altLang="zh-TW" b="0" dirty="0">
                <a:solidFill>
                  <a:srgbClr val="B5CEA8"/>
                </a:solidFill>
                <a:effectLst/>
              </a:rPr>
              <a:t>8</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ElectricalConfig</a:t>
            </a:r>
            <a:r>
              <a:rPr lang="en-US" altLang="zh-TW" b="0" dirty="0">
                <a:solidFill>
                  <a:srgbClr val="D4D4D4"/>
                </a:solidFill>
                <a:effectLst/>
              </a:rPr>
              <a:t> : </a:t>
            </a:r>
            <a:r>
              <a:rPr lang="en-US" altLang="zh-TW" b="0" dirty="0">
                <a:solidFill>
                  <a:srgbClr val="B5CEA8"/>
                </a:solidFill>
                <a:effectLst/>
              </a:rPr>
              <a:t>9</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LockConfig</a:t>
            </a:r>
            <a:r>
              <a:rPr lang="en-US" altLang="zh-TW" b="0" dirty="0">
                <a:solidFill>
                  <a:srgbClr val="D4D4D4"/>
                </a:solidFill>
                <a:effectLst/>
              </a:rPr>
              <a:t>        : </a:t>
            </a:r>
            <a:r>
              <a:rPr lang="en-US" altLang="zh-TW" b="0" dirty="0">
                <a:solidFill>
                  <a:srgbClr val="B5CEA8"/>
                </a:solidFill>
                <a:effectLst/>
              </a:rPr>
              <a:t>4</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OtherSettings</a:t>
            </a:r>
            <a:r>
              <a:rPr lang="en-US" altLang="zh-TW" b="0" dirty="0">
                <a:solidFill>
                  <a:srgbClr val="D4D4D4"/>
                </a:solidFill>
                <a:effectLst/>
              </a:rPr>
              <a:t>    : </a:t>
            </a:r>
            <a:r>
              <a:rPr lang="en-US" altLang="zh-TW" b="0" dirty="0">
                <a:solidFill>
                  <a:srgbClr val="B5CEA8"/>
                </a:solidFill>
                <a:effectLst/>
              </a:rPr>
              <a:t>9</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VgpioCs</a:t>
            </a:r>
            <a:r>
              <a:rPr lang="en-US" altLang="zh-TW" b="0" dirty="0">
                <a:solidFill>
                  <a:srgbClr val="D4D4D4"/>
                </a:solidFill>
                <a:effectLst/>
              </a:rPr>
              <a:t>             : </a:t>
            </a:r>
            <a:r>
              <a:rPr lang="en-US" altLang="zh-TW" b="0" dirty="0">
                <a:solidFill>
                  <a:srgbClr val="B5CEA8"/>
                </a:solidFill>
                <a:effectLst/>
              </a:rPr>
              <a:t>2</a:t>
            </a:r>
            <a:r>
              <a:rPr lang="en-US" altLang="zh-TW" b="0" dirty="0">
                <a:solidFill>
                  <a:srgbClr val="D4D4D4"/>
                </a:solidFill>
                <a:effectLst/>
              </a:rPr>
              <a:t>;</a:t>
            </a:r>
            <a:br>
              <a:rPr lang="en-US" altLang="zh-TW" b="0" dirty="0">
                <a:solidFill>
                  <a:srgbClr val="D4D4D4"/>
                </a:solidFill>
                <a:effectLst/>
              </a:rPr>
            </a:br>
            <a:r>
              <a:rPr lang="en-US" altLang="zh-TW" b="0" dirty="0">
                <a:solidFill>
                  <a:srgbClr val="D4D4D4"/>
                </a:solidFill>
                <a:effectLst/>
              </a:rPr>
              <a:t>  </a:t>
            </a:r>
            <a:r>
              <a:rPr lang="en-US" altLang="zh-TW" b="0" dirty="0">
                <a:solidFill>
                  <a:srgbClr val="4EC9B0"/>
                </a:solidFill>
                <a:effectLst/>
              </a:rPr>
              <a:t>UINT32</a:t>
            </a:r>
            <a:r>
              <a:rPr lang="en-US" altLang="zh-TW" b="0" dirty="0">
                <a:solidFill>
                  <a:srgbClr val="D4D4D4"/>
                </a:solidFill>
                <a:effectLst/>
              </a:rPr>
              <a:t> </a:t>
            </a:r>
            <a:r>
              <a:rPr lang="en-US" altLang="zh-TW" b="0" dirty="0" err="1">
                <a:solidFill>
                  <a:srgbClr val="9CDCFE"/>
                </a:solidFill>
                <a:effectLst/>
              </a:rPr>
              <a:t>RsvdBits</a:t>
            </a:r>
            <a:r>
              <a:rPr lang="en-US" altLang="zh-TW" b="0" dirty="0">
                <a:solidFill>
                  <a:srgbClr val="D4D4D4"/>
                </a:solidFill>
                <a:effectLst/>
              </a:rPr>
              <a:t>             : </a:t>
            </a:r>
            <a:r>
              <a:rPr lang="en-US" altLang="zh-TW" b="0" dirty="0">
                <a:solidFill>
                  <a:srgbClr val="B5CEA8"/>
                </a:solidFill>
                <a:effectLst/>
              </a:rPr>
              <a:t>8</a:t>
            </a:r>
            <a:r>
              <a:rPr lang="en-US" altLang="zh-TW" b="0" dirty="0">
                <a:solidFill>
                  <a:srgbClr val="D4D4D4"/>
                </a:solidFill>
                <a:effectLst/>
              </a:rPr>
              <a:t>;</a:t>
            </a:r>
          </a:p>
          <a:p>
            <a:pPr marL="457200" lvl="1" indent="0">
              <a:buNone/>
            </a:pPr>
            <a:r>
              <a:rPr lang="en-US" altLang="zh-TW" b="0" dirty="0">
                <a:solidFill>
                  <a:srgbClr val="D4D4D4"/>
                </a:solidFill>
                <a:effectLst/>
              </a:rPr>
              <a:t>} </a:t>
            </a:r>
            <a:r>
              <a:rPr lang="en-US" altLang="zh-TW" b="0" dirty="0">
                <a:solidFill>
                  <a:srgbClr val="4EC9B0"/>
                </a:solidFill>
                <a:effectLst/>
              </a:rPr>
              <a:t>GPIO_CONFIG</a:t>
            </a:r>
            <a:r>
              <a:rPr lang="en-US" altLang="zh-TW" b="0" dirty="0">
                <a:solidFill>
                  <a:srgbClr val="D4D4D4"/>
                </a:solidFill>
                <a:effectLst/>
              </a:rPr>
              <a:t>;</a:t>
            </a:r>
          </a:p>
          <a:p>
            <a:pPr marL="0" indent="0">
              <a:buNone/>
            </a:pPr>
            <a:endParaRPr lang="zh-TW" altLang="en-US" dirty="0"/>
          </a:p>
        </p:txBody>
      </p:sp>
    </p:spTree>
    <p:extLst>
      <p:ext uri="{BB962C8B-B14F-4D97-AF65-F5344CB8AC3E}">
        <p14:creationId xmlns:p14="http://schemas.microsoft.com/office/powerpoint/2010/main" val="1170216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Project.dsc</a:t>
            </a:r>
            <a:r>
              <a:rPr lang="en-US" altLang="zh-TW" dirty="0"/>
              <a:t> (PCD way)</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Define valid </a:t>
            </a:r>
            <a:r>
              <a:rPr lang="en-US" altLang="zh-TW" sz="2400" b="1" dirty="0"/>
              <a:t>SKUID_IDENTIFIER</a:t>
            </a:r>
            <a:r>
              <a:rPr lang="en-US" altLang="zh-TW" sz="2400" dirty="0"/>
              <a:t> names.</a:t>
            </a:r>
          </a:p>
          <a:p>
            <a:endParaRPr lang="en-US" altLang="zh-TW" sz="2400" dirty="0"/>
          </a:p>
          <a:p>
            <a:endParaRPr lang="en-US" altLang="zh-TW" sz="2400" dirty="0">
              <a:solidFill>
                <a:srgbClr val="3333CC"/>
              </a:solidFill>
            </a:endParaRPr>
          </a:p>
          <a:p>
            <a:endParaRPr lang="en-US" altLang="zh-TW" sz="2400" dirty="0">
              <a:solidFill>
                <a:srgbClr val="3333CC"/>
              </a:solidFill>
            </a:endParaRPr>
          </a:p>
          <a:p>
            <a:endParaRPr lang="en-US" altLang="zh-TW" sz="2400" dirty="0">
              <a:solidFill>
                <a:srgbClr val="3333CC"/>
              </a:solidFill>
            </a:endParaRPr>
          </a:p>
          <a:p>
            <a:r>
              <a:rPr lang="en-US" altLang="zh-TW" sz="2400" dirty="0">
                <a:solidFill>
                  <a:schemeClr val="tx2"/>
                </a:solidFill>
              </a:rPr>
              <a:t>Declare the mapping between library class and instance.</a:t>
            </a:r>
          </a:p>
          <a:p>
            <a:pPr marL="457200" lvl="1" indent="0">
              <a:buNone/>
            </a:pPr>
            <a:r>
              <a:rPr lang="en-US" altLang="zh-TW" sz="1800" dirty="0">
                <a:solidFill>
                  <a:schemeClr val="tx2"/>
                </a:solidFill>
              </a:rPr>
              <a:t>[</a:t>
            </a:r>
            <a:r>
              <a:rPr lang="en-US" altLang="zh-TW" sz="1800" dirty="0" err="1">
                <a:solidFill>
                  <a:schemeClr val="tx2"/>
                </a:solidFill>
              </a:rPr>
              <a:t>LibraryClasses.common.PEIM</a:t>
            </a:r>
            <a:r>
              <a:rPr lang="en-US" altLang="zh-TW" sz="1800" dirty="0">
                <a:solidFill>
                  <a:schemeClr val="tx2"/>
                </a:solidFill>
              </a:rPr>
              <a:t>]</a:t>
            </a:r>
          </a:p>
          <a:p>
            <a:pPr marL="457200" lvl="1" indent="0">
              <a:buNone/>
            </a:pPr>
            <a:r>
              <a:rPr lang="en-US" altLang="zh-TW" sz="1800" dirty="0">
                <a:solidFill>
                  <a:schemeClr val="tx2"/>
                </a:solidFill>
              </a:rPr>
              <a:t>  </a:t>
            </a:r>
            <a:r>
              <a:rPr lang="en-US" altLang="zh-TW" sz="1800" dirty="0" err="1">
                <a:solidFill>
                  <a:schemeClr val="tx2"/>
                </a:solidFill>
              </a:rPr>
              <a:t>GpioCfgLib</a:t>
            </a:r>
            <a:r>
              <a:rPr lang="en-US" altLang="zh-TW" sz="1800" dirty="0">
                <a:solidFill>
                  <a:schemeClr val="tx2"/>
                </a:solidFill>
              </a:rPr>
              <a:t>|$(PROJECT_PKG)/Library/</a:t>
            </a:r>
            <a:r>
              <a:rPr lang="en-US" altLang="zh-TW" sz="1800" dirty="0" err="1">
                <a:solidFill>
                  <a:schemeClr val="tx2"/>
                </a:solidFill>
              </a:rPr>
              <a:t>GpioCfgLib</a:t>
            </a:r>
            <a:r>
              <a:rPr lang="en-US" altLang="zh-TW" sz="1800" dirty="0">
                <a:solidFill>
                  <a:schemeClr val="tx2"/>
                </a:solidFill>
              </a:rPr>
              <a:t>/GpioCfgLib.inf</a:t>
            </a:r>
          </a:p>
        </p:txBody>
      </p:sp>
      <p:pic>
        <p:nvPicPr>
          <p:cNvPr id="8" name="圖片 7">
            <a:extLst>
              <a:ext uri="{FF2B5EF4-FFF2-40B4-BE49-F238E27FC236}">
                <a16:creationId xmlns:a16="http://schemas.microsoft.com/office/drawing/2014/main" id="{8F74863C-199F-4DA2-8389-50A3FA746611}"/>
              </a:ext>
            </a:extLst>
          </p:cNvPr>
          <p:cNvPicPr>
            <a:picLocks noChangeAspect="1"/>
          </p:cNvPicPr>
          <p:nvPr/>
        </p:nvPicPr>
        <p:blipFill>
          <a:blip r:embed="rId2"/>
          <a:stretch>
            <a:fillRect/>
          </a:stretch>
        </p:blipFill>
        <p:spPr>
          <a:xfrm>
            <a:off x="1477648" y="1843888"/>
            <a:ext cx="2708700" cy="1184538"/>
          </a:xfrm>
          <a:prstGeom prst="rect">
            <a:avLst/>
          </a:prstGeom>
        </p:spPr>
      </p:pic>
    </p:spTree>
    <p:extLst>
      <p:ext uri="{BB962C8B-B14F-4D97-AF65-F5344CB8AC3E}">
        <p14:creationId xmlns:p14="http://schemas.microsoft.com/office/powerpoint/2010/main" val="3261430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a:t>GpioCfgLib.inf (PCD way)</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Declare the GPIO setting for specific board.</a:t>
            </a:r>
          </a:p>
        </p:txBody>
      </p:sp>
      <p:grpSp>
        <p:nvGrpSpPr>
          <p:cNvPr id="5" name="群組 4">
            <a:extLst>
              <a:ext uri="{FF2B5EF4-FFF2-40B4-BE49-F238E27FC236}">
                <a16:creationId xmlns:a16="http://schemas.microsoft.com/office/drawing/2014/main" id="{AA8502FA-3AC2-4C1F-8BAD-D128030B928E}"/>
              </a:ext>
            </a:extLst>
          </p:cNvPr>
          <p:cNvGrpSpPr/>
          <p:nvPr/>
        </p:nvGrpSpPr>
        <p:grpSpPr>
          <a:xfrm>
            <a:off x="2747554" y="2240822"/>
            <a:ext cx="6696892" cy="3304302"/>
            <a:chOff x="3971108" y="1854926"/>
            <a:chExt cx="6696892" cy="4706006"/>
          </a:xfrm>
        </p:grpSpPr>
        <p:sp>
          <p:nvSpPr>
            <p:cNvPr id="6" name="Rectangle 15">
              <a:extLst>
                <a:ext uri="{FF2B5EF4-FFF2-40B4-BE49-F238E27FC236}">
                  <a16:creationId xmlns:a16="http://schemas.microsoft.com/office/drawing/2014/main" id="{58CC3BAC-AD11-41D6-98B8-E9812F8EC02A}"/>
                </a:ext>
              </a:extLst>
            </p:cNvPr>
            <p:cNvSpPr>
              <a:spLocks noChangeArrowheads="1"/>
            </p:cNvSpPr>
            <p:nvPr/>
          </p:nvSpPr>
          <p:spPr bwMode="auto">
            <a:xfrm>
              <a:off x="3971108" y="1854926"/>
              <a:ext cx="6696892" cy="4706006"/>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7" name="Rectangle 16">
              <a:extLst>
                <a:ext uri="{FF2B5EF4-FFF2-40B4-BE49-F238E27FC236}">
                  <a16:creationId xmlns:a16="http://schemas.microsoft.com/office/drawing/2014/main" id="{6158F626-5D25-4B24-BFCE-B8C17B40BAEE}"/>
                </a:ext>
              </a:extLst>
            </p:cNvPr>
            <p:cNvSpPr>
              <a:spLocks noChangeArrowheads="1"/>
            </p:cNvSpPr>
            <p:nvPr/>
          </p:nvSpPr>
          <p:spPr bwMode="auto">
            <a:xfrm>
              <a:off x="3971108" y="1854927"/>
              <a:ext cx="6696892"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400" dirty="0"/>
                <a:t>GpioCfgLib.inf</a:t>
              </a:r>
              <a:endParaRPr lang="zh-TW" altLang="en-US" sz="1400" dirty="0"/>
            </a:p>
          </p:txBody>
        </p:sp>
        <p:sp>
          <p:nvSpPr>
            <p:cNvPr id="8" name="Text Box 17">
              <a:extLst>
                <a:ext uri="{FF2B5EF4-FFF2-40B4-BE49-F238E27FC236}">
                  <a16:creationId xmlns:a16="http://schemas.microsoft.com/office/drawing/2014/main" id="{5C0506C6-6EB1-4E62-9383-9B5FDE286F6A}"/>
                </a:ext>
              </a:extLst>
            </p:cNvPr>
            <p:cNvSpPr txBox="1">
              <a:spLocks noChangeArrowheads="1"/>
            </p:cNvSpPr>
            <p:nvPr/>
          </p:nvSpPr>
          <p:spPr bwMode="auto">
            <a:xfrm>
              <a:off x="4047307" y="2159727"/>
              <a:ext cx="6455229"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400" dirty="0">
                  <a:solidFill>
                    <a:srgbClr val="0070C0"/>
                  </a:solidFill>
                </a:rPr>
                <a:t>[Defines]</a:t>
              </a:r>
            </a:p>
            <a:p>
              <a:r>
                <a:rPr lang="en-US" altLang="zh-TW" sz="1400" dirty="0">
                  <a:solidFill>
                    <a:schemeClr val="tx2"/>
                  </a:solidFill>
                </a:rPr>
                <a:t>  </a:t>
              </a:r>
              <a:r>
                <a:rPr lang="en-US" altLang="zh-TW" sz="1400" dirty="0">
                  <a:solidFill>
                    <a:srgbClr val="0070C0"/>
                  </a:solidFill>
                </a:rPr>
                <a:t>INF_VERSION  </a:t>
              </a:r>
              <a:r>
                <a:rPr lang="en-US" altLang="zh-TW" sz="1400" dirty="0">
                  <a:solidFill>
                    <a:schemeClr val="tx2"/>
                  </a:solidFill>
                </a:rPr>
                <a:t>              = </a:t>
              </a:r>
              <a:r>
                <a:rPr lang="en-US" altLang="zh-TW" sz="1400" dirty="0">
                  <a:solidFill>
                    <a:srgbClr val="FF0000"/>
                  </a:solidFill>
                </a:rPr>
                <a:t>0x00010005</a:t>
              </a:r>
            </a:p>
            <a:p>
              <a:r>
                <a:rPr lang="en-US" altLang="zh-TW" sz="1400" dirty="0">
                  <a:solidFill>
                    <a:schemeClr val="tx2"/>
                  </a:solidFill>
                </a:rPr>
                <a:t>  </a:t>
              </a:r>
              <a:r>
                <a:rPr lang="en-US" altLang="zh-TW" sz="1400" dirty="0">
                  <a:solidFill>
                    <a:srgbClr val="0070C0"/>
                  </a:solidFill>
                </a:rPr>
                <a:t>BASE_NAME </a:t>
              </a:r>
              <a:r>
                <a:rPr lang="en-US" altLang="zh-TW" sz="1400" dirty="0">
                  <a:solidFill>
                    <a:schemeClr val="tx2"/>
                  </a:solidFill>
                </a:rPr>
                <a:t>                 = </a:t>
              </a:r>
              <a:r>
                <a:rPr lang="en-US" altLang="zh-TW" sz="1400" dirty="0" err="1">
                  <a:solidFill>
                    <a:schemeClr val="tx2"/>
                  </a:solidFill>
                </a:rPr>
                <a:t>GpioCfgLib</a:t>
              </a:r>
              <a:endParaRPr lang="en-US" altLang="zh-TW" sz="1400" dirty="0">
                <a:solidFill>
                  <a:schemeClr val="tx2"/>
                </a:solidFill>
              </a:endParaRPr>
            </a:p>
            <a:p>
              <a:r>
                <a:rPr lang="en-US" altLang="zh-TW" sz="1400" dirty="0">
                  <a:solidFill>
                    <a:schemeClr val="tx2"/>
                  </a:solidFill>
                </a:rPr>
                <a:t>  </a:t>
              </a:r>
              <a:r>
                <a:rPr lang="en-US" altLang="zh-TW" sz="1400" dirty="0">
                  <a:solidFill>
                    <a:srgbClr val="0070C0"/>
                  </a:solidFill>
                </a:rPr>
                <a:t>FILE_GUID  </a:t>
              </a:r>
              <a:r>
                <a:rPr lang="en-US" altLang="zh-TW" sz="1400" dirty="0">
                  <a:solidFill>
                    <a:schemeClr val="tx2"/>
                  </a:solidFill>
                </a:rPr>
                <a:t>                   = c6b57539-2df4-40f7-a1c6-91a2bae359e7</a:t>
              </a:r>
            </a:p>
            <a:p>
              <a:r>
                <a:rPr lang="en-US" altLang="zh-TW" sz="1400" dirty="0">
                  <a:solidFill>
                    <a:schemeClr val="tx2"/>
                  </a:solidFill>
                </a:rPr>
                <a:t>  </a:t>
              </a:r>
              <a:r>
                <a:rPr lang="en-US" altLang="zh-TW" sz="1400" dirty="0">
                  <a:solidFill>
                    <a:srgbClr val="0070C0"/>
                  </a:solidFill>
                </a:rPr>
                <a:t>MODULE_TYPE</a:t>
              </a:r>
              <a:r>
                <a:rPr lang="en-US" altLang="zh-TW" sz="1400" dirty="0">
                  <a:solidFill>
                    <a:schemeClr val="tx2"/>
                  </a:solidFill>
                </a:rPr>
                <a:t>             = PEIM</a:t>
              </a:r>
            </a:p>
            <a:p>
              <a:r>
                <a:rPr lang="en-US" altLang="zh-TW" sz="1400" dirty="0">
                  <a:solidFill>
                    <a:schemeClr val="tx2"/>
                  </a:solidFill>
                </a:rPr>
                <a:t>  </a:t>
              </a:r>
              <a:r>
                <a:rPr lang="en-US" altLang="zh-TW" sz="1400" dirty="0">
                  <a:solidFill>
                    <a:srgbClr val="0070C0"/>
                  </a:solidFill>
                </a:rPr>
                <a:t>VERSION_STRING</a:t>
              </a:r>
              <a:r>
                <a:rPr lang="en-US" altLang="zh-TW" sz="1400" dirty="0">
                  <a:solidFill>
                    <a:schemeClr val="tx2"/>
                  </a:solidFill>
                </a:rPr>
                <a:t>        = </a:t>
              </a:r>
              <a:r>
                <a:rPr lang="en-US" altLang="zh-TW" sz="1400" dirty="0">
                  <a:solidFill>
                    <a:srgbClr val="FF0000"/>
                  </a:solidFill>
                </a:rPr>
                <a:t>1.0</a:t>
              </a:r>
            </a:p>
            <a:p>
              <a:r>
                <a:rPr lang="en-US" altLang="zh-TW" sz="1400" dirty="0">
                  <a:solidFill>
                    <a:schemeClr val="tx2"/>
                  </a:solidFill>
                </a:rPr>
                <a:t> </a:t>
              </a:r>
              <a:r>
                <a:rPr lang="en-US" altLang="zh-TW" sz="1400" dirty="0">
                  <a:solidFill>
                    <a:srgbClr val="0070C0"/>
                  </a:solidFill>
                </a:rPr>
                <a:t> LIBRARY_CLASS</a:t>
              </a:r>
              <a:r>
                <a:rPr lang="en-US" altLang="zh-TW" sz="1400" dirty="0">
                  <a:solidFill>
                    <a:schemeClr val="tx2"/>
                  </a:solidFill>
                </a:rPr>
                <a:t>           = </a:t>
              </a:r>
              <a:r>
                <a:rPr lang="en-US" altLang="zh-TW" sz="1400" dirty="0" err="1">
                  <a:solidFill>
                    <a:schemeClr val="tx2"/>
                  </a:solidFill>
                </a:rPr>
                <a:t>GpioCfgLib</a:t>
              </a:r>
              <a:endParaRPr lang="en-US" altLang="zh-TW" sz="1400" dirty="0">
                <a:solidFill>
                  <a:schemeClr val="tx2"/>
                </a:solidFill>
              </a:endParaRPr>
            </a:p>
            <a:p>
              <a:endParaRPr lang="en-US" altLang="zh-TW" sz="1400" dirty="0">
                <a:solidFill>
                  <a:schemeClr val="tx2"/>
                </a:solidFill>
              </a:endParaRPr>
            </a:p>
            <a:p>
              <a:r>
                <a:rPr lang="en-US" altLang="zh-TW" sz="1400" dirty="0">
                  <a:solidFill>
                    <a:srgbClr val="0070C0"/>
                  </a:solidFill>
                </a:rPr>
                <a:t>[Sources]</a:t>
              </a:r>
            </a:p>
            <a:p>
              <a:r>
                <a:rPr lang="en-US" altLang="zh-TW" sz="1400" dirty="0">
                  <a:solidFill>
                    <a:srgbClr val="7030A0"/>
                  </a:solidFill>
                </a:rPr>
                <a:t># The file name is </a:t>
              </a:r>
              <a:r>
                <a:rPr lang="en-US" altLang="zh-TW" sz="1400" dirty="0" err="1">
                  <a:solidFill>
                    <a:srgbClr val="7030A0"/>
                  </a:solidFill>
                </a:rPr>
                <a:t>GPIO_xxxx.gpio</a:t>
              </a:r>
              <a:r>
                <a:rPr lang="en-US" altLang="zh-TW" sz="1400" dirty="0">
                  <a:solidFill>
                    <a:srgbClr val="7030A0"/>
                  </a:solidFill>
                </a:rPr>
                <a:t>, where </a:t>
              </a:r>
              <a:r>
                <a:rPr lang="en-US" altLang="zh-TW" sz="1400" dirty="0" err="1">
                  <a:solidFill>
                    <a:srgbClr val="7030A0"/>
                  </a:solidFill>
                </a:rPr>
                <a:t>xxxx</a:t>
              </a:r>
              <a:r>
                <a:rPr lang="en-US" altLang="zh-TW" sz="1400" dirty="0">
                  <a:solidFill>
                    <a:srgbClr val="7030A0"/>
                  </a:solidFill>
                </a:rPr>
                <a:t> matches [</a:t>
              </a:r>
              <a:r>
                <a:rPr lang="en-US" altLang="zh-TW" sz="1400" dirty="0" err="1">
                  <a:solidFill>
                    <a:srgbClr val="7030A0"/>
                  </a:solidFill>
                </a:rPr>
                <a:t>Skuids</a:t>
              </a:r>
              <a:r>
                <a:rPr lang="en-US" altLang="zh-TW" sz="1400" dirty="0">
                  <a:solidFill>
                    <a:srgbClr val="7030A0"/>
                  </a:solidFill>
                </a:rPr>
                <a:t>] in </a:t>
              </a:r>
              <a:r>
                <a:rPr lang="en-US" altLang="zh-TW" sz="1400" dirty="0" err="1">
                  <a:solidFill>
                    <a:srgbClr val="7030A0"/>
                  </a:solidFill>
                </a:rPr>
                <a:t>Project.dsc</a:t>
              </a:r>
              <a:endParaRPr lang="en-US" altLang="zh-TW" sz="1400" dirty="0">
                <a:solidFill>
                  <a:srgbClr val="7030A0"/>
                </a:solidFill>
              </a:endParaRPr>
            </a:p>
            <a:p>
              <a:r>
                <a:rPr lang="en-US" altLang="zh-TW" sz="1400" dirty="0">
                  <a:solidFill>
                    <a:schemeClr val="tx2"/>
                  </a:solidFill>
                </a:rPr>
                <a:t>  </a:t>
              </a:r>
              <a:r>
                <a:rPr lang="en-US" altLang="zh-TW" sz="1400" dirty="0" err="1">
                  <a:solidFill>
                    <a:schemeClr val="tx2"/>
                  </a:solidFill>
                </a:rPr>
                <a:t>GPIO_DEFAULT.gpio</a:t>
              </a:r>
              <a:endParaRPr lang="en-US" altLang="zh-TW" sz="1400" dirty="0">
                <a:solidFill>
                  <a:schemeClr val="tx2"/>
                </a:solidFill>
              </a:endParaRPr>
            </a:p>
            <a:p>
              <a:r>
                <a:rPr lang="en-US" altLang="zh-TW" sz="1400" dirty="0">
                  <a:solidFill>
                    <a:schemeClr val="tx2"/>
                  </a:solidFill>
                </a:rPr>
                <a:t>  </a:t>
              </a:r>
              <a:r>
                <a:rPr lang="en-US" altLang="zh-TW" sz="1400" dirty="0" err="1">
                  <a:solidFill>
                    <a:schemeClr val="tx2"/>
                  </a:solidFill>
                </a:rPr>
                <a:t>GPIO_TypeEagleStreamRP.gpio</a:t>
              </a:r>
              <a:endParaRPr lang="en-US" altLang="zh-TW" sz="1400" dirty="0">
                <a:solidFill>
                  <a:schemeClr val="tx2"/>
                </a:solidFill>
              </a:endParaRPr>
            </a:p>
            <a:p>
              <a:r>
                <a:rPr lang="en-US" altLang="zh-TW" sz="1400" dirty="0">
                  <a:solidFill>
                    <a:schemeClr val="tx2"/>
                  </a:solidFill>
                </a:rPr>
                <a:t>  </a:t>
              </a:r>
              <a:r>
                <a:rPr lang="en-US" altLang="zh-TW" sz="1400" dirty="0" err="1">
                  <a:solidFill>
                    <a:schemeClr val="tx2"/>
                  </a:solidFill>
                </a:rPr>
                <a:t>GetGpioCfg.c</a:t>
              </a:r>
              <a:endParaRPr lang="en-US" altLang="zh-TW" sz="1400" dirty="0">
                <a:solidFill>
                  <a:schemeClr val="tx2"/>
                </a:solidFill>
              </a:endParaRPr>
            </a:p>
            <a:p>
              <a:r>
                <a:rPr lang="en-US" altLang="zh-TW" sz="1400" dirty="0">
                  <a:solidFill>
                    <a:schemeClr val="tx2"/>
                  </a:solidFill>
                </a:rPr>
                <a:t>  …</a:t>
              </a:r>
              <a:endParaRPr lang="en-US" altLang="zh-TW" sz="1400" dirty="0"/>
            </a:p>
          </p:txBody>
        </p:sp>
      </p:grpSp>
    </p:spTree>
    <p:extLst>
      <p:ext uri="{BB962C8B-B14F-4D97-AF65-F5344CB8AC3E}">
        <p14:creationId xmlns:p14="http://schemas.microsoft.com/office/powerpoint/2010/main" val="881704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ProgramGpioPei.c</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normAutofit fontScale="85000" lnSpcReduction="20000"/>
          </a:bodyPr>
          <a:lstStyle/>
          <a:p>
            <a:r>
              <a:rPr lang="en-US" altLang="zh-TW" sz="2400" dirty="0"/>
              <a:t>Retrieve the GPIO table and configure the GPIO in the component.</a:t>
            </a:r>
          </a:p>
          <a:p>
            <a:pPr marL="457200" lvl="1" indent="0">
              <a:lnSpc>
                <a:spcPct val="100000"/>
              </a:lnSpc>
              <a:spcBef>
                <a:spcPts val="0"/>
              </a:spcBef>
              <a:buNone/>
            </a:pPr>
            <a:endParaRPr lang="en-US" altLang="zh-TW" sz="1600" dirty="0">
              <a:solidFill>
                <a:srgbClr val="5A9541"/>
              </a:solidFill>
            </a:endParaRPr>
          </a:p>
          <a:p>
            <a:pPr marL="457200" lvl="1" indent="0">
              <a:lnSpc>
                <a:spcPct val="100000"/>
              </a:lnSpc>
              <a:spcBef>
                <a:spcPts val="0"/>
              </a:spcBef>
              <a:buNone/>
            </a:pPr>
            <a:r>
              <a:rPr lang="en-US" altLang="zh-TW" sz="1600" dirty="0">
                <a:solidFill>
                  <a:srgbClr val="5A9541"/>
                </a:solidFill>
              </a:rPr>
              <a:t>EFI_STATUS</a:t>
            </a:r>
          </a:p>
          <a:p>
            <a:pPr marL="457200" lvl="1" indent="0">
              <a:lnSpc>
                <a:spcPct val="100000"/>
              </a:lnSpc>
              <a:spcBef>
                <a:spcPts val="0"/>
              </a:spcBef>
              <a:buNone/>
            </a:pPr>
            <a:r>
              <a:rPr lang="en-US" altLang="zh-TW" sz="1600" dirty="0" err="1">
                <a:solidFill>
                  <a:srgbClr val="0070C0"/>
                </a:solidFill>
              </a:rPr>
              <a:t>ProgramGPIOEntryPoint</a:t>
            </a:r>
            <a:r>
              <a:rPr lang="en-US" altLang="zh-TW" sz="1600" dirty="0">
                <a:solidFill>
                  <a:srgbClr val="FF0000"/>
                </a:solidFill>
              </a:rPr>
              <a:t> (</a:t>
            </a:r>
          </a:p>
          <a:p>
            <a:pPr marL="457200" lvl="1" indent="0">
              <a:lnSpc>
                <a:spcPct val="100000"/>
              </a:lnSpc>
              <a:spcBef>
                <a:spcPts val="0"/>
              </a:spcBef>
              <a:buNone/>
            </a:pPr>
            <a:r>
              <a:rPr lang="en-US" altLang="zh-TW" sz="1600" dirty="0">
                <a:solidFill>
                  <a:schemeClr val="tx2"/>
                </a:solidFill>
              </a:rPr>
              <a:t>  …</a:t>
            </a:r>
          </a:p>
          <a:p>
            <a:pPr marL="457200" lvl="1" indent="0">
              <a:lnSpc>
                <a:spcPct val="100000"/>
              </a:lnSpc>
              <a:spcBef>
                <a:spcPts val="0"/>
              </a:spcBef>
              <a:buNone/>
            </a:pPr>
            <a:r>
              <a:rPr lang="en-US" altLang="zh-TW" sz="1600" dirty="0">
                <a:solidFill>
                  <a:schemeClr val="tx2"/>
                </a:solidFill>
              </a:rPr>
              <a:t>  )</a:t>
            </a:r>
          </a:p>
          <a:p>
            <a:pPr marL="457200" lvl="1" indent="0">
              <a:lnSpc>
                <a:spcPct val="100000"/>
              </a:lnSpc>
              <a:spcBef>
                <a:spcPts val="0"/>
              </a:spcBef>
              <a:buNone/>
            </a:pP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FF0000"/>
                </a:solidFill>
              </a:rPr>
              <a:t>if</a:t>
            </a:r>
            <a:r>
              <a:rPr lang="en-US" altLang="zh-TW" sz="1600" dirty="0">
                <a:solidFill>
                  <a:schemeClr val="tx2"/>
                </a:solidFill>
              </a:rPr>
              <a:t> (</a:t>
            </a:r>
            <a:r>
              <a:rPr lang="en-US" altLang="zh-TW" sz="1600" dirty="0">
                <a:solidFill>
                  <a:srgbClr val="00B050"/>
                </a:solidFill>
              </a:rPr>
              <a:t>PcdGet32</a:t>
            </a:r>
            <a:r>
              <a:rPr lang="en-US" altLang="zh-TW" sz="1600" dirty="0">
                <a:solidFill>
                  <a:schemeClr val="tx2"/>
                </a:solidFill>
              </a:rPr>
              <a:t>(</a:t>
            </a:r>
            <a:r>
              <a:rPr lang="en-US" altLang="zh-TW" sz="1600" dirty="0" err="1">
                <a:solidFill>
                  <a:schemeClr val="tx2"/>
                </a:solidFill>
              </a:rPr>
              <a:t>PcdGpioTableSource</a:t>
            </a:r>
            <a:r>
              <a:rPr lang="en-US" altLang="zh-TW" sz="1600" dirty="0">
                <a:solidFill>
                  <a:schemeClr val="tx2"/>
                </a:solidFill>
              </a:rPr>
              <a:t>) == </a:t>
            </a:r>
            <a:r>
              <a:rPr lang="en-US" altLang="zh-TW" sz="1600" dirty="0">
                <a:solidFill>
                  <a:srgbClr val="FF0000"/>
                </a:solidFill>
              </a:rPr>
              <a:t>GPIO_TABLE_UBA</a:t>
            </a: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 </a:t>
            </a:r>
            <a:r>
              <a:rPr lang="en-US" altLang="zh-TW" sz="1600" dirty="0" err="1">
                <a:solidFill>
                  <a:schemeClr val="tx2"/>
                </a:solidFill>
              </a:rPr>
              <a:t>Retrive</a:t>
            </a:r>
            <a:r>
              <a:rPr lang="en-US" altLang="zh-TW" sz="1600" dirty="0">
                <a:solidFill>
                  <a:schemeClr val="tx2"/>
                </a:solidFill>
              </a:rPr>
              <a:t> GPIO table information from UBA</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00B0F0"/>
                </a:solidFill>
              </a:rPr>
              <a:t>Status</a:t>
            </a:r>
            <a:r>
              <a:rPr lang="en-US" altLang="zh-TW" sz="1600" dirty="0">
                <a:solidFill>
                  <a:schemeClr val="tx2"/>
                </a:solidFill>
              </a:rPr>
              <a:t> = </a:t>
            </a:r>
            <a:r>
              <a:rPr lang="en-US" altLang="zh-TW" sz="1600" dirty="0" err="1">
                <a:solidFill>
                  <a:srgbClr val="00B050"/>
                </a:solidFill>
              </a:rPr>
              <a:t>UbaConfigPpi</a:t>
            </a:r>
            <a:r>
              <a:rPr lang="en-US" altLang="zh-TW" sz="1600" dirty="0">
                <a:solidFill>
                  <a:srgbClr val="203428"/>
                </a:solidFill>
              </a:rPr>
              <a:t>-</a:t>
            </a:r>
            <a:r>
              <a:rPr lang="en-US" altLang="zh-TW" sz="1600" dirty="0">
                <a:solidFill>
                  <a:schemeClr val="tx2"/>
                </a:solidFill>
              </a:rPr>
              <a:t>&gt;</a:t>
            </a:r>
            <a:r>
              <a:rPr lang="en-US" altLang="zh-TW" sz="1600" dirty="0" err="1">
                <a:solidFill>
                  <a:srgbClr val="00B050"/>
                </a:solidFill>
              </a:rPr>
              <a:t>GetData</a:t>
            </a:r>
            <a:r>
              <a:rPr lang="en-US" altLang="zh-TW" sz="1600" dirty="0">
                <a:solidFill>
                  <a:schemeClr val="tx2"/>
                </a:solidFill>
              </a:rPr>
              <a:t> (</a:t>
            </a:r>
            <a:r>
              <a:rPr lang="en-US" altLang="zh-TW" sz="1600" dirty="0" err="1">
                <a:solidFill>
                  <a:srgbClr val="00B0F0"/>
                </a:solidFill>
              </a:rPr>
              <a:t>UbaConfigPpi</a:t>
            </a:r>
            <a:r>
              <a:rPr lang="en-US" altLang="zh-TW" sz="1600" dirty="0">
                <a:solidFill>
                  <a:schemeClr val="tx2"/>
                </a:solidFill>
              </a:rPr>
              <a:t>, &amp;</a:t>
            </a:r>
            <a:r>
              <a:rPr lang="en-US" altLang="zh-TW" sz="1600" dirty="0" err="1">
                <a:solidFill>
                  <a:srgbClr val="00B0F0"/>
                </a:solidFill>
              </a:rPr>
              <a:t>gPlatformGpioInitDataGuid</a:t>
            </a:r>
            <a:r>
              <a:rPr lang="en-US" altLang="zh-TW" sz="1600" dirty="0">
                <a:solidFill>
                  <a:schemeClr val="tx2"/>
                </a:solidFill>
              </a:rPr>
              <a:t>, </a:t>
            </a:r>
            <a:r>
              <a:rPr lang="en-US" altLang="zh-TW" sz="1600" dirty="0" err="1">
                <a:solidFill>
                  <a:srgbClr val="00B0F0"/>
                </a:solidFill>
              </a:rPr>
              <a:t>GpioDefinitionTable</a:t>
            </a:r>
            <a:r>
              <a:rPr lang="en-US" altLang="zh-TW" sz="1600" dirty="0">
                <a:solidFill>
                  <a:schemeClr val="tx2"/>
                </a:solidFill>
              </a:rPr>
              <a:t>, &amp;</a:t>
            </a:r>
            <a:r>
              <a:rPr lang="en-US" altLang="zh-TW" sz="1600" dirty="0" err="1">
                <a:solidFill>
                  <a:srgbClr val="00B0F0"/>
                </a:solidFill>
              </a:rPr>
              <a:t>TableSize</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 </a:t>
            </a:r>
            <a:r>
              <a:rPr lang="en-US" altLang="zh-TW" sz="1600" dirty="0">
                <a:solidFill>
                  <a:srgbClr val="FF0000"/>
                </a:solidFill>
              </a:rPr>
              <a:t>else</a:t>
            </a: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 </a:t>
            </a:r>
            <a:r>
              <a:rPr lang="en-US" altLang="zh-TW" sz="1600" dirty="0" err="1">
                <a:solidFill>
                  <a:schemeClr val="tx2"/>
                </a:solidFill>
              </a:rPr>
              <a:t>Retrive</a:t>
            </a:r>
            <a:r>
              <a:rPr lang="en-US" altLang="zh-TW" sz="1600" dirty="0">
                <a:solidFill>
                  <a:schemeClr val="tx2"/>
                </a:solidFill>
              </a:rPr>
              <a:t> GPIO table information from PCD (*.</a:t>
            </a:r>
            <a:r>
              <a:rPr lang="en-US" altLang="zh-TW" sz="1600" dirty="0" err="1">
                <a:solidFill>
                  <a:schemeClr val="tx2"/>
                </a:solidFill>
              </a:rPr>
              <a:t>gpio</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00B0F0"/>
                </a:solidFill>
              </a:rPr>
              <a:t>Status</a:t>
            </a:r>
            <a:r>
              <a:rPr lang="en-US" altLang="zh-TW" sz="1600" dirty="0">
                <a:solidFill>
                  <a:schemeClr val="tx2"/>
                </a:solidFill>
              </a:rPr>
              <a:t> = </a:t>
            </a:r>
            <a:r>
              <a:rPr lang="en-US" altLang="zh-TW" sz="1600" dirty="0" err="1">
                <a:solidFill>
                  <a:srgbClr val="00B050"/>
                </a:solidFill>
              </a:rPr>
              <a:t>GetGpioCfg</a:t>
            </a:r>
            <a:r>
              <a:rPr lang="en-US" altLang="zh-TW" sz="1600" dirty="0">
                <a:solidFill>
                  <a:schemeClr val="tx2"/>
                </a:solidFill>
              </a:rPr>
              <a:t>(</a:t>
            </a:r>
            <a:r>
              <a:rPr lang="en-US" altLang="zh-TW" sz="1600" dirty="0">
                <a:solidFill>
                  <a:srgbClr val="FF0000"/>
                </a:solidFill>
              </a:rPr>
              <a:t>0</a:t>
            </a:r>
            <a:r>
              <a:rPr lang="en-US" altLang="zh-TW" sz="1600" dirty="0">
                <a:solidFill>
                  <a:schemeClr val="tx2"/>
                </a:solidFill>
              </a:rPr>
              <a:t>, &amp;</a:t>
            </a:r>
            <a:r>
              <a:rPr lang="en-US" altLang="zh-TW" sz="1600" dirty="0" err="1">
                <a:solidFill>
                  <a:srgbClr val="00B0F0"/>
                </a:solidFill>
              </a:rPr>
              <a:t>PcdGpioTable</a:t>
            </a:r>
            <a:r>
              <a:rPr lang="en-US" altLang="zh-TW" sz="1600" dirty="0">
                <a:solidFill>
                  <a:schemeClr val="tx2"/>
                </a:solidFill>
              </a:rPr>
              <a:t>, &amp;</a:t>
            </a:r>
            <a:r>
              <a:rPr lang="en-US" altLang="zh-TW" sz="1600" dirty="0" err="1">
                <a:solidFill>
                  <a:srgbClr val="00B0F0"/>
                </a:solidFill>
              </a:rPr>
              <a:t>GpioTableCount</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err="1">
                <a:solidFill>
                  <a:srgbClr val="00B050"/>
                </a:solidFill>
              </a:rPr>
              <a:t>OemSvcGetGpioTable</a:t>
            </a:r>
            <a:r>
              <a:rPr lang="en-US" altLang="zh-TW" sz="1600" dirty="0">
                <a:solidFill>
                  <a:schemeClr val="tx2"/>
                </a:solidFill>
              </a:rPr>
              <a:t> (&amp;</a:t>
            </a:r>
            <a:r>
              <a:rPr lang="en-US" altLang="zh-TW" sz="1600" dirty="0" err="1">
                <a:solidFill>
                  <a:srgbClr val="00B0F0"/>
                </a:solidFill>
              </a:rPr>
              <a:t>PcdGpioTable</a:t>
            </a:r>
            <a:r>
              <a:rPr lang="en-US" altLang="zh-TW" sz="1600" dirty="0">
                <a:solidFill>
                  <a:schemeClr val="tx2"/>
                </a:solidFill>
              </a:rPr>
              <a:t>, &amp;</a:t>
            </a:r>
            <a:r>
              <a:rPr lang="en-US" altLang="zh-TW" sz="1600" dirty="0" err="1">
                <a:solidFill>
                  <a:srgbClr val="00B0F0"/>
                </a:solidFill>
              </a:rPr>
              <a:t>GpioTableCount</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00B0F0"/>
                </a:solidFill>
              </a:rPr>
              <a:t>Status</a:t>
            </a:r>
            <a:r>
              <a:rPr lang="en-US" altLang="zh-TW" sz="1600" dirty="0">
                <a:solidFill>
                  <a:schemeClr val="tx2"/>
                </a:solidFill>
              </a:rPr>
              <a:t> = </a:t>
            </a:r>
            <a:r>
              <a:rPr lang="en-US" altLang="zh-TW" sz="1600" dirty="0" err="1">
                <a:solidFill>
                  <a:srgbClr val="00B050"/>
                </a:solidFill>
              </a:rPr>
              <a:t>OemSvcModifyGpioSettingTable</a:t>
            </a:r>
            <a:r>
              <a:rPr lang="en-US" altLang="zh-TW" sz="1600" dirty="0">
                <a:solidFill>
                  <a:schemeClr val="tx2"/>
                </a:solidFill>
              </a:rPr>
              <a:t>(</a:t>
            </a:r>
            <a:r>
              <a:rPr lang="en-US" altLang="zh-TW" sz="1600" dirty="0" err="1">
                <a:solidFill>
                  <a:srgbClr val="00B0F0"/>
                </a:solidFill>
              </a:rPr>
              <a:t>GpioDefinitionTable</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00B0F0"/>
                </a:solidFill>
              </a:rPr>
              <a:t>Status</a:t>
            </a:r>
            <a:r>
              <a:rPr lang="en-US" altLang="zh-TW" sz="1600" dirty="0">
                <a:solidFill>
                  <a:schemeClr val="tx2"/>
                </a:solidFill>
              </a:rPr>
              <a:t> = </a:t>
            </a:r>
            <a:r>
              <a:rPr lang="en-US" altLang="zh-TW" sz="1600" dirty="0" err="1">
                <a:solidFill>
                  <a:srgbClr val="00B050"/>
                </a:solidFill>
              </a:rPr>
              <a:t>GpioConfigurePads</a:t>
            </a:r>
            <a:r>
              <a:rPr lang="en-US" altLang="zh-TW" sz="1600" dirty="0">
                <a:solidFill>
                  <a:schemeClr val="tx2"/>
                </a:solidFill>
              </a:rPr>
              <a:t> (</a:t>
            </a:r>
            <a:r>
              <a:rPr lang="en-US" altLang="zh-TW" sz="1600" dirty="0" err="1">
                <a:solidFill>
                  <a:srgbClr val="00B0F0"/>
                </a:solidFill>
              </a:rPr>
              <a:t>GpioTableCount</a:t>
            </a:r>
            <a:r>
              <a:rPr lang="en-US" altLang="zh-TW" sz="1600" dirty="0">
                <a:solidFill>
                  <a:schemeClr val="tx2"/>
                </a:solidFill>
              </a:rPr>
              <a:t>, </a:t>
            </a:r>
            <a:r>
              <a:rPr lang="en-US" altLang="zh-TW" sz="1600" dirty="0" err="1">
                <a:solidFill>
                  <a:srgbClr val="00B0F0"/>
                </a:solidFill>
              </a:rPr>
              <a:t>GpioDefinitionTable</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0">
              <a:lnSpc>
                <a:spcPct val="100000"/>
              </a:lnSpc>
              <a:spcBef>
                <a:spcPts val="0"/>
              </a:spcBef>
              <a:buNone/>
            </a:pPr>
            <a:r>
              <a:rPr lang="en-US" altLang="zh-TW" sz="1600" dirty="0">
                <a:solidFill>
                  <a:srgbClr val="FF0000"/>
                </a:solidFill>
              </a:rPr>
              <a:t>  </a:t>
            </a:r>
            <a:r>
              <a:rPr lang="en-US" altLang="zh-TW" sz="1600" dirty="0">
                <a:solidFill>
                  <a:srgbClr val="0070C0"/>
                </a:solidFill>
              </a:rPr>
              <a:t>return</a:t>
            </a:r>
            <a:r>
              <a:rPr lang="en-US" altLang="zh-TW" sz="1600" dirty="0">
                <a:solidFill>
                  <a:srgbClr val="FF0000"/>
                </a:solidFill>
              </a:rPr>
              <a:t> EFI_SUCCESS;</a:t>
            </a:r>
          </a:p>
          <a:p>
            <a:pPr marL="457200" lvl="1" indent="0">
              <a:lnSpc>
                <a:spcPct val="100000"/>
              </a:lnSpc>
              <a:spcBef>
                <a:spcPts val="0"/>
              </a:spcBef>
              <a:buNone/>
            </a:pPr>
            <a:r>
              <a:rPr lang="en-US" altLang="zh-TW" sz="1600" dirty="0">
                <a:solidFill>
                  <a:schemeClr val="tx2"/>
                </a:solidFill>
              </a:rPr>
              <a:t>}</a:t>
            </a:r>
          </a:p>
          <a:p>
            <a:pPr marL="0" indent="0">
              <a:buNone/>
            </a:pPr>
            <a:endParaRPr lang="en-US" altLang="zh-TW" sz="2400" dirty="0">
              <a:solidFill>
                <a:srgbClr val="FF0000"/>
              </a:solidFill>
            </a:endParaRPr>
          </a:p>
        </p:txBody>
      </p:sp>
    </p:spTree>
    <p:extLst>
      <p:ext uri="{BB962C8B-B14F-4D97-AF65-F5344CB8AC3E}">
        <p14:creationId xmlns:p14="http://schemas.microsoft.com/office/powerpoint/2010/main" val="418936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OemSvcGetGpioTable.c</a:t>
            </a:r>
            <a:r>
              <a:rPr lang="en-US" altLang="zh-TW" dirty="0"/>
              <a:t> (PCD way)</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Based on the </a:t>
            </a:r>
            <a:r>
              <a:rPr lang="en-US" altLang="zh-TW" sz="2400" dirty="0" err="1"/>
              <a:t>BoardId</a:t>
            </a:r>
            <a:r>
              <a:rPr lang="en-US" altLang="zh-TW" sz="2400" dirty="0"/>
              <a:t> to get the specific GPIO setting.</a:t>
            </a:r>
          </a:p>
          <a:p>
            <a:pPr marL="457200" lvl="1" indent="0">
              <a:lnSpc>
                <a:spcPct val="100000"/>
              </a:lnSpc>
              <a:spcBef>
                <a:spcPts val="0"/>
              </a:spcBef>
              <a:buNone/>
            </a:pPr>
            <a:endParaRPr lang="en-US" altLang="zh-TW" sz="1600" dirty="0">
              <a:solidFill>
                <a:srgbClr val="5A9541"/>
              </a:solidFill>
            </a:endParaRPr>
          </a:p>
          <a:p>
            <a:pPr marL="457200" lvl="1" indent="0">
              <a:lnSpc>
                <a:spcPct val="100000"/>
              </a:lnSpc>
              <a:spcBef>
                <a:spcPts val="0"/>
              </a:spcBef>
              <a:buNone/>
            </a:pPr>
            <a:r>
              <a:rPr lang="en-US" altLang="zh-TW" sz="1600" dirty="0">
                <a:solidFill>
                  <a:srgbClr val="5A9541"/>
                </a:solidFill>
              </a:rPr>
              <a:t>EFI_STATUS</a:t>
            </a:r>
          </a:p>
          <a:p>
            <a:pPr marL="457200" lvl="1" indent="0">
              <a:lnSpc>
                <a:spcPct val="100000"/>
              </a:lnSpc>
              <a:spcBef>
                <a:spcPts val="0"/>
              </a:spcBef>
              <a:buNone/>
            </a:pPr>
            <a:r>
              <a:rPr lang="en-US" altLang="zh-TW" sz="1600" dirty="0" err="1">
                <a:solidFill>
                  <a:srgbClr val="0070C0"/>
                </a:solidFill>
              </a:rPr>
              <a:t>OemSvcGetGpioTable</a:t>
            </a:r>
            <a:r>
              <a:rPr lang="en-US" altLang="zh-TW" sz="1600" dirty="0">
                <a:solidFill>
                  <a:srgbClr val="FF0000"/>
                </a:solidFill>
              </a:rPr>
              <a:t> (</a:t>
            </a:r>
          </a:p>
          <a:p>
            <a:pPr marL="457200" lvl="1" indent="0">
              <a:lnSpc>
                <a:spcPct val="100000"/>
              </a:lnSpc>
              <a:spcBef>
                <a:spcPts val="0"/>
              </a:spcBef>
              <a:buNone/>
            </a:pPr>
            <a:r>
              <a:rPr lang="en-US" altLang="zh-TW" sz="1600" dirty="0">
                <a:solidFill>
                  <a:srgbClr val="FF0000"/>
                </a:solidFill>
              </a:rPr>
              <a:t>  </a:t>
            </a:r>
            <a:r>
              <a:rPr lang="en-US" altLang="zh-TW" sz="1600" dirty="0">
                <a:solidFill>
                  <a:srgbClr val="5A9541"/>
                </a:solidFill>
              </a:rPr>
              <a:t>PCD_GPIO_CONFIG </a:t>
            </a:r>
            <a:r>
              <a:rPr lang="en-US" altLang="zh-TW" sz="1600" dirty="0">
                <a:solidFill>
                  <a:srgbClr val="FF0000"/>
                </a:solidFill>
              </a:rPr>
              <a:t>**</a:t>
            </a:r>
            <a:r>
              <a:rPr lang="en-US" altLang="zh-TW" sz="1600" dirty="0" err="1">
                <a:solidFill>
                  <a:srgbClr val="0070C0"/>
                </a:solidFill>
              </a:rPr>
              <a:t>GpioTable</a:t>
            </a:r>
            <a:r>
              <a:rPr lang="en-US" altLang="zh-TW" sz="1600" dirty="0">
                <a:solidFill>
                  <a:srgbClr val="FF0000"/>
                </a:solidFill>
              </a:rPr>
              <a:t>,</a:t>
            </a:r>
          </a:p>
          <a:p>
            <a:pPr marL="457200" lvl="1" indent="0">
              <a:lnSpc>
                <a:spcPct val="100000"/>
              </a:lnSpc>
              <a:spcBef>
                <a:spcPts val="0"/>
              </a:spcBef>
              <a:buNone/>
            </a:pPr>
            <a:r>
              <a:rPr lang="en-US" altLang="zh-TW" sz="1600" dirty="0">
                <a:solidFill>
                  <a:srgbClr val="FF0000"/>
                </a:solidFill>
              </a:rPr>
              <a:t>  </a:t>
            </a:r>
            <a:r>
              <a:rPr lang="en-US" altLang="zh-TW" sz="1600" dirty="0">
                <a:solidFill>
                  <a:srgbClr val="5A9541"/>
                </a:solidFill>
              </a:rPr>
              <a:t>UINT32</a:t>
            </a:r>
            <a:r>
              <a:rPr lang="en-US" altLang="zh-TW" sz="1600" dirty="0">
                <a:solidFill>
                  <a:srgbClr val="FF0000"/>
                </a:solidFill>
              </a:rPr>
              <a:t>                    *</a:t>
            </a:r>
            <a:r>
              <a:rPr lang="en-US" altLang="zh-TW" sz="1600" dirty="0" err="1">
                <a:solidFill>
                  <a:srgbClr val="0070C0"/>
                </a:solidFill>
              </a:rPr>
              <a:t>PcdGpioTableCount</a:t>
            </a:r>
            <a:r>
              <a:rPr lang="en-US" altLang="zh-TW" sz="1600" dirty="0">
                <a:solidFill>
                  <a:schemeClr val="tx2"/>
                </a:solidFill>
              </a:rPr>
              <a:t>  )</a:t>
            </a:r>
          </a:p>
          <a:p>
            <a:pPr marL="457200" lvl="1" indent="0">
              <a:lnSpc>
                <a:spcPct val="100000"/>
              </a:lnSpc>
              <a:spcBef>
                <a:spcPts val="0"/>
              </a:spcBef>
              <a:buNone/>
            </a:pPr>
            <a:r>
              <a:rPr lang="en-US" altLang="zh-TW" sz="1600" dirty="0">
                <a:solidFill>
                  <a:schemeClr val="tx2"/>
                </a:solidFill>
              </a:rPr>
              <a:t>{</a:t>
            </a:r>
          </a:p>
          <a:p>
            <a:pPr marL="457200" lvl="1" indent="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err="1">
                <a:solidFill>
                  <a:srgbClr val="00B0F0"/>
                </a:solidFill>
              </a:rPr>
              <a:t>GuidHob</a:t>
            </a:r>
            <a:r>
              <a:rPr lang="en-US" altLang="zh-TW" sz="1600" dirty="0">
                <a:solidFill>
                  <a:schemeClr val="tx2"/>
                </a:solidFill>
              </a:rPr>
              <a:t> = </a:t>
            </a:r>
            <a:r>
              <a:rPr lang="en-US" altLang="zh-TW" sz="1600" dirty="0" err="1">
                <a:solidFill>
                  <a:srgbClr val="5A9541"/>
                </a:solidFill>
              </a:rPr>
              <a:t>GetFirstGuidHob</a:t>
            </a:r>
            <a:r>
              <a:rPr lang="en-US" altLang="zh-TW" sz="1600" dirty="0">
                <a:solidFill>
                  <a:schemeClr val="tx2"/>
                </a:solidFill>
              </a:rPr>
              <a:t> (&amp;</a:t>
            </a:r>
            <a:r>
              <a:rPr lang="en-US" altLang="zh-TW" sz="1600" dirty="0" err="1">
                <a:solidFill>
                  <a:schemeClr val="tx2"/>
                </a:solidFill>
              </a:rPr>
              <a:t>gEfiPlatformInfoGuid</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err="1">
                <a:solidFill>
                  <a:srgbClr val="00B0F0"/>
                </a:solidFill>
              </a:rPr>
              <a:t>PlatformInfo</a:t>
            </a:r>
            <a:r>
              <a:rPr lang="en-US" altLang="zh-TW" sz="1600" dirty="0">
                <a:solidFill>
                  <a:schemeClr val="tx2"/>
                </a:solidFill>
              </a:rPr>
              <a:t> = </a:t>
            </a:r>
            <a:r>
              <a:rPr lang="en-US" altLang="zh-TW" sz="1600" dirty="0">
                <a:solidFill>
                  <a:srgbClr val="5A9541"/>
                </a:solidFill>
              </a:rPr>
              <a:t>GET_GUID_HOB_DATA</a:t>
            </a:r>
            <a:r>
              <a:rPr lang="en-US" altLang="zh-TW" sz="1600" dirty="0">
                <a:solidFill>
                  <a:schemeClr val="tx2"/>
                </a:solidFill>
              </a:rPr>
              <a:t> (</a:t>
            </a:r>
            <a:r>
              <a:rPr lang="en-US" altLang="zh-TW" sz="1600" dirty="0" err="1">
                <a:solidFill>
                  <a:srgbClr val="00B0F0"/>
                </a:solidFill>
              </a:rPr>
              <a:t>GuidHob</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r>
              <a:rPr lang="en-US" altLang="zh-TW" sz="1600" dirty="0" err="1">
                <a:solidFill>
                  <a:srgbClr val="00B0F0"/>
                </a:solidFill>
              </a:rPr>
              <a:t>BoardId</a:t>
            </a:r>
            <a:r>
              <a:rPr lang="en-US" altLang="zh-TW" sz="1600" dirty="0">
                <a:solidFill>
                  <a:schemeClr val="tx2"/>
                </a:solidFill>
              </a:rPr>
              <a:t> = </a:t>
            </a:r>
            <a:r>
              <a:rPr lang="en-US" altLang="zh-TW" sz="1600" dirty="0" err="1">
                <a:solidFill>
                  <a:srgbClr val="0070C0"/>
                </a:solidFill>
              </a:rPr>
              <a:t>PlatformInfo</a:t>
            </a:r>
            <a:r>
              <a:rPr lang="en-US" altLang="zh-TW" sz="1600" dirty="0">
                <a:solidFill>
                  <a:srgbClr val="0070C0"/>
                </a:solidFill>
              </a:rPr>
              <a:t>-</a:t>
            </a:r>
            <a:r>
              <a:rPr lang="en-US" altLang="zh-TW" sz="1600" dirty="0">
                <a:solidFill>
                  <a:schemeClr val="tx2"/>
                </a:solidFill>
              </a:rPr>
              <a:t>&gt;</a:t>
            </a:r>
            <a:r>
              <a:rPr lang="en-US" altLang="zh-TW" sz="1600" dirty="0" err="1">
                <a:solidFill>
                  <a:srgbClr val="5A9541"/>
                </a:solidFill>
              </a:rPr>
              <a:t>BoardId</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00B0F0"/>
                </a:solidFill>
              </a:rPr>
              <a:t>Status</a:t>
            </a:r>
            <a:r>
              <a:rPr lang="en-US" altLang="zh-TW" sz="1600" dirty="0">
                <a:solidFill>
                  <a:schemeClr val="tx2"/>
                </a:solidFill>
              </a:rPr>
              <a:t> = </a:t>
            </a:r>
            <a:r>
              <a:rPr lang="en-US" altLang="zh-TW" sz="1600" dirty="0" err="1">
                <a:solidFill>
                  <a:srgbClr val="5A9541"/>
                </a:solidFill>
              </a:rPr>
              <a:t>GetGpioCfg</a:t>
            </a:r>
            <a:r>
              <a:rPr lang="en-US" altLang="zh-TW" sz="1600" dirty="0">
                <a:solidFill>
                  <a:schemeClr val="tx2"/>
                </a:solidFill>
              </a:rPr>
              <a:t>((UINT8) </a:t>
            </a:r>
            <a:r>
              <a:rPr lang="en-US" altLang="zh-TW" sz="1600" dirty="0" err="1">
                <a:solidFill>
                  <a:srgbClr val="00B0F0"/>
                </a:solidFill>
              </a:rPr>
              <a:t>BoardId</a:t>
            </a:r>
            <a:r>
              <a:rPr lang="en-US" altLang="zh-TW" sz="1600" dirty="0">
                <a:solidFill>
                  <a:schemeClr val="tx2"/>
                </a:solidFill>
              </a:rPr>
              <a:t>, </a:t>
            </a:r>
            <a:r>
              <a:rPr lang="en-US" altLang="zh-TW" sz="1600" dirty="0" err="1">
                <a:solidFill>
                  <a:srgbClr val="00B0F0"/>
                </a:solidFill>
              </a:rPr>
              <a:t>GpioTable</a:t>
            </a:r>
            <a:r>
              <a:rPr lang="en-US" altLang="zh-TW" sz="1600" dirty="0">
                <a:solidFill>
                  <a:schemeClr val="tx2"/>
                </a:solidFill>
              </a:rPr>
              <a:t>, </a:t>
            </a:r>
            <a:r>
              <a:rPr lang="en-US" altLang="zh-TW" sz="1600" dirty="0" err="1">
                <a:solidFill>
                  <a:srgbClr val="00B0F0"/>
                </a:solidFill>
              </a:rPr>
              <a:t>PcdGpioTableCount</a:t>
            </a: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0070C0"/>
                </a:solidFill>
              </a:rPr>
              <a:t>return</a:t>
            </a:r>
            <a:r>
              <a:rPr lang="en-US" altLang="zh-TW" sz="1600" dirty="0">
                <a:solidFill>
                  <a:schemeClr val="tx2"/>
                </a:solidFill>
              </a:rPr>
              <a:t>  </a:t>
            </a:r>
            <a:r>
              <a:rPr lang="en-US" altLang="zh-TW" sz="1600" dirty="0">
                <a:solidFill>
                  <a:srgbClr val="FF0000"/>
                </a:solidFill>
              </a:rPr>
              <a:t>EFI_MEDIA_CHANGED;</a:t>
            </a:r>
          </a:p>
          <a:p>
            <a:pPr marL="457200" lvl="1" indent="-57150">
              <a:lnSpc>
                <a:spcPct val="100000"/>
              </a:lnSpc>
              <a:spcBef>
                <a:spcPts val="0"/>
              </a:spcBef>
              <a:buNone/>
            </a:pPr>
            <a:r>
              <a:rPr lang="en-US" altLang="zh-TW" sz="1600" dirty="0">
                <a:solidFill>
                  <a:schemeClr val="tx2"/>
                </a:solidFill>
              </a:rPr>
              <a:t>}</a:t>
            </a:r>
          </a:p>
        </p:txBody>
      </p:sp>
    </p:spTree>
    <p:extLst>
      <p:ext uri="{BB962C8B-B14F-4D97-AF65-F5344CB8AC3E}">
        <p14:creationId xmlns:p14="http://schemas.microsoft.com/office/powerpoint/2010/main" val="2766310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ProgramGpioPei</a:t>
            </a:r>
            <a:r>
              <a:rPr lang="en-US" altLang="zh-TW" dirty="0"/>
              <a:t> (Uba way)</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normAutofit fontScale="92500" lnSpcReduction="10000"/>
          </a:bodyPr>
          <a:lstStyle/>
          <a:p>
            <a:r>
              <a:rPr lang="en-US" altLang="zh-TW" sz="2400" dirty="0"/>
              <a:t>Retrieve the GPIO table from UBA database.</a:t>
            </a:r>
          </a:p>
          <a:p>
            <a:pPr marL="457200" lvl="1" indent="0">
              <a:lnSpc>
                <a:spcPct val="100000"/>
              </a:lnSpc>
              <a:spcBef>
                <a:spcPts val="0"/>
              </a:spcBef>
              <a:buNone/>
            </a:pPr>
            <a:endParaRPr lang="en-US" altLang="zh-TW" sz="1600" dirty="0">
              <a:solidFill>
                <a:srgbClr val="5A9541"/>
              </a:solidFill>
            </a:endParaRPr>
          </a:p>
          <a:p>
            <a:pPr marL="457200" lvl="1" indent="0">
              <a:lnSpc>
                <a:spcPct val="100000"/>
              </a:lnSpc>
              <a:spcBef>
                <a:spcPts val="0"/>
              </a:spcBef>
              <a:buNone/>
            </a:pPr>
            <a:r>
              <a:rPr lang="en-US" altLang="zh-TW" sz="1600" dirty="0">
                <a:solidFill>
                  <a:srgbClr val="5A9541"/>
                </a:solidFill>
              </a:rPr>
              <a:t>EFI_STATUS</a:t>
            </a:r>
          </a:p>
          <a:p>
            <a:pPr marL="457200" lvl="1" indent="0">
              <a:lnSpc>
                <a:spcPct val="100000"/>
              </a:lnSpc>
              <a:spcBef>
                <a:spcPts val="0"/>
              </a:spcBef>
              <a:buNone/>
            </a:pPr>
            <a:r>
              <a:rPr lang="en-US" altLang="zh-TW" sz="1600" dirty="0" err="1">
                <a:solidFill>
                  <a:srgbClr val="0070C0"/>
                </a:solidFill>
              </a:rPr>
              <a:t>ProgramGPIOEntryPoint</a:t>
            </a:r>
            <a:r>
              <a:rPr lang="en-US" altLang="zh-TW" sz="1600" dirty="0">
                <a:solidFill>
                  <a:srgbClr val="FF0000"/>
                </a:solidFill>
              </a:rPr>
              <a:t> </a:t>
            </a:r>
            <a:r>
              <a:rPr lang="en-US" altLang="zh-TW" sz="1600" dirty="0">
                <a:solidFill>
                  <a:srgbClr val="203428"/>
                </a:solidFill>
              </a:rPr>
              <a:t>(</a:t>
            </a:r>
          </a:p>
          <a:p>
            <a:pPr marL="457200" lvl="1" indent="0">
              <a:lnSpc>
                <a:spcPct val="100000"/>
              </a:lnSpc>
              <a:spcBef>
                <a:spcPts val="0"/>
              </a:spcBef>
              <a:buNone/>
            </a:pPr>
            <a:r>
              <a:rPr lang="en-US" altLang="zh-TW" sz="1600" dirty="0">
                <a:solidFill>
                  <a:schemeClr val="tx2"/>
                </a:solidFill>
              </a:rPr>
              <a:t>  …</a:t>
            </a:r>
          </a:p>
          <a:p>
            <a:pPr marL="457200" lvl="1" indent="0">
              <a:lnSpc>
                <a:spcPct val="100000"/>
              </a:lnSpc>
              <a:spcBef>
                <a:spcPts val="0"/>
              </a:spcBef>
              <a:buNone/>
            </a:pPr>
            <a:r>
              <a:rPr lang="en-US" altLang="zh-TW" sz="1600" dirty="0">
                <a:solidFill>
                  <a:schemeClr val="tx2"/>
                </a:solidFill>
              </a:rPr>
              <a:t>  )</a:t>
            </a:r>
          </a:p>
          <a:p>
            <a:pPr marL="457200" lvl="1" indent="0">
              <a:lnSpc>
                <a:spcPct val="100000"/>
              </a:lnSpc>
              <a:spcBef>
                <a:spcPts val="0"/>
              </a:spcBef>
              <a:buNone/>
            </a:pP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FF0000"/>
                </a:solidFill>
              </a:rPr>
              <a:t>if</a:t>
            </a:r>
            <a:r>
              <a:rPr lang="en-US" altLang="zh-TW" sz="1600" dirty="0">
                <a:solidFill>
                  <a:schemeClr val="tx2"/>
                </a:solidFill>
              </a:rPr>
              <a:t> (</a:t>
            </a:r>
            <a:r>
              <a:rPr lang="en-US" altLang="zh-TW" sz="1600" dirty="0">
                <a:solidFill>
                  <a:srgbClr val="00B050"/>
                </a:solidFill>
              </a:rPr>
              <a:t>PcdGet32</a:t>
            </a:r>
            <a:r>
              <a:rPr lang="en-US" altLang="zh-TW" sz="1600" dirty="0">
                <a:solidFill>
                  <a:schemeClr val="tx2"/>
                </a:solidFill>
              </a:rPr>
              <a:t>(</a:t>
            </a:r>
            <a:r>
              <a:rPr lang="en-US" altLang="zh-TW" sz="1600" dirty="0" err="1">
                <a:solidFill>
                  <a:schemeClr val="tx2"/>
                </a:solidFill>
              </a:rPr>
              <a:t>PcdGpioTableSource</a:t>
            </a:r>
            <a:r>
              <a:rPr lang="en-US" altLang="zh-TW" sz="1600" dirty="0">
                <a:solidFill>
                  <a:schemeClr val="tx2"/>
                </a:solidFill>
              </a:rPr>
              <a:t>) == </a:t>
            </a:r>
            <a:r>
              <a:rPr lang="en-US" altLang="zh-TW" sz="1600" dirty="0">
                <a:solidFill>
                  <a:srgbClr val="FF0000"/>
                </a:solidFill>
              </a:rPr>
              <a:t>GPIO_TABLE_UBA</a:t>
            </a:r>
            <a:r>
              <a:rPr lang="en-US" altLang="zh-TW" sz="1600" dirty="0">
                <a:solidFill>
                  <a:schemeClr val="tx2"/>
                </a:solidFill>
              </a:rPr>
              <a:t>) {</a:t>
            </a:r>
          </a:p>
          <a:p>
            <a:pPr marL="457200" lvl="1" indent="-57150">
              <a:lnSpc>
                <a:spcPct val="100000"/>
              </a:lnSpc>
              <a:spcBef>
                <a:spcPts val="0"/>
              </a:spcBef>
              <a:buNone/>
            </a:pPr>
            <a:endParaRPr lang="en-US" altLang="zh-TW" sz="1600" dirty="0">
              <a:solidFill>
                <a:schemeClr val="tx2"/>
              </a:solidFill>
            </a:endParaRPr>
          </a:p>
          <a:p>
            <a:pPr marL="457200" lvl="1" indent="-57150">
              <a:lnSpc>
                <a:spcPct val="100000"/>
              </a:lnSpc>
              <a:spcBef>
                <a:spcPts val="0"/>
              </a:spcBef>
              <a:buNone/>
            </a:pPr>
            <a:r>
              <a:rPr lang="en-US" altLang="zh-TW" sz="1600" dirty="0">
                <a:solidFill>
                  <a:schemeClr val="tx2"/>
                </a:solidFill>
              </a:rPr>
              <a:t>     </a:t>
            </a:r>
            <a:r>
              <a:rPr lang="en-US" altLang="zh-TW" sz="1600" dirty="0">
                <a:solidFill>
                  <a:srgbClr val="00B0F0"/>
                </a:solidFill>
              </a:rPr>
              <a:t>Status</a:t>
            </a:r>
            <a:r>
              <a:rPr lang="en-US" altLang="zh-TW" sz="1600" dirty="0">
                <a:solidFill>
                  <a:schemeClr val="tx2"/>
                </a:solidFill>
              </a:rPr>
              <a:t> = </a:t>
            </a:r>
            <a:r>
              <a:rPr lang="en-US" altLang="zh-TW" sz="1600" dirty="0" err="1">
                <a:solidFill>
                  <a:srgbClr val="00B050"/>
                </a:solidFill>
              </a:rPr>
              <a:t>PeiServicesLocatePpi</a:t>
            </a:r>
            <a:r>
              <a:rPr lang="en-US" altLang="zh-TW" sz="1600" dirty="0">
                <a:solidFill>
                  <a:schemeClr val="tx2"/>
                </a:solidFill>
              </a:rPr>
              <a:t> (&amp;</a:t>
            </a:r>
            <a:r>
              <a:rPr lang="en-US" altLang="zh-TW" sz="1600" dirty="0" err="1">
                <a:solidFill>
                  <a:srgbClr val="00B0F0"/>
                </a:solidFill>
              </a:rPr>
              <a:t>gUbaConfigDatabasePpiGuid</a:t>
            </a:r>
            <a:r>
              <a:rPr lang="en-US" altLang="zh-TW" sz="1600" dirty="0">
                <a:solidFill>
                  <a:schemeClr val="tx2"/>
                </a:solidFill>
              </a:rPr>
              <a:t>, </a:t>
            </a:r>
            <a:r>
              <a:rPr lang="en-US" altLang="zh-TW" sz="1600" dirty="0">
                <a:solidFill>
                  <a:srgbClr val="FF0000"/>
                </a:solidFill>
              </a:rPr>
              <a:t>0</a:t>
            </a:r>
            <a:r>
              <a:rPr lang="en-US" altLang="zh-TW" sz="1600" dirty="0">
                <a:solidFill>
                  <a:schemeClr val="tx2"/>
                </a:solidFill>
              </a:rPr>
              <a:t>, </a:t>
            </a:r>
            <a:r>
              <a:rPr lang="en-US" altLang="zh-TW" sz="1600" dirty="0">
                <a:solidFill>
                  <a:srgbClr val="FF0000"/>
                </a:solidFill>
              </a:rPr>
              <a:t>NULL</a:t>
            </a:r>
            <a:r>
              <a:rPr lang="en-US" altLang="zh-TW" sz="1600" dirty="0">
                <a:solidFill>
                  <a:schemeClr val="tx2"/>
                </a:solidFill>
              </a:rPr>
              <a:t>, &amp;</a:t>
            </a:r>
            <a:r>
              <a:rPr lang="en-US" altLang="zh-TW" sz="1600" dirty="0" err="1">
                <a:solidFill>
                  <a:srgbClr val="00B0F0"/>
                </a:solidFill>
              </a:rPr>
              <a:t>UbaConfigPpi</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 </a:t>
            </a:r>
          </a:p>
          <a:p>
            <a:pPr marL="457200" lvl="1" indent="-57150">
              <a:lnSpc>
                <a:spcPct val="100000"/>
              </a:lnSpc>
              <a:spcBef>
                <a:spcPts val="0"/>
              </a:spcBef>
              <a:buNone/>
            </a:pPr>
            <a:r>
              <a:rPr lang="en-US" altLang="zh-TW" sz="1600" dirty="0">
                <a:solidFill>
                  <a:schemeClr val="tx2"/>
                </a:solidFill>
              </a:rPr>
              <a:t>     </a:t>
            </a:r>
            <a:r>
              <a:rPr lang="en-US" altLang="zh-TW" sz="1600" dirty="0" err="1">
                <a:solidFill>
                  <a:srgbClr val="00B0F0"/>
                </a:solidFill>
              </a:rPr>
              <a:t>TableSize</a:t>
            </a:r>
            <a:r>
              <a:rPr lang="en-US" altLang="zh-TW" sz="1600" dirty="0">
                <a:solidFill>
                  <a:schemeClr val="tx2"/>
                </a:solidFill>
              </a:rPr>
              <a:t> = </a:t>
            </a:r>
            <a:r>
              <a:rPr lang="en-US" altLang="zh-TW" sz="1600" dirty="0">
                <a:solidFill>
                  <a:srgbClr val="00B050"/>
                </a:solidFill>
              </a:rPr>
              <a:t>PcdGet32</a:t>
            </a:r>
            <a:r>
              <a:rPr lang="en-US" altLang="zh-TW" sz="1600" dirty="0">
                <a:solidFill>
                  <a:schemeClr val="tx2"/>
                </a:solidFill>
              </a:rPr>
              <a:t> (</a:t>
            </a:r>
            <a:r>
              <a:rPr lang="en-US" altLang="zh-TW" sz="1600" dirty="0" err="1">
                <a:solidFill>
                  <a:schemeClr val="tx2"/>
                </a:solidFill>
              </a:rPr>
              <a:t>PcdOemSku_GPIO_TABLE_SIZE</a:t>
            </a:r>
            <a:r>
              <a:rPr lang="en-US" altLang="zh-TW" sz="1600" dirty="0">
                <a:solidFill>
                  <a:schemeClr val="tx2"/>
                </a:solidFill>
              </a:rPr>
              <a:t>);  // </a:t>
            </a:r>
            <a:r>
              <a:rPr lang="en-US" altLang="zh-TW" sz="1600" dirty="0" err="1">
                <a:solidFill>
                  <a:schemeClr val="tx2"/>
                </a:solidFill>
              </a:rPr>
              <a:t>Retrive</a:t>
            </a:r>
            <a:r>
              <a:rPr lang="en-US" altLang="zh-TW" sz="1600" dirty="0">
                <a:solidFill>
                  <a:schemeClr val="tx2"/>
                </a:solidFill>
              </a:rPr>
              <a:t> size of current </a:t>
            </a:r>
            <a:r>
              <a:rPr lang="en-US" altLang="zh-TW" sz="1600" dirty="0" err="1">
                <a:solidFill>
                  <a:schemeClr val="tx2"/>
                </a:solidFill>
              </a:rPr>
              <a:t>Sku</a:t>
            </a:r>
            <a:r>
              <a:rPr lang="en-US" altLang="zh-TW" sz="1600" dirty="0">
                <a:solidFill>
                  <a:schemeClr val="tx2"/>
                </a:solidFill>
              </a:rPr>
              <a:t> GPIO table</a:t>
            </a:r>
          </a:p>
          <a:p>
            <a:pPr marL="457200" lvl="1" indent="-57150">
              <a:lnSpc>
                <a:spcPct val="100000"/>
              </a:lnSpc>
              <a:spcBef>
                <a:spcPts val="0"/>
              </a:spcBef>
              <a:buNone/>
            </a:pP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a:solidFill>
                  <a:srgbClr val="00B0F0"/>
                </a:solidFill>
              </a:rPr>
              <a:t>Status</a:t>
            </a:r>
            <a:r>
              <a:rPr lang="en-US" altLang="zh-TW" sz="1600" dirty="0">
                <a:solidFill>
                  <a:schemeClr val="tx2"/>
                </a:solidFill>
              </a:rPr>
              <a:t> = </a:t>
            </a:r>
            <a:r>
              <a:rPr lang="en-US" altLang="zh-TW" sz="1600" dirty="0" err="1">
                <a:solidFill>
                  <a:srgbClr val="00B050"/>
                </a:solidFill>
              </a:rPr>
              <a:t>UbaConfigPpi</a:t>
            </a:r>
            <a:r>
              <a:rPr lang="en-US" altLang="zh-TW" sz="1600" dirty="0">
                <a:solidFill>
                  <a:schemeClr val="tx2"/>
                </a:solidFill>
              </a:rPr>
              <a:t>-&gt; </a:t>
            </a:r>
            <a:r>
              <a:rPr lang="en-US" altLang="zh-TW" sz="1600" dirty="0" err="1">
                <a:solidFill>
                  <a:srgbClr val="00B050"/>
                </a:solidFill>
              </a:rPr>
              <a:t>GetData</a:t>
            </a:r>
            <a:r>
              <a:rPr lang="en-US" altLang="zh-TW" sz="1600" dirty="0">
                <a:solidFill>
                  <a:schemeClr val="tx2"/>
                </a:solidFill>
              </a:rPr>
              <a:t> (		// Get GPIO table via Uba </a:t>
            </a:r>
            <a:r>
              <a:rPr lang="en-US" altLang="zh-TW" sz="1600" dirty="0" err="1">
                <a:solidFill>
                  <a:schemeClr val="tx2"/>
                </a:solidFill>
              </a:rPr>
              <a:t>ppi</a:t>
            </a:r>
            <a:r>
              <a:rPr lang="en-US" altLang="zh-TW" sz="1600" dirty="0">
                <a:solidFill>
                  <a:schemeClr val="tx2"/>
                </a:solidFill>
              </a:rPr>
              <a:t>				    		                        </a:t>
            </a:r>
            <a:r>
              <a:rPr lang="en-US" altLang="zh-TW" sz="1600" dirty="0" err="1">
                <a:solidFill>
                  <a:srgbClr val="00B0F0"/>
                </a:solidFill>
              </a:rPr>
              <a:t>UbaConfigPpi</a:t>
            </a: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&amp;</a:t>
            </a:r>
            <a:r>
              <a:rPr lang="en-US" altLang="zh-TW" sz="1600" dirty="0" err="1">
                <a:solidFill>
                  <a:srgbClr val="00B0F0"/>
                </a:solidFill>
              </a:rPr>
              <a:t>gPlatformGpioInitDataGuid</a:t>
            </a: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t>
            </a:r>
            <a:r>
              <a:rPr lang="en-US" altLang="zh-TW" sz="1600" dirty="0" err="1">
                <a:solidFill>
                  <a:srgbClr val="00B0F0"/>
                </a:solidFill>
              </a:rPr>
              <a:t>GpioDefinitiontable</a:t>
            </a:r>
            <a:r>
              <a:rPr lang="en-US" altLang="zh-TW" sz="1600" dirty="0">
                <a:solidFill>
                  <a:schemeClr val="tx2"/>
                </a:solidFill>
              </a:rPr>
              <a:t>, </a:t>
            </a:r>
          </a:p>
          <a:p>
            <a:pPr marL="457200" lvl="1" indent="-57150">
              <a:lnSpc>
                <a:spcPct val="100000"/>
              </a:lnSpc>
              <a:spcBef>
                <a:spcPts val="0"/>
              </a:spcBef>
              <a:buNone/>
            </a:pPr>
            <a:r>
              <a:rPr lang="en-US" altLang="zh-TW" sz="1600" dirty="0">
                <a:solidFill>
                  <a:schemeClr val="tx2"/>
                </a:solidFill>
              </a:rPr>
              <a:t>				       &amp;</a:t>
            </a:r>
            <a:r>
              <a:rPr lang="en-US" altLang="zh-TW" sz="1600" dirty="0" err="1">
                <a:solidFill>
                  <a:srgbClr val="00B0F0"/>
                </a:solidFill>
              </a:rPr>
              <a:t>TableSize</a:t>
            </a: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p>
          <a:p>
            <a:pPr marL="457200" lvl="1" indent="0">
              <a:lnSpc>
                <a:spcPct val="100000"/>
              </a:lnSpc>
              <a:spcBef>
                <a:spcPts val="0"/>
              </a:spcBef>
              <a:buNone/>
            </a:pPr>
            <a:r>
              <a:rPr lang="en-US" altLang="zh-TW" sz="1600" dirty="0">
                <a:solidFill>
                  <a:srgbClr val="FF0000"/>
                </a:solidFill>
              </a:rPr>
              <a:t>  </a:t>
            </a:r>
            <a:r>
              <a:rPr lang="en-US" altLang="zh-TW" sz="1600" dirty="0">
                <a:solidFill>
                  <a:srgbClr val="0070C0"/>
                </a:solidFill>
              </a:rPr>
              <a:t>return</a:t>
            </a:r>
            <a:r>
              <a:rPr lang="en-US" altLang="zh-TW" sz="1600" dirty="0">
                <a:solidFill>
                  <a:srgbClr val="FF0000"/>
                </a:solidFill>
              </a:rPr>
              <a:t> EFI_SUCCESS;</a:t>
            </a:r>
          </a:p>
          <a:p>
            <a:pPr marL="457200" lvl="1" indent="0">
              <a:lnSpc>
                <a:spcPct val="100000"/>
              </a:lnSpc>
              <a:spcBef>
                <a:spcPts val="0"/>
              </a:spcBef>
              <a:buNone/>
            </a:pPr>
            <a:r>
              <a:rPr lang="en-US" altLang="zh-TW" sz="1600" dirty="0">
                <a:solidFill>
                  <a:schemeClr val="tx2"/>
                </a:solidFill>
              </a:rPr>
              <a:t>}</a:t>
            </a:r>
          </a:p>
          <a:p>
            <a:pPr marL="0" indent="0">
              <a:buNone/>
            </a:pPr>
            <a:endParaRPr lang="en-US" altLang="zh-TW" sz="2400" dirty="0">
              <a:solidFill>
                <a:srgbClr val="FF0000"/>
              </a:solidFill>
            </a:endParaRPr>
          </a:p>
        </p:txBody>
      </p:sp>
    </p:spTree>
    <p:extLst>
      <p:ext uri="{BB962C8B-B14F-4D97-AF65-F5344CB8AC3E}">
        <p14:creationId xmlns:p14="http://schemas.microsoft.com/office/powerpoint/2010/main" val="13644059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normAutofit/>
          </a:bodyPr>
          <a:lstStyle/>
          <a:p>
            <a:r>
              <a:rPr lang="en-US" altLang="zh-TW" dirty="0" err="1"/>
              <a:t>OemSvcModifyGpioSettingTable.c</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Dynamic update before programming GPIO settings.</a:t>
            </a:r>
          </a:p>
          <a:p>
            <a:pPr marL="457200" lvl="1" indent="0">
              <a:lnSpc>
                <a:spcPct val="100000"/>
              </a:lnSpc>
              <a:spcBef>
                <a:spcPts val="0"/>
              </a:spcBef>
              <a:buNone/>
            </a:pPr>
            <a:endParaRPr lang="en-US" altLang="zh-TW" sz="1600" dirty="0">
              <a:solidFill>
                <a:srgbClr val="5A9541"/>
              </a:solidFill>
            </a:endParaRPr>
          </a:p>
          <a:p>
            <a:pPr marL="457200" lvl="1" indent="0">
              <a:lnSpc>
                <a:spcPct val="100000"/>
              </a:lnSpc>
              <a:spcBef>
                <a:spcPts val="0"/>
              </a:spcBef>
              <a:buNone/>
            </a:pPr>
            <a:r>
              <a:rPr lang="en-US" altLang="zh-TW" sz="1600" dirty="0">
                <a:solidFill>
                  <a:srgbClr val="5A9541"/>
                </a:solidFill>
              </a:rPr>
              <a:t>EFI_STATUS</a:t>
            </a:r>
          </a:p>
          <a:p>
            <a:pPr marL="457200" lvl="1" indent="0">
              <a:lnSpc>
                <a:spcPct val="100000"/>
              </a:lnSpc>
              <a:spcBef>
                <a:spcPts val="0"/>
              </a:spcBef>
              <a:buNone/>
            </a:pPr>
            <a:r>
              <a:rPr lang="en-US" altLang="zh-TW" sz="1600" dirty="0" err="1">
                <a:solidFill>
                  <a:srgbClr val="0070C0"/>
                </a:solidFill>
              </a:rPr>
              <a:t>OemSvcModifyGpioSettingTable</a:t>
            </a:r>
            <a:r>
              <a:rPr lang="en-US" altLang="zh-TW" sz="1600" dirty="0">
                <a:solidFill>
                  <a:srgbClr val="FF0000"/>
                </a:solidFill>
              </a:rPr>
              <a:t> (</a:t>
            </a:r>
          </a:p>
          <a:p>
            <a:pPr marL="457200" lvl="1" indent="0">
              <a:lnSpc>
                <a:spcPct val="100000"/>
              </a:lnSpc>
              <a:spcBef>
                <a:spcPts val="0"/>
              </a:spcBef>
              <a:buNone/>
            </a:pPr>
            <a:r>
              <a:rPr lang="en-US" altLang="zh-TW" sz="1600" dirty="0">
                <a:solidFill>
                  <a:srgbClr val="FF0000"/>
                </a:solidFill>
              </a:rPr>
              <a:t>  IN OUT  </a:t>
            </a:r>
            <a:r>
              <a:rPr lang="en-US" altLang="zh-TW" sz="1600" dirty="0">
                <a:solidFill>
                  <a:srgbClr val="5A9541"/>
                </a:solidFill>
              </a:rPr>
              <a:t>GPIO_INIT_CONFIG</a:t>
            </a:r>
            <a:r>
              <a:rPr lang="en-US" altLang="zh-TW" sz="1600" dirty="0">
                <a:solidFill>
                  <a:srgbClr val="FF0000"/>
                </a:solidFill>
              </a:rPr>
              <a:t>  *</a:t>
            </a:r>
            <a:r>
              <a:rPr lang="en-US" altLang="zh-TW" sz="1600" dirty="0" err="1">
                <a:solidFill>
                  <a:srgbClr val="0070C0"/>
                </a:solidFill>
              </a:rPr>
              <a:t>GpioTable</a:t>
            </a:r>
            <a:endParaRPr lang="en-US" altLang="zh-TW" sz="1600" dirty="0">
              <a:solidFill>
                <a:srgbClr val="0070C0"/>
              </a:solidFill>
            </a:endParaRPr>
          </a:p>
          <a:p>
            <a:pPr marL="457200" lvl="1" indent="0">
              <a:lnSpc>
                <a:spcPct val="100000"/>
              </a:lnSpc>
              <a:spcBef>
                <a:spcPts val="0"/>
              </a:spcBef>
              <a:buNone/>
            </a:pPr>
            <a:r>
              <a:rPr lang="en-US" altLang="zh-TW" sz="1600" dirty="0">
                <a:solidFill>
                  <a:schemeClr val="tx2"/>
                </a:solidFill>
              </a:rPr>
              <a:t>  )</a:t>
            </a:r>
          </a:p>
          <a:p>
            <a:pPr marL="457200" lvl="1" indent="0">
              <a:lnSpc>
                <a:spcPct val="100000"/>
              </a:lnSpc>
              <a:spcBef>
                <a:spcPts val="0"/>
              </a:spcBef>
              <a:buNone/>
            </a:pPr>
            <a:r>
              <a:rPr lang="en-US" altLang="zh-TW" sz="1600" dirty="0">
                <a:solidFill>
                  <a:schemeClr val="tx2"/>
                </a:solidFill>
              </a:rPr>
              <a:t>{</a:t>
            </a:r>
          </a:p>
          <a:p>
            <a:pPr marL="457200" lvl="1" indent="-57150">
              <a:lnSpc>
                <a:spcPct val="100000"/>
              </a:lnSpc>
              <a:spcBef>
                <a:spcPts val="0"/>
              </a:spcBef>
              <a:buNone/>
            </a:pPr>
            <a:r>
              <a:rPr lang="en-US" altLang="zh-TW" sz="1600" dirty="0">
                <a:solidFill>
                  <a:schemeClr val="tx2"/>
                </a:solidFill>
              </a:rPr>
              <a:t>  </a:t>
            </a:r>
            <a:r>
              <a:rPr lang="en-US" altLang="zh-TW" sz="1600" b="1" dirty="0">
                <a:solidFill>
                  <a:schemeClr val="tx2"/>
                </a:solidFill>
              </a:rPr>
              <a:t> /*++</a:t>
            </a:r>
          </a:p>
          <a:p>
            <a:pPr marL="457200" lvl="1" indent="-57150">
              <a:lnSpc>
                <a:spcPct val="100000"/>
              </a:lnSpc>
              <a:spcBef>
                <a:spcPts val="0"/>
              </a:spcBef>
              <a:buNone/>
            </a:pPr>
            <a:r>
              <a:rPr lang="en-US" altLang="zh-TW" sz="1600" b="1" dirty="0">
                <a:solidFill>
                  <a:schemeClr val="tx2"/>
                </a:solidFill>
              </a:rPr>
              <a:t>    </a:t>
            </a:r>
            <a:r>
              <a:rPr lang="en-US" altLang="zh-TW" sz="1600" b="1" dirty="0" err="1">
                <a:solidFill>
                  <a:schemeClr val="tx2"/>
                </a:solidFill>
              </a:rPr>
              <a:t>Todo</a:t>
            </a:r>
            <a:r>
              <a:rPr lang="en-US" altLang="zh-TW" sz="1600" b="1" dirty="0">
                <a:solidFill>
                  <a:schemeClr val="tx2"/>
                </a:solidFill>
              </a:rPr>
              <a:t>:</a:t>
            </a:r>
          </a:p>
          <a:p>
            <a:pPr marL="457200" lvl="1" indent="-57150">
              <a:lnSpc>
                <a:spcPct val="100000"/>
              </a:lnSpc>
              <a:spcBef>
                <a:spcPts val="0"/>
              </a:spcBef>
              <a:buNone/>
            </a:pPr>
            <a:r>
              <a:rPr lang="en-US" altLang="zh-TW" sz="1600" b="1" dirty="0">
                <a:solidFill>
                  <a:schemeClr val="tx2"/>
                </a:solidFill>
              </a:rPr>
              <a:t>      Add project specific code in here.</a:t>
            </a:r>
          </a:p>
          <a:p>
            <a:pPr marL="457200" lvl="1" indent="-57150">
              <a:lnSpc>
                <a:spcPct val="100000"/>
              </a:lnSpc>
              <a:spcBef>
                <a:spcPts val="0"/>
              </a:spcBef>
              <a:buNone/>
            </a:pPr>
            <a:r>
              <a:rPr lang="en-US" altLang="zh-TW" sz="1600" b="1" dirty="0">
                <a:solidFill>
                  <a:schemeClr val="tx2"/>
                </a:solidFill>
              </a:rPr>
              <a:t>  --*/</a:t>
            </a:r>
            <a:endParaRPr lang="en-US" altLang="zh-TW" sz="1600" dirty="0">
              <a:solidFill>
                <a:schemeClr val="tx2"/>
              </a:solidFill>
            </a:endParaRPr>
          </a:p>
          <a:p>
            <a:pPr marL="457200" lvl="1" indent="0">
              <a:lnSpc>
                <a:spcPct val="100000"/>
              </a:lnSpc>
              <a:spcBef>
                <a:spcPts val="0"/>
              </a:spcBef>
              <a:buNone/>
            </a:pPr>
            <a:r>
              <a:rPr lang="en-US" altLang="zh-TW" sz="1600" dirty="0">
                <a:solidFill>
                  <a:srgbClr val="FF0000"/>
                </a:solidFill>
              </a:rPr>
              <a:t>  </a:t>
            </a:r>
            <a:r>
              <a:rPr lang="en-US" altLang="zh-TW" sz="1600" dirty="0">
                <a:solidFill>
                  <a:srgbClr val="0070C0"/>
                </a:solidFill>
              </a:rPr>
              <a:t>return</a:t>
            </a:r>
            <a:r>
              <a:rPr lang="en-US" altLang="zh-TW" sz="1600" dirty="0">
                <a:solidFill>
                  <a:srgbClr val="FF0000"/>
                </a:solidFill>
              </a:rPr>
              <a:t> EFI_UNSUPPORTED;</a:t>
            </a:r>
          </a:p>
          <a:p>
            <a:pPr marL="457200" lvl="1" indent="0">
              <a:lnSpc>
                <a:spcPct val="100000"/>
              </a:lnSpc>
              <a:spcBef>
                <a:spcPts val="0"/>
              </a:spcBef>
              <a:buNone/>
            </a:pPr>
            <a:r>
              <a:rPr lang="en-US" altLang="zh-TW" sz="1600" dirty="0">
                <a:solidFill>
                  <a:schemeClr val="tx2"/>
                </a:solidFill>
              </a:rPr>
              <a:t>}</a:t>
            </a:r>
          </a:p>
          <a:p>
            <a:pPr marL="0" indent="0">
              <a:buNone/>
            </a:pPr>
            <a:endParaRPr lang="en-US" altLang="zh-TW" sz="2400" dirty="0">
              <a:solidFill>
                <a:srgbClr val="FF0000"/>
              </a:solidFill>
            </a:endParaRPr>
          </a:p>
        </p:txBody>
      </p:sp>
    </p:spTree>
    <p:extLst>
      <p:ext uri="{BB962C8B-B14F-4D97-AF65-F5344CB8AC3E}">
        <p14:creationId xmlns:p14="http://schemas.microsoft.com/office/powerpoint/2010/main" val="2883278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E01ECC-0B5E-4368-A4D2-86BB54D7835B}"/>
              </a:ext>
            </a:extLst>
          </p:cNvPr>
          <p:cNvSpPr>
            <a:spLocks noGrp="1"/>
          </p:cNvSpPr>
          <p:nvPr>
            <p:ph type="title"/>
          </p:nvPr>
        </p:nvSpPr>
        <p:spPr/>
        <p:txBody>
          <a:bodyPr/>
          <a:lstStyle/>
          <a:p>
            <a:r>
              <a:rPr lang="en-US" altLang="zh-TW" dirty="0" err="1"/>
              <a:t>GpioTable.c</a:t>
            </a:r>
            <a:r>
              <a:rPr lang="en-US" altLang="zh-TW" dirty="0"/>
              <a:t> (Uba way)</a:t>
            </a:r>
            <a:endParaRPr lang="zh-TW" altLang="en-US" dirty="0"/>
          </a:p>
        </p:txBody>
      </p:sp>
      <p:sp>
        <p:nvSpPr>
          <p:cNvPr id="3" name="內容版面配置區 2">
            <a:extLst>
              <a:ext uri="{FF2B5EF4-FFF2-40B4-BE49-F238E27FC236}">
                <a16:creationId xmlns:a16="http://schemas.microsoft.com/office/drawing/2014/main" id="{8DDE17A7-ABC3-45DD-90FB-AFF947994CC6}"/>
              </a:ext>
            </a:extLst>
          </p:cNvPr>
          <p:cNvSpPr>
            <a:spLocks noGrp="1"/>
          </p:cNvSpPr>
          <p:nvPr>
            <p:ph idx="1"/>
          </p:nvPr>
        </p:nvSpPr>
        <p:spPr/>
        <p:txBody>
          <a:bodyPr>
            <a:normAutofit fontScale="55000" lnSpcReduction="20000"/>
          </a:bodyPr>
          <a:lstStyle/>
          <a:p>
            <a:r>
              <a:rPr lang="en-US" altLang="zh-TW" sz="4400" dirty="0"/>
              <a:t>GPIO settings:</a:t>
            </a:r>
          </a:p>
          <a:p>
            <a:pPr marL="0" indent="0">
              <a:buNone/>
            </a:pPr>
            <a:endParaRPr lang="en-US" altLang="zh-TW" dirty="0"/>
          </a:p>
          <a:p>
            <a:pPr marL="457200" lvl="1" indent="0">
              <a:buNone/>
            </a:pPr>
            <a:r>
              <a:rPr lang="en-US" altLang="zh-TW" sz="2500" dirty="0">
                <a:solidFill>
                  <a:srgbClr val="00B050"/>
                </a:solidFill>
              </a:rPr>
              <a:t>static</a:t>
            </a:r>
            <a:r>
              <a:rPr lang="en-US" altLang="zh-TW" sz="2500" dirty="0"/>
              <a:t> </a:t>
            </a:r>
            <a:r>
              <a:rPr lang="en-US" altLang="zh-TW" sz="2500" dirty="0">
                <a:solidFill>
                  <a:srgbClr val="00B050"/>
                </a:solidFill>
              </a:rPr>
              <a:t>GPIO_INIT_CONFIG</a:t>
            </a:r>
            <a:r>
              <a:rPr lang="en-US" altLang="zh-TW" sz="2500" dirty="0"/>
              <a:t> </a:t>
            </a:r>
            <a:r>
              <a:rPr lang="en-US" altLang="zh-TW" sz="2500" b="1" dirty="0" err="1">
                <a:solidFill>
                  <a:srgbClr val="002060"/>
                </a:solidFill>
              </a:rPr>
              <a:t>mGpioTableArcherCityRP</a:t>
            </a:r>
            <a:r>
              <a:rPr lang="en-US" altLang="zh-TW" sz="2500" dirty="0"/>
              <a:t> </a:t>
            </a:r>
            <a:r>
              <a:rPr lang="en-US" altLang="zh-TW" sz="2500" dirty="0">
                <a:solidFill>
                  <a:srgbClr val="7030A0"/>
                </a:solidFill>
              </a:rPr>
              <a:t>[]</a:t>
            </a:r>
            <a:r>
              <a:rPr lang="en-US" altLang="zh-TW" sz="2500" dirty="0"/>
              <a:t> </a:t>
            </a:r>
            <a:r>
              <a:rPr lang="en-US" altLang="zh-TW" sz="2500" dirty="0">
                <a:solidFill>
                  <a:srgbClr val="00B050"/>
                </a:solidFill>
              </a:rPr>
              <a:t>=</a:t>
            </a:r>
          </a:p>
          <a:p>
            <a:pPr marL="457200" lvl="1" indent="0">
              <a:buNone/>
            </a:pPr>
            <a:r>
              <a:rPr lang="en-US" altLang="zh-TW" sz="2500" dirty="0">
                <a:solidFill>
                  <a:srgbClr val="7030A0"/>
                </a:solidFill>
              </a:rPr>
              <a:t>{</a:t>
            </a:r>
          </a:p>
          <a:p>
            <a:pPr marL="457200" lvl="1" indent="0">
              <a:buNone/>
            </a:pPr>
            <a:r>
              <a:rPr lang="en-US" altLang="zh-TW" sz="2500" dirty="0"/>
              <a:t>    </a:t>
            </a:r>
            <a:r>
              <a:rPr lang="en-US" altLang="zh-TW" sz="2500" dirty="0">
                <a:solidFill>
                  <a:srgbClr val="7030A0"/>
                </a:solidFill>
              </a:rPr>
              <a:t>{</a:t>
            </a:r>
            <a:r>
              <a:rPr lang="en-US" altLang="zh-TW" sz="2500" dirty="0">
                <a:solidFill>
                  <a:srgbClr val="FF0000"/>
                </a:solidFill>
              </a:rPr>
              <a:t>GPIO_VER3_GPP_A0</a:t>
            </a:r>
            <a:r>
              <a:rPr lang="en-US" altLang="zh-TW" sz="2500" dirty="0">
                <a:solidFill>
                  <a:srgbClr val="7030A0"/>
                </a:solidFill>
              </a:rPr>
              <a:t>,</a:t>
            </a:r>
            <a:r>
              <a:rPr lang="en-US" altLang="zh-TW" sz="2500" dirty="0"/>
              <a:t>       </a:t>
            </a:r>
            <a:r>
              <a:rPr lang="en-US" altLang="zh-TW" sz="2500" dirty="0">
                <a:solidFill>
                  <a:srgbClr val="7030A0"/>
                </a:solidFill>
              </a:rPr>
              <a:t>{</a:t>
            </a:r>
            <a:r>
              <a:rPr lang="en-US" altLang="zh-TW" sz="2500" dirty="0"/>
              <a:t> </a:t>
            </a:r>
            <a:r>
              <a:rPr lang="en-US" altLang="zh-TW" sz="2500" dirty="0">
                <a:solidFill>
                  <a:srgbClr val="FF0000"/>
                </a:solidFill>
              </a:rPr>
              <a:t>GpioPadModeNative1</a:t>
            </a:r>
            <a:r>
              <a:rPr lang="en-US" altLang="zh-TW" sz="2500" dirty="0">
                <a:solidFill>
                  <a:srgbClr val="7030A0"/>
                </a:solidFill>
              </a:rPr>
              <a:t>,</a:t>
            </a:r>
            <a:r>
              <a:rPr lang="en-US" altLang="zh-TW" sz="2500" dirty="0"/>
              <a:t> </a:t>
            </a:r>
            <a:r>
              <a:rPr lang="en-US" altLang="zh-TW" sz="2500" dirty="0" err="1">
                <a:solidFill>
                  <a:srgbClr val="FF0000"/>
                </a:solidFill>
              </a:rPr>
              <a:t>GpioHostOwnDefault</a:t>
            </a:r>
            <a:r>
              <a:rPr lang="en-US" altLang="zh-TW" sz="2500" dirty="0">
                <a:solidFill>
                  <a:srgbClr val="7030A0"/>
                </a:solidFill>
              </a:rPr>
              <a:t>,</a:t>
            </a:r>
            <a:r>
              <a:rPr lang="en-US" altLang="zh-TW" sz="2500" dirty="0"/>
              <a:t>    </a:t>
            </a:r>
            <a:r>
              <a:rPr lang="en-US" altLang="zh-TW" sz="2500" dirty="0" err="1">
                <a:solidFill>
                  <a:srgbClr val="FF0000"/>
                </a:solidFill>
              </a:rPr>
              <a:t>GpioDirIn</a:t>
            </a:r>
            <a:r>
              <a:rPr lang="en-US" altLang="zh-TW" sz="2500" dirty="0">
                <a:solidFill>
                  <a:srgbClr val="7030A0"/>
                </a:solidFill>
              </a:rPr>
              <a:t>,</a:t>
            </a:r>
            <a:r>
              <a:rPr lang="en-US" altLang="zh-TW" sz="2500" dirty="0"/>
              <a:t>       </a:t>
            </a:r>
            <a:r>
              <a:rPr lang="en-US" altLang="zh-TW" sz="2500" dirty="0" err="1">
                <a:solidFill>
                  <a:srgbClr val="FF0000"/>
                </a:solidFill>
              </a:rPr>
              <a:t>GpioOutLow</a:t>
            </a:r>
            <a:r>
              <a:rPr lang="en-US" altLang="zh-TW" sz="2500" dirty="0">
                <a:solidFill>
                  <a:srgbClr val="7030A0"/>
                </a:solidFill>
              </a:rPr>
              <a:t>,</a:t>
            </a:r>
            <a:r>
              <a:rPr lang="en-US" altLang="zh-TW" sz="2500" dirty="0"/>
              <a:t>     </a:t>
            </a:r>
            <a:r>
              <a:rPr lang="en-US" altLang="zh-TW" sz="2500" dirty="0" err="1">
                <a:solidFill>
                  <a:srgbClr val="FF0000"/>
                </a:solidFill>
              </a:rPr>
              <a:t>GpioIntDis</a:t>
            </a:r>
            <a:r>
              <a:rPr lang="en-US" altLang="zh-TW" sz="2500" dirty="0">
                <a:solidFill>
                  <a:srgbClr val="7030A0"/>
                </a:solidFill>
              </a:rPr>
              <a:t>,</a:t>
            </a:r>
            <a:r>
              <a:rPr lang="en-US" altLang="zh-TW" sz="2500" dirty="0"/>
              <a:t>                     </a:t>
            </a:r>
            <a:r>
              <a:rPr lang="en-US" altLang="zh-TW" sz="2500" dirty="0" err="1">
                <a:solidFill>
                  <a:srgbClr val="FF0000"/>
                </a:solidFill>
              </a:rPr>
              <a:t>GpioHostDeepReset</a:t>
            </a:r>
            <a:r>
              <a:rPr lang="en-US" altLang="zh-TW" sz="2500" dirty="0">
                <a:solidFill>
                  <a:srgbClr val="7030A0"/>
                </a:solidFill>
              </a:rPr>
              <a:t>,</a:t>
            </a:r>
            <a:r>
              <a:rPr lang="en-US" altLang="zh-TW" sz="2500" dirty="0"/>
              <a:t>   </a:t>
            </a:r>
            <a:r>
              <a:rPr lang="en-US" altLang="zh-TW" sz="2500" dirty="0" err="1">
                <a:solidFill>
                  <a:srgbClr val="FF0000"/>
                </a:solidFill>
              </a:rPr>
              <a:t>GpioTermNone</a:t>
            </a:r>
            <a:r>
              <a:rPr lang="en-US" altLang="zh-TW" sz="2500" dirty="0">
                <a:solidFill>
                  <a:srgbClr val="7030A0"/>
                </a:solidFill>
              </a:rPr>
              <a:t>,</a:t>
            </a:r>
            <a:r>
              <a:rPr lang="en-US" altLang="zh-TW" sz="2500" dirty="0"/>
              <a:t>   </a:t>
            </a:r>
            <a:r>
              <a:rPr lang="en-US" altLang="zh-TW" sz="2500" dirty="0" err="1">
                <a:solidFill>
                  <a:srgbClr val="FF0000"/>
                </a:solidFill>
              </a:rPr>
              <a:t>GpioLockDefault</a:t>
            </a:r>
            <a:r>
              <a:rPr lang="en-US" altLang="zh-TW" sz="2500" dirty="0">
                <a:solidFill>
                  <a:srgbClr val="7030A0"/>
                </a:solidFill>
              </a:rPr>
              <a:t>}},</a:t>
            </a:r>
            <a:r>
              <a:rPr lang="en-US" altLang="zh-TW" sz="2500" dirty="0">
                <a:solidFill>
                  <a:srgbClr val="0070C0"/>
                </a:solidFill>
              </a:rPr>
              <a:t>//GPP_A_0_IRQ_LPC_PIRQA_N_ESPI_ALERT0_N</a:t>
            </a:r>
          </a:p>
          <a:p>
            <a:pPr marL="457200" lvl="1" indent="0">
              <a:buNone/>
            </a:pPr>
            <a:r>
              <a:rPr lang="en-US" altLang="zh-TW" sz="2500" dirty="0"/>
              <a:t>    </a:t>
            </a:r>
            <a:r>
              <a:rPr lang="en-US" altLang="zh-TW" sz="2500" dirty="0">
                <a:solidFill>
                  <a:srgbClr val="7030A0"/>
                </a:solidFill>
              </a:rPr>
              <a:t>{</a:t>
            </a:r>
            <a:r>
              <a:rPr lang="en-US" altLang="zh-TW" sz="2500" dirty="0">
                <a:solidFill>
                  <a:srgbClr val="FF0000"/>
                </a:solidFill>
              </a:rPr>
              <a:t>GPIO_VER3_GPP_A1</a:t>
            </a:r>
            <a:r>
              <a:rPr lang="en-US" altLang="zh-TW" sz="2500" dirty="0">
                <a:solidFill>
                  <a:srgbClr val="7030A0"/>
                </a:solidFill>
              </a:rPr>
              <a:t>,</a:t>
            </a:r>
            <a:r>
              <a:rPr lang="en-US" altLang="zh-TW" sz="2500" dirty="0"/>
              <a:t>       </a:t>
            </a:r>
            <a:r>
              <a:rPr lang="en-US" altLang="zh-TW" sz="2500" dirty="0">
                <a:solidFill>
                  <a:srgbClr val="7030A0"/>
                </a:solidFill>
              </a:rPr>
              <a:t>{</a:t>
            </a:r>
            <a:r>
              <a:rPr lang="en-US" altLang="zh-TW" sz="2500" dirty="0"/>
              <a:t> </a:t>
            </a:r>
            <a:r>
              <a:rPr lang="en-US" altLang="zh-TW" sz="2500" dirty="0">
                <a:solidFill>
                  <a:srgbClr val="FF0000"/>
                </a:solidFill>
              </a:rPr>
              <a:t>GpioPadModeNative1</a:t>
            </a:r>
            <a:r>
              <a:rPr lang="en-US" altLang="zh-TW" sz="2500" dirty="0">
                <a:solidFill>
                  <a:srgbClr val="7030A0"/>
                </a:solidFill>
              </a:rPr>
              <a:t>,</a:t>
            </a:r>
            <a:r>
              <a:rPr lang="en-US" altLang="zh-TW" sz="2500" dirty="0"/>
              <a:t> </a:t>
            </a:r>
            <a:r>
              <a:rPr lang="en-US" altLang="zh-TW" sz="2500" dirty="0" err="1">
                <a:solidFill>
                  <a:srgbClr val="FF0000"/>
                </a:solidFill>
              </a:rPr>
              <a:t>GpioHostOwnDefault</a:t>
            </a:r>
            <a:r>
              <a:rPr lang="en-US" altLang="zh-TW" sz="2500" dirty="0">
                <a:solidFill>
                  <a:srgbClr val="7030A0"/>
                </a:solidFill>
              </a:rPr>
              <a:t>,</a:t>
            </a:r>
            <a:r>
              <a:rPr lang="en-US" altLang="zh-TW" sz="2500" dirty="0"/>
              <a:t>    </a:t>
            </a:r>
            <a:r>
              <a:rPr lang="en-US" altLang="zh-TW" sz="2500" dirty="0" err="1">
                <a:solidFill>
                  <a:srgbClr val="FF0000"/>
                </a:solidFill>
              </a:rPr>
              <a:t>GpioDirIn</a:t>
            </a:r>
            <a:r>
              <a:rPr lang="en-US" altLang="zh-TW" sz="2500" dirty="0">
                <a:solidFill>
                  <a:srgbClr val="7030A0"/>
                </a:solidFill>
              </a:rPr>
              <a:t>,</a:t>
            </a:r>
            <a:r>
              <a:rPr lang="en-US" altLang="zh-TW" sz="2500" dirty="0"/>
              <a:t>       </a:t>
            </a:r>
            <a:r>
              <a:rPr lang="en-US" altLang="zh-TW" sz="2500" dirty="0" err="1">
                <a:solidFill>
                  <a:srgbClr val="FF0000"/>
                </a:solidFill>
              </a:rPr>
              <a:t>GpioOutLow</a:t>
            </a:r>
            <a:r>
              <a:rPr lang="en-US" altLang="zh-TW" sz="2500" dirty="0">
                <a:solidFill>
                  <a:srgbClr val="7030A0"/>
                </a:solidFill>
              </a:rPr>
              <a:t>,</a:t>
            </a:r>
            <a:r>
              <a:rPr lang="en-US" altLang="zh-TW" sz="2500" dirty="0"/>
              <a:t>     </a:t>
            </a:r>
            <a:r>
              <a:rPr lang="en-US" altLang="zh-TW" sz="2500" dirty="0" err="1">
                <a:solidFill>
                  <a:srgbClr val="FF0000"/>
                </a:solidFill>
              </a:rPr>
              <a:t>GpioIntDis</a:t>
            </a:r>
            <a:r>
              <a:rPr lang="en-US" altLang="zh-TW" sz="2500" dirty="0">
                <a:solidFill>
                  <a:srgbClr val="7030A0"/>
                </a:solidFill>
              </a:rPr>
              <a:t>,</a:t>
            </a:r>
            <a:r>
              <a:rPr lang="en-US" altLang="zh-TW" sz="2500" dirty="0"/>
              <a:t>                     </a:t>
            </a:r>
            <a:r>
              <a:rPr lang="en-US" altLang="zh-TW" sz="2500" dirty="0" err="1">
                <a:solidFill>
                  <a:srgbClr val="FF0000"/>
                </a:solidFill>
              </a:rPr>
              <a:t>GpioHostDeepReset</a:t>
            </a:r>
            <a:r>
              <a:rPr lang="en-US" altLang="zh-TW" sz="2500" dirty="0">
                <a:solidFill>
                  <a:srgbClr val="7030A0"/>
                </a:solidFill>
              </a:rPr>
              <a:t>,</a:t>
            </a:r>
            <a:r>
              <a:rPr lang="en-US" altLang="zh-TW" sz="2500" dirty="0"/>
              <a:t>   </a:t>
            </a:r>
            <a:r>
              <a:rPr lang="en-US" altLang="zh-TW" sz="2500" dirty="0" err="1">
                <a:solidFill>
                  <a:srgbClr val="FF0000"/>
                </a:solidFill>
              </a:rPr>
              <a:t>GpioTermNone</a:t>
            </a:r>
            <a:r>
              <a:rPr lang="en-US" altLang="zh-TW" sz="2500" dirty="0">
                <a:solidFill>
                  <a:srgbClr val="7030A0"/>
                </a:solidFill>
              </a:rPr>
              <a:t>,</a:t>
            </a:r>
            <a:r>
              <a:rPr lang="en-US" altLang="zh-TW" sz="2500" dirty="0"/>
              <a:t>   </a:t>
            </a:r>
            <a:r>
              <a:rPr lang="en-US" altLang="zh-TW" sz="2500" dirty="0" err="1">
                <a:solidFill>
                  <a:srgbClr val="FF0000"/>
                </a:solidFill>
              </a:rPr>
              <a:t>GpioLockDefault</a:t>
            </a:r>
            <a:r>
              <a:rPr lang="en-US" altLang="zh-TW" sz="2500" dirty="0">
                <a:solidFill>
                  <a:srgbClr val="7030A0"/>
                </a:solidFill>
              </a:rPr>
              <a:t>}},</a:t>
            </a:r>
            <a:r>
              <a:rPr lang="en-US" altLang="zh-TW" sz="2500" dirty="0">
                <a:solidFill>
                  <a:srgbClr val="0070C0"/>
                </a:solidFill>
              </a:rPr>
              <a:t>//GPP_A_1_ESPI_ALERT1_N_LPC_RCIN_N</a:t>
            </a:r>
          </a:p>
          <a:p>
            <a:pPr marL="457200" lvl="1" indent="0">
              <a:buNone/>
            </a:pPr>
            <a:r>
              <a:rPr lang="en-US" altLang="zh-TW" sz="2500" dirty="0"/>
              <a:t>    </a:t>
            </a:r>
            <a:r>
              <a:rPr lang="en-US" altLang="zh-TW" sz="2500" dirty="0">
                <a:solidFill>
                  <a:srgbClr val="7030A0"/>
                </a:solidFill>
              </a:rPr>
              <a:t>{</a:t>
            </a:r>
            <a:r>
              <a:rPr lang="en-US" altLang="zh-TW" sz="2500" dirty="0">
                <a:solidFill>
                  <a:srgbClr val="FF0000"/>
                </a:solidFill>
              </a:rPr>
              <a:t>GPIO_VER3_GPP_A2</a:t>
            </a:r>
            <a:r>
              <a:rPr lang="en-US" altLang="zh-TW" sz="2500" dirty="0">
                <a:solidFill>
                  <a:srgbClr val="7030A0"/>
                </a:solidFill>
              </a:rPr>
              <a:t>,</a:t>
            </a:r>
            <a:r>
              <a:rPr lang="en-US" altLang="zh-TW" sz="2500" dirty="0"/>
              <a:t>       </a:t>
            </a:r>
            <a:r>
              <a:rPr lang="en-US" altLang="zh-TW" sz="2500" dirty="0">
                <a:solidFill>
                  <a:srgbClr val="7030A0"/>
                </a:solidFill>
              </a:rPr>
              <a:t>{</a:t>
            </a:r>
            <a:r>
              <a:rPr lang="en-US" altLang="zh-TW" sz="2500" dirty="0"/>
              <a:t> </a:t>
            </a:r>
            <a:r>
              <a:rPr lang="en-US" altLang="zh-TW" sz="2500" dirty="0">
                <a:solidFill>
                  <a:srgbClr val="FF0000"/>
                </a:solidFill>
              </a:rPr>
              <a:t>GpioPadModeNative1</a:t>
            </a:r>
            <a:r>
              <a:rPr lang="en-US" altLang="zh-TW" sz="2500" dirty="0">
                <a:solidFill>
                  <a:srgbClr val="7030A0"/>
                </a:solidFill>
              </a:rPr>
              <a:t>,</a:t>
            </a:r>
            <a:r>
              <a:rPr lang="en-US" altLang="zh-TW" sz="2500" dirty="0"/>
              <a:t> </a:t>
            </a:r>
            <a:r>
              <a:rPr lang="en-US" altLang="zh-TW" sz="2500" dirty="0" err="1">
                <a:solidFill>
                  <a:srgbClr val="FF0000"/>
                </a:solidFill>
              </a:rPr>
              <a:t>GpioHostOwnDefault</a:t>
            </a:r>
            <a:r>
              <a:rPr lang="en-US" altLang="zh-TW" sz="2500" dirty="0">
                <a:solidFill>
                  <a:srgbClr val="7030A0"/>
                </a:solidFill>
              </a:rPr>
              <a:t>,</a:t>
            </a:r>
            <a:r>
              <a:rPr lang="en-US" altLang="zh-TW" sz="2500" dirty="0"/>
              <a:t>    </a:t>
            </a:r>
            <a:r>
              <a:rPr lang="en-US" altLang="zh-TW" sz="2500" dirty="0" err="1">
                <a:solidFill>
                  <a:srgbClr val="FF0000"/>
                </a:solidFill>
              </a:rPr>
              <a:t>GpioDirInOut</a:t>
            </a:r>
            <a:r>
              <a:rPr lang="en-US" altLang="zh-TW" sz="2500" dirty="0">
                <a:solidFill>
                  <a:srgbClr val="7030A0"/>
                </a:solidFill>
              </a:rPr>
              <a:t>,</a:t>
            </a:r>
            <a:r>
              <a:rPr lang="en-US" altLang="zh-TW" sz="2500" dirty="0"/>
              <a:t>    </a:t>
            </a:r>
            <a:r>
              <a:rPr lang="en-US" altLang="zh-TW" sz="2500" dirty="0" err="1">
                <a:solidFill>
                  <a:srgbClr val="FF0000"/>
                </a:solidFill>
              </a:rPr>
              <a:t>GpioOutDefault</a:t>
            </a:r>
            <a:r>
              <a:rPr lang="en-US" altLang="zh-TW" sz="2500" dirty="0">
                <a:solidFill>
                  <a:srgbClr val="7030A0"/>
                </a:solidFill>
              </a:rPr>
              <a:t>,</a:t>
            </a:r>
            <a:r>
              <a:rPr lang="en-US" altLang="zh-TW" sz="2500" dirty="0"/>
              <a:t> </a:t>
            </a:r>
            <a:r>
              <a:rPr lang="en-US" altLang="zh-TW" sz="2500" dirty="0" err="1">
                <a:solidFill>
                  <a:srgbClr val="FF0000"/>
                </a:solidFill>
              </a:rPr>
              <a:t>GpioIntDis</a:t>
            </a:r>
            <a:r>
              <a:rPr lang="en-US" altLang="zh-TW" sz="2500" dirty="0">
                <a:solidFill>
                  <a:srgbClr val="7030A0"/>
                </a:solidFill>
              </a:rPr>
              <a:t>,</a:t>
            </a:r>
            <a:r>
              <a:rPr lang="en-US" altLang="zh-TW" sz="2500" dirty="0"/>
              <a:t>                     </a:t>
            </a:r>
            <a:r>
              <a:rPr lang="en-US" altLang="zh-TW" sz="2500" dirty="0" err="1">
                <a:solidFill>
                  <a:srgbClr val="FF0000"/>
                </a:solidFill>
              </a:rPr>
              <a:t>GpioHostDeepReset</a:t>
            </a:r>
            <a:r>
              <a:rPr lang="en-US" altLang="zh-TW" sz="2500" dirty="0">
                <a:solidFill>
                  <a:srgbClr val="7030A0"/>
                </a:solidFill>
              </a:rPr>
              <a:t>,</a:t>
            </a:r>
            <a:r>
              <a:rPr lang="en-US" altLang="zh-TW" sz="2500" dirty="0"/>
              <a:t>   </a:t>
            </a:r>
            <a:r>
              <a:rPr lang="en-US" altLang="zh-TW" sz="2500" dirty="0">
                <a:solidFill>
                  <a:srgbClr val="FF0000"/>
                </a:solidFill>
              </a:rPr>
              <a:t>GpioTermWpu20K</a:t>
            </a:r>
            <a:r>
              <a:rPr lang="en-US" altLang="zh-TW" sz="2500" dirty="0">
                <a:solidFill>
                  <a:srgbClr val="7030A0"/>
                </a:solidFill>
              </a:rPr>
              <a:t>,</a:t>
            </a:r>
            <a:r>
              <a:rPr lang="en-US" altLang="zh-TW" sz="2500" dirty="0"/>
              <a:t> </a:t>
            </a:r>
            <a:r>
              <a:rPr lang="en-US" altLang="zh-TW" sz="2500" dirty="0" err="1">
                <a:solidFill>
                  <a:srgbClr val="FF0000"/>
                </a:solidFill>
              </a:rPr>
              <a:t>GpioLockDefault</a:t>
            </a:r>
            <a:r>
              <a:rPr lang="en-US" altLang="zh-TW" sz="2500" dirty="0">
                <a:solidFill>
                  <a:srgbClr val="7030A0"/>
                </a:solidFill>
              </a:rPr>
              <a:t>}},</a:t>
            </a:r>
            <a:r>
              <a:rPr lang="en-US" altLang="zh-TW" sz="2500" dirty="0">
                <a:solidFill>
                  <a:srgbClr val="0070C0"/>
                </a:solidFill>
              </a:rPr>
              <a:t>//GPP_A_2_ESPI_IO0_LPC_LAD0</a:t>
            </a:r>
          </a:p>
          <a:p>
            <a:pPr marL="457200" lvl="1" indent="0">
              <a:buNone/>
            </a:pPr>
            <a:r>
              <a:rPr lang="en-US" altLang="zh-TW" sz="2500" dirty="0"/>
              <a:t>    </a:t>
            </a:r>
            <a:r>
              <a:rPr lang="en-US" altLang="zh-TW" sz="2500" dirty="0">
                <a:solidFill>
                  <a:srgbClr val="7030A0"/>
                </a:solidFill>
              </a:rPr>
              <a:t>{</a:t>
            </a:r>
            <a:r>
              <a:rPr lang="en-US" altLang="zh-TW" sz="2500" dirty="0">
                <a:solidFill>
                  <a:srgbClr val="FF0000"/>
                </a:solidFill>
              </a:rPr>
              <a:t>GPIO_VER3_GPP_A3</a:t>
            </a:r>
            <a:r>
              <a:rPr lang="en-US" altLang="zh-TW" sz="2500" dirty="0">
                <a:solidFill>
                  <a:srgbClr val="7030A0"/>
                </a:solidFill>
              </a:rPr>
              <a:t>,</a:t>
            </a:r>
            <a:r>
              <a:rPr lang="en-US" altLang="zh-TW" sz="2500" dirty="0"/>
              <a:t>       </a:t>
            </a:r>
            <a:r>
              <a:rPr lang="en-US" altLang="zh-TW" sz="2500" dirty="0">
                <a:solidFill>
                  <a:srgbClr val="7030A0"/>
                </a:solidFill>
              </a:rPr>
              <a:t>{</a:t>
            </a:r>
            <a:r>
              <a:rPr lang="en-US" altLang="zh-TW" sz="2500" dirty="0"/>
              <a:t> </a:t>
            </a:r>
            <a:r>
              <a:rPr lang="en-US" altLang="zh-TW" sz="2500" dirty="0">
                <a:solidFill>
                  <a:srgbClr val="FF0000"/>
                </a:solidFill>
              </a:rPr>
              <a:t>GpioPadModeNative1</a:t>
            </a:r>
            <a:r>
              <a:rPr lang="en-US" altLang="zh-TW" sz="2500" dirty="0">
                <a:solidFill>
                  <a:srgbClr val="7030A0"/>
                </a:solidFill>
              </a:rPr>
              <a:t>,</a:t>
            </a:r>
            <a:r>
              <a:rPr lang="en-US" altLang="zh-TW" sz="2500" dirty="0"/>
              <a:t> </a:t>
            </a:r>
            <a:r>
              <a:rPr lang="en-US" altLang="zh-TW" sz="2500" dirty="0" err="1">
                <a:solidFill>
                  <a:srgbClr val="FF0000"/>
                </a:solidFill>
              </a:rPr>
              <a:t>GpioHostOwnDefault</a:t>
            </a:r>
            <a:r>
              <a:rPr lang="en-US" altLang="zh-TW" sz="2500" dirty="0">
                <a:solidFill>
                  <a:srgbClr val="7030A0"/>
                </a:solidFill>
              </a:rPr>
              <a:t>,</a:t>
            </a:r>
            <a:r>
              <a:rPr lang="en-US" altLang="zh-TW" sz="2500" dirty="0"/>
              <a:t>    </a:t>
            </a:r>
            <a:r>
              <a:rPr lang="en-US" altLang="zh-TW" sz="2500" dirty="0" err="1">
                <a:solidFill>
                  <a:srgbClr val="FF0000"/>
                </a:solidFill>
              </a:rPr>
              <a:t>GpioDirInOut</a:t>
            </a:r>
            <a:r>
              <a:rPr lang="en-US" altLang="zh-TW" sz="2500" dirty="0">
                <a:solidFill>
                  <a:srgbClr val="7030A0"/>
                </a:solidFill>
              </a:rPr>
              <a:t>,</a:t>
            </a:r>
            <a:r>
              <a:rPr lang="en-US" altLang="zh-TW" sz="2500" dirty="0"/>
              <a:t>    </a:t>
            </a:r>
            <a:r>
              <a:rPr lang="en-US" altLang="zh-TW" sz="2500" dirty="0" err="1">
                <a:solidFill>
                  <a:srgbClr val="FF0000"/>
                </a:solidFill>
              </a:rPr>
              <a:t>GpioOutDefault</a:t>
            </a:r>
            <a:r>
              <a:rPr lang="en-US" altLang="zh-TW" sz="2500" dirty="0">
                <a:solidFill>
                  <a:srgbClr val="7030A0"/>
                </a:solidFill>
              </a:rPr>
              <a:t>,</a:t>
            </a:r>
            <a:r>
              <a:rPr lang="en-US" altLang="zh-TW" sz="2500" dirty="0"/>
              <a:t> </a:t>
            </a:r>
            <a:r>
              <a:rPr lang="en-US" altLang="zh-TW" sz="2500" dirty="0" err="1">
                <a:solidFill>
                  <a:srgbClr val="FF0000"/>
                </a:solidFill>
              </a:rPr>
              <a:t>GpioIntDis</a:t>
            </a:r>
            <a:r>
              <a:rPr lang="en-US" altLang="zh-TW" sz="2500" dirty="0">
                <a:solidFill>
                  <a:srgbClr val="7030A0"/>
                </a:solidFill>
              </a:rPr>
              <a:t>,</a:t>
            </a:r>
            <a:r>
              <a:rPr lang="en-US" altLang="zh-TW" sz="2500" dirty="0"/>
              <a:t>                     </a:t>
            </a:r>
            <a:r>
              <a:rPr lang="en-US" altLang="zh-TW" sz="2500" dirty="0" err="1">
                <a:solidFill>
                  <a:srgbClr val="FF0000"/>
                </a:solidFill>
              </a:rPr>
              <a:t>GpioHostDeepReset</a:t>
            </a:r>
            <a:r>
              <a:rPr lang="en-US" altLang="zh-TW" sz="2500" dirty="0">
                <a:solidFill>
                  <a:srgbClr val="7030A0"/>
                </a:solidFill>
              </a:rPr>
              <a:t>,</a:t>
            </a:r>
            <a:r>
              <a:rPr lang="en-US" altLang="zh-TW" sz="2500" dirty="0"/>
              <a:t>   </a:t>
            </a:r>
            <a:r>
              <a:rPr lang="en-US" altLang="zh-TW" sz="2500" dirty="0">
                <a:solidFill>
                  <a:srgbClr val="FF0000"/>
                </a:solidFill>
              </a:rPr>
              <a:t>GpioTermWpu20K</a:t>
            </a:r>
            <a:r>
              <a:rPr lang="en-US" altLang="zh-TW" sz="2500" dirty="0">
                <a:solidFill>
                  <a:srgbClr val="7030A0"/>
                </a:solidFill>
              </a:rPr>
              <a:t>,</a:t>
            </a:r>
            <a:r>
              <a:rPr lang="en-US" altLang="zh-TW" sz="2500" dirty="0"/>
              <a:t> </a:t>
            </a:r>
            <a:r>
              <a:rPr lang="en-US" altLang="zh-TW" sz="2500" dirty="0" err="1">
                <a:solidFill>
                  <a:srgbClr val="FF0000"/>
                </a:solidFill>
              </a:rPr>
              <a:t>GpioPadConfigLock</a:t>
            </a:r>
            <a:r>
              <a:rPr lang="en-US" altLang="zh-TW" sz="2500" dirty="0">
                <a:solidFill>
                  <a:srgbClr val="7030A0"/>
                </a:solidFill>
              </a:rPr>
              <a:t>}},</a:t>
            </a:r>
            <a:r>
              <a:rPr lang="en-US" altLang="zh-TW" sz="2500" dirty="0">
                <a:solidFill>
                  <a:srgbClr val="0070C0"/>
                </a:solidFill>
              </a:rPr>
              <a:t>//GPP_A_3_ESPI_IO1_LPC_LAD1</a:t>
            </a:r>
          </a:p>
          <a:p>
            <a:pPr marL="457200" lvl="1" indent="0">
              <a:buNone/>
            </a:pPr>
            <a:r>
              <a:rPr lang="en-US" altLang="zh-TW" sz="2500" dirty="0"/>
              <a:t>    </a:t>
            </a:r>
            <a:r>
              <a:rPr lang="en-US" altLang="zh-TW" sz="2500" dirty="0">
                <a:solidFill>
                  <a:srgbClr val="7030A0"/>
                </a:solidFill>
              </a:rPr>
              <a:t>{</a:t>
            </a:r>
            <a:r>
              <a:rPr lang="en-US" altLang="zh-TW" sz="2500" dirty="0">
                <a:solidFill>
                  <a:srgbClr val="FF0000"/>
                </a:solidFill>
              </a:rPr>
              <a:t>GPIO_VER3_GPP_A4</a:t>
            </a:r>
            <a:r>
              <a:rPr lang="en-US" altLang="zh-TW" sz="2500" dirty="0">
                <a:solidFill>
                  <a:srgbClr val="7030A0"/>
                </a:solidFill>
              </a:rPr>
              <a:t>,</a:t>
            </a:r>
            <a:r>
              <a:rPr lang="en-US" altLang="zh-TW" sz="2500" dirty="0"/>
              <a:t>       </a:t>
            </a:r>
            <a:r>
              <a:rPr lang="en-US" altLang="zh-TW" sz="2500" dirty="0">
                <a:solidFill>
                  <a:srgbClr val="7030A0"/>
                </a:solidFill>
              </a:rPr>
              <a:t>{</a:t>
            </a:r>
            <a:r>
              <a:rPr lang="en-US" altLang="zh-TW" sz="2500" dirty="0"/>
              <a:t> </a:t>
            </a:r>
            <a:r>
              <a:rPr lang="en-US" altLang="zh-TW" sz="2500" dirty="0">
                <a:solidFill>
                  <a:srgbClr val="FF0000"/>
                </a:solidFill>
              </a:rPr>
              <a:t>GpioPadModeNative1</a:t>
            </a:r>
            <a:r>
              <a:rPr lang="en-US" altLang="zh-TW" sz="2500" dirty="0">
                <a:solidFill>
                  <a:srgbClr val="7030A0"/>
                </a:solidFill>
              </a:rPr>
              <a:t>,</a:t>
            </a:r>
            <a:r>
              <a:rPr lang="en-US" altLang="zh-TW" sz="2500" dirty="0"/>
              <a:t> </a:t>
            </a:r>
            <a:r>
              <a:rPr lang="en-US" altLang="zh-TW" sz="2500" dirty="0" err="1">
                <a:solidFill>
                  <a:srgbClr val="FF0000"/>
                </a:solidFill>
              </a:rPr>
              <a:t>GpioHostOwnDefault</a:t>
            </a:r>
            <a:r>
              <a:rPr lang="en-US" altLang="zh-TW" sz="2500" dirty="0">
                <a:solidFill>
                  <a:srgbClr val="7030A0"/>
                </a:solidFill>
              </a:rPr>
              <a:t>,</a:t>
            </a:r>
            <a:r>
              <a:rPr lang="en-US" altLang="zh-TW" sz="2500" dirty="0"/>
              <a:t>    </a:t>
            </a:r>
            <a:r>
              <a:rPr lang="en-US" altLang="zh-TW" sz="2500" dirty="0" err="1">
                <a:solidFill>
                  <a:srgbClr val="FF0000"/>
                </a:solidFill>
              </a:rPr>
              <a:t>GpioDirInOut</a:t>
            </a:r>
            <a:r>
              <a:rPr lang="en-US" altLang="zh-TW" sz="2500" dirty="0">
                <a:solidFill>
                  <a:srgbClr val="7030A0"/>
                </a:solidFill>
              </a:rPr>
              <a:t>,</a:t>
            </a:r>
            <a:r>
              <a:rPr lang="en-US" altLang="zh-TW" sz="2500" dirty="0"/>
              <a:t>    </a:t>
            </a:r>
            <a:r>
              <a:rPr lang="en-US" altLang="zh-TW" sz="2500" dirty="0" err="1">
                <a:solidFill>
                  <a:srgbClr val="FF0000"/>
                </a:solidFill>
              </a:rPr>
              <a:t>GpioOutDefault</a:t>
            </a:r>
            <a:r>
              <a:rPr lang="en-US" altLang="zh-TW" sz="2500" dirty="0">
                <a:solidFill>
                  <a:srgbClr val="7030A0"/>
                </a:solidFill>
              </a:rPr>
              <a:t>,</a:t>
            </a:r>
            <a:r>
              <a:rPr lang="en-US" altLang="zh-TW" sz="2500" dirty="0"/>
              <a:t> </a:t>
            </a:r>
            <a:r>
              <a:rPr lang="en-US" altLang="zh-TW" sz="2500" dirty="0" err="1">
                <a:solidFill>
                  <a:srgbClr val="FF0000"/>
                </a:solidFill>
              </a:rPr>
              <a:t>GpioIntDis</a:t>
            </a:r>
            <a:r>
              <a:rPr lang="en-US" altLang="zh-TW" sz="2500" dirty="0">
                <a:solidFill>
                  <a:srgbClr val="7030A0"/>
                </a:solidFill>
              </a:rPr>
              <a:t>,</a:t>
            </a:r>
            <a:r>
              <a:rPr lang="en-US" altLang="zh-TW" sz="2500" dirty="0"/>
              <a:t>                     </a:t>
            </a:r>
            <a:r>
              <a:rPr lang="en-US" altLang="zh-TW" sz="2500" dirty="0" err="1">
                <a:solidFill>
                  <a:srgbClr val="FF0000"/>
                </a:solidFill>
              </a:rPr>
              <a:t>GpioHostDeepReset</a:t>
            </a:r>
            <a:r>
              <a:rPr lang="en-US" altLang="zh-TW" sz="2500" dirty="0">
                <a:solidFill>
                  <a:srgbClr val="7030A0"/>
                </a:solidFill>
              </a:rPr>
              <a:t>,</a:t>
            </a:r>
            <a:r>
              <a:rPr lang="en-US" altLang="zh-TW" sz="2500" dirty="0"/>
              <a:t>   </a:t>
            </a:r>
            <a:r>
              <a:rPr lang="en-US" altLang="zh-TW" sz="2500" dirty="0">
                <a:solidFill>
                  <a:srgbClr val="FF0000"/>
                </a:solidFill>
              </a:rPr>
              <a:t>GpioTermWpu20K</a:t>
            </a:r>
            <a:r>
              <a:rPr lang="en-US" altLang="zh-TW" sz="2500" dirty="0">
                <a:solidFill>
                  <a:srgbClr val="7030A0"/>
                </a:solidFill>
              </a:rPr>
              <a:t>,</a:t>
            </a:r>
            <a:r>
              <a:rPr lang="en-US" altLang="zh-TW" sz="2500" dirty="0"/>
              <a:t> </a:t>
            </a:r>
            <a:r>
              <a:rPr lang="en-US" altLang="zh-TW" sz="2500" dirty="0" err="1">
                <a:solidFill>
                  <a:srgbClr val="FF0000"/>
                </a:solidFill>
              </a:rPr>
              <a:t>GpioPadConfigLock</a:t>
            </a:r>
            <a:r>
              <a:rPr lang="en-US" altLang="zh-TW" sz="2500" dirty="0">
                <a:solidFill>
                  <a:srgbClr val="7030A0"/>
                </a:solidFill>
              </a:rPr>
              <a:t>}},</a:t>
            </a:r>
            <a:r>
              <a:rPr lang="en-US" altLang="zh-TW" sz="2500" dirty="0">
                <a:solidFill>
                  <a:srgbClr val="0070C0"/>
                </a:solidFill>
              </a:rPr>
              <a:t>//GPP_A_4_ESPI_IO2_LPC_LAD2</a:t>
            </a:r>
          </a:p>
          <a:p>
            <a:pPr marL="457200" lvl="1" indent="0">
              <a:buNone/>
            </a:pPr>
            <a:r>
              <a:rPr lang="en-US" altLang="zh-TW" sz="2500" dirty="0"/>
              <a:t>    </a:t>
            </a:r>
            <a:r>
              <a:rPr lang="en-US" altLang="zh-TW" sz="2500" dirty="0">
                <a:solidFill>
                  <a:srgbClr val="7030A0"/>
                </a:solidFill>
              </a:rPr>
              <a:t>{</a:t>
            </a:r>
            <a:r>
              <a:rPr lang="en-US" altLang="zh-TW" sz="2500" dirty="0">
                <a:solidFill>
                  <a:srgbClr val="FF0000"/>
                </a:solidFill>
              </a:rPr>
              <a:t>GPIO_VER3_GPP_A5</a:t>
            </a:r>
            <a:r>
              <a:rPr lang="en-US" altLang="zh-TW" sz="2500" dirty="0">
                <a:solidFill>
                  <a:srgbClr val="7030A0"/>
                </a:solidFill>
              </a:rPr>
              <a:t>,</a:t>
            </a:r>
            <a:r>
              <a:rPr lang="en-US" altLang="zh-TW" sz="2500" dirty="0"/>
              <a:t>       </a:t>
            </a:r>
            <a:r>
              <a:rPr lang="en-US" altLang="zh-TW" sz="2500" dirty="0">
                <a:solidFill>
                  <a:srgbClr val="7030A0"/>
                </a:solidFill>
              </a:rPr>
              <a:t>{ </a:t>
            </a:r>
            <a:r>
              <a:rPr lang="en-US" altLang="zh-TW" sz="2500" dirty="0">
                <a:solidFill>
                  <a:srgbClr val="FF0000"/>
                </a:solidFill>
              </a:rPr>
              <a:t>GpioPadModeNative1</a:t>
            </a:r>
            <a:r>
              <a:rPr lang="en-US" altLang="zh-TW" sz="2500" dirty="0">
                <a:solidFill>
                  <a:srgbClr val="7030A0"/>
                </a:solidFill>
              </a:rPr>
              <a:t>,</a:t>
            </a:r>
            <a:r>
              <a:rPr lang="en-US" altLang="zh-TW" sz="2500" dirty="0"/>
              <a:t> </a:t>
            </a:r>
            <a:r>
              <a:rPr lang="en-US" altLang="zh-TW" sz="2500" dirty="0" err="1">
                <a:solidFill>
                  <a:srgbClr val="FF0000"/>
                </a:solidFill>
              </a:rPr>
              <a:t>GpioHostOwnDefault</a:t>
            </a:r>
            <a:r>
              <a:rPr lang="en-US" altLang="zh-TW" sz="2500" dirty="0">
                <a:solidFill>
                  <a:srgbClr val="7030A0"/>
                </a:solidFill>
              </a:rPr>
              <a:t>,</a:t>
            </a:r>
            <a:r>
              <a:rPr lang="en-US" altLang="zh-TW" sz="2500" dirty="0"/>
              <a:t>    </a:t>
            </a:r>
            <a:r>
              <a:rPr lang="en-US" altLang="zh-TW" sz="2500" dirty="0" err="1">
                <a:solidFill>
                  <a:srgbClr val="FF0000"/>
                </a:solidFill>
              </a:rPr>
              <a:t>GpioDirInOut</a:t>
            </a:r>
            <a:r>
              <a:rPr lang="en-US" altLang="zh-TW" sz="2500" dirty="0">
                <a:solidFill>
                  <a:srgbClr val="7030A0"/>
                </a:solidFill>
              </a:rPr>
              <a:t>,</a:t>
            </a:r>
            <a:r>
              <a:rPr lang="en-US" altLang="zh-TW" sz="2500" dirty="0"/>
              <a:t>    </a:t>
            </a:r>
            <a:r>
              <a:rPr lang="en-US" altLang="zh-TW" sz="2500" dirty="0" err="1">
                <a:solidFill>
                  <a:srgbClr val="FF0000"/>
                </a:solidFill>
              </a:rPr>
              <a:t>GpioOutDefault</a:t>
            </a:r>
            <a:r>
              <a:rPr lang="en-US" altLang="zh-TW" sz="2500" dirty="0">
                <a:solidFill>
                  <a:srgbClr val="7030A0"/>
                </a:solidFill>
              </a:rPr>
              <a:t>,</a:t>
            </a:r>
            <a:r>
              <a:rPr lang="en-US" altLang="zh-TW" sz="2500" dirty="0"/>
              <a:t> </a:t>
            </a:r>
            <a:r>
              <a:rPr lang="en-US" altLang="zh-TW" sz="2500" dirty="0" err="1">
                <a:solidFill>
                  <a:srgbClr val="FF0000"/>
                </a:solidFill>
              </a:rPr>
              <a:t>GpioIntDis</a:t>
            </a:r>
            <a:r>
              <a:rPr lang="en-US" altLang="zh-TW" sz="2500" dirty="0">
                <a:solidFill>
                  <a:srgbClr val="7030A0"/>
                </a:solidFill>
              </a:rPr>
              <a:t>,</a:t>
            </a:r>
            <a:r>
              <a:rPr lang="en-US" altLang="zh-TW" sz="2500" dirty="0"/>
              <a:t>                     </a:t>
            </a:r>
            <a:r>
              <a:rPr lang="en-US" altLang="zh-TW" sz="2500" dirty="0" err="1">
                <a:solidFill>
                  <a:srgbClr val="FF0000"/>
                </a:solidFill>
              </a:rPr>
              <a:t>GpioHostDeepReset</a:t>
            </a:r>
            <a:r>
              <a:rPr lang="en-US" altLang="zh-TW" sz="2500" dirty="0">
                <a:solidFill>
                  <a:srgbClr val="7030A0"/>
                </a:solidFill>
              </a:rPr>
              <a:t>,</a:t>
            </a:r>
            <a:r>
              <a:rPr lang="en-US" altLang="zh-TW" sz="2500" dirty="0"/>
              <a:t>   </a:t>
            </a:r>
            <a:r>
              <a:rPr lang="en-US" altLang="zh-TW" sz="2500" dirty="0">
                <a:solidFill>
                  <a:srgbClr val="FF0000"/>
                </a:solidFill>
              </a:rPr>
              <a:t>GpioTermWpu20K</a:t>
            </a:r>
            <a:r>
              <a:rPr lang="en-US" altLang="zh-TW" sz="2500" dirty="0">
                <a:solidFill>
                  <a:srgbClr val="7030A0"/>
                </a:solidFill>
              </a:rPr>
              <a:t>,</a:t>
            </a:r>
            <a:r>
              <a:rPr lang="en-US" altLang="zh-TW" sz="2500" dirty="0"/>
              <a:t> </a:t>
            </a:r>
            <a:r>
              <a:rPr lang="en-US" altLang="zh-TW" sz="2500" dirty="0" err="1">
                <a:solidFill>
                  <a:srgbClr val="FF0000"/>
                </a:solidFill>
              </a:rPr>
              <a:t>GpioPadConfigLock</a:t>
            </a:r>
            <a:r>
              <a:rPr lang="en-US" altLang="zh-TW" sz="2500" dirty="0">
                <a:solidFill>
                  <a:srgbClr val="7030A0"/>
                </a:solidFill>
              </a:rPr>
              <a:t>}},</a:t>
            </a:r>
            <a:r>
              <a:rPr lang="en-US" altLang="zh-TW" sz="2500" dirty="0">
                <a:solidFill>
                  <a:srgbClr val="0070C0"/>
                </a:solidFill>
              </a:rPr>
              <a:t>//GPP_A_5_ESPI_IO3_LPC_LAD3</a:t>
            </a:r>
          </a:p>
          <a:p>
            <a:pPr marL="457200" lvl="1" indent="0">
              <a:buNone/>
            </a:pPr>
            <a:r>
              <a:rPr lang="en-US" altLang="zh-TW" sz="2500" dirty="0"/>
              <a:t>    </a:t>
            </a:r>
            <a:r>
              <a:rPr lang="en-US" altLang="zh-TW" sz="2500" dirty="0">
                <a:solidFill>
                  <a:srgbClr val="7030A0"/>
                </a:solidFill>
              </a:rPr>
              <a:t>{</a:t>
            </a:r>
            <a:r>
              <a:rPr lang="en-US" altLang="zh-TW" sz="2500" dirty="0">
                <a:solidFill>
                  <a:srgbClr val="FF0000"/>
                </a:solidFill>
              </a:rPr>
              <a:t>GPIO_VER3_GPP_A6</a:t>
            </a:r>
            <a:r>
              <a:rPr lang="en-US" altLang="zh-TW" sz="2500" dirty="0">
                <a:solidFill>
                  <a:srgbClr val="7030A0"/>
                </a:solidFill>
              </a:rPr>
              <a:t>,</a:t>
            </a:r>
            <a:r>
              <a:rPr lang="en-US" altLang="zh-TW" sz="2500" dirty="0"/>
              <a:t>       </a:t>
            </a:r>
            <a:r>
              <a:rPr lang="en-US" altLang="zh-TW" sz="2500" dirty="0">
                <a:solidFill>
                  <a:srgbClr val="7030A0"/>
                </a:solidFill>
              </a:rPr>
              <a:t>{</a:t>
            </a:r>
            <a:r>
              <a:rPr lang="en-US" altLang="zh-TW" sz="2500" dirty="0"/>
              <a:t> </a:t>
            </a:r>
            <a:r>
              <a:rPr lang="en-US" altLang="zh-TW" sz="2500" dirty="0">
                <a:solidFill>
                  <a:srgbClr val="FF0000"/>
                </a:solidFill>
              </a:rPr>
              <a:t>GpioPadModeNative1</a:t>
            </a:r>
            <a:r>
              <a:rPr lang="en-US" altLang="zh-TW" sz="2500" dirty="0">
                <a:solidFill>
                  <a:srgbClr val="7030A0"/>
                </a:solidFill>
              </a:rPr>
              <a:t>,</a:t>
            </a:r>
            <a:r>
              <a:rPr lang="en-US" altLang="zh-TW" sz="2500" dirty="0"/>
              <a:t> </a:t>
            </a:r>
            <a:r>
              <a:rPr lang="en-US" altLang="zh-TW" sz="2500" dirty="0" err="1">
                <a:solidFill>
                  <a:srgbClr val="FF0000"/>
                </a:solidFill>
              </a:rPr>
              <a:t>GpioHostOwnDefault</a:t>
            </a:r>
            <a:r>
              <a:rPr lang="en-US" altLang="zh-TW" sz="2500" dirty="0">
                <a:solidFill>
                  <a:srgbClr val="7030A0"/>
                </a:solidFill>
              </a:rPr>
              <a:t>,</a:t>
            </a:r>
            <a:r>
              <a:rPr lang="en-US" altLang="zh-TW" sz="2500" dirty="0"/>
              <a:t>    </a:t>
            </a:r>
            <a:r>
              <a:rPr lang="en-US" altLang="zh-TW" sz="2500" dirty="0" err="1">
                <a:solidFill>
                  <a:srgbClr val="FF0000"/>
                </a:solidFill>
              </a:rPr>
              <a:t>GpioDirOut</a:t>
            </a:r>
            <a:r>
              <a:rPr lang="en-US" altLang="zh-TW" sz="2500" dirty="0">
                <a:solidFill>
                  <a:srgbClr val="7030A0"/>
                </a:solidFill>
              </a:rPr>
              <a:t>,</a:t>
            </a:r>
            <a:r>
              <a:rPr lang="en-US" altLang="zh-TW" sz="2500" dirty="0"/>
              <a:t>      </a:t>
            </a:r>
            <a:r>
              <a:rPr lang="en-US" altLang="zh-TW" sz="2500" dirty="0" err="1">
                <a:solidFill>
                  <a:srgbClr val="FF0000"/>
                </a:solidFill>
              </a:rPr>
              <a:t>GpioOutLow</a:t>
            </a:r>
            <a:r>
              <a:rPr lang="en-US" altLang="zh-TW" sz="2500" dirty="0">
                <a:solidFill>
                  <a:srgbClr val="7030A0"/>
                </a:solidFill>
              </a:rPr>
              <a:t>,</a:t>
            </a:r>
            <a:r>
              <a:rPr lang="en-US" altLang="zh-TW" sz="2500" dirty="0"/>
              <a:t>     </a:t>
            </a:r>
            <a:r>
              <a:rPr lang="en-US" altLang="zh-TW" sz="2500" dirty="0" err="1">
                <a:solidFill>
                  <a:srgbClr val="FF0000"/>
                </a:solidFill>
              </a:rPr>
              <a:t>GpioIntDis</a:t>
            </a:r>
            <a:r>
              <a:rPr lang="en-US" altLang="zh-TW" sz="2500" dirty="0">
                <a:solidFill>
                  <a:srgbClr val="7030A0"/>
                </a:solidFill>
              </a:rPr>
              <a:t>,</a:t>
            </a:r>
            <a:r>
              <a:rPr lang="en-US" altLang="zh-TW" sz="2500" dirty="0"/>
              <a:t>                     </a:t>
            </a:r>
            <a:r>
              <a:rPr lang="en-US" altLang="zh-TW" sz="2500" dirty="0" err="1">
                <a:solidFill>
                  <a:srgbClr val="FF0000"/>
                </a:solidFill>
              </a:rPr>
              <a:t>GpioHostDeepReset</a:t>
            </a:r>
            <a:r>
              <a:rPr lang="en-US" altLang="zh-TW" sz="2500" dirty="0">
                <a:solidFill>
                  <a:srgbClr val="7030A0"/>
                </a:solidFill>
              </a:rPr>
              <a:t>,</a:t>
            </a:r>
            <a:r>
              <a:rPr lang="en-US" altLang="zh-TW" sz="2500" dirty="0"/>
              <a:t>   </a:t>
            </a:r>
            <a:r>
              <a:rPr lang="en-US" altLang="zh-TW" sz="2500" dirty="0" err="1">
                <a:solidFill>
                  <a:srgbClr val="FF0000"/>
                </a:solidFill>
              </a:rPr>
              <a:t>GpioTermNone</a:t>
            </a:r>
            <a:r>
              <a:rPr lang="en-US" altLang="zh-TW" sz="2500" dirty="0">
                <a:solidFill>
                  <a:srgbClr val="7030A0"/>
                </a:solidFill>
              </a:rPr>
              <a:t>,</a:t>
            </a:r>
            <a:r>
              <a:rPr lang="en-US" altLang="zh-TW" sz="2500" dirty="0"/>
              <a:t>   </a:t>
            </a:r>
            <a:r>
              <a:rPr lang="en-US" altLang="zh-TW" sz="2500" dirty="0" err="1">
                <a:solidFill>
                  <a:srgbClr val="FF0000"/>
                </a:solidFill>
              </a:rPr>
              <a:t>GpioPadConfigLock</a:t>
            </a:r>
            <a:r>
              <a:rPr lang="en-US" altLang="zh-TW" sz="2500" dirty="0">
                <a:solidFill>
                  <a:srgbClr val="7030A0"/>
                </a:solidFill>
              </a:rPr>
              <a:t>}},</a:t>
            </a:r>
            <a:r>
              <a:rPr lang="en-US" altLang="zh-TW" sz="2500" dirty="0">
                <a:solidFill>
                  <a:srgbClr val="0070C0"/>
                </a:solidFill>
              </a:rPr>
              <a:t>//GPP_A_6_ESPI_CS0_N_LPC_LFRAME_N</a:t>
            </a:r>
          </a:p>
          <a:p>
            <a:pPr marL="457200" lvl="1" indent="0">
              <a:buNone/>
            </a:pPr>
            <a:r>
              <a:rPr lang="en-US" altLang="zh-TW" sz="2500" dirty="0"/>
              <a:t>    </a:t>
            </a:r>
            <a:r>
              <a:rPr lang="en-US" altLang="zh-TW" sz="2500" dirty="0">
                <a:solidFill>
                  <a:srgbClr val="7030A0"/>
                </a:solidFill>
              </a:rPr>
              <a:t>{</a:t>
            </a:r>
            <a:r>
              <a:rPr lang="en-US" altLang="zh-TW" sz="2500" dirty="0">
                <a:solidFill>
                  <a:srgbClr val="FF0000"/>
                </a:solidFill>
              </a:rPr>
              <a:t>GPIO_VER3_GPP_A7</a:t>
            </a:r>
            <a:r>
              <a:rPr lang="en-US" altLang="zh-TW" sz="2500" dirty="0">
                <a:solidFill>
                  <a:srgbClr val="7030A0"/>
                </a:solidFill>
              </a:rPr>
              <a:t>,</a:t>
            </a:r>
            <a:r>
              <a:rPr lang="en-US" altLang="zh-TW" sz="2500" dirty="0"/>
              <a:t>       </a:t>
            </a:r>
            <a:r>
              <a:rPr lang="en-US" altLang="zh-TW" sz="2500" dirty="0">
                <a:solidFill>
                  <a:srgbClr val="7030A0"/>
                </a:solidFill>
              </a:rPr>
              <a:t>{</a:t>
            </a:r>
            <a:r>
              <a:rPr lang="en-US" altLang="zh-TW" sz="2500" dirty="0"/>
              <a:t> </a:t>
            </a:r>
            <a:r>
              <a:rPr lang="en-US" altLang="zh-TW" sz="2500" dirty="0">
                <a:solidFill>
                  <a:srgbClr val="FF0000"/>
                </a:solidFill>
              </a:rPr>
              <a:t>GpioPadModeNative1</a:t>
            </a:r>
            <a:r>
              <a:rPr lang="en-US" altLang="zh-TW" sz="2500" dirty="0">
                <a:solidFill>
                  <a:srgbClr val="7030A0"/>
                </a:solidFill>
              </a:rPr>
              <a:t>,</a:t>
            </a:r>
            <a:r>
              <a:rPr lang="en-US" altLang="zh-TW" sz="2500" dirty="0"/>
              <a:t> </a:t>
            </a:r>
            <a:r>
              <a:rPr lang="en-US" altLang="zh-TW" sz="2500" dirty="0" err="1">
                <a:solidFill>
                  <a:srgbClr val="FF0000"/>
                </a:solidFill>
              </a:rPr>
              <a:t>GpioHostOwnDefault</a:t>
            </a:r>
            <a:r>
              <a:rPr lang="en-US" altLang="zh-TW" sz="2500" dirty="0">
                <a:solidFill>
                  <a:srgbClr val="7030A0"/>
                </a:solidFill>
              </a:rPr>
              <a:t>,</a:t>
            </a:r>
            <a:r>
              <a:rPr lang="en-US" altLang="zh-TW" sz="2500" dirty="0"/>
              <a:t>    </a:t>
            </a:r>
            <a:r>
              <a:rPr lang="en-US" altLang="zh-TW" sz="2500" dirty="0" err="1">
                <a:solidFill>
                  <a:srgbClr val="FF0000"/>
                </a:solidFill>
              </a:rPr>
              <a:t>GpioDirOut</a:t>
            </a:r>
            <a:r>
              <a:rPr lang="en-US" altLang="zh-TW" sz="2500" dirty="0">
                <a:solidFill>
                  <a:srgbClr val="7030A0"/>
                </a:solidFill>
              </a:rPr>
              <a:t>,</a:t>
            </a:r>
            <a:r>
              <a:rPr lang="en-US" altLang="zh-TW" sz="2500" dirty="0"/>
              <a:t>      </a:t>
            </a:r>
            <a:r>
              <a:rPr lang="en-US" altLang="zh-TW" sz="2500" dirty="0" err="1">
                <a:solidFill>
                  <a:srgbClr val="FF0000"/>
                </a:solidFill>
              </a:rPr>
              <a:t>GpioOutLow</a:t>
            </a:r>
            <a:r>
              <a:rPr lang="en-US" altLang="zh-TW" sz="2500" dirty="0">
                <a:solidFill>
                  <a:srgbClr val="7030A0"/>
                </a:solidFill>
              </a:rPr>
              <a:t>,</a:t>
            </a:r>
            <a:r>
              <a:rPr lang="en-US" altLang="zh-TW" sz="2500" dirty="0"/>
              <a:t>     </a:t>
            </a:r>
            <a:r>
              <a:rPr lang="en-US" altLang="zh-TW" sz="2500" dirty="0" err="1">
                <a:solidFill>
                  <a:srgbClr val="FF0000"/>
                </a:solidFill>
              </a:rPr>
              <a:t>GpioIntDis</a:t>
            </a:r>
            <a:r>
              <a:rPr lang="en-US" altLang="zh-TW" sz="2500" dirty="0">
                <a:solidFill>
                  <a:srgbClr val="7030A0"/>
                </a:solidFill>
              </a:rPr>
              <a:t>,</a:t>
            </a:r>
            <a:r>
              <a:rPr lang="en-US" altLang="zh-TW" sz="2500" dirty="0"/>
              <a:t>                     </a:t>
            </a:r>
            <a:r>
              <a:rPr lang="en-US" altLang="zh-TW" sz="2500" dirty="0" err="1">
                <a:solidFill>
                  <a:srgbClr val="FF0000"/>
                </a:solidFill>
              </a:rPr>
              <a:t>GpioHostDeepReset</a:t>
            </a:r>
            <a:r>
              <a:rPr lang="en-US" altLang="zh-TW" sz="2500" dirty="0">
                <a:solidFill>
                  <a:srgbClr val="7030A0"/>
                </a:solidFill>
              </a:rPr>
              <a:t>,</a:t>
            </a:r>
            <a:r>
              <a:rPr lang="en-US" altLang="zh-TW" sz="2500" dirty="0"/>
              <a:t>   </a:t>
            </a:r>
            <a:r>
              <a:rPr lang="en-US" altLang="zh-TW" sz="2500" dirty="0" err="1">
                <a:solidFill>
                  <a:srgbClr val="FF0000"/>
                </a:solidFill>
              </a:rPr>
              <a:t>GpioTermNone</a:t>
            </a:r>
            <a:r>
              <a:rPr lang="en-US" altLang="zh-TW" sz="2500" dirty="0">
                <a:solidFill>
                  <a:srgbClr val="7030A0"/>
                </a:solidFill>
              </a:rPr>
              <a:t>,</a:t>
            </a:r>
            <a:r>
              <a:rPr lang="en-US" altLang="zh-TW" sz="2500" dirty="0"/>
              <a:t>   </a:t>
            </a:r>
            <a:r>
              <a:rPr lang="en-US" altLang="zh-TW" sz="2500" dirty="0" err="1">
                <a:solidFill>
                  <a:srgbClr val="FF0000"/>
                </a:solidFill>
              </a:rPr>
              <a:t>GpioPadConfigLock</a:t>
            </a:r>
            <a:r>
              <a:rPr lang="en-US" altLang="zh-TW" sz="2500" dirty="0">
                <a:solidFill>
                  <a:srgbClr val="7030A0"/>
                </a:solidFill>
              </a:rPr>
              <a:t>}},</a:t>
            </a:r>
            <a:r>
              <a:rPr lang="en-US" altLang="zh-TW" sz="2500" dirty="0">
                <a:solidFill>
                  <a:srgbClr val="0070C0"/>
                </a:solidFill>
              </a:rPr>
              <a:t>//GPP_A_7_IRQ_LPC_SERIRQ_ESPI_CS1_N</a:t>
            </a:r>
          </a:p>
          <a:p>
            <a:pPr marL="457200" lvl="1" indent="0">
              <a:buNone/>
            </a:pPr>
            <a:r>
              <a:rPr lang="en-US" altLang="zh-TW" sz="2500" dirty="0"/>
              <a:t>…</a:t>
            </a:r>
          </a:p>
          <a:p>
            <a:pPr marL="457200" lvl="1" indent="0">
              <a:buNone/>
            </a:pPr>
            <a:r>
              <a:rPr lang="en-US" altLang="zh-TW" sz="2500" dirty="0">
                <a:solidFill>
                  <a:srgbClr val="7030A0"/>
                </a:solidFill>
              </a:rPr>
              <a:t>}</a:t>
            </a:r>
            <a:endParaRPr lang="zh-TW" altLang="en-US" dirty="0">
              <a:solidFill>
                <a:srgbClr val="7030A0"/>
              </a:solidFill>
            </a:endParaRPr>
          </a:p>
        </p:txBody>
      </p:sp>
    </p:spTree>
    <p:extLst>
      <p:ext uri="{BB962C8B-B14F-4D97-AF65-F5344CB8AC3E}">
        <p14:creationId xmlns:p14="http://schemas.microsoft.com/office/powerpoint/2010/main" val="3565769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27</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Customization Steps</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r>
              <a:rPr lang="en-US" altLang="zh-TW" dirty="0">
                <a:ea typeface="新細明體" pitchFamily="18" charset="-120"/>
                <a:cs typeface="Calibri" pitchFamily="34" charset="0"/>
              </a:rPr>
              <a:t>There are two methods to set the GPIO settings in build time</a:t>
            </a:r>
          </a:p>
          <a:p>
            <a:pPr marL="914400" lvl="1" indent="-457200">
              <a:buFont typeface="+mj-lt"/>
              <a:buAutoNum type="arabicPeriod"/>
            </a:pPr>
            <a:r>
              <a:rPr lang="en-US" altLang="zh-TW" dirty="0">
                <a:ea typeface="新細明體" pitchFamily="18" charset="-120"/>
                <a:cs typeface="Calibri" pitchFamily="34" charset="0"/>
              </a:rPr>
              <a:t>PCD (*.</a:t>
            </a:r>
            <a:r>
              <a:rPr lang="en-US" altLang="zh-TW" dirty="0" err="1">
                <a:ea typeface="新細明體" pitchFamily="18" charset="-120"/>
                <a:cs typeface="Calibri" pitchFamily="34" charset="0"/>
              </a:rPr>
              <a:t>gpio</a:t>
            </a:r>
            <a:r>
              <a:rPr lang="en-US" altLang="zh-TW" dirty="0">
                <a:ea typeface="新細明體" pitchFamily="18" charset="-120"/>
                <a:cs typeface="Calibri" pitchFamily="34" charset="0"/>
              </a:rPr>
              <a:t>)</a:t>
            </a:r>
          </a:p>
          <a:p>
            <a:pPr lvl="2"/>
            <a:r>
              <a:rPr lang="en-US" altLang="zh-TW" dirty="0">
                <a:ea typeface="新細明體" pitchFamily="18" charset="-120"/>
                <a:cs typeface="Calibri" pitchFamily="34" charset="0"/>
              </a:rPr>
              <a:t>Set </a:t>
            </a:r>
            <a:r>
              <a:rPr lang="en-US" altLang="zh-TW" dirty="0" err="1">
                <a:solidFill>
                  <a:srgbClr val="FF0000"/>
                </a:solidFill>
              </a:rPr>
              <a:t>gChipsetPkgTokenSpaceGuid.PcdGpioTableSource</a:t>
            </a:r>
            <a:r>
              <a:rPr lang="en-US" altLang="zh-TW" dirty="0">
                <a:solidFill>
                  <a:srgbClr val="FF0000"/>
                </a:solidFill>
              </a:rPr>
              <a:t> </a:t>
            </a:r>
            <a:r>
              <a:rPr lang="en-US" altLang="zh-TW" dirty="0">
                <a:solidFill>
                  <a:srgbClr val="203428"/>
                </a:solidFill>
              </a:rPr>
              <a:t>to</a:t>
            </a:r>
            <a:r>
              <a:rPr lang="en-US" altLang="zh-TW" dirty="0">
                <a:solidFill>
                  <a:srgbClr val="FF0000"/>
                </a:solidFill>
              </a:rPr>
              <a:t> 0 </a:t>
            </a:r>
            <a:r>
              <a:rPr lang="en-US" altLang="zh-TW" dirty="0">
                <a:solidFill>
                  <a:srgbClr val="203428"/>
                </a:solidFill>
              </a:rPr>
              <a:t>in </a:t>
            </a:r>
            <a:r>
              <a:rPr lang="en-US" altLang="zh-TW" dirty="0" err="1">
                <a:solidFill>
                  <a:srgbClr val="203428"/>
                </a:solidFill>
              </a:rPr>
              <a:t>Project.dsc</a:t>
            </a:r>
            <a:endParaRPr lang="en-US" altLang="zh-TW" dirty="0">
              <a:solidFill>
                <a:srgbClr val="203428"/>
              </a:solidFill>
              <a:ea typeface="新細明體" pitchFamily="18" charset="-120"/>
              <a:cs typeface="Calibri" pitchFamily="34" charset="0"/>
            </a:endParaRPr>
          </a:p>
          <a:p>
            <a:pPr lvl="2"/>
            <a:r>
              <a:rPr lang="en-US" altLang="zh-TW" dirty="0">
                <a:ea typeface="新細明體" pitchFamily="18" charset="-120"/>
                <a:cs typeface="Calibri" pitchFamily="34" charset="0"/>
              </a:rPr>
              <a:t>Use H2OIDE to set GPIO settings or </a:t>
            </a:r>
            <a:r>
              <a:rPr lang="en-US" altLang="zh-TW" dirty="0">
                <a:solidFill>
                  <a:srgbClr val="203428"/>
                </a:solidFill>
                <a:ea typeface="新細明體" pitchFamily="18" charset="-120"/>
                <a:cs typeface="Calibri" pitchFamily="34" charset="0"/>
              </a:rPr>
              <a:t>directly</a:t>
            </a:r>
            <a:r>
              <a:rPr lang="en-US" altLang="zh-TW" dirty="0">
                <a:ea typeface="新細明體" pitchFamily="18" charset="-120"/>
                <a:cs typeface="Calibri" pitchFamily="34" charset="0"/>
              </a:rPr>
              <a:t> modify </a:t>
            </a:r>
            <a:r>
              <a:rPr lang="en-US" altLang="zh-TW" b="1" dirty="0" err="1">
                <a:solidFill>
                  <a:srgbClr val="FF0000"/>
                </a:solidFill>
                <a:ea typeface="新細明體" pitchFamily="18" charset="-120"/>
                <a:cs typeface="Calibri" pitchFamily="34" charset="0"/>
              </a:rPr>
              <a:t>Gpio_XXXXXX.gpio</a:t>
            </a:r>
            <a:endParaRPr lang="en-US" altLang="zh-TW" dirty="0">
              <a:solidFill>
                <a:srgbClr val="203428"/>
              </a:solidFill>
              <a:ea typeface="新細明體" pitchFamily="18" charset="-120"/>
              <a:cs typeface="Calibri" pitchFamily="34" charset="0"/>
            </a:endParaRPr>
          </a:p>
          <a:p>
            <a:pPr marL="914400" lvl="1" indent="-457200">
              <a:buFont typeface="+mj-lt"/>
              <a:buAutoNum type="arabicPeriod"/>
            </a:pPr>
            <a:r>
              <a:rPr lang="en-US" altLang="zh-TW" dirty="0">
                <a:solidFill>
                  <a:srgbClr val="203428"/>
                </a:solidFill>
                <a:ea typeface="新細明體" pitchFamily="18" charset="-120"/>
                <a:cs typeface="Calibri" pitchFamily="34" charset="0"/>
              </a:rPr>
              <a:t>UBA</a:t>
            </a:r>
          </a:p>
          <a:p>
            <a:pPr lvl="2"/>
            <a:r>
              <a:rPr lang="en-US" altLang="zh-TW" dirty="0">
                <a:ea typeface="新細明體" pitchFamily="18" charset="-120"/>
                <a:cs typeface="Calibri" pitchFamily="34" charset="0"/>
              </a:rPr>
              <a:t>Set </a:t>
            </a:r>
            <a:r>
              <a:rPr lang="en-US" altLang="zh-TW" dirty="0" err="1">
                <a:solidFill>
                  <a:srgbClr val="FF0000"/>
                </a:solidFill>
              </a:rPr>
              <a:t>gChipsetPkgTokenSpaceGuid.PcdGpioTableSource</a:t>
            </a:r>
            <a:r>
              <a:rPr lang="en-US" altLang="zh-TW" dirty="0">
                <a:solidFill>
                  <a:srgbClr val="FF0000"/>
                </a:solidFill>
              </a:rPr>
              <a:t> </a:t>
            </a:r>
            <a:r>
              <a:rPr lang="en-US" altLang="zh-TW" dirty="0">
                <a:solidFill>
                  <a:srgbClr val="203428"/>
                </a:solidFill>
              </a:rPr>
              <a:t>to</a:t>
            </a:r>
            <a:r>
              <a:rPr lang="en-US" altLang="zh-TW" dirty="0">
                <a:solidFill>
                  <a:srgbClr val="FF0000"/>
                </a:solidFill>
              </a:rPr>
              <a:t> 1 </a:t>
            </a:r>
            <a:r>
              <a:rPr lang="en-US" altLang="zh-TW" dirty="0">
                <a:solidFill>
                  <a:srgbClr val="203428"/>
                </a:solidFill>
              </a:rPr>
              <a:t>in </a:t>
            </a:r>
            <a:r>
              <a:rPr lang="en-US" altLang="zh-TW" dirty="0" err="1">
                <a:solidFill>
                  <a:srgbClr val="203428"/>
                </a:solidFill>
              </a:rPr>
              <a:t>Project.dsc</a:t>
            </a:r>
            <a:endParaRPr lang="en-US" altLang="zh-TW" dirty="0">
              <a:solidFill>
                <a:srgbClr val="203428"/>
              </a:solidFill>
              <a:ea typeface="新細明體" pitchFamily="18" charset="-120"/>
              <a:cs typeface="Calibri" pitchFamily="34" charset="0"/>
            </a:endParaRPr>
          </a:p>
          <a:p>
            <a:pPr lvl="2"/>
            <a:r>
              <a:rPr lang="en-US" altLang="zh-TW" dirty="0">
                <a:solidFill>
                  <a:srgbClr val="203428"/>
                </a:solidFill>
                <a:ea typeface="新細明體" pitchFamily="18" charset="-120"/>
                <a:cs typeface="Calibri" pitchFamily="34" charset="0"/>
              </a:rPr>
              <a:t>Modify GPIO settings in </a:t>
            </a:r>
            <a:r>
              <a:rPr lang="en-US" altLang="zh-TW" sz="2000" b="1" spc="-1" dirty="0" err="1">
                <a:solidFill>
                  <a:srgbClr val="FF0000"/>
                </a:solidFill>
                <a:uFill>
                  <a:solidFill>
                    <a:srgbClr val="FFFFFF"/>
                  </a:solidFill>
                </a:uFill>
              </a:rPr>
              <a:t>GpioTable.c</a:t>
            </a:r>
            <a:r>
              <a:rPr lang="en-US" altLang="zh-TW" sz="2000" spc="-1" dirty="0">
                <a:solidFill>
                  <a:srgbClr val="203428"/>
                </a:solidFill>
                <a:uFill>
                  <a:solidFill>
                    <a:srgbClr val="FFFFFF"/>
                  </a:solidFill>
                </a:uFill>
                <a:ea typeface="新細明體" pitchFamily="18" charset="-120"/>
                <a:cs typeface="Calibri" pitchFamily="34" charset="0"/>
              </a:rPr>
              <a:t>. </a:t>
            </a:r>
            <a:endParaRPr lang="en-US" altLang="zh-TW" dirty="0">
              <a:solidFill>
                <a:srgbClr val="203428"/>
              </a:solidFill>
              <a:ea typeface="新細明體" pitchFamily="18" charset="-120"/>
              <a:cs typeface="Calibri" pitchFamily="34" charset="0"/>
            </a:endParaRPr>
          </a:p>
          <a:p>
            <a:pPr marL="0" indent="0">
              <a:buNone/>
            </a:pPr>
            <a:endParaRPr lang="en-US" altLang="zh-TW" dirty="0">
              <a:ea typeface="新細明體" pitchFamily="18" charset="-120"/>
              <a:cs typeface="Calibri" pitchFamily="34" charset="0"/>
            </a:endParaRPr>
          </a:p>
          <a:p>
            <a:r>
              <a:rPr lang="en-US" altLang="zh-TW" dirty="0">
                <a:ea typeface="新細明體" pitchFamily="18" charset="-120"/>
                <a:cs typeface="Calibri" pitchFamily="34" charset="0"/>
              </a:rPr>
              <a:t>Dynamic update GPIO default setting for different SKUs</a:t>
            </a:r>
          </a:p>
          <a:p>
            <a:pPr lvl="1"/>
            <a:r>
              <a:rPr lang="en-US" altLang="zh-TW" dirty="0">
                <a:ea typeface="新細明體" pitchFamily="18" charset="-120"/>
                <a:cs typeface="Calibri" pitchFamily="34" charset="0"/>
              </a:rPr>
              <a:t>Modify </a:t>
            </a:r>
            <a:r>
              <a:rPr lang="en-US" altLang="zh-TW" b="1" dirty="0" err="1">
                <a:solidFill>
                  <a:srgbClr val="FF0000"/>
                </a:solidFill>
                <a:ea typeface="新細明體" pitchFamily="18" charset="-120"/>
                <a:cs typeface="Calibri" pitchFamily="34" charset="0"/>
              </a:rPr>
              <a:t>OemSvcModifyGpioSettingTable.c</a:t>
            </a:r>
            <a:endParaRPr lang="en-US" altLang="zh-TW" b="1" dirty="0">
              <a:solidFill>
                <a:srgbClr val="FF0000"/>
              </a:solidFill>
              <a:ea typeface="新細明體" pitchFamily="18" charset="-120"/>
              <a:cs typeface="Calibri" pitchFamily="34" charset="0"/>
            </a:endParaRPr>
          </a:p>
          <a:p>
            <a:endParaRPr lang="zh-TW" altLang="en-US" dirty="0"/>
          </a:p>
        </p:txBody>
      </p:sp>
    </p:spTree>
    <p:extLst>
      <p:ext uri="{BB962C8B-B14F-4D97-AF65-F5344CB8AC3E}">
        <p14:creationId xmlns:p14="http://schemas.microsoft.com/office/powerpoint/2010/main" val="2745433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 – Via H2OIDE</a:t>
            </a:r>
            <a:endParaRPr lang="zh-TW" altLang="en-US" dirty="0"/>
          </a:p>
        </p:txBody>
      </p:sp>
      <p:pic>
        <p:nvPicPr>
          <p:cNvPr id="13" name="Content Placeholder 12">
            <a:extLst>
              <a:ext uri="{FF2B5EF4-FFF2-40B4-BE49-F238E27FC236}">
                <a16:creationId xmlns:a16="http://schemas.microsoft.com/office/drawing/2014/main" id="{699B4EC6-2E26-4EBE-920E-3A17ADE3FE6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58731" b="48626"/>
          <a:stretch/>
        </p:blipFill>
        <p:spPr>
          <a:xfrm>
            <a:off x="4726756" y="1783460"/>
            <a:ext cx="6808279" cy="4778469"/>
          </a:xfrm>
        </p:spPr>
      </p:pic>
      <p:sp>
        <p:nvSpPr>
          <p:cNvPr id="15" name="內容版面配置區 2">
            <a:extLst>
              <a:ext uri="{FF2B5EF4-FFF2-40B4-BE49-F238E27FC236}">
                <a16:creationId xmlns:a16="http://schemas.microsoft.com/office/drawing/2014/main" id="{B7924914-1B78-45ED-B391-2C1908AB116C}"/>
              </a:ext>
            </a:extLst>
          </p:cNvPr>
          <p:cNvSpPr txBox="1">
            <a:spLocks/>
          </p:cNvSpPr>
          <p:nvPr/>
        </p:nvSpPr>
        <p:spPr>
          <a:xfrm>
            <a:off x="838200" y="1398494"/>
            <a:ext cx="7340600" cy="47784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err="1">
                <a:ea typeface="新細明體" pitchFamily="18" charset="-120"/>
                <a:cs typeface="Calibri" pitchFamily="34" charset="0"/>
              </a:rPr>
              <a:t>OpenProject</a:t>
            </a:r>
            <a:r>
              <a:rPr lang="en-US" altLang="zh-TW" dirty="0">
                <a:ea typeface="新細明體" pitchFamily="18" charset="-120"/>
                <a:cs typeface="Calibri" pitchFamily="34" charset="0"/>
              </a:rPr>
              <a:t> -&gt; Tools -&gt; GPIO Editor</a:t>
            </a:r>
            <a:endParaRPr lang="zh-TW" altLang="en-US" dirty="0"/>
          </a:p>
        </p:txBody>
      </p:sp>
    </p:spTree>
    <p:extLst>
      <p:ext uri="{BB962C8B-B14F-4D97-AF65-F5344CB8AC3E}">
        <p14:creationId xmlns:p14="http://schemas.microsoft.com/office/powerpoint/2010/main" val="2141101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 – Via H2OIDE</a:t>
            </a:r>
            <a:endParaRPr lang="zh-TW" altLang="en-US" dirty="0"/>
          </a:p>
        </p:txBody>
      </p:sp>
      <p:pic>
        <p:nvPicPr>
          <p:cNvPr id="6" name="Content Placeholder 5">
            <a:extLst>
              <a:ext uri="{FF2B5EF4-FFF2-40B4-BE49-F238E27FC236}">
                <a16:creationId xmlns:a16="http://schemas.microsoft.com/office/drawing/2014/main" id="{81AAE432-255C-474B-BBBB-2944301C822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8658" b="48083"/>
          <a:stretch/>
        </p:blipFill>
        <p:spPr>
          <a:xfrm>
            <a:off x="869175" y="1888887"/>
            <a:ext cx="10453649" cy="4279106"/>
          </a:xfrm>
        </p:spPr>
      </p:pic>
      <p:sp>
        <p:nvSpPr>
          <p:cNvPr id="8" name="內容版面配置區 2">
            <a:extLst>
              <a:ext uri="{FF2B5EF4-FFF2-40B4-BE49-F238E27FC236}">
                <a16:creationId xmlns:a16="http://schemas.microsoft.com/office/drawing/2014/main" id="{578454D3-EBB9-49A8-A1E7-068A70D0E3FD}"/>
              </a:ext>
            </a:extLst>
          </p:cNvPr>
          <p:cNvSpPr txBox="1">
            <a:spLocks/>
          </p:cNvSpPr>
          <p:nvPr/>
        </p:nvSpPr>
        <p:spPr>
          <a:xfrm>
            <a:off x="838200" y="1398494"/>
            <a:ext cx="10484624" cy="47784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ea typeface="新細明體" pitchFamily="18" charset="-120"/>
                <a:cs typeface="Calibri" pitchFamily="34" charset="0"/>
              </a:rPr>
              <a:t>Window of GPIO Editor</a:t>
            </a:r>
            <a:endParaRPr lang="zh-TW" altLang="en-US" dirty="0"/>
          </a:p>
        </p:txBody>
      </p:sp>
    </p:spTree>
    <p:extLst>
      <p:ext uri="{BB962C8B-B14F-4D97-AF65-F5344CB8AC3E}">
        <p14:creationId xmlns:p14="http://schemas.microsoft.com/office/powerpoint/2010/main" val="2579430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 – </a:t>
            </a:r>
            <a:r>
              <a:rPr lang="en-US" altLang="zh-TW"/>
              <a:t>Via H2OIDE</a:t>
            </a:r>
            <a:endParaRPr lang="zh-TW" altLang="en-US" dirty="0"/>
          </a:p>
        </p:txBody>
      </p:sp>
      <p:pic>
        <p:nvPicPr>
          <p:cNvPr id="6" name="Content Placeholder 5">
            <a:extLst>
              <a:ext uri="{FF2B5EF4-FFF2-40B4-BE49-F238E27FC236}">
                <a16:creationId xmlns:a16="http://schemas.microsoft.com/office/drawing/2014/main" id="{81AAE432-255C-474B-BBBB-2944301C822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8658" b="48083"/>
          <a:stretch/>
        </p:blipFill>
        <p:spPr>
          <a:xfrm>
            <a:off x="900151" y="2292709"/>
            <a:ext cx="10453649" cy="4279106"/>
          </a:xfrm>
        </p:spPr>
      </p:pic>
      <p:sp>
        <p:nvSpPr>
          <p:cNvPr id="8" name="內容版面配置區 2">
            <a:extLst>
              <a:ext uri="{FF2B5EF4-FFF2-40B4-BE49-F238E27FC236}">
                <a16:creationId xmlns:a16="http://schemas.microsoft.com/office/drawing/2014/main" id="{578454D3-EBB9-49A8-A1E7-068A70D0E3FD}"/>
              </a:ext>
            </a:extLst>
          </p:cNvPr>
          <p:cNvSpPr txBox="1">
            <a:spLocks/>
          </p:cNvSpPr>
          <p:nvPr/>
        </p:nvSpPr>
        <p:spPr>
          <a:xfrm>
            <a:off x="838200" y="1398494"/>
            <a:ext cx="10484624" cy="47784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ea typeface="新細明體" pitchFamily="18" charset="-120"/>
                <a:cs typeface="Calibri" pitchFamily="34" charset="0"/>
              </a:rPr>
              <a:t>Double Click the GPIO cell to edit value</a:t>
            </a:r>
          </a:p>
          <a:p>
            <a:pPr lvl="1"/>
            <a:r>
              <a:rPr lang="en-US" altLang="zh-TW" dirty="0">
                <a:ea typeface="新細明體" pitchFamily="18" charset="-120"/>
                <a:cs typeface="Calibri" pitchFamily="34" charset="0"/>
              </a:rPr>
              <a:t>Example : GPIO_VER3_GPP_A19.OutputState</a:t>
            </a:r>
          </a:p>
        </p:txBody>
      </p:sp>
      <p:pic>
        <p:nvPicPr>
          <p:cNvPr id="7" name="Picture 6">
            <a:extLst>
              <a:ext uri="{FF2B5EF4-FFF2-40B4-BE49-F238E27FC236}">
                <a16:creationId xmlns:a16="http://schemas.microsoft.com/office/drawing/2014/main" id="{000D55DA-9930-46CC-B5B3-D6FF07C4A20D}"/>
              </a:ext>
            </a:extLst>
          </p:cNvPr>
          <p:cNvPicPr>
            <a:picLocks noChangeAspect="1"/>
          </p:cNvPicPr>
          <p:nvPr/>
        </p:nvPicPr>
        <p:blipFill>
          <a:blip r:embed="rId3"/>
          <a:stretch>
            <a:fillRect/>
          </a:stretch>
        </p:blipFill>
        <p:spPr>
          <a:xfrm>
            <a:off x="7162107" y="2809240"/>
            <a:ext cx="3376670" cy="3762575"/>
          </a:xfrm>
          <a:prstGeom prst="rect">
            <a:avLst/>
          </a:prstGeom>
        </p:spPr>
      </p:pic>
      <p:sp>
        <p:nvSpPr>
          <p:cNvPr id="9" name="Rectangle 8">
            <a:extLst>
              <a:ext uri="{FF2B5EF4-FFF2-40B4-BE49-F238E27FC236}">
                <a16:creationId xmlns:a16="http://schemas.microsoft.com/office/drawing/2014/main" id="{A63E435A-B62B-4232-A7CF-3942A5C4B8C4}"/>
              </a:ext>
            </a:extLst>
          </p:cNvPr>
          <p:cNvSpPr/>
          <p:nvPr/>
        </p:nvSpPr>
        <p:spPr>
          <a:xfrm>
            <a:off x="5151120" y="6054995"/>
            <a:ext cx="762000" cy="19499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76E1474-204F-4850-A210-B15899F9723C}"/>
              </a:ext>
            </a:extLst>
          </p:cNvPr>
          <p:cNvCxnSpPr>
            <a:stCxn id="9" idx="3"/>
            <a:endCxn id="7" idx="1"/>
          </p:cNvCxnSpPr>
          <p:nvPr/>
        </p:nvCxnSpPr>
        <p:spPr>
          <a:xfrm flipV="1">
            <a:off x="5913120" y="4690528"/>
            <a:ext cx="1248987" cy="14619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2BDACB8-3981-4569-8FD0-C2B10C28CBAF}"/>
              </a:ext>
            </a:extLst>
          </p:cNvPr>
          <p:cNvSpPr/>
          <p:nvPr/>
        </p:nvSpPr>
        <p:spPr>
          <a:xfrm>
            <a:off x="9787800" y="6276893"/>
            <a:ext cx="762000" cy="29492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7269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a:xfrm>
            <a:off x="838200" y="240465"/>
            <a:ext cx="10774680" cy="1075765"/>
          </a:xfrm>
        </p:spPr>
        <p:txBody>
          <a:bodyPr>
            <a:normAutofit fontScale="90000"/>
          </a:bodyPr>
          <a:lstStyle/>
          <a:p>
            <a:r>
              <a:rPr lang="en-US" altLang="zh-TW" dirty="0"/>
              <a:t>Customization Steps – Directly modify </a:t>
            </a:r>
            <a:r>
              <a:rPr lang="en-US" altLang="zh-TW" dirty="0" err="1"/>
              <a:t>Gpio_XXXXXX.gpio</a:t>
            </a:r>
            <a:br>
              <a:rPr lang="en-US" altLang="zh-TW" dirty="0"/>
            </a:b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r>
              <a:rPr lang="en-US" altLang="zh-TW" dirty="0"/>
              <a:t>Open </a:t>
            </a:r>
            <a:r>
              <a:rPr lang="en-US" altLang="zh-TW" dirty="0" err="1"/>
              <a:t>Gpio_XXXXXX.gpio</a:t>
            </a:r>
            <a:r>
              <a:rPr lang="en-US" altLang="zh-TW" dirty="0"/>
              <a:t> file by editor, which locate at:</a:t>
            </a:r>
          </a:p>
          <a:p>
            <a:pPr lvl="1"/>
            <a:r>
              <a:rPr lang="en-US" altLang="zh-TW" dirty="0"/>
              <a:t> </a:t>
            </a:r>
            <a:r>
              <a:rPr lang="en-US" altLang="zh-TW" spc="-1" dirty="0">
                <a:solidFill>
                  <a:srgbClr val="FF0000"/>
                </a:solidFill>
                <a:uFill>
                  <a:solidFill>
                    <a:srgbClr val="FFFFFF"/>
                  </a:solidFill>
                </a:uFill>
              </a:rPr>
              <a:t>Board/Intel/</a:t>
            </a:r>
            <a:r>
              <a:rPr lang="en-US" altLang="zh-TW" dirty="0">
                <a:solidFill>
                  <a:srgbClr val="FF0000"/>
                </a:solidFill>
              </a:rPr>
              <a:t>$(PROJECT_PKG)/ Library/</a:t>
            </a:r>
            <a:r>
              <a:rPr lang="en-US" altLang="zh-TW" dirty="0" err="1">
                <a:solidFill>
                  <a:srgbClr val="FF0000"/>
                </a:solidFill>
              </a:rPr>
              <a:t>GpioCfgLib</a:t>
            </a:r>
            <a:r>
              <a:rPr lang="en-US" altLang="zh-TW" dirty="0">
                <a:solidFill>
                  <a:srgbClr val="FF0000"/>
                </a:solidFill>
              </a:rPr>
              <a:t>/</a:t>
            </a:r>
          </a:p>
          <a:p>
            <a:r>
              <a:rPr lang="en-US" altLang="zh-TW" dirty="0"/>
              <a:t> Raw data view:</a:t>
            </a:r>
          </a:p>
          <a:p>
            <a:pPr lvl="1"/>
            <a:r>
              <a:rPr lang="en-US" altLang="zh-TW" dirty="0">
                <a:ea typeface="新細明體" pitchFamily="18" charset="-120"/>
                <a:cs typeface="Calibri" pitchFamily="34" charset="0"/>
              </a:rPr>
              <a:t>Example : GPIO_VER3_GPP_A9.OutputState</a:t>
            </a:r>
          </a:p>
          <a:p>
            <a:pPr lvl="1"/>
            <a:endParaRPr lang="en-US" altLang="zh-TW" dirty="0"/>
          </a:p>
          <a:p>
            <a:endParaRPr lang="zh-TW" altLang="en-US" dirty="0"/>
          </a:p>
        </p:txBody>
      </p:sp>
      <p:pic>
        <p:nvPicPr>
          <p:cNvPr id="5" name="Picture 4">
            <a:extLst>
              <a:ext uri="{FF2B5EF4-FFF2-40B4-BE49-F238E27FC236}">
                <a16:creationId xmlns:a16="http://schemas.microsoft.com/office/drawing/2014/main" id="{160CDB29-F1AC-4446-884D-6781EFE7C025}"/>
              </a:ext>
            </a:extLst>
          </p:cNvPr>
          <p:cNvPicPr>
            <a:picLocks noChangeAspect="1"/>
          </p:cNvPicPr>
          <p:nvPr/>
        </p:nvPicPr>
        <p:blipFill rotWithShape="1">
          <a:blip r:embed="rId2">
            <a:extLst>
              <a:ext uri="{28A0092B-C50C-407E-A947-70E740481C1C}">
                <a14:useLocalDpi xmlns:a14="http://schemas.microsoft.com/office/drawing/2010/main" val="0"/>
              </a:ext>
            </a:extLst>
          </a:blip>
          <a:srcRect b="66074"/>
          <a:stretch/>
        </p:blipFill>
        <p:spPr>
          <a:xfrm>
            <a:off x="0" y="3213879"/>
            <a:ext cx="12192000" cy="2262362"/>
          </a:xfrm>
          <a:prstGeom prst="rect">
            <a:avLst/>
          </a:prstGeom>
        </p:spPr>
      </p:pic>
      <p:sp>
        <p:nvSpPr>
          <p:cNvPr id="6" name="Rectangle 6">
            <a:extLst>
              <a:ext uri="{FF2B5EF4-FFF2-40B4-BE49-F238E27FC236}">
                <a16:creationId xmlns:a16="http://schemas.microsoft.com/office/drawing/2014/main" id="{1972400B-EF16-4A27-999B-910583A7EC66}"/>
              </a:ext>
            </a:extLst>
          </p:cNvPr>
          <p:cNvSpPr/>
          <p:nvPr/>
        </p:nvSpPr>
        <p:spPr>
          <a:xfrm>
            <a:off x="4159572" y="5103341"/>
            <a:ext cx="1042760" cy="20100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3412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33</a:t>
            </a:fld>
            <a:endParaRPr lang="en-US" dirty="0"/>
          </a:p>
        </p:txBody>
      </p:sp>
    </p:spTree>
    <p:extLst>
      <p:ext uri="{BB962C8B-B14F-4D97-AF65-F5344CB8AC3E}">
        <p14:creationId xmlns:p14="http://schemas.microsoft.com/office/powerpoint/2010/main" val="2306399004"/>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8474</TotalTime>
  <Words>2489</Words>
  <Application>Microsoft Office PowerPoint</Application>
  <PresentationFormat>Widescreen</PresentationFormat>
  <Paragraphs>300</Paragraphs>
  <Slides>33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39" baseType="lpstr">
      <vt:lpstr>Arial</vt:lpstr>
      <vt:lpstr>Calibri</vt:lpstr>
      <vt:lpstr>Courier New</vt:lpstr>
      <vt:lpstr>Segoe UI</vt:lpstr>
      <vt:lpstr>2018 Theme</vt:lpstr>
      <vt:lpstr>Visio.Drawing.15</vt:lpstr>
      <vt:lpstr>GPIO Programming</vt:lpstr>
      <vt:lpstr>Copyright 2021 Insyde Software Corp., All Rights Reserved.</vt:lpstr>
      <vt:lpstr>Agenda</vt:lpstr>
      <vt:lpstr>Goals &amp; Target Audience</vt:lpstr>
      <vt:lpstr>Goals &amp; Target Audience</vt:lpstr>
      <vt:lpstr>Overview</vt:lpstr>
      <vt:lpstr>Overview</vt:lpstr>
      <vt:lpstr>Overview – PCD (*.gpio)</vt:lpstr>
      <vt:lpstr>GPIO Setting File</vt:lpstr>
      <vt:lpstr>GpioCfgLib</vt:lpstr>
      <vt:lpstr>GpioCfgLib</vt:lpstr>
      <vt:lpstr>Overview - UBA</vt:lpstr>
      <vt:lpstr>GPIO Structure Define</vt:lpstr>
      <vt:lpstr>Programming GPIOs</vt:lpstr>
      <vt:lpstr>Related Files</vt:lpstr>
      <vt:lpstr>Related Files</vt:lpstr>
      <vt:lpstr>ChipsetGpio.h (PCD way)</vt:lpstr>
      <vt:lpstr>GpioLib.h</vt:lpstr>
      <vt:lpstr>GpioConfig.h</vt:lpstr>
      <vt:lpstr>Project.dsc (PCD way)</vt:lpstr>
      <vt:lpstr>GpioCfgLib.inf (PCD way)</vt:lpstr>
      <vt:lpstr>ProgramGpioPei.c</vt:lpstr>
      <vt:lpstr>OemSvcGetGpioTable.c (PCD way)</vt:lpstr>
      <vt:lpstr>ProgramGpioPei (Uba way)</vt:lpstr>
      <vt:lpstr>OemSvcModifyGpioSettingTable.c</vt:lpstr>
      <vt:lpstr>GpioTable.c (Uba way)</vt:lpstr>
      <vt:lpstr>Customization Steps</vt:lpstr>
      <vt:lpstr>Customization Steps</vt:lpstr>
      <vt:lpstr>Customization Steps – Via H2OIDE</vt:lpstr>
      <vt:lpstr>Customization Steps – Via H2OIDE</vt:lpstr>
      <vt:lpstr>Customization Steps – Via H2OIDE</vt:lpstr>
      <vt:lpstr>Customization Steps – Directly modify Gpio_XXXXXX.gpio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267</cp:revision>
  <dcterms:created xsi:type="dcterms:W3CDTF">2018-02-02T23:50:52Z</dcterms:created>
  <dcterms:modified xsi:type="dcterms:W3CDTF">2021-04-01T06:41:15Z</dcterms:modified>
</cp:coreProperties>
</file>