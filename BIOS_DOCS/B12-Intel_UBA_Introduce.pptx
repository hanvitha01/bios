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5"/>
  </p:notesMasterIdLst>
  <p:handoutMasterIdLst>
    <p:handoutMasterId r:id="rId26"/>
  </p:handoutMasterIdLst>
  <p:sldIdLst>
    <p:sldId id="351" r:id="rId2"/>
    <p:sldId id="364" r:id="rId3"/>
    <p:sldId id="365" r:id="rId4"/>
    <p:sldId id="366" r:id="rId5"/>
    <p:sldId id="367" r:id="rId6"/>
    <p:sldId id="547" r:id="rId7"/>
    <p:sldId id="520" r:id="rId8"/>
    <p:sldId id="526" r:id="rId9"/>
    <p:sldId id="548" r:id="rId10"/>
    <p:sldId id="436" r:id="rId11"/>
    <p:sldId id="549" r:id="rId12"/>
    <p:sldId id="550" r:id="rId13"/>
    <p:sldId id="551" r:id="rId14"/>
    <p:sldId id="552" r:id="rId15"/>
    <p:sldId id="468" r:id="rId16"/>
    <p:sldId id="469" r:id="rId17"/>
    <p:sldId id="544" r:id="rId18"/>
    <p:sldId id="554" r:id="rId19"/>
    <p:sldId id="553" r:id="rId20"/>
    <p:sldId id="555" r:id="rId21"/>
    <p:sldId id="543" r:id="rId22"/>
    <p:sldId id="556" r:id="rId23"/>
    <p:sldId id="5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notesViewPr>
    <p:cSldViewPr snapToGrid="0">
      <p:cViewPr>
        <p:scale>
          <a:sx n="150" d="100"/>
          <a:sy n="150" d="100"/>
        </p:scale>
        <p:origin x="548" y="-28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52A9E751-353C-DEE5-EA3A-591960342A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01246440-981F-4BE5-A3B6-94AF8D0ECA5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7B7C61-072E-427E-8641-0DDF2CAA9BE5}" type="datetimeFigureOut">
              <a:rPr lang="zh-TW" altLang="en-US" smtClean="0"/>
              <a:t>2022/7/22</a:t>
            </a:fld>
            <a:endParaRPr lang="zh-TW" altLang="en-US"/>
          </a:p>
        </p:txBody>
      </p:sp>
      <p:sp>
        <p:nvSpPr>
          <p:cNvPr id="4" name="頁尾版面配置區 3">
            <a:extLst>
              <a:ext uri="{FF2B5EF4-FFF2-40B4-BE49-F238E27FC236}">
                <a16:creationId xmlns:a16="http://schemas.microsoft.com/office/drawing/2014/main" id="{8ED6F15A-0FD6-C90B-A94C-D0C783319A3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413604CA-9C28-48D8-E495-1854B45392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A098EBF-32E5-42B2-AFE4-B3AB787BF3A7}" type="slidenum">
              <a:rPr lang="zh-TW" altLang="en-US" smtClean="0"/>
              <a:t>‹#›</a:t>
            </a:fld>
            <a:endParaRPr lang="zh-TW" altLang="en-US"/>
          </a:p>
        </p:txBody>
      </p:sp>
    </p:spTree>
    <p:extLst>
      <p:ext uri="{BB962C8B-B14F-4D97-AF65-F5344CB8AC3E}">
        <p14:creationId xmlns:p14="http://schemas.microsoft.com/office/powerpoint/2010/main" val="11833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7/22/2022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LibraryFile</a:t>
            </a:r>
            <a:r>
              <a:rPr lang="en-US" dirty="0"/>
              <a:t>: Intel/</a:t>
            </a:r>
            <a:r>
              <a:rPr lang="en-US" dirty="0" err="1"/>
              <a:t>EagleStream</a:t>
            </a:r>
            <a:r>
              <a:rPr lang="en-US" dirty="0"/>
              <a:t>/</a:t>
            </a:r>
            <a:r>
              <a:rPr lang="en-US" dirty="0" err="1"/>
              <a:t>ServerPlatformPkg</a:t>
            </a:r>
            <a:r>
              <a:rPr lang="en-US" dirty="0"/>
              <a:t>/Include/Library/</a:t>
            </a:r>
            <a:r>
              <a:rPr lang="en-US" dirty="0" err="1"/>
              <a:t>Ubaxxx</a:t>
            </a:r>
            <a:r>
              <a:rPr lang="en-US" dirty="0"/>
              <a:t>*.h</a:t>
            </a:r>
          </a:p>
          <a:p>
            <a:r>
              <a:rPr lang="en-US" dirty="0"/>
              <a:t>Include : Intel\</a:t>
            </a:r>
            <a:r>
              <a:rPr lang="en-US" dirty="0" err="1"/>
              <a:t>EagleStream</a:t>
            </a:r>
            <a:r>
              <a:rPr lang="en-US" dirty="0"/>
              <a:t>\</a:t>
            </a:r>
            <a:r>
              <a:rPr lang="en-US" dirty="0" err="1"/>
              <a:t>ServerPlatformPkg</a:t>
            </a:r>
            <a:r>
              <a:rPr lang="en-US" dirty="0"/>
              <a:t>\Include\Library\</a:t>
            </a:r>
            <a:r>
              <a:rPr lang="en-US" dirty="0" err="1"/>
              <a:t>UbaPlatLib.h</a:t>
            </a:r>
            <a:endParaRPr lang="en-US" dirty="0"/>
          </a:p>
          <a:p>
            <a:r>
              <a:rPr lang="en-US" dirty="0" err="1"/>
              <a:t>Project.dsc</a:t>
            </a:r>
            <a:endParaRPr lang="en-US" dirty="0"/>
          </a:p>
        </p:txBody>
      </p:sp>
      <p:sp>
        <p:nvSpPr>
          <p:cNvPr id="4" name="Slide Number Placeholder 3"/>
          <p:cNvSpPr>
            <a:spLocks noGrp="1"/>
          </p:cNvSpPr>
          <p:nvPr>
            <p:ph type="sldNum" sz="quarter" idx="5"/>
          </p:nvPr>
        </p:nvSpPr>
        <p:spPr/>
        <p:txBody>
          <a:bodyPr/>
          <a:lstStyle/>
          <a:p>
            <a:fld id="{D43976C4-ACCA-4C47-8066-C01E23D4E079}" type="slidenum">
              <a:rPr lang="en-US" smtClean="0"/>
              <a:t>8</a:t>
            </a:fld>
            <a:endParaRPr lang="en-US"/>
          </a:p>
        </p:txBody>
      </p:sp>
    </p:spTree>
    <p:extLst>
      <p:ext uri="{BB962C8B-B14F-4D97-AF65-F5344CB8AC3E}">
        <p14:creationId xmlns:p14="http://schemas.microsoft.com/office/powerpoint/2010/main" val="1582820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3976C4-ACCA-4C47-8066-C01E23D4E079}" type="slidenum">
              <a:rPr lang="en-US" smtClean="0"/>
              <a:t>16</a:t>
            </a:fld>
            <a:endParaRPr lang="en-US"/>
          </a:p>
        </p:txBody>
      </p:sp>
    </p:spTree>
    <p:extLst>
      <p:ext uri="{BB962C8B-B14F-4D97-AF65-F5344CB8AC3E}">
        <p14:creationId xmlns:p14="http://schemas.microsoft.com/office/powerpoint/2010/main" val="40850428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a:t>
            </a:r>
            <a:r>
              <a:rPr lang="en-US" altLang="zh-TW" dirty="0"/>
              <a:t>2</a:t>
            </a:r>
            <a:r>
              <a:rPr lang="en-US" dirty="0"/>
              <a:t>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a:t>
            </a:r>
            <a:r>
              <a:rPr lang="en-US" altLang="zh-TW" dirty="0"/>
              <a:t>2</a:t>
            </a:r>
            <a:r>
              <a:rPr lang="en-US" dirty="0"/>
              <a:t>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a:t>
            </a:r>
            <a:r>
              <a:rPr lang="en-US" altLang="zh-TW" dirty="0">
                <a:solidFill>
                  <a:schemeClr val="bg1"/>
                </a:solidFill>
              </a:rPr>
              <a:t>2</a:t>
            </a:r>
            <a:r>
              <a:rPr lang="en-US" dirty="0">
                <a:solidFill>
                  <a:schemeClr val="bg1"/>
                </a:solidFill>
              </a:rPr>
              <a:t>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a:t>
            </a:r>
            <a:r>
              <a:rPr lang="en-US" altLang="zh-TW" dirty="0">
                <a:solidFill>
                  <a:schemeClr val="bg1"/>
                </a:solidFill>
              </a:rPr>
              <a:t>2</a:t>
            </a:r>
            <a:r>
              <a:rPr lang="en-US" dirty="0">
                <a:solidFill>
                  <a:schemeClr val="bg1"/>
                </a:solidFill>
              </a:rPr>
              <a:t>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a:t>
            </a:r>
            <a:r>
              <a:rPr lang="en-US" altLang="zh-TW" dirty="0">
                <a:solidFill>
                  <a:schemeClr val="bg1"/>
                </a:solidFill>
              </a:rPr>
              <a:t>2</a:t>
            </a:r>
            <a:r>
              <a:rPr lang="en-US" dirty="0">
                <a:solidFill>
                  <a:schemeClr val="bg1"/>
                </a:solidFill>
              </a:rPr>
              <a:t>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7/22/2022</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a:t>
            </a:r>
            <a:r>
              <a:rPr lang="en-US" altLang="zh-TW" dirty="0"/>
              <a:t>2</a:t>
            </a:r>
            <a:r>
              <a:rPr lang="en-US" dirty="0"/>
              <a:t>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Introduce UBA</a:t>
            </a:r>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a:solidFill>
                  <a:schemeClr val="tx1"/>
                </a:solidFill>
              </a:rPr>
            </a:br>
            <a:r>
              <a:rPr lang="en-US">
                <a:solidFill>
                  <a:schemeClr val="tx1"/>
                </a:solidFill>
              </a:rPr>
              <a:t>July </a:t>
            </a:r>
            <a:r>
              <a:rPr lang="en-US" dirty="0">
                <a:solidFill>
                  <a:schemeClr val="tx1"/>
                </a:solidFill>
              </a:rPr>
              <a:t>202</a:t>
            </a:r>
            <a:r>
              <a:rPr lang="en-US" altLang="zh-TW" dirty="0">
                <a:solidFill>
                  <a:schemeClr val="tx1"/>
                </a:solidFill>
              </a:rPr>
              <a:t>2</a:t>
            </a:r>
            <a:endParaRPr lang="en-US" dirty="0">
              <a:solidFill>
                <a:schemeClr val="tx1"/>
              </a:solidFill>
            </a:endParaRP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58871239"/>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2022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indent="-228240">
              <a:spcBef>
                <a:spcPts val="1001"/>
              </a:spcBef>
              <a:buClr>
                <a:srgbClr val="FFFFFF"/>
              </a:buClr>
              <a:buFont typeface="Arial"/>
              <a:buChar char="•"/>
            </a:pPr>
            <a:r>
              <a:rPr lang="en-US" altLang="zh-TW" spc="-1" dirty="0">
                <a:solidFill>
                  <a:srgbClr val="FFFFFF"/>
                </a:solidFill>
                <a:latin typeface="Segoe UI"/>
              </a:rPr>
              <a:t>What is UBA ?</a:t>
            </a:r>
          </a:p>
          <a:p>
            <a:pPr indent="-228240">
              <a:spcBef>
                <a:spcPts val="1001"/>
              </a:spcBef>
              <a:buClr>
                <a:srgbClr val="FFFFFF"/>
              </a:buClr>
              <a:buFont typeface="Arial"/>
              <a:buChar char="•"/>
            </a:pPr>
            <a:r>
              <a:rPr lang="en-US" altLang="zh-TW" spc="-1" dirty="0">
                <a:solidFill>
                  <a:srgbClr val="FFFFFF"/>
                </a:solidFill>
                <a:latin typeface="Segoe UI"/>
              </a:rPr>
              <a:t>What kind of UBA Configuration are provided by </a:t>
            </a:r>
            <a:r>
              <a:rPr lang="en-US" altLang="zh-TW" spc="-1" dirty="0" err="1">
                <a:solidFill>
                  <a:srgbClr val="FFFFFF"/>
                </a:solidFill>
                <a:latin typeface="Segoe UI"/>
              </a:rPr>
              <a:t>Insyde</a:t>
            </a:r>
            <a:r>
              <a:rPr lang="en-US" altLang="zh-TW" spc="-1" dirty="0">
                <a:solidFill>
                  <a:srgbClr val="FFFFFF"/>
                </a:solidFill>
                <a:latin typeface="Segoe UI"/>
              </a:rPr>
              <a:t>?</a:t>
            </a:r>
          </a:p>
          <a:p>
            <a:pPr indent="-228240">
              <a:spcBef>
                <a:spcPts val="1001"/>
              </a:spcBef>
              <a:buClr>
                <a:srgbClr val="FFFFFF"/>
              </a:buClr>
              <a:buFont typeface="Arial"/>
              <a:buChar char="•"/>
            </a:pPr>
            <a:r>
              <a:rPr lang="en-US" altLang="zh-TW" spc="-1" dirty="0">
                <a:solidFill>
                  <a:srgbClr val="FFFFFF"/>
                </a:solidFill>
                <a:latin typeface="Segoe UI"/>
              </a:rPr>
              <a:t>Introduce UBA Configuration</a:t>
            </a:r>
          </a:p>
          <a:p>
            <a:pPr indent="-228240">
              <a:spcBef>
                <a:spcPts val="1001"/>
              </a:spcBef>
              <a:buClr>
                <a:srgbClr val="FFFFFF"/>
              </a:buClr>
              <a:buFont typeface="Arial"/>
              <a:buChar char="•"/>
            </a:pPr>
            <a:r>
              <a:rPr lang="en-US" altLang="zh-TW" spc="-1" dirty="0">
                <a:solidFill>
                  <a:srgbClr val="FFFFFF"/>
                </a:solidFill>
                <a:latin typeface="Segoe UI"/>
              </a:rPr>
              <a:t>Flow Diagram</a:t>
            </a:r>
          </a:p>
          <a:p>
            <a:pPr indent="-228240">
              <a:spcBef>
                <a:spcPts val="1001"/>
              </a:spcBef>
              <a:buClr>
                <a:srgbClr val="FFFFFF"/>
              </a:buClr>
              <a:buFont typeface="Arial"/>
              <a:buChar char="•"/>
            </a:pPr>
            <a:r>
              <a:rPr lang="en-US" altLang="zh-TW" spc="-1" dirty="0">
                <a:solidFill>
                  <a:srgbClr val="FFFFFF"/>
                </a:solidFill>
                <a:latin typeface="Segoe UI"/>
              </a:rPr>
              <a:t>Details information for every driver in “</a:t>
            </a:r>
            <a:r>
              <a:rPr lang="en-US" altLang="zh-TW" spc="-1" dirty="0" err="1">
                <a:solidFill>
                  <a:srgbClr val="FFFFFF"/>
                </a:solidFill>
                <a:latin typeface="Segoe UI"/>
              </a:rPr>
              <a:t>ChipsetPkg</a:t>
            </a:r>
            <a:r>
              <a:rPr lang="en-US" altLang="zh-TW" spc="-1" dirty="0">
                <a:solidFill>
                  <a:srgbClr val="FFFFFF"/>
                </a:solidFill>
                <a:latin typeface="Segoe UI"/>
              </a:rPr>
              <a:t>/Uba”</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827693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What is UBA ?</a:t>
            </a:r>
          </a:p>
        </p:txBody>
      </p:sp>
    </p:spTree>
    <p:extLst>
      <p:ext uri="{BB962C8B-B14F-4D97-AF65-F5344CB8AC3E}">
        <p14:creationId xmlns:p14="http://schemas.microsoft.com/office/powerpoint/2010/main" val="3574839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What is UBA ?</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marL="228600" indent="-226440">
              <a:lnSpc>
                <a:spcPct val="90000"/>
              </a:lnSpc>
              <a:spcBef>
                <a:spcPts val="1001"/>
              </a:spcBef>
              <a:buClr>
                <a:srgbClr val="3F3F3F"/>
              </a:buClr>
              <a:buFont typeface="Arial"/>
              <a:buChar char="•"/>
            </a:pPr>
            <a:r>
              <a:rPr lang="en-US" altLang="zh-TW" sz="2800" b="0" strike="noStrike" spc="-1" dirty="0">
                <a:solidFill>
                  <a:srgbClr val="3F3F3F"/>
                </a:solidFill>
                <a:ea typeface="DejaVu Sans"/>
              </a:rPr>
              <a:t>The Unified Board Abstraction (UBA) contains the common support for Unified Board Interface that can be shared by multiple boards.</a:t>
            </a:r>
            <a:endParaRPr lang="en-US" altLang="zh-TW" sz="2800" b="0" strike="noStrike" spc="-1" dirty="0"/>
          </a:p>
          <a:p>
            <a:pPr>
              <a:lnSpc>
                <a:spcPct val="90000"/>
              </a:lnSpc>
              <a:spcBef>
                <a:spcPts val="1001"/>
              </a:spcBef>
            </a:pPr>
            <a:endParaRPr lang="en-US" altLang="zh-TW" sz="2800" b="0" strike="noStrike" spc="-1" dirty="0"/>
          </a:p>
          <a:p>
            <a:pPr marL="228600" indent="-226440">
              <a:lnSpc>
                <a:spcPct val="90000"/>
              </a:lnSpc>
              <a:spcBef>
                <a:spcPts val="1001"/>
              </a:spcBef>
              <a:buClr>
                <a:srgbClr val="3F3F3F"/>
              </a:buClr>
              <a:buFont typeface="Arial"/>
              <a:buChar char="•"/>
            </a:pPr>
            <a:r>
              <a:rPr lang="en-US" altLang="zh-TW" sz="2800" b="0" strike="noStrike" spc="-1" dirty="0">
                <a:solidFill>
                  <a:srgbClr val="3F3F3F"/>
                </a:solidFill>
                <a:ea typeface="DejaVu Sans"/>
              </a:rPr>
              <a:t>UBA is a database, that contains specific configurations for different boards in the same BIOS. </a:t>
            </a:r>
            <a:endParaRPr lang="en-US" altLang="zh-TW" sz="2800" b="0" strike="noStrike" spc="-1" dirty="0"/>
          </a:p>
          <a:p>
            <a:pPr>
              <a:lnSpc>
                <a:spcPct val="90000"/>
              </a:lnSpc>
              <a:spcBef>
                <a:spcPts val="1001"/>
              </a:spcBef>
            </a:pPr>
            <a:endParaRPr lang="en-US" altLang="zh-TW" sz="2800" b="0" strike="noStrike" spc="-1" dirty="0"/>
          </a:p>
          <a:p>
            <a:pPr marL="228600" indent="-226440">
              <a:lnSpc>
                <a:spcPct val="90000"/>
              </a:lnSpc>
              <a:spcBef>
                <a:spcPts val="1001"/>
              </a:spcBef>
              <a:buClr>
                <a:srgbClr val="3F3F3F"/>
              </a:buClr>
              <a:buFont typeface="Arial"/>
              <a:buChar char="•"/>
            </a:pPr>
            <a:r>
              <a:rPr lang="en-US" altLang="zh-TW" sz="2800" b="0" strike="noStrike" spc="-1" dirty="0">
                <a:solidFill>
                  <a:srgbClr val="3F3F3F"/>
                </a:solidFill>
                <a:ea typeface="DejaVu Sans"/>
              </a:rPr>
              <a:t>Easy porting for customer.</a:t>
            </a:r>
            <a:endParaRPr lang="en-US" altLang="zh-TW" sz="2800" b="0" strike="noStrike" spc="-1"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What is UBA ?</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marL="228600" indent="-226440">
              <a:lnSpc>
                <a:spcPct val="90000"/>
              </a:lnSpc>
              <a:spcBef>
                <a:spcPts val="1001"/>
              </a:spcBef>
              <a:buClr>
                <a:srgbClr val="3F3F3F"/>
              </a:buClr>
              <a:buFont typeface="Arial"/>
              <a:buChar char="•"/>
            </a:pPr>
            <a:r>
              <a:rPr lang="en-US" altLang="zh-TW" sz="2800" b="0" strike="noStrike" spc="-1" dirty="0">
                <a:solidFill>
                  <a:srgbClr val="3F3F3F"/>
                </a:solidFill>
                <a:ea typeface="DejaVu Sans"/>
              </a:rPr>
              <a:t>Below configurations can be covered by UBA</a:t>
            </a:r>
            <a:endParaRPr lang="en-US" altLang="zh-TW" sz="2800" b="0" strike="noStrike" spc="-1" dirty="0"/>
          </a:p>
          <a:p>
            <a:pPr marL="432000" lvl="1" indent="-214560">
              <a:lnSpc>
                <a:spcPct val="90000"/>
              </a:lnSpc>
              <a:spcBef>
                <a:spcPts val="1001"/>
              </a:spcBef>
              <a:buClr>
                <a:srgbClr val="000000"/>
              </a:buClr>
              <a:buSzPct val="45000"/>
              <a:buFont typeface="Wingdings" charset="2"/>
              <a:buChar char=""/>
            </a:pPr>
            <a:r>
              <a:rPr lang="en-US" altLang="zh-TW" sz="2800" b="0" strike="noStrike" spc="-1" dirty="0">
                <a:solidFill>
                  <a:srgbClr val="3F3F3F"/>
                </a:solidFill>
                <a:ea typeface="DejaVu Sans"/>
              </a:rPr>
              <a:t>GPIO, </a:t>
            </a:r>
            <a:r>
              <a:rPr lang="en-US" altLang="zh-TW" sz="2800" b="0" strike="noStrike" spc="-1" dirty="0" err="1">
                <a:solidFill>
                  <a:srgbClr val="3F3F3F"/>
                </a:solidFill>
                <a:ea typeface="DejaVu Sans"/>
              </a:rPr>
              <a:t>Clockgen</a:t>
            </a:r>
            <a:r>
              <a:rPr lang="en-US" altLang="zh-TW" sz="2800" b="0" strike="noStrike" spc="-1" dirty="0">
                <a:solidFill>
                  <a:srgbClr val="3F3F3F"/>
                </a:solidFill>
                <a:ea typeface="DejaVu Sans"/>
              </a:rPr>
              <a:t>, </a:t>
            </a:r>
            <a:r>
              <a:rPr lang="en-US" altLang="zh-TW" sz="2800" b="0" strike="noStrike" spc="-1" dirty="0" err="1">
                <a:solidFill>
                  <a:srgbClr val="3F3F3F"/>
                </a:solidFill>
                <a:ea typeface="DejaVu Sans"/>
              </a:rPr>
              <a:t>Softstrap</a:t>
            </a:r>
            <a:r>
              <a:rPr lang="en-US" altLang="zh-TW" sz="2800" b="0" strike="noStrike" spc="-1" dirty="0">
                <a:solidFill>
                  <a:srgbClr val="3F3F3F"/>
                </a:solidFill>
                <a:ea typeface="DejaVu Sans"/>
              </a:rPr>
              <a:t> initialization.</a:t>
            </a:r>
            <a:endParaRPr lang="en-US" altLang="zh-TW" sz="2800" b="0" strike="noStrike" spc="-1" dirty="0"/>
          </a:p>
          <a:p>
            <a:pPr marL="432000" lvl="1" indent="-214560">
              <a:lnSpc>
                <a:spcPct val="90000"/>
              </a:lnSpc>
              <a:spcBef>
                <a:spcPts val="1001"/>
              </a:spcBef>
              <a:buClr>
                <a:srgbClr val="000000"/>
              </a:buClr>
              <a:buSzPct val="45000"/>
              <a:buFont typeface="Wingdings" charset="2"/>
              <a:buChar char=""/>
            </a:pPr>
            <a:r>
              <a:rPr lang="en-US" altLang="zh-TW" sz="2800" b="0" strike="noStrike" spc="-1" dirty="0">
                <a:solidFill>
                  <a:srgbClr val="3F3F3F"/>
                </a:solidFill>
                <a:ea typeface="DejaVu Sans"/>
              </a:rPr>
              <a:t>USB Over Current and port length settings.</a:t>
            </a:r>
            <a:endParaRPr lang="en-US" altLang="zh-TW" sz="2800" b="0" strike="noStrike" spc="-1" dirty="0"/>
          </a:p>
          <a:p>
            <a:pPr marL="432000" lvl="1" indent="-214560">
              <a:lnSpc>
                <a:spcPct val="90000"/>
              </a:lnSpc>
              <a:spcBef>
                <a:spcPts val="1001"/>
              </a:spcBef>
              <a:buClr>
                <a:srgbClr val="000000"/>
              </a:buClr>
              <a:buSzPct val="45000"/>
              <a:buFont typeface="Wingdings" charset="2"/>
              <a:buChar char=""/>
            </a:pPr>
            <a:r>
              <a:rPr lang="en-US" altLang="zh-TW" sz="2800" b="0" strike="noStrike" spc="-1" dirty="0">
                <a:solidFill>
                  <a:srgbClr val="3F3F3F"/>
                </a:solidFill>
                <a:ea typeface="DejaVu Sans"/>
              </a:rPr>
              <a:t>OEM Table ID, SSID/SVID programming.</a:t>
            </a:r>
            <a:endParaRPr lang="en-US" altLang="zh-TW" sz="2800" b="0" strike="noStrike" spc="-1" dirty="0"/>
          </a:p>
          <a:p>
            <a:pPr marL="432000" lvl="1" indent="-214560">
              <a:lnSpc>
                <a:spcPct val="90000"/>
              </a:lnSpc>
              <a:spcBef>
                <a:spcPts val="1001"/>
              </a:spcBef>
              <a:buClr>
                <a:srgbClr val="000000"/>
              </a:buClr>
              <a:buSzPct val="45000"/>
              <a:buFont typeface="Wingdings" charset="2"/>
              <a:buChar char=""/>
            </a:pPr>
            <a:r>
              <a:rPr lang="en-US" altLang="zh-TW" sz="2800" b="0" strike="noStrike" spc="-1" dirty="0">
                <a:solidFill>
                  <a:srgbClr val="3F3F3F"/>
                </a:solidFill>
                <a:ea typeface="DejaVu Sans"/>
              </a:rPr>
              <a:t>SMBIOS platform related Type.</a:t>
            </a:r>
            <a:endParaRPr lang="en-US" altLang="zh-TW" sz="2800" b="0" strike="noStrike" spc="-1" dirty="0"/>
          </a:p>
          <a:p>
            <a:pPr marL="432000" lvl="1" indent="-214560">
              <a:lnSpc>
                <a:spcPct val="90000"/>
              </a:lnSpc>
              <a:spcBef>
                <a:spcPts val="1001"/>
              </a:spcBef>
              <a:buClr>
                <a:srgbClr val="000000"/>
              </a:buClr>
              <a:buSzPct val="45000"/>
              <a:buFont typeface="Wingdings" charset="2"/>
              <a:buChar char=""/>
            </a:pPr>
            <a:r>
              <a:rPr lang="en-US" altLang="zh-TW" sz="2800" b="0" strike="noStrike" spc="-1" dirty="0">
                <a:solidFill>
                  <a:srgbClr val="3F3F3F"/>
                </a:solidFill>
                <a:ea typeface="DejaVu Sans"/>
              </a:rPr>
              <a:t>IIO/PCH Silicon policies settings, </a:t>
            </a:r>
            <a:r>
              <a:rPr lang="en-US" altLang="zh-TW" sz="2800" b="0" strike="noStrike" spc="-1" dirty="0" err="1">
                <a:solidFill>
                  <a:srgbClr val="3F3F3F"/>
                </a:solidFill>
                <a:ea typeface="DejaVu Sans"/>
              </a:rPr>
              <a:t>KtiEparamUpdate</a:t>
            </a:r>
            <a:r>
              <a:rPr lang="en-US" altLang="zh-TW" sz="2800" b="0" strike="noStrike" spc="-1" dirty="0">
                <a:solidFill>
                  <a:srgbClr val="3F3F3F"/>
                </a:solidFill>
                <a:ea typeface="DejaVu Sans"/>
              </a:rPr>
              <a:t>.</a:t>
            </a:r>
            <a:endParaRPr lang="en-US" altLang="zh-TW" sz="2800" b="0" strike="noStrike" spc="-1" dirty="0"/>
          </a:p>
          <a:p>
            <a:pPr marL="432000" lvl="1" indent="-214560">
              <a:lnSpc>
                <a:spcPct val="90000"/>
              </a:lnSpc>
              <a:spcBef>
                <a:spcPts val="1001"/>
              </a:spcBef>
              <a:buClr>
                <a:srgbClr val="000000"/>
              </a:buClr>
              <a:buSzPct val="45000"/>
              <a:buFont typeface="Wingdings" charset="2"/>
              <a:buChar char=""/>
            </a:pPr>
            <a:r>
              <a:rPr lang="en-US" altLang="zh-TW" sz="2800" b="0" strike="noStrike" spc="-1" dirty="0" err="1">
                <a:solidFill>
                  <a:srgbClr val="3F3F3F"/>
                </a:solidFill>
                <a:ea typeface="DejaVu Sans"/>
              </a:rPr>
              <a:t>Etc</a:t>
            </a:r>
            <a:r>
              <a:rPr lang="en-US" altLang="zh-TW" sz="2800" b="0" strike="noStrike" spc="-1" dirty="0">
                <a:solidFill>
                  <a:srgbClr val="3F3F3F"/>
                </a:solidFill>
                <a:ea typeface="DejaVu Sans"/>
              </a:rPr>
              <a:t>….</a:t>
            </a:r>
            <a:endParaRPr lang="en-US" altLang="zh-TW" sz="2800" b="0" strike="noStrike" spc="-1" dirty="0"/>
          </a:p>
        </p:txBody>
      </p:sp>
    </p:spTree>
    <p:extLst>
      <p:ext uri="{BB962C8B-B14F-4D97-AF65-F5344CB8AC3E}">
        <p14:creationId xmlns:p14="http://schemas.microsoft.com/office/powerpoint/2010/main" val="3050804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FDF3EA1-8646-4C3B-829F-78D97579017C}"/>
              </a:ext>
            </a:extLst>
          </p:cNvPr>
          <p:cNvSpPr>
            <a:spLocks noGrp="1"/>
          </p:cNvSpPr>
          <p:nvPr>
            <p:ph type="sldNum" sz="quarter" idx="12"/>
          </p:nvPr>
        </p:nvSpPr>
        <p:spPr/>
        <p:txBody>
          <a:bodyPr/>
          <a:lstStyle/>
          <a:p>
            <a:fld id="{711F1488-76AD-4E7F-AEC8-BF811B7D74A5}" type="slidenum">
              <a:rPr lang="en-US" smtClean="0"/>
              <a:pPr/>
              <a:t>7</a:t>
            </a:fld>
            <a:endParaRPr lang="en-US"/>
          </a:p>
        </p:txBody>
      </p:sp>
      <p:sp>
        <p:nvSpPr>
          <p:cNvPr id="3" name="標題 2">
            <a:extLst>
              <a:ext uri="{FF2B5EF4-FFF2-40B4-BE49-F238E27FC236}">
                <a16:creationId xmlns:a16="http://schemas.microsoft.com/office/drawing/2014/main" id="{4F060D4A-40D5-4DA2-87B3-2A61E1A7EE49}"/>
              </a:ext>
            </a:extLst>
          </p:cNvPr>
          <p:cNvSpPr>
            <a:spLocks noGrp="1"/>
          </p:cNvSpPr>
          <p:nvPr>
            <p:ph type="title"/>
          </p:nvPr>
        </p:nvSpPr>
        <p:spPr/>
        <p:txBody>
          <a:bodyPr/>
          <a:lstStyle/>
          <a:p>
            <a:r>
              <a:rPr lang="en-US" altLang="zh-TW" dirty="0"/>
              <a:t>What kind of UBA Configuration are provided by </a:t>
            </a:r>
            <a:r>
              <a:rPr lang="en-US" altLang="zh-TW" dirty="0" err="1"/>
              <a:t>Insyde</a:t>
            </a:r>
            <a:r>
              <a:rPr lang="en-US" altLang="zh-TW" dirty="0"/>
              <a:t>?</a:t>
            </a:r>
            <a:endParaRPr lang="zh-TW" altLang="en-US" dirty="0"/>
          </a:p>
        </p:txBody>
      </p:sp>
    </p:spTree>
    <p:extLst>
      <p:ext uri="{BB962C8B-B14F-4D97-AF65-F5344CB8AC3E}">
        <p14:creationId xmlns:p14="http://schemas.microsoft.com/office/powerpoint/2010/main" val="28229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noAutofit/>
          </a:bodyPr>
          <a:lstStyle/>
          <a:p>
            <a:r>
              <a:rPr lang="en-US" altLang="zh-TW" dirty="0"/>
              <a:t>What kind of UBA Configuration are provided by </a:t>
            </a:r>
            <a:r>
              <a:rPr lang="en-US" altLang="zh-TW" dirty="0" err="1"/>
              <a:t>Insyde</a:t>
            </a:r>
            <a:r>
              <a:rPr lang="en-US" altLang="zh-TW" dirty="0"/>
              <a:t>?</a:t>
            </a:r>
            <a:endParaRPr lang="zh-TW" altLang="en-US" dirty="0"/>
          </a:p>
        </p:txBody>
      </p:sp>
      <p:sp>
        <p:nvSpPr>
          <p:cNvPr id="3" name="內容版面配置區 2">
            <a:extLst>
              <a:ext uri="{FF2B5EF4-FFF2-40B4-BE49-F238E27FC236}">
                <a16:creationId xmlns:a16="http://schemas.microsoft.com/office/drawing/2014/main" id="{FEDDDF21-0CCA-48D4-BCF1-0A50E2F846FF}"/>
              </a:ext>
            </a:extLst>
          </p:cNvPr>
          <p:cNvSpPr>
            <a:spLocks noGrp="1"/>
          </p:cNvSpPr>
          <p:nvPr>
            <p:ph idx="1"/>
          </p:nvPr>
        </p:nvSpPr>
        <p:spPr/>
        <p:txBody>
          <a:bodyPr/>
          <a:lstStyle/>
          <a:p>
            <a:pPr>
              <a:lnSpc>
                <a:spcPct val="90000"/>
              </a:lnSpc>
              <a:spcBef>
                <a:spcPts val="1001"/>
              </a:spcBef>
            </a:pPr>
            <a:r>
              <a:rPr lang="en-US" altLang="zh-TW" sz="2400" b="0" strike="noStrike" spc="-1" dirty="0">
                <a:solidFill>
                  <a:srgbClr val="3F3F3F"/>
                </a:solidFill>
                <a:latin typeface="Segoe UI"/>
                <a:ea typeface="DejaVu Sans"/>
              </a:rPr>
              <a:t>The following chart lists which UBA databases in the </a:t>
            </a:r>
            <a:r>
              <a:rPr lang="en-US" altLang="zh-TW" sz="2400" b="0" strike="noStrike" spc="-1" dirty="0" err="1">
                <a:solidFill>
                  <a:srgbClr val="3F3F3F"/>
                </a:solidFill>
                <a:latin typeface="Segoe UI"/>
                <a:ea typeface="DejaVu Sans"/>
              </a:rPr>
              <a:t>Insyde</a:t>
            </a:r>
            <a:r>
              <a:rPr lang="en-US" altLang="zh-TW" sz="2400" b="0" strike="noStrike" spc="-1" dirty="0">
                <a:solidFill>
                  <a:srgbClr val="3F3F3F"/>
                </a:solidFill>
                <a:latin typeface="Segoe UI"/>
                <a:ea typeface="DejaVu Sans"/>
              </a:rPr>
              <a:t> codebase are currently in use or not in use.</a:t>
            </a:r>
            <a:endParaRPr lang="en-US" altLang="zh-TW" sz="2400" b="0" strike="noStrike" spc="-1" dirty="0">
              <a:latin typeface="Arial"/>
            </a:endParaRPr>
          </a:p>
        </p:txBody>
      </p:sp>
      <p:graphicFrame>
        <p:nvGraphicFramePr>
          <p:cNvPr id="44" name="表格 44">
            <a:extLst>
              <a:ext uri="{FF2B5EF4-FFF2-40B4-BE49-F238E27FC236}">
                <a16:creationId xmlns:a16="http://schemas.microsoft.com/office/drawing/2014/main" id="{EAACBBF1-50A2-4098-A3FA-21E1BD140954}"/>
              </a:ext>
            </a:extLst>
          </p:cNvPr>
          <p:cNvGraphicFramePr>
            <a:graphicFrameLocks noGrp="1"/>
          </p:cNvGraphicFramePr>
          <p:nvPr>
            <p:extLst>
              <p:ext uri="{D42A27DB-BD31-4B8C-83A1-F6EECF244321}">
                <p14:modId xmlns:p14="http://schemas.microsoft.com/office/powerpoint/2010/main" val="197528755"/>
              </p:ext>
            </p:extLst>
          </p:nvPr>
        </p:nvGraphicFramePr>
        <p:xfrm>
          <a:off x="272176" y="2188778"/>
          <a:ext cx="5685808" cy="3988185"/>
        </p:xfrm>
        <a:graphic>
          <a:graphicData uri="http://schemas.openxmlformats.org/drawingml/2006/table">
            <a:tbl>
              <a:tblPr firstRow="1" bandRow="1">
                <a:tableStyleId>{5C22544A-7EE6-4342-B048-85BDC9FD1C3A}</a:tableStyleId>
              </a:tblPr>
              <a:tblGrid>
                <a:gridCol w="1849755">
                  <a:extLst>
                    <a:ext uri="{9D8B030D-6E8A-4147-A177-3AD203B41FA5}">
                      <a16:colId xmlns:a16="http://schemas.microsoft.com/office/drawing/2014/main" val="1315724142"/>
                    </a:ext>
                  </a:extLst>
                </a:gridCol>
                <a:gridCol w="1833880">
                  <a:extLst>
                    <a:ext uri="{9D8B030D-6E8A-4147-A177-3AD203B41FA5}">
                      <a16:colId xmlns:a16="http://schemas.microsoft.com/office/drawing/2014/main" val="1364626093"/>
                    </a:ext>
                  </a:extLst>
                </a:gridCol>
                <a:gridCol w="2002173">
                  <a:extLst>
                    <a:ext uri="{9D8B030D-6E8A-4147-A177-3AD203B41FA5}">
                      <a16:colId xmlns:a16="http://schemas.microsoft.com/office/drawing/2014/main" val="593022356"/>
                    </a:ext>
                  </a:extLst>
                </a:gridCol>
              </a:tblGrid>
              <a:tr h="211659">
                <a:tc>
                  <a:txBody>
                    <a:bodyPr/>
                    <a:lstStyle/>
                    <a:p>
                      <a:pPr algn="ctr"/>
                      <a:r>
                        <a:rPr lang="en-US" altLang="zh-TW" sz="1000" dirty="0"/>
                        <a:t>Name of UBA Database</a:t>
                      </a:r>
                      <a:endParaRPr lang="zh-TW" altLang="en-US" sz="1000" dirty="0"/>
                    </a:p>
                  </a:txBody>
                  <a:tcPr/>
                </a:tc>
                <a:tc>
                  <a:txBody>
                    <a:bodyPr/>
                    <a:lstStyle/>
                    <a:p>
                      <a:pPr algn="ctr"/>
                      <a:r>
                        <a:rPr lang="en-US" altLang="zh-TW" sz="1000" dirty="0"/>
                        <a:t>Is using in </a:t>
                      </a:r>
                      <a:r>
                        <a:rPr lang="en-US" altLang="zh-TW" sz="1000" dirty="0" err="1"/>
                        <a:t>Insyde</a:t>
                      </a:r>
                      <a:r>
                        <a:rPr lang="en-US" altLang="zh-TW" sz="1000" dirty="0"/>
                        <a:t> codebase</a:t>
                      </a:r>
                      <a:endParaRPr lang="zh-TW" altLang="en-US" sz="1000" dirty="0"/>
                    </a:p>
                  </a:txBody>
                  <a:tcPr/>
                </a:tc>
                <a:tc>
                  <a:txBody>
                    <a:bodyPr/>
                    <a:lstStyle/>
                    <a:p>
                      <a:pPr algn="ctr"/>
                      <a:r>
                        <a:rPr lang="en-US" altLang="zh-TW" sz="1000" dirty="0"/>
                        <a:t>Driver/Library</a:t>
                      </a:r>
                      <a:endParaRPr lang="zh-TW" altLang="en-US" sz="1000" dirty="0"/>
                    </a:p>
                  </a:txBody>
                  <a:tcPr/>
                </a:tc>
                <a:extLst>
                  <a:ext uri="{0D108BD9-81ED-4DB2-BD59-A6C34878D82A}">
                    <a16:rowId xmlns:a16="http://schemas.microsoft.com/office/drawing/2014/main" val="178211223"/>
                  </a:ext>
                </a:extLst>
              </a:tr>
              <a:tr h="211659">
                <a:tc>
                  <a:txBody>
                    <a:bodyPr/>
                    <a:lstStyle/>
                    <a:p>
                      <a:pPr algn="ctr"/>
                      <a:r>
                        <a:rPr lang="en-US" altLang="zh-TW" sz="1000" b="1" dirty="0" err="1"/>
                        <a:t>UbaAcpiUpdate</a:t>
                      </a:r>
                      <a:endParaRPr lang="zh-TW" altLang="en-US" sz="1000" b="1" dirty="0"/>
                    </a:p>
                  </a:txBody>
                  <a:tcPr/>
                </a:tc>
                <a:tc>
                  <a:txBody>
                    <a:bodyPr/>
                    <a:lstStyle/>
                    <a:p>
                      <a:pPr algn="ctr"/>
                      <a:r>
                        <a:rPr lang="en-US" altLang="zh-TW" sz="1000" b="1" dirty="0"/>
                        <a:t>Y</a:t>
                      </a:r>
                      <a:endParaRPr lang="zh-TW" altLang="en-US" sz="1000" b="1" dirty="0"/>
                    </a:p>
                  </a:txBody>
                  <a:tcPr/>
                </a:tc>
                <a:tc>
                  <a:txBody>
                    <a:bodyPr/>
                    <a:lstStyle/>
                    <a:p>
                      <a:pPr algn="ctr"/>
                      <a:r>
                        <a:rPr lang="en-US" altLang="zh-TW" sz="1000" b="1" dirty="0" err="1"/>
                        <a:t>AcpiPlatformTableLib</a:t>
                      </a:r>
                      <a:endParaRPr lang="zh-TW" altLang="en-US" sz="1000" b="1" dirty="0"/>
                    </a:p>
                  </a:txBody>
                  <a:tcPr/>
                </a:tc>
                <a:extLst>
                  <a:ext uri="{0D108BD9-81ED-4DB2-BD59-A6C34878D82A}">
                    <a16:rowId xmlns:a16="http://schemas.microsoft.com/office/drawing/2014/main" val="1924977208"/>
                  </a:ext>
                </a:extLst>
              </a:tr>
              <a:tr h="211659">
                <a:tc>
                  <a:txBody>
                    <a:bodyPr/>
                    <a:lstStyle/>
                    <a:p>
                      <a:pPr algn="ctr"/>
                      <a:r>
                        <a:rPr lang="en-US" altLang="zh-TW" sz="1000" dirty="0" err="1">
                          <a:solidFill>
                            <a:schemeClr val="bg2">
                              <a:lumMod val="50000"/>
                            </a:schemeClr>
                          </a:solidFill>
                        </a:rPr>
                        <a:t>UbaBoardSioInfo</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a:t>
                      </a:r>
                      <a:endParaRPr lang="zh-TW" altLang="en-US" sz="1000" dirty="0">
                        <a:solidFill>
                          <a:schemeClr val="bg2">
                            <a:lumMod val="50000"/>
                          </a:schemeClr>
                        </a:solidFill>
                      </a:endParaRPr>
                    </a:p>
                  </a:txBody>
                  <a:tcPr/>
                </a:tc>
                <a:extLst>
                  <a:ext uri="{0D108BD9-81ED-4DB2-BD59-A6C34878D82A}">
                    <a16:rowId xmlns:a16="http://schemas.microsoft.com/office/drawing/2014/main" val="233321509"/>
                  </a:ext>
                </a:extLst>
              </a:tr>
              <a:tr h="211659">
                <a:tc>
                  <a:txBody>
                    <a:bodyPr/>
                    <a:lstStyle/>
                    <a:p>
                      <a:pPr algn="ctr"/>
                      <a:r>
                        <a:rPr lang="en-US" altLang="zh-TW" sz="1000" dirty="0" err="1">
                          <a:solidFill>
                            <a:schemeClr val="bg2">
                              <a:lumMod val="50000"/>
                            </a:schemeClr>
                          </a:solidFill>
                        </a:rPr>
                        <a:t>UbaClkGenUpdate</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a:t>
                      </a:r>
                      <a:endParaRPr lang="zh-TW" altLang="en-US" sz="1000" dirty="0">
                        <a:solidFill>
                          <a:schemeClr val="bg2">
                            <a:lumMod val="50000"/>
                          </a:schemeClr>
                        </a:solidFill>
                      </a:endParaRPr>
                    </a:p>
                  </a:txBody>
                  <a:tcPr/>
                </a:tc>
                <a:extLst>
                  <a:ext uri="{0D108BD9-81ED-4DB2-BD59-A6C34878D82A}">
                    <a16:rowId xmlns:a16="http://schemas.microsoft.com/office/drawing/2014/main" val="1768202080"/>
                  </a:ext>
                </a:extLst>
              </a:tr>
              <a:tr h="211659">
                <a:tc>
                  <a:txBody>
                    <a:bodyPr/>
                    <a:lstStyle/>
                    <a:p>
                      <a:pPr algn="ctr"/>
                      <a:r>
                        <a:rPr lang="en-US" altLang="zh-TW" sz="1000" b="1" dirty="0" err="1"/>
                        <a:t>UbaClocksConfig</a:t>
                      </a:r>
                      <a:endParaRPr lang="zh-TW" altLang="en-US" sz="1000" b="1" dirty="0"/>
                    </a:p>
                  </a:txBody>
                  <a:tcPr/>
                </a:tc>
                <a:tc>
                  <a:txBody>
                    <a:bodyPr/>
                    <a:lstStyle/>
                    <a:p>
                      <a:pPr algn="ctr"/>
                      <a:r>
                        <a:rPr lang="en-US" altLang="zh-TW" sz="1000" b="1" dirty="0"/>
                        <a:t>Y</a:t>
                      </a:r>
                      <a:endParaRPr lang="zh-TW" altLang="en-US" sz="1000" b="1" dirty="0"/>
                    </a:p>
                  </a:txBody>
                  <a:tcPr/>
                </a:tc>
                <a:tc>
                  <a:txBody>
                    <a:bodyPr/>
                    <a:lstStyle/>
                    <a:p>
                      <a:pPr algn="ctr"/>
                      <a:r>
                        <a:rPr lang="en-US" altLang="zh-TW" sz="1000" b="1" dirty="0" err="1"/>
                        <a:t>ChipsetSvcPei</a:t>
                      </a:r>
                      <a:endParaRPr lang="zh-TW" altLang="en-US" sz="1000" b="1" dirty="0"/>
                    </a:p>
                  </a:txBody>
                  <a:tcPr/>
                </a:tc>
                <a:extLst>
                  <a:ext uri="{0D108BD9-81ED-4DB2-BD59-A6C34878D82A}">
                    <a16:rowId xmlns:a16="http://schemas.microsoft.com/office/drawing/2014/main" val="1420103510"/>
                  </a:ext>
                </a:extLst>
              </a:tr>
              <a:tr h="211659">
                <a:tc>
                  <a:txBody>
                    <a:bodyPr/>
                    <a:lstStyle/>
                    <a:p>
                      <a:pPr algn="ctr"/>
                      <a:r>
                        <a:rPr lang="en-US" altLang="zh-TW" sz="1000" dirty="0" err="1">
                          <a:solidFill>
                            <a:schemeClr val="bg2">
                              <a:lumMod val="50000"/>
                            </a:schemeClr>
                          </a:solidFill>
                        </a:rPr>
                        <a:t>UbaFpkConfig</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t>
                      </a:r>
                      <a:endParaRPr lang="zh-TW" altLang="en-US" sz="100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dirty="0">
                          <a:solidFill>
                            <a:schemeClr val="bg2">
                              <a:lumMod val="50000"/>
                            </a:schemeClr>
                          </a:solidFill>
                        </a:rPr>
                        <a:t>N/A</a:t>
                      </a:r>
                      <a:endParaRPr lang="zh-TW" altLang="en-US" sz="1000" dirty="0">
                        <a:solidFill>
                          <a:schemeClr val="bg2">
                            <a:lumMod val="50000"/>
                          </a:schemeClr>
                        </a:solidFill>
                      </a:endParaRPr>
                    </a:p>
                  </a:txBody>
                  <a:tcPr/>
                </a:tc>
                <a:extLst>
                  <a:ext uri="{0D108BD9-81ED-4DB2-BD59-A6C34878D82A}">
                    <a16:rowId xmlns:a16="http://schemas.microsoft.com/office/drawing/2014/main" val="3871080640"/>
                  </a:ext>
                </a:extLst>
              </a:tr>
              <a:tr h="211659">
                <a:tc>
                  <a:txBody>
                    <a:bodyPr/>
                    <a:lstStyle/>
                    <a:p>
                      <a:pPr algn="ctr"/>
                      <a:r>
                        <a:rPr lang="en-US" altLang="zh-TW" sz="1000" b="1" dirty="0" err="1"/>
                        <a:t>UbaGpioInit</a:t>
                      </a:r>
                      <a:endParaRPr lang="zh-TW" altLang="en-US" sz="1000" b="1" dirty="0"/>
                    </a:p>
                  </a:txBody>
                  <a:tcPr/>
                </a:tc>
                <a:tc>
                  <a:txBody>
                    <a:bodyPr/>
                    <a:lstStyle/>
                    <a:p>
                      <a:pPr algn="ctr"/>
                      <a:r>
                        <a:rPr lang="en-US" altLang="zh-TW" sz="1000" b="1" dirty="0"/>
                        <a:t>Y</a:t>
                      </a:r>
                      <a:endParaRPr lang="zh-TW" altLang="en-US" sz="10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1" dirty="0" err="1"/>
                        <a:t>ProgramGPIOPei</a:t>
                      </a:r>
                      <a:endParaRPr lang="zh-TW" altLang="en-US" sz="1000" b="1" dirty="0"/>
                    </a:p>
                  </a:txBody>
                  <a:tcPr/>
                </a:tc>
                <a:extLst>
                  <a:ext uri="{0D108BD9-81ED-4DB2-BD59-A6C34878D82A}">
                    <a16:rowId xmlns:a16="http://schemas.microsoft.com/office/drawing/2014/main" val="4035954251"/>
                  </a:ext>
                </a:extLst>
              </a:tr>
              <a:tr h="211659">
                <a:tc>
                  <a:txBody>
                    <a:bodyPr/>
                    <a:lstStyle/>
                    <a:p>
                      <a:pPr algn="ctr"/>
                      <a:endParaRPr lang="en-US" altLang="zh-TW" sz="1000" b="1" dirty="0"/>
                    </a:p>
                    <a:p>
                      <a:pPr algn="ctr"/>
                      <a:r>
                        <a:rPr lang="en-US" altLang="zh-TW" sz="1000" b="1" dirty="0" err="1"/>
                        <a:t>UbaGpioPlatformConfig</a:t>
                      </a:r>
                      <a:endParaRPr lang="zh-TW" altLang="en-US" sz="1000" b="1" dirty="0"/>
                    </a:p>
                  </a:txBody>
                  <a:tcPr/>
                </a:tc>
                <a:tc>
                  <a:txBody>
                    <a:bodyPr/>
                    <a:lstStyle/>
                    <a:p>
                      <a:pPr algn="ctr"/>
                      <a:endParaRPr lang="en-US" altLang="zh-TW" sz="1000" b="1" dirty="0"/>
                    </a:p>
                    <a:p>
                      <a:pPr algn="ctr"/>
                      <a:r>
                        <a:rPr lang="en-US" altLang="zh-TW" sz="1000" b="1" dirty="0"/>
                        <a:t>Y</a:t>
                      </a:r>
                      <a:endParaRPr lang="zh-TW" altLang="en-US" sz="1000" b="1" dirty="0"/>
                    </a:p>
                  </a:txBody>
                  <a:tcPr/>
                </a:tc>
                <a:tc>
                  <a:txBody>
                    <a:bodyPr/>
                    <a:lstStyle/>
                    <a:p>
                      <a:pPr algn="ctr"/>
                      <a:r>
                        <a:rPr lang="en-US" altLang="zh-TW" sz="1000" b="1" dirty="0" err="1"/>
                        <a:t>ChipsetSvcPei</a:t>
                      </a:r>
                      <a:endParaRPr lang="en-US" altLang="zh-TW" sz="1000" b="1" dirty="0"/>
                    </a:p>
                    <a:p>
                      <a:pPr algn="ctr"/>
                      <a:r>
                        <a:rPr lang="en-US" altLang="zh-TW" sz="1000" b="1" dirty="0" err="1"/>
                        <a:t>PeiMemoryPolicyUpdateLib</a:t>
                      </a:r>
                      <a:endParaRPr lang="en-US" altLang="zh-TW" sz="1000" b="1" dirty="0"/>
                    </a:p>
                    <a:p>
                      <a:pPr algn="ctr"/>
                      <a:r>
                        <a:rPr lang="en-US" altLang="zh-TW" sz="1000" b="1" dirty="0" err="1"/>
                        <a:t>RasInit</a:t>
                      </a:r>
                      <a:endParaRPr lang="zh-TW" altLang="en-US" sz="1000" b="1" dirty="0"/>
                    </a:p>
                  </a:txBody>
                  <a:tcPr/>
                </a:tc>
                <a:extLst>
                  <a:ext uri="{0D108BD9-81ED-4DB2-BD59-A6C34878D82A}">
                    <a16:rowId xmlns:a16="http://schemas.microsoft.com/office/drawing/2014/main" val="2217430271"/>
                  </a:ext>
                </a:extLst>
              </a:tr>
              <a:tr h="211659">
                <a:tc>
                  <a:txBody>
                    <a:bodyPr/>
                    <a:lstStyle/>
                    <a:p>
                      <a:pPr algn="ctr"/>
                      <a:r>
                        <a:rPr lang="en-US" altLang="zh-TW" sz="1000" dirty="0" err="1">
                          <a:solidFill>
                            <a:schemeClr val="bg2">
                              <a:lumMod val="50000"/>
                            </a:schemeClr>
                          </a:solidFill>
                        </a:rPr>
                        <a:t>UbaGpioUpdate</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a:t>
                      </a:r>
                      <a:endParaRPr lang="zh-TW" altLang="en-US" sz="1000" dirty="0">
                        <a:solidFill>
                          <a:schemeClr val="bg2">
                            <a:lumMod val="50000"/>
                          </a:schemeClr>
                        </a:solidFill>
                      </a:endParaRPr>
                    </a:p>
                  </a:txBody>
                  <a:tcPr/>
                </a:tc>
                <a:extLst>
                  <a:ext uri="{0D108BD9-81ED-4DB2-BD59-A6C34878D82A}">
                    <a16:rowId xmlns:a16="http://schemas.microsoft.com/office/drawing/2014/main" val="3241710505"/>
                  </a:ext>
                </a:extLst>
              </a:tr>
              <a:tr h="211659">
                <a:tc>
                  <a:txBody>
                    <a:bodyPr/>
                    <a:lstStyle/>
                    <a:p>
                      <a:pPr algn="ctr"/>
                      <a:r>
                        <a:rPr lang="en-US" altLang="zh-TW" sz="1000" dirty="0" err="1">
                          <a:solidFill>
                            <a:schemeClr val="bg2">
                              <a:lumMod val="50000"/>
                            </a:schemeClr>
                          </a:solidFill>
                        </a:rPr>
                        <a:t>UbaHsioPtssTableConfig</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a:t>
                      </a:r>
                      <a:endParaRPr lang="zh-TW" altLang="en-US" sz="1000" dirty="0">
                        <a:solidFill>
                          <a:schemeClr val="bg2">
                            <a:lumMod val="50000"/>
                          </a:schemeClr>
                        </a:solidFill>
                      </a:endParaRPr>
                    </a:p>
                  </a:txBody>
                  <a:tcPr/>
                </a:tc>
                <a:extLst>
                  <a:ext uri="{0D108BD9-81ED-4DB2-BD59-A6C34878D82A}">
                    <a16:rowId xmlns:a16="http://schemas.microsoft.com/office/drawing/2014/main" val="2690620098"/>
                  </a:ext>
                </a:extLst>
              </a:tr>
              <a:tr h="269625">
                <a:tc>
                  <a:txBody>
                    <a:bodyPr/>
                    <a:lstStyle/>
                    <a:p>
                      <a:pPr algn="ctr"/>
                      <a:r>
                        <a:rPr lang="en-US" altLang="zh-TW" sz="1000" b="1" dirty="0" err="1">
                          <a:solidFill>
                            <a:schemeClr val="tx1"/>
                          </a:solidFill>
                        </a:rPr>
                        <a:t>UbaIioConfig</a:t>
                      </a:r>
                      <a:endParaRPr lang="zh-TW" altLang="en-US" sz="1000" b="1" dirty="0">
                        <a:solidFill>
                          <a:schemeClr val="tx1"/>
                        </a:solidFill>
                      </a:endParaRPr>
                    </a:p>
                  </a:txBody>
                  <a:tcPr/>
                </a:tc>
                <a:tc>
                  <a:txBody>
                    <a:bodyPr/>
                    <a:lstStyle/>
                    <a:p>
                      <a:pPr algn="ctr"/>
                      <a:r>
                        <a:rPr lang="en-US" altLang="zh-TW" sz="1000" b="1" dirty="0">
                          <a:solidFill>
                            <a:schemeClr val="tx1"/>
                          </a:solidFill>
                        </a:rPr>
                        <a:t>Y</a:t>
                      </a:r>
                      <a:endParaRPr lang="zh-TW" altLang="en-US" sz="1000" b="1"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1" dirty="0" err="1"/>
                        <a:t>PeiIioSiPolicyUpdateLib</a:t>
                      </a:r>
                      <a:endParaRPr lang="zh-TW" altLang="en-US" sz="1000" b="1" dirty="0"/>
                    </a:p>
                  </a:txBody>
                  <a:tcPr/>
                </a:tc>
                <a:extLst>
                  <a:ext uri="{0D108BD9-81ED-4DB2-BD59-A6C34878D82A}">
                    <a16:rowId xmlns:a16="http://schemas.microsoft.com/office/drawing/2014/main" val="3979239717"/>
                  </a:ext>
                </a:extLst>
              </a:tr>
              <a:tr h="211659">
                <a:tc>
                  <a:txBody>
                    <a:bodyPr/>
                    <a:lstStyle/>
                    <a:p>
                      <a:pPr algn="ctr"/>
                      <a:r>
                        <a:rPr lang="en-US" altLang="zh-TW" sz="1000" b="1" dirty="0" err="1"/>
                        <a:t>UbaIioPortBifurcationInit</a:t>
                      </a:r>
                      <a:endParaRPr lang="zh-TW" altLang="en-US" sz="1000" b="1" dirty="0"/>
                    </a:p>
                  </a:txBody>
                  <a:tcPr/>
                </a:tc>
                <a:tc>
                  <a:txBody>
                    <a:bodyPr/>
                    <a:lstStyle/>
                    <a:p>
                      <a:pPr algn="ctr"/>
                      <a:r>
                        <a:rPr lang="en-US" altLang="zh-TW" sz="1000" b="1" dirty="0"/>
                        <a:t>Y</a:t>
                      </a:r>
                      <a:endParaRPr lang="zh-TW" altLang="en-US" sz="1000" b="1" dirty="0"/>
                    </a:p>
                  </a:txBody>
                  <a:tcPr/>
                </a:tc>
                <a:tc>
                  <a:txBody>
                    <a:bodyPr/>
                    <a:lstStyle/>
                    <a:p>
                      <a:pPr algn="ctr"/>
                      <a:r>
                        <a:rPr lang="en-US" altLang="zh-TW" sz="1000" b="1" dirty="0" err="1"/>
                        <a:t>PeiIioSiPolicyUpdateLib</a:t>
                      </a:r>
                      <a:endParaRPr lang="zh-TW" altLang="en-US" sz="1000" b="1" dirty="0"/>
                    </a:p>
                  </a:txBody>
                  <a:tcPr/>
                </a:tc>
                <a:extLst>
                  <a:ext uri="{0D108BD9-81ED-4DB2-BD59-A6C34878D82A}">
                    <a16:rowId xmlns:a16="http://schemas.microsoft.com/office/drawing/2014/main" val="2745025915"/>
                  </a:ext>
                </a:extLst>
              </a:tr>
              <a:tr h="211659">
                <a:tc>
                  <a:txBody>
                    <a:bodyPr/>
                    <a:lstStyle/>
                    <a:p>
                      <a:pPr algn="ctr"/>
                      <a:r>
                        <a:rPr lang="en-US" altLang="zh-TW" sz="1000" dirty="0" err="1">
                          <a:solidFill>
                            <a:schemeClr val="bg2">
                              <a:lumMod val="50000"/>
                            </a:schemeClr>
                          </a:solidFill>
                        </a:rPr>
                        <a:t>UbaMpTableUpdate</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t>
                      </a:r>
                      <a:endParaRPr lang="zh-TW" altLang="en-US" sz="1000" dirty="0">
                        <a:solidFill>
                          <a:schemeClr val="bg2">
                            <a:lumMod val="50000"/>
                          </a:schemeClr>
                        </a:solidFill>
                      </a:endParaRPr>
                    </a:p>
                  </a:txBody>
                  <a:tcPr/>
                </a:tc>
                <a:tc>
                  <a:txBody>
                    <a:bodyPr/>
                    <a:lstStyle/>
                    <a:p>
                      <a:pPr algn="ctr"/>
                      <a:r>
                        <a:rPr lang="en-US" altLang="zh-TW" sz="1000" dirty="0">
                          <a:solidFill>
                            <a:schemeClr val="bg2">
                              <a:lumMod val="50000"/>
                            </a:schemeClr>
                          </a:solidFill>
                        </a:rPr>
                        <a:t>N/A</a:t>
                      </a:r>
                      <a:endParaRPr lang="zh-TW" altLang="en-US" sz="1000" dirty="0">
                        <a:solidFill>
                          <a:schemeClr val="bg2">
                            <a:lumMod val="50000"/>
                          </a:schemeClr>
                        </a:solidFill>
                      </a:endParaRPr>
                    </a:p>
                  </a:txBody>
                  <a:tcPr/>
                </a:tc>
                <a:extLst>
                  <a:ext uri="{0D108BD9-81ED-4DB2-BD59-A6C34878D82A}">
                    <a16:rowId xmlns:a16="http://schemas.microsoft.com/office/drawing/2014/main" val="3284279205"/>
                  </a:ext>
                </a:extLst>
              </a:tr>
              <a:tr h="211659">
                <a:tc>
                  <a:txBody>
                    <a:bodyPr/>
                    <a:lstStyle/>
                    <a:p>
                      <a:pPr algn="ctr"/>
                      <a:r>
                        <a:rPr lang="en-US" altLang="zh-TW" sz="1000" b="1" dirty="0" err="1"/>
                        <a:t>UbaOpromUpdate</a:t>
                      </a:r>
                      <a:endParaRPr lang="zh-TW" altLang="en-US" sz="1000" b="1" dirty="0"/>
                    </a:p>
                  </a:txBody>
                  <a:tcPr/>
                </a:tc>
                <a:tc>
                  <a:txBody>
                    <a:bodyPr/>
                    <a:lstStyle/>
                    <a:p>
                      <a:pPr algn="ctr"/>
                      <a:r>
                        <a:rPr lang="en-US" altLang="zh-TW" sz="1000" b="1" dirty="0"/>
                        <a:t>Y</a:t>
                      </a:r>
                      <a:endParaRPr lang="zh-TW" altLang="en-US" sz="1000" b="1" dirty="0"/>
                    </a:p>
                  </a:txBody>
                  <a:tcPr/>
                </a:tc>
                <a:tc>
                  <a:txBody>
                    <a:bodyPr/>
                    <a:lstStyle/>
                    <a:p>
                      <a:pPr algn="ctr"/>
                      <a:r>
                        <a:rPr lang="en-US" altLang="zh-TW" sz="1000" b="1" dirty="0" err="1"/>
                        <a:t>PciPlatform</a:t>
                      </a:r>
                      <a:endParaRPr lang="zh-TW" altLang="en-US" sz="1000" b="1" dirty="0"/>
                    </a:p>
                  </a:txBody>
                  <a:tcPr/>
                </a:tc>
                <a:extLst>
                  <a:ext uri="{0D108BD9-81ED-4DB2-BD59-A6C34878D82A}">
                    <a16:rowId xmlns:a16="http://schemas.microsoft.com/office/drawing/2014/main" val="1315931744"/>
                  </a:ext>
                </a:extLst>
              </a:tr>
              <a:tr h="211659">
                <a:tc>
                  <a:txBody>
                    <a:bodyPr/>
                    <a:lstStyle/>
                    <a:p>
                      <a:pPr algn="ctr"/>
                      <a:r>
                        <a:rPr lang="en-US" altLang="zh-TW" sz="1000" b="1" dirty="0" err="1">
                          <a:solidFill>
                            <a:schemeClr val="tx1"/>
                          </a:solidFill>
                        </a:rPr>
                        <a:t>UbaPcdUpdate</a:t>
                      </a:r>
                      <a:endParaRPr lang="zh-TW" altLang="en-US" sz="1000" b="1" dirty="0">
                        <a:solidFill>
                          <a:schemeClr val="tx1"/>
                        </a:solidFill>
                      </a:endParaRPr>
                    </a:p>
                  </a:txBody>
                  <a:tcPr/>
                </a:tc>
                <a:tc>
                  <a:txBody>
                    <a:bodyPr/>
                    <a:lstStyle/>
                    <a:p>
                      <a:pPr algn="ctr"/>
                      <a:r>
                        <a:rPr lang="en-US" altLang="zh-TW" sz="1000" b="1" dirty="0">
                          <a:solidFill>
                            <a:schemeClr val="tx1"/>
                          </a:solidFill>
                        </a:rPr>
                        <a:t>Y</a:t>
                      </a:r>
                      <a:endParaRPr lang="zh-TW" altLang="en-US" sz="1000" b="1" dirty="0">
                        <a:solidFill>
                          <a:schemeClr val="tx1"/>
                        </a:solidFill>
                      </a:endParaRPr>
                    </a:p>
                  </a:txBody>
                  <a:tcPr/>
                </a:tc>
                <a:tc>
                  <a:txBody>
                    <a:bodyPr/>
                    <a:lstStyle/>
                    <a:p>
                      <a:pPr algn="ctr"/>
                      <a:r>
                        <a:rPr lang="en-US" altLang="zh-TW" sz="1000" b="1" dirty="0" err="1">
                          <a:solidFill>
                            <a:schemeClr val="tx1"/>
                          </a:solidFill>
                        </a:rPr>
                        <a:t>UpdatePcdPei</a:t>
                      </a:r>
                      <a:endParaRPr lang="zh-TW" altLang="en-US" sz="1000" b="1" dirty="0">
                        <a:solidFill>
                          <a:schemeClr val="tx1"/>
                        </a:solidFill>
                      </a:endParaRPr>
                    </a:p>
                  </a:txBody>
                  <a:tcPr/>
                </a:tc>
                <a:extLst>
                  <a:ext uri="{0D108BD9-81ED-4DB2-BD59-A6C34878D82A}">
                    <a16:rowId xmlns:a16="http://schemas.microsoft.com/office/drawing/2014/main" val="4105699558"/>
                  </a:ext>
                </a:extLst>
              </a:tr>
            </a:tbl>
          </a:graphicData>
        </a:graphic>
      </p:graphicFrame>
      <p:graphicFrame>
        <p:nvGraphicFramePr>
          <p:cNvPr id="46" name="表格 45">
            <a:extLst>
              <a:ext uri="{FF2B5EF4-FFF2-40B4-BE49-F238E27FC236}">
                <a16:creationId xmlns:a16="http://schemas.microsoft.com/office/drawing/2014/main" id="{99440B70-4620-492B-B183-76F0F886F16D}"/>
              </a:ext>
            </a:extLst>
          </p:cNvPr>
          <p:cNvGraphicFramePr>
            <a:graphicFrameLocks noGrp="1"/>
          </p:cNvGraphicFramePr>
          <p:nvPr>
            <p:extLst>
              <p:ext uri="{D42A27DB-BD31-4B8C-83A1-F6EECF244321}">
                <p14:modId xmlns:p14="http://schemas.microsoft.com/office/powerpoint/2010/main" val="2609179623"/>
              </p:ext>
            </p:extLst>
          </p:nvPr>
        </p:nvGraphicFramePr>
        <p:xfrm>
          <a:off x="6047172" y="2666321"/>
          <a:ext cx="5903296" cy="3028065"/>
        </p:xfrm>
        <a:graphic>
          <a:graphicData uri="http://schemas.openxmlformats.org/drawingml/2006/table">
            <a:tbl>
              <a:tblPr firstRow="1" bandRow="1">
                <a:tableStyleId>{5C22544A-7EE6-4342-B048-85BDC9FD1C3A}</a:tableStyleId>
              </a:tblPr>
              <a:tblGrid>
                <a:gridCol w="2067243">
                  <a:extLst>
                    <a:ext uri="{9D8B030D-6E8A-4147-A177-3AD203B41FA5}">
                      <a16:colId xmlns:a16="http://schemas.microsoft.com/office/drawing/2014/main" val="1710917462"/>
                    </a:ext>
                  </a:extLst>
                </a:gridCol>
                <a:gridCol w="1833880">
                  <a:extLst>
                    <a:ext uri="{9D8B030D-6E8A-4147-A177-3AD203B41FA5}">
                      <a16:colId xmlns:a16="http://schemas.microsoft.com/office/drawing/2014/main" val="49191492"/>
                    </a:ext>
                  </a:extLst>
                </a:gridCol>
                <a:gridCol w="2002173">
                  <a:extLst>
                    <a:ext uri="{9D8B030D-6E8A-4147-A177-3AD203B41FA5}">
                      <a16:colId xmlns:a16="http://schemas.microsoft.com/office/drawing/2014/main" val="3446037984"/>
                    </a:ext>
                  </a:extLst>
                </a:gridCol>
              </a:tblGrid>
              <a:tr h="211659">
                <a:tc>
                  <a:txBody>
                    <a:bodyPr/>
                    <a:lstStyle/>
                    <a:p>
                      <a:pPr algn="ctr"/>
                      <a:r>
                        <a:rPr lang="en-US" altLang="zh-TW" sz="1000" dirty="0"/>
                        <a:t>Name of UBA Database</a:t>
                      </a:r>
                      <a:endParaRPr lang="zh-TW" altLang="en-US" sz="1000" dirty="0"/>
                    </a:p>
                  </a:txBody>
                  <a:tcPr/>
                </a:tc>
                <a:tc>
                  <a:txBody>
                    <a:bodyPr/>
                    <a:lstStyle/>
                    <a:p>
                      <a:pPr algn="ctr"/>
                      <a:r>
                        <a:rPr lang="en-US" altLang="zh-TW" sz="1000" dirty="0"/>
                        <a:t>Is using in </a:t>
                      </a:r>
                      <a:r>
                        <a:rPr lang="en-US" altLang="zh-TW" sz="1000" dirty="0" err="1"/>
                        <a:t>Insyde</a:t>
                      </a:r>
                      <a:r>
                        <a:rPr lang="en-US" altLang="zh-TW" sz="1000" dirty="0"/>
                        <a:t> codebase</a:t>
                      </a:r>
                      <a:endParaRPr lang="zh-TW" altLang="en-US" sz="1000" dirty="0"/>
                    </a:p>
                  </a:txBody>
                  <a:tcPr/>
                </a:tc>
                <a:tc>
                  <a:txBody>
                    <a:bodyPr/>
                    <a:lstStyle/>
                    <a:p>
                      <a:pPr algn="ctr"/>
                      <a:r>
                        <a:rPr lang="en-US" altLang="zh-TW" sz="1000" dirty="0"/>
                        <a:t>Driver/Library</a:t>
                      </a:r>
                      <a:endParaRPr lang="zh-TW" altLang="en-US" sz="1000" dirty="0"/>
                    </a:p>
                  </a:txBody>
                  <a:tcPr/>
                </a:tc>
                <a:extLst>
                  <a:ext uri="{0D108BD9-81ED-4DB2-BD59-A6C34878D82A}">
                    <a16:rowId xmlns:a16="http://schemas.microsoft.com/office/drawing/2014/main" val="2247268470"/>
                  </a:ext>
                </a:extLst>
              </a:tr>
              <a:tr h="211659">
                <a:tc>
                  <a:txBody>
                    <a:bodyPr/>
                    <a:lstStyle/>
                    <a:p>
                      <a:pPr algn="ctr"/>
                      <a:r>
                        <a:rPr lang="en-US" altLang="zh-TW" sz="1050" b="1" dirty="0" err="1"/>
                        <a:t>UbaPchEarlyUpdate</a:t>
                      </a:r>
                      <a:endParaRPr lang="zh-TW" altLang="en-US" sz="1050" b="1" dirty="0"/>
                    </a:p>
                  </a:txBody>
                  <a:tcPr/>
                </a:tc>
                <a:tc>
                  <a:txBody>
                    <a:bodyPr/>
                    <a:lstStyle/>
                    <a:p>
                      <a:pPr algn="ctr"/>
                      <a:r>
                        <a:rPr lang="en-US" altLang="zh-TW" sz="1050" b="1" dirty="0"/>
                        <a:t>Y</a:t>
                      </a:r>
                      <a:endParaRPr lang="zh-TW" altLang="en-US" sz="1050" b="1" dirty="0"/>
                    </a:p>
                  </a:txBody>
                  <a:tcPr/>
                </a:tc>
                <a:tc>
                  <a:txBody>
                    <a:bodyPr/>
                    <a:lstStyle/>
                    <a:p>
                      <a:pPr algn="ctr"/>
                      <a:r>
                        <a:rPr lang="en-US" altLang="zh-TW" sz="1050" b="1" dirty="0" err="1"/>
                        <a:t>ChipsetSvcPei</a:t>
                      </a:r>
                      <a:endParaRPr lang="zh-TW" altLang="en-US" sz="1050" b="1" dirty="0"/>
                    </a:p>
                  </a:txBody>
                  <a:tcPr/>
                </a:tc>
                <a:extLst>
                  <a:ext uri="{0D108BD9-81ED-4DB2-BD59-A6C34878D82A}">
                    <a16:rowId xmlns:a16="http://schemas.microsoft.com/office/drawing/2014/main" val="3976485293"/>
                  </a:ext>
                </a:extLst>
              </a:tr>
              <a:tr h="211659">
                <a:tc>
                  <a:txBody>
                    <a:bodyPr/>
                    <a:lstStyle/>
                    <a:p>
                      <a:pPr algn="ctr"/>
                      <a:r>
                        <a:rPr lang="en-US" altLang="zh-TW" sz="1050" b="1" dirty="0" err="1"/>
                        <a:t>UbaPcieBifurcationUpdateLib</a:t>
                      </a:r>
                      <a:endParaRPr lang="zh-TW" altLang="en-US" sz="1050" b="1" dirty="0"/>
                    </a:p>
                  </a:txBody>
                  <a:tcPr/>
                </a:tc>
                <a:tc>
                  <a:txBody>
                    <a:bodyPr/>
                    <a:lstStyle/>
                    <a:p>
                      <a:pPr algn="ctr"/>
                      <a:r>
                        <a:rPr lang="en-US" altLang="zh-TW" sz="1050" b="1" dirty="0"/>
                        <a:t>Y</a:t>
                      </a:r>
                      <a:endParaRPr lang="zh-TW" altLang="en-US" sz="1050" b="1" dirty="0"/>
                    </a:p>
                  </a:txBody>
                  <a:tcPr/>
                </a:tc>
                <a:tc>
                  <a:txBody>
                    <a:bodyPr/>
                    <a:lstStyle/>
                    <a:p>
                      <a:pPr algn="ctr"/>
                      <a:r>
                        <a:rPr lang="en-US" altLang="zh-TW" sz="1050" b="1" dirty="0" err="1"/>
                        <a:t>PeiPolicyUpdateLib</a:t>
                      </a:r>
                      <a:endParaRPr lang="zh-TW" altLang="en-US" sz="1050" b="1" dirty="0"/>
                    </a:p>
                  </a:txBody>
                  <a:tcPr/>
                </a:tc>
                <a:extLst>
                  <a:ext uri="{0D108BD9-81ED-4DB2-BD59-A6C34878D82A}">
                    <a16:rowId xmlns:a16="http://schemas.microsoft.com/office/drawing/2014/main" val="2187686201"/>
                  </a:ext>
                </a:extLst>
              </a:tr>
              <a:tr h="211659">
                <a:tc>
                  <a:txBody>
                    <a:bodyPr/>
                    <a:lstStyle/>
                    <a:p>
                      <a:pPr algn="ctr"/>
                      <a:r>
                        <a:rPr lang="en-US" altLang="zh-TW" sz="1050" dirty="0" err="1">
                          <a:solidFill>
                            <a:schemeClr val="bg2">
                              <a:lumMod val="50000"/>
                            </a:schemeClr>
                          </a:solidFill>
                        </a:rPr>
                        <a:t>UbaPirqUpdate</a:t>
                      </a:r>
                      <a:endParaRPr lang="zh-TW" altLang="en-US" sz="1050" dirty="0">
                        <a:solidFill>
                          <a:schemeClr val="bg2">
                            <a:lumMod val="50000"/>
                          </a:schemeClr>
                        </a:solidFill>
                      </a:endParaRPr>
                    </a:p>
                  </a:txBody>
                  <a:tcPr/>
                </a:tc>
                <a:tc>
                  <a:txBody>
                    <a:bodyPr/>
                    <a:lstStyle/>
                    <a:p>
                      <a:pPr algn="ctr"/>
                      <a:r>
                        <a:rPr lang="en-US" altLang="zh-TW" sz="1050" dirty="0">
                          <a:solidFill>
                            <a:schemeClr val="bg2">
                              <a:lumMod val="50000"/>
                            </a:schemeClr>
                          </a:solidFill>
                        </a:rPr>
                        <a:t>N</a:t>
                      </a:r>
                      <a:endParaRPr lang="zh-TW" altLang="en-US" sz="105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solidFill>
                            <a:schemeClr val="bg2">
                              <a:lumMod val="50000"/>
                            </a:schemeClr>
                          </a:solidFill>
                        </a:rPr>
                        <a:t>N/A</a:t>
                      </a:r>
                      <a:endParaRPr lang="zh-TW" altLang="en-US" sz="1050" dirty="0">
                        <a:solidFill>
                          <a:schemeClr val="bg2">
                            <a:lumMod val="50000"/>
                          </a:schemeClr>
                        </a:solidFill>
                      </a:endParaRPr>
                    </a:p>
                  </a:txBody>
                  <a:tcPr/>
                </a:tc>
                <a:extLst>
                  <a:ext uri="{0D108BD9-81ED-4DB2-BD59-A6C34878D82A}">
                    <a16:rowId xmlns:a16="http://schemas.microsoft.com/office/drawing/2014/main" val="3082344983"/>
                  </a:ext>
                </a:extLst>
              </a:tr>
              <a:tr h="211659">
                <a:tc>
                  <a:txBody>
                    <a:bodyPr/>
                    <a:lstStyle/>
                    <a:p>
                      <a:pPr algn="ctr"/>
                      <a:r>
                        <a:rPr lang="en-US" altLang="zh-TW" sz="1050" dirty="0" err="1">
                          <a:solidFill>
                            <a:schemeClr val="bg2">
                              <a:lumMod val="50000"/>
                            </a:schemeClr>
                          </a:solidFill>
                        </a:rPr>
                        <a:t>UbaSetupUpdate</a:t>
                      </a:r>
                      <a:endParaRPr lang="zh-TW" altLang="en-US" sz="1050" dirty="0">
                        <a:solidFill>
                          <a:schemeClr val="bg2">
                            <a:lumMod val="50000"/>
                          </a:schemeClr>
                        </a:solidFill>
                      </a:endParaRPr>
                    </a:p>
                  </a:txBody>
                  <a:tcPr/>
                </a:tc>
                <a:tc>
                  <a:txBody>
                    <a:bodyPr/>
                    <a:lstStyle/>
                    <a:p>
                      <a:pPr algn="ctr"/>
                      <a:r>
                        <a:rPr lang="en-US" altLang="zh-TW" sz="1050" dirty="0">
                          <a:solidFill>
                            <a:schemeClr val="bg2">
                              <a:lumMod val="50000"/>
                            </a:schemeClr>
                          </a:solidFill>
                        </a:rPr>
                        <a:t>N</a:t>
                      </a:r>
                      <a:endParaRPr lang="zh-TW" altLang="en-US" sz="105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solidFill>
                            <a:schemeClr val="bg2">
                              <a:lumMod val="50000"/>
                            </a:schemeClr>
                          </a:solidFill>
                        </a:rPr>
                        <a:t>N/A</a:t>
                      </a:r>
                      <a:endParaRPr lang="zh-TW" altLang="en-US" sz="1050" dirty="0">
                        <a:solidFill>
                          <a:schemeClr val="bg2">
                            <a:lumMod val="50000"/>
                          </a:schemeClr>
                        </a:solidFill>
                      </a:endParaRPr>
                    </a:p>
                  </a:txBody>
                  <a:tcPr/>
                </a:tc>
                <a:extLst>
                  <a:ext uri="{0D108BD9-81ED-4DB2-BD59-A6C34878D82A}">
                    <a16:rowId xmlns:a16="http://schemas.microsoft.com/office/drawing/2014/main" val="1929339743"/>
                  </a:ext>
                </a:extLst>
              </a:tr>
              <a:tr h="211659">
                <a:tc>
                  <a:txBody>
                    <a:bodyPr/>
                    <a:lstStyle/>
                    <a:p>
                      <a:pPr algn="ctr"/>
                      <a:r>
                        <a:rPr lang="en-US" altLang="zh-TW" sz="1050" dirty="0" err="1">
                          <a:solidFill>
                            <a:schemeClr val="bg2">
                              <a:lumMod val="50000"/>
                            </a:schemeClr>
                          </a:solidFill>
                        </a:rPr>
                        <a:t>UbaSlotUpdate</a:t>
                      </a:r>
                      <a:endParaRPr lang="zh-TW" altLang="en-US" sz="1050" dirty="0">
                        <a:solidFill>
                          <a:schemeClr val="bg2">
                            <a:lumMod val="50000"/>
                          </a:schemeClr>
                        </a:solidFill>
                      </a:endParaRPr>
                    </a:p>
                  </a:txBody>
                  <a:tcPr/>
                </a:tc>
                <a:tc>
                  <a:txBody>
                    <a:bodyPr/>
                    <a:lstStyle/>
                    <a:p>
                      <a:pPr algn="ctr"/>
                      <a:r>
                        <a:rPr lang="en-US" altLang="zh-TW" sz="1050" dirty="0">
                          <a:solidFill>
                            <a:schemeClr val="bg2">
                              <a:lumMod val="50000"/>
                            </a:schemeClr>
                          </a:solidFill>
                        </a:rPr>
                        <a:t>N</a:t>
                      </a:r>
                      <a:endParaRPr lang="zh-TW" altLang="en-US" sz="105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solidFill>
                            <a:schemeClr val="bg2">
                              <a:lumMod val="50000"/>
                            </a:schemeClr>
                          </a:solidFill>
                        </a:rPr>
                        <a:t>N/A</a:t>
                      </a:r>
                      <a:endParaRPr lang="zh-TW" altLang="en-US" sz="1050" dirty="0">
                        <a:solidFill>
                          <a:schemeClr val="bg2">
                            <a:lumMod val="50000"/>
                          </a:schemeClr>
                        </a:solidFill>
                      </a:endParaRPr>
                    </a:p>
                  </a:txBody>
                  <a:tcPr/>
                </a:tc>
                <a:extLst>
                  <a:ext uri="{0D108BD9-81ED-4DB2-BD59-A6C34878D82A}">
                    <a16:rowId xmlns:a16="http://schemas.microsoft.com/office/drawing/2014/main" val="1307210446"/>
                  </a:ext>
                </a:extLst>
              </a:tr>
              <a:tr h="211659">
                <a:tc>
                  <a:txBody>
                    <a:bodyPr/>
                    <a:lstStyle/>
                    <a:p>
                      <a:pPr algn="ctr"/>
                      <a:r>
                        <a:rPr lang="en-US" altLang="zh-TW" sz="1050" b="1" dirty="0" err="1">
                          <a:solidFill>
                            <a:schemeClr val="tx1"/>
                          </a:solidFill>
                        </a:rPr>
                        <a:t>UbaSmbiosUpdate</a:t>
                      </a:r>
                      <a:endParaRPr lang="zh-TW" altLang="en-US" sz="1050" b="1" dirty="0">
                        <a:solidFill>
                          <a:schemeClr val="tx1"/>
                        </a:solidFill>
                      </a:endParaRPr>
                    </a:p>
                  </a:txBody>
                  <a:tcPr/>
                </a:tc>
                <a:tc>
                  <a:txBody>
                    <a:bodyPr/>
                    <a:lstStyle/>
                    <a:p>
                      <a:pPr algn="ctr"/>
                      <a:r>
                        <a:rPr lang="en-US" altLang="zh-TW" sz="1050" b="1" dirty="0">
                          <a:solidFill>
                            <a:schemeClr val="tx1"/>
                          </a:solidFill>
                        </a:rPr>
                        <a:t>Y</a:t>
                      </a:r>
                      <a:endParaRPr lang="zh-TW" altLang="en-US" sz="1050" b="1" dirty="0">
                        <a:solidFill>
                          <a:schemeClr val="tx1"/>
                        </a:solidFill>
                      </a:endParaRPr>
                    </a:p>
                  </a:txBody>
                  <a:tcPr/>
                </a:tc>
                <a:tc>
                  <a:txBody>
                    <a:bodyPr/>
                    <a:lstStyle/>
                    <a:p>
                      <a:pPr algn="ctr" rtl="0" fontAlgn="ctr"/>
                      <a:r>
                        <a:rPr lang="en-US" sz="1050" b="1" i="0" u="none" strike="noStrike" dirty="0" err="1">
                          <a:solidFill>
                            <a:schemeClr val="tx1"/>
                          </a:solidFill>
                          <a:effectLst/>
                          <a:latin typeface="Segoe UI" panose="020B0502040204020203" pitchFamily="34" charset="0"/>
                          <a:ea typeface="新細明體" panose="02020500000000000000" pitchFamily="18" charset="-120"/>
                        </a:rPr>
                        <a:t>PlatformBdsLib</a:t>
                      </a:r>
                      <a:endParaRPr lang="en-US" sz="1050" b="1" i="0" u="none" strike="noStrike" dirty="0">
                        <a:solidFill>
                          <a:schemeClr val="tx1"/>
                        </a:solidFill>
                        <a:effectLst/>
                        <a:latin typeface="Segoe UI" panose="020B0502040204020203" pitchFamily="34" charset="0"/>
                        <a:ea typeface="新細明體" panose="02020500000000000000" pitchFamily="18" charset="-120"/>
                      </a:endParaRPr>
                    </a:p>
                  </a:txBody>
                  <a:tcPr marL="6350" marR="6350" marT="6350" marB="0" anchor="ctr"/>
                </a:tc>
                <a:extLst>
                  <a:ext uri="{0D108BD9-81ED-4DB2-BD59-A6C34878D82A}">
                    <a16:rowId xmlns:a16="http://schemas.microsoft.com/office/drawing/2014/main" val="581565012"/>
                  </a:ext>
                </a:extLst>
              </a:tr>
              <a:tr h="211659">
                <a:tc>
                  <a:txBody>
                    <a:bodyPr/>
                    <a:lstStyle/>
                    <a:p>
                      <a:pPr algn="ctr"/>
                      <a:r>
                        <a:rPr lang="en-US" altLang="zh-TW" sz="1050" dirty="0" err="1">
                          <a:solidFill>
                            <a:schemeClr val="bg2">
                              <a:lumMod val="50000"/>
                            </a:schemeClr>
                          </a:solidFill>
                        </a:rPr>
                        <a:t>UbaSoftStrapUpdate</a:t>
                      </a:r>
                      <a:endParaRPr lang="zh-TW" altLang="en-US" sz="1050" dirty="0">
                        <a:solidFill>
                          <a:schemeClr val="bg2">
                            <a:lumMod val="50000"/>
                          </a:schemeClr>
                        </a:solidFill>
                      </a:endParaRPr>
                    </a:p>
                  </a:txBody>
                  <a:tcPr/>
                </a:tc>
                <a:tc>
                  <a:txBody>
                    <a:bodyPr/>
                    <a:lstStyle/>
                    <a:p>
                      <a:pPr algn="ctr"/>
                      <a:r>
                        <a:rPr lang="en-US" altLang="zh-TW" sz="1050" dirty="0">
                          <a:solidFill>
                            <a:schemeClr val="bg2">
                              <a:lumMod val="50000"/>
                            </a:schemeClr>
                          </a:solidFill>
                        </a:rPr>
                        <a:t>N</a:t>
                      </a:r>
                      <a:endParaRPr lang="zh-TW" altLang="en-US" sz="105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solidFill>
                            <a:schemeClr val="bg2">
                              <a:lumMod val="50000"/>
                            </a:schemeClr>
                          </a:solidFill>
                        </a:rPr>
                        <a:t>N/A</a:t>
                      </a:r>
                      <a:endParaRPr lang="zh-TW" altLang="en-US" sz="1050" dirty="0">
                        <a:solidFill>
                          <a:schemeClr val="bg2">
                            <a:lumMod val="50000"/>
                          </a:schemeClr>
                        </a:solidFill>
                      </a:endParaRPr>
                    </a:p>
                  </a:txBody>
                  <a:tcPr/>
                </a:tc>
                <a:extLst>
                  <a:ext uri="{0D108BD9-81ED-4DB2-BD59-A6C34878D82A}">
                    <a16:rowId xmlns:a16="http://schemas.microsoft.com/office/drawing/2014/main" val="1598229835"/>
                  </a:ext>
                </a:extLst>
              </a:tr>
              <a:tr h="211659">
                <a:tc>
                  <a:txBody>
                    <a:bodyPr/>
                    <a:lstStyle/>
                    <a:p>
                      <a:pPr algn="ctr"/>
                      <a:r>
                        <a:rPr lang="en-US" altLang="zh-TW" sz="1050" dirty="0" err="1">
                          <a:solidFill>
                            <a:schemeClr val="bg2">
                              <a:lumMod val="50000"/>
                            </a:schemeClr>
                          </a:solidFill>
                        </a:rPr>
                        <a:t>UbaSsidSvidUpdate</a:t>
                      </a:r>
                      <a:endParaRPr lang="zh-TW" altLang="en-US" sz="1050" dirty="0">
                        <a:solidFill>
                          <a:schemeClr val="bg2">
                            <a:lumMod val="50000"/>
                          </a:schemeClr>
                        </a:solidFill>
                      </a:endParaRPr>
                    </a:p>
                  </a:txBody>
                  <a:tcPr/>
                </a:tc>
                <a:tc>
                  <a:txBody>
                    <a:bodyPr/>
                    <a:lstStyle/>
                    <a:p>
                      <a:pPr algn="ctr"/>
                      <a:r>
                        <a:rPr lang="en-US" altLang="zh-TW" sz="1050" dirty="0">
                          <a:solidFill>
                            <a:schemeClr val="bg2">
                              <a:lumMod val="50000"/>
                            </a:schemeClr>
                          </a:solidFill>
                        </a:rPr>
                        <a:t>N</a:t>
                      </a:r>
                      <a:endParaRPr lang="zh-TW" altLang="en-US" sz="105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solidFill>
                            <a:schemeClr val="bg2">
                              <a:lumMod val="50000"/>
                            </a:schemeClr>
                          </a:solidFill>
                        </a:rPr>
                        <a:t>N/A</a:t>
                      </a:r>
                      <a:endParaRPr lang="zh-TW" altLang="en-US" sz="1050" dirty="0">
                        <a:solidFill>
                          <a:schemeClr val="bg2">
                            <a:lumMod val="50000"/>
                          </a:schemeClr>
                        </a:solidFill>
                      </a:endParaRPr>
                    </a:p>
                  </a:txBody>
                  <a:tcPr/>
                </a:tc>
                <a:extLst>
                  <a:ext uri="{0D108BD9-81ED-4DB2-BD59-A6C34878D82A}">
                    <a16:rowId xmlns:a16="http://schemas.microsoft.com/office/drawing/2014/main" val="3350852600"/>
                  </a:ext>
                </a:extLst>
              </a:tr>
              <a:tr h="211659">
                <a:tc>
                  <a:txBody>
                    <a:bodyPr/>
                    <a:lstStyle/>
                    <a:p>
                      <a:pPr algn="ctr"/>
                      <a:r>
                        <a:rPr lang="en-US" altLang="zh-TW" sz="1050" dirty="0" err="1">
                          <a:solidFill>
                            <a:schemeClr val="bg2">
                              <a:lumMod val="50000"/>
                            </a:schemeClr>
                          </a:solidFill>
                        </a:rPr>
                        <a:t>UbaSystemBoardInfo</a:t>
                      </a:r>
                      <a:endParaRPr lang="zh-TW" altLang="en-US" sz="1050" dirty="0">
                        <a:solidFill>
                          <a:schemeClr val="bg2">
                            <a:lumMod val="50000"/>
                          </a:schemeClr>
                        </a:solidFill>
                      </a:endParaRPr>
                    </a:p>
                  </a:txBody>
                  <a:tcPr/>
                </a:tc>
                <a:tc>
                  <a:txBody>
                    <a:bodyPr/>
                    <a:lstStyle/>
                    <a:p>
                      <a:pPr algn="ctr"/>
                      <a:r>
                        <a:rPr lang="en-US" altLang="zh-TW" sz="1050" dirty="0">
                          <a:solidFill>
                            <a:schemeClr val="bg2">
                              <a:lumMod val="50000"/>
                            </a:schemeClr>
                          </a:solidFill>
                        </a:rPr>
                        <a:t>N</a:t>
                      </a:r>
                      <a:endParaRPr lang="zh-TW" altLang="en-US" sz="105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solidFill>
                            <a:schemeClr val="bg2">
                              <a:lumMod val="50000"/>
                            </a:schemeClr>
                          </a:solidFill>
                        </a:rPr>
                        <a:t>N/A</a:t>
                      </a:r>
                      <a:endParaRPr lang="zh-TW" altLang="en-US" sz="1050" dirty="0">
                        <a:solidFill>
                          <a:schemeClr val="bg2">
                            <a:lumMod val="50000"/>
                          </a:schemeClr>
                        </a:solidFill>
                      </a:endParaRPr>
                    </a:p>
                  </a:txBody>
                  <a:tcPr/>
                </a:tc>
                <a:extLst>
                  <a:ext uri="{0D108BD9-81ED-4DB2-BD59-A6C34878D82A}">
                    <a16:rowId xmlns:a16="http://schemas.microsoft.com/office/drawing/2014/main" val="3758102950"/>
                  </a:ext>
                </a:extLst>
              </a:tr>
              <a:tr h="269625">
                <a:tc>
                  <a:txBody>
                    <a:bodyPr/>
                    <a:lstStyle/>
                    <a:p>
                      <a:pPr algn="ctr"/>
                      <a:r>
                        <a:rPr lang="en-US" altLang="zh-TW" sz="1050" dirty="0" err="1">
                          <a:solidFill>
                            <a:schemeClr val="bg2">
                              <a:lumMod val="50000"/>
                            </a:schemeClr>
                          </a:solidFill>
                        </a:rPr>
                        <a:t>UbaSystemConfigUpdate</a:t>
                      </a:r>
                      <a:endParaRPr lang="zh-TW" altLang="en-US" sz="1050" dirty="0">
                        <a:solidFill>
                          <a:schemeClr val="bg2">
                            <a:lumMod val="50000"/>
                          </a:schemeClr>
                        </a:solidFill>
                      </a:endParaRPr>
                    </a:p>
                  </a:txBody>
                  <a:tcPr/>
                </a:tc>
                <a:tc>
                  <a:txBody>
                    <a:bodyPr/>
                    <a:lstStyle/>
                    <a:p>
                      <a:pPr algn="ctr"/>
                      <a:r>
                        <a:rPr lang="en-US" altLang="zh-TW" sz="1050" dirty="0">
                          <a:solidFill>
                            <a:schemeClr val="bg2">
                              <a:lumMod val="50000"/>
                            </a:schemeClr>
                          </a:solidFill>
                        </a:rPr>
                        <a:t>N</a:t>
                      </a:r>
                      <a:endParaRPr lang="zh-TW" altLang="en-US" sz="1050" dirty="0">
                        <a:solidFill>
                          <a:schemeClr val="bg2">
                            <a:lumMod val="5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dirty="0">
                          <a:solidFill>
                            <a:schemeClr val="bg2">
                              <a:lumMod val="50000"/>
                            </a:schemeClr>
                          </a:solidFill>
                        </a:rPr>
                        <a:t>N/A</a:t>
                      </a:r>
                      <a:endParaRPr lang="zh-TW" altLang="en-US" sz="1050" dirty="0">
                        <a:solidFill>
                          <a:schemeClr val="bg2">
                            <a:lumMod val="50000"/>
                          </a:schemeClr>
                        </a:solidFill>
                      </a:endParaRPr>
                    </a:p>
                  </a:txBody>
                  <a:tcPr/>
                </a:tc>
                <a:extLst>
                  <a:ext uri="{0D108BD9-81ED-4DB2-BD59-A6C34878D82A}">
                    <a16:rowId xmlns:a16="http://schemas.microsoft.com/office/drawing/2014/main" val="2026334226"/>
                  </a:ext>
                </a:extLst>
              </a:tr>
              <a:tr h="211659">
                <a:tc>
                  <a:txBody>
                    <a:bodyPr/>
                    <a:lstStyle/>
                    <a:p>
                      <a:pPr algn="ctr"/>
                      <a:r>
                        <a:rPr lang="en-US" altLang="zh-TW" sz="1050" b="1" dirty="0" err="1"/>
                        <a:t>UbaUsbOcUpdate</a:t>
                      </a:r>
                      <a:endParaRPr lang="zh-TW" altLang="en-US" sz="1050" b="1" dirty="0"/>
                    </a:p>
                  </a:txBody>
                  <a:tcPr/>
                </a:tc>
                <a:tc>
                  <a:txBody>
                    <a:bodyPr/>
                    <a:lstStyle/>
                    <a:p>
                      <a:pPr algn="ctr"/>
                      <a:r>
                        <a:rPr lang="en-US" altLang="zh-TW" sz="1050" b="1" dirty="0"/>
                        <a:t>Y</a:t>
                      </a:r>
                      <a:endParaRPr lang="zh-TW" altLang="en-US" sz="105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50" b="1" dirty="0" err="1"/>
                        <a:t>PeiPolicyUpdateLib</a:t>
                      </a:r>
                      <a:endParaRPr lang="zh-TW" altLang="en-US" sz="1050" b="1" dirty="0"/>
                    </a:p>
                  </a:txBody>
                  <a:tcPr/>
                </a:tc>
                <a:extLst>
                  <a:ext uri="{0D108BD9-81ED-4DB2-BD59-A6C34878D82A}">
                    <a16:rowId xmlns:a16="http://schemas.microsoft.com/office/drawing/2014/main" val="2265559353"/>
                  </a:ext>
                </a:extLst>
              </a:tr>
            </a:tbl>
          </a:graphicData>
        </a:graphic>
      </p:graphicFrame>
    </p:spTree>
    <p:extLst>
      <p:ext uri="{BB962C8B-B14F-4D97-AF65-F5344CB8AC3E}">
        <p14:creationId xmlns:p14="http://schemas.microsoft.com/office/powerpoint/2010/main" val="1187869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9</a:t>
            </a:fld>
            <a:endParaRPr lang="en-US" dirty="0"/>
          </a:p>
        </p:txBody>
      </p:sp>
      <p:sp>
        <p:nvSpPr>
          <p:cNvPr id="2" name="Title 1"/>
          <p:cNvSpPr>
            <a:spLocks noGrp="1"/>
          </p:cNvSpPr>
          <p:nvPr>
            <p:ph type="title"/>
          </p:nvPr>
        </p:nvSpPr>
        <p:spPr/>
        <p:txBody>
          <a:bodyPr/>
          <a:lstStyle/>
          <a:p>
            <a:r>
              <a:rPr lang="en-US" dirty="0"/>
              <a:t>Introduce UBA Configuration</a:t>
            </a:r>
          </a:p>
        </p:txBody>
      </p:sp>
    </p:spTree>
    <p:extLst>
      <p:ext uri="{BB962C8B-B14F-4D97-AF65-F5344CB8AC3E}">
        <p14:creationId xmlns:p14="http://schemas.microsoft.com/office/powerpoint/2010/main" val="355602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UBA Configuration</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8196743" cy="4778469"/>
          </a:xfrm>
        </p:spPr>
        <p:txBody>
          <a:bodyPr>
            <a:normAutofit/>
          </a:bodyPr>
          <a:lstStyle/>
          <a:p>
            <a:pPr>
              <a:lnSpc>
                <a:spcPct val="90000"/>
              </a:lnSpc>
              <a:spcBef>
                <a:spcPts val="1001"/>
              </a:spcBef>
            </a:pPr>
            <a:r>
              <a:rPr lang="en-US" altLang="zh-TW" sz="2400" b="0" strike="noStrike" spc="-1" dirty="0">
                <a:solidFill>
                  <a:srgbClr val="3F3F3F"/>
                </a:solidFill>
                <a:ea typeface="DejaVu Sans"/>
              </a:rPr>
              <a:t>In </a:t>
            </a:r>
            <a:r>
              <a:rPr lang="en-US" altLang="zh-TW" sz="2400" b="0" strike="noStrike" spc="-1" dirty="0" err="1">
                <a:solidFill>
                  <a:srgbClr val="3F3F3F"/>
                </a:solidFill>
                <a:ea typeface="DejaVu Sans"/>
              </a:rPr>
              <a:t>Insyde</a:t>
            </a:r>
            <a:r>
              <a:rPr lang="en-US" altLang="zh-TW" sz="2400" b="0" strike="noStrike" spc="-1" dirty="0">
                <a:solidFill>
                  <a:srgbClr val="3F3F3F"/>
                </a:solidFill>
                <a:ea typeface="DejaVu Sans"/>
              </a:rPr>
              <a:t> codebase, we can find UBA Configuration in Board/Intel</a:t>
            </a:r>
            <a:r>
              <a:rPr lang="en-US" altLang="zh-TW" sz="2400" spc="-1" dirty="0">
                <a:solidFill>
                  <a:srgbClr val="3F3F3F"/>
                </a:solidFill>
                <a:ea typeface="DejaVu Sans"/>
              </a:rPr>
              <a:t>/</a:t>
            </a:r>
            <a:r>
              <a:rPr lang="en-US" altLang="zh-TW" sz="2400" b="0" strike="noStrike" spc="-1" dirty="0" err="1">
                <a:solidFill>
                  <a:srgbClr val="3F3F3F"/>
                </a:solidFill>
                <a:ea typeface="DejaVu Sans"/>
              </a:rPr>
              <a:t>EagleStreamMultiBoardPkgUba</a:t>
            </a: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UbaMain</a:t>
            </a: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TypeXXXXX</a:t>
            </a:r>
            <a:r>
              <a:rPr lang="en-US" altLang="zh-TW" sz="2400" b="0" strike="noStrike" spc="-1" dirty="0">
                <a:solidFill>
                  <a:srgbClr val="3F3F3F"/>
                </a:solidFill>
                <a:ea typeface="DejaVu Sans"/>
              </a:rPr>
              <a:t>/….(Take Eagle Stream platform for example).</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r>
              <a:rPr lang="en-US" altLang="zh-TW" sz="2400" b="0" strike="noStrike" spc="-1" dirty="0">
                <a:solidFill>
                  <a:srgbClr val="3F3F3F"/>
                </a:solidFill>
                <a:ea typeface="DejaVu Sans"/>
              </a:rPr>
              <a:t>In </a:t>
            </a:r>
            <a:r>
              <a:rPr lang="en-US" altLang="zh-TW" sz="2400" b="0" strike="noStrike" spc="-1" dirty="0" err="1">
                <a:solidFill>
                  <a:srgbClr val="3F3F3F"/>
                </a:solidFill>
                <a:ea typeface="DejaVu Sans"/>
              </a:rPr>
              <a:t>UbaMain</a:t>
            </a:r>
            <a:r>
              <a:rPr lang="en-US" altLang="zh-TW" sz="2400" b="0" strike="noStrike" spc="-1" dirty="0">
                <a:solidFill>
                  <a:srgbClr val="3F3F3F"/>
                </a:solidFill>
                <a:ea typeface="DejaVu Sans"/>
              </a:rPr>
              <a:t> folder, provide many different type of CRB, user can customize own setting(ex: GPIO, IIO/PCH Silicon policies settings...) for their HW designed.</a:t>
            </a:r>
            <a:endParaRPr lang="en-US" altLang="zh-TW" sz="2400" b="0" strike="noStrike" spc="-1" dirty="0"/>
          </a:p>
        </p:txBody>
      </p:sp>
      <p:pic>
        <p:nvPicPr>
          <p:cNvPr id="8" name="圖片 7">
            <a:extLst>
              <a:ext uri="{FF2B5EF4-FFF2-40B4-BE49-F238E27FC236}">
                <a16:creationId xmlns:a16="http://schemas.microsoft.com/office/drawing/2014/main" id="{EB7B8CD4-092C-804F-76F1-2BE3336F1E5D}"/>
              </a:ext>
            </a:extLst>
          </p:cNvPr>
          <p:cNvPicPr>
            <a:picLocks noChangeAspect="1"/>
          </p:cNvPicPr>
          <p:nvPr/>
        </p:nvPicPr>
        <p:blipFill>
          <a:blip r:embed="rId2"/>
          <a:stretch>
            <a:fillRect/>
          </a:stretch>
        </p:blipFill>
        <p:spPr>
          <a:xfrm>
            <a:off x="9034943" y="1316230"/>
            <a:ext cx="3153215" cy="2962688"/>
          </a:xfrm>
          <a:prstGeom prst="rect">
            <a:avLst/>
          </a:prstGeom>
        </p:spPr>
      </p:pic>
    </p:spTree>
    <p:extLst>
      <p:ext uri="{BB962C8B-B14F-4D97-AF65-F5344CB8AC3E}">
        <p14:creationId xmlns:p14="http://schemas.microsoft.com/office/powerpoint/2010/main" val="3695652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UBA Configuration (PEI)</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8196743" cy="4778469"/>
          </a:xfrm>
        </p:spPr>
        <p:txBody>
          <a:bodyPr>
            <a:normAutofit/>
          </a:bodyPr>
          <a:lstStyle/>
          <a:p>
            <a:pPr>
              <a:lnSpc>
                <a:spcPct val="90000"/>
              </a:lnSpc>
              <a:spcBef>
                <a:spcPts val="1001"/>
              </a:spcBef>
            </a:pPr>
            <a:r>
              <a:rPr lang="en-US" altLang="zh-TW" sz="2400" b="0" strike="noStrike" spc="-1" dirty="0">
                <a:solidFill>
                  <a:srgbClr val="3F3F3F"/>
                </a:solidFill>
                <a:ea typeface="DejaVu Sans"/>
              </a:rPr>
              <a:t>Take “</a:t>
            </a:r>
            <a:r>
              <a:rPr lang="en-US" altLang="zh-TW" sz="2400" b="0" strike="noStrike" spc="-1" dirty="0" err="1">
                <a:solidFill>
                  <a:srgbClr val="3F3F3F"/>
                </a:solidFill>
                <a:ea typeface="DejaVu Sans"/>
              </a:rPr>
              <a:t>TypeArcherCityRP</a:t>
            </a:r>
            <a:r>
              <a:rPr lang="en-US" altLang="zh-TW" sz="2400" spc="-1" dirty="0">
                <a:solidFill>
                  <a:srgbClr val="3F3F3F"/>
                </a:solidFill>
                <a:ea typeface="DejaVu Sans"/>
              </a:rPr>
              <a:t>/</a:t>
            </a:r>
            <a:r>
              <a:rPr lang="en-US" altLang="zh-TW" sz="2400" b="0" strike="noStrike" spc="-1" dirty="0">
                <a:solidFill>
                  <a:srgbClr val="3F3F3F"/>
                </a:solidFill>
                <a:ea typeface="DejaVu Sans"/>
              </a:rPr>
              <a:t>Pei” for example. In this folder, </a:t>
            </a:r>
            <a:r>
              <a:rPr lang="en-US" altLang="zh-TW" sz="2400" b="0" strike="noStrike" spc="-1" dirty="0" err="1">
                <a:solidFill>
                  <a:srgbClr val="3F3F3F"/>
                </a:solidFill>
                <a:ea typeface="DejaVu Sans"/>
              </a:rPr>
              <a:t>Insyde</a:t>
            </a:r>
            <a:r>
              <a:rPr lang="en-US" altLang="zh-TW" sz="2400" b="0" strike="noStrike" spc="-1" dirty="0">
                <a:solidFill>
                  <a:srgbClr val="3F3F3F"/>
                </a:solidFill>
                <a:ea typeface="DejaVu Sans"/>
              </a:rPr>
              <a:t> provide “</a:t>
            </a:r>
            <a:r>
              <a:rPr lang="en-US" altLang="zh-TW" sz="2400" b="0" strike="noStrike" spc="-1" dirty="0" err="1">
                <a:solidFill>
                  <a:srgbClr val="3F3F3F"/>
                </a:solidFill>
                <a:ea typeface="DejaVu Sans"/>
              </a:rPr>
              <a:t>GpioTable</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IioBifurInit</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KtiEparam</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PcdData</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PchEarlyUpdate</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PchPcieBifurcation</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SlotTable</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UsbOC</a:t>
            </a:r>
            <a:r>
              <a:rPr lang="en-US" altLang="zh-TW" sz="2400" b="0" strike="noStrike" spc="-1" dirty="0">
                <a:solidFill>
                  <a:srgbClr val="3F3F3F"/>
                </a:solidFill>
                <a:ea typeface="DejaVu Sans"/>
              </a:rPr>
              <a:t>” settings, that can be customized. </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r>
              <a:rPr lang="en-US" altLang="zh-TW" sz="2400" b="0" strike="noStrike" spc="-1" dirty="0">
                <a:solidFill>
                  <a:srgbClr val="3F3F3F"/>
                </a:solidFill>
                <a:ea typeface="DejaVu Sans"/>
              </a:rPr>
              <a:t>After customized, “</a:t>
            </a:r>
            <a:r>
              <a:rPr lang="en-US" altLang="zh-TW" sz="2400" b="0" strike="noStrike" spc="-1" dirty="0" err="1">
                <a:solidFill>
                  <a:srgbClr val="3F3F3F"/>
                </a:solidFill>
                <a:ea typeface="DejaVu Sans"/>
              </a:rPr>
              <a:t>PeiBoardInitLib</a:t>
            </a:r>
            <a:r>
              <a:rPr lang="en-US" altLang="zh-TW" sz="2400" b="0" strike="noStrike" spc="-1" dirty="0">
                <a:solidFill>
                  <a:srgbClr val="3F3F3F"/>
                </a:solidFill>
                <a:ea typeface="DejaVu Sans"/>
              </a:rPr>
              <a:t>” will install those settings.</a:t>
            </a:r>
            <a:endParaRPr lang="en-US" altLang="zh-TW" sz="2400" b="0" strike="noStrike" spc="-1" dirty="0"/>
          </a:p>
        </p:txBody>
      </p:sp>
      <p:pic>
        <p:nvPicPr>
          <p:cNvPr id="6" name="圖片 5">
            <a:extLst>
              <a:ext uri="{FF2B5EF4-FFF2-40B4-BE49-F238E27FC236}">
                <a16:creationId xmlns:a16="http://schemas.microsoft.com/office/drawing/2014/main" id="{E27B91DE-64AE-64B5-40F2-8B34DBB2CD90}"/>
              </a:ext>
            </a:extLst>
          </p:cNvPr>
          <p:cNvPicPr>
            <a:picLocks noChangeAspect="1"/>
          </p:cNvPicPr>
          <p:nvPr/>
        </p:nvPicPr>
        <p:blipFill>
          <a:blip r:embed="rId2"/>
          <a:stretch>
            <a:fillRect/>
          </a:stretch>
        </p:blipFill>
        <p:spPr>
          <a:xfrm>
            <a:off x="8686942" y="1316230"/>
            <a:ext cx="2972215" cy="4353533"/>
          </a:xfrm>
          <a:prstGeom prst="rect">
            <a:avLst/>
          </a:prstGeom>
        </p:spPr>
      </p:pic>
    </p:spTree>
    <p:extLst>
      <p:ext uri="{BB962C8B-B14F-4D97-AF65-F5344CB8AC3E}">
        <p14:creationId xmlns:p14="http://schemas.microsoft.com/office/powerpoint/2010/main" val="3176126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UBA Configuration (PEI)</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246895" cy="4778469"/>
          </a:xfrm>
        </p:spPr>
        <p:txBody>
          <a:bodyPr>
            <a:normAutofit/>
          </a:bodyPr>
          <a:lstStyle/>
          <a:p>
            <a:pPr>
              <a:lnSpc>
                <a:spcPct val="90000"/>
              </a:lnSpc>
              <a:spcBef>
                <a:spcPts val="1001"/>
              </a:spcBef>
            </a:pPr>
            <a:r>
              <a:rPr lang="en-US" altLang="zh-TW" sz="2400" b="0" strike="noStrike" spc="-1" dirty="0" err="1">
                <a:solidFill>
                  <a:srgbClr val="3F3F3F"/>
                </a:solidFill>
                <a:ea typeface="DejaVu Sans"/>
              </a:rPr>
              <a:t>PeiBoardInitLib.c</a:t>
            </a:r>
            <a:endParaRPr lang="en-US" altLang="zh-TW" sz="2400" b="0" strike="noStrike" spc="-1" dirty="0"/>
          </a:p>
          <a:p>
            <a:pPr>
              <a:lnSpc>
                <a:spcPct val="90000"/>
              </a:lnSpc>
              <a:spcBef>
                <a:spcPts val="1001"/>
              </a:spcBef>
            </a:pP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UbaConfigPpi→InitSku</a:t>
            </a:r>
            <a:r>
              <a:rPr lang="en-US" altLang="zh-TW" sz="2400" b="0" strike="noStrike" spc="-1" dirty="0">
                <a:solidFill>
                  <a:srgbClr val="3F3F3F"/>
                </a:solidFill>
                <a:ea typeface="DejaVu Sans"/>
              </a:rPr>
              <a:t>” create, initialize UBA node and ”</a:t>
            </a:r>
            <a:r>
              <a:rPr lang="en-US" altLang="zh-TW" sz="2400" b="0" strike="noStrike" spc="-1" dirty="0" err="1">
                <a:solidFill>
                  <a:srgbClr val="3F3F3F"/>
                </a:solidFill>
                <a:ea typeface="DejaVu Sans"/>
              </a:rPr>
              <a:t>TypeArcherCityRPInstallXXXXData</a:t>
            </a:r>
            <a:r>
              <a:rPr lang="en-US" altLang="zh-TW" sz="2400" b="0" strike="noStrike" spc="-1" dirty="0">
                <a:solidFill>
                  <a:srgbClr val="3F3F3F"/>
                </a:solidFill>
                <a:ea typeface="DejaVu Sans"/>
              </a:rPr>
              <a:t>” will install ”GPIO, PCD...” data to the UBA node, that is a database for </a:t>
            </a:r>
            <a:r>
              <a:rPr lang="en-US" altLang="zh-TW" sz="2400" b="0" strike="noStrike" spc="-1" dirty="0" err="1">
                <a:solidFill>
                  <a:srgbClr val="3F3F3F"/>
                </a:solidFill>
                <a:ea typeface="DejaVu Sans"/>
              </a:rPr>
              <a:t>ArcherCityRP</a:t>
            </a:r>
            <a:r>
              <a:rPr lang="en-US" altLang="zh-TW" sz="2400" b="0" strike="noStrike" spc="-1" dirty="0">
                <a:solidFill>
                  <a:srgbClr val="3F3F3F"/>
                </a:solidFill>
                <a:ea typeface="DejaVu Sans"/>
              </a:rPr>
              <a:t>.</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endParaRPr lang="en-US" altLang="zh-TW" sz="2400" b="0" strike="noStrike" spc="-1" dirty="0"/>
          </a:p>
        </p:txBody>
      </p:sp>
      <p:pic>
        <p:nvPicPr>
          <p:cNvPr id="7" name="圖片 6">
            <a:extLst>
              <a:ext uri="{FF2B5EF4-FFF2-40B4-BE49-F238E27FC236}">
                <a16:creationId xmlns:a16="http://schemas.microsoft.com/office/drawing/2014/main" id="{E0B6E034-16ED-44DE-B222-2A678F0C4061}"/>
              </a:ext>
            </a:extLst>
          </p:cNvPr>
          <p:cNvPicPr>
            <a:picLocks noChangeAspect="1"/>
          </p:cNvPicPr>
          <p:nvPr/>
        </p:nvPicPr>
        <p:blipFill>
          <a:blip r:embed="rId2"/>
          <a:stretch>
            <a:fillRect/>
          </a:stretch>
        </p:blipFill>
        <p:spPr>
          <a:xfrm>
            <a:off x="3154007" y="2955006"/>
            <a:ext cx="4886325" cy="3514725"/>
          </a:xfrm>
          <a:prstGeom prst="rect">
            <a:avLst/>
          </a:prstGeom>
        </p:spPr>
      </p:pic>
    </p:spTree>
    <p:extLst>
      <p:ext uri="{BB962C8B-B14F-4D97-AF65-F5344CB8AC3E}">
        <p14:creationId xmlns:p14="http://schemas.microsoft.com/office/powerpoint/2010/main" val="1449661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UBA Configuration (PEI)</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27314" y="1398494"/>
            <a:ext cx="6557211" cy="4778469"/>
          </a:xfrm>
        </p:spPr>
        <p:txBody>
          <a:bodyPr>
            <a:normAutofit/>
          </a:bodyPr>
          <a:lstStyle/>
          <a:p>
            <a:pPr>
              <a:lnSpc>
                <a:spcPct val="90000"/>
              </a:lnSpc>
              <a:spcBef>
                <a:spcPts val="1001"/>
              </a:spcBef>
            </a:pPr>
            <a:r>
              <a:rPr lang="en-US" altLang="zh-TW" sz="2000" b="0" strike="noStrike" spc="-1" dirty="0" err="1">
                <a:solidFill>
                  <a:srgbClr val="3F3F3F"/>
                </a:solidFill>
                <a:ea typeface="DejaVu Sans"/>
              </a:rPr>
              <a:t>PeiUbaPlatLib</a:t>
            </a:r>
            <a:endParaRPr lang="en-US" altLang="zh-TW" sz="2000" b="0" strike="noStrike" spc="-1" dirty="0"/>
          </a:p>
          <a:p>
            <a:pPr>
              <a:lnSpc>
                <a:spcPct val="90000"/>
              </a:lnSpc>
              <a:spcBef>
                <a:spcPts val="1001"/>
              </a:spcBef>
            </a:pPr>
            <a:r>
              <a:rPr lang="en-US" altLang="zh-TW" sz="2000" b="0" strike="noStrike" spc="-1" dirty="0">
                <a:solidFill>
                  <a:srgbClr val="3F3F3F"/>
                </a:solidFill>
                <a:ea typeface="DejaVu Sans"/>
              </a:rPr>
              <a:t>This library will get configurations from UBA node and initialize platform.</a:t>
            </a:r>
            <a:endParaRPr lang="en-US" altLang="zh-TW" sz="2000" b="0" strike="noStrike" spc="-1" dirty="0"/>
          </a:p>
          <a:p>
            <a:pPr>
              <a:lnSpc>
                <a:spcPct val="90000"/>
              </a:lnSpc>
              <a:spcBef>
                <a:spcPts val="1001"/>
              </a:spcBef>
            </a:pPr>
            <a:endParaRPr lang="en-US" altLang="zh-TW" sz="2000" b="0" strike="noStrike" spc="-1" dirty="0"/>
          </a:p>
          <a:p>
            <a:pPr>
              <a:lnSpc>
                <a:spcPct val="90000"/>
              </a:lnSpc>
              <a:spcBef>
                <a:spcPts val="1001"/>
              </a:spcBef>
            </a:pPr>
            <a:r>
              <a:rPr lang="en-US" altLang="zh-TW" sz="2000" b="0" strike="noStrike" spc="-1" dirty="0">
                <a:solidFill>
                  <a:srgbClr val="3F3F3F"/>
                </a:solidFill>
                <a:ea typeface="DejaVu Sans"/>
              </a:rPr>
              <a:t>EX: Intel\</a:t>
            </a:r>
            <a:r>
              <a:rPr lang="en-US" altLang="zh-TW" sz="2000" b="0" strike="noStrike" spc="-1" dirty="0" err="1">
                <a:solidFill>
                  <a:srgbClr val="3F3F3F"/>
                </a:solidFill>
                <a:ea typeface="DejaVu Sans"/>
              </a:rPr>
              <a:t>EagleStream</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ServerPlatformPkg</a:t>
            </a:r>
            <a:r>
              <a:rPr lang="en-US" altLang="zh-TW" sz="2000" b="0" strike="noStrike" spc="-1" dirty="0">
                <a:solidFill>
                  <a:srgbClr val="3F3F3F"/>
                </a:solidFill>
                <a:ea typeface="DejaVu Sans"/>
              </a:rPr>
              <a:t>\Platform\Pei\</a:t>
            </a:r>
            <a:r>
              <a:rPr lang="en-US" altLang="zh-TW" sz="2000" b="0" strike="noStrike" spc="-1" dirty="0" err="1">
                <a:solidFill>
                  <a:srgbClr val="3F3F3F"/>
                </a:solidFill>
                <a:ea typeface="DejaVu Sans"/>
              </a:rPr>
              <a:t>PlatformInit</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PlatformInit.c</a:t>
            </a:r>
            <a:r>
              <a:rPr lang="en-US" altLang="zh-TW" sz="2000" b="0" strike="noStrike" spc="-1" dirty="0">
                <a:solidFill>
                  <a:srgbClr val="3F3F3F"/>
                </a:solidFill>
                <a:ea typeface="DejaVu Sans"/>
              </a:rPr>
              <a:t> </a:t>
            </a:r>
            <a:br>
              <a:rPr lang="en-US" altLang="zh-TW" sz="2000" b="0" strike="noStrike" spc="-1" dirty="0">
                <a:solidFill>
                  <a:srgbClr val="3F3F3F"/>
                </a:solidFill>
                <a:ea typeface="DejaVu Sans"/>
              </a:rPr>
            </a:b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PlatformInitEntryPoint</a:t>
            </a:r>
            <a:r>
              <a:rPr lang="en-US" altLang="zh-TW" sz="2000" b="0" strike="noStrike" spc="-1" dirty="0">
                <a:solidFill>
                  <a:srgbClr val="3F3F3F"/>
                </a:solidFill>
                <a:ea typeface="DejaVu Sans"/>
              </a:rPr>
              <a:t>() </a:t>
            </a:r>
            <a:br>
              <a:rPr lang="en-US" altLang="zh-TW" sz="2000" b="0" strike="noStrike" spc="-1" dirty="0">
                <a:solidFill>
                  <a:srgbClr val="3F3F3F"/>
                </a:solidFill>
                <a:ea typeface="DejaVu Sans"/>
              </a:rPr>
            </a:b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PeiPolicyInit</a:t>
            </a:r>
            <a:r>
              <a:rPr lang="en-US" altLang="zh-TW" sz="2000" b="0" strike="noStrike" spc="-1" dirty="0">
                <a:solidFill>
                  <a:srgbClr val="3F3F3F"/>
                </a:solidFill>
                <a:ea typeface="DejaVu Sans"/>
              </a:rPr>
              <a:t>() </a:t>
            </a:r>
            <a:br>
              <a:rPr lang="en-US" altLang="zh-TW" sz="2000" b="0" strike="noStrike" spc="-1" dirty="0">
                <a:solidFill>
                  <a:srgbClr val="3F3F3F"/>
                </a:solidFill>
                <a:ea typeface="DejaVu Sans"/>
              </a:rPr>
            </a:b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UpdatePeiPchPolicy</a:t>
            </a:r>
            <a:r>
              <a:rPr lang="en-US" altLang="zh-TW" sz="2000" b="0" strike="noStrike" spc="-1" dirty="0">
                <a:solidFill>
                  <a:srgbClr val="3F3F3F"/>
                </a:solidFill>
                <a:ea typeface="DejaVu Sans"/>
              </a:rPr>
              <a:t>() </a:t>
            </a:r>
            <a:br>
              <a:rPr lang="en-US" altLang="zh-TW" sz="2000" b="0" strike="noStrike" spc="-1" dirty="0">
                <a:solidFill>
                  <a:srgbClr val="3F3F3F"/>
                </a:solidFill>
                <a:ea typeface="DejaVu Sans"/>
              </a:rPr>
            </a:b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UpdatePcieRpConfig</a:t>
            </a:r>
            <a:r>
              <a:rPr lang="en-US" altLang="zh-TW" sz="2000" b="0" strike="noStrike" spc="-1" dirty="0">
                <a:solidFill>
                  <a:srgbClr val="3F3F3F"/>
                </a:solidFill>
                <a:ea typeface="DejaVu Sans"/>
              </a:rPr>
              <a:t>() </a:t>
            </a:r>
            <a:br>
              <a:rPr lang="en-US" altLang="zh-TW" sz="2000" b="0" strike="noStrike" spc="-1" dirty="0">
                <a:solidFill>
                  <a:srgbClr val="3F3F3F"/>
                </a:solidFill>
                <a:ea typeface="DejaVu Sans"/>
              </a:rPr>
            </a:br>
            <a:r>
              <a:rPr lang="en-US" altLang="zh-TW" sz="2000" b="0" strike="noStrike" spc="-1" dirty="0">
                <a:solidFill>
                  <a:srgbClr val="3F3F3F"/>
                </a:solidFill>
                <a:ea typeface="DejaVu Sans"/>
              </a:rPr>
              <a:t>→</a:t>
            </a:r>
            <a:r>
              <a:rPr lang="en-US" altLang="zh-TW" sz="2000" b="0" strike="noStrike" spc="-1" dirty="0" err="1">
                <a:solidFill>
                  <a:srgbClr val="FF0000"/>
                </a:solidFill>
                <a:ea typeface="DejaVu Sans"/>
              </a:rPr>
              <a:t>PlatformGetPchPcieBifurcationConfig</a:t>
            </a:r>
            <a:r>
              <a:rPr lang="en-US" altLang="zh-TW" sz="2000" b="0" strike="noStrike" spc="-1" dirty="0">
                <a:solidFill>
                  <a:srgbClr val="FF0000"/>
                </a:solidFill>
                <a:ea typeface="DejaVu Sans"/>
              </a:rPr>
              <a:t>()</a:t>
            </a:r>
          </a:p>
        </p:txBody>
      </p:sp>
      <p:pic>
        <p:nvPicPr>
          <p:cNvPr id="6" name="圖片 5">
            <a:extLst>
              <a:ext uri="{FF2B5EF4-FFF2-40B4-BE49-F238E27FC236}">
                <a16:creationId xmlns:a16="http://schemas.microsoft.com/office/drawing/2014/main" id="{4248F975-7580-6FAC-7625-87C5852C7B60}"/>
              </a:ext>
            </a:extLst>
          </p:cNvPr>
          <p:cNvPicPr>
            <a:picLocks noChangeAspect="1"/>
          </p:cNvPicPr>
          <p:nvPr/>
        </p:nvPicPr>
        <p:blipFill>
          <a:blip r:embed="rId2"/>
          <a:stretch>
            <a:fillRect/>
          </a:stretch>
        </p:blipFill>
        <p:spPr>
          <a:xfrm>
            <a:off x="7602638" y="1812002"/>
            <a:ext cx="4251567" cy="3036833"/>
          </a:xfrm>
          <a:prstGeom prst="rect">
            <a:avLst/>
          </a:prstGeom>
        </p:spPr>
      </p:pic>
    </p:spTree>
    <p:extLst>
      <p:ext uri="{BB962C8B-B14F-4D97-AF65-F5344CB8AC3E}">
        <p14:creationId xmlns:p14="http://schemas.microsoft.com/office/powerpoint/2010/main" val="3351229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UBA Configuration (DXE)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6813885" cy="4778469"/>
          </a:xfrm>
        </p:spPr>
        <p:txBody>
          <a:bodyPr>
            <a:normAutofit/>
          </a:bodyPr>
          <a:lstStyle/>
          <a:p>
            <a:pPr>
              <a:lnSpc>
                <a:spcPct val="90000"/>
              </a:lnSpc>
              <a:spcBef>
                <a:spcPts val="1001"/>
              </a:spcBef>
            </a:pPr>
            <a:r>
              <a:rPr lang="en-US" altLang="zh-TW" sz="2400" b="0" strike="noStrike" spc="-1" dirty="0">
                <a:solidFill>
                  <a:srgbClr val="3F3F3F"/>
                </a:solidFill>
                <a:ea typeface="DejaVu Sans"/>
              </a:rPr>
              <a:t>Take “</a:t>
            </a:r>
            <a:r>
              <a:rPr lang="en-US" altLang="zh-TW" sz="2400" b="0" strike="noStrike" spc="-1" dirty="0" err="1">
                <a:solidFill>
                  <a:srgbClr val="3F3F3F"/>
                </a:solidFill>
                <a:ea typeface="DejaVu Sans"/>
              </a:rPr>
              <a:t>TypeArcherCityRP</a:t>
            </a: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Dxe</a:t>
            </a:r>
            <a:r>
              <a:rPr lang="en-US" altLang="zh-TW" sz="2400" b="0" strike="noStrike" spc="-1" dirty="0">
                <a:solidFill>
                  <a:srgbClr val="3F3F3F"/>
                </a:solidFill>
                <a:ea typeface="DejaVu Sans"/>
              </a:rPr>
              <a:t>” for example. After installing </a:t>
            </a:r>
            <a:r>
              <a:rPr lang="en-US" altLang="zh-TW" sz="2400" b="0" strike="noStrike" spc="-1" dirty="0" err="1">
                <a:solidFill>
                  <a:srgbClr val="3F3F3F"/>
                </a:solidFill>
                <a:ea typeface="DejaVu Sans"/>
              </a:rPr>
              <a:t>UbaCfgDbProtocol</a:t>
            </a:r>
            <a:r>
              <a:rPr lang="en-US" altLang="zh-TW" sz="2400" b="0" strike="noStrike" spc="-1" dirty="0">
                <a:solidFill>
                  <a:srgbClr val="3F3F3F"/>
                </a:solidFill>
                <a:ea typeface="DejaVu Sans"/>
              </a:rPr>
              <a:t>, Re-creating UBA DB from Hob, and loading </a:t>
            </a:r>
            <a:r>
              <a:rPr lang="en-US" altLang="zh-TW" sz="2400" b="0" strike="noStrike" spc="-1" dirty="0" err="1">
                <a:solidFill>
                  <a:srgbClr val="3F3F3F"/>
                </a:solidFill>
                <a:ea typeface="DejaVu Sans"/>
              </a:rPr>
              <a:t>BoardInitDxe</a:t>
            </a:r>
            <a:r>
              <a:rPr lang="en-US" altLang="zh-TW" sz="2400" b="0" strike="noStrike" spc="-1" dirty="0">
                <a:solidFill>
                  <a:srgbClr val="3F3F3F"/>
                </a:solidFill>
                <a:ea typeface="DejaVu Sans"/>
              </a:rPr>
              <a:t> driver, that install ”</a:t>
            </a:r>
            <a:r>
              <a:rPr lang="en-US" altLang="zh-TW" sz="2400" b="0" strike="noStrike" spc="-1" dirty="0" err="1">
                <a:solidFill>
                  <a:srgbClr val="3F3F3F"/>
                </a:solidFill>
                <a:ea typeface="DejaVu Sans"/>
              </a:rPr>
              <a:t>PlatformTypeXX</a:t>
            </a:r>
            <a:r>
              <a:rPr lang="en-US" altLang="zh-TW" sz="2400" b="0" strike="noStrike" spc="-1" dirty="0">
                <a:solidFill>
                  <a:srgbClr val="3F3F3F"/>
                </a:solidFill>
                <a:ea typeface="DejaVu Sans"/>
              </a:rPr>
              <a:t>” protocol.</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TypeArcherCityRP</a:t>
            </a: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Dxe</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Dxe</a:t>
            </a:r>
            <a:r>
              <a:rPr lang="en-US" altLang="zh-TW" sz="2400" b="0" strike="noStrike" spc="-1" dirty="0">
                <a:solidFill>
                  <a:srgbClr val="3F3F3F"/>
                </a:solidFill>
                <a:ea typeface="DejaVu Sans"/>
              </a:rPr>
              <a:t> driver will depend on specific protocol which is installed by </a:t>
            </a:r>
            <a:r>
              <a:rPr lang="en-US" altLang="zh-TW" sz="2400" b="0" strike="noStrike" spc="-1" dirty="0" err="1">
                <a:solidFill>
                  <a:srgbClr val="3F3F3F"/>
                </a:solidFill>
                <a:ea typeface="DejaVu Sans"/>
              </a:rPr>
              <a:t>BoardInitDxe</a:t>
            </a:r>
            <a:r>
              <a:rPr lang="en-US" altLang="zh-TW" sz="2400" b="0" strike="noStrike" spc="-1" dirty="0">
                <a:solidFill>
                  <a:srgbClr val="3F3F3F"/>
                </a:solidFill>
                <a:ea typeface="DejaVu Sans"/>
              </a:rPr>
              <a:t> driver to loading.</a:t>
            </a:r>
            <a:endParaRPr lang="en-US" altLang="zh-TW" sz="2400" b="0" strike="noStrike" spc="-1" dirty="0"/>
          </a:p>
        </p:txBody>
      </p:sp>
      <p:pic>
        <p:nvPicPr>
          <p:cNvPr id="6" name="圖片 5">
            <a:extLst>
              <a:ext uri="{FF2B5EF4-FFF2-40B4-BE49-F238E27FC236}">
                <a16:creationId xmlns:a16="http://schemas.microsoft.com/office/drawing/2014/main" id="{E6735E58-B845-0198-E078-8A6BA0DC1D2B}"/>
              </a:ext>
            </a:extLst>
          </p:cNvPr>
          <p:cNvPicPr>
            <a:picLocks noChangeAspect="1"/>
          </p:cNvPicPr>
          <p:nvPr/>
        </p:nvPicPr>
        <p:blipFill>
          <a:blip r:embed="rId2"/>
          <a:stretch>
            <a:fillRect/>
          </a:stretch>
        </p:blipFill>
        <p:spPr>
          <a:xfrm>
            <a:off x="8045325" y="2241757"/>
            <a:ext cx="2829320" cy="1619476"/>
          </a:xfrm>
          <a:prstGeom prst="rect">
            <a:avLst/>
          </a:prstGeom>
        </p:spPr>
      </p:pic>
    </p:spTree>
    <p:extLst>
      <p:ext uri="{BB962C8B-B14F-4D97-AF65-F5344CB8AC3E}">
        <p14:creationId xmlns:p14="http://schemas.microsoft.com/office/powerpoint/2010/main" val="3045017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15</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Flow Diagram</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Flow Diagram</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pPr marL="228600" indent="-226440">
              <a:lnSpc>
                <a:spcPct val="90000"/>
              </a:lnSpc>
              <a:spcBef>
                <a:spcPts val="1001"/>
              </a:spcBef>
              <a:buClr>
                <a:srgbClr val="3F3F3F"/>
              </a:buClr>
              <a:buFont typeface="Arial"/>
              <a:buChar char="•"/>
            </a:pPr>
            <a:r>
              <a:rPr lang="en-US" altLang="zh-TW" sz="2400" b="0" strike="noStrike" spc="-1" dirty="0">
                <a:solidFill>
                  <a:srgbClr val="3F3F3F"/>
                </a:solidFill>
                <a:ea typeface="DejaVu Sans"/>
              </a:rPr>
              <a:t>PEI</a:t>
            </a:r>
            <a:endParaRPr lang="en-US" altLang="zh-TW" sz="2400" b="0" strike="noStrike" spc="-1" dirty="0"/>
          </a:p>
          <a:p>
            <a:pPr>
              <a:lnSpc>
                <a:spcPct val="90000"/>
              </a:lnSpc>
              <a:spcBef>
                <a:spcPts val="1001"/>
              </a:spcBef>
            </a:pPr>
            <a:endParaRPr lang="en-US" altLang="zh-TW" sz="2400" b="0" strike="noStrike" spc="-1" dirty="0"/>
          </a:p>
        </p:txBody>
      </p:sp>
      <p:pic>
        <p:nvPicPr>
          <p:cNvPr id="7" name="圖片 6">
            <a:extLst>
              <a:ext uri="{FF2B5EF4-FFF2-40B4-BE49-F238E27FC236}">
                <a16:creationId xmlns:a16="http://schemas.microsoft.com/office/drawing/2014/main" id="{2E6E8D84-BE0C-477A-9FE7-9B9F22C51BA3}"/>
              </a:ext>
            </a:extLst>
          </p:cNvPr>
          <p:cNvPicPr/>
          <p:nvPr/>
        </p:nvPicPr>
        <p:blipFill>
          <a:blip r:embed="rId3"/>
          <a:stretch/>
        </p:blipFill>
        <p:spPr>
          <a:xfrm>
            <a:off x="6927221" y="205986"/>
            <a:ext cx="4920000" cy="6411549"/>
          </a:xfrm>
          <a:prstGeom prst="rect">
            <a:avLst/>
          </a:prstGeom>
          <a:ln>
            <a:noFill/>
          </a:ln>
        </p:spPr>
      </p:pic>
      <p:pic>
        <p:nvPicPr>
          <p:cNvPr id="19" name="圖片 18">
            <a:extLst>
              <a:ext uri="{FF2B5EF4-FFF2-40B4-BE49-F238E27FC236}">
                <a16:creationId xmlns:a16="http://schemas.microsoft.com/office/drawing/2014/main" id="{28C1D3A5-317B-4E12-8728-25F3E436EEF9}"/>
              </a:ext>
            </a:extLst>
          </p:cNvPr>
          <p:cNvPicPr>
            <a:picLocks noChangeAspect="1"/>
          </p:cNvPicPr>
          <p:nvPr/>
        </p:nvPicPr>
        <p:blipFill>
          <a:blip r:embed="rId4"/>
          <a:stretch>
            <a:fillRect/>
          </a:stretch>
        </p:blipFill>
        <p:spPr>
          <a:xfrm>
            <a:off x="1049891" y="1727029"/>
            <a:ext cx="5391150" cy="4572000"/>
          </a:xfrm>
          <a:prstGeom prst="rect">
            <a:avLst/>
          </a:prstGeom>
        </p:spPr>
      </p:pic>
    </p:spTree>
    <p:extLst>
      <p:ext uri="{BB962C8B-B14F-4D97-AF65-F5344CB8AC3E}">
        <p14:creationId xmlns:p14="http://schemas.microsoft.com/office/powerpoint/2010/main" val="2152331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95838-8835-40FC-876C-14E5E3895F5C}"/>
              </a:ext>
            </a:extLst>
          </p:cNvPr>
          <p:cNvSpPr>
            <a:spLocks noGrp="1"/>
          </p:cNvSpPr>
          <p:nvPr>
            <p:ph type="title"/>
          </p:nvPr>
        </p:nvSpPr>
        <p:spPr/>
        <p:txBody>
          <a:bodyPr/>
          <a:lstStyle/>
          <a:p>
            <a:r>
              <a:rPr lang="en-US" altLang="zh-TW" dirty="0"/>
              <a:t>UBA driver (PEI)</a:t>
            </a:r>
            <a:endParaRPr lang="zh-TW" altLang="en-US" dirty="0"/>
          </a:p>
        </p:txBody>
      </p:sp>
      <p:sp>
        <p:nvSpPr>
          <p:cNvPr id="3" name="內容版面配置區 2">
            <a:extLst>
              <a:ext uri="{FF2B5EF4-FFF2-40B4-BE49-F238E27FC236}">
                <a16:creationId xmlns:a16="http://schemas.microsoft.com/office/drawing/2014/main" id="{C51F29FB-9809-4C5C-8443-B13BFCF66026}"/>
              </a:ext>
            </a:extLst>
          </p:cNvPr>
          <p:cNvSpPr>
            <a:spLocks noGrp="1"/>
          </p:cNvSpPr>
          <p:nvPr>
            <p:ph idx="1"/>
          </p:nvPr>
        </p:nvSpPr>
        <p:spPr>
          <a:xfrm>
            <a:off x="838200" y="1398494"/>
            <a:ext cx="9444789" cy="4778469"/>
          </a:xfrm>
        </p:spPr>
        <p:txBody>
          <a:bodyPr>
            <a:normAutofit/>
          </a:bodyPr>
          <a:lstStyle/>
          <a:p>
            <a:pPr marL="228600" indent="-226440">
              <a:lnSpc>
                <a:spcPct val="90000"/>
              </a:lnSpc>
              <a:spcBef>
                <a:spcPts val="1001"/>
              </a:spcBef>
              <a:buClr>
                <a:srgbClr val="3F3F3F"/>
              </a:buClr>
              <a:buFont typeface="Arial"/>
              <a:buChar char="•"/>
            </a:pPr>
            <a:r>
              <a:rPr lang="en-US" altLang="zh-TW" sz="2400" b="0" strike="noStrike" spc="-1" dirty="0">
                <a:solidFill>
                  <a:srgbClr val="3F3F3F"/>
                </a:solidFill>
                <a:ea typeface="DejaVu Sans"/>
              </a:rPr>
              <a:t>Board </a:t>
            </a:r>
            <a:r>
              <a:rPr lang="en-US" altLang="zh-TW" sz="2400" spc="-1" dirty="0">
                <a:solidFill>
                  <a:srgbClr val="3F3F3F"/>
                </a:solidFill>
                <a:ea typeface="DejaVu Sans"/>
              </a:rPr>
              <a:t>\</a:t>
            </a:r>
            <a:r>
              <a:rPr lang="en-US" altLang="zh-TW" sz="2400" b="0" strike="noStrike" spc="-1" dirty="0">
                <a:solidFill>
                  <a:srgbClr val="3F3F3F"/>
                </a:solidFill>
                <a:ea typeface="DejaVu Sans"/>
              </a:rPr>
              <a:t>Intel → </a:t>
            </a:r>
            <a:r>
              <a:rPr lang="en-US" altLang="zh-TW" sz="2400" b="0" strike="noStrike" spc="-1" dirty="0" err="1">
                <a:solidFill>
                  <a:srgbClr val="3F3F3F"/>
                </a:solidFill>
                <a:ea typeface="DejaVu Sans"/>
              </a:rPr>
              <a:t>EagleStreamMultiBoardPkg</a:t>
            </a:r>
            <a:r>
              <a:rPr lang="en-US" altLang="zh-TW" sz="2400" b="0" strike="noStrike" spc="-1" dirty="0">
                <a:solidFill>
                  <a:srgbClr val="3F3F3F"/>
                </a:solidFill>
                <a:ea typeface="DejaVu Sans"/>
              </a:rPr>
              <a:t> → </a:t>
            </a:r>
            <a:r>
              <a:rPr lang="en-US" altLang="zh-TW" sz="2400" b="0" strike="noStrike" spc="-1" dirty="0" err="1">
                <a:solidFill>
                  <a:srgbClr val="3F3F3F"/>
                </a:solidFill>
                <a:ea typeface="DejaVu Sans"/>
              </a:rPr>
              <a:t>Uba→BoardInit→Pei</a:t>
            </a:r>
            <a:endParaRPr lang="en-US" altLang="zh-TW" sz="2400" b="0" strike="noStrike" spc="-1" dirty="0"/>
          </a:p>
          <a:p>
            <a:pPr marL="648000" lvl="2" indent="-214560">
              <a:lnSpc>
                <a:spcPct val="90000"/>
              </a:lnSpc>
              <a:spcBef>
                <a:spcPts val="1001"/>
              </a:spcBef>
              <a:buClr>
                <a:srgbClr val="000000"/>
              </a:buClr>
              <a:buSzPct val="45000"/>
              <a:buFont typeface="Wingdings" charset="2"/>
              <a:buChar char=""/>
            </a:pPr>
            <a:r>
              <a:rPr lang="en-US" altLang="zh-TW" sz="2400" b="0" strike="noStrike" spc="-1" dirty="0">
                <a:solidFill>
                  <a:srgbClr val="3F3F3F"/>
                </a:solidFill>
                <a:ea typeface="DejaVu Sans"/>
              </a:rPr>
              <a:t>After installing board specific configuration data, this driver will install </a:t>
            </a:r>
            <a:r>
              <a:rPr lang="en-US" altLang="zh-TW" sz="2400" b="0" strike="noStrike" spc="-1" dirty="0" err="1">
                <a:solidFill>
                  <a:srgbClr val="3F3F3F"/>
                </a:solidFill>
                <a:ea typeface="DejaVu Sans"/>
              </a:rPr>
              <a:t>gBoardInitGuid</a:t>
            </a:r>
            <a:r>
              <a:rPr lang="en-US" altLang="zh-TW" sz="2400" b="0" strike="noStrike" spc="-1" dirty="0">
                <a:solidFill>
                  <a:srgbClr val="3F3F3F"/>
                </a:solidFill>
                <a:ea typeface="DejaVu Sans"/>
              </a:rPr>
              <a:t> </a:t>
            </a:r>
            <a:r>
              <a:rPr lang="en-US" altLang="zh-TW" sz="2400" b="0" strike="noStrike" spc="-1" dirty="0" err="1">
                <a:solidFill>
                  <a:srgbClr val="3F3F3F"/>
                </a:solidFill>
                <a:ea typeface="DejaVu Sans"/>
              </a:rPr>
              <a:t>Ppi</a:t>
            </a:r>
            <a:r>
              <a:rPr lang="en-US" altLang="zh-TW" sz="2400" b="0" strike="noStrike" spc="-1" dirty="0">
                <a:solidFill>
                  <a:srgbClr val="3F3F3F"/>
                </a:solidFill>
                <a:ea typeface="DejaVu Sans"/>
              </a:rPr>
              <a:t>.</a:t>
            </a:r>
            <a:endParaRPr lang="en-US" altLang="zh-TW" sz="2400" b="0" strike="noStrike" spc="-1" dirty="0"/>
          </a:p>
          <a:p>
            <a:pPr marL="228600" indent="-226440">
              <a:lnSpc>
                <a:spcPct val="90000"/>
              </a:lnSpc>
              <a:spcBef>
                <a:spcPts val="1001"/>
              </a:spcBef>
              <a:buClr>
                <a:srgbClr val="3F3F3F"/>
              </a:buClr>
              <a:buFont typeface="Arial"/>
              <a:buChar char="•"/>
            </a:pPr>
            <a:r>
              <a:rPr lang="en-US" altLang="zh-TW" sz="2400" b="0" strike="noStrike" spc="-1" dirty="0" err="1">
                <a:solidFill>
                  <a:srgbClr val="3F3F3F"/>
                </a:solidFill>
                <a:ea typeface="DejaVu Sans"/>
              </a:rPr>
              <a:t>Intel→EagleStream→ServerPlatformPkg→Uba→CfgDb→Pei</a:t>
            </a:r>
            <a:endParaRPr lang="en-US" altLang="zh-TW" sz="2400" b="0" strike="noStrike" spc="-1" dirty="0"/>
          </a:p>
          <a:p>
            <a:pPr marL="648000" lvl="2" indent="-214560">
              <a:lnSpc>
                <a:spcPct val="90000"/>
              </a:lnSpc>
              <a:spcBef>
                <a:spcPts val="1001"/>
              </a:spcBef>
              <a:buClr>
                <a:srgbClr val="000000"/>
              </a:buClr>
              <a:buSzPct val="45000"/>
              <a:buFont typeface="Wingdings" charset="2"/>
              <a:buChar char=""/>
            </a:pPr>
            <a:r>
              <a:rPr lang="en-US" altLang="zh-TW" sz="2400" b="0" strike="noStrike" spc="-1" dirty="0">
                <a:solidFill>
                  <a:srgbClr val="3F3F3F"/>
                </a:solidFill>
                <a:ea typeface="DejaVu Sans"/>
              </a:rPr>
              <a:t>Installing </a:t>
            </a:r>
            <a:r>
              <a:rPr lang="en-US" altLang="zh-TW" sz="2400" b="0" strike="noStrike" spc="-1" dirty="0" err="1">
                <a:solidFill>
                  <a:srgbClr val="3F3F3F"/>
                </a:solidFill>
                <a:ea typeface="DejaVu Sans"/>
              </a:rPr>
              <a:t>gUbaConfigDatabasePpiGuid</a:t>
            </a:r>
            <a:r>
              <a:rPr lang="en-US" altLang="zh-TW" sz="2400" b="0" strike="noStrike" spc="-1" dirty="0">
                <a:solidFill>
                  <a:srgbClr val="3F3F3F"/>
                </a:solidFill>
                <a:ea typeface="DejaVu Sans"/>
              </a:rPr>
              <a:t> for initialization board </a:t>
            </a:r>
            <a:r>
              <a:rPr lang="en-US" altLang="zh-TW" sz="2400" b="0" strike="noStrike" spc="-1" dirty="0" err="1">
                <a:solidFill>
                  <a:srgbClr val="3F3F3F"/>
                </a:solidFill>
                <a:ea typeface="DejaVu Sans"/>
              </a:rPr>
              <a:t>confguration</a:t>
            </a:r>
            <a:r>
              <a:rPr lang="en-US" altLang="zh-TW" sz="2400" b="0" strike="noStrike" spc="-1" dirty="0">
                <a:solidFill>
                  <a:srgbClr val="3F3F3F"/>
                </a:solidFill>
                <a:ea typeface="DejaVu Sans"/>
              </a:rPr>
              <a:t> data.</a:t>
            </a:r>
            <a:endParaRPr lang="en-US" altLang="zh-TW" sz="2400" b="0" strike="noStrike" spc="-1" dirty="0"/>
          </a:p>
          <a:p>
            <a:pPr marL="648000" lvl="2" indent="-214560">
              <a:lnSpc>
                <a:spcPct val="90000"/>
              </a:lnSpc>
              <a:spcBef>
                <a:spcPts val="1001"/>
              </a:spcBef>
              <a:buClr>
                <a:srgbClr val="000000"/>
              </a:buClr>
              <a:buSzPct val="45000"/>
              <a:buFont typeface="Wingdings" charset="2"/>
              <a:buChar char=""/>
            </a:pPr>
            <a:r>
              <a:rPr lang="en-US" altLang="zh-TW" sz="2400" b="0" strike="noStrike" spc="-1" dirty="0">
                <a:solidFill>
                  <a:srgbClr val="3F3F3F"/>
                </a:solidFill>
                <a:ea typeface="DejaVu Sans"/>
              </a:rPr>
              <a:t>Installing notify function, this call back function build data hob, it will pass to DXE driver.</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endParaRPr lang="en-US" altLang="zh-TW" sz="2400" b="0" strike="noStrike" spc="-1" dirty="0"/>
          </a:p>
        </p:txBody>
      </p:sp>
      <p:pic>
        <p:nvPicPr>
          <p:cNvPr id="5" name="圖片 4">
            <a:extLst>
              <a:ext uri="{FF2B5EF4-FFF2-40B4-BE49-F238E27FC236}">
                <a16:creationId xmlns:a16="http://schemas.microsoft.com/office/drawing/2014/main" id="{C4B0D510-503B-4317-84D8-21792A64811F}"/>
              </a:ext>
            </a:extLst>
          </p:cNvPr>
          <p:cNvPicPr>
            <a:picLocks noChangeAspect="1"/>
          </p:cNvPicPr>
          <p:nvPr/>
        </p:nvPicPr>
        <p:blipFill>
          <a:blip r:embed="rId2"/>
          <a:stretch>
            <a:fillRect/>
          </a:stretch>
        </p:blipFill>
        <p:spPr>
          <a:xfrm>
            <a:off x="10372724" y="2760364"/>
            <a:ext cx="1387363" cy="1222528"/>
          </a:xfrm>
          <a:prstGeom prst="rect">
            <a:avLst/>
          </a:prstGeom>
        </p:spPr>
      </p:pic>
      <p:pic>
        <p:nvPicPr>
          <p:cNvPr id="6" name="圖片 5">
            <a:extLst>
              <a:ext uri="{FF2B5EF4-FFF2-40B4-BE49-F238E27FC236}">
                <a16:creationId xmlns:a16="http://schemas.microsoft.com/office/drawing/2014/main" id="{D2320252-F92D-4FDE-8591-0773581F24D7}"/>
              </a:ext>
            </a:extLst>
          </p:cNvPr>
          <p:cNvPicPr>
            <a:picLocks noChangeAspect="1"/>
          </p:cNvPicPr>
          <p:nvPr/>
        </p:nvPicPr>
        <p:blipFill>
          <a:blip r:embed="rId3"/>
          <a:stretch>
            <a:fillRect/>
          </a:stretch>
        </p:blipFill>
        <p:spPr>
          <a:xfrm>
            <a:off x="10372725" y="1398494"/>
            <a:ext cx="1387363" cy="1279606"/>
          </a:xfrm>
          <a:prstGeom prst="rect">
            <a:avLst/>
          </a:prstGeom>
        </p:spPr>
      </p:pic>
    </p:spTree>
    <p:extLst>
      <p:ext uri="{BB962C8B-B14F-4D97-AF65-F5344CB8AC3E}">
        <p14:creationId xmlns:p14="http://schemas.microsoft.com/office/powerpoint/2010/main" val="2867358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95838-8835-40FC-876C-14E5E3895F5C}"/>
              </a:ext>
            </a:extLst>
          </p:cNvPr>
          <p:cNvSpPr>
            <a:spLocks noGrp="1"/>
          </p:cNvSpPr>
          <p:nvPr>
            <p:ph type="title"/>
          </p:nvPr>
        </p:nvSpPr>
        <p:spPr/>
        <p:txBody>
          <a:bodyPr/>
          <a:lstStyle/>
          <a:p>
            <a:r>
              <a:rPr lang="en-US" altLang="zh-TW" dirty="0"/>
              <a:t>UBA driver (PEI) - 2</a:t>
            </a:r>
            <a:endParaRPr lang="zh-TW" altLang="en-US" dirty="0"/>
          </a:p>
        </p:txBody>
      </p:sp>
      <p:sp>
        <p:nvSpPr>
          <p:cNvPr id="3" name="內容版面配置區 2">
            <a:extLst>
              <a:ext uri="{FF2B5EF4-FFF2-40B4-BE49-F238E27FC236}">
                <a16:creationId xmlns:a16="http://schemas.microsoft.com/office/drawing/2014/main" id="{C51F29FB-9809-4C5C-8443-B13BFCF66026}"/>
              </a:ext>
            </a:extLst>
          </p:cNvPr>
          <p:cNvSpPr>
            <a:spLocks noGrp="1"/>
          </p:cNvSpPr>
          <p:nvPr>
            <p:ph idx="1"/>
          </p:nvPr>
        </p:nvSpPr>
        <p:spPr>
          <a:xfrm>
            <a:off x="838201" y="1398494"/>
            <a:ext cx="8353926" cy="4778469"/>
          </a:xfrm>
        </p:spPr>
        <p:txBody>
          <a:bodyPr>
            <a:normAutofit/>
          </a:bodyPr>
          <a:lstStyle/>
          <a:p>
            <a:pPr indent="-226440">
              <a:spcBef>
                <a:spcPts val="1001"/>
              </a:spcBef>
              <a:buClr>
                <a:srgbClr val="3F3F3F"/>
              </a:buClr>
              <a:buFont typeface="Arial"/>
              <a:buChar char="•"/>
            </a:pPr>
            <a:r>
              <a:rPr lang="en-US" altLang="zh-TW" sz="2800" b="0" strike="noStrike" spc="-1" dirty="0">
                <a:solidFill>
                  <a:srgbClr val="3F3F3F"/>
                </a:solidFill>
                <a:ea typeface="DejaVu Sans"/>
              </a:rPr>
              <a:t>Board → Intel → </a:t>
            </a:r>
            <a:r>
              <a:rPr lang="en-US" altLang="zh-TW" sz="2800" b="0" strike="noStrike" spc="-1" dirty="0" err="1">
                <a:solidFill>
                  <a:srgbClr val="3F3F3F"/>
                </a:solidFill>
                <a:ea typeface="DejaVu Sans"/>
              </a:rPr>
              <a:t>EagleStreamMultiBoardPkg</a:t>
            </a:r>
            <a:r>
              <a:rPr lang="en-US" altLang="zh-TW" sz="2800" b="0" strike="noStrike" spc="-1" dirty="0">
                <a:solidFill>
                  <a:srgbClr val="3F3F3F"/>
                </a:solidFill>
                <a:ea typeface="DejaVu Sans"/>
              </a:rPr>
              <a:t> → →Uba → </a:t>
            </a:r>
            <a:r>
              <a:rPr lang="en-US" altLang="zh-TW" sz="2800" b="0" strike="noStrike" spc="-1" dirty="0" err="1">
                <a:solidFill>
                  <a:srgbClr val="3F3F3F"/>
                </a:solidFill>
                <a:ea typeface="DejaVu Sans"/>
              </a:rPr>
              <a:t>UbaMain</a:t>
            </a:r>
            <a:r>
              <a:rPr lang="en-US" altLang="zh-TW" sz="2800" b="0" strike="noStrike" spc="-1" dirty="0">
                <a:solidFill>
                  <a:srgbClr val="3F3F3F"/>
                </a:solidFill>
                <a:ea typeface="DejaVu Sans"/>
              </a:rPr>
              <a:t>-&gt;</a:t>
            </a:r>
            <a:r>
              <a:rPr lang="en-US" altLang="zh-TW" sz="2800" b="0" strike="noStrike" spc="-1" dirty="0" err="1">
                <a:solidFill>
                  <a:srgbClr val="3F3F3F"/>
                </a:solidFill>
                <a:ea typeface="DejaVu Sans"/>
              </a:rPr>
              <a:t>TypeXXXX</a:t>
            </a:r>
            <a:endParaRPr lang="en-US" altLang="zh-TW" sz="2800" b="0" strike="noStrike" spc="-1" dirty="0"/>
          </a:p>
          <a:p>
            <a:pPr marL="648000" lvl="2" indent="-214560">
              <a:lnSpc>
                <a:spcPct val="90000"/>
              </a:lnSpc>
              <a:spcBef>
                <a:spcPts val="1001"/>
              </a:spcBef>
              <a:buClr>
                <a:srgbClr val="000000"/>
              </a:buClr>
              <a:buSzPct val="45000"/>
              <a:buFont typeface="Wingdings" charset="2"/>
              <a:buChar char=""/>
            </a:pPr>
            <a:r>
              <a:rPr lang="en-US" altLang="zh-TW" sz="2800" b="0" strike="noStrike" spc="-1" dirty="0">
                <a:solidFill>
                  <a:srgbClr val="3F3F3F"/>
                </a:solidFill>
                <a:ea typeface="DejaVu Sans"/>
              </a:rPr>
              <a:t>In PEI phase, most of the code are NULL library type. These library will initialize specific board with “CONFTRUCTOR” before loading “</a:t>
            </a:r>
            <a:r>
              <a:rPr lang="en-US" altLang="zh-TW" sz="2800" b="0" strike="noStrike" spc="-1" dirty="0" err="1">
                <a:solidFill>
                  <a:srgbClr val="3F3F3F"/>
                </a:solidFill>
                <a:ea typeface="DejaVu Sans"/>
              </a:rPr>
              <a:t>BoardInitPei</a:t>
            </a:r>
            <a:r>
              <a:rPr lang="en-US" altLang="zh-TW" sz="2800" b="0" strike="noStrike" spc="-1" dirty="0">
                <a:solidFill>
                  <a:srgbClr val="3F3F3F"/>
                </a:solidFill>
                <a:ea typeface="DejaVu Sans"/>
              </a:rPr>
              <a:t>”  </a:t>
            </a:r>
            <a:endParaRPr lang="en-US" altLang="zh-TW" sz="2800" b="0" strike="noStrike" spc="-1" dirty="0"/>
          </a:p>
        </p:txBody>
      </p:sp>
      <p:pic>
        <p:nvPicPr>
          <p:cNvPr id="5" name="圖片 4">
            <a:extLst>
              <a:ext uri="{FF2B5EF4-FFF2-40B4-BE49-F238E27FC236}">
                <a16:creationId xmlns:a16="http://schemas.microsoft.com/office/drawing/2014/main" id="{1ACFF924-740C-5E2B-5876-4496FD16376E}"/>
              </a:ext>
            </a:extLst>
          </p:cNvPr>
          <p:cNvPicPr>
            <a:picLocks noChangeAspect="1"/>
          </p:cNvPicPr>
          <p:nvPr/>
        </p:nvPicPr>
        <p:blipFill>
          <a:blip r:embed="rId2"/>
          <a:stretch>
            <a:fillRect/>
          </a:stretch>
        </p:blipFill>
        <p:spPr>
          <a:xfrm>
            <a:off x="8973946" y="1316230"/>
            <a:ext cx="3153215" cy="2962688"/>
          </a:xfrm>
          <a:prstGeom prst="rect">
            <a:avLst/>
          </a:prstGeom>
        </p:spPr>
      </p:pic>
    </p:spTree>
    <p:extLst>
      <p:ext uri="{BB962C8B-B14F-4D97-AF65-F5344CB8AC3E}">
        <p14:creationId xmlns:p14="http://schemas.microsoft.com/office/powerpoint/2010/main" val="3310908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Flow Diagram</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pPr marL="228600" indent="-226440">
              <a:lnSpc>
                <a:spcPct val="90000"/>
              </a:lnSpc>
              <a:spcBef>
                <a:spcPts val="1001"/>
              </a:spcBef>
              <a:buClr>
                <a:srgbClr val="3F3F3F"/>
              </a:buClr>
              <a:buFont typeface="Arial"/>
              <a:buChar char="•"/>
            </a:pPr>
            <a:r>
              <a:rPr lang="en-US" altLang="zh-TW" sz="2400" spc="-1" dirty="0">
                <a:solidFill>
                  <a:srgbClr val="3F3F3F"/>
                </a:solidFill>
              </a:rPr>
              <a:t>DXE</a:t>
            </a:r>
            <a:endParaRPr lang="en-US" altLang="zh-TW" sz="2400" b="0" strike="noStrike" spc="-1" dirty="0"/>
          </a:p>
          <a:p>
            <a:pPr>
              <a:lnSpc>
                <a:spcPct val="90000"/>
              </a:lnSpc>
              <a:spcBef>
                <a:spcPts val="1001"/>
              </a:spcBef>
            </a:pPr>
            <a:endParaRPr lang="en-US" altLang="zh-TW" sz="2400" b="0" strike="noStrike" spc="-1" dirty="0"/>
          </a:p>
        </p:txBody>
      </p:sp>
      <p:pic>
        <p:nvPicPr>
          <p:cNvPr id="9" name="圖片 8">
            <a:extLst>
              <a:ext uri="{FF2B5EF4-FFF2-40B4-BE49-F238E27FC236}">
                <a16:creationId xmlns:a16="http://schemas.microsoft.com/office/drawing/2014/main" id="{031DC3DB-BF04-490B-BA4B-72532F7E4B67}"/>
              </a:ext>
            </a:extLst>
          </p:cNvPr>
          <p:cNvPicPr/>
          <p:nvPr/>
        </p:nvPicPr>
        <p:blipFill>
          <a:blip r:embed="rId2"/>
          <a:stretch/>
        </p:blipFill>
        <p:spPr>
          <a:xfrm>
            <a:off x="7503480" y="1762200"/>
            <a:ext cx="3655800" cy="4357080"/>
          </a:xfrm>
          <a:prstGeom prst="rect">
            <a:avLst/>
          </a:prstGeom>
          <a:ln>
            <a:noFill/>
          </a:ln>
        </p:spPr>
      </p:pic>
      <p:pic>
        <p:nvPicPr>
          <p:cNvPr id="18" name="圖片 17">
            <a:extLst>
              <a:ext uri="{FF2B5EF4-FFF2-40B4-BE49-F238E27FC236}">
                <a16:creationId xmlns:a16="http://schemas.microsoft.com/office/drawing/2014/main" id="{67E04E36-2D2A-4FDD-B738-69531DE8D682}"/>
              </a:ext>
            </a:extLst>
          </p:cNvPr>
          <p:cNvPicPr>
            <a:picLocks noChangeAspect="1"/>
          </p:cNvPicPr>
          <p:nvPr/>
        </p:nvPicPr>
        <p:blipFill>
          <a:blip r:embed="rId3"/>
          <a:stretch>
            <a:fillRect/>
          </a:stretch>
        </p:blipFill>
        <p:spPr>
          <a:xfrm>
            <a:off x="1032720" y="1728644"/>
            <a:ext cx="5391150" cy="4572000"/>
          </a:xfrm>
          <a:prstGeom prst="rect">
            <a:avLst/>
          </a:prstGeom>
        </p:spPr>
      </p:pic>
    </p:spTree>
    <p:extLst>
      <p:ext uri="{BB962C8B-B14F-4D97-AF65-F5344CB8AC3E}">
        <p14:creationId xmlns:p14="http://schemas.microsoft.com/office/powerpoint/2010/main" val="4073278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95838-8835-40FC-876C-14E5E3895F5C}"/>
              </a:ext>
            </a:extLst>
          </p:cNvPr>
          <p:cNvSpPr>
            <a:spLocks noGrp="1"/>
          </p:cNvSpPr>
          <p:nvPr>
            <p:ph type="title"/>
          </p:nvPr>
        </p:nvSpPr>
        <p:spPr/>
        <p:txBody>
          <a:bodyPr/>
          <a:lstStyle/>
          <a:p>
            <a:r>
              <a:rPr lang="en-US" altLang="zh-TW" dirty="0"/>
              <a:t>UBA driver (DXE)</a:t>
            </a:r>
            <a:endParaRPr lang="zh-TW" altLang="en-US" dirty="0"/>
          </a:p>
        </p:txBody>
      </p:sp>
      <p:sp>
        <p:nvSpPr>
          <p:cNvPr id="3" name="內容版面配置區 2">
            <a:extLst>
              <a:ext uri="{FF2B5EF4-FFF2-40B4-BE49-F238E27FC236}">
                <a16:creationId xmlns:a16="http://schemas.microsoft.com/office/drawing/2014/main" id="{C51F29FB-9809-4C5C-8443-B13BFCF66026}"/>
              </a:ext>
            </a:extLst>
          </p:cNvPr>
          <p:cNvSpPr>
            <a:spLocks noGrp="1"/>
          </p:cNvSpPr>
          <p:nvPr>
            <p:ph idx="1"/>
          </p:nvPr>
        </p:nvSpPr>
        <p:spPr>
          <a:xfrm>
            <a:off x="838201" y="1398494"/>
            <a:ext cx="10025742" cy="4778469"/>
          </a:xfrm>
        </p:spPr>
        <p:txBody>
          <a:bodyPr>
            <a:normAutofit/>
          </a:bodyPr>
          <a:lstStyle/>
          <a:p>
            <a:pPr indent="-226440">
              <a:spcBef>
                <a:spcPts val="1001"/>
              </a:spcBef>
              <a:buClr>
                <a:srgbClr val="3F3F3F"/>
              </a:buClr>
              <a:buFont typeface="Arial"/>
              <a:buChar char="•"/>
            </a:pPr>
            <a:r>
              <a:rPr lang="en-US" altLang="zh-TW" sz="2000" b="0" strike="noStrike" spc="-1" dirty="0">
                <a:solidFill>
                  <a:srgbClr val="3F3F3F"/>
                </a:solidFill>
                <a:ea typeface="DejaVu Sans"/>
              </a:rPr>
              <a:t>Board \ Intel \ </a:t>
            </a:r>
            <a:r>
              <a:rPr lang="en-US" altLang="zh-TW" sz="2000" b="0" strike="noStrike" spc="-1" dirty="0" err="1">
                <a:solidFill>
                  <a:srgbClr val="3F3F3F"/>
                </a:solidFill>
                <a:ea typeface="DejaVu Sans"/>
              </a:rPr>
              <a:t>EagleStreamMultiBoardPkg</a:t>
            </a:r>
            <a:r>
              <a:rPr lang="en-US" altLang="zh-TW" sz="2000" b="0" strike="noStrike" spc="-1" dirty="0">
                <a:solidFill>
                  <a:srgbClr val="3F3F3F"/>
                </a:solidFill>
                <a:ea typeface="DejaVu Sans"/>
              </a:rPr>
              <a:t> \ Uba \ </a:t>
            </a:r>
            <a:r>
              <a:rPr lang="en-US" altLang="zh-TW" sz="2000" b="0" strike="noStrike" spc="-1" dirty="0" err="1">
                <a:solidFill>
                  <a:srgbClr val="3F3F3F"/>
                </a:solidFill>
                <a:ea typeface="DejaVu Sans"/>
              </a:rPr>
              <a:t>BoardInit</a:t>
            </a:r>
            <a:r>
              <a:rPr lang="en-US" altLang="zh-TW" sz="2000" spc="-1" dirty="0">
                <a:solidFill>
                  <a:srgbClr val="3F3F3F"/>
                </a:solidFill>
                <a:ea typeface="DejaVu Sans"/>
              </a:rPr>
              <a:t> \</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Dxe</a:t>
            </a:r>
            <a:endParaRPr lang="en-US" altLang="zh-TW" sz="2000" b="0" strike="noStrike" spc="-1" dirty="0"/>
          </a:p>
          <a:p>
            <a:pPr marL="648000" lvl="2" indent="-214560">
              <a:lnSpc>
                <a:spcPct val="90000"/>
              </a:lnSpc>
              <a:spcBef>
                <a:spcPts val="1001"/>
              </a:spcBef>
              <a:buClr>
                <a:srgbClr val="000000"/>
              </a:buClr>
              <a:buSzPct val="45000"/>
              <a:buFont typeface="Wingdings" charset="2"/>
              <a:buChar char=""/>
            </a:pPr>
            <a:r>
              <a:rPr lang="en-US" altLang="zh-TW" b="0" strike="noStrike" spc="-1" dirty="0">
                <a:solidFill>
                  <a:srgbClr val="3F3F3F"/>
                </a:solidFill>
                <a:ea typeface="DejaVu Sans"/>
              </a:rPr>
              <a:t>This driver will get SKU and install  </a:t>
            </a:r>
            <a:r>
              <a:rPr lang="en-US" altLang="zh-TW" b="0" strike="noStrike" spc="-1" dirty="0" err="1">
                <a:solidFill>
                  <a:srgbClr val="3F3F3F"/>
                </a:solidFill>
                <a:ea typeface="DejaVu Sans"/>
              </a:rPr>
              <a:t>gEfiPlatformTypeXXXXXProtocolGuid</a:t>
            </a:r>
            <a:endParaRPr lang="en-US" altLang="zh-TW" b="0" strike="noStrike" spc="-1" dirty="0"/>
          </a:p>
          <a:p>
            <a:pPr marL="228600" indent="-226440">
              <a:lnSpc>
                <a:spcPct val="90000"/>
              </a:lnSpc>
              <a:spcBef>
                <a:spcPts val="1001"/>
              </a:spcBef>
              <a:buClr>
                <a:srgbClr val="3F3F3F"/>
              </a:buClr>
              <a:buFont typeface="Arial"/>
              <a:buChar char="•"/>
            </a:pPr>
            <a:r>
              <a:rPr lang="en-US" altLang="zh-TW" sz="2000" b="0" strike="noStrike" spc="-1" dirty="0">
                <a:solidFill>
                  <a:srgbClr val="3F3F3F"/>
                </a:solidFill>
                <a:ea typeface="DejaVu Sans"/>
              </a:rPr>
              <a:t>Intel \ </a:t>
            </a:r>
            <a:r>
              <a:rPr lang="en-US" altLang="zh-TW" sz="2000" b="0" strike="noStrike" spc="-1" dirty="0" err="1">
                <a:solidFill>
                  <a:srgbClr val="3F3F3F"/>
                </a:solidFill>
                <a:ea typeface="DejaVu Sans"/>
              </a:rPr>
              <a:t>EagleStream</a:t>
            </a:r>
            <a:r>
              <a:rPr lang="en-US" altLang="zh-TW" sz="2000" b="0" strike="noStrike" spc="-1" dirty="0">
                <a:solidFill>
                  <a:srgbClr val="3F3F3F"/>
                </a:solidFill>
                <a:ea typeface="DejaVu Sans"/>
              </a:rPr>
              <a:t> \ </a:t>
            </a:r>
            <a:r>
              <a:rPr lang="en-US" altLang="zh-TW" sz="2000" b="0" strike="noStrike" spc="-1" dirty="0" err="1">
                <a:solidFill>
                  <a:srgbClr val="3F3F3F"/>
                </a:solidFill>
                <a:ea typeface="DejaVu Sans"/>
              </a:rPr>
              <a:t>ServerPlatformPkg</a:t>
            </a:r>
            <a:r>
              <a:rPr lang="en-US" altLang="zh-TW" sz="2000" b="0" strike="noStrike" spc="-1" dirty="0">
                <a:solidFill>
                  <a:srgbClr val="3F3F3F"/>
                </a:solidFill>
                <a:ea typeface="DejaVu Sans"/>
              </a:rPr>
              <a:t> \ Uba \ </a:t>
            </a:r>
            <a:r>
              <a:rPr lang="en-US" altLang="zh-TW" sz="2000" b="0" strike="noStrike" spc="-1" dirty="0" err="1">
                <a:solidFill>
                  <a:srgbClr val="3F3F3F"/>
                </a:solidFill>
                <a:ea typeface="DejaVu Sans"/>
              </a:rPr>
              <a:t>CfgDb</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Dxe</a:t>
            </a:r>
            <a:r>
              <a:rPr lang="en-US" altLang="zh-TW" sz="2000" b="0" strike="noStrike" spc="-1" dirty="0">
                <a:solidFill>
                  <a:srgbClr val="3F3F3F"/>
                </a:solidFill>
                <a:ea typeface="DejaVu Sans"/>
              </a:rPr>
              <a:t> </a:t>
            </a:r>
          </a:p>
          <a:p>
            <a:pPr lvl="1" indent="-226440">
              <a:spcBef>
                <a:spcPts val="1001"/>
              </a:spcBef>
              <a:buClr>
                <a:srgbClr val="3F3F3F"/>
              </a:buClr>
              <a:buFont typeface="Arial"/>
              <a:buChar char="•"/>
            </a:pPr>
            <a:r>
              <a:rPr lang="en-US" altLang="zh-TW" sz="2000" b="0" strike="noStrike" spc="-1" dirty="0">
                <a:solidFill>
                  <a:srgbClr val="3F3F3F"/>
                </a:solidFill>
                <a:ea typeface="DejaVu Sans"/>
              </a:rPr>
              <a:t>Installing </a:t>
            </a:r>
            <a:r>
              <a:rPr lang="en-US" altLang="zh-TW" sz="2000" b="0" strike="noStrike" spc="-1" dirty="0" err="1">
                <a:solidFill>
                  <a:srgbClr val="3F3F3F"/>
                </a:solidFill>
                <a:ea typeface="DejaVu Sans"/>
              </a:rPr>
              <a:t>gUbaConfigDatabase</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Guid</a:t>
            </a:r>
            <a:r>
              <a:rPr lang="en-US" altLang="zh-TW" sz="2000" b="0" strike="noStrike" spc="-1" dirty="0">
                <a:solidFill>
                  <a:srgbClr val="3F3F3F"/>
                </a:solidFill>
                <a:ea typeface="DejaVu Sans"/>
              </a:rPr>
              <a:t> and initialize board according the hob data.</a:t>
            </a:r>
            <a:endParaRPr lang="en-US" altLang="zh-TW" sz="2000" b="0" strike="noStrike" spc="-1" dirty="0"/>
          </a:p>
          <a:p>
            <a:pPr marL="228600" indent="-226440">
              <a:lnSpc>
                <a:spcPct val="90000"/>
              </a:lnSpc>
              <a:spcBef>
                <a:spcPts val="1001"/>
              </a:spcBef>
              <a:buClr>
                <a:srgbClr val="3F3F3F"/>
              </a:buClr>
              <a:buFont typeface="Arial"/>
              <a:buChar char="•"/>
            </a:pPr>
            <a:r>
              <a:rPr lang="en-US" altLang="zh-TW" sz="2000" b="0" strike="noStrike" spc="-1" dirty="0">
                <a:solidFill>
                  <a:srgbClr val="3F3F3F"/>
                </a:solidFill>
                <a:ea typeface="DejaVu Sans"/>
              </a:rPr>
              <a:t>Board \ Intel \ </a:t>
            </a:r>
            <a:r>
              <a:rPr lang="en-US" altLang="zh-TW" sz="2000" b="0" strike="noStrike" spc="-1" dirty="0" err="1">
                <a:solidFill>
                  <a:srgbClr val="3F3F3F"/>
                </a:solidFill>
                <a:ea typeface="DejaVu Sans"/>
              </a:rPr>
              <a:t>EagleStreamMultiBoardPkg</a:t>
            </a:r>
            <a:r>
              <a:rPr lang="en-US" altLang="zh-TW" sz="2000" b="0" strike="noStrike" spc="-1" dirty="0">
                <a:solidFill>
                  <a:srgbClr val="3F3F3F"/>
                </a:solidFill>
                <a:ea typeface="DejaVu Sans"/>
              </a:rPr>
              <a:t> \ Uba \ </a:t>
            </a:r>
            <a:r>
              <a:rPr lang="en-US" altLang="zh-TW" sz="2000" b="0" strike="noStrike" spc="-1" dirty="0" err="1">
                <a:solidFill>
                  <a:srgbClr val="3F3F3F"/>
                </a:solidFill>
                <a:ea typeface="DejaVu Sans"/>
              </a:rPr>
              <a:t>UbaMain</a:t>
            </a:r>
            <a:r>
              <a:rPr lang="en-US" altLang="zh-TW" sz="2000" spc="-1" dirty="0">
                <a:solidFill>
                  <a:srgbClr val="3F3F3F"/>
                </a:solidFill>
                <a:ea typeface="DejaVu Sans"/>
              </a:rPr>
              <a:t> \ </a:t>
            </a:r>
            <a:r>
              <a:rPr lang="en-US" altLang="zh-TW" sz="2000" b="0" strike="noStrike" spc="-1" dirty="0" err="1">
                <a:solidFill>
                  <a:srgbClr val="3F3F3F"/>
                </a:solidFill>
                <a:ea typeface="DejaVu Sans"/>
              </a:rPr>
              <a:t>TypeXXXX</a:t>
            </a:r>
            <a:r>
              <a:rPr lang="en-US" altLang="zh-TW" sz="2000" spc="-1" dirty="0">
                <a:solidFill>
                  <a:srgbClr val="3F3F3F"/>
                </a:solidFill>
                <a:ea typeface="DejaVu Sans"/>
              </a:rPr>
              <a:t> \ </a:t>
            </a:r>
            <a:r>
              <a:rPr lang="en-US" altLang="zh-TW" sz="2000" b="0" strike="noStrike" spc="-1" dirty="0" err="1">
                <a:solidFill>
                  <a:srgbClr val="3F3F3F"/>
                </a:solidFill>
                <a:ea typeface="DejaVu Sans"/>
              </a:rPr>
              <a:t>Dxe</a:t>
            </a:r>
            <a:r>
              <a:rPr lang="en-US" altLang="zh-TW" sz="2000" spc="-1" dirty="0">
                <a:solidFill>
                  <a:srgbClr val="3F3F3F"/>
                </a:solidFill>
                <a:ea typeface="DejaVu Sans"/>
              </a:rPr>
              <a:t> \ </a:t>
            </a:r>
            <a:r>
              <a:rPr lang="en-US" altLang="zh-TW" sz="2000" b="0" strike="noStrike" spc="-1" dirty="0">
                <a:solidFill>
                  <a:srgbClr val="3F3F3F"/>
                </a:solidFill>
                <a:ea typeface="DejaVu Sans"/>
              </a:rPr>
              <a:t>….</a:t>
            </a:r>
            <a:endParaRPr lang="en-US" altLang="zh-TW" sz="2000" b="0" strike="noStrike" spc="-1" dirty="0"/>
          </a:p>
          <a:p>
            <a:pPr marL="648000" lvl="2" indent="-214560">
              <a:lnSpc>
                <a:spcPct val="90000"/>
              </a:lnSpc>
              <a:spcBef>
                <a:spcPts val="1001"/>
              </a:spcBef>
              <a:buClr>
                <a:srgbClr val="000000"/>
              </a:buClr>
              <a:buSzPct val="45000"/>
              <a:buFont typeface="Wingdings" charset="2"/>
              <a:buChar char=""/>
            </a:pPr>
            <a:r>
              <a:rPr lang="en-US" altLang="zh-TW" b="0" strike="noStrike" spc="-1" dirty="0">
                <a:solidFill>
                  <a:srgbClr val="3F3F3F"/>
                </a:solidFill>
                <a:ea typeface="DejaVu Sans"/>
              </a:rPr>
              <a:t>Loading platform specific driver</a:t>
            </a:r>
            <a:endParaRPr lang="en-US" altLang="zh-TW" b="0" strike="noStrike" spc="-1" dirty="0"/>
          </a:p>
        </p:txBody>
      </p:sp>
      <p:pic>
        <p:nvPicPr>
          <p:cNvPr id="6" name="圖片 5">
            <a:extLst>
              <a:ext uri="{FF2B5EF4-FFF2-40B4-BE49-F238E27FC236}">
                <a16:creationId xmlns:a16="http://schemas.microsoft.com/office/drawing/2014/main" id="{EBBED91C-7266-401F-A335-3EC257552A5F}"/>
              </a:ext>
            </a:extLst>
          </p:cNvPr>
          <p:cNvPicPr>
            <a:picLocks noChangeAspect="1"/>
          </p:cNvPicPr>
          <p:nvPr/>
        </p:nvPicPr>
        <p:blipFill>
          <a:blip r:embed="rId2"/>
          <a:stretch>
            <a:fillRect/>
          </a:stretch>
        </p:blipFill>
        <p:spPr>
          <a:xfrm>
            <a:off x="9966436" y="595384"/>
            <a:ext cx="1387363" cy="1279606"/>
          </a:xfrm>
          <a:prstGeom prst="rect">
            <a:avLst/>
          </a:prstGeom>
        </p:spPr>
      </p:pic>
      <p:pic>
        <p:nvPicPr>
          <p:cNvPr id="8" name="圖片 7">
            <a:extLst>
              <a:ext uri="{FF2B5EF4-FFF2-40B4-BE49-F238E27FC236}">
                <a16:creationId xmlns:a16="http://schemas.microsoft.com/office/drawing/2014/main" id="{355A9C94-D2B1-4758-9120-64B655E2BE69}"/>
              </a:ext>
            </a:extLst>
          </p:cNvPr>
          <p:cNvPicPr>
            <a:picLocks noChangeAspect="1"/>
          </p:cNvPicPr>
          <p:nvPr/>
        </p:nvPicPr>
        <p:blipFill>
          <a:blip r:embed="rId3"/>
          <a:stretch>
            <a:fillRect/>
          </a:stretch>
        </p:blipFill>
        <p:spPr>
          <a:xfrm>
            <a:off x="10660117" y="1957254"/>
            <a:ext cx="1387363" cy="1222528"/>
          </a:xfrm>
          <a:prstGeom prst="rect">
            <a:avLst/>
          </a:prstGeom>
        </p:spPr>
      </p:pic>
      <p:pic>
        <p:nvPicPr>
          <p:cNvPr id="10" name="圖片 9">
            <a:extLst>
              <a:ext uri="{FF2B5EF4-FFF2-40B4-BE49-F238E27FC236}">
                <a16:creationId xmlns:a16="http://schemas.microsoft.com/office/drawing/2014/main" id="{219D1EDC-262A-492D-B414-8D763CB12299}"/>
              </a:ext>
            </a:extLst>
          </p:cNvPr>
          <p:cNvPicPr>
            <a:picLocks noChangeAspect="1"/>
          </p:cNvPicPr>
          <p:nvPr/>
        </p:nvPicPr>
        <p:blipFill rotWithShape="1">
          <a:blip r:embed="rId4"/>
          <a:srcRect b="25570"/>
          <a:stretch/>
        </p:blipFill>
        <p:spPr>
          <a:xfrm>
            <a:off x="7690587" y="4104574"/>
            <a:ext cx="2834913" cy="2512961"/>
          </a:xfrm>
          <a:prstGeom prst="rect">
            <a:avLst/>
          </a:prstGeom>
        </p:spPr>
      </p:pic>
    </p:spTree>
    <p:extLst>
      <p:ext uri="{BB962C8B-B14F-4D97-AF65-F5344CB8AC3E}">
        <p14:creationId xmlns:p14="http://schemas.microsoft.com/office/powerpoint/2010/main" val="3920420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20E27B9-5E25-4C9B-9782-AFCE3876EBE9}"/>
              </a:ext>
            </a:extLst>
          </p:cNvPr>
          <p:cNvSpPr>
            <a:spLocks noGrp="1"/>
          </p:cNvSpPr>
          <p:nvPr>
            <p:ph type="sldNum" sz="quarter" idx="12"/>
          </p:nvPr>
        </p:nvSpPr>
        <p:spPr/>
        <p:txBody>
          <a:bodyPr/>
          <a:lstStyle/>
          <a:p>
            <a:fld id="{711F1488-76AD-4E7F-AEC8-BF811B7D74A5}" type="slidenum">
              <a:rPr lang="en-US" smtClean="0"/>
              <a:pPr/>
              <a:t>21</a:t>
            </a:fld>
            <a:endParaRPr lang="en-US"/>
          </a:p>
        </p:txBody>
      </p:sp>
      <p:sp>
        <p:nvSpPr>
          <p:cNvPr id="3" name="標題 2">
            <a:extLst>
              <a:ext uri="{FF2B5EF4-FFF2-40B4-BE49-F238E27FC236}">
                <a16:creationId xmlns:a16="http://schemas.microsoft.com/office/drawing/2014/main" id="{774D0CA3-1540-43F7-90BC-39B13CB9C529}"/>
              </a:ext>
            </a:extLst>
          </p:cNvPr>
          <p:cNvSpPr>
            <a:spLocks noGrp="1"/>
          </p:cNvSpPr>
          <p:nvPr>
            <p:ph type="title"/>
          </p:nvPr>
        </p:nvSpPr>
        <p:spPr/>
        <p:txBody>
          <a:bodyPr/>
          <a:lstStyle/>
          <a:p>
            <a:r>
              <a:rPr lang="en-US" altLang="zh-TW" dirty="0"/>
              <a:t>Detail information for every driver (related UBA)</a:t>
            </a:r>
            <a:endParaRPr lang="zh-TW" altLang="en-US" dirty="0"/>
          </a:p>
        </p:txBody>
      </p:sp>
    </p:spTree>
    <p:extLst>
      <p:ext uri="{BB962C8B-B14F-4D97-AF65-F5344CB8AC3E}">
        <p14:creationId xmlns:p14="http://schemas.microsoft.com/office/powerpoint/2010/main" val="1576858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0CAF3B-A29F-4A79-8762-D3DC7D2920E3}"/>
              </a:ext>
            </a:extLst>
          </p:cNvPr>
          <p:cNvSpPr>
            <a:spLocks noGrp="1"/>
          </p:cNvSpPr>
          <p:nvPr>
            <p:ph type="title"/>
          </p:nvPr>
        </p:nvSpPr>
        <p:spPr/>
        <p:txBody>
          <a:bodyPr>
            <a:noAutofit/>
          </a:bodyPr>
          <a:lstStyle/>
          <a:p>
            <a:pPr>
              <a:lnSpc>
                <a:spcPct val="90000"/>
              </a:lnSpc>
            </a:pPr>
            <a:r>
              <a:rPr lang="en-US" altLang="zh-TW" b="1" strike="noStrike" spc="-1" dirty="0">
                <a:solidFill>
                  <a:srgbClr val="000000"/>
                </a:solidFill>
                <a:ea typeface="DejaVu Sans"/>
              </a:rPr>
              <a:t>UBA Library for Initializing </a:t>
            </a:r>
            <a:r>
              <a:rPr lang="en-US" altLang="zh-TW" spc="-1" dirty="0">
                <a:solidFill>
                  <a:srgbClr val="000000"/>
                </a:solidFill>
                <a:ea typeface="DejaVu Sans"/>
              </a:rPr>
              <a:t>P</a:t>
            </a:r>
            <a:r>
              <a:rPr lang="en-US" altLang="zh-TW" b="1" strike="noStrike" spc="-1" dirty="0">
                <a:solidFill>
                  <a:srgbClr val="000000"/>
                </a:solidFill>
                <a:ea typeface="DejaVu Sans"/>
              </a:rPr>
              <a:t>latform </a:t>
            </a:r>
            <a:r>
              <a:rPr lang="en-US" altLang="zh-TW" spc="-1" dirty="0">
                <a:solidFill>
                  <a:srgbClr val="000000"/>
                </a:solidFill>
                <a:ea typeface="DejaVu Sans"/>
              </a:rPr>
              <a:t>C</a:t>
            </a:r>
            <a:r>
              <a:rPr lang="en-US" altLang="zh-TW" b="1" strike="noStrike" spc="-1" dirty="0">
                <a:solidFill>
                  <a:srgbClr val="000000"/>
                </a:solidFill>
                <a:ea typeface="DejaVu Sans"/>
              </a:rPr>
              <a:t>onfig (DXE/PEI)</a:t>
            </a:r>
            <a:endParaRPr lang="en-US" altLang="zh-TW" b="0" strike="noStrike" spc="-1" dirty="0"/>
          </a:p>
        </p:txBody>
      </p:sp>
      <p:sp>
        <p:nvSpPr>
          <p:cNvPr id="3" name="內容版面配置區 2">
            <a:extLst>
              <a:ext uri="{FF2B5EF4-FFF2-40B4-BE49-F238E27FC236}">
                <a16:creationId xmlns:a16="http://schemas.microsoft.com/office/drawing/2014/main" id="{1B487765-6ABE-497B-9A67-1A537E08E898}"/>
              </a:ext>
            </a:extLst>
          </p:cNvPr>
          <p:cNvSpPr>
            <a:spLocks noGrp="1"/>
          </p:cNvSpPr>
          <p:nvPr>
            <p:ph idx="1"/>
          </p:nvPr>
        </p:nvSpPr>
        <p:spPr>
          <a:xfrm>
            <a:off x="838199" y="1398494"/>
            <a:ext cx="10515599" cy="4778469"/>
          </a:xfrm>
        </p:spPr>
        <p:txBody>
          <a:bodyPr/>
          <a:lstStyle/>
          <a:p>
            <a:pPr marL="228600" indent="-226440">
              <a:lnSpc>
                <a:spcPct val="90000"/>
              </a:lnSpc>
              <a:spcBef>
                <a:spcPts val="1001"/>
              </a:spcBef>
              <a:buClr>
                <a:srgbClr val="3F3F3F"/>
              </a:buClr>
              <a:buFont typeface="Arial"/>
              <a:buChar char="•"/>
            </a:pPr>
            <a:r>
              <a:rPr lang="en-US" altLang="zh-TW" sz="2800" b="0" strike="noStrike" spc="-1" dirty="0">
                <a:solidFill>
                  <a:srgbClr val="3F3F3F"/>
                </a:solidFill>
                <a:ea typeface="DejaVu Sans"/>
              </a:rPr>
              <a:t>In Intel/</a:t>
            </a:r>
            <a:r>
              <a:rPr lang="en-US" altLang="zh-TW" sz="2800" b="0" strike="noStrike" spc="-1" dirty="0" err="1">
                <a:solidFill>
                  <a:srgbClr val="3F3F3F"/>
                </a:solidFill>
                <a:ea typeface="DejaVu Sans"/>
              </a:rPr>
              <a:t>EagleStream</a:t>
            </a:r>
            <a:r>
              <a:rPr lang="en-US" altLang="zh-TW" spc="-1" dirty="0">
                <a:solidFill>
                  <a:srgbClr val="3F3F3F"/>
                </a:solidFill>
                <a:ea typeface="DejaVu Sans"/>
              </a:rPr>
              <a:t>/</a:t>
            </a:r>
            <a:r>
              <a:rPr lang="en-US" altLang="zh-TW" sz="2800" b="0" strike="noStrike" spc="-1" dirty="0" err="1">
                <a:solidFill>
                  <a:srgbClr val="3F3F3F"/>
                </a:solidFill>
                <a:ea typeface="DejaVu Sans"/>
              </a:rPr>
              <a:t>ServerPlatformPkg</a:t>
            </a:r>
            <a:r>
              <a:rPr lang="en-US" altLang="zh-TW" sz="2800" b="0" strike="noStrike" spc="-1" dirty="0">
                <a:solidFill>
                  <a:srgbClr val="3F3F3F"/>
                </a:solidFill>
                <a:ea typeface="DejaVu Sans"/>
              </a:rPr>
              <a:t>/Include/Library we can find many header files for UBA setting. </a:t>
            </a:r>
            <a:endParaRPr lang="en-US" altLang="zh-TW" sz="2800" b="0" strike="noStrike" spc="-1" dirty="0"/>
          </a:p>
          <a:p>
            <a:pPr marL="228600" indent="-226440">
              <a:lnSpc>
                <a:spcPct val="90000"/>
              </a:lnSpc>
              <a:spcBef>
                <a:spcPts val="1001"/>
              </a:spcBef>
              <a:buClr>
                <a:srgbClr val="3F3F3F"/>
              </a:buClr>
              <a:buFont typeface="Arial"/>
              <a:buChar char="•"/>
            </a:pPr>
            <a:r>
              <a:rPr lang="en-US" altLang="zh-TW" sz="2800" b="0" strike="noStrike" spc="-1" dirty="0">
                <a:solidFill>
                  <a:srgbClr val="3F3F3F"/>
                </a:solidFill>
                <a:ea typeface="DejaVu Sans"/>
              </a:rPr>
              <a:t>These library will get specific config data from UBA.</a:t>
            </a:r>
            <a:endParaRPr lang="en-US" altLang="zh-TW" sz="2800" b="0" strike="noStrike" spc="-1" dirty="0"/>
          </a:p>
          <a:p>
            <a:pPr>
              <a:lnSpc>
                <a:spcPct val="90000"/>
              </a:lnSpc>
              <a:spcBef>
                <a:spcPts val="1001"/>
              </a:spcBef>
            </a:pPr>
            <a:endParaRPr lang="en-US" altLang="zh-TW" sz="2800" b="0" strike="noStrike" spc="-1" dirty="0"/>
          </a:p>
        </p:txBody>
      </p:sp>
      <p:pic>
        <p:nvPicPr>
          <p:cNvPr id="6" name="圖片 5">
            <a:extLst>
              <a:ext uri="{FF2B5EF4-FFF2-40B4-BE49-F238E27FC236}">
                <a16:creationId xmlns:a16="http://schemas.microsoft.com/office/drawing/2014/main" id="{E40EB141-C3E5-4BAB-BFDA-C7AC2EE7B099}"/>
              </a:ext>
            </a:extLst>
          </p:cNvPr>
          <p:cNvPicPr>
            <a:picLocks noChangeAspect="1"/>
          </p:cNvPicPr>
          <p:nvPr/>
        </p:nvPicPr>
        <p:blipFill>
          <a:blip r:embed="rId2"/>
          <a:stretch>
            <a:fillRect/>
          </a:stretch>
        </p:blipFill>
        <p:spPr>
          <a:xfrm>
            <a:off x="2299854" y="3008316"/>
            <a:ext cx="7592291" cy="3375705"/>
          </a:xfrm>
          <a:prstGeom prst="rect">
            <a:avLst/>
          </a:prstGeom>
        </p:spPr>
      </p:pic>
    </p:spTree>
    <p:extLst>
      <p:ext uri="{BB962C8B-B14F-4D97-AF65-F5344CB8AC3E}">
        <p14:creationId xmlns:p14="http://schemas.microsoft.com/office/powerpoint/2010/main" val="2715876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23</a:t>
            </a:fld>
            <a:endParaRPr lang="en-US" dirty="0"/>
          </a:p>
        </p:txBody>
      </p:sp>
    </p:spTree>
    <p:extLst>
      <p:ext uri="{BB962C8B-B14F-4D97-AF65-F5344CB8AC3E}">
        <p14:creationId xmlns:p14="http://schemas.microsoft.com/office/powerpoint/2010/main" val="3250413019"/>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8672</TotalTime>
  <Words>1168</Words>
  <Application>Microsoft Office PowerPoint</Application>
  <PresentationFormat>寬螢幕</PresentationFormat>
  <Paragraphs>181</Paragraphs>
  <Slides>23</Slides>
  <Notes>2</Notes>
  <HiddenSlides>2</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23</vt:i4>
      </vt:variant>
    </vt:vector>
  </HeadingPairs>
  <TitlesOfParts>
    <vt:vector size="28" baseType="lpstr">
      <vt:lpstr>Arial</vt:lpstr>
      <vt:lpstr>Calibri</vt:lpstr>
      <vt:lpstr>Segoe UI</vt:lpstr>
      <vt:lpstr>Wingdings</vt:lpstr>
      <vt:lpstr>2018 Theme</vt:lpstr>
      <vt:lpstr>Introduce UBA</vt:lpstr>
      <vt:lpstr>Copyright 2022 Insyde Software Corp., All Rights Reserved.</vt:lpstr>
      <vt:lpstr>Agenda</vt:lpstr>
      <vt:lpstr>What is UBA ?</vt:lpstr>
      <vt:lpstr>What is UBA ?</vt:lpstr>
      <vt:lpstr>What is UBA ?</vt:lpstr>
      <vt:lpstr>What kind of UBA Configuration are provided by Insyde?</vt:lpstr>
      <vt:lpstr>What kind of UBA Configuration are provided by Insyde?</vt:lpstr>
      <vt:lpstr>Introduce UBA Configuration</vt:lpstr>
      <vt:lpstr>UBA Configuration</vt:lpstr>
      <vt:lpstr>UBA Configuration (PEI)</vt:lpstr>
      <vt:lpstr>UBA Configuration (PEI)</vt:lpstr>
      <vt:lpstr>UBA Configuration (PEI)</vt:lpstr>
      <vt:lpstr>UBA Configuration (DXE)</vt:lpstr>
      <vt:lpstr>Flow Diagram</vt:lpstr>
      <vt:lpstr>Flow Diagram</vt:lpstr>
      <vt:lpstr>UBA driver (PEI)</vt:lpstr>
      <vt:lpstr>UBA driver (PEI) - 2</vt:lpstr>
      <vt:lpstr>Flow Diagram</vt:lpstr>
      <vt:lpstr>UBA driver (DXE)</vt:lpstr>
      <vt:lpstr>Detail information for every driver (related UBA)</vt:lpstr>
      <vt:lpstr>UBA Library for Initializing Platform Config (DXE/PEI)</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鎮榮 楊</cp:lastModifiedBy>
  <cp:revision>144</cp:revision>
  <dcterms:created xsi:type="dcterms:W3CDTF">2018-02-02T23:50:52Z</dcterms:created>
  <dcterms:modified xsi:type="dcterms:W3CDTF">2022-07-22T06:14:47Z</dcterms:modified>
</cp:coreProperties>
</file>