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39"/>
  </p:notesMasterIdLst>
  <p:sldIdLst>
    <p:sldId id="352" r:id="rId2"/>
    <p:sldId id="353" r:id="rId3"/>
    <p:sldId id="354" r:id="rId4"/>
    <p:sldId id="355" r:id="rId5"/>
    <p:sldId id="356" r:id="rId6"/>
    <p:sldId id="357" r:id="rId7"/>
    <p:sldId id="379" r:id="rId8"/>
    <p:sldId id="380" r:id="rId9"/>
    <p:sldId id="381" r:id="rId10"/>
    <p:sldId id="382" r:id="rId11"/>
    <p:sldId id="383" r:id="rId12"/>
    <p:sldId id="384" r:id="rId13"/>
    <p:sldId id="385" r:id="rId14"/>
    <p:sldId id="386" r:id="rId15"/>
    <p:sldId id="358" r:id="rId16"/>
    <p:sldId id="387" r:id="rId17"/>
    <p:sldId id="388" r:id="rId18"/>
    <p:sldId id="359" r:id="rId19"/>
    <p:sldId id="360" r:id="rId20"/>
    <p:sldId id="389" r:id="rId21"/>
    <p:sldId id="390" r:id="rId22"/>
    <p:sldId id="391" r:id="rId23"/>
    <p:sldId id="392" r:id="rId24"/>
    <p:sldId id="393" r:id="rId25"/>
    <p:sldId id="394" r:id="rId26"/>
    <p:sldId id="395" r:id="rId27"/>
    <p:sldId id="396" r:id="rId28"/>
    <p:sldId id="397" r:id="rId29"/>
    <p:sldId id="401" r:id="rId30"/>
    <p:sldId id="402" r:id="rId31"/>
    <p:sldId id="403" r:id="rId32"/>
    <p:sldId id="407" r:id="rId33"/>
    <p:sldId id="408" r:id="rId34"/>
    <p:sldId id="361" r:id="rId35"/>
    <p:sldId id="362" r:id="rId36"/>
    <p:sldId id="406" r:id="rId37"/>
    <p:sldId id="39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428"/>
    <a:srgbClr val="5A9541"/>
    <a:srgbClr val="86C3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30F8A-27F9-4A22-9386-DE7826FB9ADE}" type="datetimeFigureOut">
              <a:rPr lang="en-US" smtClean="0"/>
              <a:t>3/29/2021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976C4-ACCA-4C47-8066-C01E23D4E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63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2379194"/>
            <a:ext cx="10515600" cy="2082460"/>
          </a:xfrm>
        </p:spPr>
        <p:txBody>
          <a:bodyPr anchor="ctr">
            <a:normAutofit/>
          </a:bodyPr>
          <a:lstStyle>
            <a:lvl1pPr>
              <a:defRPr sz="4800"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154" y="885419"/>
            <a:ext cx="6252191" cy="1493775"/>
          </a:xfrm>
          <a:prstGeom prst="rect">
            <a:avLst/>
          </a:prstGeom>
          <a:effectLst/>
        </p:spPr>
      </p:pic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73225" y="6468775"/>
            <a:ext cx="4417951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711F1488-76AD-4E7F-AEC8-BF811B7D74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4032250" y="64687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  |  © 2021 Insyde Software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5F132B0E-74BD-4721-8F14-51CFD2B696C5}"/>
              </a:ext>
            </a:extLst>
          </p:cNvPr>
          <p:cNvSpPr txBox="1"/>
          <p:nvPr userDrawn="1"/>
        </p:nvSpPr>
        <p:spPr>
          <a:xfrm>
            <a:off x="4294971" y="6524481"/>
            <a:ext cx="7473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968502309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0465"/>
            <a:ext cx="10515600" cy="1075765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8494"/>
            <a:ext cx="10515600" cy="47784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/>
          <p:cNvSpPr txBox="1">
            <a:spLocks/>
          </p:cNvSpPr>
          <p:nvPr/>
        </p:nvSpPr>
        <p:spPr>
          <a:xfrm>
            <a:off x="7773225" y="6468775"/>
            <a:ext cx="4417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1F1488-76AD-4E7F-AEC8-BF811B7D74A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4" y="6316212"/>
            <a:ext cx="2109995" cy="504120"/>
          </a:xfrm>
          <a:prstGeom prst="rect">
            <a:avLst/>
          </a:prstGeom>
        </p:spPr>
      </p:pic>
      <p:sp>
        <p:nvSpPr>
          <p:cNvPr id="10" name="Footer Placeholder 4"/>
          <p:cNvSpPr txBox="1">
            <a:spLocks/>
          </p:cNvSpPr>
          <p:nvPr/>
        </p:nvSpPr>
        <p:spPr>
          <a:xfrm>
            <a:off x="4032250" y="64687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  |  © 2021 Insyde Software</a:t>
            </a:r>
          </a:p>
        </p:txBody>
      </p:sp>
      <p:sp>
        <p:nvSpPr>
          <p:cNvPr id="11" name="Slide Number Placeholder 5"/>
          <p:cNvSpPr txBox="1">
            <a:spLocks/>
          </p:cNvSpPr>
          <p:nvPr/>
        </p:nvSpPr>
        <p:spPr>
          <a:xfrm>
            <a:off x="7773225" y="6468775"/>
            <a:ext cx="4417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1F1488-76AD-4E7F-AEC8-BF811B7D74A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7773225" y="6468775"/>
            <a:ext cx="4417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1F1488-76AD-4E7F-AEC8-BF811B7D74A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960F44E9-F06D-4FD1-9F09-7681568FD1B9}"/>
              </a:ext>
            </a:extLst>
          </p:cNvPr>
          <p:cNvSpPr txBox="1"/>
          <p:nvPr userDrawn="1"/>
        </p:nvSpPr>
        <p:spPr>
          <a:xfrm>
            <a:off x="4294971" y="6524481"/>
            <a:ext cx="7473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178168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73225" y="6468775"/>
            <a:ext cx="4417951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711F1488-76AD-4E7F-AEC8-BF811B7D74A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4" y="6317861"/>
            <a:ext cx="2109995" cy="503512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24543" y="2596696"/>
            <a:ext cx="10515600" cy="1325563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4032250" y="64687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Confidential  |  © 2021 Insyde Software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38CCA661-E9A6-4AA7-A37B-8F608DFF98E7}"/>
              </a:ext>
            </a:extLst>
          </p:cNvPr>
          <p:cNvSpPr txBox="1"/>
          <p:nvPr userDrawn="1"/>
        </p:nvSpPr>
        <p:spPr>
          <a:xfrm>
            <a:off x="4294971" y="6524481"/>
            <a:ext cx="7473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455203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/>
          <p:cNvSpPr>
            <a:spLocks noGrp="1"/>
          </p:cNvSpPr>
          <p:nvPr>
            <p:ph type="title" hasCustomPrompt="1"/>
          </p:nvPr>
        </p:nvSpPr>
        <p:spPr>
          <a:xfrm>
            <a:off x="842682" y="230396"/>
            <a:ext cx="8841908" cy="1095506"/>
          </a:xfrm>
        </p:spPr>
        <p:txBody>
          <a:bodyPr>
            <a:normAutofit/>
          </a:bodyPr>
          <a:lstStyle>
            <a:lvl1pPr>
              <a:defRPr sz="4400" b="1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add agenda title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842682" y="1428751"/>
            <a:ext cx="11042376" cy="4793473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  <a:lvl2pPr>
              <a:spcBef>
                <a:spcPts val="450"/>
              </a:spcBef>
              <a:defRPr b="0">
                <a:solidFill>
                  <a:schemeClr val="bg1"/>
                </a:solidFill>
              </a:defRPr>
            </a:lvl2pPr>
            <a:lvl3pPr>
              <a:spcBef>
                <a:spcPts val="450"/>
              </a:spcBef>
              <a:defRPr>
                <a:solidFill>
                  <a:schemeClr val="bg1"/>
                </a:solidFill>
              </a:defRPr>
            </a:lvl3pPr>
            <a:lvl4pPr>
              <a:spcBef>
                <a:spcPts val="450"/>
              </a:spcBef>
              <a:defRPr>
                <a:solidFill>
                  <a:schemeClr val="bg1"/>
                </a:solidFill>
              </a:defRPr>
            </a:lvl4pPr>
            <a:lvl5pPr>
              <a:spcBef>
                <a:spcPts val="450"/>
              </a:spcBef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agenda items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4" y="6317861"/>
            <a:ext cx="2109995" cy="503512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73225" y="6468775"/>
            <a:ext cx="441795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711F1488-76AD-4E7F-AEC8-BF811B7D74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/>
          <p:cNvSpPr txBox="1">
            <a:spLocks/>
          </p:cNvSpPr>
          <p:nvPr userDrawn="1"/>
        </p:nvSpPr>
        <p:spPr>
          <a:xfrm>
            <a:off x="4032250" y="64687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Confidential  |  © 2021 Insyde Software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747B6097-B663-4336-A39C-176719FC1ACF}"/>
              </a:ext>
            </a:extLst>
          </p:cNvPr>
          <p:cNvSpPr txBox="1"/>
          <p:nvPr userDrawn="1"/>
        </p:nvSpPr>
        <p:spPr>
          <a:xfrm>
            <a:off x="4294971" y="6524481"/>
            <a:ext cx="7473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1778328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73225" y="6468775"/>
            <a:ext cx="4417951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711F1488-76AD-4E7F-AEC8-BF811B7D74A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4" y="6317861"/>
            <a:ext cx="2109995" cy="503512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24543" y="2596696"/>
            <a:ext cx="10515600" cy="1325563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4032250" y="64687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Confidential  |  © 2021 Insyde Software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E3B1FE26-C4A2-4063-9FE4-79DA3075E635}"/>
              </a:ext>
            </a:extLst>
          </p:cNvPr>
          <p:cNvSpPr txBox="1"/>
          <p:nvPr userDrawn="1"/>
        </p:nvSpPr>
        <p:spPr>
          <a:xfrm>
            <a:off x="4294971" y="6524481"/>
            <a:ext cx="7473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4276929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5BCCF-7831-40ED-9885-59B8E3FA0D4D}" type="datetime1">
              <a:rPr lang="en-US" smtClean="0"/>
              <a:t>3/29/2021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F1488-76AD-4E7F-AEC8-BF811B7D74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2250" y="64687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Confidential  |  © 2021 Insyde Software</a:t>
            </a:r>
          </a:p>
        </p:txBody>
      </p:sp>
    </p:spTree>
    <p:extLst>
      <p:ext uri="{BB962C8B-B14F-4D97-AF65-F5344CB8AC3E}">
        <p14:creationId xmlns:p14="http://schemas.microsoft.com/office/powerpoint/2010/main" val="1317963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0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H2ODDT</a:t>
            </a:r>
            <a:br>
              <a:rPr lang="en-US" dirty="0"/>
            </a:br>
            <a:r>
              <a:rPr lang="en-US" dirty="0"/>
              <a:t>Diagnostic &amp; Debugging Tool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>
                <a:solidFill>
                  <a:schemeClr val="tx1"/>
                </a:solidFill>
              </a:rPr>
              <a:t>Employee Name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Insyde</a:t>
            </a:r>
            <a:r>
              <a:rPr lang="en-US" dirty="0">
                <a:solidFill>
                  <a:schemeClr val="tx1"/>
                </a:solidFill>
              </a:rPr>
              <a:t> Software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>
                <a:solidFill>
                  <a:schemeClr val="tx1"/>
                </a:solidFill>
              </a:rPr>
              <a:t>March, 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90A6-A1C6-4034-B8DF-BB0CBB7F3119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9737" y="51470"/>
            <a:ext cx="1080000" cy="108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2381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2243138" algn="l"/>
              </a:tabLst>
            </a:pPr>
            <a:r>
              <a:rPr lang="en-US" altLang="zh-TW" sz="4000" dirty="0"/>
              <a:t>Agenda</a:t>
            </a:r>
            <a:endParaRPr lang="zh-TW" altLang="en-US" sz="4000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FFFFFF"/>
                </a:solidFill>
                <a:latin typeface="Segoe UI"/>
              </a:rPr>
              <a:t>Goals &amp; Target Audience</a:t>
            </a: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2800" b="0" strike="noStrike" spc="-1" dirty="0" err="1">
                <a:solidFill>
                  <a:srgbClr val="FFFFFF"/>
                </a:solidFill>
                <a:latin typeface="Segoe UI"/>
              </a:rPr>
              <a:t>Insyde</a:t>
            </a:r>
            <a:r>
              <a:rPr lang="en-US" sz="2800" b="0" strike="noStrike" spc="-1" dirty="0">
                <a:solidFill>
                  <a:srgbClr val="FFFFFF"/>
                </a:solidFill>
                <a:latin typeface="Segoe UI"/>
              </a:rPr>
              <a:t> H2ODDT™ Overview</a:t>
            </a: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FFFFFF"/>
                </a:solidFill>
                <a:latin typeface="Segoe UI"/>
              </a:rPr>
              <a:t>Goal of H2ODDT™</a:t>
            </a: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FFFFFF"/>
                </a:solidFill>
                <a:latin typeface="Segoe UI"/>
              </a:rPr>
              <a:t>Build H2ODDT™</a:t>
            </a: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FFFFFF"/>
                </a:solidFill>
                <a:latin typeface="Segoe UI"/>
              </a:rPr>
              <a:t>Major Features Introduction</a:t>
            </a: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FFFFFF"/>
                </a:solidFill>
                <a:latin typeface="Segoe UI"/>
              </a:rPr>
              <a:t>Trouble Shooting</a:t>
            </a: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90A6-A1C6-4034-B8DF-BB0CBB7F3119}" type="slidenum">
              <a:rPr lang="en-US" smtClean="0">
                <a:solidFill>
                  <a:schemeClr val="bg1"/>
                </a:solidFill>
              </a:rPr>
              <a:pPr/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8603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90A6-A1C6-4034-B8DF-BB0CBB7F311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&amp; Target Audience</a:t>
            </a:r>
          </a:p>
        </p:txBody>
      </p:sp>
    </p:spTree>
    <p:extLst>
      <p:ext uri="{BB962C8B-B14F-4D97-AF65-F5344CB8AC3E}">
        <p14:creationId xmlns:p14="http://schemas.microsoft.com/office/powerpoint/2010/main" val="51157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&amp; Target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1" strike="noStrike" spc="-1" dirty="0">
                <a:solidFill>
                  <a:srgbClr val="3F3F3F"/>
                </a:solidFill>
                <a:latin typeface="Segoe UI"/>
              </a:rPr>
              <a:t>Target Audience:</a:t>
            </a: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BIOS developers who will use </a:t>
            </a:r>
            <a:r>
              <a:rPr lang="en-US" sz="2400" b="0" strike="noStrike" spc="-1" dirty="0" err="1">
                <a:solidFill>
                  <a:srgbClr val="3F3F3F"/>
                </a:solidFill>
                <a:latin typeface="Segoe UI"/>
              </a:rPr>
              <a:t>Insyde</a:t>
            </a: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 H2ODDT to debug</a:t>
            </a:r>
          </a:p>
          <a:p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1" strike="noStrike" spc="-1" dirty="0">
                <a:solidFill>
                  <a:srgbClr val="3F3F3F"/>
                </a:solidFill>
                <a:latin typeface="Segoe UI"/>
              </a:rPr>
              <a:t>Goals:</a:t>
            </a: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Be familiar with </a:t>
            </a:r>
            <a:r>
              <a:rPr lang="en-US" sz="2400" b="0" strike="noStrike" spc="-1" dirty="0" err="1">
                <a:solidFill>
                  <a:srgbClr val="3F3F3F"/>
                </a:solidFill>
                <a:latin typeface="Segoe UI"/>
              </a:rPr>
              <a:t>Insyde</a:t>
            </a: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 H2ODDT’s basic functions &amp; interfaces.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Understand how to generate a BIOS binary with </a:t>
            </a:r>
            <a:r>
              <a:rPr lang="en-US" sz="2400" b="0" strike="noStrike" spc="-1" dirty="0" err="1">
                <a:solidFill>
                  <a:srgbClr val="3F3F3F"/>
                </a:solidFill>
                <a:latin typeface="Segoe UI"/>
              </a:rPr>
              <a:t>Insyde</a:t>
            </a: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 H2ODDT enabled.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Build up the ability to use </a:t>
            </a:r>
            <a:r>
              <a:rPr lang="en-US" sz="2400" b="0" strike="noStrike" spc="-1" dirty="0" err="1">
                <a:solidFill>
                  <a:srgbClr val="3F3F3F"/>
                </a:solidFill>
                <a:latin typeface="Segoe UI"/>
              </a:rPr>
              <a:t>Insyde</a:t>
            </a: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 H2ODDT to debug.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1" strike="noStrike" spc="-1" dirty="0">
                <a:solidFill>
                  <a:srgbClr val="3F3F3F"/>
                </a:solidFill>
                <a:latin typeface="Segoe UI"/>
              </a:rPr>
              <a:t>Requirements:</a:t>
            </a: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InsydeH2O 5.4 source code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 err="1">
                <a:solidFill>
                  <a:srgbClr val="3F3F3F"/>
                </a:solidFill>
                <a:latin typeface="Segoe UI"/>
              </a:rPr>
              <a:t>Insyde</a:t>
            </a: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 H2ODDT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Target board for debug</a:t>
            </a:r>
          </a:p>
        </p:txBody>
      </p:sp>
    </p:spTree>
    <p:extLst>
      <p:ext uri="{BB962C8B-B14F-4D97-AF65-F5344CB8AC3E}">
        <p14:creationId xmlns:p14="http://schemas.microsoft.com/office/powerpoint/2010/main" val="601105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90A6-A1C6-4034-B8DF-BB0CBB7F311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4000" b="1" strike="noStrike" spc="-1" dirty="0" err="1">
                <a:solidFill>
                  <a:srgbClr val="FFFFFF"/>
                </a:solidFill>
                <a:latin typeface="Segoe UI"/>
              </a:rPr>
              <a:t>Insyde</a:t>
            </a:r>
            <a:r>
              <a:rPr lang="en-US" sz="4000" b="1" strike="noStrike" spc="-1" dirty="0">
                <a:solidFill>
                  <a:srgbClr val="FFFFFF"/>
                </a:solidFill>
                <a:latin typeface="Segoe UI"/>
              </a:rPr>
              <a:t> H2ODDT™ Overview</a:t>
            </a:r>
            <a:endParaRPr lang="en-US" sz="4000" b="0" strike="noStrike" spc="-1" dirty="0">
              <a:solidFill>
                <a:srgbClr val="3F3F3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52896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4000" b="1" strike="noStrike" spc="-1" dirty="0" err="1">
                <a:solidFill>
                  <a:srgbClr val="000000"/>
                </a:solidFill>
                <a:latin typeface="Segoe UI"/>
              </a:rPr>
              <a:t>Insyde</a:t>
            </a:r>
            <a:r>
              <a:rPr lang="en-US" sz="4000" b="1" strike="noStrike" spc="-1" dirty="0">
                <a:solidFill>
                  <a:srgbClr val="000000"/>
                </a:solidFill>
                <a:latin typeface="Segoe UI"/>
              </a:rPr>
              <a:t> H2ODDT™ Overview</a:t>
            </a:r>
            <a:endParaRPr lang="en-US" sz="4000" b="0" strike="noStrike" spc="-1" dirty="0">
              <a:solidFill>
                <a:srgbClr val="3F3F3F"/>
              </a:solidFill>
              <a:latin typeface="Segoe U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ICE like feature support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Connection type flexibility of </a:t>
            </a:r>
            <a:r>
              <a:rPr lang="en-US" sz="2800" b="1" strike="noStrike" spc="-1" dirty="0">
                <a:solidFill>
                  <a:srgbClr val="FF0000"/>
                </a:solidFill>
                <a:latin typeface="Segoe UI"/>
              </a:rPr>
              <a:t>USB3.0</a:t>
            </a:r>
            <a:r>
              <a:rPr lang="en-US" sz="2800" b="0" strike="noStrike" spc="-1">
                <a:solidFill>
                  <a:srgbClr val="3F3F3F"/>
                </a:solidFill>
                <a:latin typeface="Segoe UI"/>
              </a:rPr>
              <a:t>./ com</a:t>
            </a: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Able to view and trace in </a:t>
            </a:r>
            <a:r>
              <a:rPr lang="en-US" sz="2800" b="1" strike="noStrike" spc="-1" dirty="0">
                <a:solidFill>
                  <a:srgbClr val="0070C0"/>
                </a:solidFill>
                <a:latin typeface="Segoe UI"/>
              </a:rPr>
              <a:t>C source code</a:t>
            </a: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 and </a:t>
            </a:r>
            <a:r>
              <a:rPr lang="en-US" sz="2800" b="1" strike="noStrike" spc="-1" dirty="0">
                <a:solidFill>
                  <a:srgbClr val="0070C0"/>
                </a:solidFill>
                <a:latin typeface="Segoe UI"/>
              </a:rPr>
              <a:t>Assembly code</a:t>
            </a: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 </a:t>
            </a:r>
            <a:r>
              <a:rPr lang="en-US" sz="2800" b="1" strike="noStrike" spc="-1" dirty="0">
                <a:solidFill>
                  <a:srgbClr val="FF0000"/>
                </a:solidFill>
                <a:latin typeface="Segoe UI"/>
              </a:rPr>
              <a:t>concurrently</a:t>
            </a: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Customized project profile settings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Individual windows can be easily invoked to access </a:t>
            </a:r>
            <a:r>
              <a:rPr lang="en-US" sz="2800" b="1" strike="noStrike" spc="-1" dirty="0">
                <a:solidFill>
                  <a:srgbClr val="0070C0"/>
                </a:solidFill>
                <a:latin typeface="Segoe UI"/>
              </a:rPr>
              <a:t>I/O registers</a:t>
            </a: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, </a:t>
            </a:r>
            <a:r>
              <a:rPr lang="en-US" sz="2800" b="1" strike="noStrike" spc="-1" dirty="0">
                <a:solidFill>
                  <a:srgbClr val="0070C0"/>
                </a:solidFill>
                <a:latin typeface="Segoe UI"/>
              </a:rPr>
              <a:t>PCI register</a:t>
            </a: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 space, read/write </a:t>
            </a:r>
            <a:r>
              <a:rPr lang="en-US" sz="2800" b="1" strike="noStrike" spc="-1" dirty="0">
                <a:solidFill>
                  <a:srgbClr val="0070C0"/>
                </a:solidFill>
                <a:latin typeface="Segoe UI"/>
              </a:rPr>
              <a:t>Memory region</a:t>
            </a: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, show </a:t>
            </a:r>
            <a:r>
              <a:rPr lang="en-US" sz="2800" b="1" strike="noStrike" spc="-1" dirty="0">
                <a:solidFill>
                  <a:srgbClr val="0070C0"/>
                </a:solidFill>
                <a:latin typeface="Segoe UI"/>
              </a:rPr>
              <a:t>CPU registers</a:t>
            </a: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, manipulate </a:t>
            </a:r>
            <a:r>
              <a:rPr lang="en-US" sz="2800" b="1" strike="noStrike" spc="-1" dirty="0">
                <a:solidFill>
                  <a:srgbClr val="0070C0"/>
                </a:solidFill>
                <a:latin typeface="Segoe UI"/>
              </a:rPr>
              <a:t>HW/SW breakpoints</a:t>
            </a: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, dump </a:t>
            </a:r>
            <a:r>
              <a:rPr lang="en-US" sz="2800" b="1" strike="noStrike" spc="-1" dirty="0">
                <a:solidFill>
                  <a:srgbClr val="0070C0"/>
                </a:solidFill>
                <a:latin typeface="Segoe UI"/>
              </a:rPr>
              <a:t>POST Code</a:t>
            </a: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012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4000" b="1" strike="noStrike" spc="-1" dirty="0">
                <a:solidFill>
                  <a:srgbClr val="000000"/>
                </a:solidFill>
                <a:latin typeface="Segoe UI"/>
              </a:rPr>
              <a:t>Hardware Requirements</a:t>
            </a:r>
            <a:endParaRPr lang="en-US" sz="4000" b="0" strike="noStrike" spc="-1" dirty="0">
              <a:solidFill>
                <a:srgbClr val="3F3F3F"/>
              </a:solidFill>
              <a:latin typeface="Segoe U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H2ODDT™ cable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Target board (USB3.0 with debug capability)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Host machine (Notebook or desktop with USB3.0)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3879AA-D59E-4A07-968A-EE544F8DFBD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223600" y="3429000"/>
            <a:ext cx="1658520" cy="1058400"/>
          </a:xfrm>
          <a:prstGeom prst="rect">
            <a:avLst/>
          </a:prstGeom>
          <a:ln w="9360"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49A902-04D2-497D-8A44-CC252569CD19}"/>
              </a:ext>
            </a:extLst>
          </p:cNvPr>
          <p:cNvPicPr/>
          <p:nvPr/>
        </p:nvPicPr>
        <p:blipFill>
          <a:blip r:embed="rId3">
            <a:lum contrast="30000"/>
          </a:blip>
          <a:stretch/>
        </p:blipFill>
        <p:spPr>
          <a:xfrm>
            <a:off x="6773760" y="4214880"/>
            <a:ext cx="1101240" cy="1434600"/>
          </a:xfrm>
          <a:prstGeom prst="rect">
            <a:avLst/>
          </a:prstGeom>
          <a:ln w="9360"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6C32F6-3A29-42EF-8B52-8CDEB86821AE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943520" y="4890960"/>
            <a:ext cx="1775880" cy="85320"/>
          </a:xfrm>
          <a:prstGeom prst="rect">
            <a:avLst/>
          </a:prstGeom>
          <a:ln w="9360"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D962CE-E19D-49D4-AFEA-3208578EDE2D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3772080" y="4086360"/>
            <a:ext cx="1560240" cy="971280"/>
          </a:xfrm>
          <a:prstGeom prst="rect">
            <a:avLst/>
          </a:prstGeom>
          <a:ln w="9360">
            <a:noFill/>
          </a:ln>
        </p:spPr>
      </p:pic>
    </p:spTree>
    <p:extLst>
      <p:ext uri="{BB962C8B-B14F-4D97-AF65-F5344CB8AC3E}">
        <p14:creationId xmlns:p14="http://schemas.microsoft.com/office/powerpoint/2010/main" val="4103581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4000" b="1" strike="noStrike" spc="-1" dirty="0">
                <a:solidFill>
                  <a:srgbClr val="000000"/>
                </a:solidFill>
                <a:latin typeface="Segoe UI"/>
              </a:rPr>
              <a:t>Hardware Requirements</a:t>
            </a:r>
            <a:endParaRPr lang="en-US" sz="4000" b="0" strike="noStrike" spc="-1" dirty="0">
              <a:solidFill>
                <a:srgbClr val="3F3F3F"/>
              </a:solidFill>
              <a:latin typeface="Segoe UI"/>
            </a:endParaRPr>
          </a:p>
        </p:txBody>
      </p:sp>
      <p:sp>
        <p:nvSpPr>
          <p:cNvPr id="10" name="TextShape 2">
            <a:extLst>
              <a:ext uri="{FF2B5EF4-FFF2-40B4-BE49-F238E27FC236}">
                <a16:creationId xmlns:a16="http://schemas.microsoft.com/office/drawing/2014/main" id="{8DCE44AB-2F89-4E1B-82AA-943D8B358341}"/>
              </a:ext>
            </a:extLst>
          </p:cNvPr>
          <p:cNvSpPr txBox="1"/>
          <p:nvPr/>
        </p:nvSpPr>
        <p:spPr>
          <a:xfrm>
            <a:off x="838080" y="1398600"/>
            <a:ext cx="10515240" cy="49878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USB Port Support Matrix</a:t>
            </a:r>
          </a:p>
        </p:txBody>
      </p:sp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CBE39199-7500-4B2C-A9BB-FDF5545C6E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214056"/>
              </p:ext>
            </p:extLst>
          </p:nvPr>
        </p:nvGraphicFramePr>
        <p:xfrm>
          <a:off x="1717560" y="1993680"/>
          <a:ext cx="8756280" cy="1983600"/>
        </p:xfrm>
        <a:graphic>
          <a:graphicData uri="http://schemas.openxmlformats.org/drawingml/2006/table">
            <a:tbl>
              <a:tblPr/>
              <a:tblGrid>
                <a:gridCol w="36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8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7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178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latin typeface="Segoe UI"/>
                        </a:rPr>
                        <a:t>Host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178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latin typeface="Segoe UI"/>
                        </a:rPr>
                        <a:t>Target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178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latin typeface="Segoe UI"/>
                        </a:rPr>
                        <a:t>Supported?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178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720">
                <a:tc row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 dirty="0">
                          <a:solidFill>
                            <a:srgbClr val="3F3F3F"/>
                          </a:solidFill>
                          <a:latin typeface="Segoe UI"/>
                        </a:rPr>
                        <a:t>Build in USB 3.0 BIOS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3F3F3F"/>
                          </a:solidFill>
                          <a:latin typeface="Segoe UI"/>
                        </a:rPr>
                        <a:t>2.0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3F3F3F"/>
                          </a:solidFill>
                          <a:latin typeface="Segoe UI"/>
                        </a:rPr>
                        <a:t>2.0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 dirty="0">
                          <a:solidFill>
                            <a:srgbClr val="3F3F3F"/>
                          </a:solidFill>
                          <a:latin typeface="Segoe UI"/>
                        </a:rPr>
                        <a:t>NO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7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3F3F3F"/>
                          </a:solidFill>
                          <a:latin typeface="Segoe UI"/>
                        </a:rPr>
                        <a:t>3.0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3F3F3F"/>
                          </a:solidFill>
                          <a:latin typeface="Segoe UI"/>
                        </a:rPr>
                        <a:t>2.0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3F3F3F"/>
                          </a:solidFill>
                          <a:latin typeface="Segoe UI"/>
                        </a:rPr>
                        <a:t>NO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7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3F3F3F"/>
                          </a:solidFill>
                          <a:latin typeface="Segoe UI"/>
                        </a:rPr>
                        <a:t>2.0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3F3F3F"/>
                          </a:solidFill>
                          <a:latin typeface="Segoe UI"/>
                        </a:rPr>
                        <a:t>3.0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3F3F3F"/>
                          </a:solidFill>
                          <a:latin typeface="Segoe UI"/>
                        </a:rPr>
                        <a:t>NO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7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3F3F3F"/>
                          </a:solidFill>
                          <a:latin typeface="Segoe UI"/>
                        </a:rPr>
                        <a:t>3.0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3F3F3F"/>
                          </a:solidFill>
                          <a:latin typeface="Segoe UI"/>
                        </a:rPr>
                        <a:t>3.0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 dirty="0">
                          <a:solidFill>
                            <a:srgbClr val="FF0000"/>
                          </a:solidFill>
                          <a:latin typeface="Segoe UI"/>
                        </a:rPr>
                        <a:t>YES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3750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4000" b="1" strike="noStrike" spc="-1" dirty="0">
                <a:solidFill>
                  <a:srgbClr val="000000"/>
                </a:solidFill>
                <a:latin typeface="Segoe UI"/>
              </a:rPr>
              <a:t>Software Requirements</a:t>
            </a:r>
            <a:endParaRPr lang="en-US" sz="4000" b="0" strike="noStrike" spc="-1" dirty="0">
              <a:solidFill>
                <a:srgbClr val="3F3F3F"/>
              </a:solidFill>
              <a:latin typeface="Segoe UI"/>
            </a:endParaRPr>
          </a:p>
        </p:txBody>
      </p:sp>
      <p:sp>
        <p:nvSpPr>
          <p:cNvPr id="10" name="TextShape 2">
            <a:extLst>
              <a:ext uri="{FF2B5EF4-FFF2-40B4-BE49-F238E27FC236}">
                <a16:creationId xmlns:a16="http://schemas.microsoft.com/office/drawing/2014/main" id="{8DCE44AB-2F89-4E1B-82AA-943D8B358341}"/>
              </a:ext>
            </a:extLst>
          </p:cNvPr>
          <p:cNvSpPr txBox="1"/>
          <p:nvPr/>
        </p:nvSpPr>
        <p:spPr>
          <a:xfrm>
            <a:off x="838080" y="1398600"/>
            <a:ext cx="10515240" cy="49878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H2ODDT™ Application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H2ODDT™ USB cable drivers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Source codes of InsydeH2O™</a:t>
            </a:r>
          </a:p>
        </p:txBody>
      </p:sp>
    </p:spTree>
    <p:extLst>
      <p:ext uri="{BB962C8B-B14F-4D97-AF65-F5344CB8AC3E}">
        <p14:creationId xmlns:p14="http://schemas.microsoft.com/office/powerpoint/2010/main" val="3012515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4000" b="1" strike="noStrike" spc="-1" dirty="0">
                <a:solidFill>
                  <a:srgbClr val="000000"/>
                </a:solidFill>
                <a:latin typeface="Segoe UI"/>
              </a:rPr>
              <a:t>H2ODDT™ PEIMs</a:t>
            </a:r>
            <a:endParaRPr lang="en-US" sz="4000" b="0" strike="noStrike" spc="-1" dirty="0">
              <a:solidFill>
                <a:srgbClr val="3F3F3F"/>
              </a:solidFill>
              <a:latin typeface="Segoe UI"/>
            </a:endParaRPr>
          </a:p>
        </p:txBody>
      </p:sp>
      <p:sp>
        <p:nvSpPr>
          <p:cNvPr id="10" name="TextShape 2">
            <a:extLst>
              <a:ext uri="{FF2B5EF4-FFF2-40B4-BE49-F238E27FC236}">
                <a16:creationId xmlns:a16="http://schemas.microsoft.com/office/drawing/2014/main" id="{8DCE44AB-2F89-4E1B-82AA-943D8B358341}"/>
              </a:ext>
            </a:extLst>
          </p:cNvPr>
          <p:cNvSpPr txBox="1"/>
          <p:nvPr/>
        </p:nvSpPr>
        <p:spPr>
          <a:xfrm>
            <a:off x="838080" y="1398600"/>
            <a:ext cx="10515240" cy="498780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77500" lnSpcReduction="20000"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3600" b="0" strike="noStrike" spc="-1" dirty="0" err="1">
                <a:solidFill>
                  <a:srgbClr val="3F3F3F"/>
                </a:solidFill>
                <a:latin typeface="Segoe UI"/>
              </a:rPr>
              <a:t>InsydeModulePkg</a:t>
            </a:r>
            <a:r>
              <a:rPr lang="en-US" sz="3600" b="0" strike="noStrike" spc="-1" dirty="0">
                <a:solidFill>
                  <a:srgbClr val="3F3F3F"/>
                </a:solidFill>
                <a:latin typeface="Segoe UI"/>
              </a:rPr>
              <a:t>/</a:t>
            </a:r>
            <a:r>
              <a:rPr lang="en-US" sz="3600" b="0" strike="noStrike" spc="-1" dirty="0" err="1">
                <a:solidFill>
                  <a:srgbClr val="3F3F3F"/>
                </a:solidFill>
                <a:latin typeface="Segoe UI"/>
              </a:rPr>
              <a:t>Package.dsc</a:t>
            </a:r>
            <a:endParaRPr lang="en-US" sz="3600" b="0" strike="noStrike" spc="-1" dirty="0">
              <a:solidFill>
                <a:srgbClr val="3F3F3F"/>
              </a:solidFill>
              <a:latin typeface="Segoe U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!if </a:t>
            </a:r>
            <a:r>
              <a:rPr lang="en-US" sz="2800" b="1" strike="noStrike" spc="-1" dirty="0" err="1">
                <a:solidFill>
                  <a:srgbClr val="0070C0"/>
                </a:solidFill>
                <a:latin typeface="Segoe UI"/>
              </a:rPr>
              <a:t>gInsydeTokenSpaceGuid.PcdInsydeDebugger</a:t>
            </a: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</a:pPr>
            <a:r>
              <a:rPr lang="en-US" sz="2800" b="1" strike="noStrike" spc="-1" dirty="0" err="1">
                <a:solidFill>
                  <a:srgbClr val="3F3F3F"/>
                </a:solidFill>
                <a:latin typeface="Segoe UI"/>
              </a:rPr>
              <a:t>InsydeModulePkg</a:t>
            </a:r>
            <a:r>
              <a:rPr lang="en-US" sz="2800" b="1" strike="noStrike" spc="-1" dirty="0">
                <a:solidFill>
                  <a:srgbClr val="3F3F3F"/>
                </a:solidFill>
                <a:latin typeface="Segoe UI"/>
              </a:rPr>
              <a:t>/H2ODebug/$(H2O_DDT_DEBUG_IO)</a:t>
            </a:r>
            <a:r>
              <a:rPr lang="en-US" sz="2800" b="1" strike="noStrike" spc="-1" dirty="0" err="1">
                <a:solidFill>
                  <a:srgbClr val="3F3F3F"/>
                </a:solidFill>
                <a:latin typeface="Segoe UI"/>
              </a:rPr>
              <a:t>DebugIoPei</a:t>
            </a:r>
            <a:r>
              <a:rPr lang="en-US" sz="2800" b="1" strike="noStrike" spc="-1" dirty="0">
                <a:solidFill>
                  <a:srgbClr val="3F3F3F"/>
                </a:solidFill>
                <a:latin typeface="Segoe UI"/>
              </a:rPr>
              <a:t>/</a:t>
            </a:r>
            <a:br>
              <a:rPr lang="en-US" sz="2800" dirty="0"/>
            </a:br>
            <a:r>
              <a:rPr lang="en-US" sz="2800" b="1" strike="noStrike" spc="-1" dirty="0">
                <a:solidFill>
                  <a:srgbClr val="FF0000"/>
                </a:solidFill>
                <a:latin typeface="Segoe UI"/>
              </a:rPr>
              <a:t>$(H2O_DDT_DEBUG_IO)DebugIoPei.inf</a:t>
            </a: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</a:pPr>
            <a:r>
              <a:rPr lang="en-US" sz="2800" b="1" strike="noStrike" spc="-1" dirty="0" err="1">
                <a:solidFill>
                  <a:srgbClr val="3F3F3F"/>
                </a:solidFill>
                <a:latin typeface="Segoe UI"/>
              </a:rPr>
              <a:t>InsydeModulePkg</a:t>
            </a:r>
            <a:r>
              <a:rPr lang="en-US" sz="2800" b="1" strike="noStrike" spc="-1" dirty="0">
                <a:solidFill>
                  <a:srgbClr val="3F3F3F"/>
                </a:solidFill>
                <a:latin typeface="Segoe UI"/>
              </a:rPr>
              <a:t>/H2ODebug/</a:t>
            </a:r>
            <a:r>
              <a:rPr lang="en-US" sz="2800" b="1" strike="noStrike" spc="-1" dirty="0" err="1">
                <a:solidFill>
                  <a:srgbClr val="3F3F3F"/>
                </a:solidFill>
                <a:latin typeface="Segoe UI"/>
              </a:rPr>
              <a:t>DebugEnginePei</a:t>
            </a:r>
            <a:r>
              <a:rPr lang="en-US" sz="2800" b="1" strike="noStrike" spc="-1" dirty="0">
                <a:solidFill>
                  <a:srgbClr val="3F3F3F"/>
                </a:solidFill>
                <a:latin typeface="Segoe UI"/>
              </a:rPr>
              <a:t>/</a:t>
            </a:r>
            <a:r>
              <a:rPr lang="en-US" sz="2800" b="1" strike="noStrike" spc="-1" dirty="0">
                <a:solidFill>
                  <a:srgbClr val="FF0000"/>
                </a:solidFill>
                <a:latin typeface="Segoe UI"/>
              </a:rPr>
              <a:t>DebugEnginePei.inf</a:t>
            </a: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…</a:t>
            </a:r>
          </a:p>
          <a:p>
            <a:pPr marL="457200">
              <a:lnSpc>
                <a:spcPct val="90000"/>
              </a:lnSpc>
              <a:spcBef>
                <a:spcPts val="499"/>
              </a:spcBef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!endif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3600" b="0" strike="noStrike" spc="-1" dirty="0" err="1">
                <a:solidFill>
                  <a:srgbClr val="3F3F3F"/>
                </a:solidFill>
                <a:latin typeface="Segoe UI"/>
              </a:rPr>
              <a:t>InsydeModulePkg</a:t>
            </a:r>
            <a:r>
              <a:rPr lang="en-US" sz="3600" b="0" strike="noStrike" spc="-1" dirty="0">
                <a:solidFill>
                  <a:srgbClr val="3F3F3F"/>
                </a:solidFill>
                <a:latin typeface="Segoe UI"/>
              </a:rPr>
              <a:t>/</a:t>
            </a:r>
            <a:r>
              <a:rPr lang="en-US" sz="3600" b="0" strike="noStrike" spc="-1" dirty="0" err="1">
                <a:solidFill>
                  <a:srgbClr val="3F3F3F"/>
                </a:solidFill>
                <a:latin typeface="Segoe UI"/>
              </a:rPr>
              <a:t>Package.fdf</a:t>
            </a:r>
            <a:endParaRPr lang="en-US" sz="3600" b="0" strike="noStrike" spc="-1" dirty="0">
              <a:solidFill>
                <a:srgbClr val="3F3F3F"/>
              </a:solidFill>
              <a:latin typeface="Segoe U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!if </a:t>
            </a:r>
            <a:r>
              <a:rPr lang="en-US" sz="2800" b="1" strike="noStrike" spc="-1" dirty="0" err="1">
                <a:solidFill>
                  <a:srgbClr val="0070C0"/>
                </a:solidFill>
                <a:latin typeface="Segoe UI"/>
              </a:rPr>
              <a:t>gInsydeTokenSpaceGuid.PcdInsydeDebugger</a:t>
            </a: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INF APRIORI=0xC000 </a:t>
            </a:r>
            <a:r>
              <a:rPr lang="en-US" sz="2800" b="1" strike="noStrike" spc="-1" dirty="0" err="1">
                <a:solidFill>
                  <a:srgbClr val="3F3F3F"/>
                </a:solidFill>
                <a:latin typeface="Segoe UI"/>
              </a:rPr>
              <a:t>InsydeModulePkg</a:t>
            </a:r>
            <a:r>
              <a:rPr lang="en-US" sz="2800" b="1" strike="noStrike" spc="-1" dirty="0">
                <a:solidFill>
                  <a:srgbClr val="3F3F3F"/>
                </a:solidFill>
                <a:latin typeface="Segoe UI"/>
              </a:rPr>
              <a:t>/H2ODebug/$(H2O_DDT_DEBUG_IO)</a:t>
            </a:r>
            <a:r>
              <a:rPr lang="en-US" sz="2800" b="1" strike="noStrike" spc="-1" dirty="0" err="1">
                <a:solidFill>
                  <a:srgbClr val="3F3F3F"/>
                </a:solidFill>
                <a:latin typeface="Segoe UI"/>
              </a:rPr>
              <a:t>DebugIoPei</a:t>
            </a:r>
            <a:r>
              <a:rPr lang="en-US" sz="2800" b="1" strike="noStrike" spc="-1" dirty="0">
                <a:solidFill>
                  <a:srgbClr val="3F3F3F"/>
                </a:solidFill>
                <a:latin typeface="Segoe UI"/>
              </a:rPr>
              <a:t>/</a:t>
            </a:r>
            <a:br>
              <a:rPr lang="en-US" sz="2800" dirty="0"/>
            </a:br>
            <a:r>
              <a:rPr lang="en-US" sz="2800" b="1" strike="noStrike" spc="-1" dirty="0">
                <a:solidFill>
                  <a:srgbClr val="FF0000"/>
                </a:solidFill>
                <a:latin typeface="Segoe UI"/>
              </a:rPr>
              <a:t>$(H2O_DDT_DEBUG_IO)DebugIoPei.inf</a:t>
            </a: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INF APRIORI=0xC000 </a:t>
            </a:r>
            <a:r>
              <a:rPr lang="en-US" sz="2800" b="1" strike="noStrike" spc="-1" dirty="0" err="1">
                <a:solidFill>
                  <a:srgbClr val="3F3F3F"/>
                </a:solidFill>
                <a:latin typeface="Segoe UI"/>
              </a:rPr>
              <a:t>InsydeModulePkg</a:t>
            </a:r>
            <a:r>
              <a:rPr lang="en-US" sz="2800" b="1" strike="noStrike" spc="-1" dirty="0">
                <a:solidFill>
                  <a:srgbClr val="3F3F3F"/>
                </a:solidFill>
                <a:latin typeface="Segoe UI"/>
              </a:rPr>
              <a:t>/H2ODebug/</a:t>
            </a:r>
            <a:r>
              <a:rPr lang="en-US" sz="2800" b="1" strike="noStrike" spc="-1" dirty="0" err="1">
                <a:solidFill>
                  <a:srgbClr val="3F3F3F"/>
                </a:solidFill>
                <a:latin typeface="Segoe UI"/>
              </a:rPr>
              <a:t>DebugEnginePei</a:t>
            </a:r>
            <a:r>
              <a:rPr lang="en-US" sz="2800" b="1" strike="noStrike" spc="-1" dirty="0">
                <a:solidFill>
                  <a:srgbClr val="3F3F3F"/>
                </a:solidFill>
                <a:latin typeface="Segoe UI"/>
              </a:rPr>
              <a:t>/</a:t>
            </a:r>
            <a:r>
              <a:rPr lang="en-US" sz="2800" b="1" strike="noStrike" spc="-1" dirty="0">
                <a:solidFill>
                  <a:srgbClr val="FF0000"/>
                </a:solidFill>
                <a:latin typeface="Segoe UI"/>
              </a:rPr>
              <a:t>DebugEnginePei.inf</a:t>
            </a: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…</a:t>
            </a:r>
          </a:p>
          <a:p>
            <a:pPr marL="457200">
              <a:lnSpc>
                <a:spcPct val="90000"/>
              </a:lnSpc>
              <a:spcBef>
                <a:spcPts val="499"/>
              </a:spcBef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!endif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92099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4000" b="1" strike="noStrike" spc="-1" dirty="0">
                <a:solidFill>
                  <a:srgbClr val="000000"/>
                </a:solidFill>
                <a:latin typeface="Segoe UI"/>
              </a:rPr>
              <a:t>H2ODDT™ Drivers</a:t>
            </a:r>
            <a:endParaRPr lang="en-US" sz="4000" b="0" strike="noStrike" spc="-1" dirty="0">
              <a:solidFill>
                <a:srgbClr val="3F3F3F"/>
              </a:solidFill>
              <a:latin typeface="Segoe UI"/>
            </a:endParaRPr>
          </a:p>
        </p:txBody>
      </p:sp>
      <p:sp>
        <p:nvSpPr>
          <p:cNvPr id="10" name="TextShape 2">
            <a:extLst>
              <a:ext uri="{FF2B5EF4-FFF2-40B4-BE49-F238E27FC236}">
                <a16:creationId xmlns:a16="http://schemas.microsoft.com/office/drawing/2014/main" id="{8DCE44AB-2F89-4E1B-82AA-943D8B358341}"/>
              </a:ext>
            </a:extLst>
          </p:cNvPr>
          <p:cNvSpPr txBox="1"/>
          <p:nvPr/>
        </p:nvSpPr>
        <p:spPr>
          <a:xfrm>
            <a:off x="838080" y="1398600"/>
            <a:ext cx="10515240" cy="498780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62500" lnSpcReduction="20000"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4400" b="0" strike="noStrike" spc="-1" dirty="0" err="1">
                <a:solidFill>
                  <a:srgbClr val="3F3F3F"/>
                </a:solidFill>
                <a:latin typeface="Segoe UI"/>
              </a:rPr>
              <a:t>InsydeModulePkg</a:t>
            </a:r>
            <a:r>
              <a:rPr lang="en-US" sz="4400" b="0" strike="noStrike" spc="-1" dirty="0">
                <a:solidFill>
                  <a:srgbClr val="3F3F3F"/>
                </a:solidFill>
                <a:latin typeface="Segoe UI"/>
              </a:rPr>
              <a:t>/</a:t>
            </a:r>
            <a:r>
              <a:rPr lang="en-US" sz="4400" b="0" strike="noStrike" spc="-1" dirty="0" err="1">
                <a:solidFill>
                  <a:srgbClr val="3F3F3F"/>
                </a:solidFill>
                <a:latin typeface="Segoe UI"/>
              </a:rPr>
              <a:t>Package.dsc</a:t>
            </a:r>
            <a:endParaRPr lang="en-US" sz="4400" b="0" strike="noStrike" spc="-1" dirty="0">
              <a:solidFill>
                <a:srgbClr val="3F3F3F"/>
              </a:solidFill>
              <a:latin typeface="Segoe U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</a:pPr>
            <a:r>
              <a:rPr lang="en-US" sz="3600" b="0" strike="noStrike" spc="-1" dirty="0">
                <a:solidFill>
                  <a:srgbClr val="3F3F3F"/>
                </a:solidFill>
                <a:latin typeface="Segoe UI"/>
              </a:rPr>
              <a:t>!if </a:t>
            </a:r>
            <a:r>
              <a:rPr lang="en-US" sz="3600" b="1" strike="noStrike" spc="-1" dirty="0" err="1">
                <a:solidFill>
                  <a:srgbClr val="0070C0"/>
                </a:solidFill>
                <a:latin typeface="Segoe UI"/>
              </a:rPr>
              <a:t>gInsydeTokenSpaceGuid.PcdInsydeDebugger</a:t>
            </a:r>
            <a:endParaRPr lang="en-US" sz="3600" b="0" strike="noStrike" spc="-1" dirty="0">
              <a:solidFill>
                <a:srgbClr val="3F3F3F"/>
              </a:solidFill>
              <a:latin typeface="Segoe U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</a:pPr>
            <a:r>
              <a:rPr lang="en-US" sz="3600" b="1" strike="noStrike" spc="-1" dirty="0" err="1">
                <a:solidFill>
                  <a:srgbClr val="3F3F3F"/>
                </a:solidFill>
                <a:latin typeface="Segoe UI"/>
              </a:rPr>
              <a:t>InsydeModulePkg</a:t>
            </a:r>
            <a:r>
              <a:rPr lang="en-US" sz="3600" b="1" strike="noStrike" spc="-1" dirty="0">
                <a:solidFill>
                  <a:srgbClr val="3F3F3F"/>
                </a:solidFill>
                <a:latin typeface="Segoe UI"/>
              </a:rPr>
              <a:t>/H2ODebug/$(H2O_DDT_DEBUG_IO)</a:t>
            </a:r>
            <a:r>
              <a:rPr lang="en-US" sz="3600" b="1" strike="noStrike" spc="-1" dirty="0" err="1">
                <a:solidFill>
                  <a:srgbClr val="3F3F3F"/>
                </a:solidFill>
                <a:latin typeface="Segoe UI"/>
              </a:rPr>
              <a:t>DebugIoDxe</a:t>
            </a:r>
            <a:r>
              <a:rPr lang="en-US" sz="3600" b="1" strike="noStrike" spc="-1" dirty="0">
                <a:solidFill>
                  <a:srgbClr val="3F3F3F"/>
                </a:solidFill>
                <a:latin typeface="Segoe UI"/>
              </a:rPr>
              <a:t>/</a:t>
            </a:r>
            <a:br>
              <a:rPr lang="en-US" sz="3600" dirty="0"/>
            </a:br>
            <a:r>
              <a:rPr lang="en-US" sz="3600" b="1" strike="noStrike" spc="-1" dirty="0">
                <a:solidFill>
                  <a:srgbClr val="FF0000"/>
                </a:solidFill>
                <a:latin typeface="Segoe UI"/>
              </a:rPr>
              <a:t>$(H2O_DDT_DEBUG_IO)DebugIoDxe.inf</a:t>
            </a:r>
            <a:endParaRPr lang="en-US" sz="3600" b="0" strike="noStrike" spc="-1" dirty="0">
              <a:solidFill>
                <a:srgbClr val="3F3F3F"/>
              </a:solidFill>
              <a:latin typeface="Segoe U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</a:pPr>
            <a:r>
              <a:rPr lang="en-US" sz="3600" b="1" strike="noStrike" spc="-1" dirty="0" err="1">
                <a:solidFill>
                  <a:srgbClr val="3F3F3F"/>
                </a:solidFill>
                <a:latin typeface="Segoe UI"/>
              </a:rPr>
              <a:t>InsydeModulePkg</a:t>
            </a:r>
            <a:r>
              <a:rPr lang="en-US" sz="3600" b="1" strike="noStrike" spc="-1" dirty="0">
                <a:solidFill>
                  <a:srgbClr val="3F3F3F"/>
                </a:solidFill>
                <a:latin typeface="Segoe UI"/>
              </a:rPr>
              <a:t>/H2ODebug/</a:t>
            </a:r>
            <a:r>
              <a:rPr lang="en-US" sz="3600" b="1" strike="noStrike" spc="-1" dirty="0" err="1">
                <a:solidFill>
                  <a:srgbClr val="3F3F3F"/>
                </a:solidFill>
                <a:latin typeface="Segoe UI"/>
              </a:rPr>
              <a:t>DebugEngineDxe</a:t>
            </a:r>
            <a:r>
              <a:rPr lang="en-US" sz="3600" b="1" strike="noStrike" spc="-1" dirty="0">
                <a:solidFill>
                  <a:srgbClr val="3F3F3F"/>
                </a:solidFill>
                <a:latin typeface="Segoe UI"/>
              </a:rPr>
              <a:t>/</a:t>
            </a:r>
            <a:r>
              <a:rPr lang="en-US" sz="3600" b="1" strike="noStrike" spc="-1" dirty="0">
                <a:solidFill>
                  <a:srgbClr val="FF0000"/>
                </a:solidFill>
                <a:latin typeface="Segoe UI"/>
              </a:rPr>
              <a:t>DebugEngineDxe.inf</a:t>
            </a:r>
            <a:endParaRPr lang="en-US" sz="3600" b="0" strike="noStrike" spc="-1" dirty="0">
              <a:solidFill>
                <a:srgbClr val="3F3F3F"/>
              </a:solidFill>
              <a:latin typeface="Segoe U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</a:pPr>
            <a:r>
              <a:rPr lang="en-US" sz="3600" b="0" strike="noStrike" spc="-1" dirty="0">
                <a:solidFill>
                  <a:srgbClr val="3F3F3F"/>
                </a:solidFill>
                <a:latin typeface="Segoe UI"/>
              </a:rPr>
              <a:t>…</a:t>
            </a:r>
          </a:p>
          <a:p>
            <a:pPr marL="457200">
              <a:lnSpc>
                <a:spcPct val="90000"/>
              </a:lnSpc>
              <a:spcBef>
                <a:spcPts val="499"/>
              </a:spcBef>
            </a:pPr>
            <a:r>
              <a:rPr lang="en-US" sz="3600" b="0" strike="noStrike" spc="-1" dirty="0">
                <a:solidFill>
                  <a:srgbClr val="3F3F3F"/>
                </a:solidFill>
                <a:latin typeface="Segoe UI"/>
              </a:rPr>
              <a:t>!endif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4400" b="0" strike="noStrike" spc="-1" dirty="0" err="1">
                <a:solidFill>
                  <a:srgbClr val="3F3F3F"/>
                </a:solidFill>
                <a:latin typeface="Segoe UI"/>
              </a:rPr>
              <a:t>InsydeModulePkg</a:t>
            </a:r>
            <a:r>
              <a:rPr lang="en-US" sz="4400" b="0" strike="noStrike" spc="-1" dirty="0">
                <a:solidFill>
                  <a:srgbClr val="3F3F3F"/>
                </a:solidFill>
                <a:latin typeface="Segoe UI"/>
              </a:rPr>
              <a:t>/</a:t>
            </a:r>
            <a:r>
              <a:rPr lang="en-US" sz="4400" b="0" strike="noStrike" spc="-1" dirty="0" err="1">
                <a:solidFill>
                  <a:srgbClr val="3F3F3F"/>
                </a:solidFill>
                <a:latin typeface="Segoe UI"/>
              </a:rPr>
              <a:t>Package.fdf</a:t>
            </a:r>
            <a:endParaRPr lang="en-US" sz="4400" b="0" strike="noStrike" spc="-1" dirty="0">
              <a:solidFill>
                <a:srgbClr val="3F3F3F"/>
              </a:solidFill>
              <a:latin typeface="Segoe U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</a:pPr>
            <a:r>
              <a:rPr lang="en-US" sz="3600" b="0" strike="noStrike" spc="-1" dirty="0">
                <a:solidFill>
                  <a:srgbClr val="3F3F3F"/>
                </a:solidFill>
                <a:latin typeface="Segoe UI"/>
              </a:rPr>
              <a:t>!if </a:t>
            </a:r>
            <a:r>
              <a:rPr lang="en-US" sz="3600" b="1" strike="noStrike" spc="-1" dirty="0" err="1">
                <a:solidFill>
                  <a:srgbClr val="0070C0"/>
                </a:solidFill>
                <a:latin typeface="Segoe UI"/>
              </a:rPr>
              <a:t>gInsydeTokenSpaceGuid.PcdInsydeDebugger</a:t>
            </a:r>
            <a:endParaRPr lang="en-US" sz="3600" b="0" strike="noStrike" spc="-1" dirty="0">
              <a:solidFill>
                <a:srgbClr val="3F3F3F"/>
              </a:solidFill>
              <a:latin typeface="Segoe U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</a:pPr>
            <a:r>
              <a:rPr lang="en-US" sz="3600" b="0" strike="noStrike" spc="-1" dirty="0">
                <a:solidFill>
                  <a:srgbClr val="3F3F3F"/>
                </a:solidFill>
                <a:latin typeface="Segoe UI"/>
              </a:rPr>
              <a:t>INF APRIORI=0xC000 </a:t>
            </a:r>
            <a:r>
              <a:rPr lang="en-US" sz="3600" b="1" strike="noStrike" spc="-1" dirty="0" err="1">
                <a:solidFill>
                  <a:srgbClr val="3F3F3F"/>
                </a:solidFill>
                <a:latin typeface="Segoe UI"/>
              </a:rPr>
              <a:t>InsydeModulePkg</a:t>
            </a:r>
            <a:r>
              <a:rPr lang="en-US" sz="3600" b="1" strike="noStrike" spc="-1" dirty="0">
                <a:solidFill>
                  <a:srgbClr val="3F3F3F"/>
                </a:solidFill>
                <a:latin typeface="Segoe UI"/>
              </a:rPr>
              <a:t>/H2ODebug/$(H2O_DDT_DEBUG_IO)</a:t>
            </a:r>
            <a:r>
              <a:rPr lang="en-US" sz="3600" b="1" strike="noStrike" spc="-1" dirty="0" err="1">
                <a:solidFill>
                  <a:srgbClr val="3F3F3F"/>
                </a:solidFill>
                <a:latin typeface="Segoe UI"/>
              </a:rPr>
              <a:t>DebugIoDxe</a:t>
            </a:r>
            <a:r>
              <a:rPr lang="en-US" sz="3600" b="1" strike="noStrike" spc="-1" dirty="0">
                <a:solidFill>
                  <a:srgbClr val="3F3F3F"/>
                </a:solidFill>
                <a:latin typeface="Segoe UI"/>
              </a:rPr>
              <a:t>/</a:t>
            </a:r>
            <a:br>
              <a:rPr lang="en-US" sz="3600" dirty="0"/>
            </a:br>
            <a:r>
              <a:rPr lang="en-US" sz="3600" b="1" strike="noStrike" spc="-1" dirty="0">
                <a:solidFill>
                  <a:srgbClr val="FF0000"/>
                </a:solidFill>
                <a:latin typeface="Segoe UI"/>
              </a:rPr>
              <a:t>$(H2O_DDT_DEBUG_IO)DebugIoDxe.inf</a:t>
            </a:r>
            <a:endParaRPr lang="en-US" sz="3600" b="0" strike="noStrike" spc="-1" dirty="0">
              <a:solidFill>
                <a:srgbClr val="3F3F3F"/>
              </a:solidFill>
              <a:latin typeface="Segoe U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</a:pPr>
            <a:r>
              <a:rPr lang="en-US" sz="3600" b="0" strike="noStrike" spc="-1" dirty="0">
                <a:solidFill>
                  <a:srgbClr val="3F3F3F"/>
                </a:solidFill>
                <a:latin typeface="Segoe UI"/>
              </a:rPr>
              <a:t>INF APRIORI=0xC000 </a:t>
            </a:r>
            <a:r>
              <a:rPr lang="en-US" sz="3600" b="1" strike="noStrike" spc="-1" dirty="0" err="1">
                <a:solidFill>
                  <a:srgbClr val="3F3F3F"/>
                </a:solidFill>
                <a:latin typeface="Segoe UI"/>
              </a:rPr>
              <a:t>InsydeModulePkg</a:t>
            </a:r>
            <a:r>
              <a:rPr lang="en-US" sz="3600" b="1" strike="noStrike" spc="-1" dirty="0">
                <a:solidFill>
                  <a:srgbClr val="3F3F3F"/>
                </a:solidFill>
                <a:latin typeface="Segoe UI"/>
              </a:rPr>
              <a:t>/H2ODebug/</a:t>
            </a:r>
            <a:r>
              <a:rPr lang="en-US" sz="3600" b="1" strike="noStrike" spc="-1" dirty="0" err="1">
                <a:solidFill>
                  <a:srgbClr val="3F3F3F"/>
                </a:solidFill>
                <a:latin typeface="Segoe UI"/>
              </a:rPr>
              <a:t>DebugEngineDxe</a:t>
            </a:r>
            <a:r>
              <a:rPr lang="en-US" sz="3600" b="1" strike="noStrike" spc="-1" dirty="0">
                <a:solidFill>
                  <a:srgbClr val="3F3F3F"/>
                </a:solidFill>
                <a:latin typeface="Segoe UI"/>
              </a:rPr>
              <a:t>/</a:t>
            </a:r>
            <a:r>
              <a:rPr lang="en-US" sz="3600" b="1" strike="noStrike" spc="-1" dirty="0">
                <a:solidFill>
                  <a:srgbClr val="FF0000"/>
                </a:solidFill>
                <a:latin typeface="Segoe UI"/>
              </a:rPr>
              <a:t>DebugEngineDxe.inf</a:t>
            </a:r>
            <a:endParaRPr lang="en-US" sz="3600" b="0" strike="noStrike" spc="-1" dirty="0">
              <a:solidFill>
                <a:srgbClr val="3F3F3F"/>
              </a:solidFill>
              <a:latin typeface="Segoe U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</a:pPr>
            <a:r>
              <a:rPr lang="en-US" sz="3600" b="0" strike="noStrike" spc="-1" dirty="0">
                <a:solidFill>
                  <a:srgbClr val="3F3F3F"/>
                </a:solidFill>
                <a:latin typeface="Segoe UI"/>
              </a:rPr>
              <a:t>…</a:t>
            </a:r>
          </a:p>
          <a:p>
            <a:pPr marL="457200">
              <a:lnSpc>
                <a:spcPct val="90000"/>
              </a:lnSpc>
              <a:spcBef>
                <a:spcPts val="499"/>
              </a:spcBef>
            </a:pPr>
            <a:r>
              <a:rPr lang="en-US" sz="3600" b="0" strike="noStrike" spc="-1" dirty="0">
                <a:solidFill>
                  <a:srgbClr val="3F3F3F"/>
                </a:solidFill>
                <a:latin typeface="Segoe UI"/>
              </a:rPr>
              <a:t>!endif</a:t>
            </a:r>
          </a:p>
        </p:txBody>
      </p:sp>
    </p:spTree>
    <p:extLst>
      <p:ext uri="{BB962C8B-B14F-4D97-AF65-F5344CB8AC3E}">
        <p14:creationId xmlns:p14="http://schemas.microsoft.com/office/powerpoint/2010/main" val="3642932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90A6-A1C6-4034-B8DF-BB0CBB7F311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H2ODDT</a:t>
            </a:r>
            <a:r>
              <a:rPr lang="en-US" sz="4000" b="1" strike="noStrike" spc="-1" dirty="0">
                <a:solidFill>
                  <a:srgbClr val="FFFFFF"/>
                </a:solidFill>
                <a:latin typeface="Segoe UI"/>
              </a:rPr>
              <a:t> ™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277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H2ODDT</a:t>
            </a:r>
            <a:r>
              <a:rPr lang="en-US" sz="4000" b="1" strike="noStrike" spc="-1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4000" b="1" strike="noStrike" spc="-1" dirty="0">
                <a:latin typeface="Segoe UI"/>
              </a:rPr>
              <a:t>™</a:t>
            </a:r>
            <a:endParaRPr lang="en-US" dirty="0"/>
          </a:p>
        </p:txBody>
      </p:sp>
      <p:sp>
        <p:nvSpPr>
          <p:cNvPr id="6" name="Line 2">
            <a:extLst>
              <a:ext uri="{FF2B5EF4-FFF2-40B4-BE49-F238E27FC236}">
                <a16:creationId xmlns:a16="http://schemas.microsoft.com/office/drawing/2014/main" id="{BF4D282C-93E8-40AA-ACC7-EDAF37D0E503}"/>
              </a:ext>
            </a:extLst>
          </p:cNvPr>
          <p:cNvSpPr/>
          <p:nvPr/>
        </p:nvSpPr>
        <p:spPr>
          <a:xfrm>
            <a:off x="2273040" y="1316160"/>
            <a:ext cx="939960" cy="1440"/>
          </a:xfrm>
          <a:prstGeom prst="line">
            <a:avLst/>
          </a:prstGeom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Line 3">
            <a:extLst>
              <a:ext uri="{FF2B5EF4-FFF2-40B4-BE49-F238E27FC236}">
                <a16:creationId xmlns:a16="http://schemas.microsoft.com/office/drawing/2014/main" id="{E08E1B45-E75B-4A8F-9D7F-33DEAA5BAA21}"/>
              </a:ext>
            </a:extLst>
          </p:cNvPr>
          <p:cNvSpPr/>
          <p:nvPr/>
        </p:nvSpPr>
        <p:spPr>
          <a:xfrm>
            <a:off x="3213000" y="1316160"/>
            <a:ext cx="1206360" cy="1440"/>
          </a:xfrm>
          <a:prstGeom prst="line">
            <a:avLst/>
          </a:prstGeom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Line 4">
            <a:extLst>
              <a:ext uri="{FF2B5EF4-FFF2-40B4-BE49-F238E27FC236}">
                <a16:creationId xmlns:a16="http://schemas.microsoft.com/office/drawing/2014/main" id="{AC453B18-FADC-43D7-B79C-967EE18ACE23}"/>
              </a:ext>
            </a:extLst>
          </p:cNvPr>
          <p:cNvSpPr/>
          <p:nvPr/>
        </p:nvSpPr>
        <p:spPr>
          <a:xfrm>
            <a:off x="4419360" y="1316160"/>
            <a:ext cx="1549440" cy="1440"/>
          </a:xfrm>
          <a:prstGeom prst="line">
            <a:avLst/>
          </a:prstGeom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F448B26C-5CC5-4E47-9FEC-F870646D182B}"/>
              </a:ext>
            </a:extLst>
          </p:cNvPr>
          <p:cNvSpPr/>
          <p:nvPr/>
        </p:nvSpPr>
        <p:spPr>
          <a:xfrm>
            <a:off x="5968800" y="1316160"/>
            <a:ext cx="1320840" cy="1440"/>
          </a:xfrm>
          <a:prstGeom prst="line">
            <a:avLst/>
          </a:prstGeom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Line 6">
            <a:extLst>
              <a:ext uri="{FF2B5EF4-FFF2-40B4-BE49-F238E27FC236}">
                <a16:creationId xmlns:a16="http://schemas.microsoft.com/office/drawing/2014/main" id="{ADB19D68-3007-4890-94B6-5D43A1469B05}"/>
              </a:ext>
            </a:extLst>
          </p:cNvPr>
          <p:cNvSpPr/>
          <p:nvPr/>
        </p:nvSpPr>
        <p:spPr>
          <a:xfrm>
            <a:off x="7289640" y="1316160"/>
            <a:ext cx="1270080" cy="1440"/>
          </a:xfrm>
          <a:prstGeom prst="line">
            <a:avLst/>
          </a:prstGeom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Line 7">
            <a:extLst>
              <a:ext uri="{FF2B5EF4-FFF2-40B4-BE49-F238E27FC236}">
                <a16:creationId xmlns:a16="http://schemas.microsoft.com/office/drawing/2014/main" id="{4A6C9BA8-4E0A-4C9C-8BF8-34050E4F840B}"/>
              </a:ext>
            </a:extLst>
          </p:cNvPr>
          <p:cNvSpPr/>
          <p:nvPr/>
        </p:nvSpPr>
        <p:spPr>
          <a:xfrm>
            <a:off x="8559720" y="1316160"/>
            <a:ext cx="1270080" cy="1440"/>
          </a:xfrm>
          <a:prstGeom prst="line">
            <a:avLst/>
          </a:prstGeom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Line 8">
            <a:extLst>
              <a:ext uri="{FF2B5EF4-FFF2-40B4-BE49-F238E27FC236}">
                <a16:creationId xmlns:a16="http://schemas.microsoft.com/office/drawing/2014/main" id="{5EDCFB41-B489-4CE3-BB93-714301901080}"/>
              </a:ext>
            </a:extLst>
          </p:cNvPr>
          <p:cNvSpPr/>
          <p:nvPr/>
        </p:nvSpPr>
        <p:spPr>
          <a:xfrm>
            <a:off x="9829800" y="1316160"/>
            <a:ext cx="622080" cy="1440"/>
          </a:xfrm>
          <a:prstGeom prst="line">
            <a:avLst/>
          </a:prstGeom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9">
            <a:extLst>
              <a:ext uri="{FF2B5EF4-FFF2-40B4-BE49-F238E27FC236}">
                <a16:creationId xmlns:a16="http://schemas.microsoft.com/office/drawing/2014/main" id="{42F40888-E089-462C-9816-F68B995E2A83}"/>
              </a:ext>
            </a:extLst>
          </p:cNvPr>
          <p:cNvSpPr/>
          <p:nvPr/>
        </p:nvSpPr>
        <p:spPr>
          <a:xfrm>
            <a:off x="6024600" y="1926000"/>
            <a:ext cx="1287000" cy="10728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0">
            <a:extLst>
              <a:ext uri="{FF2B5EF4-FFF2-40B4-BE49-F238E27FC236}">
                <a16:creationId xmlns:a16="http://schemas.microsoft.com/office/drawing/2014/main" id="{260CEA6E-D08C-4DD7-B2E9-10558AA71959}"/>
              </a:ext>
            </a:extLst>
          </p:cNvPr>
          <p:cNvSpPr/>
          <p:nvPr/>
        </p:nvSpPr>
        <p:spPr>
          <a:xfrm rot="21540000" flipH="1">
            <a:off x="6064920" y="2081160"/>
            <a:ext cx="512280" cy="870840"/>
          </a:xfrm>
          <a:prstGeom prst="rightArrowCallout">
            <a:avLst>
              <a:gd name="adj1" fmla="val 42492"/>
              <a:gd name="adj2" fmla="val 48355"/>
              <a:gd name="adj3" fmla="val 16667"/>
              <a:gd name="adj4" fmla="val 0"/>
            </a:avLst>
          </a:prstGeom>
          <a:gradFill rotWithShape="0">
            <a:gsLst>
              <a:gs pos="0">
                <a:srgbClr val="FF7C80"/>
              </a:gs>
              <a:gs pos="100000">
                <a:srgbClr val="FFFFFF"/>
              </a:gs>
            </a:gsLst>
            <a:lin ang="5400000"/>
          </a:gradFill>
          <a:ln w="12600" cap="rnd">
            <a:solidFill>
              <a:srgbClr val="000000"/>
            </a:solidFill>
            <a:custDash>
              <a:ds d="400000" sp="300000"/>
            </a:custDash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rot="5400000" vert="vert" wrap="none" lIns="46800" tIns="90000" rIns="46800" bIns="90000" anchor="ctr">
            <a:noAutofit/>
          </a:bodyPr>
          <a:lstStyle/>
          <a:p>
            <a:pPr algn="ctr" rtl="1"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Segoe UI"/>
              </a:rPr>
              <a:t>SMM Driver</a:t>
            </a:r>
            <a:endParaRPr lang="en-US" sz="1200" b="0" strike="noStrike" spc="-1">
              <a:latin typeface="Arial"/>
            </a:endParaRPr>
          </a:p>
          <a:p>
            <a:pPr algn="ctr" rtl="1">
              <a:lnSpc>
                <a:spcPct val="100000"/>
              </a:lnSpc>
            </a:pPr>
            <a:endParaRPr lang="en-US" sz="1200" b="0" strike="noStrike" spc="-1">
              <a:latin typeface="Arial"/>
            </a:endParaRPr>
          </a:p>
        </p:txBody>
      </p:sp>
      <p:sp>
        <p:nvSpPr>
          <p:cNvPr id="15" name="CustomShape 11">
            <a:extLst>
              <a:ext uri="{FF2B5EF4-FFF2-40B4-BE49-F238E27FC236}">
                <a16:creationId xmlns:a16="http://schemas.microsoft.com/office/drawing/2014/main" id="{66EB6C53-7920-482F-859E-2699B959B568}"/>
              </a:ext>
            </a:extLst>
          </p:cNvPr>
          <p:cNvSpPr/>
          <p:nvPr/>
        </p:nvSpPr>
        <p:spPr>
          <a:xfrm rot="16200000" flipH="1">
            <a:off x="5071680" y="1602720"/>
            <a:ext cx="477360" cy="1072800"/>
          </a:xfrm>
          <a:prstGeom prst="rightArrowCallout">
            <a:avLst>
              <a:gd name="adj1" fmla="val 56146"/>
              <a:gd name="adj2" fmla="val 63892"/>
              <a:gd name="adj3" fmla="val 16667"/>
              <a:gd name="adj4" fmla="val 0"/>
            </a:avLst>
          </a:prstGeom>
          <a:gradFill rotWithShape="0">
            <a:gsLst>
              <a:gs pos="0">
                <a:srgbClr val="CC99FF"/>
              </a:gs>
              <a:gs pos="100000">
                <a:srgbClr val="FFFFFF"/>
              </a:gs>
            </a:gsLst>
            <a:lin ang="5400000"/>
          </a:gradFill>
          <a:ln w="12600" cap="rnd">
            <a:solidFill>
              <a:srgbClr val="000000"/>
            </a:solidFill>
            <a:custDash>
              <a:ds d="400000" sp="300000"/>
            </a:custDash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rot="5400000" vert="vert" wrap="none" lIns="46800" tIns="90000" rIns="46800" bIns="90000" anchor="ctr">
            <a:noAutofit/>
          </a:bodyPr>
          <a:lstStyle/>
          <a:p>
            <a:pPr algn="ctr" rtl="1"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Segoe UI"/>
              </a:rPr>
              <a:t>Bus Driver</a:t>
            </a:r>
            <a:endParaRPr lang="en-US" sz="1200" b="0" strike="noStrike" spc="-1">
              <a:latin typeface="Arial"/>
            </a:endParaRPr>
          </a:p>
          <a:p>
            <a:pPr algn="ctr" rtl="1">
              <a:lnSpc>
                <a:spcPct val="100000"/>
              </a:lnSpc>
            </a:pPr>
            <a:endParaRPr lang="en-US" sz="1200" b="0" strike="noStrike" spc="-1">
              <a:latin typeface="Arial"/>
            </a:endParaRPr>
          </a:p>
        </p:txBody>
      </p:sp>
      <p:sp>
        <p:nvSpPr>
          <p:cNvPr id="16" name="CustomShape 12">
            <a:extLst>
              <a:ext uri="{FF2B5EF4-FFF2-40B4-BE49-F238E27FC236}">
                <a16:creationId xmlns:a16="http://schemas.microsoft.com/office/drawing/2014/main" id="{646C9E25-F442-4FE7-8DFB-F70F7408F84B}"/>
              </a:ext>
            </a:extLst>
          </p:cNvPr>
          <p:cNvSpPr/>
          <p:nvPr/>
        </p:nvSpPr>
        <p:spPr>
          <a:xfrm rot="16200000" flipH="1">
            <a:off x="3344400" y="1208160"/>
            <a:ext cx="460080" cy="1130040"/>
          </a:xfrm>
          <a:prstGeom prst="rightArrowCallout">
            <a:avLst>
              <a:gd name="adj1" fmla="val 61379"/>
              <a:gd name="adj2" fmla="val 69847"/>
              <a:gd name="adj3" fmla="val 16667"/>
              <a:gd name="adj4" fmla="val 0"/>
            </a:avLst>
          </a:prstGeom>
          <a:gradFill rotWithShape="0">
            <a:gsLst>
              <a:gs pos="0">
                <a:srgbClr val="CCFFCC"/>
              </a:gs>
              <a:gs pos="100000">
                <a:srgbClr val="FFFFFF"/>
              </a:gs>
            </a:gsLst>
            <a:lin ang="5400000"/>
          </a:gradFill>
          <a:ln w="12600" cap="rnd">
            <a:solidFill>
              <a:srgbClr val="000000"/>
            </a:solidFill>
            <a:custDash>
              <a:ds d="400000" sp="300000"/>
            </a:custDash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rot="5400000" vert="vert" wrap="none" lIns="46800" tIns="90000" rIns="46800" bIns="90000" anchor="ctr">
            <a:noAutofit/>
          </a:bodyPr>
          <a:lstStyle/>
          <a:p>
            <a:pPr algn="ctr" rtl="1"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Segoe UI"/>
              </a:rPr>
              <a:t>PEI Core</a:t>
            </a:r>
            <a:endParaRPr lang="en-US" sz="1200" b="0" strike="noStrike" spc="-1">
              <a:latin typeface="Arial"/>
            </a:endParaRPr>
          </a:p>
          <a:p>
            <a:pPr algn="ctr" rtl="1">
              <a:lnSpc>
                <a:spcPct val="100000"/>
              </a:lnSpc>
            </a:pPr>
            <a:endParaRPr lang="en-US" sz="1200" b="0" strike="noStrike" spc="-1">
              <a:latin typeface="Arial"/>
            </a:endParaRPr>
          </a:p>
        </p:txBody>
      </p:sp>
      <p:sp>
        <p:nvSpPr>
          <p:cNvPr id="17" name="CustomShape 13">
            <a:extLst>
              <a:ext uri="{FF2B5EF4-FFF2-40B4-BE49-F238E27FC236}">
                <a16:creationId xmlns:a16="http://schemas.microsoft.com/office/drawing/2014/main" id="{9054A466-DE87-4623-96DD-CA9022D40002}"/>
              </a:ext>
            </a:extLst>
          </p:cNvPr>
          <p:cNvSpPr/>
          <p:nvPr/>
        </p:nvSpPr>
        <p:spPr>
          <a:xfrm rot="16200000" flipH="1">
            <a:off x="5073120" y="952560"/>
            <a:ext cx="490320" cy="1079280"/>
          </a:xfrm>
          <a:prstGeom prst="rightArrowCallout">
            <a:avLst>
              <a:gd name="adj1" fmla="val 55016"/>
              <a:gd name="adj2" fmla="val 62606"/>
              <a:gd name="adj3" fmla="val 16667"/>
              <a:gd name="adj4" fmla="val 0"/>
            </a:avLst>
          </a:prstGeom>
          <a:gradFill rotWithShape="0">
            <a:gsLst>
              <a:gs pos="0">
                <a:srgbClr val="CC99FF"/>
              </a:gs>
              <a:gs pos="100000">
                <a:srgbClr val="FFFFFF"/>
              </a:gs>
            </a:gsLst>
            <a:lin ang="5400000"/>
          </a:gradFill>
          <a:ln w="12600" cap="rnd">
            <a:solidFill>
              <a:srgbClr val="000000"/>
            </a:solidFill>
            <a:custDash>
              <a:ds d="400000" sp="300000"/>
            </a:custDash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rot="5400000" vert="vert" wrap="none" lIns="46800" tIns="90000" rIns="46800" bIns="90000" anchor="ctr">
            <a:noAutofit/>
          </a:bodyPr>
          <a:lstStyle/>
          <a:p>
            <a:pPr algn="ctr" rtl="1"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Segoe UI"/>
              </a:rPr>
              <a:t>CSM Driver</a:t>
            </a:r>
            <a:endParaRPr lang="en-US" sz="1200" b="0" strike="noStrike" spc="-1">
              <a:latin typeface="Arial"/>
            </a:endParaRPr>
          </a:p>
          <a:p>
            <a:pPr algn="ctr" rtl="1">
              <a:lnSpc>
                <a:spcPct val="100000"/>
              </a:lnSpc>
            </a:pPr>
            <a:endParaRPr lang="en-US" sz="1200" b="0" strike="noStrike" spc="-1">
              <a:latin typeface="Arial"/>
            </a:endParaRPr>
          </a:p>
        </p:txBody>
      </p:sp>
      <p:sp>
        <p:nvSpPr>
          <p:cNvPr id="18" name="CustomShape 14">
            <a:extLst>
              <a:ext uri="{FF2B5EF4-FFF2-40B4-BE49-F238E27FC236}">
                <a16:creationId xmlns:a16="http://schemas.microsoft.com/office/drawing/2014/main" id="{5834BE48-53AF-4D40-8D92-0179671FBE3C}"/>
              </a:ext>
            </a:extLst>
          </p:cNvPr>
          <p:cNvSpPr/>
          <p:nvPr/>
        </p:nvSpPr>
        <p:spPr>
          <a:xfrm rot="16200000" flipH="1">
            <a:off x="3809160" y="1576080"/>
            <a:ext cx="456840" cy="1122120"/>
          </a:xfrm>
          <a:prstGeom prst="rightArrowCallout">
            <a:avLst>
              <a:gd name="adj1" fmla="val 61372"/>
              <a:gd name="adj2" fmla="val 69839"/>
              <a:gd name="adj3" fmla="val 16667"/>
              <a:gd name="adj4" fmla="val 0"/>
            </a:avLst>
          </a:prstGeom>
          <a:gradFill rotWithShape="0">
            <a:gsLst>
              <a:gs pos="0">
                <a:srgbClr val="CCFFCC"/>
              </a:gs>
              <a:gs pos="100000">
                <a:srgbClr val="FFFFFF"/>
              </a:gs>
            </a:gsLst>
            <a:lin ang="5400000"/>
          </a:gradFill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rot="5400000" vert="vert" wrap="none" lIns="46800" tIns="90000" rIns="46800" bIns="90000" anchor="ctr">
            <a:noAutofit/>
          </a:bodyPr>
          <a:lstStyle/>
          <a:p>
            <a:pPr algn="ctr" rtl="1"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Segoe UI"/>
              </a:rPr>
              <a:t>PlatformStage1</a:t>
            </a:r>
            <a:endParaRPr lang="en-US" sz="1200" b="0" strike="noStrike" spc="-1">
              <a:latin typeface="Arial"/>
            </a:endParaRPr>
          </a:p>
          <a:p>
            <a:pPr algn="ctr" rtl="1"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Segoe UI"/>
              </a:rPr>
              <a:t>PEIM</a:t>
            </a:r>
            <a:endParaRPr lang="en-US" sz="1200" b="0" strike="noStrike" spc="-1">
              <a:latin typeface="Arial"/>
            </a:endParaRPr>
          </a:p>
          <a:p>
            <a:pPr algn="ctr" rtl="1">
              <a:lnSpc>
                <a:spcPct val="100000"/>
              </a:lnSpc>
            </a:pPr>
            <a:endParaRPr lang="en-US" sz="1200" b="0" strike="noStrike" spc="-1">
              <a:latin typeface="Arial"/>
            </a:endParaRPr>
          </a:p>
          <a:p>
            <a:pPr algn="ctr" rtl="1">
              <a:lnSpc>
                <a:spcPct val="100000"/>
              </a:lnSpc>
            </a:pPr>
            <a:endParaRPr lang="en-US" sz="1200" b="0" strike="noStrike" spc="-1">
              <a:latin typeface="Arial"/>
            </a:endParaRPr>
          </a:p>
        </p:txBody>
      </p:sp>
      <p:sp>
        <p:nvSpPr>
          <p:cNvPr id="19" name="CustomShape 15">
            <a:extLst>
              <a:ext uri="{FF2B5EF4-FFF2-40B4-BE49-F238E27FC236}">
                <a16:creationId xmlns:a16="http://schemas.microsoft.com/office/drawing/2014/main" id="{11DE0FFD-4DAC-488C-9FF6-CA98A1E10293}"/>
              </a:ext>
            </a:extLst>
          </p:cNvPr>
          <p:cNvSpPr/>
          <p:nvPr/>
        </p:nvSpPr>
        <p:spPr>
          <a:xfrm rot="16200000" flipH="1">
            <a:off x="5656320" y="1384200"/>
            <a:ext cx="472680" cy="1002960"/>
          </a:xfrm>
          <a:prstGeom prst="rightArrowCallout">
            <a:avLst>
              <a:gd name="adj1" fmla="val 53020"/>
              <a:gd name="adj2" fmla="val 60335"/>
              <a:gd name="adj3" fmla="val 16667"/>
              <a:gd name="adj4" fmla="val 0"/>
            </a:avLst>
          </a:prstGeom>
          <a:gradFill rotWithShape="0">
            <a:gsLst>
              <a:gs pos="0">
                <a:srgbClr val="CC99FF"/>
              </a:gs>
              <a:gs pos="100000">
                <a:srgbClr val="FFFFFF"/>
              </a:gs>
            </a:gsLst>
            <a:lin ang="5400000"/>
          </a:gradFill>
          <a:ln w="12600" cap="rnd">
            <a:solidFill>
              <a:srgbClr val="000000"/>
            </a:solidFill>
            <a:custDash>
              <a:ds d="400000" sp="300000"/>
            </a:custDash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rot="5400000" vert="vert" wrap="none" lIns="46800" tIns="90000" rIns="46800" bIns="90000" anchor="ctr">
            <a:noAutofit/>
          </a:bodyPr>
          <a:lstStyle/>
          <a:p>
            <a:pPr algn="ctr" rtl="1"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Segoe UI"/>
              </a:rPr>
              <a:t>PCI  Driver</a:t>
            </a:r>
            <a:endParaRPr lang="en-US" sz="1200" b="0" strike="noStrike" spc="-1">
              <a:latin typeface="Arial"/>
            </a:endParaRPr>
          </a:p>
          <a:p>
            <a:pPr algn="ctr" rtl="1">
              <a:lnSpc>
                <a:spcPct val="100000"/>
              </a:lnSpc>
            </a:pPr>
            <a:endParaRPr lang="en-US" sz="1200" b="0" strike="noStrike" spc="-1">
              <a:latin typeface="Arial"/>
            </a:endParaRPr>
          </a:p>
        </p:txBody>
      </p:sp>
      <p:sp>
        <p:nvSpPr>
          <p:cNvPr id="20" name="Line 16">
            <a:extLst>
              <a:ext uri="{FF2B5EF4-FFF2-40B4-BE49-F238E27FC236}">
                <a16:creationId xmlns:a16="http://schemas.microsoft.com/office/drawing/2014/main" id="{957747F3-4C74-4BBC-B241-9D3A7E73F3B4}"/>
              </a:ext>
            </a:extLst>
          </p:cNvPr>
          <p:cNvSpPr/>
          <p:nvPr/>
        </p:nvSpPr>
        <p:spPr>
          <a:xfrm>
            <a:off x="2273040" y="1316160"/>
            <a:ext cx="939960" cy="360"/>
          </a:xfrm>
          <a:prstGeom prst="line">
            <a:avLst/>
          </a:prstGeom>
          <a:ln w="284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Line 17">
            <a:extLst>
              <a:ext uri="{FF2B5EF4-FFF2-40B4-BE49-F238E27FC236}">
                <a16:creationId xmlns:a16="http://schemas.microsoft.com/office/drawing/2014/main" id="{C0F7B1F0-A3EC-4937-A093-8A36C50F06E9}"/>
              </a:ext>
            </a:extLst>
          </p:cNvPr>
          <p:cNvSpPr/>
          <p:nvPr/>
        </p:nvSpPr>
        <p:spPr>
          <a:xfrm>
            <a:off x="3213000" y="1316160"/>
            <a:ext cx="1206360" cy="360"/>
          </a:xfrm>
          <a:prstGeom prst="line">
            <a:avLst/>
          </a:prstGeom>
          <a:ln w="284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Line 18">
            <a:extLst>
              <a:ext uri="{FF2B5EF4-FFF2-40B4-BE49-F238E27FC236}">
                <a16:creationId xmlns:a16="http://schemas.microsoft.com/office/drawing/2014/main" id="{05FE362A-40DB-4195-8129-F10B6A5D727B}"/>
              </a:ext>
            </a:extLst>
          </p:cNvPr>
          <p:cNvSpPr/>
          <p:nvPr/>
        </p:nvSpPr>
        <p:spPr>
          <a:xfrm>
            <a:off x="4419360" y="1316160"/>
            <a:ext cx="1549440" cy="360"/>
          </a:xfrm>
          <a:prstGeom prst="line">
            <a:avLst/>
          </a:prstGeom>
          <a:ln w="284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Line 19">
            <a:extLst>
              <a:ext uri="{FF2B5EF4-FFF2-40B4-BE49-F238E27FC236}">
                <a16:creationId xmlns:a16="http://schemas.microsoft.com/office/drawing/2014/main" id="{CDD0085D-48C0-49ED-8FE7-0BBE955EDD57}"/>
              </a:ext>
            </a:extLst>
          </p:cNvPr>
          <p:cNvSpPr/>
          <p:nvPr/>
        </p:nvSpPr>
        <p:spPr>
          <a:xfrm>
            <a:off x="5968800" y="1316160"/>
            <a:ext cx="1320840" cy="360"/>
          </a:xfrm>
          <a:prstGeom prst="line">
            <a:avLst/>
          </a:prstGeom>
          <a:ln w="284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Line 20">
            <a:extLst>
              <a:ext uri="{FF2B5EF4-FFF2-40B4-BE49-F238E27FC236}">
                <a16:creationId xmlns:a16="http://schemas.microsoft.com/office/drawing/2014/main" id="{4778F592-09B3-4D34-9366-843DA512064A}"/>
              </a:ext>
            </a:extLst>
          </p:cNvPr>
          <p:cNvSpPr/>
          <p:nvPr/>
        </p:nvSpPr>
        <p:spPr>
          <a:xfrm>
            <a:off x="7289640" y="1316160"/>
            <a:ext cx="1270080" cy="360"/>
          </a:xfrm>
          <a:prstGeom prst="line">
            <a:avLst/>
          </a:prstGeom>
          <a:ln w="284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21">
            <a:extLst>
              <a:ext uri="{FF2B5EF4-FFF2-40B4-BE49-F238E27FC236}">
                <a16:creationId xmlns:a16="http://schemas.microsoft.com/office/drawing/2014/main" id="{9E773DD5-CAB5-49B9-BFA3-46295C3273B5}"/>
              </a:ext>
            </a:extLst>
          </p:cNvPr>
          <p:cNvSpPr/>
          <p:nvPr/>
        </p:nvSpPr>
        <p:spPr>
          <a:xfrm>
            <a:off x="8559720" y="1316160"/>
            <a:ext cx="1270080" cy="360"/>
          </a:xfrm>
          <a:prstGeom prst="line">
            <a:avLst/>
          </a:prstGeom>
          <a:ln w="284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Line 22">
            <a:extLst>
              <a:ext uri="{FF2B5EF4-FFF2-40B4-BE49-F238E27FC236}">
                <a16:creationId xmlns:a16="http://schemas.microsoft.com/office/drawing/2014/main" id="{A0530293-4F74-41DA-B85F-95DA20820D31}"/>
              </a:ext>
            </a:extLst>
          </p:cNvPr>
          <p:cNvSpPr/>
          <p:nvPr/>
        </p:nvSpPr>
        <p:spPr>
          <a:xfrm>
            <a:off x="9829800" y="1316160"/>
            <a:ext cx="622080" cy="360"/>
          </a:xfrm>
          <a:prstGeom prst="line">
            <a:avLst/>
          </a:prstGeom>
          <a:ln w="284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3">
            <a:extLst>
              <a:ext uri="{FF2B5EF4-FFF2-40B4-BE49-F238E27FC236}">
                <a16:creationId xmlns:a16="http://schemas.microsoft.com/office/drawing/2014/main" id="{980E5FDA-DC7D-4D3F-B050-4422E1409999}"/>
              </a:ext>
            </a:extLst>
          </p:cNvPr>
          <p:cNvSpPr/>
          <p:nvPr/>
        </p:nvSpPr>
        <p:spPr>
          <a:xfrm>
            <a:off x="9788400" y="5193000"/>
            <a:ext cx="604440" cy="812520"/>
          </a:xfrm>
          <a:prstGeom prst="rect">
            <a:avLst/>
          </a:prstGeom>
          <a:solidFill>
            <a:srgbClr val="FFFF66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  <a:ea typeface="細明體"/>
              </a:rPr>
              <a:t>After Life (AL)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8" name="CustomShape 24">
            <a:extLst>
              <a:ext uri="{FF2B5EF4-FFF2-40B4-BE49-F238E27FC236}">
                <a16:creationId xmlns:a16="http://schemas.microsoft.com/office/drawing/2014/main" id="{2FE84BC7-4E22-4F72-8043-3EF3C4742E01}"/>
              </a:ext>
            </a:extLst>
          </p:cNvPr>
          <p:cNvSpPr/>
          <p:nvPr/>
        </p:nvSpPr>
        <p:spPr>
          <a:xfrm>
            <a:off x="8550360" y="5193000"/>
            <a:ext cx="1238040" cy="812520"/>
          </a:xfrm>
          <a:prstGeom prst="rect">
            <a:avLst/>
          </a:prstGeom>
          <a:solidFill>
            <a:srgbClr val="FFFF66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  <a:ea typeface="細明體"/>
              </a:rPr>
              <a:t>Run Time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  <a:ea typeface="細明體"/>
              </a:rPr>
              <a:t>(RT))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9" name="CustomShape 25">
            <a:extLst>
              <a:ext uri="{FF2B5EF4-FFF2-40B4-BE49-F238E27FC236}">
                <a16:creationId xmlns:a16="http://schemas.microsoft.com/office/drawing/2014/main" id="{92C861BB-462F-4BD5-8D8A-9B9E891E0504}"/>
              </a:ext>
            </a:extLst>
          </p:cNvPr>
          <p:cNvSpPr/>
          <p:nvPr/>
        </p:nvSpPr>
        <p:spPr>
          <a:xfrm>
            <a:off x="7311960" y="5193000"/>
            <a:ext cx="1238040" cy="799920"/>
          </a:xfrm>
          <a:prstGeom prst="rect">
            <a:avLst/>
          </a:prstGeom>
          <a:solidFill>
            <a:srgbClr val="FFFF66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  <a:ea typeface="細明體"/>
              </a:rPr>
              <a:t>Transient System Load 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  <a:ea typeface="細明體"/>
              </a:rPr>
              <a:t>(TSL)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0" name="CustomShape 26">
            <a:extLst>
              <a:ext uri="{FF2B5EF4-FFF2-40B4-BE49-F238E27FC236}">
                <a16:creationId xmlns:a16="http://schemas.microsoft.com/office/drawing/2014/main" id="{4D6A9CEF-9D7C-4049-9D78-5A408B84669B}"/>
              </a:ext>
            </a:extLst>
          </p:cNvPr>
          <p:cNvSpPr/>
          <p:nvPr/>
        </p:nvSpPr>
        <p:spPr>
          <a:xfrm>
            <a:off x="6024600" y="5193000"/>
            <a:ext cx="1287000" cy="812520"/>
          </a:xfrm>
          <a:prstGeom prst="rect">
            <a:avLst/>
          </a:prstGeom>
          <a:solidFill>
            <a:srgbClr val="FFFF66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  <a:ea typeface="細明體"/>
              </a:rPr>
              <a:t>Boot Device Selection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  <a:ea typeface="細明體"/>
              </a:rPr>
              <a:t>(BDS)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1" name="CustomShape 27">
            <a:extLst>
              <a:ext uri="{FF2B5EF4-FFF2-40B4-BE49-F238E27FC236}">
                <a16:creationId xmlns:a16="http://schemas.microsoft.com/office/drawing/2014/main" id="{7022C50D-E169-4C07-B97F-83F6138B21EE}"/>
              </a:ext>
            </a:extLst>
          </p:cNvPr>
          <p:cNvSpPr/>
          <p:nvPr/>
        </p:nvSpPr>
        <p:spPr>
          <a:xfrm>
            <a:off x="4514760" y="5193000"/>
            <a:ext cx="1509480" cy="812520"/>
          </a:xfrm>
          <a:prstGeom prst="rect">
            <a:avLst/>
          </a:prstGeom>
          <a:solidFill>
            <a:srgbClr val="FFFF66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  <a:ea typeface="細明體"/>
              </a:rPr>
              <a:t>Driver Execution Environment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  <a:ea typeface="細明體"/>
              </a:rPr>
              <a:t>(DXE)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" name="CustomShape 28">
            <a:extLst>
              <a:ext uri="{FF2B5EF4-FFF2-40B4-BE49-F238E27FC236}">
                <a16:creationId xmlns:a16="http://schemas.microsoft.com/office/drawing/2014/main" id="{147021A0-3B16-4FE2-B5E7-CDB1CAEF279F}"/>
              </a:ext>
            </a:extLst>
          </p:cNvPr>
          <p:cNvSpPr/>
          <p:nvPr/>
        </p:nvSpPr>
        <p:spPr>
          <a:xfrm>
            <a:off x="2424240" y="5193000"/>
            <a:ext cx="915480" cy="812520"/>
          </a:xfrm>
          <a:prstGeom prst="rect">
            <a:avLst/>
          </a:prstGeom>
          <a:solidFill>
            <a:srgbClr val="FFFF66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  <a:ea typeface="細明體"/>
              </a:rPr>
              <a:t>Security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  <a:ea typeface="細明體"/>
              </a:rPr>
              <a:t>(SEC)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3" name="CustomShape 29">
            <a:extLst>
              <a:ext uri="{FF2B5EF4-FFF2-40B4-BE49-F238E27FC236}">
                <a16:creationId xmlns:a16="http://schemas.microsoft.com/office/drawing/2014/main" id="{A94F2E1B-9B5E-47C4-B0B9-A5B2B5FA60B7}"/>
              </a:ext>
            </a:extLst>
          </p:cNvPr>
          <p:cNvSpPr/>
          <p:nvPr/>
        </p:nvSpPr>
        <p:spPr>
          <a:xfrm>
            <a:off x="3340080" y="5180040"/>
            <a:ext cx="1174320" cy="825120"/>
          </a:xfrm>
          <a:prstGeom prst="rect">
            <a:avLst/>
          </a:prstGeom>
          <a:solidFill>
            <a:srgbClr val="FFFF66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  <a:ea typeface="細明體"/>
              </a:rPr>
              <a:t>Pre EFI Initialization Environment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  <a:ea typeface="細明體"/>
              </a:rPr>
              <a:t>(PEI)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4" name="CustomShape 30">
            <a:extLst>
              <a:ext uri="{FF2B5EF4-FFF2-40B4-BE49-F238E27FC236}">
                <a16:creationId xmlns:a16="http://schemas.microsoft.com/office/drawing/2014/main" id="{19926159-11D5-42F8-9173-A5D60F8BE431}"/>
              </a:ext>
            </a:extLst>
          </p:cNvPr>
          <p:cNvSpPr/>
          <p:nvPr/>
        </p:nvSpPr>
        <p:spPr>
          <a:xfrm>
            <a:off x="9788400" y="4119840"/>
            <a:ext cx="60444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1">
            <a:extLst>
              <a:ext uri="{FF2B5EF4-FFF2-40B4-BE49-F238E27FC236}">
                <a16:creationId xmlns:a16="http://schemas.microsoft.com/office/drawing/2014/main" id="{E0A75CD1-C3A6-498E-B411-C9F7D8C43C65}"/>
              </a:ext>
            </a:extLst>
          </p:cNvPr>
          <p:cNvSpPr/>
          <p:nvPr/>
        </p:nvSpPr>
        <p:spPr>
          <a:xfrm>
            <a:off x="8550360" y="4119840"/>
            <a:ext cx="123804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2">
            <a:extLst>
              <a:ext uri="{FF2B5EF4-FFF2-40B4-BE49-F238E27FC236}">
                <a16:creationId xmlns:a16="http://schemas.microsoft.com/office/drawing/2014/main" id="{4B72589E-6C5F-4925-9863-E511ECFDD971}"/>
              </a:ext>
            </a:extLst>
          </p:cNvPr>
          <p:cNvSpPr/>
          <p:nvPr/>
        </p:nvSpPr>
        <p:spPr>
          <a:xfrm>
            <a:off x="7311960" y="4119840"/>
            <a:ext cx="123804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" name="CustomShape 33">
            <a:extLst>
              <a:ext uri="{FF2B5EF4-FFF2-40B4-BE49-F238E27FC236}">
                <a16:creationId xmlns:a16="http://schemas.microsoft.com/office/drawing/2014/main" id="{FC3845DD-7EF0-44BB-9E77-FFBC2EBE98C1}"/>
              </a:ext>
            </a:extLst>
          </p:cNvPr>
          <p:cNvSpPr/>
          <p:nvPr/>
        </p:nvSpPr>
        <p:spPr>
          <a:xfrm>
            <a:off x="6024600" y="4119840"/>
            <a:ext cx="128700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" name="CustomShape 34">
            <a:extLst>
              <a:ext uri="{FF2B5EF4-FFF2-40B4-BE49-F238E27FC236}">
                <a16:creationId xmlns:a16="http://schemas.microsoft.com/office/drawing/2014/main" id="{BD207CB7-7BBF-4137-A5FF-FFE4FCE5141D}"/>
              </a:ext>
            </a:extLst>
          </p:cNvPr>
          <p:cNvSpPr/>
          <p:nvPr/>
        </p:nvSpPr>
        <p:spPr>
          <a:xfrm>
            <a:off x="4514760" y="4119840"/>
            <a:ext cx="150948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" name="CustomShape 35">
            <a:extLst>
              <a:ext uri="{FF2B5EF4-FFF2-40B4-BE49-F238E27FC236}">
                <a16:creationId xmlns:a16="http://schemas.microsoft.com/office/drawing/2014/main" id="{B63688EE-3E91-4B31-A948-807302A0F1DB}"/>
              </a:ext>
            </a:extLst>
          </p:cNvPr>
          <p:cNvSpPr/>
          <p:nvPr/>
        </p:nvSpPr>
        <p:spPr>
          <a:xfrm>
            <a:off x="3340080" y="4119840"/>
            <a:ext cx="117432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" name="CustomShape 36">
            <a:extLst>
              <a:ext uri="{FF2B5EF4-FFF2-40B4-BE49-F238E27FC236}">
                <a16:creationId xmlns:a16="http://schemas.microsoft.com/office/drawing/2014/main" id="{23C629C1-D061-41CD-8D17-884E06002DD5}"/>
              </a:ext>
            </a:extLst>
          </p:cNvPr>
          <p:cNvSpPr/>
          <p:nvPr/>
        </p:nvSpPr>
        <p:spPr>
          <a:xfrm>
            <a:off x="2424240" y="4119840"/>
            <a:ext cx="91548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" name="CustomShape 37">
            <a:extLst>
              <a:ext uri="{FF2B5EF4-FFF2-40B4-BE49-F238E27FC236}">
                <a16:creationId xmlns:a16="http://schemas.microsoft.com/office/drawing/2014/main" id="{2B1EF3D3-9F8B-43B3-B6DB-3A36484C4AC2}"/>
              </a:ext>
            </a:extLst>
          </p:cNvPr>
          <p:cNvSpPr/>
          <p:nvPr/>
        </p:nvSpPr>
        <p:spPr>
          <a:xfrm>
            <a:off x="9788400" y="2999160"/>
            <a:ext cx="604440" cy="11203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" name="CustomShape 38">
            <a:extLst>
              <a:ext uri="{FF2B5EF4-FFF2-40B4-BE49-F238E27FC236}">
                <a16:creationId xmlns:a16="http://schemas.microsoft.com/office/drawing/2014/main" id="{CDE8CAF3-E145-4B04-ABEA-AA7AF459D610}"/>
              </a:ext>
            </a:extLst>
          </p:cNvPr>
          <p:cNvSpPr/>
          <p:nvPr/>
        </p:nvSpPr>
        <p:spPr>
          <a:xfrm>
            <a:off x="8550360" y="2999160"/>
            <a:ext cx="1238040" cy="11203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39">
            <a:extLst>
              <a:ext uri="{FF2B5EF4-FFF2-40B4-BE49-F238E27FC236}">
                <a16:creationId xmlns:a16="http://schemas.microsoft.com/office/drawing/2014/main" id="{4CB8C5A8-111D-492F-9FF5-584A99467EED}"/>
              </a:ext>
            </a:extLst>
          </p:cNvPr>
          <p:cNvSpPr/>
          <p:nvPr/>
        </p:nvSpPr>
        <p:spPr>
          <a:xfrm>
            <a:off x="7311960" y="2999160"/>
            <a:ext cx="1238040" cy="11203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" name="CustomShape 40">
            <a:extLst>
              <a:ext uri="{FF2B5EF4-FFF2-40B4-BE49-F238E27FC236}">
                <a16:creationId xmlns:a16="http://schemas.microsoft.com/office/drawing/2014/main" id="{6EBAC88F-EC85-41BA-8558-265B9790D909}"/>
              </a:ext>
            </a:extLst>
          </p:cNvPr>
          <p:cNvSpPr/>
          <p:nvPr/>
        </p:nvSpPr>
        <p:spPr>
          <a:xfrm>
            <a:off x="6024600" y="2999160"/>
            <a:ext cx="1287000" cy="11203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CustomShape 41">
            <a:extLst>
              <a:ext uri="{FF2B5EF4-FFF2-40B4-BE49-F238E27FC236}">
                <a16:creationId xmlns:a16="http://schemas.microsoft.com/office/drawing/2014/main" id="{C5E90D8B-0F19-4A40-92E8-609C8A7686DA}"/>
              </a:ext>
            </a:extLst>
          </p:cNvPr>
          <p:cNvSpPr/>
          <p:nvPr/>
        </p:nvSpPr>
        <p:spPr>
          <a:xfrm>
            <a:off x="4514760" y="2999160"/>
            <a:ext cx="1509480" cy="11203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CustomShape 42">
            <a:extLst>
              <a:ext uri="{FF2B5EF4-FFF2-40B4-BE49-F238E27FC236}">
                <a16:creationId xmlns:a16="http://schemas.microsoft.com/office/drawing/2014/main" id="{15C9F119-34BB-4CD1-AF01-ED7593878058}"/>
              </a:ext>
            </a:extLst>
          </p:cNvPr>
          <p:cNvSpPr/>
          <p:nvPr/>
        </p:nvSpPr>
        <p:spPr>
          <a:xfrm>
            <a:off x="3340080" y="2999160"/>
            <a:ext cx="1174320" cy="11203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" name="CustomShape 43">
            <a:extLst>
              <a:ext uri="{FF2B5EF4-FFF2-40B4-BE49-F238E27FC236}">
                <a16:creationId xmlns:a16="http://schemas.microsoft.com/office/drawing/2014/main" id="{8954647E-6467-4DC6-A254-75D51FA5A7FE}"/>
              </a:ext>
            </a:extLst>
          </p:cNvPr>
          <p:cNvSpPr/>
          <p:nvPr/>
        </p:nvSpPr>
        <p:spPr>
          <a:xfrm>
            <a:off x="2424240" y="2999160"/>
            <a:ext cx="915480" cy="11203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" name="CustomShape 44">
            <a:extLst>
              <a:ext uri="{FF2B5EF4-FFF2-40B4-BE49-F238E27FC236}">
                <a16:creationId xmlns:a16="http://schemas.microsoft.com/office/drawing/2014/main" id="{6ECAD328-918A-442D-AD4E-878A62DA6BF4}"/>
              </a:ext>
            </a:extLst>
          </p:cNvPr>
          <p:cNvSpPr/>
          <p:nvPr/>
        </p:nvSpPr>
        <p:spPr>
          <a:xfrm>
            <a:off x="9788400" y="1926000"/>
            <a:ext cx="60444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" name="CustomShape 45">
            <a:extLst>
              <a:ext uri="{FF2B5EF4-FFF2-40B4-BE49-F238E27FC236}">
                <a16:creationId xmlns:a16="http://schemas.microsoft.com/office/drawing/2014/main" id="{82CF0D87-3F4B-4569-B251-7F9A97667A96}"/>
              </a:ext>
            </a:extLst>
          </p:cNvPr>
          <p:cNvSpPr/>
          <p:nvPr/>
        </p:nvSpPr>
        <p:spPr>
          <a:xfrm>
            <a:off x="8550360" y="1926000"/>
            <a:ext cx="123804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" name="CustomShape 46">
            <a:extLst>
              <a:ext uri="{FF2B5EF4-FFF2-40B4-BE49-F238E27FC236}">
                <a16:creationId xmlns:a16="http://schemas.microsoft.com/office/drawing/2014/main" id="{ABA3035D-627E-4D8F-9BD7-1120961C97D4}"/>
              </a:ext>
            </a:extLst>
          </p:cNvPr>
          <p:cNvSpPr/>
          <p:nvPr/>
        </p:nvSpPr>
        <p:spPr>
          <a:xfrm>
            <a:off x="7311960" y="1926000"/>
            <a:ext cx="123804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" name="CustomShape 47">
            <a:extLst>
              <a:ext uri="{FF2B5EF4-FFF2-40B4-BE49-F238E27FC236}">
                <a16:creationId xmlns:a16="http://schemas.microsoft.com/office/drawing/2014/main" id="{83B9317E-F982-44DF-97EA-E3FFD2633761}"/>
              </a:ext>
            </a:extLst>
          </p:cNvPr>
          <p:cNvSpPr/>
          <p:nvPr/>
        </p:nvSpPr>
        <p:spPr>
          <a:xfrm>
            <a:off x="6024600" y="1926000"/>
            <a:ext cx="128700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" name="CustomShape 48">
            <a:extLst>
              <a:ext uri="{FF2B5EF4-FFF2-40B4-BE49-F238E27FC236}">
                <a16:creationId xmlns:a16="http://schemas.microsoft.com/office/drawing/2014/main" id="{39A24773-BA53-4788-9C84-750F0ABA6238}"/>
              </a:ext>
            </a:extLst>
          </p:cNvPr>
          <p:cNvSpPr/>
          <p:nvPr/>
        </p:nvSpPr>
        <p:spPr>
          <a:xfrm>
            <a:off x="4514760" y="1926000"/>
            <a:ext cx="150948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" name="CustomShape 49">
            <a:extLst>
              <a:ext uri="{FF2B5EF4-FFF2-40B4-BE49-F238E27FC236}">
                <a16:creationId xmlns:a16="http://schemas.microsoft.com/office/drawing/2014/main" id="{27DA3671-B4FD-4401-B50A-EE7E7568E59E}"/>
              </a:ext>
            </a:extLst>
          </p:cNvPr>
          <p:cNvSpPr/>
          <p:nvPr/>
        </p:nvSpPr>
        <p:spPr>
          <a:xfrm>
            <a:off x="3340080" y="1926000"/>
            <a:ext cx="117432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" name="CustomShape 50">
            <a:extLst>
              <a:ext uri="{FF2B5EF4-FFF2-40B4-BE49-F238E27FC236}">
                <a16:creationId xmlns:a16="http://schemas.microsoft.com/office/drawing/2014/main" id="{7A932CA0-1C4B-486A-9D0D-4670701918D3}"/>
              </a:ext>
            </a:extLst>
          </p:cNvPr>
          <p:cNvSpPr/>
          <p:nvPr/>
        </p:nvSpPr>
        <p:spPr>
          <a:xfrm>
            <a:off x="2424240" y="1926000"/>
            <a:ext cx="91548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" name="Line 51">
            <a:extLst>
              <a:ext uri="{FF2B5EF4-FFF2-40B4-BE49-F238E27FC236}">
                <a16:creationId xmlns:a16="http://schemas.microsoft.com/office/drawing/2014/main" id="{A85D7D59-84D0-4B3A-A1CF-4DC160BB99DD}"/>
              </a:ext>
            </a:extLst>
          </p:cNvPr>
          <p:cNvSpPr/>
          <p:nvPr/>
        </p:nvSpPr>
        <p:spPr>
          <a:xfrm>
            <a:off x="2423880" y="5192640"/>
            <a:ext cx="7969320" cy="360"/>
          </a:xfrm>
          <a:prstGeom prst="line">
            <a:avLst/>
          </a:prstGeom>
          <a:ln w="126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" name="Line 52">
            <a:extLst>
              <a:ext uri="{FF2B5EF4-FFF2-40B4-BE49-F238E27FC236}">
                <a16:creationId xmlns:a16="http://schemas.microsoft.com/office/drawing/2014/main" id="{C67912E4-7DCF-4941-8D45-7C5BFAA17970}"/>
              </a:ext>
            </a:extLst>
          </p:cNvPr>
          <p:cNvSpPr/>
          <p:nvPr/>
        </p:nvSpPr>
        <p:spPr>
          <a:xfrm>
            <a:off x="2423880" y="6018120"/>
            <a:ext cx="7969320" cy="360"/>
          </a:xfrm>
          <a:prstGeom prst="line">
            <a:avLst/>
          </a:prstGeom>
          <a:ln w="2844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" name="Line 53">
            <a:extLst>
              <a:ext uri="{FF2B5EF4-FFF2-40B4-BE49-F238E27FC236}">
                <a16:creationId xmlns:a16="http://schemas.microsoft.com/office/drawing/2014/main" id="{E3C5D6FD-7E46-45C7-BF16-56908CC8DB46}"/>
              </a:ext>
            </a:extLst>
          </p:cNvPr>
          <p:cNvSpPr/>
          <p:nvPr/>
        </p:nvSpPr>
        <p:spPr>
          <a:xfrm>
            <a:off x="2423880" y="1963800"/>
            <a:ext cx="360" cy="3267000"/>
          </a:xfrm>
          <a:prstGeom prst="line">
            <a:avLst/>
          </a:prstGeom>
          <a:ln w="12600" cap="rnd">
            <a:solidFill>
              <a:schemeClr val="tx1"/>
            </a:solidFill>
            <a:custDash>
              <a:ds d="4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" name="Line 54">
            <a:extLst>
              <a:ext uri="{FF2B5EF4-FFF2-40B4-BE49-F238E27FC236}">
                <a16:creationId xmlns:a16="http://schemas.microsoft.com/office/drawing/2014/main" id="{1327EC0C-25E2-421D-8160-03C81389FC68}"/>
              </a:ext>
            </a:extLst>
          </p:cNvPr>
          <p:cNvSpPr/>
          <p:nvPr/>
        </p:nvSpPr>
        <p:spPr>
          <a:xfrm>
            <a:off x="3340080" y="1963800"/>
            <a:ext cx="360" cy="3267000"/>
          </a:xfrm>
          <a:prstGeom prst="line">
            <a:avLst/>
          </a:prstGeom>
          <a:ln w="12600" cap="rnd">
            <a:solidFill>
              <a:schemeClr val="tx1"/>
            </a:solidFill>
            <a:custDash>
              <a:ds d="4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" name="Line 55">
            <a:extLst>
              <a:ext uri="{FF2B5EF4-FFF2-40B4-BE49-F238E27FC236}">
                <a16:creationId xmlns:a16="http://schemas.microsoft.com/office/drawing/2014/main" id="{2F0A4A47-7581-46C1-BC71-BC0DECF738F5}"/>
              </a:ext>
            </a:extLst>
          </p:cNvPr>
          <p:cNvSpPr/>
          <p:nvPr/>
        </p:nvSpPr>
        <p:spPr>
          <a:xfrm>
            <a:off x="4514760" y="1925640"/>
            <a:ext cx="360" cy="3267000"/>
          </a:xfrm>
          <a:prstGeom prst="line">
            <a:avLst/>
          </a:prstGeom>
          <a:ln w="12600" cap="rnd">
            <a:solidFill>
              <a:schemeClr val="tx1"/>
            </a:solidFill>
            <a:custDash>
              <a:ds d="4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" name="Line 56">
            <a:extLst>
              <a:ext uri="{FF2B5EF4-FFF2-40B4-BE49-F238E27FC236}">
                <a16:creationId xmlns:a16="http://schemas.microsoft.com/office/drawing/2014/main" id="{0C003BEC-C796-4250-96BA-C3D42263A226}"/>
              </a:ext>
            </a:extLst>
          </p:cNvPr>
          <p:cNvSpPr/>
          <p:nvPr/>
        </p:nvSpPr>
        <p:spPr>
          <a:xfrm>
            <a:off x="6024240" y="1925640"/>
            <a:ext cx="360" cy="3267000"/>
          </a:xfrm>
          <a:prstGeom prst="line">
            <a:avLst/>
          </a:prstGeom>
          <a:ln w="12600" cap="rnd">
            <a:solidFill>
              <a:schemeClr val="tx1"/>
            </a:solidFill>
            <a:custDash>
              <a:ds d="4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" name="Line 57">
            <a:extLst>
              <a:ext uri="{FF2B5EF4-FFF2-40B4-BE49-F238E27FC236}">
                <a16:creationId xmlns:a16="http://schemas.microsoft.com/office/drawing/2014/main" id="{D2E2B9E1-9357-48A3-BE8A-18A48C135CF5}"/>
              </a:ext>
            </a:extLst>
          </p:cNvPr>
          <p:cNvSpPr/>
          <p:nvPr/>
        </p:nvSpPr>
        <p:spPr>
          <a:xfrm>
            <a:off x="7311960" y="1925640"/>
            <a:ext cx="360" cy="3267000"/>
          </a:xfrm>
          <a:prstGeom prst="line">
            <a:avLst/>
          </a:prstGeom>
          <a:ln w="12600" cap="rnd">
            <a:solidFill>
              <a:schemeClr val="tx1"/>
            </a:solidFill>
            <a:custDash>
              <a:ds d="4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" name="Line 58">
            <a:extLst>
              <a:ext uri="{FF2B5EF4-FFF2-40B4-BE49-F238E27FC236}">
                <a16:creationId xmlns:a16="http://schemas.microsoft.com/office/drawing/2014/main" id="{2640D45A-654B-4436-9193-6314047E9E50}"/>
              </a:ext>
            </a:extLst>
          </p:cNvPr>
          <p:cNvSpPr/>
          <p:nvPr/>
        </p:nvSpPr>
        <p:spPr>
          <a:xfrm>
            <a:off x="8550000" y="1925640"/>
            <a:ext cx="360" cy="3267000"/>
          </a:xfrm>
          <a:prstGeom prst="line">
            <a:avLst/>
          </a:prstGeom>
          <a:ln w="12600" cap="rnd">
            <a:solidFill>
              <a:schemeClr val="tx1"/>
            </a:solidFill>
            <a:custDash>
              <a:ds d="4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3" name="Line 59">
            <a:extLst>
              <a:ext uri="{FF2B5EF4-FFF2-40B4-BE49-F238E27FC236}">
                <a16:creationId xmlns:a16="http://schemas.microsoft.com/office/drawing/2014/main" id="{ECD460D2-A401-486C-B814-267125989745}"/>
              </a:ext>
            </a:extLst>
          </p:cNvPr>
          <p:cNvSpPr/>
          <p:nvPr/>
        </p:nvSpPr>
        <p:spPr>
          <a:xfrm>
            <a:off x="9788400" y="1925640"/>
            <a:ext cx="360" cy="3267000"/>
          </a:xfrm>
          <a:prstGeom prst="line">
            <a:avLst/>
          </a:prstGeom>
          <a:ln w="12600" cap="rnd">
            <a:solidFill>
              <a:schemeClr val="tx1"/>
            </a:solidFill>
            <a:custDash>
              <a:ds d="4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" name="Line 60">
            <a:extLst>
              <a:ext uri="{FF2B5EF4-FFF2-40B4-BE49-F238E27FC236}">
                <a16:creationId xmlns:a16="http://schemas.microsoft.com/office/drawing/2014/main" id="{8DEE3007-A4C2-4C87-BDC2-F7ECDB214178}"/>
              </a:ext>
            </a:extLst>
          </p:cNvPr>
          <p:cNvSpPr/>
          <p:nvPr/>
        </p:nvSpPr>
        <p:spPr>
          <a:xfrm>
            <a:off x="10393200" y="1925640"/>
            <a:ext cx="360" cy="3267000"/>
          </a:xfrm>
          <a:prstGeom prst="line">
            <a:avLst/>
          </a:prstGeom>
          <a:ln w="12600" cap="rnd">
            <a:solidFill>
              <a:schemeClr val="tx1"/>
            </a:solidFill>
            <a:custDash>
              <a:ds d="4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" name="Line 61">
            <a:extLst>
              <a:ext uri="{FF2B5EF4-FFF2-40B4-BE49-F238E27FC236}">
                <a16:creationId xmlns:a16="http://schemas.microsoft.com/office/drawing/2014/main" id="{0A35D7CE-7918-43A5-B19B-A5ED18BADFB3}"/>
              </a:ext>
            </a:extLst>
          </p:cNvPr>
          <p:cNvSpPr/>
          <p:nvPr/>
        </p:nvSpPr>
        <p:spPr>
          <a:xfrm>
            <a:off x="3340080" y="5256360"/>
            <a:ext cx="360" cy="749160"/>
          </a:xfrm>
          <a:prstGeom prst="line">
            <a:avLst/>
          </a:prstGeom>
          <a:ln w="126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6" name="Line 62">
            <a:extLst>
              <a:ext uri="{FF2B5EF4-FFF2-40B4-BE49-F238E27FC236}">
                <a16:creationId xmlns:a16="http://schemas.microsoft.com/office/drawing/2014/main" id="{07FF2E63-4DB7-4637-A346-609A7568F4EB}"/>
              </a:ext>
            </a:extLst>
          </p:cNvPr>
          <p:cNvSpPr/>
          <p:nvPr/>
        </p:nvSpPr>
        <p:spPr>
          <a:xfrm>
            <a:off x="4514760" y="5243400"/>
            <a:ext cx="360" cy="749520"/>
          </a:xfrm>
          <a:prstGeom prst="line">
            <a:avLst/>
          </a:prstGeom>
          <a:ln w="126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7" name="Line 63">
            <a:extLst>
              <a:ext uri="{FF2B5EF4-FFF2-40B4-BE49-F238E27FC236}">
                <a16:creationId xmlns:a16="http://schemas.microsoft.com/office/drawing/2014/main" id="{82FE8695-0604-47C2-A7AD-B2B4A9BB4D5A}"/>
              </a:ext>
            </a:extLst>
          </p:cNvPr>
          <p:cNvSpPr/>
          <p:nvPr/>
        </p:nvSpPr>
        <p:spPr>
          <a:xfrm>
            <a:off x="6024240" y="5256360"/>
            <a:ext cx="360" cy="749160"/>
          </a:xfrm>
          <a:prstGeom prst="line">
            <a:avLst/>
          </a:prstGeom>
          <a:ln w="126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8" name="Line 64">
            <a:extLst>
              <a:ext uri="{FF2B5EF4-FFF2-40B4-BE49-F238E27FC236}">
                <a16:creationId xmlns:a16="http://schemas.microsoft.com/office/drawing/2014/main" id="{A2A92702-7FD5-4A2B-BF1D-AD79D350233F}"/>
              </a:ext>
            </a:extLst>
          </p:cNvPr>
          <p:cNvSpPr/>
          <p:nvPr/>
        </p:nvSpPr>
        <p:spPr>
          <a:xfrm>
            <a:off x="7311960" y="5243400"/>
            <a:ext cx="360" cy="749520"/>
          </a:xfrm>
          <a:prstGeom prst="line">
            <a:avLst/>
          </a:prstGeom>
          <a:ln w="126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9" name="Line 65">
            <a:extLst>
              <a:ext uri="{FF2B5EF4-FFF2-40B4-BE49-F238E27FC236}">
                <a16:creationId xmlns:a16="http://schemas.microsoft.com/office/drawing/2014/main" id="{9A6B9C97-F3E7-45D2-ABB6-103CB38A9F0A}"/>
              </a:ext>
            </a:extLst>
          </p:cNvPr>
          <p:cNvSpPr/>
          <p:nvPr/>
        </p:nvSpPr>
        <p:spPr>
          <a:xfrm>
            <a:off x="8550000" y="5230800"/>
            <a:ext cx="360" cy="749160"/>
          </a:xfrm>
          <a:prstGeom prst="line">
            <a:avLst/>
          </a:prstGeom>
          <a:ln w="126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0" name="Line 66">
            <a:extLst>
              <a:ext uri="{FF2B5EF4-FFF2-40B4-BE49-F238E27FC236}">
                <a16:creationId xmlns:a16="http://schemas.microsoft.com/office/drawing/2014/main" id="{D488CA5E-8E33-47C3-B79D-67DE3C33B7C7}"/>
              </a:ext>
            </a:extLst>
          </p:cNvPr>
          <p:cNvSpPr/>
          <p:nvPr/>
        </p:nvSpPr>
        <p:spPr>
          <a:xfrm>
            <a:off x="9788400" y="5230800"/>
            <a:ext cx="360" cy="749160"/>
          </a:xfrm>
          <a:prstGeom prst="line">
            <a:avLst/>
          </a:prstGeom>
          <a:ln w="126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1" name="Line 67">
            <a:extLst>
              <a:ext uri="{FF2B5EF4-FFF2-40B4-BE49-F238E27FC236}">
                <a16:creationId xmlns:a16="http://schemas.microsoft.com/office/drawing/2014/main" id="{F078F9EA-6E2D-4CBD-AAE9-F79FD8BDD055}"/>
              </a:ext>
            </a:extLst>
          </p:cNvPr>
          <p:cNvSpPr/>
          <p:nvPr/>
        </p:nvSpPr>
        <p:spPr>
          <a:xfrm>
            <a:off x="2423880" y="5268960"/>
            <a:ext cx="360" cy="749160"/>
          </a:xfrm>
          <a:prstGeom prst="line">
            <a:avLst/>
          </a:prstGeom>
          <a:ln w="2844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2" name="Line 68">
            <a:extLst>
              <a:ext uri="{FF2B5EF4-FFF2-40B4-BE49-F238E27FC236}">
                <a16:creationId xmlns:a16="http://schemas.microsoft.com/office/drawing/2014/main" id="{827CBF1E-237A-43DD-BED1-C4305CFF1863}"/>
              </a:ext>
            </a:extLst>
          </p:cNvPr>
          <p:cNvSpPr/>
          <p:nvPr/>
        </p:nvSpPr>
        <p:spPr>
          <a:xfrm>
            <a:off x="10393200" y="5230800"/>
            <a:ext cx="360" cy="749160"/>
          </a:xfrm>
          <a:prstGeom prst="line">
            <a:avLst/>
          </a:prstGeom>
          <a:ln w="2844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3" name="Line 69">
            <a:extLst>
              <a:ext uri="{FF2B5EF4-FFF2-40B4-BE49-F238E27FC236}">
                <a16:creationId xmlns:a16="http://schemas.microsoft.com/office/drawing/2014/main" id="{4EBD916C-001F-44FD-A7D9-83CF9F838346}"/>
              </a:ext>
            </a:extLst>
          </p:cNvPr>
          <p:cNvSpPr/>
          <p:nvPr/>
        </p:nvSpPr>
        <p:spPr>
          <a:xfrm>
            <a:off x="4725720" y="4408560"/>
            <a:ext cx="12960" cy="133200"/>
          </a:xfrm>
          <a:prstGeom prst="line">
            <a:avLst/>
          </a:prstGeom>
          <a:ln w="50760">
            <a:solidFill>
              <a:schemeClr val="accent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4" name="Line 70">
            <a:extLst>
              <a:ext uri="{FF2B5EF4-FFF2-40B4-BE49-F238E27FC236}">
                <a16:creationId xmlns:a16="http://schemas.microsoft.com/office/drawing/2014/main" id="{B080D10F-3142-4C59-A639-35050CDC96A0}"/>
              </a:ext>
            </a:extLst>
          </p:cNvPr>
          <p:cNvSpPr/>
          <p:nvPr/>
        </p:nvSpPr>
        <p:spPr>
          <a:xfrm>
            <a:off x="5543280" y="4186080"/>
            <a:ext cx="370080" cy="11160"/>
          </a:xfrm>
          <a:prstGeom prst="line">
            <a:avLst/>
          </a:prstGeom>
          <a:ln w="255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5" name="CustomShape 71">
            <a:extLst>
              <a:ext uri="{FF2B5EF4-FFF2-40B4-BE49-F238E27FC236}">
                <a16:creationId xmlns:a16="http://schemas.microsoft.com/office/drawing/2014/main" id="{15D2398F-9F01-4DE0-9375-49D4E956B2BC}"/>
              </a:ext>
            </a:extLst>
          </p:cNvPr>
          <p:cNvSpPr/>
          <p:nvPr/>
        </p:nvSpPr>
        <p:spPr>
          <a:xfrm>
            <a:off x="8650440" y="3664080"/>
            <a:ext cx="1050480" cy="410760"/>
          </a:xfrm>
          <a:prstGeom prst="rect">
            <a:avLst/>
          </a:prstGeom>
          <a:solidFill>
            <a:srgbClr val="FF0000"/>
          </a:solidFill>
          <a:ln w="1260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3F3F3F"/>
                </a:solidFill>
                <a:latin typeface="Times New Roman"/>
              </a:rPr>
              <a:t>OS-Present</a:t>
            </a:r>
            <a:endParaRPr lang="en-US" sz="1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3F3F3F"/>
                </a:solidFill>
                <a:latin typeface="Times New Roman"/>
              </a:rPr>
              <a:t>App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76" name="CustomShape 72">
            <a:extLst>
              <a:ext uri="{FF2B5EF4-FFF2-40B4-BE49-F238E27FC236}">
                <a16:creationId xmlns:a16="http://schemas.microsoft.com/office/drawing/2014/main" id="{8967F5C8-FC90-438A-A6E6-7D5F41A2DF6A}"/>
              </a:ext>
            </a:extLst>
          </p:cNvPr>
          <p:cNvSpPr/>
          <p:nvPr/>
        </p:nvSpPr>
        <p:spPr>
          <a:xfrm>
            <a:off x="8650440" y="4408560"/>
            <a:ext cx="1050480" cy="410760"/>
          </a:xfrm>
          <a:prstGeom prst="rect">
            <a:avLst/>
          </a:prstGeom>
          <a:solidFill>
            <a:srgbClr val="FF0000"/>
          </a:solidFill>
          <a:ln w="1260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3F3F3F"/>
                </a:solidFill>
                <a:latin typeface="Times New Roman"/>
              </a:rPr>
              <a:t>Final OS</a:t>
            </a:r>
            <a:endParaRPr lang="en-US" sz="1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3F3F3F"/>
                </a:solidFill>
                <a:latin typeface="Times New Roman"/>
              </a:rPr>
              <a:t>Environment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77" name="CustomShape 73">
            <a:extLst>
              <a:ext uri="{FF2B5EF4-FFF2-40B4-BE49-F238E27FC236}">
                <a16:creationId xmlns:a16="http://schemas.microsoft.com/office/drawing/2014/main" id="{3933CC71-EA0D-4C48-A5DB-184D8E7737D1}"/>
              </a:ext>
            </a:extLst>
          </p:cNvPr>
          <p:cNvSpPr/>
          <p:nvPr/>
        </p:nvSpPr>
        <p:spPr>
          <a:xfrm>
            <a:off x="9887040" y="4530960"/>
            <a:ext cx="321840" cy="333000"/>
          </a:xfrm>
          <a:prstGeom prst="rect">
            <a:avLst/>
          </a:prstGeom>
          <a:solidFill>
            <a:srgbClr val="009900"/>
          </a:solidFill>
          <a:ln w="1260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strike="noStrike" spc="-1">
                <a:solidFill>
                  <a:srgbClr val="3F3F3F"/>
                </a:solidFill>
                <a:latin typeface="Times New Roman"/>
              </a:rPr>
              <a:t>?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78" name="CustomShape 74">
            <a:extLst>
              <a:ext uri="{FF2B5EF4-FFF2-40B4-BE49-F238E27FC236}">
                <a16:creationId xmlns:a16="http://schemas.microsoft.com/office/drawing/2014/main" id="{28575921-E630-48F7-AF8A-F7359DAE76C0}"/>
              </a:ext>
            </a:extLst>
          </p:cNvPr>
          <p:cNvSpPr/>
          <p:nvPr/>
        </p:nvSpPr>
        <p:spPr>
          <a:xfrm>
            <a:off x="8674200" y="2264040"/>
            <a:ext cx="1150560" cy="889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0" strike="noStrike" spc="-1">
                <a:solidFill>
                  <a:srgbClr val="3F3F3F"/>
                </a:solidFill>
                <a:latin typeface="Verdana"/>
              </a:rPr>
              <a:t>Previously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0" strike="noStrike" spc="-1">
                <a:solidFill>
                  <a:srgbClr val="3F3F3F"/>
                </a:solidFill>
                <a:latin typeface="Verdana"/>
              </a:rPr>
              <a:t>Exposed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0" strike="noStrike" spc="-1">
                <a:solidFill>
                  <a:srgbClr val="3F3F3F"/>
                </a:solidFill>
                <a:latin typeface="Verdana"/>
              </a:rPr>
              <a:t>Tiano APIs 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0" strike="noStrike" spc="-1">
                <a:solidFill>
                  <a:srgbClr val="3F3F3F"/>
                </a:solidFill>
                <a:latin typeface="Verdana"/>
              </a:rPr>
              <a:t>Now limited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79" name="Line 75">
            <a:extLst>
              <a:ext uri="{FF2B5EF4-FFF2-40B4-BE49-F238E27FC236}">
                <a16:creationId xmlns:a16="http://schemas.microsoft.com/office/drawing/2014/main" id="{98E0A968-21DC-48C3-9631-D261A75B73E3}"/>
              </a:ext>
            </a:extLst>
          </p:cNvPr>
          <p:cNvSpPr/>
          <p:nvPr/>
        </p:nvSpPr>
        <p:spPr>
          <a:xfrm>
            <a:off x="8439120" y="4719600"/>
            <a:ext cx="223560" cy="22320"/>
          </a:xfrm>
          <a:prstGeom prst="line">
            <a:avLst/>
          </a:prstGeom>
          <a:ln w="255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0" name="CustomShape 76">
            <a:extLst>
              <a:ext uri="{FF2B5EF4-FFF2-40B4-BE49-F238E27FC236}">
                <a16:creationId xmlns:a16="http://schemas.microsoft.com/office/drawing/2014/main" id="{46670079-6D52-4BDC-8F18-DC3CDD073782}"/>
              </a:ext>
            </a:extLst>
          </p:cNvPr>
          <p:cNvSpPr/>
          <p:nvPr/>
        </p:nvSpPr>
        <p:spPr>
          <a:xfrm>
            <a:off x="8996400" y="4086360"/>
            <a:ext cx="123480" cy="344160"/>
          </a:xfrm>
          <a:prstGeom prst="curvedRightArrow">
            <a:avLst>
              <a:gd name="adj1" fmla="val 25193"/>
              <a:gd name="adj2" fmla="val 80834"/>
              <a:gd name="adj3" fmla="val 33333"/>
            </a:avLst>
          </a:prstGeom>
          <a:solidFill>
            <a:srgbClr val="333333"/>
          </a:solidFill>
          <a:ln w="648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1" name="CustomShape 77">
            <a:extLst>
              <a:ext uri="{FF2B5EF4-FFF2-40B4-BE49-F238E27FC236}">
                <a16:creationId xmlns:a16="http://schemas.microsoft.com/office/drawing/2014/main" id="{7DDB1580-D4D9-4EF3-8515-F4AD904A4DF5}"/>
              </a:ext>
            </a:extLst>
          </p:cNvPr>
          <p:cNvSpPr/>
          <p:nvPr/>
        </p:nvSpPr>
        <p:spPr>
          <a:xfrm flipH="1" flipV="1">
            <a:off x="9194040" y="4063320"/>
            <a:ext cx="123480" cy="333000"/>
          </a:xfrm>
          <a:prstGeom prst="curvedRightArrow">
            <a:avLst>
              <a:gd name="adj1" fmla="val 24380"/>
              <a:gd name="adj2" fmla="val 78226"/>
              <a:gd name="adj3" fmla="val 22222"/>
            </a:avLst>
          </a:prstGeom>
          <a:solidFill>
            <a:srgbClr val="333333"/>
          </a:solidFill>
          <a:ln w="648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78">
            <a:extLst>
              <a:ext uri="{FF2B5EF4-FFF2-40B4-BE49-F238E27FC236}">
                <a16:creationId xmlns:a16="http://schemas.microsoft.com/office/drawing/2014/main" id="{E8596968-E288-499B-B6B3-19457055FBB0}"/>
              </a:ext>
            </a:extLst>
          </p:cNvPr>
          <p:cNvSpPr/>
          <p:nvPr/>
        </p:nvSpPr>
        <p:spPr>
          <a:xfrm>
            <a:off x="3303720" y="4741920"/>
            <a:ext cx="6746400" cy="350640"/>
          </a:xfrm>
          <a:custGeom>
            <a:avLst/>
            <a:gdLst/>
            <a:ahLst/>
            <a:cxnLst/>
            <a:rect l="l" t="t" r="r" b="b"/>
            <a:pathLst>
              <a:path w="4401" h="252">
                <a:moveTo>
                  <a:pt x="4368" y="96"/>
                </a:moveTo>
                <a:cubicBezTo>
                  <a:pt x="4370" y="148"/>
                  <a:pt x="4372" y="200"/>
                  <a:pt x="4360" y="224"/>
                </a:cubicBezTo>
                <a:cubicBezTo>
                  <a:pt x="4348" y="248"/>
                  <a:pt x="4401" y="239"/>
                  <a:pt x="4296" y="240"/>
                </a:cubicBezTo>
                <a:cubicBezTo>
                  <a:pt x="4191" y="241"/>
                  <a:pt x="4268" y="236"/>
                  <a:pt x="3728" y="232"/>
                </a:cubicBezTo>
                <a:cubicBezTo>
                  <a:pt x="3188" y="228"/>
                  <a:pt x="1656" y="219"/>
                  <a:pt x="1056" y="216"/>
                </a:cubicBezTo>
                <a:cubicBezTo>
                  <a:pt x="456" y="213"/>
                  <a:pt x="256" y="252"/>
                  <a:pt x="128" y="216"/>
                </a:cubicBezTo>
                <a:cubicBezTo>
                  <a:pt x="0" y="180"/>
                  <a:pt x="144" y="90"/>
                  <a:pt x="288" y="0"/>
                </a:cubicBezTo>
              </a:path>
            </a:pathLst>
          </a:custGeom>
          <a:noFill/>
          <a:ln w="1584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79">
            <a:extLst>
              <a:ext uri="{FF2B5EF4-FFF2-40B4-BE49-F238E27FC236}">
                <a16:creationId xmlns:a16="http://schemas.microsoft.com/office/drawing/2014/main" id="{FF54C71D-9DC1-4BED-BDEA-010E182BE278}"/>
              </a:ext>
            </a:extLst>
          </p:cNvPr>
          <p:cNvSpPr/>
          <p:nvPr/>
        </p:nvSpPr>
        <p:spPr>
          <a:xfrm>
            <a:off x="3467160" y="2397240"/>
            <a:ext cx="925200" cy="399600"/>
          </a:xfrm>
          <a:prstGeom prst="rect">
            <a:avLst/>
          </a:prstGeom>
          <a:solidFill>
            <a:schemeClr val="accent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3F3F3F"/>
                </a:solidFill>
                <a:latin typeface="Times New Roman"/>
              </a:rPr>
              <a:t>CPU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3F3F3F"/>
                </a:solidFill>
                <a:latin typeface="Times New Roman"/>
              </a:rPr>
              <a:t>Init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84" name="CustomShape 80">
            <a:extLst>
              <a:ext uri="{FF2B5EF4-FFF2-40B4-BE49-F238E27FC236}">
                <a16:creationId xmlns:a16="http://schemas.microsoft.com/office/drawing/2014/main" id="{52E1DC07-C67A-4827-A4D7-630AC3FEEB26}"/>
              </a:ext>
            </a:extLst>
          </p:cNvPr>
          <p:cNvSpPr/>
          <p:nvPr/>
        </p:nvSpPr>
        <p:spPr>
          <a:xfrm>
            <a:off x="3454560" y="2875320"/>
            <a:ext cx="925200" cy="399600"/>
          </a:xfrm>
          <a:prstGeom prst="rect">
            <a:avLst/>
          </a:prstGeom>
          <a:solidFill>
            <a:schemeClr val="accent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3F3F3F"/>
                </a:solidFill>
                <a:latin typeface="Times New Roman"/>
              </a:rPr>
              <a:t>Chipset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3F3F3F"/>
                </a:solidFill>
                <a:latin typeface="Times New Roman"/>
              </a:rPr>
              <a:t>Init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85" name="CustomShape 81">
            <a:extLst>
              <a:ext uri="{FF2B5EF4-FFF2-40B4-BE49-F238E27FC236}">
                <a16:creationId xmlns:a16="http://schemas.microsoft.com/office/drawing/2014/main" id="{32F24128-DE8A-4E7B-BA13-CD7ED2FEAFE0}"/>
              </a:ext>
            </a:extLst>
          </p:cNvPr>
          <p:cNvSpPr/>
          <p:nvPr/>
        </p:nvSpPr>
        <p:spPr>
          <a:xfrm>
            <a:off x="3454560" y="3386160"/>
            <a:ext cx="925200" cy="399600"/>
          </a:xfrm>
          <a:prstGeom prst="rect">
            <a:avLst/>
          </a:prstGeom>
          <a:solidFill>
            <a:srgbClr val="0099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3F3F3F"/>
                </a:solidFill>
                <a:latin typeface="Times New Roman"/>
              </a:rPr>
              <a:t>Board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3F3F3F"/>
                </a:solidFill>
                <a:latin typeface="Times New Roman"/>
              </a:rPr>
              <a:t>Init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86" name="CustomShape 82">
            <a:extLst>
              <a:ext uri="{FF2B5EF4-FFF2-40B4-BE49-F238E27FC236}">
                <a16:creationId xmlns:a16="http://schemas.microsoft.com/office/drawing/2014/main" id="{E740D9B2-75FD-486D-AA7D-15D1B345336D}"/>
              </a:ext>
            </a:extLst>
          </p:cNvPr>
          <p:cNvSpPr/>
          <p:nvPr/>
        </p:nvSpPr>
        <p:spPr>
          <a:xfrm>
            <a:off x="4925880" y="2364120"/>
            <a:ext cx="1052280" cy="1244160"/>
          </a:xfrm>
          <a:prstGeom prst="flowChartMultidocument">
            <a:avLst/>
          </a:prstGeom>
          <a:solidFill>
            <a:schemeClr val="folHlink"/>
          </a:solidFill>
          <a:ln w="1260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" name="CustomShape 83">
            <a:extLst>
              <a:ext uri="{FF2B5EF4-FFF2-40B4-BE49-F238E27FC236}">
                <a16:creationId xmlns:a16="http://schemas.microsoft.com/office/drawing/2014/main" id="{7C2CF3F7-72E4-4611-8B18-A7266F071C75}"/>
              </a:ext>
            </a:extLst>
          </p:cNvPr>
          <p:cNvSpPr/>
          <p:nvPr/>
        </p:nvSpPr>
        <p:spPr>
          <a:xfrm>
            <a:off x="4773600" y="2708640"/>
            <a:ext cx="925200" cy="899640"/>
          </a:xfrm>
          <a:prstGeom prst="rect">
            <a:avLst/>
          </a:prstGeom>
          <a:solidFill>
            <a:srgbClr val="FFCC00"/>
          </a:solidFill>
          <a:ln w="1260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3F3F3F"/>
                </a:solidFill>
                <a:latin typeface="Times New Roman"/>
              </a:rPr>
              <a:t>Device, Bus, or Service Driver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8" name="CustomShape 84">
            <a:extLst>
              <a:ext uri="{FF2B5EF4-FFF2-40B4-BE49-F238E27FC236}">
                <a16:creationId xmlns:a16="http://schemas.microsoft.com/office/drawing/2014/main" id="{193A3FE2-45E0-4944-91C4-20AE0BC7F71E}"/>
              </a:ext>
            </a:extLst>
          </p:cNvPr>
          <p:cNvSpPr/>
          <p:nvPr/>
        </p:nvSpPr>
        <p:spPr>
          <a:xfrm>
            <a:off x="3886200" y="3964320"/>
            <a:ext cx="1723680" cy="444240"/>
          </a:xfrm>
          <a:prstGeom prst="ellipse">
            <a:avLst/>
          </a:prstGeom>
          <a:solidFill>
            <a:schemeClr val="accent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3F3F3F"/>
                </a:solidFill>
                <a:latin typeface="Times New Roman"/>
              </a:rPr>
              <a:t>DXE Dispatcher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85">
            <a:extLst>
              <a:ext uri="{FF2B5EF4-FFF2-40B4-BE49-F238E27FC236}">
                <a16:creationId xmlns:a16="http://schemas.microsoft.com/office/drawing/2014/main" id="{B402B6D6-2BEA-4D77-8D46-589EB9863EBB}"/>
              </a:ext>
            </a:extLst>
          </p:cNvPr>
          <p:cNvSpPr/>
          <p:nvPr/>
        </p:nvSpPr>
        <p:spPr>
          <a:xfrm>
            <a:off x="3797280" y="4508640"/>
            <a:ext cx="1863360" cy="399600"/>
          </a:xfrm>
          <a:prstGeom prst="rect">
            <a:avLst/>
          </a:prstGeom>
          <a:solidFill>
            <a:schemeClr val="accent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3F3F3F"/>
                </a:solidFill>
                <a:latin typeface="Times New Roman"/>
              </a:rPr>
              <a:t>Boot Service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3F3F3F"/>
                </a:solidFill>
                <a:latin typeface="Times New Roman"/>
              </a:rPr>
              <a:t>Runtime Service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90" name="CustomShape 86">
            <a:extLst>
              <a:ext uri="{FF2B5EF4-FFF2-40B4-BE49-F238E27FC236}">
                <a16:creationId xmlns:a16="http://schemas.microsoft.com/office/drawing/2014/main" id="{EEFD03FE-0010-47F8-8EBF-48D1D7092AE8}"/>
              </a:ext>
            </a:extLst>
          </p:cNvPr>
          <p:cNvSpPr/>
          <p:nvPr/>
        </p:nvSpPr>
        <p:spPr>
          <a:xfrm>
            <a:off x="4875120" y="3630960"/>
            <a:ext cx="126720" cy="344160"/>
          </a:xfrm>
          <a:prstGeom prst="curvedRightArrow">
            <a:avLst>
              <a:gd name="adj1" fmla="val 24563"/>
              <a:gd name="adj2" fmla="val 78813"/>
              <a:gd name="adj3" fmla="val 33333"/>
            </a:avLst>
          </a:prstGeom>
          <a:solidFill>
            <a:srgbClr val="333333"/>
          </a:solidFill>
          <a:ln w="648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1" name="CustomShape 87">
            <a:extLst>
              <a:ext uri="{FF2B5EF4-FFF2-40B4-BE49-F238E27FC236}">
                <a16:creationId xmlns:a16="http://schemas.microsoft.com/office/drawing/2014/main" id="{6F5FAD82-BF01-4658-8D8B-8768D35E26F9}"/>
              </a:ext>
            </a:extLst>
          </p:cNvPr>
          <p:cNvSpPr/>
          <p:nvPr/>
        </p:nvSpPr>
        <p:spPr>
          <a:xfrm flipH="1" flipV="1">
            <a:off x="5078520" y="3607920"/>
            <a:ext cx="126720" cy="333000"/>
          </a:xfrm>
          <a:prstGeom prst="curvedRightArrow">
            <a:avLst>
              <a:gd name="adj1" fmla="val 23771"/>
              <a:gd name="adj2" fmla="val 76271"/>
              <a:gd name="adj3" fmla="val 22222"/>
            </a:avLst>
          </a:prstGeom>
          <a:solidFill>
            <a:srgbClr val="333333"/>
          </a:solidFill>
          <a:ln w="648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2" name="CustomShape 88">
            <a:extLst>
              <a:ext uri="{FF2B5EF4-FFF2-40B4-BE49-F238E27FC236}">
                <a16:creationId xmlns:a16="http://schemas.microsoft.com/office/drawing/2014/main" id="{4F406EDB-AA84-4A65-9780-C638123C25AE}"/>
              </a:ext>
            </a:extLst>
          </p:cNvPr>
          <p:cNvSpPr/>
          <p:nvPr/>
        </p:nvSpPr>
        <p:spPr>
          <a:xfrm flipH="1">
            <a:off x="4430880" y="2630520"/>
            <a:ext cx="190080" cy="344160"/>
          </a:xfrm>
          <a:prstGeom prst="curvedRightArrow">
            <a:avLst>
              <a:gd name="adj1" fmla="val 16375"/>
              <a:gd name="adj2" fmla="val 52542"/>
              <a:gd name="adj3" fmla="val 22222"/>
            </a:avLst>
          </a:prstGeom>
          <a:solidFill>
            <a:srgbClr val="333333"/>
          </a:solidFill>
          <a:ln w="648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3" name="CustomShape 89">
            <a:extLst>
              <a:ext uri="{FF2B5EF4-FFF2-40B4-BE49-F238E27FC236}">
                <a16:creationId xmlns:a16="http://schemas.microsoft.com/office/drawing/2014/main" id="{E85ED69A-EBCF-4DB9-87F4-1E4307BAB4C3}"/>
              </a:ext>
            </a:extLst>
          </p:cNvPr>
          <p:cNvSpPr/>
          <p:nvPr/>
        </p:nvSpPr>
        <p:spPr>
          <a:xfrm flipH="1">
            <a:off x="4405320" y="3186360"/>
            <a:ext cx="190080" cy="344160"/>
          </a:xfrm>
          <a:prstGeom prst="curvedRightArrow">
            <a:avLst>
              <a:gd name="adj1" fmla="val 16375"/>
              <a:gd name="adj2" fmla="val 52542"/>
              <a:gd name="adj3" fmla="val 22222"/>
            </a:avLst>
          </a:prstGeom>
          <a:solidFill>
            <a:srgbClr val="333333"/>
          </a:solidFill>
          <a:ln w="648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4" name="CustomShape 90">
            <a:extLst>
              <a:ext uri="{FF2B5EF4-FFF2-40B4-BE49-F238E27FC236}">
                <a16:creationId xmlns:a16="http://schemas.microsoft.com/office/drawing/2014/main" id="{7EB08C56-3832-4396-8F0D-DF3F352E37F4}"/>
              </a:ext>
            </a:extLst>
          </p:cNvPr>
          <p:cNvSpPr/>
          <p:nvPr/>
        </p:nvSpPr>
        <p:spPr>
          <a:xfrm>
            <a:off x="3289320" y="2330640"/>
            <a:ext cx="641160" cy="66240"/>
          </a:xfrm>
          <a:prstGeom prst="curvedConnector2">
            <a:avLst/>
          </a:prstGeom>
          <a:noFill/>
          <a:ln w="25560">
            <a:solidFill>
              <a:schemeClr val="tx1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5" name="CustomShape 91">
            <a:extLst>
              <a:ext uri="{FF2B5EF4-FFF2-40B4-BE49-F238E27FC236}">
                <a16:creationId xmlns:a16="http://schemas.microsoft.com/office/drawing/2014/main" id="{1811528E-D694-432F-9D8E-8E863746C2AF}"/>
              </a:ext>
            </a:extLst>
          </p:cNvPr>
          <p:cNvSpPr/>
          <p:nvPr/>
        </p:nvSpPr>
        <p:spPr>
          <a:xfrm rot="5400000">
            <a:off x="3702240" y="3970440"/>
            <a:ext cx="399600" cy="31320"/>
          </a:xfrm>
          <a:prstGeom prst="curvedConnector4">
            <a:avLst>
              <a:gd name="adj1" fmla="val 22222"/>
              <a:gd name="adj2" fmla="val 820000"/>
            </a:avLst>
          </a:prstGeom>
          <a:noFill/>
          <a:ln w="25560">
            <a:solidFill>
              <a:schemeClr val="tx1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6" name="CustomShape 92">
            <a:extLst>
              <a:ext uri="{FF2B5EF4-FFF2-40B4-BE49-F238E27FC236}">
                <a16:creationId xmlns:a16="http://schemas.microsoft.com/office/drawing/2014/main" id="{08C94D57-AADA-44FD-B1AF-57DD8ECCBA6F}"/>
              </a:ext>
            </a:extLst>
          </p:cNvPr>
          <p:cNvSpPr/>
          <p:nvPr/>
        </p:nvSpPr>
        <p:spPr>
          <a:xfrm>
            <a:off x="2498760" y="2130480"/>
            <a:ext cx="790200" cy="399600"/>
          </a:xfrm>
          <a:prstGeom prst="rect">
            <a:avLst/>
          </a:prstGeom>
          <a:solidFill>
            <a:schemeClr val="accent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3F3F3F"/>
                </a:solidFill>
                <a:latin typeface="Times New Roman"/>
              </a:rPr>
              <a:t>Pre Verifier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97" name="Line 93">
            <a:extLst>
              <a:ext uri="{FF2B5EF4-FFF2-40B4-BE49-F238E27FC236}">
                <a16:creationId xmlns:a16="http://schemas.microsoft.com/office/drawing/2014/main" id="{0ECCF186-E816-4E48-A2EB-8D07573887E6}"/>
              </a:ext>
            </a:extLst>
          </p:cNvPr>
          <p:cNvSpPr/>
          <p:nvPr/>
        </p:nvSpPr>
        <p:spPr>
          <a:xfrm>
            <a:off x="2869920" y="2541600"/>
            <a:ext cx="360" cy="1144440"/>
          </a:xfrm>
          <a:prstGeom prst="line">
            <a:avLst/>
          </a:prstGeom>
          <a:ln w="25560">
            <a:solidFill>
              <a:schemeClr val="folHlink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8" name="Line 94">
            <a:extLst>
              <a:ext uri="{FF2B5EF4-FFF2-40B4-BE49-F238E27FC236}">
                <a16:creationId xmlns:a16="http://schemas.microsoft.com/office/drawing/2014/main" id="{C0821613-246B-487A-A9DC-44A1C16F9721}"/>
              </a:ext>
            </a:extLst>
          </p:cNvPr>
          <p:cNvSpPr/>
          <p:nvPr/>
        </p:nvSpPr>
        <p:spPr>
          <a:xfrm>
            <a:off x="2857320" y="3675240"/>
            <a:ext cx="542880" cy="360"/>
          </a:xfrm>
          <a:prstGeom prst="line">
            <a:avLst/>
          </a:prstGeom>
          <a:ln w="25560">
            <a:solidFill>
              <a:schemeClr val="folHlink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9" name="Line 95">
            <a:extLst>
              <a:ext uri="{FF2B5EF4-FFF2-40B4-BE49-F238E27FC236}">
                <a16:creationId xmlns:a16="http://schemas.microsoft.com/office/drawing/2014/main" id="{5FFB9534-7A19-4E15-AB03-5839646AE1E0}"/>
              </a:ext>
            </a:extLst>
          </p:cNvPr>
          <p:cNvSpPr/>
          <p:nvPr/>
        </p:nvSpPr>
        <p:spPr>
          <a:xfrm>
            <a:off x="2857320" y="3141720"/>
            <a:ext cx="542880" cy="360"/>
          </a:xfrm>
          <a:prstGeom prst="line">
            <a:avLst/>
          </a:prstGeom>
          <a:ln w="25560">
            <a:solidFill>
              <a:schemeClr val="folHlink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0" name="Line 96">
            <a:extLst>
              <a:ext uri="{FF2B5EF4-FFF2-40B4-BE49-F238E27FC236}">
                <a16:creationId xmlns:a16="http://schemas.microsoft.com/office/drawing/2014/main" id="{E4F5EDBC-4CEB-4AAA-ADB7-EBE066EF5499}"/>
              </a:ext>
            </a:extLst>
          </p:cNvPr>
          <p:cNvSpPr/>
          <p:nvPr/>
        </p:nvSpPr>
        <p:spPr>
          <a:xfrm>
            <a:off x="2881080" y="2685960"/>
            <a:ext cx="544680" cy="360"/>
          </a:xfrm>
          <a:prstGeom prst="line">
            <a:avLst/>
          </a:prstGeom>
          <a:ln w="25560">
            <a:solidFill>
              <a:schemeClr val="folHlink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1" name="CustomShape 97">
            <a:extLst>
              <a:ext uri="{FF2B5EF4-FFF2-40B4-BE49-F238E27FC236}">
                <a16:creationId xmlns:a16="http://schemas.microsoft.com/office/drawing/2014/main" id="{F64BCDC1-0D04-4374-B0B0-ED2B195A3D46}"/>
              </a:ext>
            </a:extLst>
          </p:cNvPr>
          <p:cNvSpPr/>
          <p:nvPr/>
        </p:nvSpPr>
        <p:spPr>
          <a:xfrm rot="10800000">
            <a:off x="2938320" y="3381480"/>
            <a:ext cx="396360" cy="610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rot="5400000" vert="vert"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700"/>
              </a:spcBef>
            </a:pPr>
            <a:r>
              <a:rPr lang="en-US" sz="1400" b="1" strike="noStrike" spc="-1">
                <a:solidFill>
                  <a:srgbClr val="ED7D31"/>
                </a:solidFill>
                <a:latin typeface="Times New Roman"/>
              </a:rPr>
              <a:t>Verify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102" name="Group 98">
            <a:extLst>
              <a:ext uri="{FF2B5EF4-FFF2-40B4-BE49-F238E27FC236}">
                <a16:creationId xmlns:a16="http://schemas.microsoft.com/office/drawing/2014/main" id="{F24BCBEE-B66A-47CF-9A0A-6A6BED2F8F27}"/>
              </a:ext>
            </a:extLst>
          </p:cNvPr>
          <p:cNvGrpSpPr/>
          <p:nvPr/>
        </p:nvGrpSpPr>
        <p:grpSpPr>
          <a:xfrm>
            <a:off x="5925960" y="2130480"/>
            <a:ext cx="2525760" cy="2722320"/>
            <a:chOff x="5925960" y="2130480"/>
            <a:chExt cx="2525760" cy="2722320"/>
          </a:xfrm>
        </p:grpSpPr>
        <p:sp>
          <p:nvSpPr>
            <p:cNvPr id="103" name="CustomShape 99">
              <a:extLst>
                <a:ext uri="{FF2B5EF4-FFF2-40B4-BE49-F238E27FC236}">
                  <a16:creationId xmlns:a16="http://schemas.microsoft.com/office/drawing/2014/main" id="{1D68AC0B-29C4-433F-8D70-803625B2F480}"/>
                </a:ext>
              </a:extLst>
            </p:cNvPr>
            <p:cNvSpPr/>
            <p:nvPr/>
          </p:nvSpPr>
          <p:spPr>
            <a:xfrm>
              <a:off x="5925960" y="3975120"/>
              <a:ext cx="1460160" cy="444240"/>
            </a:xfrm>
            <a:prstGeom prst="ellipse">
              <a:avLst/>
            </a:prstGeom>
            <a:solidFill>
              <a:srgbClr val="009900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3F3F3F"/>
                  </a:solidFill>
                  <a:latin typeface="Times New Roman"/>
                </a:rPr>
                <a:t>DXE Dispatcher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104" name="CustomShape 100">
              <a:extLst>
                <a:ext uri="{FF2B5EF4-FFF2-40B4-BE49-F238E27FC236}">
                  <a16:creationId xmlns:a16="http://schemas.microsoft.com/office/drawing/2014/main" id="{6D48758F-C3A2-4783-93B8-D22689139B08}"/>
                </a:ext>
              </a:extLst>
            </p:cNvPr>
            <p:cNvSpPr/>
            <p:nvPr/>
          </p:nvSpPr>
          <p:spPr>
            <a:xfrm>
              <a:off x="7362720" y="2130480"/>
              <a:ext cx="1076040" cy="410760"/>
            </a:xfrm>
            <a:prstGeom prst="rect">
              <a:avLst/>
            </a:prstGeom>
            <a:solidFill>
              <a:srgbClr val="FFCC99"/>
            </a:solidFill>
            <a:ln w="1260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3F3F3F"/>
                  </a:solidFill>
                  <a:latin typeface="Times New Roman"/>
                </a:rPr>
                <a:t>OS-Absent</a:t>
              </a:r>
              <a:endParaRPr lang="en-US" sz="14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3F3F3F"/>
                  </a:solidFill>
                  <a:latin typeface="Times New Roman"/>
                </a:rPr>
                <a:t>App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105" name="CustomShape 101">
              <a:extLst>
                <a:ext uri="{FF2B5EF4-FFF2-40B4-BE49-F238E27FC236}">
                  <a16:creationId xmlns:a16="http://schemas.microsoft.com/office/drawing/2014/main" id="{FE9C7484-E5D2-4558-9D90-DAF78E44201B}"/>
                </a:ext>
              </a:extLst>
            </p:cNvPr>
            <p:cNvSpPr/>
            <p:nvPr/>
          </p:nvSpPr>
          <p:spPr>
            <a:xfrm>
              <a:off x="7373880" y="2775240"/>
              <a:ext cx="1077480" cy="410760"/>
            </a:xfrm>
            <a:prstGeom prst="rect">
              <a:avLst/>
            </a:prstGeom>
            <a:solidFill>
              <a:srgbClr val="FFCC99"/>
            </a:solidFill>
            <a:ln w="1260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3F3F3F"/>
                  </a:solidFill>
                  <a:latin typeface="Times New Roman"/>
                </a:rPr>
                <a:t>Transient OS</a:t>
              </a:r>
              <a:endParaRPr lang="en-US" sz="14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3F3F3F"/>
                  </a:solidFill>
                  <a:latin typeface="Times New Roman"/>
                </a:rPr>
                <a:t>Environment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106" name="CustomShape 102">
              <a:extLst>
                <a:ext uri="{FF2B5EF4-FFF2-40B4-BE49-F238E27FC236}">
                  <a16:creationId xmlns:a16="http://schemas.microsoft.com/office/drawing/2014/main" id="{BC4556E6-3736-4CF8-A13C-856FBDA1018A}"/>
                </a:ext>
              </a:extLst>
            </p:cNvPr>
            <p:cNvSpPr/>
            <p:nvPr/>
          </p:nvSpPr>
          <p:spPr>
            <a:xfrm>
              <a:off x="7386480" y="3397320"/>
              <a:ext cx="1052280" cy="410760"/>
            </a:xfrm>
            <a:prstGeom prst="rect">
              <a:avLst/>
            </a:prstGeom>
            <a:solidFill>
              <a:srgbClr val="FFCC99"/>
            </a:solidFill>
            <a:ln w="1260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3F3F3F"/>
                  </a:solidFill>
                  <a:latin typeface="Times New Roman"/>
                </a:rPr>
                <a:t>Transient OS</a:t>
              </a:r>
              <a:endParaRPr lang="en-US" sz="14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3F3F3F"/>
                  </a:solidFill>
                  <a:latin typeface="Times New Roman"/>
                </a:rPr>
                <a:t>Boot Loader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107" name="CustomShape 103">
              <a:extLst>
                <a:ext uri="{FF2B5EF4-FFF2-40B4-BE49-F238E27FC236}">
                  <a16:creationId xmlns:a16="http://schemas.microsoft.com/office/drawing/2014/main" id="{F22F0AA4-A9E8-4036-A67F-3AD81A7C22FA}"/>
                </a:ext>
              </a:extLst>
            </p:cNvPr>
            <p:cNvSpPr/>
            <p:nvPr/>
          </p:nvSpPr>
          <p:spPr>
            <a:xfrm>
              <a:off x="7399440" y="4442040"/>
              <a:ext cx="1052280" cy="410760"/>
            </a:xfrm>
            <a:prstGeom prst="rect">
              <a:avLst/>
            </a:prstGeom>
            <a:solidFill>
              <a:srgbClr val="FF0000"/>
            </a:solidFill>
            <a:ln w="1260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3F3F3F"/>
                  </a:solidFill>
                  <a:latin typeface="Times New Roman"/>
                </a:rPr>
                <a:t>Final OS</a:t>
              </a:r>
              <a:endParaRPr lang="en-US" sz="14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3F3F3F"/>
                  </a:solidFill>
                  <a:latin typeface="Times New Roman"/>
                </a:rPr>
                <a:t>Boot Loader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108" name="Line 104">
              <a:extLst>
                <a:ext uri="{FF2B5EF4-FFF2-40B4-BE49-F238E27FC236}">
                  <a16:creationId xmlns:a16="http://schemas.microsoft.com/office/drawing/2014/main" id="{80FB91FC-4658-4477-9D63-FF909C00757F}"/>
                </a:ext>
              </a:extLst>
            </p:cNvPr>
            <p:cNvSpPr/>
            <p:nvPr/>
          </p:nvSpPr>
          <p:spPr>
            <a:xfrm>
              <a:off x="7275240" y="4275000"/>
              <a:ext cx="346320" cy="177840"/>
            </a:xfrm>
            <a:prstGeom prst="line">
              <a:avLst/>
            </a:prstGeom>
            <a:ln w="2556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9" name="CustomShape 105">
              <a:extLst>
                <a:ext uri="{FF2B5EF4-FFF2-40B4-BE49-F238E27FC236}">
                  <a16:creationId xmlns:a16="http://schemas.microsoft.com/office/drawing/2014/main" id="{68F9B9BD-6B90-429D-979A-1085AE197462}"/>
                </a:ext>
              </a:extLst>
            </p:cNvPr>
            <p:cNvSpPr/>
            <p:nvPr/>
          </p:nvSpPr>
          <p:spPr>
            <a:xfrm>
              <a:off x="7783560" y="2562480"/>
              <a:ext cx="90000" cy="220320"/>
            </a:xfrm>
            <a:prstGeom prst="curvedRightArrow">
              <a:avLst>
                <a:gd name="adj1" fmla="val 22083"/>
                <a:gd name="adj2" fmla="val 70855"/>
                <a:gd name="adj3" fmla="val 33333"/>
              </a:avLst>
            </a:prstGeom>
            <a:solidFill>
              <a:srgbClr val="333333"/>
            </a:solidFill>
            <a:ln w="64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0" name="CustomShape 106">
              <a:extLst>
                <a:ext uri="{FF2B5EF4-FFF2-40B4-BE49-F238E27FC236}">
                  <a16:creationId xmlns:a16="http://schemas.microsoft.com/office/drawing/2014/main" id="{C0BC7D9E-4AF9-4C82-BB33-F354872CE390}"/>
                </a:ext>
              </a:extLst>
            </p:cNvPr>
            <p:cNvSpPr/>
            <p:nvPr/>
          </p:nvSpPr>
          <p:spPr>
            <a:xfrm flipH="1" flipV="1">
              <a:off x="7956000" y="2549880"/>
              <a:ext cx="78840" cy="213840"/>
            </a:xfrm>
            <a:prstGeom prst="curvedRightArrow">
              <a:avLst>
                <a:gd name="adj1" fmla="val 24450"/>
                <a:gd name="adj2" fmla="val 78450"/>
                <a:gd name="adj3" fmla="val 22222"/>
              </a:avLst>
            </a:prstGeom>
            <a:solidFill>
              <a:srgbClr val="333333"/>
            </a:solidFill>
            <a:ln w="64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1" name="CustomShape 107">
              <a:extLst>
                <a:ext uri="{FF2B5EF4-FFF2-40B4-BE49-F238E27FC236}">
                  <a16:creationId xmlns:a16="http://schemas.microsoft.com/office/drawing/2014/main" id="{82429F33-4448-4BBF-933E-501FBAD8ED81}"/>
                </a:ext>
              </a:extLst>
            </p:cNvPr>
            <p:cNvSpPr/>
            <p:nvPr/>
          </p:nvSpPr>
          <p:spPr>
            <a:xfrm>
              <a:off x="7796160" y="3195720"/>
              <a:ext cx="90000" cy="220320"/>
            </a:xfrm>
            <a:prstGeom prst="curvedRightArrow">
              <a:avLst>
                <a:gd name="adj1" fmla="val 22083"/>
                <a:gd name="adj2" fmla="val 70855"/>
                <a:gd name="adj3" fmla="val 33333"/>
              </a:avLst>
            </a:prstGeom>
            <a:solidFill>
              <a:srgbClr val="333333"/>
            </a:solidFill>
            <a:ln w="64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2" name="CustomShape 108">
              <a:extLst>
                <a:ext uri="{FF2B5EF4-FFF2-40B4-BE49-F238E27FC236}">
                  <a16:creationId xmlns:a16="http://schemas.microsoft.com/office/drawing/2014/main" id="{E037BA24-1DE3-442B-8472-C29CBBE70BE4}"/>
                </a:ext>
              </a:extLst>
            </p:cNvPr>
            <p:cNvSpPr/>
            <p:nvPr/>
          </p:nvSpPr>
          <p:spPr>
            <a:xfrm flipH="1" flipV="1">
              <a:off x="7943040" y="3171240"/>
              <a:ext cx="115560" cy="225000"/>
            </a:xfrm>
            <a:prstGeom prst="curvedRightArrow">
              <a:avLst>
                <a:gd name="adj1" fmla="val 17615"/>
                <a:gd name="adj2" fmla="val 56519"/>
                <a:gd name="adj3" fmla="val 22222"/>
              </a:avLst>
            </a:prstGeom>
            <a:solidFill>
              <a:srgbClr val="333333"/>
            </a:solidFill>
            <a:ln w="64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3" name="CustomShape 109">
              <a:extLst>
                <a:ext uri="{FF2B5EF4-FFF2-40B4-BE49-F238E27FC236}">
                  <a16:creationId xmlns:a16="http://schemas.microsoft.com/office/drawing/2014/main" id="{FD48387C-A23E-4937-ADD8-B43E0276AB4B}"/>
                </a:ext>
              </a:extLst>
            </p:cNvPr>
            <p:cNvSpPr/>
            <p:nvPr/>
          </p:nvSpPr>
          <p:spPr>
            <a:xfrm>
              <a:off x="7213680" y="3795840"/>
              <a:ext cx="91800" cy="220320"/>
            </a:xfrm>
            <a:prstGeom prst="curvedRightArrow">
              <a:avLst>
                <a:gd name="adj1" fmla="val 21702"/>
                <a:gd name="adj2" fmla="val 69633"/>
                <a:gd name="adj3" fmla="val 33333"/>
              </a:avLst>
            </a:prstGeom>
            <a:solidFill>
              <a:srgbClr val="333333"/>
            </a:solidFill>
            <a:ln w="64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4" name="CustomShape 110">
              <a:extLst>
                <a:ext uri="{FF2B5EF4-FFF2-40B4-BE49-F238E27FC236}">
                  <a16:creationId xmlns:a16="http://schemas.microsoft.com/office/drawing/2014/main" id="{62FC2D17-7AD1-4F78-BE9A-14232E4539B3}"/>
                </a:ext>
              </a:extLst>
            </p:cNvPr>
            <p:cNvSpPr/>
            <p:nvPr/>
          </p:nvSpPr>
          <p:spPr>
            <a:xfrm flipH="1" flipV="1">
              <a:off x="7349400" y="3849120"/>
              <a:ext cx="115560" cy="225000"/>
            </a:xfrm>
            <a:prstGeom prst="curvedRightArrow">
              <a:avLst>
                <a:gd name="adj1" fmla="val 17615"/>
                <a:gd name="adj2" fmla="val 56519"/>
                <a:gd name="adj3" fmla="val 22222"/>
              </a:avLst>
            </a:prstGeom>
            <a:solidFill>
              <a:srgbClr val="333333"/>
            </a:solidFill>
            <a:ln w="64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15" name="CustomShape 111">
            <a:extLst>
              <a:ext uri="{FF2B5EF4-FFF2-40B4-BE49-F238E27FC236}">
                <a16:creationId xmlns:a16="http://schemas.microsoft.com/office/drawing/2014/main" id="{D56A09C2-CE04-4CF2-BF0A-181C34557230}"/>
              </a:ext>
            </a:extLst>
          </p:cNvPr>
          <p:cNvSpPr/>
          <p:nvPr/>
        </p:nvSpPr>
        <p:spPr>
          <a:xfrm>
            <a:off x="2387520" y="5977080"/>
            <a:ext cx="8191080" cy="3337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spcBef>
                <a:spcPts val="799"/>
              </a:spcBef>
            </a:pPr>
            <a:r>
              <a:rPr lang="en-US" sz="1600" b="1" strike="noStrike" spc="-1">
                <a:solidFill>
                  <a:srgbClr val="3F3F3F"/>
                </a:solidFill>
                <a:latin typeface="Times New Roman"/>
              </a:rPr>
              <a:t>Power on </a:t>
            </a:r>
            <a:r>
              <a:rPr lang="en-US" sz="1600" b="1" strike="noStrike" spc="-1">
                <a:solidFill>
                  <a:srgbClr val="3F3F3F"/>
                </a:solidFill>
                <a:latin typeface="Wingdings"/>
              </a:rPr>
              <a:t></a:t>
            </a:r>
            <a:r>
              <a:rPr lang="en-US" sz="1600" b="1" strike="noStrike" spc="-1">
                <a:solidFill>
                  <a:srgbClr val="3F3F3F"/>
                </a:solidFill>
                <a:latin typeface="Times New Roman"/>
              </a:rPr>
              <a:t>   […..Platform initialization…..]     </a:t>
            </a:r>
            <a:r>
              <a:rPr lang="en-US" sz="1600" b="1" strike="noStrike" spc="-1">
                <a:solidFill>
                  <a:srgbClr val="3F3F3F"/>
                </a:solidFill>
                <a:latin typeface="Wingdings"/>
              </a:rPr>
              <a:t></a:t>
            </a:r>
            <a:r>
              <a:rPr lang="en-US" sz="1600" b="1" strike="noStrike" spc="-1">
                <a:solidFill>
                  <a:srgbClr val="3F3F3F"/>
                </a:solidFill>
                <a:latin typeface="Times New Roman"/>
              </a:rPr>
              <a:t>         [….OS boot….]        </a:t>
            </a:r>
            <a:r>
              <a:rPr lang="en-US" sz="1600" b="1" strike="noStrike" spc="-1">
                <a:solidFill>
                  <a:srgbClr val="3F3F3F"/>
                </a:solidFill>
                <a:latin typeface="Wingdings"/>
              </a:rPr>
              <a:t></a:t>
            </a:r>
            <a:r>
              <a:rPr lang="en-US" sz="1600" b="1" strike="noStrike" spc="-1">
                <a:solidFill>
                  <a:srgbClr val="3F3F3F"/>
                </a:solidFill>
                <a:latin typeface="Times New Roman"/>
              </a:rPr>
              <a:t>    Shutdown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6" name="Line 112">
            <a:extLst>
              <a:ext uri="{FF2B5EF4-FFF2-40B4-BE49-F238E27FC236}">
                <a16:creationId xmlns:a16="http://schemas.microsoft.com/office/drawing/2014/main" id="{8311791B-19A2-4F4D-9D35-DC04510D9A1D}"/>
              </a:ext>
            </a:extLst>
          </p:cNvPr>
          <p:cNvSpPr/>
          <p:nvPr/>
        </p:nvSpPr>
        <p:spPr>
          <a:xfrm>
            <a:off x="2273040" y="1316160"/>
            <a:ext cx="939960" cy="360"/>
          </a:xfrm>
          <a:prstGeom prst="line">
            <a:avLst/>
          </a:prstGeom>
          <a:ln w="284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7" name="Line 113">
            <a:extLst>
              <a:ext uri="{FF2B5EF4-FFF2-40B4-BE49-F238E27FC236}">
                <a16:creationId xmlns:a16="http://schemas.microsoft.com/office/drawing/2014/main" id="{B2BA90F5-322A-4695-8D4F-E94453D34741}"/>
              </a:ext>
            </a:extLst>
          </p:cNvPr>
          <p:cNvSpPr/>
          <p:nvPr/>
        </p:nvSpPr>
        <p:spPr>
          <a:xfrm>
            <a:off x="3213000" y="1316160"/>
            <a:ext cx="1206360" cy="360"/>
          </a:xfrm>
          <a:prstGeom prst="line">
            <a:avLst/>
          </a:prstGeom>
          <a:ln w="284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8" name="Line 114">
            <a:extLst>
              <a:ext uri="{FF2B5EF4-FFF2-40B4-BE49-F238E27FC236}">
                <a16:creationId xmlns:a16="http://schemas.microsoft.com/office/drawing/2014/main" id="{005DDCC5-FE22-4608-BA69-96A3013D2606}"/>
              </a:ext>
            </a:extLst>
          </p:cNvPr>
          <p:cNvSpPr/>
          <p:nvPr/>
        </p:nvSpPr>
        <p:spPr>
          <a:xfrm>
            <a:off x="4419360" y="1316160"/>
            <a:ext cx="1549440" cy="360"/>
          </a:xfrm>
          <a:prstGeom prst="line">
            <a:avLst/>
          </a:prstGeom>
          <a:ln w="284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9" name="Line 115">
            <a:extLst>
              <a:ext uri="{FF2B5EF4-FFF2-40B4-BE49-F238E27FC236}">
                <a16:creationId xmlns:a16="http://schemas.microsoft.com/office/drawing/2014/main" id="{97EE4E69-02A3-475D-B6B3-DF356914E730}"/>
              </a:ext>
            </a:extLst>
          </p:cNvPr>
          <p:cNvSpPr/>
          <p:nvPr/>
        </p:nvSpPr>
        <p:spPr>
          <a:xfrm>
            <a:off x="5968800" y="1316160"/>
            <a:ext cx="1320840" cy="360"/>
          </a:xfrm>
          <a:prstGeom prst="line">
            <a:avLst/>
          </a:prstGeom>
          <a:ln w="284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0" name="Line 116">
            <a:extLst>
              <a:ext uri="{FF2B5EF4-FFF2-40B4-BE49-F238E27FC236}">
                <a16:creationId xmlns:a16="http://schemas.microsoft.com/office/drawing/2014/main" id="{E31842D1-0F1A-45EE-96C9-B7FF56D619FC}"/>
              </a:ext>
            </a:extLst>
          </p:cNvPr>
          <p:cNvSpPr/>
          <p:nvPr/>
        </p:nvSpPr>
        <p:spPr>
          <a:xfrm>
            <a:off x="7289640" y="1316160"/>
            <a:ext cx="1270080" cy="360"/>
          </a:xfrm>
          <a:prstGeom prst="line">
            <a:avLst/>
          </a:prstGeom>
          <a:ln w="284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1" name="Line 117">
            <a:extLst>
              <a:ext uri="{FF2B5EF4-FFF2-40B4-BE49-F238E27FC236}">
                <a16:creationId xmlns:a16="http://schemas.microsoft.com/office/drawing/2014/main" id="{7AC6EF95-8439-44E8-AF82-E18F464282F6}"/>
              </a:ext>
            </a:extLst>
          </p:cNvPr>
          <p:cNvSpPr/>
          <p:nvPr/>
        </p:nvSpPr>
        <p:spPr>
          <a:xfrm>
            <a:off x="8559720" y="1316160"/>
            <a:ext cx="1270080" cy="360"/>
          </a:xfrm>
          <a:prstGeom prst="line">
            <a:avLst/>
          </a:prstGeom>
          <a:ln w="284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2" name="Line 118">
            <a:extLst>
              <a:ext uri="{FF2B5EF4-FFF2-40B4-BE49-F238E27FC236}">
                <a16:creationId xmlns:a16="http://schemas.microsoft.com/office/drawing/2014/main" id="{CD7955CC-1E75-4AB5-BB31-58D43FB9BF9B}"/>
              </a:ext>
            </a:extLst>
          </p:cNvPr>
          <p:cNvSpPr/>
          <p:nvPr/>
        </p:nvSpPr>
        <p:spPr>
          <a:xfrm>
            <a:off x="9829800" y="1316160"/>
            <a:ext cx="622080" cy="360"/>
          </a:xfrm>
          <a:prstGeom prst="line">
            <a:avLst/>
          </a:prstGeom>
          <a:ln w="284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3" name="CustomShape 119">
            <a:extLst>
              <a:ext uri="{FF2B5EF4-FFF2-40B4-BE49-F238E27FC236}">
                <a16:creationId xmlns:a16="http://schemas.microsoft.com/office/drawing/2014/main" id="{81AE7CD8-B558-4AFC-A136-957C20AE29E9}"/>
              </a:ext>
            </a:extLst>
          </p:cNvPr>
          <p:cNvSpPr/>
          <p:nvPr/>
        </p:nvSpPr>
        <p:spPr>
          <a:xfrm>
            <a:off x="9788400" y="5193000"/>
            <a:ext cx="604440" cy="812520"/>
          </a:xfrm>
          <a:prstGeom prst="rect">
            <a:avLst/>
          </a:prstGeom>
          <a:solidFill>
            <a:srgbClr val="FFFF66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Segoe UI"/>
                <a:ea typeface="細明體"/>
              </a:rPr>
              <a:t>After Life (AL)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24" name="CustomShape 120">
            <a:extLst>
              <a:ext uri="{FF2B5EF4-FFF2-40B4-BE49-F238E27FC236}">
                <a16:creationId xmlns:a16="http://schemas.microsoft.com/office/drawing/2014/main" id="{D6DD4011-F7D5-4A8B-A2EF-5447D6C67848}"/>
              </a:ext>
            </a:extLst>
          </p:cNvPr>
          <p:cNvSpPr/>
          <p:nvPr/>
        </p:nvSpPr>
        <p:spPr>
          <a:xfrm>
            <a:off x="8550360" y="5193000"/>
            <a:ext cx="1238040" cy="812520"/>
          </a:xfrm>
          <a:prstGeom prst="rect">
            <a:avLst/>
          </a:prstGeom>
          <a:solidFill>
            <a:srgbClr val="FFFF66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Segoe UI"/>
                <a:ea typeface="細明體"/>
              </a:rPr>
              <a:t>Run Time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Segoe UI"/>
                <a:ea typeface="細明體"/>
              </a:rPr>
              <a:t>(RT))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25" name="CustomShape 121">
            <a:extLst>
              <a:ext uri="{FF2B5EF4-FFF2-40B4-BE49-F238E27FC236}">
                <a16:creationId xmlns:a16="http://schemas.microsoft.com/office/drawing/2014/main" id="{AC1F5BD4-2B8C-408A-9D5D-7128B4432D55}"/>
              </a:ext>
            </a:extLst>
          </p:cNvPr>
          <p:cNvSpPr/>
          <p:nvPr/>
        </p:nvSpPr>
        <p:spPr>
          <a:xfrm>
            <a:off x="7311960" y="5193000"/>
            <a:ext cx="1238040" cy="799920"/>
          </a:xfrm>
          <a:prstGeom prst="rect">
            <a:avLst/>
          </a:prstGeom>
          <a:solidFill>
            <a:srgbClr val="FFFF66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Segoe UI"/>
                <a:ea typeface="細明體"/>
              </a:rPr>
              <a:t>Transient System Load 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Segoe UI"/>
                <a:ea typeface="細明體"/>
              </a:rPr>
              <a:t>(TSL)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26" name="CustomShape 122">
            <a:extLst>
              <a:ext uri="{FF2B5EF4-FFF2-40B4-BE49-F238E27FC236}">
                <a16:creationId xmlns:a16="http://schemas.microsoft.com/office/drawing/2014/main" id="{9B567342-EFC3-4367-A809-52FC9217BB8A}"/>
              </a:ext>
            </a:extLst>
          </p:cNvPr>
          <p:cNvSpPr/>
          <p:nvPr/>
        </p:nvSpPr>
        <p:spPr>
          <a:xfrm>
            <a:off x="6024600" y="5193000"/>
            <a:ext cx="1287000" cy="812520"/>
          </a:xfrm>
          <a:prstGeom prst="rect">
            <a:avLst/>
          </a:prstGeom>
          <a:solidFill>
            <a:srgbClr val="FFFF66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Segoe UI"/>
                <a:ea typeface="細明體"/>
              </a:rPr>
              <a:t>Boot Device Selection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Segoe UI"/>
                <a:ea typeface="細明體"/>
              </a:rPr>
              <a:t>(BDS)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27" name="CustomShape 123">
            <a:extLst>
              <a:ext uri="{FF2B5EF4-FFF2-40B4-BE49-F238E27FC236}">
                <a16:creationId xmlns:a16="http://schemas.microsoft.com/office/drawing/2014/main" id="{BE7A0AF8-A101-4E48-BBB7-50A7090C37D3}"/>
              </a:ext>
            </a:extLst>
          </p:cNvPr>
          <p:cNvSpPr/>
          <p:nvPr/>
        </p:nvSpPr>
        <p:spPr>
          <a:xfrm>
            <a:off x="4514760" y="5193000"/>
            <a:ext cx="1509480" cy="812520"/>
          </a:xfrm>
          <a:prstGeom prst="rect">
            <a:avLst/>
          </a:prstGeom>
          <a:solidFill>
            <a:srgbClr val="FFFF66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Segoe UI"/>
                <a:ea typeface="細明體"/>
              </a:rPr>
              <a:t>Driver Execution Environment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Segoe UI"/>
                <a:ea typeface="細明體"/>
              </a:rPr>
              <a:t>(DXE)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28" name="CustomShape 124">
            <a:extLst>
              <a:ext uri="{FF2B5EF4-FFF2-40B4-BE49-F238E27FC236}">
                <a16:creationId xmlns:a16="http://schemas.microsoft.com/office/drawing/2014/main" id="{3CAD061F-1F52-421C-95E3-632A5408EEAB}"/>
              </a:ext>
            </a:extLst>
          </p:cNvPr>
          <p:cNvSpPr/>
          <p:nvPr/>
        </p:nvSpPr>
        <p:spPr>
          <a:xfrm>
            <a:off x="2424240" y="5193000"/>
            <a:ext cx="915480" cy="812520"/>
          </a:xfrm>
          <a:prstGeom prst="rect">
            <a:avLst/>
          </a:prstGeom>
          <a:solidFill>
            <a:srgbClr val="FFFF66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Segoe UI"/>
                <a:ea typeface="細明體"/>
              </a:rPr>
              <a:t>Security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Segoe UI"/>
                <a:ea typeface="細明體"/>
              </a:rPr>
              <a:t>(SEC)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29" name="CustomShape 125">
            <a:extLst>
              <a:ext uri="{FF2B5EF4-FFF2-40B4-BE49-F238E27FC236}">
                <a16:creationId xmlns:a16="http://schemas.microsoft.com/office/drawing/2014/main" id="{DCE1A9A5-25A4-4D48-A46A-155F24193319}"/>
              </a:ext>
            </a:extLst>
          </p:cNvPr>
          <p:cNvSpPr/>
          <p:nvPr/>
        </p:nvSpPr>
        <p:spPr>
          <a:xfrm>
            <a:off x="3340080" y="5180040"/>
            <a:ext cx="1174320" cy="825120"/>
          </a:xfrm>
          <a:prstGeom prst="rect">
            <a:avLst/>
          </a:prstGeom>
          <a:solidFill>
            <a:srgbClr val="FFFF66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Segoe UI"/>
                <a:ea typeface="細明體"/>
              </a:rPr>
              <a:t>Pre EFI Initialization Environment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98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Segoe UI"/>
                <a:ea typeface="細明體"/>
              </a:rPr>
              <a:t>(PEI)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30" name="CustomShape 126">
            <a:extLst>
              <a:ext uri="{FF2B5EF4-FFF2-40B4-BE49-F238E27FC236}">
                <a16:creationId xmlns:a16="http://schemas.microsoft.com/office/drawing/2014/main" id="{6EE423D0-3E9A-4799-BB39-F1C954F76CEC}"/>
              </a:ext>
            </a:extLst>
          </p:cNvPr>
          <p:cNvSpPr/>
          <p:nvPr/>
        </p:nvSpPr>
        <p:spPr>
          <a:xfrm>
            <a:off x="9788400" y="4119840"/>
            <a:ext cx="60444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1" name="CustomShape 127">
            <a:extLst>
              <a:ext uri="{FF2B5EF4-FFF2-40B4-BE49-F238E27FC236}">
                <a16:creationId xmlns:a16="http://schemas.microsoft.com/office/drawing/2014/main" id="{9DC736BB-35B7-4E6C-AE31-8D0243080A28}"/>
              </a:ext>
            </a:extLst>
          </p:cNvPr>
          <p:cNvSpPr/>
          <p:nvPr/>
        </p:nvSpPr>
        <p:spPr>
          <a:xfrm>
            <a:off x="8550360" y="4119840"/>
            <a:ext cx="123804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2" name="CustomShape 128">
            <a:extLst>
              <a:ext uri="{FF2B5EF4-FFF2-40B4-BE49-F238E27FC236}">
                <a16:creationId xmlns:a16="http://schemas.microsoft.com/office/drawing/2014/main" id="{92091A9B-695F-4164-9430-693B52206FDE}"/>
              </a:ext>
            </a:extLst>
          </p:cNvPr>
          <p:cNvSpPr/>
          <p:nvPr/>
        </p:nvSpPr>
        <p:spPr>
          <a:xfrm>
            <a:off x="7311960" y="4119840"/>
            <a:ext cx="123804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3" name="CustomShape 129">
            <a:extLst>
              <a:ext uri="{FF2B5EF4-FFF2-40B4-BE49-F238E27FC236}">
                <a16:creationId xmlns:a16="http://schemas.microsoft.com/office/drawing/2014/main" id="{FCB25985-EF03-4C8F-A4F9-6CDE16C17EA9}"/>
              </a:ext>
            </a:extLst>
          </p:cNvPr>
          <p:cNvSpPr/>
          <p:nvPr/>
        </p:nvSpPr>
        <p:spPr>
          <a:xfrm>
            <a:off x="6024600" y="4119840"/>
            <a:ext cx="128700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4" name="CustomShape 130">
            <a:extLst>
              <a:ext uri="{FF2B5EF4-FFF2-40B4-BE49-F238E27FC236}">
                <a16:creationId xmlns:a16="http://schemas.microsoft.com/office/drawing/2014/main" id="{25536C6B-9ADF-4942-906E-08F16FB0CCAF}"/>
              </a:ext>
            </a:extLst>
          </p:cNvPr>
          <p:cNvSpPr/>
          <p:nvPr/>
        </p:nvSpPr>
        <p:spPr>
          <a:xfrm>
            <a:off x="4514760" y="4119840"/>
            <a:ext cx="150948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5" name="CustomShape 131">
            <a:extLst>
              <a:ext uri="{FF2B5EF4-FFF2-40B4-BE49-F238E27FC236}">
                <a16:creationId xmlns:a16="http://schemas.microsoft.com/office/drawing/2014/main" id="{EF29388E-ED93-46AE-810C-725198CD5F23}"/>
              </a:ext>
            </a:extLst>
          </p:cNvPr>
          <p:cNvSpPr/>
          <p:nvPr/>
        </p:nvSpPr>
        <p:spPr>
          <a:xfrm>
            <a:off x="3340080" y="4119840"/>
            <a:ext cx="117432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6" name="CustomShape 132">
            <a:extLst>
              <a:ext uri="{FF2B5EF4-FFF2-40B4-BE49-F238E27FC236}">
                <a16:creationId xmlns:a16="http://schemas.microsoft.com/office/drawing/2014/main" id="{6DEDCDF6-01C0-4A5B-A31D-3689406861F1}"/>
              </a:ext>
            </a:extLst>
          </p:cNvPr>
          <p:cNvSpPr/>
          <p:nvPr/>
        </p:nvSpPr>
        <p:spPr>
          <a:xfrm>
            <a:off x="2424240" y="4119840"/>
            <a:ext cx="91548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7" name="CustomShape 133">
            <a:extLst>
              <a:ext uri="{FF2B5EF4-FFF2-40B4-BE49-F238E27FC236}">
                <a16:creationId xmlns:a16="http://schemas.microsoft.com/office/drawing/2014/main" id="{8FDA6E14-D33B-4A2B-8908-EB212650807C}"/>
              </a:ext>
            </a:extLst>
          </p:cNvPr>
          <p:cNvSpPr/>
          <p:nvPr/>
        </p:nvSpPr>
        <p:spPr>
          <a:xfrm>
            <a:off x="9788400" y="2999160"/>
            <a:ext cx="604440" cy="11203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8" name="CustomShape 134">
            <a:extLst>
              <a:ext uri="{FF2B5EF4-FFF2-40B4-BE49-F238E27FC236}">
                <a16:creationId xmlns:a16="http://schemas.microsoft.com/office/drawing/2014/main" id="{55E0B140-1882-4B04-981E-9B85B491943F}"/>
              </a:ext>
            </a:extLst>
          </p:cNvPr>
          <p:cNvSpPr/>
          <p:nvPr/>
        </p:nvSpPr>
        <p:spPr>
          <a:xfrm>
            <a:off x="8550360" y="2999160"/>
            <a:ext cx="1238040" cy="11203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9" name="CustomShape 135">
            <a:extLst>
              <a:ext uri="{FF2B5EF4-FFF2-40B4-BE49-F238E27FC236}">
                <a16:creationId xmlns:a16="http://schemas.microsoft.com/office/drawing/2014/main" id="{34A71D03-0D99-49AF-A6BB-5953AD68935D}"/>
              </a:ext>
            </a:extLst>
          </p:cNvPr>
          <p:cNvSpPr/>
          <p:nvPr/>
        </p:nvSpPr>
        <p:spPr>
          <a:xfrm>
            <a:off x="7311960" y="2999160"/>
            <a:ext cx="1238040" cy="11203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0" name="CustomShape 136">
            <a:extLst>
              <a:ext uri="{FF2B5EF4-FFF2-40B4-BE49-F238E27FC236}">
                <a16:creationId xmlns:a16="http://schemas.microsoft.com/office/drawing/2014/main" id="{A849FC1E-5E82-4CEC-92B4-C0A51A04234E}"/>
              </a:ext>
            </a:extLst>
          </p:cNvPr>
          <p:cNvSpPr/>
          <p:nvPr/>
        </p:nvSpPr>
        <p:spPr>
          <a:xfrm>
            <a:off x="6024600" y="2999160"/>
            <a:ext cx="1287000" cy="11203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1" name="CustomShape 137">
            <a:extLst>
              <a:ext uri="{FF2B5EF4-FFF2-40B4-BE49-F238E27FC236}">
                <a16:creationId xmlns:a16="http://schemas.microsoft.com/office/drawing/2014/main" id="{DB982290-4AFD-41C2-9E6A-3737623E7863}"/>
              </a:ext>
            </a:extLst>
          </p:cNvPr>
          <p:cNvSpPr/>
          <p:nvPr/>
        </p:nvSpPr>
        <p:spPr>
          <a:xfrm>
            <a:off x="4514760" y="2999160"/>
            <a:ext cx="1509480" cy="11203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2" name="CustomShape 138">
            <a:extLst>
              <a:ext uri="{FF2B5EF4-FFF2-40B4-BE49-F238E27FC236}">
                <a16:creationId xmlns:a16="http://schemas.microsoft.com/office/drawing/2014/main" id="{0430E40D-F6AC-4CB5-AFE2-B9D73900C2D5}"/>
              </a:ext>
            </a:extLst>
          </p:cNvPr>
          <p:cNvSpPr/>
          <p:nvPr/>
        </p:nvSpPr>
        <p:spPr>
          <a:xfrm>
            <a:off x="3340080" y="2999160"/>
            <a:ext cx="1174320" cy="11203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3" name="CustomShape 139">
            <a:extLst>
              <a:ext uri="{FF2B5EF4-FFF2-40B4-BE49-F238E27FC236}">
                <a16:creationId xmlns:a16="http://schemas.microsoft.com/office/drawing/2014/main" id="{E8DBBB2E-5298-40FC-A8C8-67385EDE87A3}"/>
              </a:ext>
            </a:extLst>
          </p:cNvPr>
          <p:cNvSpPr/>
          <p:nvPr/>
        </p:nvSpPr>
        <p:spPr>
          <a:xfrm>
            <a:off x="2424240" y="2999160"/>
            <a:ext cx="915480" cy="11203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4" name="CustomShape 140">
            <a:extLst>
              <a:ext uri="{FF2B5EF4-FFF2-40B4-BE49-F238E27FC236}">
                <a16:creationId xmlns:a16="http://schemas.microsoft.com/office/drawing/2014/main" id="{5F6C7C5F-9DEA-48F8-BC58-7FE54B4BF5FC}"/>
              </a:ext>
            </a:extLst>
          </p:cNvPr>
          <p:cNvSpPr/>
          <p:nvPr/>
        </p:nvSpPr>
        <p:spPr>
          <a:xfrm>
            <a:off x="9788400" y="1926000"/>
            <a:ext cx="60444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5" name="CustomShape 141">
            <a:extLst>
              <a:ext uri="{FF2B5EF4-FFF2-40B4-BE49-F238E27FC236}">
                <a16:creationId xmlns:a16="http://schemas.microsoft.com/office/drawing/2014/main" id="{CF8DEDB2-7652-4B25-8BC6-BCD1F959663A}"/>
              </a:ext>
            </a:extLst>
          </p:cNvPr>
          <p:cNvSpPr/>
          <p:nvPr/>
        </p:nvSpPr>
        <p:spPr>
          <a:xfrm>
            <a:off x="8550360" y="1926000"/>
            <a:ext cx="123804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6" name="CustomShape 142">
            <a:extLst>
              <a:ext uri="{FF2B5EF4-FFF2-40B4-BE49-F238E27FC236}">
                <a16:creationId xmlns:a16="http://schemas.microsoft.com/office/drawing/2014/main" id="{5D983BC2-6934-48FF-B6F9-2D97BFB1668A}"/>
              </a:ext>
            </a:extLst>
          </p:cNvPr>
          <p:cNvSpPr/>
          <p:nvPr/>
        </p:nvSpPr>
        <p:spPr>
          <a:xfrm>
            <a:off x="7311960" y="1926000"/>
            <a:ext cx="123804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7" name="CustomShape 143">
            <a:extLst>
              <a:ext uri="{FF2B5EF4-FFF2-40B4-BE49-F238E27FC236}">
                <a16:creationId xmlns:a16="http://schemas.microsoft.com/office/drawing/2014/main" id="{8FDF4493-5590-454D-AC36-9570F140D267}"/>
              </a:ext>
            </a:extLst>
          </p:cNvPr>
          <p:cNvSpPr/>
          <p:nvPr/>
        </p:nvSpPr>
        <p:spPr>
          <a:xfrm>
            <a:off x="4514760" y="1926000"/>
            <a:ext cx="150948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8" name="CustomShape 144">
            <a:extLst>
              <a:ext uri="{FF2B5EF4-FFF2-40B4-BE49-F238E27FC236}">
                <a16:creationId xmlns:a16="http://schemas.microsoft.com/office/drawing/2014/main" id="{65EDB1C3-B07D-4ADC-8FAD-584F7279E374}"/>
              </a:ext>
            </a:extLst>
          </p:cNvPr>
          <p:cNvSpPr/>
          <p:nvPr/>
        </p:nvSpPr>
        <p:spPr>
          <a:xfrm>
            <a:off x="3340080" y="1926000"/>
            <a:ext cx="117432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9" name="CustomShape 145">
            <a:extLst>
              <a:ext uri="{FF2B5EF4-FFF2-40B4-BE49-F238E27FC236}">
                <a16:creationId xmlns:a16="http://schemas.microsoft.com/office/drawing/2014/main" id="{D50FFE80-EE94-4F2C-871C-41AD5E13BF6F}"/>
              </a:ext>
            </a:extLst>
          </p:cNvPr>
          <p:cNvSpPr/>
          <p:nvPr/>
        </p:nvSpPr>
        <p:spPr>
          <a:xfrm>
            <a:off x="2424240" y="1926000"/>
            <a:ext cx="915480" cy="1072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0" name="Line 146">
            <a:extLst>
              <a:ext uri="{FF2B5EF4-FFF2-40B4-BE49-F238E27FC236}">
                <a16:creationId xmlns:a16="http://schemas.microsoft.com/office/drawing/2014/main" id="{B1AB82BA-CDD6-4232-A433-2B29DAEC1891}"/>
              </a:ext>
            </a:extLst>
          </p:cNvPr>
          <p:cNvSpPr/>
          <p:nvPr/>
        </p:nvSpPr>
        <p:spPr>
          <a:xfrm>
            <a:off x="2423880" y="5192640"/>
            <a:ext cx="7969320" cy="360"/>
          </a:xfrm>
          <a:prstGeom prst="line">
            <a:avLst/>
          </a:prstGeom>
          <a:ln w="126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1" name="Line 147">
            <a:extLst>
              <a:ext uri="{FF2B5EF4-FFF2-40B4-BE49-F238E27FC236}">
                <a16:creationId xmlns:a16="http://schemas.microsoft.com/office/drawing/2014/main" id="{459F070A-673C-46D6-8DB0-9086CF0B9605}"/>
              </a:ext>
            </a:extLst>
          </p:cNvPr>
          <p:cNvSpPr/>
          <p:nvPr/>
        </p:nvSpPr>
        <p:spPr>
          <a:xfrm>
            <a:off x="2423880" y="6018120"/>
            <a:ext cx="7969320" cy="360"/>
          </a:xfrm>
          <a:prstGeom prst="line">
            <a:avLst/>
          </a:prstGeom>
          <a:ln w="2844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2" name="Line 148">
            <a:extLst>
              <a:ext uri="{FF2B5EF4-FFF2-40B4-BE49-F238E27FC236}">
                <a16:creationId xmlns:a16="http://schemas.microsoft.com/office/drawing/2014/main" id="{5594CE37-9E79-4364-B2C7-D60D8F61492D}"/>
              </a:ext>
            </a:extLst>
          </p:cNvPr>
          <p:cNvSpPr/>
          <p:nvPr/>
        </p:nvSpPr>
        <p:spPr>
          <a:xfrm>
            <a:off x="2423880" y="1963800"/>
            <a:ext cx="360" cy="3267000"/>
          </a:xfrm>
          <a:prstGeom prst="line">
            <a:avLst/>
          </a:prstGeom>
          <a:ln w="12600" cap="rnd">
            <a:solidFill>
              <a:schemeClr val="tx1"/>
            </a:solidFill>
            <a:custDash>
              <a:ds d="4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3" name="Line 149">
            <a:extLst>
              <a:ext uri="{FF2B5EF4-FFF2-40B4-BE49-F238E27FC236}">
                <a16:creationId xmlns:a16="http://schemas.microsoft.com/office/drawing/2014/main" id="{D480C083-9592-4412-A558-B51C4D3094C6}"/>
              </a:ext>
            </a:extLst>
          </p:cNvPr>
          <p:cNvSpPr/>
          <p:nvPr/>
        </p:nvSpPr>
        <p:spPr>
          <a:xfrm>
            <a:off x="3340080" y="1963800"/>
            <a:ext cx="360" cy="3267000"/>
          </a:xfrm>
          <a:prstGeom prst="line">
            <a:avLst/>
          </a:prstGeom>
          <a:ln w="12600" cap="rnd">
            <a:solidFill>
              <a:schemeClr val="tx1"/>
            </a:solidFill>
            <a:custDash>
              <a:ds d="4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4" name="Line 150">
            <a:extLst>
              <a:ext uri="{FF2B5EF4-FFF2-40B4-BE49-F238E27FC236}">
                <a16:creationId xmlns:a16="http://schemas.microsoft.com/office/drawing/2014/main" id="{3ECF9E95-CECF-4F9B-9C6F-F3F41FF48226}"/>
              </a:ext>
            </a:extLst>
          </p:cNvPr>
          <p:cNvSpPr/>
          <p:nvPr/>
        </p:nvSpPr>
        <p:spPr>
          <a:xfrm>
            <a:off x="4514760" y="1925640"/>
            <a:ext cx="360" cy="3267000"/>
          </a:xfrm>
          <a:prstGeom prst="line">
            <a:avLst/>
          </a:prstGeom>
          <a:ln w="12600" cap="rnd">
            <a:solidFill>
              <a:schemeClr val="tx1"/>
            </a:solidFill>
            <a:custDash>
              <a:ds d="4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5" name="Line 151">
            <a:extLst>
              <a:ext uri="{FF2B5EF4-FFF2-40B4-BE49-F238E27FC236}">
                <a16:creationId xmlns:a16="http://schemas.microsoft.com/office/drawing/2014/main" id="{55EAED14-7C42-4C17-8D89-9A602C68C218}"/>
              </a:ext>
            </a:extLst>
          </p:cNvPr>
          <p:cNvSpPr/>
          <p:nvPr/>
        </p:nvSpPr>
        <p:spPr>
          <a:xfrm>
            <a:off x="6024240" y="1925640"/>
            <a:ext cx="360" cy="3267000"/>
          </a:xfrm>
          <a:prstGeom prst="line">
            <a:avLst/>
          </a:prstGeom>
          <a:ln w="12600" cap="rnd">
            <a:solidFill>
              <a:schemeClr val="tx1"/>
            </a:solidFill>
            <a:custDash>
              <a:ds d="4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6" name="Line 152">
            <a:extLst>
              <a:ext uri="{FF2B5EF4-FFF2-40B4-BE49-F238E27FC236}">
                <a16:creationId xmlns:a16="http://schemas.microsoft.com/office/drawing/2014/main" id="{43E1FCA5-CFF3-4C36-A337-521840E133E7}"/>
              </a:ext>
            </a:extLst>
          </p:cNvPr>
          <p:cNvSpPr/>
          <p:nvPr/>
        </p:nvSpPr>
        <p:spPr>
          <a:xfrm>
            <a:off x="7311960" y="1925640"/>
            <a:ext cx="360" cy="3267000"/>
          </a:xfrm>
          <a:prstGeom prst="line">
            <a:avLst/>
          </a:prstGeom>
          <a:ln w="12600" cap="rnd">
            <a:solidFill>
              <a:schemeClr val="tx1"/>
            </a:solidFill>
            <a:custDash>
              <a:ds d="4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7" name="Line 153">
            <a:extLst>
              <a:ext uri="{FF2B5EF4-FFF2-40B4-BE49-F238E27FC236}">
                <a16:creationId xmlns:a16="http://schemas.microsoft.com/office/drawing/2014/main" id="{7C61D78D-5883-4C42-B977-D8AD1F17CBB2}"/>
              </a:ext>
            </a:extLst>
          </p:cNvPr>
          <p:cNvSpPr/>
          <p:nvPr/>
        </p:nvSpPr>
        <p:spPr>
          <a:xfrm>
            <a:off x="8550000" y="1925640"/>
            <a:ext cx="360" cy="3267000"/>
          </a:xfrm>
          <a:prstGeom prst="line">
            <a:avLst/>
          </a:prstGeom>
          <a:ln w="12600" cap="rnd">
            <a:solidFill>
              <a:schemeClr val="tx1"/>
            </a:solidFill>
            <a:custDash>
              <a:ds d="4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8" name="Line 154">
            <a:extLst>
              <a:ext uri="{FF2B5EF4-FFF2-40B4-BE49-F238E27FC236}">
                <a16:creationId xmlns:a16="http://schemas.microsoft.com/office/drawing/2014/main" id="{E490E7E7-9E2C-49A9-A4BB-7A292733C510}"/>
              </a:ext>
            </a:extLst>
          </p:cNvPr>
          <p:cNvSpPr/>
          <p:nvPr/>
        </p:nvSpPr>
        <p:spPr>
          <a:xfrm>
            <a:off x="9788400" y="1925640"/>
            <a:ext cx="360" cy="3267000"/>
          </a:xfrm>
          <a:prstGeom prst="line">
            <a:avLst/>
          </a:prstGeom>
          <a:ln w="12600" cap="rnd">
            <a:solidFill>
              <a:schemeClr val="tx1"/>
            </a:solidFill>
            <a:custDash>
              <a:ds d="4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9" name="Line 155">
            <a:extLst>
              <a:ext uri="{FF2B5EF4-FFF2-40B4-BE49-F238E27FC236}">
                <a16:creationId xmlns:a16="http://schemas.microsoft.com/office/drawing/2014/main" id="{87E50FB6-6335-4622-8021-6A95CC8AEC43}"/>
              </a:ext>
            </a:extLst>
          </p:cNvPr>
          <p:cNvSpPr/>
          <p:nvPr/>
        </p:nvSpPr>
        <p:spPr>
          <a:xfrm>
            <a:off x="10393200" y="1925640"/>
            <a:ext cx="360" cy="3267000"/>
          </a:xfrm>
          <a:prstGeom prst="line">
            <a:avLst/>
          </a:prstGeom>
          <a:ln w="12600" cap="rnd">
            <a:solidFill>
              <a:schemeClr val="tx1"/>
            </a:solidFill>
            <a:custDash>
              <a:ds d="4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0" name="Line 156">
            <a:extLst>
              <a:ext uri="{FF2B5EF4-FFF2-40B4-BE49-F238E27FC236}">
                <a16:creationId xmlns:a16="http://schemas.microsoft.com/office/drawing/2014/main" id="{D890DFB8-2DEC-4744-9F8F-A4D122B09770}"/>
              </a:ext>
            </a:extLst>
          </p:cNvPr>
          <p:cNvSpPr/>
          <p:nvPr/>
        </p:nvSpPr>
        <p:spPr>
          <a:xfrm>
            <a:off x="3340080" y="5256360"/>
            <a:ext cx="360" cy="749160"/>
          </a:xfrm>
          <a:prstGeom prst="line">
            <a:avLst/>
          </a:prstGeom>
          <a:ln w="126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1" name="Line 157">
            <a:extLst>
              <a:ext uri="{FF2B5EF4-FFF2-40B4-BE49-F238E27FC236}">
                <a16:creationId xmlns:a16="http://schemas.microsoft.com/office/drawing/2014/main" id="{4D554A06-A455-4194-961D-3F2DADF429F7}"/>
              </a:ext>
            </a:extLst>
          </p:cNvPr>
          <p:cNvSpPr/>
          <p:nvPr/>
        </p:nvSpPr>
        <p:spPr>
          <a:xfrm>
            <a:off x="4514760" y="5243400"/>
            <a:ext cx="360" cy="749520"/>
          </a:xfrm>
          <a:prstGeom prst="line">
            <a:avLst/>
          </a:prstGeom>
          <a:ln w="126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2" name="Line 158">
            <a:extLst>
              <a:ext uri="{FF2B5EF4-FFF2-40B4-BE49-F238E27FC236}">
                <a16:creationId xmlns:a16="http://schemas.microsoft.com/office/drawing/2014/main" id="{95FAEFC8-97FE-4FC7-9E51-462821ACCE64}"/>
              </a:ext>
            </a:extLst>
          </p:cNvPr>
          <p:cNvSpPr/>
          <p:nvPr/>
        </p:nvSpPr>
        <p:spPr>
          <a:xfrm>
            <a:off x="6024240" y="5256360"/>
            <a:ext cx="360" cy="749160"/>
          </a:xfrm>
          <a:prstGeom prst="line">
            <a:avLst/>
          </a:prstGeom>
          <a:ln w="126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3" name="Line 159">
            <a:extLst>
              <a:ext uri="{FF2B5EF4-FFF2-40B4-BE49-F238E27FC236}">
                <a16:creationId xmlns:a16="http://schemas.microsoft.com/office/drawing/2014/main" id="{153036AF-1CC5-4139-B9F3-3EE6FDBCA2D2}"/>
              </a:ext>
            </a:extLst>
          </p:cNvPr>
          <p:cNvSpPr/>
          <p:nvPr/>
        </p:nvSpPr>
        <p:spPr>
          <a:xfrm>
            <a:off x="7311960" y="5243400"/>
            <a:ext cx="360" cy="749520"/>
          </a:xfrm>
          <a:prstGeom prst="line">
            <a:avLst/>
          </a:prstGeom>
          <a:ln w="126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4" name="Line 160">
            <a:extLst>
              <a:ext uri="{FF2B5EF4-FFF2-40B4-BE49-F238E27FC236}">
                <a16:creationId xmlns:a16="http://schemas.microsoft.com/office/drawing/2014/main" id="{010552E2-39AE-4A3E-A9DF-CDE5BC2F6BB9}"/>
              </a:ext>
            </a:extLst>
          </p:cNvPr>
          <p:cNvSpPr/>
          <p:nvPr/>
        </p:nvSpPr>
        <p:spPr>
          <a:xfrm>
            <a:off x="8550000" y="5230800"/>
            <a:ext cx="360" cy="749160"/>
          </a:xfrm>
          <a:prstGeom prst="line">
            <a:avLst/>
          </a:prstGeom>
          <a:ln w="126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5" name="Line 161">
            <a:extLst>
              <a:ext uri="{FF2B5EF4-FFF2-40B4-BE49-F238E27FC236}">
                <a16:creationId xmlns:a16="http://schemas.microsoft.com/office/drawing/2014/main" id="{3E83CFE1-FC34-470B-A86D-84A2A3CD677D}"/>
              </a:ext>
            </a:extLst>
          </p:cNvPr>
          <p:cNvSpPr/>
          <p:nvPr/>
        </p:nvSpPr>
        <p:spPr>
          <a:xfrm>
            <a:off x="9788400" y="5230800"/>
            <a:ext cx="360" cy="749160"/>
          </a:xfrm>
          <a:prstGeom prst="line">
            <a:avLst/>
          </a:prstGeom>
          <a:ln w="126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6" name="Line 162">
            <a:extLst>
              <a:ext uri="{FF2B5EF4-FFF2-40B4-BE49-F238E27FC236}">
                <a16:creationId xmlns:a16="http://schemas.microsoft.com/office/drawing/2014/main" id="{826F40A1-4501-4EAC-B945-BB7130284E53}"/>
              </a:ext>
            </a:extLst>
          </p:cNvPr>
          <p:cNvSpPr/>
          <p:nvPr/>
        </p:nvSpPr>
        <p:spPr>
          <a:xfrm>
            <a:off x="2423880" y="5268960"/>
            <a:ext cx="360" cy="749160"/>
          </a:xfrm>
          <a:prstGeom prst="line">
            <a:avLst/>
          </a:prstGeom>
          <a:ln w="2844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7" name="Line 163">
            <a:extLst>
              <a:ext uri="{FF2B5EF4-FFF2-40B4-BE49-F238E27FC236}">
                <a16:creationId xmlns:a16="http://schemas.microsoft.com/office/drawing/2014/main" id="{9AC89AC3-A4DC-400A-94B2-04C2D2F00C88}"/>
              </a:ext>
            </a:extLst>
          </p:cNvPr>
          <p:cNvSpPr/>
          <p:nvPr/>
        </p:nvSpPr>
        <p:spPr>
          <a:xfrm>
            <a:off x="10393200" y="5230800"/>
            <a:ext cx="360" cy="749160"/>
          </a:xfrm>
          <a:prstGeom prst="line">
            <a:avLst/>
          </a:prstGeom>
          <a:ln w="2844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8" name="Line 164">
            <a:extLst>
              <a:ext uri="{FF2B5EF4-FFF2-40B4-BE49-F238E27FC236}">
                <a16:creationId xmlns:a16="http://schemas.microsoft.com/office/drawing/2014/main" id="{50E69C27-872A-49AF-A95E-CF9EA89B240F}"/>
              </a:ext>
            </a:extLst>
          </p:cNvPr>
          <p:cNvSpPr/>
          <p:nvPr/>
        </p:nvSpPr>
        <p:spPr>
          <a:xfrm>
            <a:off x="4725720" y="4408560"/>
            <a:ext cx="12960" cy="133200"/>
          </a:xfrm>
          <a:prstGeom prst="line">
            <a:avLst/>
          </a:prstGeom>
          <a:ln w="50760">
            <a:solidFill>
              <a:schemeClr val="accent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9" name="Line 165">
            <a:extLst>
              <a:ext uri="{FF2B5EF4-FFF2-40B4-BE49-F238E27FC236}">
                <a16:creationId xmlns:a16="http://schemas.microsoft.com/office/drawing/2014/main" id="{4DBC85E5-6FED-4EC0-9E46-191C2E82FB8E}"/>
              </a:ext>
            </a:extLst>
          </p:cNvPr>
          <p:cNvSpPr/>
          <p:nvPr/>
        </p:nvSpPr>
        <p:spPr>
          <a:xfrm>
            <a:off x="5543280" y="4186080"/>
            <a:ext cx="370080" cy="11160"/>
          </a:xfrm>
          <a:prstGeom prst="line">
            <a:avLst/>
          </a:prstGeom>
          <a:ln w="255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0" name="CustomShape 166">
            <a:extLst>
              <a:ext uri="{FF2B5EF4-FFF2-40B4-BE49-F238E27FC236}">
                <a16:creationId xmlns:a16="http://schemas.microsoft.com/office/drawing/2014/main" id="{229B1AE5-B8E9-48B6-A1D4-079A9769FC82}"/>
              </a:ext>
            </a:extLst>
          </p:cNvPr>
          <p:cNvSpPr/>
          <p:nvPr/>
        </p:nvSpPr>
        <p:spPr>
          <a:xfrm>
            <a:off x="8650440" y="3664080"/>
            <a:ext cx="1050480" cy="410760"/>
          </a:xfrm>
          <a:prstGeom prst="rect">
            <a:avLst/>
          </a:prstGeom>
          <a:solidFill>
            <a:srgbClr val="FF0000"/>
          </a:solidFill>
          <a:ln w="1260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3F3F3F"/>
                </a:solidFill>
                <a:latin typeface="Times New Roman"/>
              </a:rPr>
              <a:t>OS-Present</a:t>
            </a:r>
            <a:endParaRPr lang="en-US" sz="1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3F3F3F"/>
                </a:solidFill>
                <a:latin typeface="Times New Roman"/>
              </a:rPr>
              <a:t>App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71" name="CustomShape 167">
            <a:extLst>
              <a:ext uri="{FF2B5EF4-FFF2-40B4-BE49-F238E27FC236}">
                <a16:creationId xmlns:a16="http://schemas.microsoft.com/office/drawing/2014/main" id="{C31BA9BF-14B1-4D38-8C3A-DAFB13FCFE5F}"/>
              </a:ext>
            </a:extLst>
          </p:cNvPr>
          <p:cNvSpPr/>
          <p:nvPr/>
        </p:nvSpPr>
        <p:spPr>
          <a:xfrm>
            <a:off x="8650440" y="4408560"/>
            <a:ext cx="1050480" cy="410760"/>
          </a:xfrm>
          <a:prstGeom prst="rect">
            <a:avLst/>
          </a:prstGeom>
          <a:solidFill>
            <a:srgbClr val="FF0000"/>
          </a:solidFill>
          <a:ln w="1260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3F3F3F"/>
                </a:solidFill>
                <a:latin typeface="Times New Roman"/>
              </a:rPr>
              <a:t>Final OS</a:t>
            </a:r>
            <a:endParaRPr lang="en-US" sz="1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3F3F3F"/>
                </a:solidFill>
                <a:latin typeface="Times New Roman"/>
              </a:rPr>
              <a:t>Environment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72" name="CustomShape 168">
            <a:extLst>
              <a:ext uri="{FF2B5EF4-FFF2-40B4-BE49-F238E27FC236}">
                <a16:creationId xmlns:a16="http://schemas.microsoft.com/office/drawing/2014/main" id="{A6EE1807-5772-4E95-81DD-C6108A57D634}"/>
              </a:ext>
            </a:extLst>
          </p:cNvPr>
          <p:cNvSpPr/>
          <p:nvPr/>
        </p:nvSpPr>
        <p:spPr>
          <a:xfrm>
            <a:off x="9887040" y="4530960"/>
            <a:ext cx="321840" cy="333000"/>
          </a:xfrm>
          <a:prstGeom prst="rect">
            <a:avLst/>
          </a:prstGeom>
          <a:solidFill>
            <a:srgbClr val="009900"/>
          </a:solidFill>
          <a:ln w="1260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strike="noStrike" spc="-1">
                <a:solidFill>
                  <a:srgbClr val="3F3F3F"/>
                </a:solidFill>
                <a:latin typeface="Times New Roman"/>
              </a:rPr>
              <a:t>?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73" name="CustomShape 169">
            <a:extLst>
              <a:ext uri="{FF2B5EF4-FFF2-40B4-BE49-F238E27FC236}">
                <a16:creationId xmlns:a16="http://schemas.microsoft.com/office/drawing/2014/main" id="{AAEBBFE6-C6A8-4DD0-B932-3EB45A563042}"/>
              </a:ext>
            </a:extLst>
          </p:cNvPr>
          <p:cNvSpPr/>
          <p:nvPr/>
        </p:nvSpPr>
        <p:spPr>
          <a:xfrm>
            <a:off x="8674200" y="2264040"/>
            <a:ext cx="1150560" cy="889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0" strike="noStrike" spc="-1">
                <a:solidFill>
                  <a:srgbClr val="3F3F3F"/>
                </a:solidFill>
                <a:latin typeface="Verdana"/>
              </a:rPr>
              <a:t>Previously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0" strike="noStrike" spc="-1">
                <a:solidFill>
                  <a:srgbClr val="3F3F3F"/>
                </a:solidFill>
                <a:latin typeface="Verdana"/>
              </a:rPr>
              <a:t>Exposed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0" strike="noStrike" spc="-1">
                <a:solidFill>
                  <a:srgbClr val="3F3F3F"/>
                </a:solidFill>
                <a:latin typeface="Verdana"/>
              </a:rPr>
              <a:t>Tiano APIs 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0" strike="noStrike" spc="-1">
                <a:solidFill>
                  <a:srgbClr val="3F3F3F"/>
                </a:solidFill>
                <a:latin typeface="Verdana"/>
              </a:rPr>
              <a:t>Now limited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74" name="Line 170">
            <a:extLst>
              <a:ext uri="{FF2B5EF4-FFF2-40B4-BE49-F238E27FC236}">
                <a16:creationId xmlns:a16="http://schemas.microsoft.com/office/drawing/2014/main" id="{63E653BF-9F9F-4F93-A419-5A679C33BFE0}"/>
              </a:ext>
            </a:extLst>
          </p:cNvPr>
          <p:cNvSpPr/>
          <p:nvPr/>
        </p:nvSpPr>
        <p:spPr>
          <a:xfrm>
            <a:off x="8439120" y="4719600"/>
            <a:ext cx="223560" cy="22320"/>
          </a:xfrm>
          <a:prstGeom prst="line">
            <a:avLst/>
          </a:prstGeom>
          <a:ln w="255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5" name="CustomShape 171">
            <a:extLst>
              <a:ext uri="{FF2B5EF4-FFF2-40B4-BE49-F238E27FC236}">
                <a16:creationId xmlns:a16="http://schemas.microsoft.com/office/drawing/2014/main" id="{BFFDBB2F-465F-4553-A8A2-560A64262869}"/>
              </a:ext>
            </a:extLst>
          </p:cNvPr>
          <p:cNvSpPr/>
          <p:nvPr/>
        </p:nvSpPr>
        <p:spPr>
          <a:xfrm>
            <a:off x="8996400" y="4086360"/>
            <a:ext cx="123480" cy="344160"/>
          </a:xfrm>
          <a:prstGeom prst="curvedRightArrow">
            <a:avLst>
              <a:gd name="adj1" fmla="val 25193"/>
              <a:gd name="adj2" fmla="val 80834"/>
              <a:gd name="adj3" fmla="val 33333"/>
            </a:avLst>
          </a:prstGeom>
          <a:solidFill>
            <a:srgbClr val="333333"/>
          </a:solidFill>
          <a:ln w="648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6" name="CustomShape 172">
            <a:extLst>
              <a:ext uri="{FF2B5EF4-FFF2-40B4-BE49-F238E27FC236}">
                <a16:creationId xmlns:a16="http://schemas.microsoft.com/office/drawing/2014/main" id="{E2840CF1-A4D4-4DEF-9935-8D2F012D764C}"/>
              </a:ext>
            </a:extLst>
          </p:cNvPr>
          <p:cNvSpPr/>
          <p:nvPr/>
        </p:nvSpPr>
        <p:spPr>
          <a:xfrm flipH="1" flipV="1">
            <a:off x="9194040" y="4063320"/>
            <a:ext cx="123480" cy="333000"/>
          </a:xfrm>
          <a:prstGeom prst="curvedRightArrow">
            <a:avLst>
              <a:gd name="adj1" fmla="val 24380"/>
              <a:gd name="adj2" fmla="val 78226"/>
              <a:gd name="adj3" fmla="val 22222"/>
            </a:avLst>
          </a:prstGeom>
          <a:solidFill>
            <a:srgbClr val="333333"/>
          </a:solidFill>
          <a:ln w="648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7" name="CustomShape 173">
            <a:extLst>
              <a:ext uri="{FF2B5EF4-FFF2-40B4-BE49-F238E27FC236}">
                <a16:creationId xmlns:a16="http://schemas.microsoft.com/office/drawing/2014/main" id="{3862D006-BB82-48FC-BDD8-CF469CF9A25D}"/>
              </a:ext>
            </a:extLst>
          </p:cNvPr>
          <p:cNvSpPr/>
          <p:nvPr/>
        </p:nvSpPr>
        <p:spPr>
          <a:xfrm>
            <a:off x="3303720" y="4741920"/>
            <a:ext cx="6746400" cy="350640"/>
          </a:xfrm>
          <a:custGeom>
            <a:avLst/>
            <a:gdLst/>
            <a:ahLst/>
            <a:cxnLst/>
            <a:rect l="l" t="t" r="r" b="b"/>
            <a:pathLst>
              <a:path w="4401" h="252">
                <a:moveTo>
                  <a:pt x="4368" y="96"/>
                </a:moveTo>
                <a:cubicBezTo>
                  <a:pt x="4370" y="148"/>
                  <a:pt x="4372" y="200"/>
                  <a:pt x="4360" y="224"/>
                </a:cubicBezTo>
                <a:cubicBezTo>
                  <a:pt x="4348" y="248"/>
                  <a:pt x="4401" y="239"/>
                  <a:pt x="4296" y="240"/>
                </a:cubicBezTo>
                <a:cubicBezTo>
                  <a:pt x="4191" y="241"/>
                  <a:pt x="4268" y="236"/>
                  <a:pt x="3728" y="232"/>
                </a:cubicBezTo>
                <a:cubicBezTo>
                  <a:pt x="3188" y="228"/>
                  <a:pt x="1656" y="219"/>
                  <a:pt x="1056" y="216"/>
                </a:cubicBezTo>
                <a:cubicBezTo>
                  <a:pt x="456" y="213"/>
                  <a:pt x="256" y="252"/>
                  <a:pt x="128" y="216"/>
                </a:cubicBezTo>
                <a:cubicBezTo>
                  <a:pt x="0" y="180"/>
                  <a:pt x="144" y="90"/>
                  <a:pt x="288" y="0"/>
                </a:cubicBezTo>
              </a:path>
            </a:pathLst>
          </a:custGeom>
          <a:noFill/>
          <a:ln w="1584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8" name="CustomShape 174">
            <a:extLst>
              <a:ext uri="{FF2B5EF4-FFF2-40B4-BE49-F238E27FC236}">
                <a16:creationId xmlns:a16="http://schemas.microsoft.com/office/drawing/2014/main" id="{ADB92010-4E6E-4160-8FDB-E89382404F1F}"/>
              </a:ext>
            </a:extLst>
          </p:cNvPr>
          <p:cNvSpPr/>
          <p:nvPr/>
        </p:nvSpPr>
        <p:spPr>
          <a:xfrm>
            <a:off x="3467160" y="2397240"/>
            <a:ext cx="925200" cy="399600"/>
          </a:xfrm>
          <a:prstGeom prst="rect">
            <a:avLst/>
          </a:prstGeom>
          <a:solidFill>
            <a:schemeClr val="accent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3F3F3F"/>
                </a:solidFill>
                <a:latin typeface="Times New Roman"/>
              </a:rPr>
              <a:t>CPU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3F3F3F"/>
                </a:solidFill>
                <a:latin typeface="Times New Roman"/>
              </a:rPr>
              <a:t>Init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79" name="CustomShape 175">
            <a:extLst>
              <a:ext uri="{FF2B5EF4-FFF2-40B4-BE49-F238E27FC236}">
                <a16:creationId xmlns:a16="http://schemas.microsoft.com/office/drawing/2014/main" id="{32470EC2-F897-4515-9633-B148C4473757}"/>
              </a:ext>
            </a:extLst>
          </p:cNvPr>
          <p:cNvSpPr/>
          <p:nvPr/>
        </p:nvSpPr>
        <p:spPr>
          <a:xfrm>
            <a:off x="3454560" y="2875320"/>
            <a:ext cx="925200" cy="399600"/>
          </a:xfrm>
          <a:prstGeom prst="rect">
            <a:avLst/>
          </a:prstGeom>
          <a:solidFill>
            <a:schemeClr val="accent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3F3F3F"/>
                </a:solidFill>
                <a:latin typeface="Times New Roman"/>
              </a:rPr>
              <a:t>Chipset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3F3F3F"/>
                </a:solidFill>
                <a:latin typeface="Times New Roman"/>
              </a:rPr>
              <a:t>Init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80" name="CustomShape 176">
            <a:extLst>
              <a:ext uri="{FF2B5EF4-FFF2-40B4-BE49-F238E27FC236}">
                <a16:creationId xmlns:a16="http://schemas.microsoft.com/office/drawing/2014/main" id="{661CC4B4-6C51-4A04-B916-0E95711A44B8}"/>
              </a:ext>
            </a:extLst>
          </p:cNvPr>
          <p:cNvSpPr/>
          <p:nvPr/>
        </p:nvSpPr>
        <p:spPr>
          <a:xfrm>
            <a:off x="3454560" y="3386160"/>
            <a:ext cx="925200" cy="399600"/>
          </a:xfrm>
          <a:prstGeom prst="rect">
            <a:avLst/>
          </a:prstGeom>
          <a:solidFill>
            <a:srgbClr val="0099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3F3F3F"/>
                </a:solidFill>
                <a:latin typeface="Times New Roman"/>
              </a:rPr>
              <a:t>Board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3F3F3F"/>
                </a:solidFill>
                <a:latin typeface="Times New Roman"/>
              </a:rPr>
              <a:t>Init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81" name="CustomShape 177">
            <a:extLst>
              <a:ext uri="{FF2B5EF4-FFF2-40B4-BE49-F238E27FC236}">
                <a16:creationId xmlns:a16="http://schemas.microsoft.com/office/drawing/2014/main" id="{6DAEA22C-2EF3-42EC-BC1C-D793E90E5EEF}"/>
              </a:ext>
            </a:extLst>
          </p:cNvPr>
          <p:cNvSpPr/>
          <p:nvPr/>
        </p:nvSpPr>
        <p:spPr>
          <a:xfrm>
            <a:off x="4925880" y="2364120"/>
            <a:ext cx="1052280" cy="1244160"/>
          </a:xfrm>
          <a:prstGeom prst="flowChartMultidocument">
            <a:avLst/>
          </a:prstGeom>
          <a:solidFill>
            <a:schemeClr val="folHlink"/>
          </a:solidFill>
          <a:ln w="1260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2" name="CustomShape 178">
            <a:extLst>
              <a:ext uri="{FF2B5EF4-FFF2-40B4-BE49-F238E27FC236}">
                <a16:creationId xmlns:a16="http://schemas.microsoft.com/office/drawing/2014/main" id="{74DB6FED-3716-48D2-9F9E-C60FBE2454C7}"/>
              </a:ext>
            </a:extLst>
          </p:cNvPr>
          <p:cNvSpPr/>
          <p:nvPr/>
        </p:nvSpPr>
        <p:spPr>
          <a:xfrm>
            <a:off x="4773600" y="2708640"/>
            <a:ext cx="925200" cy="899640"/>
          </a:xfrm>
          <a:prstGeom prst="rect">
            <a:avLst/>
          </a:prstGeom>
          <a:solidFill>
            <a:srgbClr val="FFCC00"/>
          </a:solidFill>
          <a:ln w="1260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3F3F3F"/>
                </a:solidFill>
                <a:latin typeface="Times New Roman"/>
              </a:rPr>
              <a:t>Device, Bus, or Service Driver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83" name="CustomShape 179">
            <a:extLst>
              <a:ext uri="{FF2B5EF4-FFF2-40B4-BE49-F238E27FC236}">
                <a16:creationId xmlns:a16="http://schemas.microsoft.com/office/drawing/2014/main" id="{5792A7D1-8A3E-48E8-8AC6-26757131751A}"/>
              </a:ext>
            </a:extLst>
          </p:cNvPr>
          <p:cNvSpPr/>
          <p:nvPr/>
        </p:nvSpPr>
        <p:spPr>
          <a:xfrm>
            <a:off x="3886200" y="3964320"/>
            <a:ext cx="1723680" cy="444240"/>
          </a:xfrm>
          <a:prstGeom prst="ellipse">
            <a:avLst/>
          </a:prstGeom>
          <a:solidFill>
            <a:schemeClr val="accent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3F3F3F"/>
                </a:solidFill>
                <a:latin typeface="Times New Roman"/>
              </a:rPr>
              <a:t>DXE Dispatcher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84" name="CustomShape 180">
            <a:extLst>
              <a:ext uri="{FF2B5EF4-FFF2-40B4-BE49-F238E27FC236}">
                <a16:creationId xmlns:a16="http://schemas.microsoft.com/office/drawing/2014/main" id="{A825BACB-980C-436D-961A-ABBC7F2EBBB7}"/>
              </a:ext>
            </a:extLst>
          </p:cNvPr>
          <p:cNvSpPr/>
          <p:nvPr/>
        </p:nvSpPr>
        <p:spPr>
          <a:xfrm>
            <a:off x="3797280" y="4508640"/>
            <a:ext cx="1863360" cy="399600"/>
          </a:xfrm>
          <a:prstGeom prst="rect">
            <a:avLst/>
          </a:prstGeom>
          <a:solidFill>
            <a:schemeClr val="accent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3F3F3F"/>
                </a:solidFill>
                <a:latin typeface="Times New Roman"/>
              </a:rPr>
              <a:t>Boot Service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3F3F3F"/>
                </a:solidFill>
                <a:latin typeface="Times New Roman"/>
              </a:rPr>
              <a:t>Runtime Service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85" name="CustomShape 181">
            <a:extLst>
              <a:ext uri="{FF2B5EF4-FFF2-40B4-BE49-F238E27FC236}">
                <a16:creationId xmlns:a16="http://schemas.microsoft.com/office/drawing/2014/main" id="{8FDB4C6B-381E-4525-8C19-980AAA448C4E}"/>
              </a:ext>
            </a:extLst>
          </p:cNvPr>
          <p:cNvSpPr/>
          <p:nvPr/>
        </p:nvSpPr>
        <p:spPr>
          <a:xfrm>
            <a:off x="4875120" y="3630960"/>
            <a:ext cx="126720" cy="344160"/>
          </a:xfrm>
          <a:prstGeom prst="curvedRightArrow">
            <a:avLst>
              <a:gd name="adj1" fmla="val 24563"/>
              <a:gd name="adj2" fmla="val 78813"/>
              <a:gd name="adj3" fmla="val 33333"/>
            </a:avLst>
          </a:prstGeom>
          <a:solidFill>
            <a:srgbClr val="333333"/>
          </a:solidFill>
          <a:ln w="648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6" name="CustomShape 182">
            <a:extLst>
              <a:ext uri="{FF2B5EF4-FFF2-40B4-BE49-F238E27FC236}">
                <a16:creationId xmlns:a16="http://schemas.microsoft.com/office/drawing/2014/main" id="{D0D0682A-0E74-400C-AAA1-301B06FC330C}"/>
              </a:ext>
            </a:extLst>
          </p:cNvPr>
          <p:cNvSpPr/>
          <p:nvPr/>
        </p:nvSpPr>
        <p:spPr>
          <a:xfrm flipH="1" flipV="1">
            <a:off x="5078520" y="3607920"/>
            <a:ext cx="126720" cy="333000"/>
          </a:xfrm>
          <a:prstGeom prst="curvedRightArrow">
            <a:avLst>
              <a:gd name="adj1" fmla="val 23771"/>
              <a:gd name="adj2" fmla="val 76271"/>
              <a:gd name="adj3" fmla="val 22222"/>
            </a:avLst>
          </a:prstGeom>
          <a:solidFill>
            <a:srgbClr val="333333"/>
          </a:solidFill>
          <a:ln w="648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7" name="CustomShape 183">
            <a:extLst>
              <a:ext uri="{FF2B5EF4-FFF2-40B4-BE49-F238E27FC236}">
                <a16:creationId xmlns:a16="http://schemas.microsoft.com/office/drawing/2014/main" id="{D60E8384-1A5F-473D-863F-4C345E746F3C}"/>
              </a:ext>
            </a:extLst>
          </p:cNvPr>
          <p:cNvSpPr/>
          <p:nvPr/>
        </p:nvSpPr>
        <p:spPr>
          <a:xfrm flipH="1">
            <a:off x="4430880" y="2630520"/>
            <a:ext cx="190080" cy="344160"/>
          </a:xfrm>
          <a:prstGeom prst="curvedRightArrow">
            <a:avLst>
              <a:gd name="adj1" fmla="val 16375"/>
              <a:gd name="adj2" fmla="val 52542"/>
              <a:gd name="adj3" fmla="val 22222"/>
            </a:avLst>
          </a:prstGeom>
          <a:solidFill>
            <a:srgbClr val="333333"/>
          </a:solidFill>
          <a:ln w="648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8" name="CustomShape 184">
            <a:extLst>
              <a:ext uri="{FF2B5EF4-FFF2-40B4-BE49-F238E27FC236}">
                <a16:creationId xmlns:a16="http://schemas.microsoft.com/office/drawing/2014/main" id="{BB6F9270-3F88-499E-9AEE-53B884A6EB51}"/>
              </a:ext>
            </a:extLst>
          </p:cNvPr>
          <p:cNvSpPr/>
          <p:nvPr/>
        </p:nvSpPr>
        <p:spPr>
          <a:xfrm flipH="1">
            <a:off x="4405320" y="3186360"/>
            <a:ext cx="190080" cy="344160"/>
          </a:xfrm>
          <a:prstGeom prst="curvedRightArrow">
            <a:avLst>
              <a:gd name="adj1" fmla="val 16375"/>
              <a:gd name="adj2" fmla="val 52542"/>
              <a:gd name="adj3" fmla="val 22222"/>
            </a:avLst>
          </a:prstGeom>
          <a:solidFill>
            <a:srgbClr val="333333"/>
          </a:solidFill>
          <a:ln w="648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9" name="CustomShape 185">
            <a:extLst>
              <a:ext uri="{FF2B5EF4-FFF2-40B4-BE49-F238E27FC236}">
                <a16:creationId xmlns:a16="http://schemas.microsoft.com/office/drawing/2014/main" id="{021B5436-6FAA-4C0B-98CB-2DBC15971E85}"/>
              </a:ext>
            </a:extLst>
          </p:cNvPr>
          <p:cNvSpPr/>
          <p:nvPr/>
        </p:nvSpPr>
        <p:spPr>
          <a:xfrm>
            <a:off x="3289320" y="2330640"/>
            <a:ext cx="641160" cy="66240"/>
          </a:xfrm>
          <a:prstGeom prst="curvedConnector2">
            <a:avLst/>
          </a:prstGeom>
          <a:noFill/>
          <a:ln w="25560">
            <a:solidFill>
              <a:schemeClr val="tx1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0" name="CustomShape 186">
            <a:extLst>
              <a:ext uri="{FF2B5EF4-FFF2-40B4-BE49-F238E27FC236}">
                <a16:creationId xmlns:a16="http://schemas.microsoft.com/office/drawing/2014/main" id="{C7157048-E2DE-4920-A8D0-B9447ECE04B0}"/>
              </a:ext>
            </a:extLst>
          </p:cNvPr>
          <p:cNvSpPr/>
          <p:nvPr/>
        </p:nvSpPr>
        <p:spPr>
          <a:xfrm rot="5400000">
            <a:off x="3702240" y="3970440"/>
            <a:ext cx="399600" cy="31320"/>
          </a:xfrm>
          <a:prstGeom prst="curvedConnector4">
            <a:avLst>
              <a:gd name="adj1" fmla="val 22222"/>
              <a:gd name="adj2" fmla="val 820000"/>
            </a:avLst>
          </a:prstGeom>
          <a:noFill/>
          <a:ln w="25560">
            <a:solidFill>
              <a:schemeClr val="tx1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1" name="CustomShape 187">
            <a:extLst>
              <a:ext uri="{FF2B5EF4-FFF2-40B4-BE49-F238E27FC236}">
                <a16:creationId xmlns:a16="http://schemas.microsoft.com/office/drawing/2014/main" id="{EF307EFA-391A-44AC-83AA-8E53C33302BB}"/>
              </a:ext>
            </a:extLst>
          </p:cNvPr>
          <p:cNvSpPr/>
          <p:nvPr/>
        </p:nvSpPr>
        <p:spPr>
          <a:xfrm>
            <a:off x="2498760" y="2130480"/>
            <a:ext cx="790200" cy="399600"/>
          </a:xfrm>
          <a:prstGeom prst="rect">
            <a:avLst/>
          </a:prstGeom>
          <a:solidFill>
            <a:schemeClr val="accent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3F3F3F"/>
                </a:solidFill>
                <a:latin typeface="Times New Roman"/>
              </a:rPr>
              <a:t>Pre Verifier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92" name="Line 188">
            <a:extLst>
              <a:ext uri="{FF2B5EF4-FFF2-40B4-BE49-F238E27FC236}">
                <a16:creationId xmlns:a16="http://schemas.microsoft.com/office/drawing/2014/main" id="{5816F06D-025C-4CE0-82C1-7C775F46756A}"/>
              </a:ext>
            </a:extLst>
          </p:cNvPr>
          <p:cNvSpPr/>
          <p:nvPr/>
        </p:nvSpPr>
        <p:spPr>
          <a:xfrm>
            <a:off x="2869920" y="2541600"/>
            <a:ext cx="360" cy="1144440"/>
          </a:xfrm>
          <a:prstGeom prst="line">
            <a:avLst/>
          </a:prstGeom>
          <a:ln w="25560">
            <a:solidFill>
              <a:schemeClr val="folHlink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3" name="Line 189">
            <a:extLst>
              <a:ext uri="{FF2B5EF4-FFF2-40B4-BE49-F238E27FC236}">
                <a16:creationId xmlns:a16="http://schemas.microsoft.com/office/drawing/2014/main" id="{794C28F8-B879-418A-9533-48BC923A4EA3}"/>
              </a:ext>
            </a:extLst>
          </p:cNvPr>
          <p:cNvSpPr/>
          <p:nvPr/>
        </p:nvSpPr>
        <p:spPr>
          <a:xfrm>
            <a:off x="2857320" y="3675240"/>
            <a:ext cx="542880" cy="360"/>
          </a:xfrm>
          <a:prstGeom prst="line">
            <a:avLst/>
          </a:prstGeom>
          <a:ln w="25560">
            <a:solidFill>
              <a:schemeClr val="folHlink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4" name="Line 190">
            <a:extLst>
              <a:ext uri="{FF2B5EF4-FFF2-40B4-BE49-F238E27FC236}">
                <a16:creationId xmlns:a16="http://schemas.microsoft.com/office/drawing/2014/main" id="{363A608C-F114-4222-A22F-8775755DD811}"/>
              </a:ext>
            </a:extLst>
          </p:cNvPr>
          <p:cNvSpPr/>
          <p:nvPr/>
        </p:nvSpPr>
        <p:spPr>
          <a:xfrm>
            <a:off x="2857320" y="3141720"/>
            <a:ext cx="542880" cy="360"/>
          </a:xfrm>
          <a:prstGeom prst="line">
            <a:avLst/>
          </a:prstGeom>
          <a:ln w="25560">
            <a:solidFill>
              <a:schemeClr val="folHlink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5" name="Line 191">
            <a:extLst>
              <a:ext uri="{FF2B5EF4-FFF2-40B4-BE49-F238E27FC236}">
                <a16:creationId xmlns:a16="http://schemas.microsoft.com/office/drawing/2014/main" id="{3AA6CA67-7827-47F1-9370-4B15E0A8D276}"/>
              </a:ext>
            </a:extLst>
          </p:cNvPr>
          <p:cNvSpPr/>
          <p:nvPr/>
        </p:nvSpPr>
        <p:spPr>
          <a:xfrm>
            <a:off x="2881080" y="2685960"/>
            <a:ext cx="544680" cy="360"/>
          </a:xfrm>
          <a:prstGeom prst="line">
            <a:avLst/>
          </a:prstGeom>
          <a:ln w="25560">
            <a:solidFill>
              <a:schemeClr val="folHlink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6" name="CustomShape 192">
            <a:extLst>
              <a:ext uri="{FF2B5EF4-FFF2-40B4-BE49-F238E27FC236}">
                <a16:creationId xmlns:a16="http://schemas.microsoft.com/office/drawing/2014/main" id="{9E2F84D1-42B0-475B-B147-97A4A8A54AB6}"/>
              </a:ext>
            </a:extLst>
          </p:cNvPr>
          <p:cNvSpPr/>
          <p:nvPr/>
        </p:nvSpPr>
        <p:spPr>
          <a:xfrm rot="10800000">
            <a:off x="2938320" y="3381480"/>
            <a:ext cx="396360" cy="610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rot="5400000" vert="vert"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700"/>
              </a:spcBef>
            </a:pPr>
            <a:r>
              <a:rPr lang="en-US" sz="1400" b="1" strike="noStrike" spc="-1">
                <a:solidFill>
                  <a:srgbClr val="ED7D31"/>
                </a:solidFill>
                <a:latin typeface="Times New Roman"/>
              </a:rPr>
              <a:t>Verify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197" name="Group 193">
            <a:extLst>
              <a:ext uri="{FF2B5EF4-FFF2-40B4-BE49-F238E27FC236}">
                <a16:creationId xmlns:a16="http://schemas.microsoft.com/office/drawing/2014/main" id="{0D2D0918-1EFF-46E0-AF6C-10F0997B1A14}"/>
              </a:ext>
            </a:extLst>
          </p:cNvPr>
          <p:cNvGrpSpPr/>
          <p:nvPr/>
        </p:nvGrpSpPr>
        <p:grpSpPr>
          <a:xfrm>
            <a:off x="5925960" y="2130480"/>
            <a:ext cx="2525760" cy="2722320"/>
            <a:chOff x="5925960" y="2130480"/>
            <a:chExt cx="2525760" cy="2722320"/>
          </a:xfrm>
        </p:grpSpPr>
        <p:sp>
          <p:nvSpPr>
            <p:cNvPr id="198" name="CustomShape 194">
              <a:extLst>
                <a:ext uri="{FF2B5EF4-FFF2-40B4-BE49-F238E27FC236}">
                  <a16:creationId xmlns:a16="http://schemas.microsoft.com/office/drawing/2014/main" id="{9EF84041-7711-4253-BC74-ADC28AD5FA1B}"/>
                </a:ext>
              </a:extLst>
            </p:cNvPr>
            <p:cNvSpPr/>
            <p:nvPr/>
          </p:nvSpPr>
          <p:spPr>
            <a:xfrm>
              <a:off x="5925960" y="3975120"/>
              <a:ext cx="1460160" cy="444240"/>
            </a:xfrm>
            <a:prstGeom prst="ellipse">
              <a:avLst/>
            </a:prstGeom>
            <a:solidFill>
              <a:srgbClr val="009900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3F3F3F"/>
                  </a:solidFill>
                  <a:latin typeface="Times New Roman"/>
                </a:rPr>
                <a:t>DXE Dispatcher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199" name="CustomShape 195">
              <a:extLst>
                <a:ext uri="{FF2B5EF4-FFF2-40B4-BE49-F238E27FC236}">
                  <a16:creationId xmlns:a16="http://schemas.microsoft.com/office/drawing/2014/main" id="{87CB8090-B82D-48EE-962A-20F011591046}"/>
                </a:ext>
              </a:extLst>
            </p:cNvPr>
            <p:cNvSpPr/>
            <p:nvPr/>
          </p:nvSpPr>
          <p:spPr>
            <a:xfrm>
              <a:off x="7362720" y="2130480"/>
              <a:ext cx="1076040" cy="410760"/>
            </a:xfrm>
            <a:prstGeom prst="rect">
              <a:avLst/>
            </a:prstGeom>
            <a:solidFill>
              <a:srgbClr val="FFCC99"/>
            </a:solidFill>
            <a:ln w="1260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3F3F3F"/>
                  </a:solidFill>
                  <a:latin typeface="Times New Roman"/>
                </a:rPr>
                <a:t>OS-Absent</a:t>
              </a:r>
              <a:endParaRPr lang="en-US" sz="14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3F3F3F"/>
                  </a:solidFill>
                  <a:latin typeface="Times New Roman"/>
                </a:rPr>
                <a:t>App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200" name="CustomShape 196">
              <a:extLst>
                <a:ext uri="{FF2B5EF4-FFF2-40B4-BE49-F238E27FC236}">
                  <a16:creationId xmlns:a16="http://schemas.microsoft.com/office/drawing/2014/main" id="{3C797622-3495-4803-86E0-D25AA50DE348}"/>
                </a:ext>
              </a:extLst>
            </p:cNvPr>
            <p:cNvSpPr/>
            <p:nvPr/>
          </p:nvSpPr>
          <p:spPr>
            <a:xfrm>
              <a:off x="7373880" y="2775240"/>
              <a:ext cx="1077480" cy="410760"/>
            </a:xfrm>
            <a:prstGeom prst="rect">
              <a:avLst/>
            </a:prstGeom>
            <a:solidFill>
              <a:srgbClr val="FFCC99"/>
            </a:solidFill>
            <a:ln w="1260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3F3F3F"/>
                  </a:solidFill>
                  <a:latin typeface="Times New Roman"/>
                </a:rPr>
                <a:t>Transient OS</a:t>
              </a:r>
              <a:endParaRPr lang="en-US" sz="14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3F3F3F"/>
                  </a:solidFill>
                  <a:latin typeface="Times New Roman"/>
                </a:rPr>
                <a:t>Environment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201" name="CustomShape 197">
              <a:extLst>
                <a:ext uri="{FF2B5EF4-FFF2-40B4-BE49-F238E27FC236}">
                  <a16:creationId xmlns:a16="http://schemas.microsoft.com/office/drawing/2014/main" id="{A8C46B08-FEEA-4926-BF3D-2CD8DB6D9D69}"/>
                </a:ext>
              </a:extLst>
            </p:cNvPr>
            <p:cNvSpPr/>
            <p:nvPr/>
          </p:nvSpPr>
          <p:spPr>
            <a:xfrm>
              <a:off x="7386480" y="3397320"/>
              <a:ext cx="1052280" cy="410760"/>
            </a:xfrm>
            <a:prstGeom prst="rect">
              <a:avLst/>
            </a:prstGeom>
            <a:solidFill>
              <a:srgbClr val="FFCC99"/>
            </a:solidFill>
            <a:ln w="1260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3F3F3F"/>
                  </a:solidFill>
                  <a:latin typeface="Times New Roman"/>
                </a:rPr>
                <a:t>Transient OS</a:t>
              </a:r>
              <a:endParaRPr lang="en-US" sz="14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3F3F3F"/>
                  </a:solidFill>
                  <a:latin typeface="Times New Roman"/>
                </a:rPr>
                <a:t>Boot Loader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202" name="CustomShape 198">
              <a:extLst>
                <a:ext uri="{FF2B5EF4-FFF2-40B4-BE49-F238E27FC236}">
                  <a16:creationId xmlns:a16="http://schemas.microsoft.com/office/drawing/2014/main" id="{5A73750C-C58D-41ED-9D76-2F2206E905DE}"/>
                </a:ext>
              </a:extLst>
            </p:cNvPr>
            <p:cNvSpPr/>
            <p:nvPr/>
          </p:nvSpPr>
          <p:spPr>
            <a:xfrm>
              <a:off x="7399440" y="4442040"/>
              <a:ext cx="1052280" cy="410760"/>
            </a:xfrm>
            <a:prstGeom prst="rect">
              <a:avLst/>
            </a:prstGeom>
            <a:solidFill>
              <a:srgbClr val="FF0000"/>
            </a:solidFill>
            <a:ln w="1260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3F3F3F"/>
                  </a:solidFill>
                  <a:latin typeface="Times New Roman"/>
                </a:rPr>
                <a:t>Final OS</a:t>
              </a:r>
              <a:endParaRPr lang="en-US" sz="14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3F3F3F"/>
                  </a:solidFill>
                  <a:latin typeface="Times New Roman"/>
                </a:rPr>
                <a:t>Boot Loader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203" name="Line 199">
              <a:extLst>
                <a:ext uri="{FF2B5EF4-FFF2-40B4-BE49-F238E27FC236}">
                  <a16:creationId xmlns:a16="http://schemas.microsoft.com/office/drawing/2014/main" id="{2AD867C7-9A21-4801-AE78-0ED9DA9933F2}"/>
                </a:ext>
              </a:extLst>
            </p:cNvPr>
            <p:cNvSpPr/>
            <p:nvPr/>
          </p:nvSpPr>
          <p:spPr>
            <a:xfrm>
              <a:off x="7275240" y="4275000"/>
              <a:ext cx="346320" cy="177840"/>
            </a:xfrm>
            <a:prstGeom prst="line">
              <a:avLst/>
            </a:prstGeom>
            <a:ln w="2556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04" name="CustomShape 200">
              <a:extLst>
                <a:ext uri="{FF2B5EF4-FFF2-40B4-BE49-F238E27FC236}">
                  <a16:creationId xmlns:a16="http://schemas.microsoft.com/office/drawing/2014/main" id="{7CC3503E-CF89-44CF-A34A-630F28C94C4E}"/>
                </a:ext>
              </a:extLst>
            </p:cNvPr>
            <p:cNvSpPr/>
            <p:nvPr/>
          </p:nvSpPr>
          <p:spPr>
            <a:xfrm>
              <a:off x="7783560" y="2562480"/>
              <a:ext cx="90000" cy="220320"/>
            </a:xfrm>
            <a:prstGeom prst="curvedRightArrow">
              <a:avLst>
                <a:gd name="adj1" fmla="val 22083"/>
                <a:gd name="adj2" fmla="val 70855"/>
                <a:gd name="adj3" fmla="val 33333"/>
              </a:avLst>
            </a:prstGeom>
            <a:solidFill>
              <a:srgbClr val="333333"/>
            </a:solidFill>
            <a:ln w="64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05" name="CustomShape 201">
              <a:extLst>
                <a:ext uri="{FF2B5EF4-FFF2-40B4-BE49-F238E27FC236}">
                  <a16:creationId xmlns:a16="http://schemas.microsoft.com/office/drawing/2014/main" id="{836AC30D-2455-4D93-B34E-53B39F5E20B7}"/>
                </a:ext>
              </a:extLst>
            </p:cNvPr>
            <p:cNvSpPr/>
            <p:nvPr/>
          </p:nvSpPr>
          <p:spPr>
            <a:xfrm flipH="1" flipV="1">
              <a:off x="7956000" y="2549880"/>
              <a:ext cx="78840" cy="213840"/>
            </a:xfrm>
            <a:prstGeom prst="curvedRightArrow">
              <a:avLst>
                <a:gd name="adj1" fmla="val 24450"/>
                <a:gd name="adj2" fmla="val 78450"/>
                <a:gd name="adj3" fmla="val 22222"/>
              </a:avLst>
            </a:prstGeom>
            <a:solidFill>
              <a:srgbClr val="333333"/>
            </a:solidFill>
            <a:ln w="64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06" name="CustomShape 202">
              <a:extLst>
                <a:ext uri="{FF2B5EF4-FFF2-40B4-BE49-F238E27FC236}">
                  <a16:creationId xmlns:a16="http://schemas.microsoft.com/office/drawing/2014/main" id="{E059DB7F-D4D5-4619-945D-A74EC352B4ED}"/>
                </a:ext>
              </a:extLst>
            </p:cNvPr>
            <p:cNvSpPr/>
            <p:nvPr/>
          </p:nvSpPr>
          <p:spPr>
            <a:xfrm>
              <a:off x="7796160" y="3195720"/>
              <a:ext cx="90000" cy="220320"/>
            </a:xfrm>
            <a:prstGeom prst="curvedRightArrow">
              <a:avLst>
                <a:gd name="adj1" fmla="val 22083"/>
                <a:gd name="adj2" fmla="val 70855"/>
                <a:gd name="adj3" fmla="val 33333"/>
              </a:avLst>
            </a:prstGeom>
            <a:solidFill>
              <a:srgbClr val="333333"/>
            </a:solidFill>
            <a:ln w="64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07" name="CustomShape 203">
              <a:extLst>
                <a:ext uri="{FF2B5EF4-FFF2-40B4-BE49-F238E27FC236}">
                  <a16:creationId xmlns:a16="http://schemas.microsoft.com/office/drawing/2014/main" id="{9CAB29C4-B209-46ED-B4F6-919574319FBC}"/>
                </a:ext>
              </a:extLst>
            </p:cNvPr>
            <p:cNvSpPr/>
            <p:nvPr/>
          </p:nvSpPr>
          <p:spPr>
            <a:xfrm flipH="1" flipV="1">
              <a:off x="7943040" y="3171240"/>
              <a:ext cx="115560" cy="225000"/>
            </a:xfrm>
            <a:prstGeom prst="curvedRightArrow">
              <a:avLst>
                <a:gd name="adj1" fmla="val 17615"/>
                <a:gd name="adj2" fmla="val 56519"/>
                <a:gd name="adj3" fmla="val 22222"/>
              </a:avLst>
            </a:prstGeom>
            <a:solidFill>
              <a:srgbClr val="333333"/>
            </a:solidFill>
            <a:ln w="64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08" name="CustomShape 204">
              <a:extLst>
                <a:ext uri="{FF2B5EF4-FFF2-40B4-BE49-F238E27FC236}">
                  <a16:creationId xmlns:a16="http://schemas.microsoft.com/office/drawing/2014/main" id="{890169A4-2301-4202-8F84-C72303F5EE68}"/>
                </a:ext>
              </a:extLst>
            </p:cNvPr>
            <p:cNvSpPr/>
            <p:nvPr/>
          </p:nvSpPr>
          <p:spPr>
            <a:xfrm>
              <a:off x="7213680" y="3795840"/>
              <a:ext cx="91800" cy="220320"/>
            </a:xfrm>
            <a:prstGeom prst="curvedRightArrow">
              <a:avLst>
                <a:gd name="adj1" fmla="val 21702"/>
                <a:gd name="adj2" fmla="val 69633"/>
                <a:gd name="adj3" fmla="val 33333"/>
              </a:avLst>
            </a:prstGeom>
            <a:solidFill>
              <a:srgbClr val="333333"/>
            </a:solidFill>
            <a:ln w="64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09" name="CustomShape 205">
              <a:extLst>
                <a:ext uri="{FF2B5EF4-FFF2-40B4-BE49-F238E27FC236}">
                  <a16:creationId xmlns:a16="http://schemas.microsoft.com/office/drawing/2014/main" id="{D86BB65E-2C2A-4F0A-B2E0-96DDCA1C9C24}"/>
                </a:ext>
              </a:extLst>
            </p:cNvPr>
            <p:cNvSpPr/>
            <p:nvPr/>
          </p:nvSpPr>
          <p:spPr>
            <a:xfrm flipH="1" flipV="1">
              <a:off x="7349400" y="3849120"/>
              <a:ext cx="115560" cy="225000"/>
            </a:xfrm>
            <a:prstGeom prst="curvedRightArrow">
              <a:avLst>
                <a:gd name="adj1" fmla="val 17615"/>
                <a:gd name="adj2" fmla="val 56519"/>
                <a:gd name="adj3" fmla="val 22222"/>
              </a:avLst>
            </a:prstGeom>
            <a:solidFill>
              <a:srgbClr val="333333"/>
            </a:solidFill>
            <a:ln w="648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210" name="CustomShape 206">
            <a:extLst>
              <a:ext uri="{FF2B5EF4-FFF2-40B4-BE49-F238E27FC236}">
                <a16:creationId xmlns:a16="http://schemas.microsoft.com/office/drawing/2014/main" id="{C725FE39-3D55-4E98-8249-2C1179DB8C5A}"/>
              </a:ext>
            </a:extLst>
          </p:cNvPr>
          <p:cNvSpPr/>
          <p:nvPr/>
        </p:nvSpPr>
        <p:spPr>
          <a:xfrm>
            <a:off x="2387520" y="5977080"/>
            <a:ext cx="8191080" cy="3337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spcBef>
                <a:spcPts val="799"/>
              </a:spcBef>
            </a:pPr>
            <a:r>
              <a:rPr lang="en-US" sz="1600" b="1" strike="noStrike" spc="-1">
                <a:solidFill>
                  <a:srgbClr val="3F3F3F"/>
                </a:solidFill>
                <a:latin typeface="Times New Roman"/>
              </a:rPr>
              <a:t>Power on </a:t>
            </a:r>
            <a:r>
              <a:rPr lang="en-US" sz="1600" b="1" strike="noStrike" spc="-1">
                <a:solidFill>
                  <a:srgbClr val="3F3F3F"/>
                </a:solidFill>
                <a:latin typeface="Wingdings"/>
              </a:rPr>
              <a:t></a:t>
            </a:r>
            <a:r>
              <a:rPr lang="en-US" sz="1600" b="1" strike="noStrike" spc="-1">
                <a:solidFill>
                  <a:srgbClr val="3F3F3F"/>
                </a:solidFill>
                <a:latin typeface="Times New Roman"/>
              </a:rPr>
              <a:t>   […..Platform initialization…..]     </a:t>
            </a:r>
            <a:r>
              <a:rPr lang="en-US" sz="1600" b="1" strike="noStrike" spc="-1">
                <a:solidFill>
                  <a:srgbClr val="3F3F3F"/>
                </a:solidFill>
                <a:latin typeface="Wingdings"/>
              </a:rPr>
              <a:t></a:t>
            </a:r>
            <a:r>
              <a:rPr lang="en-US" sz="1600" b="1" strike="noStrike" spc="-1">
                <a:solidFill>
                  <a:srgbClr val="3F3F3F"/>
                </a:solidFill>
                <a:latin typeface="Times New Roman"/>
              </a:rPr>
              <a:t>         [….OS boot….]        </a:t>
            </a:r>
            <a:r>
              <a:rPr lang="en-US" sz="1600" b="1" strike="noStrike" spc="-1">
                <a:solidFill>
                  <a:srgbClr val="3F3F3F"/>
                </a:solidFill>
                <a:latin typeface="Wingdings"/>
              </a:rPr>
              <a:t></a:t>
            </a:r>
            <a:r>
              <a:rPr lang="en-US" sz="1600" b="1" strike="noStrike" spc="-1">
                <a:solidFill>
                  <a:srgbClr val="3F3F3F"/>
                </a:solidFill>
                <a:latin typeface="Times New Roman"/>
              </a:rPr>
              <a:t>    Shutdown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211" name="CustomShape 207">
            <a:extLst>
              <a:ext uri="{FF2B5EF4-FFF2-40B4-BE49-F238E27FC236}">
                <a16:creationId xmlns:a16="http://schemas.microsoft.com/office/drawing/2014/main" id="{E28EE6A3-2DF7-4AE1-8AFA-8B5C8D8EE872}"/>
              </a:ext>
            </a:extLst>
          </p:cNvPr>
          <p:cNvSpPr/>
          <p:nvPr/>
        </p:nvSpPr>
        <p:spPr>
          <a:xfrm rot="10800000" flipH="1">
            <a:off x="3252240" y="3637080"/>
            <a:ext cx="1007640" cy="1055160"/>
          </a:xfrm>
          <a:prstGeom prst="rightArrowCallout">
            <a:avLst>
              <a:gd name="adj1" fmla="val 27885"/>
              <a:gd name="adj2" fmla="val 27885"/>
              <a:gd name="adj3" fmla="val 17850"/>
              <a:gd name="adj4" fmla="val 66667"/>
            </a:avLst>
          </a:prstGeom>
          <a:gradFill rotWithShape="0">
            <a:gsLst>
              <a:gs pos="0">
                <a:srgbClr val="FFCC00"/>
              </a:gs>
              <a:gs pos="100000">
                <a:srgbClr val="FFFFFF"/>
              </a:gs>
            </a:gsLst>
            <a:lin ang="16200000"/>
          </a:gradFill>
          <a:ln w="12600" cap="rnd">
            <a:solidFill>
              <a:srgbClr val="000000"/>
            </a:solidFill>
            <a:custDash>
              <a:ds d="400000" sp="300000"/>
            </a:custDash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rot="5400000" vert="vert"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3F3F3F"/>
                </a:solidFill>
                <a:latin typeface="Times New Roman"/>
              </a:rPr>
              <a:t>ICHx  Driver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12" name="CustomShape 208">
            <a:extLst>
              <a:ext uri="{FF2B5EF4-FFF2-40B4-BE49-F238E27FC236}">
                <a16:creationId xmlns:a16="http://schemas.microsoft.com/office/drawing/2014/main" id="{055D1237-FBB4-481C-92D0-52D97AA374BD}"/>
              </a:ext>
            </a:extLst>
          </p:cNvPr>
          <p:cNvSpPr/>
          <p:nvPr/>
        </p:nvSpPr>
        <p:spPr>
          <a:xfrm rot="10800000" flipH="1">
            <a:off x="2881440" y="4264920"/>
            <a:ext cx="990360" cy="1104480"/>
          </a:xfrm>
          <a:prstGeom prst="rightArrowCallout">
            <a:avLst>
              <a:gd name="adj1" fmla="val 27885"/>
              <a:gd name="adj2" fmla="val 27885"/>
              <a:gd name="adj3" fmla="val 16667"/>
              <a:gd name="adj4" fmla="val 58383"/>
            </a:avLst>
          </a:prstGeom>
          <a:gradFill rotWithShape="0">
            <a:gsLst>
              <a:gs pos="0">
                <a:srgbClr val="99CC00"/>
              </a:gs>
              <a:gs pos="100000">
                <a:srgbClr val="FFFFFF"/>
              </a:gs>
            </a:gsLst>
            <a:lin ang="16200000"/>
          </a:gradFill>
          <a:ln w="12600" cap="rnd">
            <a:solidFill>
              <a:srgbClr val="000000"/>
            </a:solidFill>
            <a:custDash>
              <a:ds d="400000" sp="300000"/>
            </a:custDash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rot="5400000" vert="vert"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3F3F3F"/>
                </a:solidFill>
                <a:latin typeface="Times New Roman"/>
              </a:rPr>
              <a:t>MCH Driver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13" name="CustomShape 209">
            <a:extLst>
              <a:ext uri="{FF2B5EF4-FFF2-40B4-BE49-F238E27FC236}">
                <a16:creationId xmlns:a16="http://schemas.microsoft.com/office/drawing/2014/main" id="{CA8DB1B0-A78C-4FC4-B875-5C25DADE7B8B}"/>
              </a:ext>
            </a:extLst>
          </p:cNvPr>
          <p:cNvSpPr/>
          <p:nvPr/>
        </p:nvSpPr>
        <p:spPr>
          <a:xfrm>
            <a:off x="3406680" y="1764000"/>
            <a:ext cx="5143320" cy="2984040"/>
          </a:xfrm>
          <a:prstGeom prst="rightArrow">
            <a:avLst>
              <a:gd name="adj1" fmla="val 50000"/>
              <a:gd name="adj2" fmla="val 43085"/>
            </a:avLst>
          </a:prstGeom>
          <a:solidFill>
            <a:srgbClr val="3366FF">
              <a:alpha val="50000"/>
            </a:srgbClr>
          </a:solidFill>
          <a:ln w="12600">
            <a:solidFill>
              <a:srgbClr val="3366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strike="noStrike" spc="-1">
                <a:solidFill>
                  <a:srgbClr val="3F3F3F"/>
                </a:solidFill>
                <a:latin typeface="Segoe UI"/>
              </a:rPr>
              <a:t>Debug all UEFI phases</a:t>
            </a:r>
            <a:endParaRPr lang="en-US" sz="28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8275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1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90A6-A1C6-4034-B8DF-BB0CBB7F311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4000" b="1" strike="noStrike" spc="-1" dirty="0">
                <a:solidFill>
                  <a:srgbClr val="FFFFFF"/>
                </a:solidFill>
                <a:latin typeface="Segoe UI"/>
              </a:rPr>
              <a:t>Build H2ODDT™</a:t>
            </a:r>
            <a:endParaRPr lang="en-US" sz="4000" b="0" strike="noStrike" spc="-1" dirty="0">
              <a:solidFill>
                <a:srgbClr val="3F3F3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702948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4000" b="1" strike="noStrike" spc="-1" dirty="0">
                <a:solidFill>
                  <a:srgbClr val="000000"/>
                </a:solidFill>
                <a:latin typeface="Segoe UI"/>
              </a:rPr>
              <a:t>Build H2ODDT™</a:t>
            </a:r>
            <a:endParaRPr lang="en-US" sz="4000" b="0" strike="noStrike" spc="-1" dirty="0">
              <a:solidFill>
                <a:srgbClr val="3F3F3F"/>
              </a:solidFill>
              <a:latin typeface="Segoe U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Step 1: Install H2ODDT Cable driver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Check Device Manager – it should be “isusb.sys”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Step 2: Compiler your source code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Turn on switch in </a:t>
            </a:r>
            <a:r>
              <a:rPr lang="en-US" sz="2400" b="0" strike="noStrike" spc="-1" dirty="0" err="1">
                <a:solidFill>
                  <a:srgbClr val="3F3F3F"/>
                </a:solidFill>
                <a:latin typeface="Segoe UI"/>
              </a:rPr>
              <a:t>Project.env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70C0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70C0"/>
                </a:solidFill>
                <a:latin typeface="Segoe UI"/>
              </a:rPr>
              <a:t>INSYDE_DEBUGGER</a:t>
            </a:r>
            <a:r>
              <a:rPr lang="en-US" sz="2000" b="0" strike="noStrike" spc="-1" dirty="0">
                <a:solidFill>
                  <a:srgbClr val="3F3F3F"/>
                </a:solidFill>
                <a:latin typeface="Segoe UI"/>
              </a:rPr>
              <a:t> = </a:t>
            </a:r>
            <a:r>
              <a:rPr lang="en-US" sz="2000" b="1" strike="noStrike" spc="-1" dirty="0">
                <a:solidFill>
                  <a:srgbClr val="FF0000"/>
                </a:solidFill>
                <a:latin typeface="Segoe UI"/>
              </a:rPr>
              <a:t>YES</a:t>
            </a:r>
            <a:endParaRPr lang="en-US" sz="2000" b="0" strike="noStrike" spc="-1" dirty="0">
              <a:solidFill>
                <a:srgbClr val="3F3F3F"/>
              </a:solidFill>
              <a:latin typeface="Segoe UI"/>
            </a:endParaRP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3F3F3F"/>
                </a:solidFill>
                <a:latin typeface="Segoe UI"/>
              </a:rPr>
              <a:t>It will sync the PCD in </a:t>
            </a:r>
            <a:r>
              <a:rPr lang="en-US" sz="2000" b="1" strike="noStrike" spc="-1" dirty="0">
                <a:solidFill>
                  <a:srgbClr val="FF0000"/>
                </a:solidFill>
                <a:latin typeface="Segoe UI"/>
              </a:rPr>
              <a:t>$(PROJECT_PKG)/</a:t>
            </a:r>
            <a:r>
              <a:rPr lang="en-US" sz="2000" b="1" strike="noStrike" spc="-1" dirty="0" err="1">
                <a:solidFill>
                  <a:srgbClr val="FF0000"/>
                </a:solidFill>
                <a:latin typeface="Segoe UI"/>
              </a:rPr>
              <a:t>Project.dsc</a:t>
            </a:r>
            <a:endParaRPr lang="en-US" sz="2000" b="0" strike="noStrike" spc="-1" dirty="0">
              <a:solidFill>
                <a:srgbClr val="3F3F3F"/>
              </a:solidFill>
              <a:latin typeface="Segoe UI"/>
            </a:endParaRP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3F3F3F"/>
                </a:solidFill>
                <a:latin typeface="Segoe UI"/>
              </a:rPr>
              <a:t>gInsydeTokenSpaceGuid.PcdH2ODdtSupported|$(INSYDE_DEBUGGER)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Change the debug IO interface in </a:t>
            </a:r>
            <a:r>
              <a:rPr lang="en-US" sz="2400" b="0" strike="noStrike" spc="-1" dirty="0" err="1">
                <a:solidFill>
                  <a:srgbClr val="3F3F3F"/>
                </a:solidFill>
                <a:latin typeface="Segoe UI"/>
              </a:rPr>
              <a:t>Project.env</a:t>
            </a: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 if needed</a:t>
            </a: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3F3F3F"/>
                </a:solidFill>
                <a:latin typeface="Segoe UI"/>
              </a:rPr>
              <a:t>EDK_GLOBAL  </a:t>
            </a:r>
            <a:r>
              <a:rPr lang="en-US" sz="2000" b="1" strike="noStrike" spc="-1" dirty="0">
                <a:solidFill>
                  <a:srgbClr val="0070C0"/>
                </a:solidFill>
                <a:latin typeface="Segoe UI"/>
              </a:rPr>
              <a:t>H2O_DDT_DEBUG_IO</a:t>
            </a:r>
            <a:r>
              <a:rPr lang="en-US" sz="2000" b="0" strike="noStrike" spc="-1" dirty="0">
                <a:solidFill>
                  <a:srgbClr val="3F3F3F"/>
                </a:solidFill>
                <a:latin typeface="Segoe UI"/>
              </a:rPr>
              <a:t> = </a:t>
            </a:r>
            <a:r>
              <a:rPr lang="en-US" sz="2000" b="1" strike="noStrike" spc="-1" dirty="0" err="1">
                <a:solidFill>
                  <a:srgbClr val="FF0000"/>
                </a:solidFill>
                <a:latin typeface="Segoe UI"/>
              </a:rPr>
              <a:t>Xhc</a:t>
            </a:r>
            <a:endParaRPr lang="en-US" sz="2000" b="0" strike="noStrike" spc="-1" dirty="0">
              <a:solidFill>
                <a:srgbClr val="3F3F3F"/>
              </a:solidFill>
              <a:latin typeface="Segoe UI"/>
            </a:endParaRP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FF0000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FF0000"/>
                </a:solidFill>
                <a:latin typeface="Segoe UI"/>
              </a:rPr>
              <a:t>Com</a:t>
            </a:r>
            <a:r>
              <a:rPr lang="en-US" spc="-1" dirty="0">
                <a:solidFill>
                  <a:srgbClr val="3F3F3F"/>
                </a:solidFill>
                <a:latin typeface="Segoe UI"/>
              </a:rPr>
              <a:t>/</a:t>
            </a:r>
            <a:r>
              <a:rPr lang="en-US" sz="2000" b="1" strike="noStrike" spc="-1" dirty="0" err="1">
                <a:solidFill>
                  <a:srgbClr val="FF0000"/>
                </a:solidFill>
                <a:latin typeface="Segoe UI"/>
              </a:rPr>
              <a:t>Xhc</a:t>
            </a:r>
            <a:endParaRPr lang="en-US" sz="20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clean build – “</a:t>
            </a:r>
            <a:r>
              <a:rPr lang="en-US" sz="2400" b="0" strike="noStrike" spc="-1" dirty="0" err="1">
                <a:solidFill>
                  <a:srgbClr val="3F3F3F"/>
                </a:solidFill>
                <a:latin typeface="Segoe UI"/>
              </a:rPr>
              <a:t>nmake</a:t>
            </a: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 clean”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dirty="0"/>
              <a:t>New build – “</a:t>
            </a:r>
            <a:r>
              <a:rPr lang="en-US" dirty="0" err="1"/>
              <a:t>nmake</a:t>
            </a:r>
            <a:r>
              <a:rPr lang="en-US" dirty="0"/>
              <a:t> uefi64ddt”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067823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4000" b="1" strike="noStrike" spc="-1" dirty="0">
                <a:solidFill>
                  <a:srgbClr val="000000"/>
                </a:solidFill>
                <a:latin typeface="Segoe UI"/>
              </a:rPr>
              <a:t>Build H2ODDT™</a:t>
            </a:r>
            <a:endParaRPr lang="en-US" sz="4000" b="0" strike="noStrike" spc="-1" dirty="0">
              <a:solidFill>
                <a:srgbClr val="3F3F3F"/>
              </a:solidFill>
              <a:latin typeface="Segoe U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Step 3: Power On the target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You should see </a:t>
            </a:r>
            <a:r>
              <a:rPr lang="en-US" sz="2400" b="1" strike="noStrike" spc="-1" dirty="0">
                <a:solidFill>
                  <a:srgbClr val="FF0000"/>
                </a:solidFill>
                <a:latin typeface="Segoe UI"/>
              </a:rPr>
              <a:t>0xD0</a:t>
            </a: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/</a:t>
            </a:r>
            <a:r>
              <a:rPr lang="en-US" sz="2400" b="1" strike="noStrike" spc="-1" dirty="0">
                <a:solidFill>
                  <a:srgbClr val="FF0000"/>
                </a:solidFill>
                <a:latin typeface="Segoe UI"/>
              </a:rPr>
              <a:t>0x0D</a:t>
            </a: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 on port 80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Step 4: Plug-in H2ODDT Cable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If the debug port is correctly selected, you will see </a:t>
            </a:r>
            <a:r>
              <a:rPr lang="en-US" sz="2400" b="1" strike="noStrike" spc="-1" dirty="0">
                <a:solidFill>
                  <a:srgbClr val="FF0000"/>
                </a:solidFill>
                <a:latin typeface="Segoe UI"/>
              </a:rPr>
              <a:t>0xD1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Step 5: Connect the H2ODDT cable to host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Then run H2ODDT application</a:t>
            </a:r>
          </a:p>
        </p:txBody>
      </p:sp>
    </p:spTree>
    <p:extLst>
      <p:ext uri="{BB962C8B-B14F-4D97-AF65-F5344CB8AC3E}">
        <p14:creationId xmlns:p14="http://schemas.microsoft.com/office/powerpoint/2010/main" val="4292079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47B15BC-A85A-4D3C-8F2B-7DA3C3B0CE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30" b="24751"/>
          <a:stretch/>
        </p:blipFill>
        <p:spPr>
          <a:xfrm>
            <a:off x="6663741" y="1780578"/>
            <a:ext cx="3154038" cy="47784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CA0927-C576-4716-B382-F1C3F2106F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30" b="24751"/>
          <a:stretch/>
        </p:blipFill>
        <p:spPr>
          <a:xfrm>
            <a:off x="2515461" y="1780578"/>
            <a:ext cx="3154038" cy="47784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4000" b="1" strike="noStrike" spc="-1" dirty="0">
                <a:solidFill>
                  <a:srgbClr val="000000"/>
                </a:solidFill>
                <a:latin typeface="Segoe UI"/>
              </a:rPr>
              <a:t>Build H2ODDT™</a:t>
            </a:r>
            <a:endParaRPr lang="en-US" sz="4000" b="0" strike="noStrike" spc="-1" dirty="0">
              <a:solidFill>
                <a:srgbClr val="3F3F3F"/>
              </a:solidFill>
              <a:latin typeface="Segoe U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Ready vs. Busy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1D968298-62DD-4548-9515-A68ABE5A6BD7}"/>
              </a:ext>
            </a:extLst>
          </p:cNvPr>
          <p:cNvSpPr/>
          <p:nvPr/>
        </p:nvSpPr>
        <p:spPr>
          <a:xfrm>
            <a:off x="3494520" y="2094120"/>
            <a:ext cx="1195920" cy="51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strike="noStrike" spc="-1">
                <a:solidFill>
                  <a:srgbClr val="00B050"/>
                </a:solidFill>
                <a:latin typeface="Segoe UI"/>
              </a:rPr>
              <a:t>Ready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11" name="CustomShape 4">
            <a:extLst>
              <a:ext uri="{FF2B5EF4-FFF2-40B4-BE49-F238E27FC236}">
                <a16:creationId xmlns:a16="http://schemas.microsoft.com/office/drawing/2014/main" id="{EDD9EA27-581A-48AF-A231-6C44587881A8}"/>
              </a:ext>
            </a:extLst>
          </p:cNvPr>
          <p:cNvSpPr/>
          <p:nvPr/>
        </p:nvSpPr>
        <p:spPr>
          <a:xfrm>
            <a:off x="7755480" y="2094120"/>
            <a:ext cx="970560" cy="51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strike="noStrike" spc="-1">
                <a:solidFill>
                  <a:srgbClr val="FF0000"/>
                </a:solidFill>
                <a:latin typeface="Segoe UI"/>
              </a:rPr>
              <a:t>Busy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2D9A70-257B-4A58-A9BE-D0C0C457A9F2}"/>
              </a:ext>
            </a:extLst>
          </p:cNvPr>
          <p:cNvSpPr/>
          <p:nvPr/>
        </p:nvSpPr>
        <p:spPr>
          <a:xfrm>
            <a:off x="5331459" y="1900526"/>
            <a:ext cx="345631" cy="1492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60B4A6-AAF9-4867-8A9D-A9709BE16B0C}"/>
              </a:ext>
            </a:extLst>
          </p:cNvPr>
          <p:cNvSpPr/>
          <p:nvPr/>
        </p:nvSpPr>
        <p:spPr>
          <a:xfrm>
            <a:off x="9472148" y="1892906"/>
            <a:ext cx="345631" cy="1492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0B30C8-277F-4BB4-823F-F6CAFB228042}"/>
              </a:ext>
            </a:extLst>
          </p:cNvPr>
          <p:cNvCxnSpPr>
            <a:cxnSpLocks/>
            <a:stCxn id="6" idx="1"/>
            <a:endCxn id="10" idx="3"/>
          </p:cNvCxnSpPr>
          <p:nvPr/>
        </p:nvCxnSpPr>
        <p:spPr>
          <a:xfrm flipH="1">
            <a:off x="4690440" y="1975153"/>
            <a:ext cx="641019" cy="3774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4C9E87F-B6C5-41DA-A8D9-2972C9E61C26}"/>
              </a:ext>
            </a:extLst>
          </p:cNvPr>
          <p:cNvCxnSpPr>
            <a:cxnSpLocks/>
            <a:stCxn id="12" idx="1"/>
            <a:endCxn id="11" idx="3"/>
          </p:cNvCxnSpPr>
          <p:nvPr/>
        </p:nvCxnSpPr>
        <p:spPr>
          <a:xfrm flipH="1">
            <a:off x="8726040" y="1967533"/>
            <a:ext cx="746108" cy="3850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69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90A6-A1C6-4034-B8DF-BB0CBB7F311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Features Introduction</a:t>
            </a:r>
          </a:p>
        </p:txBody>
      </p:sp>
    </p:spTree>
    <p:extLst>
      <p:ext uri="{BB962C8B-B14F-4D97-AF65-F5344CB8AC3E}">
        <p14:creationId xmlns:p14="http://schemas.microsoft.com/office/powerpoint/2010/main" val="336968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DF4BCB8-5CC7-40CE-A567-E9EA73C0AB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33" t="18546" r="35572" b="21667"/>
          <a:stretch/>
        </p:blipFill>
        <p:spPr>
          <a:xfrm>
            <a:off x="6096000" y="1316230"/>
            <a:ext cx="3230280" cy="41002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Menu – Project Maintenance</a:t>
            </a:r>
          </a:p>
        </p:txBody>
      </p:sp>
      <p:pic>
        <p:nvPicPr>
          <p:cNvPr id="4" name="圖片 5">
            <a:extLst>
              <a:ext uri="{FF2B5EF4-FFF2-40B4-BE49-F238E27FC236}">
                <a16:creationId xmlns:a16="http://schemas.microsoft.com/office/drawing/2014/main" id="{E5122499-6014-4EF1-90F9-62AE731B1357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2168280" y="1819080"/>
            <a:ext cx="3230280" cy="2212560"/>
          </a:xfrm>
          <a:prstGeom prst="rect">
            <a:avLst/>
          </a:prstGeom>
          <a:ln>
            <a:noFill/>
          </a:ln>
        </p:spPr>
      </p:pic>
      <p:sp>
        <p:nvSpPr>
          <p:cNvPr id="6" name="CustomShape 2">
            <a:extLst>
              <a:ext uri="{FF2B5EF4-FFF2-40B4-BE49-F238E27FC236}">
                <a16:creationId xmlns:a16="http://schemas.microsoft.com/office/drawing/2014/main" id="{460A9B51-B169-4ED7-9AC8-B184B5CF1329}"/>
              </a:ext>
            </a:extLst>
          </p:cNvPr>
          <p:cNvSpPr/>
          <p:nvPr/>
        </p:nvSpPr>
        <p:spPr>
          <a:xfrm>
            <a:off x="6179040" y="3042138"/>
            <a:ext cx="1681283" cy="263770"/>
          </a:xfrm>
          <a:prstGeom prst="rect">
            <a:avLst/>
          </a:prstGeom>
          <a:noFill/>
          <a:ln w="3816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" name="CustomShape 3">
            <a:extLst>
              <a:ext uri="{FF2B5EF4-FFF2-40B4-BE49-F238E27FC236}">
                <a16:creationId xmlns:a16="http://schemas.microsoft.com/office/drawing/2014/main" id="{F1A3AF4D-05D1-4D2E-8C95-973F185D6F11}"/>
              </a:ext>
            </a:extLst>
          </p:cNvPr>
          <p:cNvSpPr/>
          <p:nvPr/>
        </p:nvSpPr>
        <p:spPr>
          <a:xfrm>
            <a:off x="2316240" y="4537080"/>
            <a:ext cx="625405" cy="367878"/>
          </a:xfrm>
          <a:prstGeom prst="rect">
            <a:avLst/>
          </a:prstGeom>
          <a:noFill/>
          <a:ln w="2844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3F3F3F"/>
                </a:solidFill>
                <a:latin typeface="Segoe UI"/>
              </a:rPr>
              <a:t>USB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CustomShape 5">
            <a:extLst>
              <a:ext uri="{FF2B5EF4-FFF2-40B4-BE49-F238E27FC236}">
                <a16:creationId xmlns:a16="http://schemas.microsoft.com/office/drawing/2014/main" id="{96E1E024-B936-466A-B357-83A609B04A7A}"/>
              </a:ext>
            </a:extLst>
          </p:cNvPr>
          <p:cNvSpPr/>
          <p:nvPr/>
        </p:nvSpPr>
        <p:spPr>
          <a:xfrm>
            <a:off x="2475720" y="2268000"/>
            <a:ext cx="2860200" cy="585000"/>
          </a:xfrm>
          <a:prstGeom prst="rect">
            <a:avLst/>
          </a:prstGeom>
          <a:noFill/>
          <a:ln w="3816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" name="CustomShape 6">
            <a:extLst>
              <a:ext uri="{FF2B5EF4-FFF2-40B4-BE49-F238E27FC236}">
                <a16:creationId xmlns:a16="http://schemas.microsoft.com/office/drawing/2014/main" id="{4EA65EC3-D903-4223-A1C9-868CE253E319}"/>
              </a:ext>
            </a:extLst>
          </p:cNvPr>
          <p:cNvSpPr/>
          <p:nvPr/>
        </p:nvSpPr>
        <p:spPr>
          <a:xfrm>
            <a:off x="2475720" y="3219840"/>
            <a:ext cx="2860200" cy="324000"/>
          </a:xfrm>
          <a:prstGeom prst="rect">
            <a:avLst/>
          </a:prstGeom>
          <a:noFill/>
          <a:ln w="3816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" name="CustomShape 7">
            <a:extLst>
              <a:ext uri="{FF2B5EF4-FFF2-40B4-BE49-F238E27FC236}">
                <a16:creationId xmlns:a16="http://schemas.microsoft.com/office/drawing/2014/main" id="{2E9C80DB-EB9A-4785-BC37-D9426445ABB1}"/>
              </a:ext>
            </a:extLst>
          </p:cNvPr>
          <p:cNvSpPr/>
          <p:nvPr/>
        </p:nvSpPr>
        <p:spPr>
          <a:xfrm>
            <a:off x="1541160" y="3182040"/>
            <a:ext cx="78804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strike="noStrike" spc="-1">
                <a:solidFill>
                  <a:srgbClr val="0070C0"/>
                </a:solidFill>
                <a:latin typeface="Segoe UI"/>
              </a:rPr>
              <a:t>*.prj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8623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64FEF-995D-4E40-94AE-8526F8DC8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 Menu – Trace the Execution Flow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23BA6D-4216-4E14-BE04-A052DE4844B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" t="2308" r="82310" b="58394"/>
          <a:stretch/>
        </p:blipFill>
        <p:spPr>
          <a:xfrm>
            <a:off x="5653571" y="1316229"/>
            <a:ext cx="2303467" cy="3219685"/>
          </a:xfrm>
          <a:prstGeom prst="rect">
            <a:avLst/>
          </a:prstGeom>
        </p:spPr>
      </p:pic>
      <p:sp>
        <p:nvSpPr>
          <p:cNvPr id="6" name="CustomShape 2">
            <a:extLst>
              <a:ext uri="{FF2B5EF4-FFF2-40B4-BE49-F238E27FC236}">
                <a16:creationId xmlns:a16="http://schemas.microsoft.com/office/drawing/2014/main" id="{C21B2EF0-DAE6-4A32-AE77-9C8E8638D88D}"/>
              </a:ext>
            </a:extLst>
          </p:cNvPr>
          <p:cNvSpPr/>
          <p:nvPr/>
        </p:nvSpPr>
        <p:spPr>
          <a:xfrm>
            <a:off x="5653571" y="3510939"/>
            <a:ext cx="2303468" cy="774615"/>
          </a:xfrm>
          <a:prstGeom prst="rect">
            <a:avLst/>
          </a:prstGeom>
          <a:noFill/>
          <a:ln w="3816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" name="CustomShape 3">
            <a:extLst>
              <a:ext uri="{FF2B5EF4-FFF2-40B4-BE49-F238E27FC236}">
                <a16:creationId xmlns:a16="http://schemas.microsoft.com/office/drawing/2014/main" id="{17631613-4605-44DB-8A8B-D38CA159FF11}"/>
              </a:ext>
            </a:extLst>
          </p:cNvPr>
          <p:cNvSpPr/>
          <p:nvPr/>
        </p:nvSpPr>
        <p:spPr>
          <a:xfrm>
            <a:off x="5653571" y="2173737"/>
            <a:ext cx="2303468" cy="774614"/>
          </a:xfrm>
          <a:prstGeom prst="rect">
            <a:avLst/>
          </a:prstGeom>
          <a:noFill/>
          <a:ln w="3816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BAC102-5887-4D07-BCD7-0B7C882B23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12" t="5000" b="54872"/>
          <a:stretch/>
        </p:blipFill>
        <p:spPr>
          <a:xfrm>
            <a:off x="838200" y="1316229"/>
            <a:ext cx="4270131" cy="38114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5E5FF9-0402-4E19-87C4-5B1D1BAB25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0" t="74769" r="38846" b="5769"/>
          <a:stretch/>
        </p:blipFill>
        <p:spPr>
          <a:xfrm>
            <a:off x="5653571" y="4848142"/>
            <a:ext cx="4712677" cy="133466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6A972B3-5F34-4D90-8F98-92608837A80D}"/>
              </a:ext>
            </a:extLst>
          </p:cNvPr>
          <p:cNvCxnSpPr>
            <a:cxnSpLocks/>
          </p:cNvCxnSpPr>
          <p:nvPr/>
        </p:nvCxnSpPr>
        <p:spPr>
          <a:xfrm>
            <a:off x="2576146" y="3692769"/>
            <a:ext cx="3288323" cy="3049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4C11571-C0A4-489A-A8FB-FAE6ACC647C8}"/>
              </a:ext>
            </a:extLst>
          </p:cNvPr>
          <p:cNvCxnSpPr>
            <a:cxnSpLocks/>
          </p:cNvCxnSpPr>
          <p:nvPr/>
        </p:nvCxnSpPr>
        <p:spPr>
          <a:xfrm flipV="1">
            <a:off x="2576146" y="4183775"/>
            <a:ext cx="3272086" cy="3521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F314C1D-38BB-4E4B-A754-F4F3633D6C2A}"/>
              </a:ext>
            </a:extLst>
          </p:cNvPr>
          <p:cNvCxnSpPr>
            <a:cxnSpLocks/>
          </p:cNvCxnSpPr>
          <p:nvPr/>
        </p:nvCxnSpPr>
        <p:spPr>
          <a:xfrm flipV="1">
            <a:off x="2576145" y="3612403"/>
            <a:ext cx="3288324" cy="484812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26ED0E2-198B-4E82-95F2-F63265419CC1}"/>
              </a:ext>
            </a:extLst>
          </p:cNvPr>
          <p:cNvCxnSpPr>
            <a:cxnSpLocks/>
          </p:cNvCxnSpPr>
          <p:nvPr/>
        </p:nvCxnSpPr>
        <p:spPr>
          <a:xfrm flipV="1">
            <a:off x="2576145" y="3825443"/>
            <a:ext cx="3326306" cy="1134193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BDF0AD57-FBFE-47A2-B560-CA5BA214FE2D}"/>
              </a:ext>
            </a:extLst>
          </p:cNvPr>
          <p:cNvCxnSpPr>
            <a:cxnSpLocks/>
          </p:cNvCxnSpPr>
          <p:nvPr/>
        </p:nvCxnSpPr>
        <p:spPr>
          <a:xfrm>
            <a:off x="914400" y="3692769"/>
            <a:ext cx="4879965" cy="1747145"/>
          </a:xfrm>
          <a:prstGeom prst="bentConnector3">
            <a:avLst>
              <a:gd name="adj1" fmla="val -5493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6ABFF08A-E237-45DF-81B9-95A75244D93A}"/>
              </a:ext>
            </a:extLst>
          </p:cNvPr>
          <p:cNvCxnSpPr>
            <a:cxnSpLocks/>
          </p:cNvCxnSpPr>
          <p:nvPr/>
        </p:nvCxnSpPr>
        <p:spPr>
          <a:xfrm>
            <a:off x="914399" y="4097215"/>
            <a:ext cx="4879614" cy="1231207"/>
          </a:xfrm>
          <a:prstGeom prst="bentConnector3">
            <a:avLst>
              <a:gd name="adj1" fmla="val -1468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A4CDF91B-3AE6-443C-A813-7F00297CD138}"/>
              </a:ext>
            </a:extLst>
          </p:cNvPr>
          <p:cNvCxnSpPr>
            <a:cxnSpLocks/>
          </p:cNvCxnSpPr>
          <p:nvPr/>
        </p:nvCxnSpPr>
        <p:spPr>
          <a:xfrm>
            <a:off x="914398" y="4535914"/>
            <a:ext cx="4879615" cy="1175772"/>
          </a:xfrm>
          <a:prstGeom prst="bentConnector3">
            <a:avLst>
              <a:gd name="adj1" fmla="val -874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022C04DF-E71A-4AE1-8586-5D73DB352C84}"/>
              </a:ext>
            </a:extLst>
          </p:cNvPr>
          <p:cNvCxnSpPr>
            <a:cxnSpLocks/>
          </p:cNvCxnSpPr>
          <p:nvPr/>
        </p:nvCxnSpPr>
        <p:spPr>
          <a:xfrm>
            <a:off x="914397" y="4959634"/>
            <a:ext cx="4897082" cy="619148"/>
          </a:xfrm>
          <a:prstGeom prst="bentConnector3">
            <a:avLst>
              <a:gd name="adj1" fmla="val -1732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886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5A91BCA-F279-4B10-B339-BB85BE4963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" t="2308" r="82310" b="58394"/>
          <a:stretch/>
        </p:blipFill>
        <p:spPr>
          <a:xfrm>
            <a:off x="1024117" y="1316160"/>
            <a:ext cx="3318198" cy="46380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D64FEF-995D-4E40-94AE-8526F8DC8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 Menu – Trace the Execution Flow</a:t>
            </a:r>
          </a:p>
        </p:txBody>
      </p:sp>
      <p:sp>
        <p:nvSpPr>
          <p:cNvPr id="10" name="CustomShape 2">
            <a:extLst>
              <a:ext uri="{FF2B5EF4-FFF2-40B4-BE49-F238E27FC236}">
                <a16:creationId xmlns:a16="http://schemas.microsoft.com/office/drawing/2014/main" id="{1B5E7194-ED3E-4F17-8AC0-A420AF90B6A4}"/>
              </a:ext>
            </a:extLst>
          </p:cNvPr>
          <p:cNvSpPr/>
          <p:nvPr/>
        </p:nvSpPr>
        <p:spPr>
          <a:xfrm>
            <a:off x="1024117" y="1951892"/>
            <a:ext cx="3318198" cy="544708"/>
          </a:xfrm>
          <a:prstGeom prst="rect">
            <a:avLst/>
          </a:prstGeom>
          <a:noFill/>
          <a:ln w="3816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" name="CustomShape 3">
            <a:extLst>
              <a:ext uri="{FF2B5EF4-FFF2-40B4-BE49-F238E27FC236}">
                <a16:creationId xmlns:a16="http://schemas.microsoft.com/office/drawing/2014/main" id="{1C1FF933-679F-4DBF-9BDA-0497DDB818A3}"/>
              </a:ext>
            </a:extLst>
          </p:cNvPr>
          <p:cNvSpPr/>
          <p:nvPr/>
        </p:nvSpPr>
        <p:spPr>
          <a:xfrm>
            <a:off x="1024118" y="3640015"/>
            <a:ext cx="3318198" cy="791307"/>
          </a:xfrm>
          <a:prstGeom prst="rect">
            <a:avLst/>
          </a:prstGeom>
          <a:noFill/>
          <a:ln w="3816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" name="CustomShape 4">
            <a:extLst>
              <a:ext uri="{FF2B5EF4-FFF2-40B4-BE49-F238E27FC236}">
                <a16:creationId xmlns:a16="http://schemas.microsoft.com/office/drawing/2014/main" id="{488F1A3D-18F8-4E58-8115-6E87292D4F8E}"/>
              </a:ext>
            </a:extLst>
          </p:cNvPr>
          <p:cNvSpPr/>
          <p:nvPr/>
        </p:nvSpPr>
        <p:spPr>
          <a:xfrm>
            <a:off x="1024116" y="5574737"/>
            <a:ext cx="3318198" cy="379454"/>
          </a:xfrm>
          <a:prstGeom prst="rect">
            <a:avLst/>
          </a:prstGeom>
          <a:noFill/>
          <a:ln w="3816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D1558A-AB65-43A1-ABA2-8C1B6889CC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1" t="3507" r="25432" b="24230"/>
          <a:stretch/>
        </p:blipFill>
        <p:spPr>
          <a:xfrm>
            <a:off x="4819837" y="1316160"/>
            <a:ext cx="6348046" cy="495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42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64FEF-995D-4E40-94AE-8526F8DC8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Window Menu – Monitor the Changes during Debugging</a:t>
            </a:r>
          </a:p>
        </p:txBody>
      </p:sp>
      <p:sp>
        <p:nvSpPr>
          <p:cNvPr id="13" name="TextShape 2">
            <a:extLst>
              <a:ext uri="{FF2B5EF4-FFF2-40B4-BE49-F238E27FC236}">
                <a16:creationId xmlns:a16="http://schemas.microsoft.com/office/drawing/2014/main" id="{AFE5B7FD-1D0F-4A17-B474-EB364F14ECE5}"/>
              </a:ext>
            </a:extLst>
          </p:cNvPr>
          <p:cNvSpPr txBox="1"/>
          <p:nvPr/>
        </p:nvSpPr>
        <p:spPr>
          <a:xfrm>
            <a:off x="838080" y="1398600"/>
            <a:ext cx="6506640" cy="487548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Individual windows can be easily invoked to access </a:t>
            </a:r>
            <a:r>
              <a:rPr lang="en-US" sz="2800" b="1" strike="noStrike" spc="-1" dirty="0">
                <a:solidFill>
                  <a:srgbClr val="0070C0"/>
                </a:solidFill>
                <a:latin typeface="Segoe UI"/>
              </a:rPr>
              <a:t>I/O registers</a:t>
            </a: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, </a:t>
            </a:r>
            <a:r>
              <a:rPr lang="en-US" sz="2800" b="1" strike="noStrike" spc="-1" dirty="0">
                <a:solidFill>
                  <a:srgbClr val="0070C0"/>
                </a:solidFill>
                <a:latin typeface="Segoe UI"/>
              </a:rPr>
              <a:t>PCI register</a:t>
            </a: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 space, read/write </a:t>
            </a:r>
            <a:r>
              <a:rPr lang="en-US" sz="2800" b="1" strike="noStrike" spc="-1" dirty="0">
                <a:solidFill>
                  <a:srgbClr val="0070C0"/>
                </a:solidFill>
                <a:latin typeface="Segoe UI"/>
              </a:rPr>
              <a:t>Memory region</a:t>
            </a: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, show </a:t>
            </a:r>
            <a:r>
              <a:rPr lang="en-US" sz="2800" b="1" strike="noStrike" spc="-1" dirty="0">
                <a:solidFill>
                  <a:srgbClr val="0070C0"/>
                </a:solidFill>
                <a:latin typeface="Segoe UI"/>
              </a:rPr>
              <a:t>CPU registers</a:t>
            </a: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, manipulate </a:t>
            </a:r>
            <a:r>
              <a:rPr lang="en-US" sz="2800" b="1" strike="noStrike" spc="-1" dirty="0">
                <a:solidFill>
                  <a:srgbClr val="0070C0"/>
                </a:solidFill>
                <a:latin typeface="Segoe UI"/>
              </a:rPr>
              <a:t>HW/SW breakpoints</a:t>
            </a: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, dump </a:t>
            </a:r>
            <a:r>
              <a:rPr lang="en-US" sz="2800" b="1" strike="noStrike" spc="-1" dirty="0">
                <a:solidFill>
                  <a:srgbClr val="0070C0"/>
                </a:solidFill>
                <a:latin typeface="Segoe UI"/>
              </a:rPr>
              <a:t>POST Code</a:t>
            </a: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, etc.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00B15A-0943-4F83-9E12-43939072F1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2436" r="76274" b="51026"/>
          <a:stretch/>
        </p:blipFill>
        <p:spPr>
          <a:xfrm>
            <a:off x="7344720" y="1316229"/>
            <a:ext cx="3030203" cy="488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4450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8DAD7FD-2459-4340-A64A-8FADB48E90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2436" r="76274" b="51026"/>
          <a:stretch/>
        </p:blipFill>
        <p:spPr>
          <a:xfrm>
            <a:off x="1131157" y="1316160"/>
            <a:ext cx="3030203" cy="48887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06254C-4342-4C9F-9346-FF6F0232AE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1" t="3507" r="25432" b="24230"/>
          <a:stretch/>
        </p:blipFill>
        <p:spPr>
          <a:xfrm>
            <a:off x="4819837" y="1316160"/>
            <a:ext cx="6348046" cy="49557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D64FEF-995D-4E40-94AE-8526F8DC8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Source Code Window</a:t>
            </a: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5AF8ED0F-3518-4EA9-8B35-6CA347F6C61D}"/>
              </a:ext>
            </a:extLst>
          </p:cNvPr>
          <p:cNvSpPr/>
          <p:nvPr/>
        </p:nvSpPr>
        <p:spPr>
          <a:xfrm>
            <a:off x="1131158" y="3596054"/>
            <a:ext cx="2948474" cy="246184"/>
          </a:xfrm>
          <a:prstGeom prst="rect">
            <a:avLst/>
          </a:prstGeom>
          <a:noFill/>
          <a:ln w="3816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6C68A2-7F3A-45A8-B397-E1632B03AA9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43" t="43974" r="38358" b="11923"/>
          <a:stretch/>
        </p:blipFill>
        <p:spPr>
          <a:xfrm>
            <a:off x="9574823" y="3499339"/>
            <a:ext cx="2136531" cy="3024553"/>
          </a:xfrm>
          <a:prstGeom prst="rect">
            <a:avLst/>
          </a:prstGeom>
        </p:spPr>
      </p:pic>
      <p:sp>
        <p:nvSpPr>
          <p:cNvPr id="11" name="CustomShape 2">
            <a:extLst>
              <a:ext uri="{FF2B5EF4-FFF2-40B4-BE49-F238E27FC236}">
                <a16:creationId xmlns:a16="http://schemas.microsoft.com/office/drawing/2014/main" id="{4CA3B05E-4640-46EF-B0FE-98488F07F6F9}"/>
              </a:ext>
            </a:extLst>
          </p:cNvPr>
          <p:cNvSpPr/>
          <p:nvPr/>
        </p:nvSpPr>
        <p:spPr>
          <a:xfrm>
            <a:off x="9586605" y="3719146"/>
            <a:ext cx="2124749" cy="184639"/>
          </a:xfrm>
          <a:prstGeom prst="rect">
            <a:avLst/>
          </a:prstGeom>
          <a:noFill/>
          <a:ln w="3816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1305478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64FEF-995D-4E40-94AE-8526F8DC8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DisAsm</a:t>
            </a:r>
            <a:r>
              <a:rPr lang="en-US" dirty="0"/>
              <a:t> Window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A0B7FC-77C7-40E4-850B-B1CD44E7DC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2436" r="76274" b="51026"/>
          <a:stretch/>
        </p:blipFill>
        <p:spPr>
          <a:xfrm>
            <a:off x="1131157" y="1316160"/>
            <a:ext cx="3030203" cy="4888729"/>
          </a:xfrm>
          <a:prstGeom prst="rect">
            <a:avLst/>
          </a:prstGeom>
        </p:spPr>
      </p:pic>
      <p:sp>
        <p:nvSpPr>
          <p:cNvPr id="8" name="CustomShape 2">
            <a:extLst>
              <a:ext uri="{FF2B5EF4-FFF2-40B4-BE49-F238E27FC236}">
                <a16:creationId xmlns:a16="http://schemas.microsoft.com/office/drawing/2014/main" id="{00335B14-FAC9-402D-9ABD-484EB7D70C7B}"/>
              </a:ext>
            </a:extLst>
          </p:cNvPr>
          <p:cNvSpPr/>
          <p:nvPr/>
        </p:nvSpPr>
        <p:spPr>
          <a:xfrm>
            <a:off x="1131158" y="3833445"/>
            <a:ext cx="2948474" cy="246184"/>
          </a:xfrm>
          <a:prstGeom prst="rect">
            <a:avLst/>
          </a:prstGeom>
          <a:noFill/>
          <a:ln w="3816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615E73-5D6A-4797-8945-BE7B3A4BFCA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05" t="4355" r="-602" b="24359"/>
          <a:stretch/>
        </p:blipFill>
        <p:spPr>
          <a:xfrm>
            <a:off x="5785337" y="1230717"/>
            <a:ext cx="4352193" cy="488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20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64FEF-995D-4E40-94AE-8526F8DC8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CPU Registers Window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C88296-654F-4C00-BAF9-7F3E62F0C9B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4" r="62861" b="51026"/>
          <a:stretch/>
        </p:blipFill>
        <p:spPr>
          <a:xfrm>
            <a:off x="4686299" y="1316160"/>
            <a:ext cx="5864469" cy="39286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B22724-6E8D-4E84-8CF2-7CF05CC017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2436" r="76274" b="51026"/>
          <a:stretch/>
        </p:blipFill>
        <p:spPr>
          <a:xfrm>
            <a:off x="1131157" y="1316160"/>
            <a:ext cx="3030203" cy="4888729"/>
          </a:xfrm>
          <a:prstGeom prst="rect">
            <a:avLst/>
          </a:prstGeom>
        </p:spPr>
      </p:pic>
      <p:sp>
        <p:nvSpPr>
          <p:cNvPr id="11" name="CustomShape 2">
            <a:extLst>
              <a:ext uri="{FF2B5EF4-FFF2-40B4-BE49-F238E27FC236}">
                <a16:creationId xmlns:a16="http://schemas.microsoft.com/office/drawing/2014/main" id="{821E2CC1-23CA-4110-AD92-4AA00640E676}"/>
              </a:ext>
            </a:extLst>
          </p:cNvPr>
          <p:cNvSpPr/>
          <p:nvPr/>
        </p:nvSpPr>
        <p:spPr>
          <a:xfrm>
            <a:off x="1131157" y="2066191"/>
            <a:ext cx="2948474" cy="246184"/>
          </a:xfrm>
          <a:prstGeom prst="rect">
            <a:avLst/>
          </a:prstGeom>
          <a:noFill/>
          <a:ln w="3816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3E8BE57E-D3B3-46B0-9635-C88EC06D356E}"/>
              </a:ext>
            </a:extLst>
          </p:cNvPr>
          <p:cNvSpPr/>
          <p:nvPr/>
        </p:nvSpPr>
        <p:spPr>
          <a:xfrm>
            <a:off x="8273561" y="3314700"/>
            <a:ext cx="2293445" cy="211958"/>
          </a:xfrm>
          <a:prstGeom prst="rect">
            <a:avLst/>
          </a:prstGeom>
          <a:noFill/>
          <a:ln w="3816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285722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64FEF-995D-4E40-94AE-8526F8DC8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Variable Windows – </a:t>
            </a:r>
            <a:r>
              <a:rPr lang="en-US" dirty="0" err="1"/>
              <a:t>LocalVar</a:t>
            </a:r>
            <a:r>
              <a:rPr lang="en-US" dirty="0"/>
              <a:t>, </a:t>
            </a:r>
            <a:r>
              <a:rPr lang="en-US" dirty="0" err="1"/>
              <a:t>GlobalVar</a:t>
            </a:r>
            <a:r>
              <a:rPr lang="en-US" dirty="0"/>
              <a:t> &amp; Watch Window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B7D6E4-9236-4F69-9456-472A133059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2436" r="76274" b="51026"/>
          <a:stretch/>
        </p:blipFill>
        <p:spPr>
          <a:xfrm>
            <a:off x="1131157" y="1316160"/>
            <a:ext cx="3030203" cy="4888729"/>
          </a:xfrm>
          <a:prstGeom prst="rect">
            <a:avLst/>
          </a:prstGeom>
        </p:spPr>
      </p:pic>
      <p:sp>
        <p:nvSpPr>
          <p:cNvPr id="9" name="CustomShape 2">
            <a:extLst>
              <a:ext uri="{FF2B5EF4-FFF2-40B4-BE49-F238E27FC236}">
                <a16:creationId xmlns:a16="http://schemas.microsoft.com/office/drawing/2014/main" id="{2BBD96A4-125D-4AE9-BDCB-F550C971EB68}"/>
              </a:ext>
            </a:extLst>
          </p:cNvPr>
          <p:cNvSpPr/>
          <p:nvPr/>
        </p:nvSpPr>
        <p:spPr>
          <a:xfrm>
            <a:off x="1131157" y="4070837"/>
            <a:ext cx="2948474" cy="703385"/>
          </a:xfrm>
          <a:prstGeom prst="rect">
            <a:avLst/>
          </a:prstGeom>
          <a:noFill/>
          <a:ln w="3816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6DF79D-98B9-4671-AAE4-56A9A13DB9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02" t="4873" b="6154"/>
          <a:stretch/>
        </p:blipFill>
        <p:spPr>
          <a:xfrm>
            <a:off x="5152292" y="709629"/>
            <a:ext cx="5035062" cy="610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162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64FEF-995D-4E40-94AE-8526F8DC8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Variable Windows – </a:t>
            </a:r>
            <a:r>
              <a:rPr lang="en-US" dirty="0" err="1"/>
              <a:t>LocalVar</a:t>
            </a:r>
            <a:r>
              <a:rPr lang="en-US" dirty="0"/>
              <a:t>, </a:t>
            </a:r>
            <a:r>
              <a:rPr lang="en-US" dirty="0" err="1"/>
              <a:t>GlobalVar</a:t>
            </a:r>
            <a:r>
              <a:rPr lang="en-US" dirty="0"/>
              <a:t> &amp; Watch Window</a:t>
            </a:r>
          </a:p>
        </p:txBody>
      </p:sp>
      <p:sp>
        <p:nvSpPr>
          <p:cNvPr id="26" name="TextShape 2">
            <a:extLst>
              <a:ext uri="{FF2B5EF4-FFF2-40B4-BE49-F238E27FC236}">
                <a16:creationId xmlns:a16="http://schemas.microsoft.com/office/drawing/2014/main" id="{934FCE38-EF4F-4D98-AB9A-DB5BF3D2748C}"/>
              </a:ext>
            </a:extLst>
          </p:cNvPr>
          <p:cNvSpPr txBox="1"/>
          <p:nvPr/>
        </p:nvSpPr>
        <p:spPr>
          <a:xfrm>
            <a:off x="4590720" y="3206160"/>
            <a:ext cx="5955120" cy="30672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3F3F3F"/>
                </a:solidFill>
                <a:latin typeface="Segoe UI"/>
              </a:rPr>
              <a:t>The Watch window supports drag and drop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3F3F3F"/>
                </a:solidFill>
                <a:latin typeface="Segoe UI"/>
              </a:rPr>
              <a:t>You can drag a variable from </a:t>
            </a:r>
            <a:r>
              <a:rPr lang="en-US" sz="2800" b="1" strike="noStrike" spc="-1">
                <a:solidFill>
                  <a:srgbClr val="3F3F3F"/>
                </a:solidFill>
                <a:latin typeface="Segoe UI"/>
              </a:rPr>
              <a:t>LocalVar</a:t>
            </a:r>
            <a:r>
              <a:rPr lang="en-US" sz="2800" b="0" strike="noStrike" spc="-1">
                <a:solidFill>
                  <a:srgbClr val="3F3F3F"/>
                </a:solidFill>
                <a:latin typeface="Segoe UI"/>
              </a:rPr>
              <a:t>, </a:t>
            </a:r>
            <a:r>
              <a:rPr lang="en-US" sz="2800" b="1" strike="noStrike" spc="-1">
                <a:solidFill>
                  <a:srgbClr val="3F3F3F"/>
                </a:solidFill>
                <a:latin typeface="Segoe UI"/>
              </a:rPr>
              <a:t>GlobalVar</a:t>
            </a:r>
            <a:r>
              <a:rPr lang="en-US" sz="2800" b="0" strike="noStrike" spc="-1">
                <a:solidFill>
                  <a:srgbClr val="3F3F3F"/>
                </a:solidFill>
                <a:latin typeface="Segoe UI"/>
              </a:rPr>
              <a:t> or </a:t>
            </a:r>
            <a:r>
              <a:rPr lang="en-US" sz="2800" b="1" strike="noStrike" spc="-1">
                <a:solidFill>
                  <a:srgbClr val="3F3F3F"/>
                </a:solidFill>
                <a:latin typeface="Segoe UI"/>
              </a:rPr>
              <a:t>Source</a:t>
            </a:r>
            <a:r>
              <a:rPr lang="en-US" sz="2800" b="0" strike="noStrike" spc="-1">
                <a:solidFill>
                  <a:srgbClr val="3F3F3F"/>
                </a:solidFill>
                <a:latin typeface="Segoe UI"/>
              </a:rPr>
              <a:t> window and drop it in the Watch window.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4CDC73-DECD-46E4-B1D3-E753420346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2436" r="76274" b="51026"/>
          <a:stretch/>
        </p:blipFill>
        <p:spPr>
          <a:xfrm>
            <a:off x="1131157" y="1316160"/>
            <a:ext cx="3030203" cy="4888729"/>
          </a:xfrm>
          <a:prstGeom prst="rect">
            <a:avLst/>
          </a:prstGeom>
        </p:spPr>
      </p:pic>
      <p:sp>
        <p:nvSpPr>
          <p:cNvPr id="11" name="CustomShape 2">
            <a:extLst>
              <a:ext uri="{FF2B5EF4-FFF2-40B4-BE49-F238E27FC236}">
                <a16:creationId xmlns:a16="http://schemas.microsoft.com/office/drawing/2014/main" id="{FB098DBE-1F69-41E5-9D79-735B5D78B022}"/>
              </a:ext>
            </a:extLst>
          </p:cNvPr>
          <p:cNvSpPr/>
          <p:nvPr/>
        </p:nvSpPr>
        <p:spPr>
          <a:xfrm>
            <a:off x="1131157" y="4070837"/>
            <a:ext cx="2948474" cy="703385"/>
          </a:xfrm>
          <a:prstGeom prst="rect">
            <a:avLst/>
          </a:prstGeom>
          <a:noFill/>
          <a:ln w="3816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EB0B19-610D-46D8-997F-EC0A670BE38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62" t="7347" b="64094"/>
          <a:stretch/>
        </p:blipFill>
        <p:spPr>
          <a:xfrm>
            <a:off x="4856711" y="1316160"/>
            <a:ext cx="4991100" cy="190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18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44F342-104A-4E39-9B17-F9FA771D8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8505" y="1240635"/>
            <a:ext cx="3714750" cy="37052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D64FEF-995D-4E40-94AE-8526F8DC8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Table Agent Window</a:t>
            </a:r>
          </a:p>
        </p:txBody>
      </p:sp>
      <p:sp>
        <p:nvSpPr>
          <p:cNvPr id="24" name="Line 3">
            <a:extLst>
              <a:ext uri="{FF2B5EF4-FFF2-40B4-BE49-F238E27FC236}">
                <a16:creationId xmlns:a16="http://schemas.microsoft.com/office/drawing/2014/main" id="{1628A4ED-59B7-418E-B20B-F97EF4CE7075}"/>
              </a:ext>
            </a:extLst>
          </p:cNvPr>
          <p:cNvSpPr/>
          <p:nvPr/>
        </p:nvSpPr>
        <p:spPr>
          <a:xfrm flipV="1">
            <a:off x="8110800" y="1302120"/>
            <a:ext cx="657720" cy="608400"/>
          </a:xfrm>
          <a:prstGeom prst="line">
            <a:avLst/>
          </a:prstGeom>
          <a:ln w="38160">
            <a:solidFill>
              <a:srgbClr val="FF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Line 5">
            <a:extLst>
              <a:ext uri="{FF2B5EF4-FFF2-40B4-BE49-F238E27FC236}">
                <a16:creationId xmlns:a16="http://schemas.microsoft.com/office/drawing/2014/main" id="{CB55EAA1-A526-49DE-8EDE-FC912F14C33B}"/>
              </a:ext>
            </a:extLst>
          </p:cNvPr>
          <p:cNvSpPr/>
          <p:nvPr/>
        </p:nvSpPr>
        <p:spPr>
          <a:xfrm>
            <a:off x="8110800" y="2280600"/>
            <a:ext cx="731160" cy="1458360"/>
          </a:xfrm>
          <a:prstGeom prst="line">
            <a:avLst/>
          </a:prstGeom>
          <a:ln w="38160">
            <a:solidFill>
              <a:srgbClr val="FF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868F143-CA10-4D9D-9AD7-18546B8126E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2436" r="76274" b="51026"/>
          <a:stretch/>
        </p:blipFill>
        <p:spPr>
          <a:xfrm>
            <a:off x="1131157" y="1316160"/>
            <a:ext cx="3030203" cy="4888729"/>
          </a:xfrm>
          <a:prstGeom prst="rect">
            <a:avLst/>
          </a:prstGeom>
        </p:spPr>
      </p:pic>
      <p:sp>
        <p:nvSpPr>
          <p:cNvPr id="17" name="CustomShape 2">
            <a:extLst>
              <a:ext uri="{FF2B5EF4-FFF2-40B4-BE49-F238E27FC236}">
                <a16:creationId xmlns:a16="http://schemas.microsoft.com/office/drawing/2014/main" id="{72B1ABCB-797B-4A79-A214-44486A40BA95}"/>
              </a:ext>
            </a:extLst>
          </p:cNvPr>
          <p:cNvSpPr/>
          <p:nvPr/>
        </p:nvSpPr>
        <p:spPr>
          <a:xfrm>
            <a:off x="1131157" y="3325681"/>
            <a:ext cx="2948474" cy="239399"/>
          </a:xfrm>
          <a:prstGeom prst="rect">
            <a:avLst/>
          </a:prstGeom>
          <a:noFill/>
          <a:ln w="3816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0B7A61-B725-4411-AD39-5B04D51D1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0400" y="214546"/>
            <a:ext cx="1845138" cy="29354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B77FBC-88DA-412B-BC16-34CC0C5B57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4250" y="3674810"/>
            <a:ext cx="3486150" cy="3162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C99312-621A-4190-91BD-7CC8083629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1895" y="3477905"/>
            <a:ext cx="1768568" cy="3052455"/>
          </a:xfrm>
          <a:prstGeom prst="rect">
            <a:avLst/>
          </a:prstGeom>
        </p:spPr>
      </p:pic>
      <p:sp>
        <p:nvSpPr>
          <p:cNvPr id="34" name="Line 6">
            <a:extLst>
              <a:ext uri="{FF2B5EF4-FFF2-40B4-BE49-F238E27FC236}">
                <a16:creationId xmlns:a16="http://schemas.microsoft.com/office/drawing/2014/main" id="{95415581-8ED7-46A2-8E85-AB4B8D5053CB}"/>
              </a:ext>
            </a:extLst>
          </p:cNvPr>
          <p:cNvSpPr/>
          <p:nvPr/>
        </p:nvSpPr>
        <p:spPr>
          <a:xfrm>
            <a:off x="8032320" y="2650680"/>
            <a:ext cx="360" cy="1088280"/>
          </a:xfrm>
          <a:prstGeom prst="line">
            <a:avLst/>
          </a:prstGeom>
          <a:ln w="38160">
            <a:solidFill>
              <a:srgbClr val="FF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292665-4C16-497D-947C-BE5EB65C42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6259" y="4581458"/>
            <a:ext cx="2926496" cy="1473452"/>
          </a:xfrm>
          <a:prstGeom prst="rect">
            <a:avLst/>
          </a:prstGeom>
        </p:spPr>
      </p:pic>
      <p:sp>
        <p:nvSpPr>
          <p:cNvPr id="32" name="Line 4">
            <a:extLst>
              <a:ext uri="{FF2B5EF4-FFF2-40B4-BE49-F238E27FC236}">
                <a16:creationId xmlns:a16="http://schemas.microsoft.com/office/drawing/2014/main" id="{513154B7-8096-46D2-B48E-6BCC1699E6DE}"/>
              </a:ext>
            </a:extLst>
          </p:cNvPr>
          <p:cNvSpPr/>
          <p:nvPr/>
        </p:nvSpPr>
        <p:spPr>
          <a:xfrm flipH="1">
            <a:off x="4463640" y="3080520"/>
            <a:ext cx="2979000" cy="1481040"/>
          </a:xfrm>
          <a:prstGeom prst="line">
            <a:avLst/>
          </a:prstGeom>
          <a:ln w="38160">
            <a:solidFill>
              <a:srgbClr val="FF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3835591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62AF642-7CEE-4D9B-8DDD-CA482AB08C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0" t="74769" r="38846" b="5769"/>
          <a:stretch/>
        </p:blipFill>
        <p:spPr>
          <a:xfrm>
            <a:off x="4327063" y="1309931"/>
            <a:ext cx="6442109" cy="18244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D64FEF-995D-4E40-94AE-8526F8DC8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Breakpoint Window</a:t>
            </a:r>
          </a:p>
        </p:txBody>
      </p:sp>
      <p:pic>
        <p:nvPicPr>
          <p:cNvPr id="18" name="圖片 16">
            <a:extLst>
              <a:ext uri="{FF2B5EF4-FFF2-40B4-BE49-F238E27FC236}">
                <a16:creationId xmlns:a16="http://schemas.microsoft.com/office/drawing/2014/main" id="{DA7D14FF-1645-428A-82A1-6E4DA72DDFBC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434213" y="1051624"/>
            <a:ext cx="2409840" cy="1590480"/>
          </a:xfrm>
          <a:prstGeom prst="rect">
            <a:avLst/>
          </a:prstGeom>
          <a:ln>
            <a:noFill/>
          </a:ln>
        </p:spPr>
      </p:pic>
      <p:sp>
        <p:nvSpPr>
          <p:cNvPr id="27" name="CustomShape 3">
            <a:extLst>
              <a:ext uri="{FF2B5EF4-FFF2-40B4-BE49-F238E27FC236}">
                <a16:creationId xmlns:a16="http://schemas.microsoft.com/office/drawing/2014/main" id="{9644A800-3B0B-43FE-A802-EDB81D8F63B4}"/>
              </a:ext>
            </a:extLst>
          </p:cNvPr>
          <p:cNvSpPr/>
          <p:nvPr/>
        </p:nvSpPr>
        <p:spPr>
          <a:xfrm>
            <a:off x="6682788" y="2400884"/>
            <a:ext cx="2474640" cy="8240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strike="noStrike" spc="-1" dirty="0">
                <a:solidFill>
                  <a:srgbClr val="FF0000"/>
                </a:solidFill>
                <a:latin typeface="Segoe UI"/>
              </a:rPr>
              <a:t>Tip:</a:t>
            </a:r>
            <a:endParaRPr lang="en-US" sz="16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600" b="1" strike="noStrike" spc="-1" dirty="0">
                <a:solidFill>
                  <a:srgbClr val="FF0000"/>
                </a:solidFill>
                <a:latin typeface="Segoe UI"/>
              </a:rPr>
              <a:t> Press Space bar to pause BIOS running</a:t>
            </a:r>
            <a:endParaRPr lang="en-US" sz="1600" b="0" strike="noStrike" spc="-1" dirty="0">
              <a:latin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BF20A9-718D-47D0-99F0-ADFAF5BD832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2436" r="76274" b="51026"/>
          <a:stretch/>
        </p:blipFill>
        <p:spPr>
          <a:xfrm>
            <a:off x="1131157" y="1316160"/>
            <a:ext cx="3030203" cy="4888729"/>
          </a:xfrm>
          <a:prstGeom prst="rect">
            <a:avLst/>
          </a:prstGeom>
        </p:spPr>
      </p:pic>
      <p:sp>
        <p:nvSpPr>
          <p:cNvPr id="11" name="CustomShape 2">
            <a:extLst>
              <a:ext uri="{FF2B5EF4-FFF2-40B4-BE49-F238E27FC236}">
                <a16:creationId xmlns:a16="http://schemas.microsoft.com/office/drawing/2014/main" id="{AB388AD1-843F-40BF-9A47-1031C50CB0DB}"/>
              </a:ext>
            </a:extLst>
          </p:cNvPr>
          <p:cNvSpPr/>
          <p:nvPr/>
        </p:nvSpPr>
        <p:spPr>
          <a:xfrm>
            <a:off x="1131157" y="2842103"/>
            <a:ext cx="2948474" cy="239399"/>
          </a:xfrm>
          <a:prstGeom prst="rect">
            <a:avLst/>
          </a:prstGeom>
          <a:noFill/>
          <a:ln w="3816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5595BA-2B7B-4B4E-B437-B4C0542DF6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6000" y="3527407"/>
            <a:ext cx="3474108" cy="19150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B1AF39-0B05-4881-8D00-30AE1D3929E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48456" b="32084"/>
          <a:stretch/>
        </p:blipFill>
        <p:spPr>
          <a:xfrm>
            <a:off x="8330712" y="3347280"/>
            <a:ext cx="1736547" cy="20861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C7B49A-C589-4F6D-B447-73A1F3C8E5E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1015" t="23872"/>
          <a:stretch/>
        </p:blipFill>
        <p:spPr>
          <a:xfrm>
            <a:off x="9706589" y="4052456"/>
            <a:ext cx="2010308" cy="236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094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A423C6-8B83-4736-874A-5678F6EB7B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 t="2561" r="83125" b="79231"/>
          <a:stretch/>
        </p:blipFill>
        <p:spPr>
          <a:xfrm>
            <a:off x="1947599" y="2302560"/>
            <a:ext cx="3408481" cy="29516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D64FEF-995D-4E40-94AE-8526F8DC8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Tool Menu – Misc. Functions</a:t>
            </a:r>
          </a:p>
        </p:txBody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6F7B92B0-410A-453A-9A84-B0D0C2F4BFCD}"/>
              </a:ext>
            </a:extLst>
          </p:cNvPr>
          <p:cNvSpPr/>
          <p:nvPr/>
        </p:nvSpPr>
        <p:spPr>
          <a:xfrm>
            <a:off x="1947600" y="2670480"/>
            <a:ext cx="3238200" cy="456840"/>
          </a:xfrm>
          <a:prstGeom prst="rect">
            <a:avLst/>
          </a:prstGeom>
          <a:noFill/>
          <a:ln w="3816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7ACAF2-0744-43D6-A1DF-DADB7AA61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35106"/>
            <a:ext cx="2867025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94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64FEF-995D-4E40-94AE-8526F8DC8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Tool Menu – Misc. Functions</a:t>
            </a:r>
          </a:p>
        </p:txBody>
      </p:sp>
      <p:pic>
        <p:nvPicPr>
          <p:cNvPr id="6" name="圖片 6">
            <a:extLst>
              <a:ext uri="{FF2B5EF4-FFF2-40B4-BE49-F238E27FC236}">
                <a16:creationId xmlns:a16="http://schemas.microsoft.com/office/drawing/2014/main" id="{85A09B81-1493-4CBF-83CC-0D27BFBE0FBF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6095880" y="1316160"/>
            <a:ext cx="4445280" cy="4666680"/>
          </a:xfrm>
          <a:prstGeom prst="rect">
            <a:avLst/>
          </a:prstGeom>
          <a:ln>
            <a:noFill/>
          </a:ln>
        </p:spPr>
      </p:pic>
      <p:pic>
        <p:nvPicPr>
          <p:cNvPr id="7" name="圖片 7">
            <a:extLst>
              <a:ext uri="{FF2B5EF4-FFF2-40B4-BE49-F238E27FC236}">
                <a16:creationId xmlns:a16="http://schemas.microsoft.com/office/drawing/2014/main" id="{74B71C39-2D90-461F-971D-E4C313D9491C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2187000" y="2173680"/>
            <a:ext cx="3238200" cy="2951640"/>
          </a:xfrm>
          <a:prstGeom prst="rect">
            <a:avLst/>
          </a:prstGeom>
          <a:ln>
            <a:noFill/>
          </a:ln>
        </p:spPr>
      </p:pic>
      <p:sp>
        <p:nvSpPr>
          <p:cNvPr id="8" name="CustomShape 2">
            <a:extLst>
              <a:ext uri="{FF2B5EF4-FFF2-40B4-BE49-F238E27FC236}">
                <a16:creationId xmlns:a16="http://schemas.microsoft.com/office/drawing/2014/main" id="{7345B8E8-6F9C-4DA0-A785-CCB64A6ABAE2}"/>
              </a:ext>
            </a:extLst>
          </p:cNvPr>
          <p:cNvSpPr/>
          <p:nvPr/>
        </p:nvSpPr>
        <p:spPr>
          <a:xfrm>
            <a:off x="2187000" y="3035160"/>
            <a:ext cx="3238200" cy="456840"/>
          </a:xfrm>
          <a:prstGeom prst="rect">
            <a:avLst/>
          </a:prstGeom>
          <a:noFill/>
          <a:ln w="3816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264424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A423C6-8B83-4736-874A-5678F6EB7B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 t="2561" r="83125" b="79231"/>
          <a:stretch/>
        </p:blipFill>
        <p:spPr>
          <a:xfrm>
            <a:off x="937597" y="1389020"/>
            <a:ext cx="3408481" cy="29516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D64FEF-995D-4E40-94AE-8526F8DC8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Tool Menu – Misc. Functions</a:t>
            </a:r>
          </a:p>
        </p:txBody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6F7B92B0-410A-453A-9A84-B0D0C2F4BFCD}"/>
              </a:ext>
            </a:extLst>
          </p:cNvPr>
          <p:cNvSpPr/>
          <p:nvPr/>
        </p:nvSpPr>
        <p:spPr>
          <a:xfrm>
            <a:off x="937597" y="2972160"/>
            <a:ext cx="3238200" cy="456840"/>
          </a:xfrm>
          <a:prstGeom prst="rect">
            <a:avLst/>
          </a:prstGeom>
          <a:noFill/>
          <a:ln w="3816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F28CA3-4311-482F-B751-3F5C9EBFC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2113" y="3632297"/>
            <a:ext cx="8615602" cy="275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170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A423C6-8B83-4736-874A-5678F6EB7B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 t="2561" r="83125" b="79231"/>
          <a:stretch/>
        </p:blipFill>
        <p:spPr>
          <a:xfrm>
            <a:off x="937597" y="1389020"/>
            <a:ext cx="3408481" cy="29516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D64FEF-995D-4E40-94AE-8526F8DC8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Tool Menu – Misc. Functions</a:t>
            </a:r>
          </a:p>
        </p:txBody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6F7B92B0-410A-453A-9A84-B0D0C2F4BFCD}"/>
              </a:ext>
            </a:extLst>
          </p:cNvPr>
          <p:cNvSpPr/>
          <p:nvPr/>
        </p:nvSpPr>
        <p:spPr>
          <a:xfrm>
            <a:off x="937597" y="3860183"/>
            <a:ext cx="3238200" cy="456840"/>
          </a:xfrm>
          <a:prstGeom prst="rect">
            <a:avLst/>
          </a:prstGeom>
          <a:noFill/>
          <a:ln w="3816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DCF66F-F8E9-4934-A0E7-DD71B0A41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348" y="1389020"/>
            <a:ext cx="3445740" cy="490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450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90A6-A1C6-4034-B8DF-BB0CBB7F3119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Troubleshooting</a:t>
            </a:r>
          </a:p>
        </p:txBody>
      </p:sp>
    </p:spTree>
    <p:extLst>
      <p:ext uri="{BB962C8B-B14F-4D97-AF65-F5344CB8AC3E}">
        <p14:creationId xmlns:p14="http://schemas.microsoft.com/office/powerpoint/2010/main" val="32930525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Shape 1">
            <a:extLst>
              <a:ext uri="{FF2B5EF4-FFF2-40B4-BE49-F238E27FC236}">
                <a16:creationId xmlns:a16="http://schemas.microsoft.com/office/drawing/2014/main" id="{A75DF919-CD79-4034-A559-AB2C3A321B19}"/>
              </a:ext>
            </a:extLst>
          </p:cNvPr>
          <p:cNvSpPr txBox="1"/>
          <p:nvPr/>
        </p:nvSpPr>
        <p:spPr>
          <a:xfrm>
            <a:off x="838080" y="240480"/>
            <a:ext cx="10515240" cy="10753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Segoe UI"/>
              </a:rPr>
              <a:t>POST Code of DDT Debug Engine</a:t>
            </a:r>
            <a:endParaRPr lang="en-US" sz="4000" b="0" strike="noStrike" spc="-1">
              <a:solidFill>
                <a:srgbClr val="3F3F3F"/>
              </a:solidFill>
              <a:latin typeface="Segoe UI"/>
            </a:endParaRPr>
          </a:p>
        </p:txBody>
      </p:sp>
      <p:sp>
        <p:nvSpPr>
          <p:cNvPr id="9" name="TextShape 2">
            <a:extLst>
              <a:ext uri="{FF2B5EF4-FFF2-40B4-BE49-F238E27FC236}">
                <a16:creationId xmlns:a16="http://schemas.microsoft.com/office/drawing/2014/main" id="{9AC3311C-6CA8-46A8-A4B8-825B3C530F65}"/>
              </a:ext>
            </a:extLst>
          </p:cNvPr>
          <p:cNvSpPr txBox="1"/>
          <p:nvPr/>
        </p:nvSpPr>
        <p:spPr>
          <a:xfrm>
            <a:off x="838080" y="1398600"/>
            <a:ext cx="11006280" cy="487548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FF0000"/>
                </a:solidFill>
                <a:latin typeface="Segoe UI"/>
              </a:rPr>
              <a:t>D0</a:t>
            </a:r>
            <a:r>
              <a:rPr lang="en-US" sz="2800" b="0" strike="noStrike" spc="-1">
                <a:solidFill>
                  <a:srgbClr val="3F3F3F"/>
                </a:solidFill>
                <a:latin typeface="Segoe UI"/>
              </a:rPr>
              <a:t>: Waiting for USB debug cable insert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FF0000"/>
                </a:solidFill>
                <a:latin typeface="Segoe UI"/>
              </a:rPr>
              <a:t>D1</a:t>
            </a:r>
            <a:r>
              <a:rPr lang="en-US" sz="2800" b="0" strike="noStrike" spc="-1">
                <a:solidFill>
                  <a:srgbClr val="3F3F3F"/>
                </a:solidFill>
                <a:latin typeface="Segoe UI"/>
              </a:rPr>
              <a:t>: Ready for connect. This is the signal to indicate that everything ready.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FF0000"/>
                </a:solidFill>
                <a:latin typeface="Segoe UI"/>
              </a:rPr>
              <a:t>D2</a:t>
            </a:r>
            <a:r>
              <a:rPr lang="en-US" sz="2800" b="0" strike="noStrike" spc="-1">
                <a:solidFill>
                  <a:srgbClr val="3F3F3F"/>
                </a:solidFill>
                <a:latin typeface="Segoe UI"/>
              </a:rPr>
              <a:t>: USB 2.0 (EHCI controller) not found.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FF0000"/>
                </a:solidFill>
                <a:latin typeface="Segoe UI"/>
              </a:rPr>
              <a:t>D3</a:t>
            </a:r>
            <a:r>
              <a:rPr lang="en-US" sz="2800" b="0" strike="noStrike" spc="-1">
                <a:solidFill>
                  <a:srgbClr val="3F3F3F"/>
                </a:solidFill>
                <a:latin typeface="Segoe UI"/>
              </a:rPr>
              <a:t>: Low speed device in USB port 0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FF0000"/>
                </a:solidFill>
                <a:latin typeface="Segoe UI"/>
              </a:rPr>
              <a:t>D4 – D8</a:t>
            </a:r>
            <a:r>
              <a:rPr lang="en-US" sz="2800" b="0" strike="noStrike" spc="-1">
                <a:solidFill>
                  <a:srgbClr val="3F3F3F"/>
                </a:solidFill>
                <a:latin typeface="Segoe UI"/>
              </a:rPr>
              <a:t>: USB debug cable initialization error(May indicate the debug cable’s firmware crashed)</a:t>
            </a:r>
            <a:br/>
            <a:r>
              <a:rPr lang="en-US" sz="2800" b="0" strike="noStrike" spc="-1">
                <a:solidFill>
                  <a:srgbClr val="3F3F3F"/>
                </a:solidFill>
                <a:latin typeface="Segoe U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950147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Shape 1">
            <a:extLst>
              <a:ext uri="{FF2B5EF4-FFF2-40B4-BE49-F238E27FC236}">
                <a16:creationId xmlns:a16="http://schemas.microsoft.com/office/drawing/2014/main" id="{A75DF919-CD79-4034-A559-AB2C3A321B19}"/>
              </a:ext>
            </a:extLst>
          </p:cNvPr>
          <p:cNvSpPr txBox="1"/>
          <p:nvPr/>
        </p:nvSpPr>
        <p:spPr>
          <a:xfrm>
            <a:off x="838080" y="240480"/>
            <a:ext cx="10515240" cy="10753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strike="noStrike" spc="-1" dirty="0">
                <a:solidFill>
                  <a:srgbClr val="000000"/>
                </a:solidFill>
                <a:latin typeface="Segoe UI"/>
              </a:rPr>
              <a:t>Local variable is not traceable</a:t>
            </a:r>
            <a:endParaRPr lang="en-US" sz="4000" b="0" strike="noStrike" spc="-1" dirty="0">
              <a:solidFill>
                <a:srgbClr val="3F3F3F"/>
              </a:solidFill>
              <a:latin typeface="Segoe UI"/>
            </a:endParaRPr>
          </a:p>
        </p:txBody>
      </p:sp>
      <p:sp>
        <p:nvSpPr>
          <p:cNvPr id="9" name="TextShape 2">
            <a:extLst>
              <a:ext uri="{FF2B5EF4-FFF2-40B4-BE49-F238E27FC236}">
                <a16:creationId xmlns:a16="http://schemas.microsoft.com/office/drawing/2014/main" id="{9AC3311C-6CA8-46A8-A4B8-825B3C530F65}"/>
              </a:ext>
            </a:extLst>
          </p:cNvPr>
          <p:cNvSpPr txBox="1"/>
          <p:nvPr/>
        </p:nvSpPr>
        <p:spPr>
          <a:xfrm>
            <a:off x="838080" y="1398600"/>
            <a:ext cx="11006280" cy="487548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Solution: Turn off compiler optimization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</a:rPr>
              <a:t>Locally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In </a:t>
            </a:r>
            <a:r>
              <a:rPr lang="en-US" sz="2400" b="1" strike="noStrike" spc="-1" dirty="0">
                <a:solidFill>
                  <a:srgbClr val="3F3F3F"/>
                </a:solidFill>
                <a:latin typeface="Segoe UI"/>
              </a:rPr>
              <a:t>[</a:t>
            </a:r>
            <a:r>
              <a:rPr lang="en-US" sz="2400" b="1" strike="noStrike" spc="-1" dirty="0" err="1">
                <a:solidFill>
                  <a:srgbClr val="3F3F3F"/>
                </a:solidFill>
                <a:latin typeface="Segoe UI"/>
              </a:rPr>
              <a:t>BuildOptions</a:t>
            </a:r>
            <a:r>
              <a:rPr lang="en-US" sz="2400" b="1" strike="noStrike" spc="-1" dirty="0">
                <a:solidFill>
                  <a:srgbClr val="3F3F3F"/>
                </a:solidFill>
                <a:latin typeface="Segoe UI"/>
              </a:rPr>
              <a:t>]</a:t>
            </a: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 section of </a:t>
            </a:r>
            <a:r>
              <a:rPr lang="en-US" sz="2400" b="1" strike="noStrike" spc="-1" dirty="0">
                <a:solidFill>
                  <a:srgbClr val="3F3F3F"/>
                </a:solidFill>
                <a:latin typeface="Segoe UI"/>
              </a:rPr>
              <a:t>.inf</a:t>
            </a: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 file</a:t>
            </a: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200" b="0" strike="noStrike" spc="-1" dirty="0">
                <a:solidFill>
                  <a:srgbClr val="3F3F3F"/>
                </a:solidFill>
                <a:latin typeface="Segoe UI"/>
              </a:rPr>
              <a:t>Adds "*_*_*_CC_FLAGS = </a:t>
            </a:r>
            <a:r>
              <a:rPr lang="en-US" sz="2200" b="1" strike="noStrike" spc="-1" dirty="0">
                <a:solidFill>
                  <a:srgbClr val="FF0000"/>
                </a:solidFill>
                <a:latin typeface="Segoe UI"/>
              </a:rPr>
              <a:t>/Od</a:t>
            </a:r>
            <a:r>
              <a:rPr lang="en-US" sz="2200" b="0" strike="noStrike" spc="-1" dirty="0">
                <a:solidFill>
                  <a:srgbClr val="3F3F3F"/>
                </a:solidFill>
                <a:latin typeface="Segoe UI"/>
              </a:rPr>
              <a:t>“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In </a:t>
            </a:r>
            <a:r>
              <a:rPr lang="en-US" sz="2400" b="1" strike="noStrike" spc="-1" dirty="0">
                <a:solidFill>
                  <a:srgbClr val="3F3F3F"/>
                </a:solidFill>
                <a:latin typeface="Segoe UI"/>
              </a:rPr>
              <a:t>[Component]</a:t>
            </a: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 section of </a:t>
            </a:r>
            <a:r>
              <a:rPr lang="en-US" sz="2400" b="1" strike="noStrike" spc="-1" dirty="0" err="1">
                <a:solidFill>
                  <a:srgbClr val="3F3F3F"/>
                </a:solidFill>
                <a:latin typeface="Segoe UI"/>
              </a:rPr>
              <a:t>Project.dsc</a:t>
            </a:r>
            <a:r>
              <a:rPr lang="en-US" sz="2400" b="0" strike="noStrike" spc="-1" dirty="0">
                <a:solidFill>
                  <a:srgbClr val="3F3F3F"/>
                </a:solidFill>
                <a:latin typeface="Segoe UI"/>
              </a:rPr>
              <a:t> file</a:t>
            </a: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200" b="0" strike="noStrike" spc="-1" dirty="0">
                <a:solidFill>
                  <a:srgbClr val="3F3F3F"/>
                </a:solidFill>
                <a:latin typeface="Segoe UI"/>
              </a:rPr>
              <a:t>Use </a:t>
            </a:r>
            <a:r>
              <a:rPr lang="en-US" sz="2200" b="1" strike="noStrike" spc="-1" dirty="0">
                <a:solidFill>
                  <a:srgbClr val="3F3F3F"/>
                </a:solidFill>
                <a:latin typeface="Segoe UI"/>
              </a:rPr>
              <a:t>&lt;</a:t>
            </a:r>
            <a:r>
              <a:rPr lang="en-US" sz="2200" b="1" strike="noStrike" spc="-1" dirty="0" err="1">
                <a:solidFill>
                  <a:srgbClr val="3F3F3F"/>
                </a:solidFill>
                <a:latin typeface="Segoe UI"/>
              </a:rPr>
              <a:t>BuildOptions</a:t>
            </a:r>
            <a:r>
              <a:rPr lang="en-US" sz="2200" b="1" strike="noStrike" spc="-1" dirty="0">
                <a:solidFill>
                  <a:srgbClr val="3F3F3F"/>
                </a:solidFill>
                <a:latin typeface="Segoe UI"/>
              </a:rPr>
              <a:t>&gt;</a:t>
            </a:r>
            <a:r>
              <a:rPr lang="en-US" sz="2200" b="0" strike="noStrike" spc="-1" dirty="0">
                <a:solidFill>
                  <a:srgbClr val="3F3F3F"/>
                </a:solidFill>
                <a:latin typeface="Segoe UI"/>
              </a:rPr>
              <a:t> to add "*_*_*_CC_FLAGS = </a:t>
            </a:r>
            <a:r>
              <a:rPr lang="en-US" sz="2200" b="1" strike="noStrike" spc="-1" dirty="0">
                <a:solidFill>
                  <a:srgbClr val="FF0000"/>
                </a:solidFill>
                <a:latin typeface="Segoe UI"/>
              </a:rPr>
              <a:t>/Od</a:t>
            </a:r>
            <a:r>
              <a:rPr lang="en-US" sz="2200" b="0" strike="noStrike" spc="-1" dirty="0">
                <a:solidFill>
                  <a:srgbClr val="3F3F3F"/>
                </a:solidFill>
                <a:latin typeface="Segoe UI"/>
              </a:rPr>
              <a:t>“</a:t>
            </a: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200" b="0" strike="noStrike" spc="-1" dirty="0">
                <a:solidFill>
                  <a:srgbClr val="3F3F3F"/>
                </a:solidFill>
                <a:latin typeface="Segoe UI"/>
              </a:rPr>
              <a:t>Ex:</a:t>
            </a:r>
          </a:p>
          <a:p>
            <a:pPr marL="1371600">
              <a:lnSpc>
                <a:spcPct val="90000"/>
              </a:lnSpc>
              <a:spcBef>
                <a:spcPts val="499"/>
              </a:spcBef>
            </a:pPr>
            <a:r>
              <a:rPr lang="en-US" sz="2000" b="0" strike="noStrike" spc="-1" dirty="0">
                <a:solidFill>
                  <a:srgbClr val="3F3F3F"/>
                </a:solidFill>
                <a:latin typeface="Segoe UI"/>
              </a:rPr>
              <a:t> </a:t>
            </a:r>
            <a:r>
              <a:rPr lang="en-US" sz="2000" b="0" strike="noStrike" spc="-1" dirty="0" err="1">
                <a:solidFill>
                  <a:srgbClr val="3F3F3F"/>
                </a:solidFill>
                <a:latin typeface="Segoe UI"/>
              </a:rPr>
              <a:t>MdeModulePkg</a:t>
            </a:r>
            <a:r>
              <a:rPr lang="en-US" sz="2000" b="0" strike="noStrike" spc="-1" dirty="0">
                <a:solidFill>
                  <a:srgbClr val="3F3F3F"/>
                </a:solidFill>
                <a:latin typeface="Segoe UI"/>
              </a:rPr>
              <a:t>/Core/Pei/PeiMain.inf {</a:t>
            </a:r>
          </a:p>
          <a:p>
            <a:pPr marL="1371600">
              <a:lnSpc>
                <a:spcPct val="90000"/>
              </a:lnSpc>
              <a:spcBef>
                <a:spcPts val="499"/>
              </a:spcBef>
            </a:pPr>
            <a:r>
              <a:rPr lang="en-US" sz="2000" b="0" strike="noStrike" spc="-1" dirty="0">
                <a:solidFill>
                  <a:srgbClr val="3F3F3F"/>
                </a:solidFill>
                <a:latin typeface="Segoe UI"/>
              </a:rPr>
              <a:t>    &lt;</a:t>
            </a:r>
            <a:r>
              <a:rPr lang="en-US" sz="2000" b="0" strike="noStrike" spc="-1" dirty="0" err="1">
                <a:solidFill>
                  <a:srgbClr val="3F3F3F"/>
                </a:solidFill>
                <a:latin typeface="Segoe UI"/>
              </a:rPr>
              <a:t>BuildOptions</a:t>
            </a:r>
            <a:r>
              <a:rPr lang="en-US" sz="2000" b="0" strike="noStrike" spc="-1" dirty="0">
                <a:solidFill>
                  <a:srgbClr val="3F3F3F"/>
                </a:solidFill>
                <a:latin typeface="Segoe UI"/>
              </a:rPr>
              <a:t>&gt;</a:t>
            </a:r>
          </a:p>
          <a:p>
            <a:pPr marL="1371600">
              <a:lnSpc>
                <a:spcPct val="90000"/>
              </a:lnSpc>
              <a:spcBef>
                <a:spcPts val="499"/>
              </a:spcBef>
            </a:pPr>
            <a:r>
              <a:rPr lang="en-US" sz="2000" b="0" strike="noStrike" spc="-1" dirty="0">
                <a:solidFill>
                  <a:srgbClr val="3F3F3F"/>
                </a:solidFill>
                <a:latin typeface="Segoe UI"/>
              </a:rPr>
              <a:t>      *_*_*_CC_FLAGS = /Od</a:t>
            </a:r>
          </a:p>
          <a:p>
            <a:pPr marL="1371600">
              <a:lnSpc>
                <a:spcPct val="90000"/>
              </a:lnSpc>
              <a:spcBef>
                <a:spcPts val="499"/>
              </a:spcBef>
            </a:pPr>
            <a:r>
              <a:rPr lang="en-US" sz="2000" b="0" strike="noStrike" spc="-1" dirty="0">
                <a:solidFill>
                  <a:srgbClr val="3F3F3F"/>
                </a:solidFill>
                <a:latin typeface="Segoe UI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2492076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For more information, contact:</a:t>
            </a:r>
          </a:p>
          <a:p>
            <a:r>
              <a:rPr lang="en-US" dirty="0">
                <a:solidFill>
                  <a:schemeClr val="tx1"/>
                </a:solidFill>
              </a:rPr>
              <a:t>employee@insyde.com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90A6-A1C6-4034-B8DF-BB0CBB7F3119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771654"/>
      </p:ext>
    </p:extLst>
  </p:cSld>
  <p:clrMapOvr>
    <a:masterClrMapping/>
  </p:clrMapOvr>
</p:sld>
</file>

<file path=ppt/theme/theme1.xml><?xml version="1.0" encoding="utf-8"?>
<a:theme xmlns:a="http://schemas.openxmlformats.org/drawingml/2006/main" name="2018 Theme">
  <a:themeElements>
    <a:clrScheme name="Insyde 2018 New Logo Theme">
      <a:dk1>
        <a:srgbClr val="3F3F3F"/>
      </a:dk1>
      <a:lt1>
        <a:srgbClr val="FFFFFF"/>
      </a:lt1>
      <a:dk2>
        <a:srgbClr val="000000"/>
      </a:dk2>
      <a:lt2>
        <a:srgbClr val="E7E6E6"/>
      </a:lt2>
      <a:accent1>
        <a:srgbClr val="0178BB"/>
      </a:accent1>
      <a:accent2>
        <a:srgbClr val="EE6F31"/>
      </a:accent2>
      <a:accent3>
        <a:srgbClr val="478A2B"/>
      </a:accent3>
      <a:accent4>
        <a:srgbClr val="A5A5A5"/>
      </a:accent4>
      <a:accent5>
        <a:srgbClr val="7030A0"/>
      </a:accent5>
      <a:accent6>
        <a:srgbClr val="8A0000"/>
      </a:accent6>
      <a:hlink>
        <a:srgbClr val="3F3F3F"/>
      </a:hlink>
      <a:folHlink>
        <a:srgbClr val="ED7D31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 Theme" id="{8EC55A69-5122-477E-9734-D7798E9079A3}" vid="{B8CB949F-261E-411A-B31D-FC720E3CD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 Theme</Template>
  <TotalTime>7245</TotalTime>
  <Words>1196</Words>
  <Application>Microsoft Office PowerPoint</Application>
  <PresentationFormat>Widescreen</PresentationFormat>
  <Paragraphs>264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Segoe UI</vt:lpstr>
      <vt:lpstr>Times New Roman</vt:lpstr>
      <vt:lpstr>Verdana</vt:lpstr>
      <vt:lpstr>Wingdings</vt:lpstr>
      <vt:lpstr>2018 Theme</vt:lpstr>
      <vt:lpstr>H2ODDT Diagnostic &amp; Debugging Tool</vt:lpstr>
      <vt:lpstr>Agenda</vt:lpstr>
      <vt:lpstr>Goals &amp; Target Audience</vt:lpstr>
      <vt:lpstr>Goals &amp; Target Audience</vt:lpstr>
      <vt:lpstr>Insyde H2ODDT™ Overview</vt:lpstr>
      <vt:lpstr>Insyde H2ODDT™ Overview</vt:lpstr>
      <vt:lpstr>Hardware Requirements</vt:lpstr>
      <vt:lpstr>Hardware Requirements</vt:lpstr>
      <vt:lpstr>Software Requirements</vt:lpstr>
      <vt:lpstr>H2ODDT™ PEIMs</vt:lpstr>
      <vt:lpstr>H2ODDT™ Drivers</vt:lpstr>
      <vt:lpstr>Goal of H2ODDT ™</vt:lpstr>
      <vt:lpstr>Goal of H2ODDT ™</vt:lpstr>
      <vt:lpstr>Build H2ODDT™</vt:lpstr>
      <vt:lpstr>Build H2ODDT™</vt:lpstr>
      <vt:lpstr>Build H2ODDT™</vt:lpstr>
      <vt:lpstr>Build H2ODDT™</vt:lpstr>
      <vt:lpstr>Major Features Introduction</vt:lpstr>
      <vt:lpstr>File Menu – Project Maintenance</vt:lpstr>
      <vt:lpstr>Debug Menu – Trace the Execution Flow</vt:lpstr>
      <vt:lpstr>Debug Menu – Trace the Execution Flow</vt:lpstr>
      <vt:lpstr>Window Menu – Monitor the Changes during Debugging</vt:lpstr>
      <vt:lpstr>Source Code Window</vt:lpstr>
      <vt:lpstr>DisAsm Window</vt:lpstr>
      <vt:lpstr>CPU Registers Window</vt:lpstr>
      <vt:lpstr>Variable Windows – LocalVar, GlobalVar &amp; Watch Window</vt:lpstr>
      <vt:lpstr>Variable Windows – LocalVar, GlobalVar &amp; Watch Window</vt:lpstr>
      <vt:lpstr>I/O Table Agent Window</vt:lpstr>
      <vt:lpstr>Breakpoint Window</vt:lpstr>
      <vt:lpstr>Tool Menu – Misc. Functions</vt:lpstr>
      <vt:lpstr>Tool Menu – Misc. Functions</vt:lpstr>
      <vt:lpstr>Tool Menu – Misc. Functions</vt:lpstr>
      <vt:lpstr>Tool Menu – Misc. Functions</vt:lpstr>
      <vt:lpstr>Troubleshooting</vt:lpstr>
      <vt:lpstr>PowerPoint Presentation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Slide Title</dc:title>
  <dc:creator>Alastair Jones</dc:creator>
  <cp:keywords>Restricted Confidential</cp:keywords>
  <cp:lastModifiedBy>Yuna</cp:lastModifiedBy>
  <cp:revision>169</cp:revision>
  <dcterms:created xsi:type="dcterms:W3CDTF">2018-02-02T23:50:52Z</dcterms:created>
  <dcterms:modified xsi:type="dcterms:W3CDTF">2021-03-29T03:40:39Z</dcterms:modified>
</cp:coreProperties>
</file>