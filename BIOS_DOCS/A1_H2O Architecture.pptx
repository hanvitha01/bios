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88"/>
  </p:notesMasterIdLst>
  <p:sldIdLst>
    <p:sldId id="269" r:id="rId2"/>
    <p:sldId id="364" r:id="rId3"/>
    <p:sldId id="271" r:id="rId4"/>
    <p:sldId id="274" r:id="rId5"/>
    <p:sldId id="350" r:id="rId6"/>
    <p:sldId id="373" r:id="rId7"/>
    <p:sldId id="374" r:id="rId8"/>
    <p:sldId id="375" r:id="rId9"/>
    <p:sldId id="376" r:id="rId10"/>
    <p:sldId id="377" r:id="rId11"/>
    <p:sldId id="378" r:id="rId12"/>
    <p:sldId id="379" r:id="rId13"/>
    <p:sldId id="380" r:id="rId14"/>
    <p:sldId id="365" r:id="rId15"/>
    <p:sldId id="366" r:id="rId16"/>
    <p:sldId id="381" r:id="rId17"/>
    <p:sldId id="382" r:id="rId18"/>
    <p:sldId id="367" r:id="rId19"/>
    <p:sldId id="368" r:id="rId20"/>
    <p:sldId id="383" r:id="rId21"/>
    <p:sldId id="384" r:id="rId22"/>
    <p:sldId id="385" r:id="rId23"/>
    <p:sldId id="386" r:id="rId24"/>
    <p:sldId id="387" r:id="rId25"/>
    <p:sldId id="388" r:id="rId26"/>
    <p:sldId id="389" r:id="rId27"/>
    <p:sldId id="390" r:id="rId28"/>
    <p:sldId id="391" r:id="rId29"/>
    <p:sldId id="392" r:id="rId30"/>
    <p:sldId id="393" r:id="rId31"/>
    <p:sldId id="394" r:id="rId32"/>
    <p:sldId id="395" r:id="rId33"/>
    <p:sldId id="396" r:id="rId34"/>
    <p:sldId id="397" r:id="rId35"/>
    <p:sldId id="398" r:id="rId36"/>
    <p:sldId id="399" r:id="rId37"/>
    <p:sldId id="400" r:id="rId38"/>
    <p:sldId id="401" r:id="rId39"/>
    <p:sldId id="402" r:id="rId40"/>
    <p:sldId id="403" r:id="rId41"/>
    <p:sldId id="404" r:id="rId42"/>
    <p:sldId id="405" r:id="rId43"/>
    <p:sldId id="406" r:id="rId44"/>
    <p:sldId id="407" r:id="rId45"/>
    <p:sldId id="412" r:id="rId46"/>
    <p:sldId id="409" r:id="rId47"/>
    <p:sldId id="410" r:id="rId48"/>
    <p:sldId id="413" r:id="rId49"/>
    <p:sldId id="411" r:id="rId50"/>
    <p:sldId id="414" r:id="rId51"/>
    <p:sldId id="415" r:id="rId52"/>
    <p:sldId id="416" r:id="rId53"/>
    <p:sldId id="417" r:id="rId54"/>
    <p:sldId id="421" r:id="rId55"/>
    <p:sldId id="418" r:id="rId56"/>
    <p:sldId id="419" r:id="rId57"/>
    <p:sldId id="420" r:id="rId58"/>
    <p:sldId id="422" r:id="rId59"/>
    <p:sldId id="423" r:id="rId60"/>
    <p:sldId id="424" r:id="rId61"/>
    <p:sldId id="425" r:id="rId62"/>
    <p:sldId id="426" r:id="rId63"/>
    <p:sldId id="427" r:id="rId64"/>
    <p:sldId id="428" r:id="rId65"/>
    <p:sldId id="429" r:id="rId66"/>
    <p:sldId id="430" r:id="rId67"/>
    <p:sldId id="431" r:id="rId68"/>
    <p:sldId id="432" r:id="rId69"/>
    <p:sldId id="369" r:id="rId70"/>
    <p:sldId id="370" r:id="rId71"/>
    <p:sldId id="433" r:id="rId72"/>
    <p:sldId id="434" r:id="rId73"/>
    <p:sldId id="435" r:id="rId74"/>
    <p:sldId id="436" r:id="rId75"/>
    <p:sldId id="437" r:id="rId76"/>
    <p:sldId id="371" r:id="rId77"/>
    <p:sldId id="372" r:id="rId78"/>
    <p:sldId id="438" r:id="rId79"/>
    <p:sldId id="439" r:id="rId80"/>
    <p:sldId id="440" r:id="rId81"/>
    <p:sldId id="441" r:id="rId82"/>
    <p:sldId id="442" r:id="rId83"/>
    <p:sldId id="443" r:id="rId84"/>
    <p:sldId id="444" r:id="rId85"/>
    <p:sldId id="445" r:id="rId86"/>
    <p:sldId id="348"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2" d="100"/>
          <a:sy n="62" d="100"/>
        </p:scale>
        <p:origin x="58"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3/9/2021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H2O Architecture</a:t>
            </a:r>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910510696"/>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lstStyle/>
          <a:p>
            <a:r>
              <a:rPr lang="en-US" b="0" dirty="0"/>
              <a:t>General Overview</a:t>
            </a:r>
          </a:p>
          <a:p>
            <a:r>
              <a:rPr lang="en-US" dirty="0"/>
              <a:t>Security (SEC)</a:t>
            </a:r>
          </a:p>
          <a:p>
            <a:r>
              <a:rPr lang="en-US" b="0" dirty="0"/>
              <a:t>Pre</a:t>
            </a:r>
            <a:r>
              <a:rPr lang="en-US" dirty="0"/>
              <a:t>-EFI Initialization (PEI)</a:t>
            </a:r>
          </a:p>
          <a:p>
            <a:r>
              <a:rPr lang="en-US" dirty="0"/>
              <a:t>Driver Execution Environment (DXE)</a:t>
            </a:r>
          </a:p>
          <a:p>
            <a:r>
              <a:rPr lang="en-US" dirty="0"/>
              <a:t>Boot Device Selection (BDS)</a:t>
            </a:r>
          </a:p>
          <a:p>
            <a:r>
              <a:rPr lang="en-US" dirty="0"/>
              <a:t>Firmware Storage</a:t>
            </a:r>
          </a:p>
          <a:p>
            <a:pPr marL="0" indent="0">
              <a:buNone/>
            </a:pPr>
            <a:endParaRPr lang="en-US" dirty="0"/>
          </a:p>
          <a:p>
            <a:endParaRPr lang="en-US" b="0" dirty="0"/>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218965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General Overview</a:t>
            </a:r>
          </a:p>
        </p:txBody>
      </p:sp>
    </p:spTree>
    <p:extLst>
      <p:ext uri="{BB962C8B-B14F-4D97-AF65-F5344CB8AC3E}">
        <p14:creationId xmlns:p14="http://schemas.microsoft.com/office/powerpoint/2010/main" val="3716676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 Overview</a:t>
            </a:r>
            <a:br>
              <a:rPr lang="en-US" dirty="0"/>
            </a:br>
            <a:r>
              <a:rPr lang="en-US" sz="3100" dirty="0"/>
              <a:t>Unified Extensible Firmware Interface (UEFI)</a:t>
            </a:r>
            <a:endParaRPr lang="en-US" dirty="0"/>
          </a:p>
        </p:txBody>
      </p:sp>
      <p:sp>
        <p:nvSpPr>
          <p:cNvPr id="3" name="Content Placeholder 2"/>
          <p:cNvSpPr>
            <a:spLocks noGrp="1"/>
          </p:cNvSpPr>
          <p:nvPr>
            <p:ph idx="1"/>
          </p:nvPr>
        </p:nvSpPr>
        <p:spPr/>
        <p:txBody>
          <a:bodyPr/>
          <a:lstStyle/>
          <a:p>
            <a:r>
              <a:rPr lang="en-US" dirty="0" err="1"/>
              <a:t>Tiano</a:t>
            </a:r>
            <a:endParaRPr lang="en-US" dirty="0"/>
          </a:p>
          <a:p>
            <a:r>
              <a:rPr lang="en-US" dirty="0"/>
              <a:t>Extensible Firmware Interface (EFI)</a:t>
            </a:r>
          </a:p>
          <a:p>
            <a:r>
              <a:rPr lang="en-US" dirty="0"/>
              <a:t>Defines a group of standard interfaces between the operating system (OS) and the </a:t>
            </a:r>
            <a:r>
              <a:rPr lang="en-US"/>
              <a:t>platform firmware.</a:t>
            </a:r>
            <a:endParaRPr lang="en-US" dirty="0"/>
          </a:p>
        </p:txBody>
      </p:sp>
    </p:spTree>
    <p:extLst>
      <p:ext uri="{BB962C8B-B14F-4D97-AF65-F5344CB8AC3E}">
        <p14:creationId xmlns:p14="http://schemas.microsoft.com/office/powerpoint/2010/main" val="2284025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 Overview</a:t>
            </a:r>
            <a:br>
              <a:rPr lang="en-US" dirty="0"/>
            </a:br>
            <a:r>
              <a:rPr lang="en-US" sz="3100" dirty="0"/>
              <a:t>Platform Initialization (PI)</a:t>
            </a:r>
            <a:endParaRPr lang="en-US" dirty="0"/>
          </a:p>
        </p:txBody>
      </p:sp>
      <p:sp>
        <p:nvSpPr>
          <p:cNvPr id="3" name="Content Placeholder 2"/>
          <p:cNvSpPr>
            <a:spLocks noGrp="1"/>
          </p:cNvSpPr>
          <p:nvPr>
            <p:ph idx="1"/>
          </p:nvPr>
        </p:nvSpPr>
        <p:spPr/>
        <p:txBody>
          <a:bodyPr/>
          <a:lstStyle/>
          <a:p>
            <a:r>
              <a:rPr lang="en-US" dirty="0"/>
              <a:t>Vol. 1: Pre-EFI Initialization Core Interface</a:t>
            </a:r>
          </a:p>
          <a:p>
            <a:r>
              <a:rPr lang="en-US" dirty="0"/>
              <a:t>Vol. 2: Driver Execution Environment Core Interface</a:t>
            </a:r>
          </a:p>
          <a:p>
            <a:r>
              <a:rPr lang="en-US" dirty="0"/>
              <a:t>Vol. 3: Shared Architectural Elements</a:t>
            </a:r>
          </a:p>
          <a:p>
            <a:r>
              <a:rPr lang="en-US" dirty="0"/>
              <a:t>Vol. 4: System Management Mode Core Interface Version</a:t>
            </a:r>
          </a:p>
          <a:p>
            <a:r>
              <a:rPr lang="en-US" dirty="0"/>
              <a:t>Vol. 5: Standards</a:t>
            </a:r>
          </a:p>
        </p:txBody>
      </p:sp>
    </p:spTree>
    <p:extLst>
      <p:ext uri="{BB962C8B-B14F-4D97-AF65-F5344CB8AC3E}">
        <p14:creationId xmlns:p14="http://schemas.microsoft.com/office/powerpoint/2010/main" val="27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1353800" cy="1075765"/>
          </a:xfrm>
        </p:spPr>
        <p:txBody>
          <a:bodyPr>
            <a:normAutofit/>
          </a:bodyPr>
          <a:lstStyle/>
          <a:p>
            <a:r>
              <a:rPr lang="en-US" dirty="0"/>
              <a:t>General Overview</a:t>
            </a:r>
            <a:br>
              <a:rPr lang="en-US" dirty="0"/>
            </a:br>
            <a:r>
              <a:rPr lang="en-US" sz="3100" dirty="0"/>
              <a:t>Difference between Legacy BIOS and UEFI Firmware</a:t>
            </a:r>
            <a:endParaRPr lang="en-US" dirty="0"/>
          </a:p>
        </p:txBody>
      </p:sp>
      <p:pic>
        <p:nvPicPr>
          <p:cNvPr id="4" name="圖片 3">
            <a:extLst>
              <a:ext uri="{FF2B5EF4-FFF2-40B4-BE49-F238E27FC236}">
                <a16:creationId xmlns:a16="http://schemas.microsoft.com/office/drawing/2014/main" id="{06187D38-721C-457A-BE71-4F5F8B04CD84}"/>
              </a:ext>
            </a:extLst>
          </p:cNvPr>
          <p:cNvPicPr>
            <a:picLocks noChangeAspect="1"/>
          </p:cNvPicPr>
          <p:nvPr/>
        </p:nvPicPr>
        <p:blipFill>
          <a:blip r:embed="rId2"/>
          <a:stretch>
            <a:fillRect/>
          </a:stretch>
        </p:blipFill>
        <p:spPr>
          <a:xfrm>
            <a:off x="2543695" y="1547812"/>
            <a:ext cx="7465175" cy="4414288"/>
          </a:xfrm>
          <a:prstGeom prst="rect">
            <a:avLst/>
          </a:prstGeom>
        </p:spPr>
      </p:pic>
    </p:spTree>
    <p:extLst>
      <p:ext uri="{BB962C8B-B14F-4D97-AF65-F5344CB8AC3E}">
        <p14:creationId xmlns:p14="http://schemas.microsoft.com/office/powerpoint/2010/main" val="4269166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1353800" cy="1075765"/>
          </a:xfrm>
        </p:spPr>
        <p:txBody>
          <a:bodyPr>
            <a:normAutofit/>
          </a:bodyPr>
          <a:lstStyle/>
          <a:p>
            <a:r>
              <a:rPr lang="en-US" dirty="0"/>
              <a:t>General Overview</a:t>
            </a:r>
            <a:br>
              <a:rPr lang="en-US" dirty="0"/>
            </a:br>
            <a:r>
              <a:rPr lang="en-US" sz="3100" dirty="0"/>
              <a:t>PI/UEFI Layering</a:t>
            </a:r>
            <a:endParaRPr lang="en-US" dirty="0"/>
          </a:p>
        </p:txBody>
      </p:sp>
      <p:sp>
        <p:nvSpPr>
          <p:cNvPr id="3" name="Content Placeholder 2">
            <a:extLst>
              <a:ext uri="{FF2B5EF4-FFF2-40B4-BE49-F238E27FC236}">
                <a16:creationId xmlns:a16="http://schemas.microsoft.com/office/drawing/2014/main" id="{0AB4963A-B048-491F-A9C1-0C501B1FFAE9}"/>
              </a:ext>
            </a:extLst>
          </p:cNvPr>
          <p:cNvSpPr>
            <a:spLocks noGrp="1"/>
          </p:cNvSpPr>
          <p:nvPr>
            <p:ph idx="1"/>
          </p:nvPr>
        </p:nvSpPr>
        <p:spPr>
          <a:xfrm>
            <a:off x="5094514" y="1398494"/>
            <a:ext cx="6259286" cy="4778469"/>
          </a:xfrm>
        </p:spPr>
        <p:txBody>
          <a:bodyPr/>
          <a:lstStyle/>
          <a:p>
            <a:r>
              <a:rPr lang="en-US" dirty="0"/>
              <a:t>UEFI Spec is about interfaces between OS, Add-in driver, and system firmware</a:t>
            </a:r>
          </a:p>
          <a:p>
            <a:r>
              <a:rPr lang="en-US" dirty="0"/>
              <a:t>PIWG Specs  relate to making  UEFI implementations</a:t>
            </a:r>
          </a:p>
          <a:p>
            <a:pPr lvl="1"/>
            <a:r>
              <a:rPr lang="en-US" dirty="0"/>
              <a:t>Promote interoperability between firmware </a:t>
            </a:r>
            <a:r>
              <a:rPr lang="en-US"/>
              <a:t>components providers.</a:t>
            </a:r>
            <a:endParaRPr lang="en-US" dirty="0"/>
          </a:p>
          <a:p>
            <a:pPr lvl="1"/>
            <a:r>
              <a:rPr lang="en-US" dirty="0"/>
              <a:t>All interfaces and services produced and consumed by firmware only.</a:t>
            </a:r>
          </a:p>
        </p:txBody>
      </p:sp>
      <p:pic>
        <p:nvPicPr>
          <p:cNvPr id="5" name="圖片 4">
            <a:extLst>
              <a:ext uri="{FF2B5EF4-FFF2-40B4-BE49-F238E27FC236}">
                <a16:creationId xmlns:a16="http://schemas.microsoft.com/office/drawing/2014/main" id="{05CBF96E-EC3F-47CA-89B3-A6872F03C161}"/>
              </a:ext>
            </a:extLst>
          </p:cNvPr>
          <p:cNvPicPr>
            <a:picLocks noChangeAspect="1"/>
          </p:cNvPicPr>
          <p:nvPr/>
        </p:nvPicPr>
        <p:blipFill rotWithShape="1">
          <a:blip r:embed="rId2"/>
          <a:srcRect t="2210"/>
          <a:stretch/>
        </p:blipFill>
        <p:spPr>
          <a:xfrm>
            <a:off x="838200" y="1500554"/>
            <a:ext cx="3819525" cy="4517565"/>
          </a:xfrm>
          <a:prstGeom prst="rect">
            <a:avLst/>
          </a:prstGeom>
        </p:spPr>
      </p:pic>
    </p:spTree>
    <p:extLst>
      <p:ext uri="{BB962C8B-B14F-4D97-AF65-F5344CB8AC3E}">
        <p14:creationId xmlns:p14="http://schemas.microsoft.com/office/powerpoint/2010/main" val="406263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1353800" cy="1075765"/>
          </a:xfrm>
        </p:spPr>
        <p:txBody>
          <a:bodyPr>
            <a:normAutofit fontScale="90000"/>
          </a:bodyPr>
          <a:lstStyle/>
          <a:p>
            <a:r>
              <a:rPr lang="en-US" dirty="0"/>
              <a:t>General Overview</a:t>
            </a:r>
            <a:br>
              <a:rPr lang="en-US" dirty="0"/>
            </a:br>
            <a:r>
              <a:rPr lang="en-US" sz="3100" dirty="0"/>
              <a:t>Platform Boot Flow: Where EFI and UEFI fit into the Platform Boot</a:t>
            </a:r>
            <a:endParaRPr lang="en-US" dirty="0"/>
          </a:p>
        </p:txBody>
      </p:sp>
      <p:sp>
        <p:nvSpPr>
          <p:cNvPr id="9" name="CustomShape 1">
            <a:extLst>
              <a:ext uri="{FF2B5EF4-FFF2-40B4-BE49-F238E27FC236}">
                <a16:creationId xmlns:a16="http://schemas.microsoft.com/office/drawing/2014/main" id="{50E7F577-4084-4533-AB1D-301C1472C375}"/>
              </a:ext>
            </a:extLst>
          </p:cNvPr>
          <p:cNvSpPr/>
          <p:nvPr/>
        </p:nvSpPr>
        <p:spPr>
          <a:xfrm>
            <a:off x="3929155" y="2592015"/>
            <a:ext cx="235800" cy="1298160"/>
          </a:xfrm>
          <a:prstGeom prst="bentConnector2">
            <a:avLst/>
          </a:prstGeom>
          <a:noFill/>
          <a:ln w="25560">
            <a:solidFill>
              <a:schemeClr val="tx1"/>
            </a:solidFill>
            <a:round/>
          </a:ln>
        </p:spPr>
        <p:style>
          <a:lnRef idx="1">
            <a:schemeClr val="accent1"/>
          </a:lnRef>
          <a:fillRef idx="0">
            <a:schemeClr val="accent1"/>
          </a:fillRef>
          <a:effectRef idx="0">
            <a:schemeClr val="accent1"/>
          </a:effectRef>
          <a:fontRef idx="minor"/>
        </p:style>
      </p:sp>
      <p:sp>
        <p:nvSpPr>
          <p:cNvPr id="10" name="Line 2">
            <a:extLst>
              <a:ext uri="{FF2B5EF4-FFF2-40B4-BE49-F238E27FC236}">
                <a16:creationId xmlns:a16="http://schemas.microsoft.com/office/drawing/2014/main" id="{DE750C4B-9180-4EAF-8F3A-E0AFC3733C7E}"/>
              </a:ext>
            </a:extLst>
          </p:cNvPr>
          <p:cNvSpPr/>
          <p:nvPr/>
        </p:nvSpPr>
        <p:spPr>
          <a:xfrm flipH="1">
            <a:off x="4362595" y="1906215"/>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11" name="CustomShape 3">
            <a:extLst>
              <a:ext uri="{FF2B5EF4-FFF2-40B4-BE49-F238E27FC236}">
                <a16:creationId xmlns:a16="http://schemas.microsoft.com/office/drawing/2014/main" id="{4657E86B-9B09-4F8A-B0EA-22A312B2CBD5}"/>
              </a:ext>
            </a:extLst>
          </p:cNvPr>
          <p:cNvSpPr/>
          <p:nvPr/>
        </p:nvSpPr>
        <p:spPr>
          <a:xfrm>
            <a:off x="3746635" y="4155855"/>
            <a:ext cx="1707480" cy="537480"/>
          </a:xfrm>
          <a:prstGeom prst="ellipse">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 Driver</a:t>
            </a:r>
            <a:br/>
            <a:r>
              <a:rPr lang="en-US" sz="1400" b="1" strike="noStrike" spc="-1">
                <a:solidFill>
                  <a:srgbClr val="FFFFFF"/>
                </a:solidFill>
                <a:latin typeface="Segoe UI"/>
                <a:ea typeface="DejaVu Sans"/>
              </a:rPr>
              <a:t>Dispatcher</a:t>
            </a:r>
            <a:endParaRPr lang="en-US" sz="1400" b="0" strike="noStrike" spc="-1">
              <a:latin typeface="Arial"/>
            </a:endParaRPr>
          </a:p>
        </p:txBody>
      </p:sp>
      <p:sp>
        <p:nvSpPr>
          <p:cNvPr id="12" name="CustomShape 5">
            <a:extLst>
              <a:ext uri="{FF2B5EF4-FFF2-40B4-BE49-F238E27FC236}">
                <a16:creationId xmlns:a16="http://schemas.microsoft.com/office/drawing/2014/main" id="{CDFE4474-82A1-4B9D-9EB9-62FD0DDC202D}"/>
              </a:ext>
            </a:extLst>
          </p:cNvPr>
          <p:cNvSpPr/>
          <p:nvPr/>
        </p:nvSpPr>
        <p:spPr>
          <a:xfrm>
            <a:off x="2203675" y="5595855"/>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Security</a:t>
            </a:r>
            <a:br/>
            <a:r>
              <a:rPr lang="en-US" sz="1200" b="1" strike="noStrike" spc="-1">
                <a:solidFill>
                  <a:srgbClr val="3F3F3F"/>
                </a:solidFill>
                <a:latin typeface="Segoe UI"/>
                <a:ea typeface="DejaVu Sans"/>
              </a:rPr>
              <a:t> (SEC)</a:t>
            </a:r>
            <a:endParaRPr lang="en-US" sz="1200" b="0" strike="noStrike" spc="-1">
              <a:latin typeface="Arial"/>
            </a:endParaRPr>
          </a:p>
        </p:txBody>
      </p:sp>
      <p:sp>
        <p:nvSpPr>
          <p:cNvPr id="13" name="CustomShape 6">
            <a:extLst>
              <a:ext uri="{FF2B5EF4-FFF2-40B4-BE49-F238E27FC236}">
                <a16:creationId xmlns:a16="http://schemas.microsoft.com/office/drawing/2014/main" id="{0379446E-9F6B-4BEF-A2C9-6A42772C3558}"/>
              </a:ext>
            </a:extLst>
          </p:cNvPr>
          <p:cNvSpPr/>
          <p:nvPr/>
        </p:nvSpPr>
        <p:spPr>
          <a:xfrm>
            <a:off x="2156155" y="6316575"/>
            <a:ext cx="99324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Power On</a:t>
            </a:r>
            <a:endParaRPr lang="en-US" sz="1400" b="0" strike="noStrike" spc="-1">
              <a:latin typeface="Arial"/>
            </a:endParaRPr>
          </a:p>
        </p:txBody>
      </p:sp>
      <p:sp>
        <p:nvSpPr>
          <p:cNvPr id="14" name="CustomShape 7">
            <a:extLst>
              <a:ext uri="{FF2B5EF4-FFF2-40B4-BE49-F238E27FC236}">
                <a16:creationId xmlns:a16="http://schemas.microsoft.com/office/drawing/2014/main" id="{0FC975A3-460A-4843-B9B0-C7706BBC76E7}"/>
              </a:ext>
            </a:extLst>
          </p:cNvPr>
          <p:cNvSpPr/>
          <p:nvPr/>
        </p:nvSpPr>
        <p:spPr>
          <a:xfrm>
            <a:off x="9336355" y="6316575"/>
            <a:ext cx="10314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Shutdown</a:t>
            </a:r>
            <a:endParaRPr lang="en-US" sz="1400" b="0" strike="noStrike" spc="-1">
              <a:latin typeface="Arial"/>
            </a:endParaRPr>
          </a:p>
        </p:txBody>
      </p:sp>
      <p:sp>
        <p:nvSpPr>
          <p:cNvPr id="15" name="CustomShape 8">
            <a:extLst>
              <a:ext uri="{FF2B5EF4-FFF2-40B4-BE49-F238E27FC236}">
                <a16:creationId xmlns:a16="http://schemas.microsoft.com/office/drawing/2014/main" id="{4C4129D4-64C9-4B56-A583-323761B4536E}"/>
              </a:ext>
            </a:extLst>
          </p:cNvPr>
          <p:cNvSpPr/>
          <p:nvPr/>
        </p:nvSpPr>
        <p:spPr>
          <a:xfrm>
            <a:off x="4001155" y="6316575"/>
            <a:ext cx="23436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[..Platform Initialization..]</a:t>
            </a:r>
            <a:endParaRPr lang="en-US" sz="1400" b="0" strike="noStrike" spc="-1">
              <a:latin typeface="Arial"/>
            </a:endParaRPr>
          </a:p>
        </p:txBody>
      </p:sp>
      <p:sp>
        <p:nvSpPr>
          <p:cNvPr id="16" name="CustomShape 9">
            <a:extLst>
              <a:ext uri="{FF2B5EF4-FFF2-40B4-BE49-F238E27FC236}">
                <a16:creationId xmlns:a16="http://schemas.microsoft.com/office/drawing/2014/main" id="{617D9346-ED48-480D-955F-6BD1501761D0}"/>
              </a:ext>
            </a:extLst>
          </p:cNvPr>
          <p:cNvSpPr/>
          <p:nvPr/>
        </p:nvSpPr>
        <p:spPr>
          <a:xfrm>
            <a:off x="7094995" y="6316575"/>
            <a:ext cx="119412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[..OS Boot..]</a:t>
            </a:r>
            <a:endParaRPr lang="en-US" sz="1400" b="0" strike="noStrike" spc="-1">
              <a:latin typeface="Arial"/>
            </a:endParaRPr>
          </a:p>
        </p:txBody>
      </p:sp>
      <p:sp>
        <p:nvSpPr>
          <p:cNvPr id="17" name="CustomShape 10">
            <a:extLst>
              <a:ext uri="{FF2B5EF4-FFF2-40B4-BE49-F238E27FC236}">
                <a16:creationId xmlns:a16="http://schemas.microsoft.com/office/drawing/2014/main" id="{F493C4C8-A6D6-400D-A3DB-057E452019BA}"/>
              </a:ext>
            </a:extLst>
          </p:cNvPr>
          <p:cNvSpPr/>
          <p:nvPr/>
        </p:nvSpPr>
        <p:spPr>
          <a:xfrm>
            <a:off x="3103675" y="6451575"/>
            <a:ext cx="89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8" name="CustomShape 11">
            <a:extLst>
              <a:ext uri="{FF2B5EF4-FFF2-40B4-BE49-F238E27FC236}">
                <a16:creationId xmlns:a16="http://schemas.microsoft.com/office/drawing/2014/main" id="{4305BAA9-CB95-45B5-BCF7-197A52F756F4}"/>
              </a:ext>
            </a:extLst>
          </p:cNvPr>
          <p:cNvSpPr/>
          <p:nvPr/>
        </p:nvSpPr>
        <p:spPr>
          <a:xfrm>
            <a:off x="6344035" y="6451575"/>
            <a:ext cx="71712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9" name="CustomShape 12">
            <a:extLst>
              <a:ext uri="{FF2B5EF4-FFF2-40B4-BE49-F238E27FC236}">
                <a16:creationId xmlns:a16="http://schemas.microsoft.com/office/drawing/2014/main" id="{770CB7FF-227B-4FF0-A1BE-32972427D0AE}"/>
              </a:ext>
            </a:extLst>
          </p:cNvPr>
          <p:cNvSpPr/>
          <p:nvPr/>
        </p:nvSpPr>
        <p:spPr>
          <a:xfrm>
            <a:off x="8323315" y="6451575"/>
            <a:ext cx="10774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20" name="CustomShape 13">
            <a:extLst>
              <a:ext uri="{FF2B5EF4-FFF2-40B4-BE49-F238E27FC236}">
                <a16:creationId xmlns:a16="http://schemas.microsoft.com/office/drawing/2014/main" id="{8CB17BDA-4FDB-468C-8CA4-AF176DB0F40E}"/>
              </a:ext>
            </a:extLst>
          </p:cNvPr>
          <p:cNvSpPr/>
          <p:nvPr/>
        </p:nvSpPr>
        <p:spPr>
          <a:xfrm>
            <a:off x="3103675" y="5595855"/>
            <a:ext cx="12567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Pre EFI</a:t>
            </a:r>
            <a:br/>
            <a:r>
              <a:rPr lang="en-US" sz="1200" b="1" strike="noStrike" spc="-1">
                <a:solidFill>
                  <a:srgbClr val="3F3F3F"/>
                </a:solidFill>
                <a:latin typeface="Segoe UI"/>
                <a:ea typeface="DejaVu Sans"/>
              </a:rPr>
              <a:t>Initialization</a:t>
            </a:r>
            <a:endParaRPr lang="en-US" sz="1200" b="0" strike="noStrike" spc="-1">
              <a:latin typeface="Arial"/>
            </a:endParaRPr>
          </a:p>
          <a:p>
            <a:pPr algn="ctr">
              <a:lnSpc>
                <a:spcPct val="100000"/>
              </a:lnSpc>
            </a:pPr>
            <a:r>
              <a:rPr lang="en-US" sz="1200" b="1" strike="noStrike" spc="-1">
                <a:solidFill>
                  <a:srgbClr val="3F3F3F"/>
                </a:solidFill>
                <a:latin typeface="Segoe UI"/>
                <a:ea typeface="DejaVu Sans"/>
              </a:rPr>
              <a:t>(PEI)</a:t>
            </a:r>
            <a:endParaRPr lang="en-US" sz="1200" b="0" strike="noStrike" spc="-1">
              <a:latin typeface="Arial"/>
            </a:endParaRPr>
          </a:p>
        </p:txBody>
      </p:sp>
      <p:sp>
        <p:nvSpPr>
          <p:cNvPr id="21" name="CustomShape 14">
            <a:extLst>
              <a:ext uri="{FF2B5EF4-FFF2-40B4-BE49-F238E27FC236}">
                <a16:creationId xmlns:a16="http://schemas.microsoft.com/office/drawing/2014/main" id="{AB4943D9-968F-47E2-A351-9723A54C22D3}"/>
              </a:ext>
            </a:extLst>
          </p:cNvPr>
          <p:cNvSpPr/>
          <p:nvPr/>
        </p:nvSpPr>
        <p:spPr>
          <a:xfrm>
            <a:off x="4362595" y="5595855"/>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Driver Execution</a:t>
            </a:r>
            <a:br/>
            <a:r>
              <a:rPr lang="en-US" sz="1200" b="1" strike="noStrike" spc="-1">
                <a:solidFill>
                  <a:srgbClr val="3F3F3F"/>
                </a:solidFill>
                <a:latin typeface="Segoe UI"/>
                <a:ea typeface="DejaVu Sans"/>
              </a:rPr>
              <a:t>Environment</a:t>
            </a:r>
            <a:br/>
            <a:r>
              <a:rPr lang="en-US" sz="1200" b="1" strike="noStrike" spc="-1">
                <a:solidFill>
                  <a:srgbClr val="3F3F3F"/>
                </a:solidFill>
                <a:latin typeface="Segoe UI"/>
                <a:ea typeface="DejaVu Sans"/>
              </a:rPr>
              <a:t>(DXE)</a:t>
            </a:r>
            <a:endParaRPr lang="en-US" sz="1200" b="0" strike="noStrike" spc="-1">
              <a:latin typeface="Arial"/>
            </a:endParaRPr>
          </a:p>
        </p:txBody>
      </p:sp>
      <p:sp>
        <p:nvSpPr>
          <p:cNvPr id="22" name="CustomShape 15">
            <a:extLst>
              <a:ext uri="{FF2B5EF4-FFF2-40B4-BE49-F238E27FC236}">
                <a16:creationId xmlns:a16="http://schemas.microsoft.com/office/drawing/2014/main" id="{5E65F531-798A-4998-A143-10F36C3B3FE6}"/>
              </a:ext>
            </a:extLst>
          </p:cNvPr>
          <p:cNvSpPr/>
          <p:nvPr/>
        </p:nvSpPr>
        <p:spPr>
          <a:xfrm>
            <a:off x="5983675" y="5595855"/>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Boot Dev</a:t>
            </a:r>
            <a:br/>
            <a:r>
              <a:rPr lang="en-US" sz="1200" b="1" strike="noStrike" spc="-1">
                <a:solidFill>
                  <a:srgbClr val="3F3F3F"/>
                </a:solidFill>
                <a:latin typeface="Segoe UI"/>
                <a:ea typeface="DejaVu Sans"/>
              </a:rPr>
              <a:t>Select</a:t>
            </a:r>
            <a:br/>
            <a:r>
              <a:rPr lang="en-US" sz="1200" b="1" strike="noStrike" spc="-1">
                <a:solidFill>
                  <a:srgbClr val="3F3F3F"/>
                </a:solidFill>
                <a:latin typeface="Segoe UI"/>
                <a:ea typeface="DejaVu Sans"/>
              </a:rPr>
              <a:t>(BDS)</a:t>
            </a:r>
            <a:endParaRPr lang="en-US" sz="1200" b="0" strike="noStrike" spc="-1">
              <a:latin typeface="Arial"/>
            </a:endParaRPr>
          </a:p>
        </p:txBody>
      </p:sp>
      <p:sp>
        <p:nvSpPr>
          <p:cNvPr id="23" name="CustomShape 16">
            <a:extLst>
              <a:ext uri="{FF2B5EF4-FFF2-40B4-BE49-F238E27FC236}">
                <a16:creationId xmlns:a16="http://schemas.microsoft.com/office/drawing/2014/main" id="{E976E00A-D70C-4B87-8137-66137ECAC082}"/>
              </a:ext>
            </a:extLst>
          </p:cNvPr>
          <p:cNvSpPr/>
          <p:nvPr/>
        </p:nvSpPr>
        <p:spPr>
          <a:xfrm>
            <a:off x="6883675" y="5595855"/>
            <a:ext cx="161712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UEFI &amp; OS</a:t>
            </a:r>
            <a:br/>
            <a:r>
              <a:rPr lang="en-US" sz="1200" b="1" strike="noStrike" spc="-1">
                <a:solidFill>
                  <a:srgbClr val="3F3F3F"/>
                </a:solidFill>
                <a:latin typeface="Segoe UI"/>
                <a:ea typeface="DejaVu Sans"/>
              </a:rPr>
              <a:t>Loader</a:t>
            </a:r>
            <a:br/>
            <a:r>
              <a:rPr lang="en-US" sz="1200" b="1" strike="noStrike" spc="-1">
                <a:solidFill>
                  <a:srgbClr val="3F3F3F"/>
                </a:solidFill>
                <a:latin typeface="Segoe UI"/>
                <a:ea typeface="DejaVu Sans"/>
              </a:rPr>
              <a:t>Handshake</a:t>
            </a:r>
            <a:endParaRPr lang="en-US" sz="1200" b="0" strike="noStrike" spc="-1">
              <a:latin typeface="Arial"/>
            </a:endParaRPr>
          </a:p>
        </p:txBody>
      </p:sp>
      <p:sp>
        <p:nvSpPr>
          <p:cNvPr id="24" name="CustomShape 17">
            <a:extLst>
              <a:ext uri="{FF2B5EF4-FFF2-40B4-BE49-F238E27FC236}">
                <a16:creationId xmlns:a16="http://schemas.microsoft.com/office/drawing/2014/main" id="{36C9CF3A-461B-41E1-9FC2-7A20E2765111}"/>
              </a:ext>
            </a:extLst>
          </p:cNvPr>
          <p:cNvSpPr/>
          <p:nvPr/>
        </p:nvSpPr>
        <p:spPr>
          <a:xfrm>
            <a:off x="8502955" y="5595855"/>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Runtime</a:t>
            </a:r>
            <a:br/>
            <a:r>
              <a:rPr lang="en-US" sz="1200" b="1" strike="noStrike" spc="-1">
                <a:solidFill>
                  <a:srgbClr val="3F3F3F"/>
                </a:solidFill>
                <a:latin typeface="Segoe UI"/>
                <a:ea typeface="DejaVu Sans"/>
              </a:rPr>
              <a:t>(RT)</a:t>
            </a:r>
            <a:endParaRPr lang="en-US" sz="1200" b="0" strike="noStrike" spc="-1">
              <a:latin typeface="Arial"/>
            </a:endParaRPr>
          </a:p>
        </p:txBody>
      </p:sp>
      <p:sp>
        <p:nvSpPr>
          <p:cNvPr id="25" name="Line 18">
            <a:extLst>
              <a:ext uri="{FF2B5EF4-FFF2-40B4-BE49-F238E27FC236}">
                <a16:creationId xmlns:a16="http://schemas.microsoft.com/office/drawing/2014/main" id="{B895D670-3CDE-4748-B347-34585E9B9696}"/>
              </a:ext>
            </a:extLst>
          </p:cNvPr>
          <p:cNvSpPr/>
          <p:nvPr/>
        </p:nvSpPr>
        <p:spPr>
          <a:xfrm flipH="1">
            <a:off x="2203675" y="1906215"/>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6" name="Line 19">
            <a:extLst>
              <a:ext uri="{FF2B5EF4-FFF2-40B4-BE49-F238E27FC236}">
                <a16:creationId xmlns:a16="http://schemas.microsoft.com/office/drawing/2014/main" id="{928F94D4-FDA6-4E94-B5D5-D854BA3E6552}"/>
              </a:ext>
            </a:extLst>
          </p:cNvPr>
          <p:cNvSpPr/>
          <p:nvPr/>
        </p:nvSpPr>
        <p:spPr>
          <a:xfrm flipH="1">
            <a:off x="3103675" y="1906215"/>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7" name="Line 20">
            <a:extLst>
              <a:ext uri="{FF2B5EF4-FFF2-40B4-BE49-F238E27FC236}">
                <a16:creationId xmlns:a16="http://schemas.microsoft.com/office/drawing/2014/main" id="{05127E97-FAC1-44BE-9673-73AE5354B6B1}"/>
              </a:ext>
            </a:extLst>
          </p:cNvPr>
          <p:cNvSpPr/>
          <p:nvPr/>
        </p:nvSpPr>
        <p:spPr>
          <a:xfrm flipH="1">
            <a:off x="5983315" y="1906215"/>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8" name="Line 21">
            <a:extLst>
              <a:ext uri="{FF2B5EF4-FFF2-40B4-BE49-F238E27FC236}">
                <a16:creationId xmlns:a16="http://schemas.microsoft.com/office/drawing/2014/main" id="{D2411AEA-9042-4636-8B84-5D937BFDB2D2}"/>
              </a:ext>
            </a:extLst>
          </p:cNvPr>
          <p:cNvSpPr/>
          <p:nvPr/>
        </p:nvSpPr>
        <p:spPr>
          <a:xfrm flipH="1">
            <a:off x="6883315" y="1906215"/>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9" name="Line 22">
            <a:extLst>
              <a:ext uri="{FF2B5EF4-FFF2-40B4-BE49-F238E27FC236}">
                <a16:creationId xmlns:a16="http://schemas.microsoft.com/office/drawing/2014/main" id="{49B8AD01-1F30-4810-B59A-530CF500D8D6}"/>
              </a:ext>
            </a:extLst>
          </p:cNvPr>
          <p:cNvSpPr/>
          <p:nvPr/>
        </p:nvSpPr>
        <p:spPr>
          <a:xfrm flipH="1">
            <a:off x="8502595" y="1906215"/>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30" name="Line 23">
            <a:extLst>
              <a:ext uri="{FF2B5EF4-FFF2-40B4-BE49-F238E27FC236}">
                <a16:creationId xmlns:a16="http://schemas.microsoft.com/office/drawing/2014/main" id="{830876D8-09E0-4EC9-9821-19E8F34ECAF0}"/>
              </a:ext>
            </a:extLst>
          </p:cNvPr>
          <p:cNvSpPr/>
          <p:nvPr/>
        </p:nvSpPr>
        <p:spPr>
          <a:xfrm flipH="1">
            <a:off x="10123675" y="1906215"/>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31" name="CustomShape 24">
            <a:extLst>
              <a:ext uri="{FF2B5EF4-FFF2-40B4-BE49-F238E27FC236}">
                <a16:creationId xmlns:a16="http://schemas.microsoft.com/office/drawing/2014/main" id="{D89503FD-A783-41BB-AF89-7EF89668DB79}"/>
              </a:ext>
            </a:extLst>
          </p:cNvPr>
          <p:cNvSpPr/>
          <p:nvPr/>
        </p:nvSpPr>
        <p:spPr>
          <a:xfrm>
            <a:off x="2274955" y="1815855"/>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Pre</a:t>
            </a:r>
            <a:br/>
            <a:r>
              <a:rPr lang="en-US" sz="1200" b="1" strike="noStrike" spc="-1">
                <a:solidFill>
                  <a:srgbClr val="FFFFFF"/>
                </a:solidFill>
                <a:latin typeface="Segoe UI"/>
                <a:ea typeface="DejaVu Sans"/>
              </a:rPr>
              <a:t>Verifier</a:t>
            </a:r>
            <a:endParaRPr lang="en-US" sz="1200" b="0" strike="noStrike" spc="-1">
              <a:latin typeface="Arial"/>
            </a:endParaRPr>
          </a:p>
        </p:txBody>
      </p:sp>
      <p:sp>
        <p:nvSpPr>
          <p:cNvPr id="32" name="CustomShape 25">
            <a:extLst>
              <a:ext uri="{FF2B5EF4-FFF2-40B4-BE49-F238E27FC236}">
                <a16:creationId xmlns:a16="http://schemas.microsoft.com/office/drawing/2014/main" id="{460EB05D-3061-470C-99FF-C4F086CB2243}"/>
              </a:ext>
            </a:extLst>
          </p:cNvPr>
          <p:cNvSpPr/>
          <p:nvPr/>
        </p:nvSpPr>
        <p:spPr>
          <a:xfrm>
            <a:off x="3913315" y="4876575"/>
            <a:ext cx="136620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Architectural</a:t>
            </a:r>
            <a:br/>
            <a:r>
              <a:rPr lang="en-US" sz="1200" b="1" strike="noStrike" spc="-1">
                <a:solidFill>
                  <a:srgbClr val="FFFFFF"/>
                </a:solidFill>
                <a:latin typeface="Segoe UI"/>
                <a:ea typeface="DejaVu Sans"/>
              </a:rPr>
              <a:t>Protocols</a:t>
            </a:r>
            <a:endParaRPr lang="en-US" sz="1200" b="0" strike="noStrike" spc="-1">
              <a:latin typeface="Arial"/>
            </a:endParaRPr>
          </a:p>
        </p:txBody>
      </p:sp>
      <p:sp>
        <p:nvSpPr>
          <p:cNvPr id="33" name="CustomShape 26">
            <a:extLst>
              <a:ext uri="{FF2B5EF4-FFF2-40B4-BE49-F238E27FC236}">
                <a16:creationId xmlns:a16="http://schemas.microsoft.com/office/drawing/2014/main" id="{D7AAD9FE-D4F4-415A-98B4-6BAE29A8C135}"/>
              </a:ext>
            </a:extLst>
          </p:cNvPr>
          <p:cNvSpPr/>
          <p:nvPr/>
        </p:nvSpPr>
        <p:spPr>
          <a:xfrm>
            <a:off x="6972595" y="4876575"/>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Boot Loader</a:t>
            </a:r>
            <a:endParaRPr lang="en-US" sz="1200" b="0" strike="noStrike" spc="-1">
              <a:latin typeface="Arial"/>
            </a:endParaRPr>
          </a:p>
        </p:txBody>
      </p:sp>
      <p:sp>
        <p:nvSpPr>
          <p:cNvPr id="34" name="CustomShape 27">
            <a:extLst>
              <a:ext uri="{FF2B5EF4-FFF2-40B4-BE49-F238E27FC236}">
                <a16:creationId xmlns:a16="http://schemas.microsoft.com/office/drawing/2014/main" id="{0079A8CD-A7EE-41ED-B121-161AF9B3345C}"/>
              </a:ext>
            </a:extLst>
          </p:cNvPr>
          <p:cNvSpPr/>
          <p:nvPr/>
        </p:nvSpPr>
        <p:spPr>
          <a:xfrm>
            <a:off x="8593315" y="4876575"/>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Environment</a:t>
            </a:r>
            <a:endParaRPr lang="en-US" sz="1200" b="0" strike="noStrike" spc="-1">
              <a:latin typeface="Arial"/>
            </a:endParaRPr>
          </a:p>
        </p:txBody>
      </p:sp>
      <p:sp>
        <p:nvSpPr>
          <p:cNvPr id="35" name="CustomShape 28">
            <a:extLst>
              <a:ext uri="{FF2B5EF4-FFF2-40B4-BE49-F238E27FC236}">
                <a16:creationId xmlns:a16="http://schemas.microsoft.com/office/drawing/2014/main" id="{51F0ABD2-95FD-49C1-8C7E-14C6DF0ED706}"/>
              </a:ext>
            </a:extLst>
          </p:cNvPr>
          <p:cNvSpPr/>
          <p:nvPr/>
        </p:nvSpPr>
        <p:spPr>
          <a:xfrm>
            <a:off x="3175315" y="2895495"/>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CPU</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6" name="CustomShape 29">
            <a:extLst>
              <a:ext uri="{FF2B5EF4-FFF2-40B4-BE49-F238E27FC236}">
                <a16:creationId xmlns:a16="http://schemas.microsoft.com/office/drawing/2014/main" id="{8F045662-6CD9-4CD7-A91D-CB69690AD392}"/>
              </a:ext>
            </a:extLst>
          </p:cNvPr>
          <p:cNvSpPr/>
          <p:nvPr/>
        </p:nvSpPr>
        <p:spPr>
          <a:xfrm>
            <a:off x="3175315" y="3436575"/>
            <a:ext cx="78984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Chipset</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7" name="CustomShape 30">
            <a:extLst>
              <a:ext uri="{FF2B5EF4-FFF2-40B4-BE49-F238E27FC236}">
                <a16:creationId xmlns:a16="http://schemas.microsoft.com/office/drawing/2014/main" id="{89DFCE89-4B38-4598-81BD-CBDB60B6A712}"/>
              </a:ext>
            </a:extLst>
          </p:cNvPr>
          <p:cNvSpPr/>
          <p:nvPr/>
        </p:nvSpPr>
        <p:spPr>
          <a:xfrm>
            <a:off x="3175315" y="3976575"/>
            <a:ext cx="789840" cy="447120"/>
          </a:xfrm>
          <a:prstGeom prst="rect">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Board</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8" name="CustomShape 31">
            <a:extLst>
              <a:ext uri="{FF2B5EF4-FFF2-40B4-BE49-F238E27FC236}">
                <a16:creationId xmlns:a16="http://schemas.microsoft.com/office/drawing/2014/main" id="{10428F14-C6D7-4211-A9F3-30F49CD7A389}"/>
              </a:ext>
            </a:extLst>
          </p:cNvPr>
          <p:cNvSpPr/>
          <p:nvPr/>
        </p:nvSpPr>
        <p:spPr>
          <a:xfrm>
            <a:off x="3175315" y="2355495"/>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PEI</a:t>
            </a:r>
            <a:br/>
            <a:r>
              <a:rPr lang="en-US" sz="1200" b="1" strike="noStrike" spc="-1">
                <a:solidFill>
                  <a:srgbClr val="FFFFFF"/>
                </a:solidFill>
                <a:latin typeface="Segoe UI"/>
                <a:ea typeface="DejaVu Sans"/>
              </a:rPr>
              <a:t>Core</a:t>
            </a:r>
            <a:endParaRPr lang="en-US" sz="1200" b="0" strike="noStrike" spc="-1">
              <a:latin typeface="Arial"/>
            </a:endParaRPr>
          </a:p>
        </p:txBody>
      </p:sp>
      <p:sp>
        <p:nvSpPr>
          <p:cNvPr id="39" name="CustomShape 32">
            <a:extLst>
              <a:ext uri="{FF2B5EF4-FFF2-40B4-BE49-F238E27FC236}">
                <a16:creationId xmlns:a16="http://schemas.microsoft.com/office/drawing/2014/main" id="{CD189250-394B-431F-995F-5954DFD69B6C}"/>
              </a:ext>
            </a:extLst>
          </p:cNvPr>
          <p:cNvSpPr/>
          <p:nvPr/>
        </p:nvSpPr>
        <p:spPr>
          <a:xfrm>
            <a:off x="8593315" y="4155855"/>
            <a:ext cx="1366200" cy="44856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OS-Present</a:t>
            </a:r>
            <a:br/>
            <a:r>
              <a:rPr lang="en-US" sz="1200" b="1" strike="noStrike" spc="-1">
                <a:solidFill>
                  <a:srgbClr val="FFFFFF"/>
                </a:solidFill>
                <a:latin typeface="Segoe UI"/>
                <a:ea typeface="DejaVu Sans"/>
              </a:rPr>
              <a:t>App</a:t>
            </a:r>
            <a:endParaRPr lang="en-US" sz="1200" b="0" strike="noStrike" spc="-1">
              <a:latin typeface="Arial"/>
            </a:endParaRPr>
          </a:p>
        </p:txBody>
      </p:sp>
      <p:sp>
        <p:nvSpPr>
          <p:cNvPr id="40" name="CustomShape 33">
            <a:extLst>
              <a:ext uri="{FF2B5EF4-FFF2-40B4-BE49-F238E27FC236}">
                <a16:creationId xmlns:a16="http://schemas.microsoft.com/office/drawing/2014/main" id="{2E774B07-6E9D-4E39-BB50-A18028DFF463}"/>
              </a:ext>
            </a:extLst>
          </p:cNvPr>
          <p:cNvSpPr/>
          <p:nvPr/>
        </p:nvSpPr>
        <p:spPr>
          <a:xfrm>
            <a:off x="6972595" y="2176215"/>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OS-Absent</a:t>
            </a:r>
            <a:br/>
            <a:r>
              <a:rPr lang="en-US" sz="1200" b="1" strike="noStrike" spc="-1">
                <a:solidFill>
                  <a:srgbClr val="3F3F3F"/>
                </a:solidFill>
                <a:latin typeface="Segoe UI"/>
                <a:ea typeface="DejaVu Sans"/>
              </a:rPr>
              <a:t>App</a:t>
            </a:r>
            <a:endParaRPr lang="en-US" sz="1200" b="0" strike="noStrike" spc="-1">
              <a:latin typeface="Arial"/>
            </a:endParaRPr>
          </a:p>
        </p:txBody>
      </p:sp>
      <p:sp>
        <p:nvSpPr>
          <p:cNvPr id="41" name="CustomShape 34">
            <a:extLst>
              <a:ext uri="{FF2B5EF4-FFF2-40B4-BE49-F238E27FC236}">
                <a16:creationId xmlns:a16="http://schemas.microsoft.com/office/drawing/2014/main" id="{2EE424E3-3FA6-41BB-A02D-E33913CB875A}"/>
              </a:ext>
            </a:extLst>
          </p:cNvPr>
          <p:cNvSpPr/>
          <p:nvPr/>
        </p:nvSpPr>
        <p:spPr>
          <a:xfrm>
            <a:off x="6972595" y="2895495"/>
            <a:ext cx="1366200" cy="44856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Environment</a:t>
            </a:r>
            <a:endParaRPr lang="en-US" sz="1200" b="0" strike="noStrike" spc="-1">
              <a:latin typeface="Arial"/>
            </a:endParaRPr>
          </a:p>
        </p:txBody>
      </p:sp>
      <p:sp>
        <p:nvSpPr>
          <p:cNvPr id="42" name="CustomShape 35">
            <a:extLst>
              <a:ext uri="{FF2B5EF4-FFF2-40B4-BE49-F238E27FC236}">
                <a16:creationId xmlns:a16="http://schemas.microsoft.com/office/drawing/2014/main" id="{1F8CD7CF-574E-4851-81EF-0970B8835C00}"/>
              </a:ext>
            </a:extLst>
          </p:cNvPr>
          <p:cNvSpPr/>
          <p:nvPr/>
        </p:nvSpPr>
        <p:spPr>
          <a:xfrm>
            <a:off x="6972595" y="3616215"/>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Boot Loader</a:t>
            </a:r>
            <a:endParaRPr lang="en-US" sz="1200" b="0" strike="noStrike" spc="-1">
              <a:latin typeface="Arial"/>
            </a:endParaRPr>
          </a:p>
        </p:txBody>
      </p:sp>
      <p:sp>
        <p:nvSpPr>
          <p:cNvPr id="43" name="CustomShape 36">
            <a:extLst>
              <a:ext uri="{FF2B5EF4-FFF2-40B4-BE49-F238E27FC236}">
                <a16:creationId xmlns:a16="http://schemas.microsoft.com/office/drawing/2014/main" id="{7ACF1C35-AE48-4954-8EB9-573BB25A2947}"/>
              </a:ext>
            </a:extLst>
          </p:cNvPr>
          <p:cNvSpPr/>
          <p:nvPr/>
        </p:nvSpPr>
        <p:spPr>
          <a:xfrm rot="16200000">
            <a:off x="7556515" y="271801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4" name="CustomShape 37">
            <a:extLst>
              <a:ext uri="{FF2B5EF4-FFF2-40B4-BE49-F238E27FC236}">
                <a16:creationId xmlns:a16="http://schemas.microsoft.com/office/drawing/2014/main" id="{1CDE2628-1E96-400B-AAC9-471C41A43BA1}"/>
              </a:ext>
            </a:extLst>
          </p:cNvPr>
          <p:cNvSpPr/>
          <p:nvPr/>
        </p:nvSpPr>
        <p:spPr>
          <a:xfrm rot="5400000">
            <a:off x="7530235" y="271585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5" name="CustomShape 38">
            <a:extLst>
              <a:ext uri="{FF2B5EF4-FFF2-40B4-BE49-F238E27FC236}">
                <a16:creationId xmlns:a16="http://schemas.microsoft.com/office/drawing/2014/main" id="{6F08BF0B-369A-47A2-B7CA-50BBF07CBE0E}"/>
              </a:ext>
            </a:extLst>
          </p:cNvPr>
          <p:cNvSpPr/>
          <p:nvPr/>
        </p:nvSpPr>
        <p:spPr>
          <a:xfrm rot="16200000">
            <a:off x="7542115" y="343873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6" name="CustomShape 39">
            <a:extLst>
              <a:ext uri="{FF2B5EF4-FFF2-40B4-BE49-F238E27FC236}">
                <a16:creationId xmlns:a16="http://schemas.microsoft.com/office/drawing/2014/main" id="{398FFA99-543E-4BA3-89F4-EB32B5374217}"/>
              </a:ext>
            </a:extLst>
          </p:cNvPr>
          <p:cNvSpPr/>
          <p:nvPr/>
        </p:nvSpPr>
        <p:spPr>
          <a:xfrm rot="5400000">
            <a:off x="7515835" y="343657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7" name="CustomShape 40">
            <a:extLst>
              <a:ext uri="{FF2B5EF4-FFF2-40B4-BE49-F238E27FC236}">
                <a16:creationId xmlns:a16="http://schemas.microsoft.com/office/drawing/2014/main" id="{13D3F257-8263-4FF8-B422-7974C54AFB18}"/>
              </a:ext>
            </a:extLst>
          </p:cNvPr>
          <p:cNvSpPr/>
          <p:nvPr/>
        </p:nvSpPr>
        <p:spPr>
          <a:xfrm rot="16200000">
            <a:off x="9169315" y="469765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8" name="CustomShape 41">
            <a:extLst>
              <a:ext uri="{FF2B5EF4-FFF2-40B4-BE49-F238E27FC236}">
                <a16:creationId xmlns:a16="http://schemas.microsoft.com/office/drawing/2014/main" id="{A694F8AC-597F-423C-B455-11E09C9162A7}"/>
              </a:ext>
            </a:extLst>
          </p:cNvPr>
          <p:cNvSpPr/>
          <p:nvPr/>
        </p:nvSpPr>
        <p:spPr>
          <a:xfrm rot="5400000">
            <a:off x="9143035" y="469549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grpSp>
        <p:nvGrpSpPr>
          <p:cNvPr id="49" name="Group 42">
            <a:extLst>
              <a:ext uri="{FF2B5EF4-FFF2-40B4-BE49-F238E27FC236}">
                <a16:creationId xmlns:a16="http://schemas.microsoft.com/office/drawing/2014/main" id="{087238FF-81C7-41CF-87E0-F178314CB6D4}"/>
              </a:ext>
            </a:extLst>
          </p:cNvPr>
          <p:cNvGrpSpPr/>
          <p:nvPr/>
        </p:nvGrpSpPr>
        <p:grpSpPr>
          <a:xfrm>
            <a:off x="4585075" y="2662215"/>
            <a:ext cx="1032840" cy="1183680"/>
            <a:chOff x="2741760" y="2400480"/>
            <a:chExt cx="1032840" cy="1183680"/>
          </a:xfrm>
        </p:grpSpPr>
        <p:sp>
          <p:nvSpPr>
            <p:cNvPr id="50" name="CustomShape 43">
              <a:extLst>
                <a:ext uri="{FF2B5EF4-FFF2-40B4-BE49-F238E27FC236}">
                  <a16:creationId xmlns:a16="http://schemas.microsoft.com/office/drawing/2014/main" id="{FA363572-B3BC-4741-82F2-8B6E86279A22}"/>
                </a:ext>
              </a:extLst>
            </p:cNvPr>
            <p:cNvSpPr/>
            <p:nvPr/>
          </p:nvSpPr>
          <p:spPr>
            <a:xfrm>
              <a:off x="2967120" y="240048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51" name="CustomShape 44">
              <a:extLst>
                <a:ext uri="{FF2B5EF4-FFF2-40B4-BE49-F238E27FC236}">
                  <a16:creationId xmlns:a16="http://schemas.microsoft.com/office/drawing/2014/main" id="{7EC2D9F9-D056-47C3-9C5D-FCAC5442B68C}"/>
                </a:ext>
              </a:extLst>
            </p:cNvPr>
            <p:cNvSpPr/>
            <p:nvPr/>
          </p:nvSpPr>
          <p:spPr>
            <a:xfrm>
              <a:off x="2917800" y="2473200"/>
              <a:ext cx="80748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2" name="CustomShape 45">
              <a:extLst>
                <a:ext uri="{FF2B5EF4-FFF2-40B4-BE49-F238E27FC236}">
                  <a16:creationId xmlns:a16="http://schemas.microsoft.com/office/drawing/2014/main" id="{9AA131CD-D897-44CF-9112-0607FC1FE278}"/>
                </a:ext>
              </a:extLst>
            </p:cNvPr>
            <p:cNvSpPr/>
            <p:nvPr/>
          </p:nvSpPr>
          <p:spPr>
            <a:xfrm>
              <a:off x="2863800" y="256392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53" name="CustomShape 46">
              <a:extLst>
                <a:ext uri="{FF2B5EF4-FFF2-40B4-BE49-F238E27FC236}">
                  <a16:creationId xmlns:a16="http://schemas.microsoft.com/office/drawing/2014/main" id="{B625B0C0-CB59-4D06-B95F-CBB00988C2F7}"/>
                </a:ext>
              </a:extLst>
            </p:cNvPr>
            <p:cNvSpPr/>
            <p:nvPr/>
          </p:nvSpPr>
          <p:spPr>
            <a:xfrm>
              <a:off x="2805120" y="2651040"/>
              <a:ext cx="80892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4" name="CustomShape 47">
              <a:extLst>
                <a:ext uri="{FF2B5EF4-FFF2-40B4-BE49-F238E27FC236}">
                  <a16:creationId xmlns:a16="http://schemas.microsoft.com/office/drawing/2014/main" id="{F9A3B2B5-0F80-4F22-B16A-BB39DB8CA063}"/>
                </a:ext>
              </a:extLst>
            </p:cNvPr>
            <p:cNvSpPr/>
            <p:nvPr/>
          </p:nvSpPr>
          <p:spPr>
            <a:xfrm>
              <a:off x="2741760" y="2741760"/>
              <a:ext cx="807480" cy="842400"/>
            </a:xfrm>
            <a:prstGeom prst="rect">
              <a:avLst/>
            </a:prstGeom>
            <a:solidFill>
              <a:srgbClr val="FFCC00"/>
            </a:solidFill>
            <a:ln w="12600">
              <a:solidFill>
                <a:schemeClr val="tx1"/>
              </a:solidFill>
              <a:miter/>
            </a:ln>
          </p:spPr>
          <p:style>
            <a:lnRef idx="0">
              <a:scrgbClr r="0" g="0" b="0"/>
            </a:lnRef>
            <a:fillRef idx="0">
              <a:scrgbClr r="0" g="0" b="0"/>
            </a:fillRef>
            <a:effectRef idx="0">
              <a:scrgbClr r="0" g="0" b="0"/>
            </a:effectRef>
            <a:fontRef idx="minor"/>
          </p:style>
          <p:txBody>
            <a:bodyPr lIns="46080" tIns="46080" rIns="46080" bIns="46080" anchor="ctr">
              <a:noAutofit/>
            </a:bodyPr>
            <a:lstStyle/>
            <a:p>
              <a:pPr algn="ctr">
                <a:lnSpc>
                  <a:spcPct val="100000"/>
                </a:lnSpc>
              </a:pPr>
              <a:r>
                <a:rPr lang="en-US" sz="1200" b="1" strike="noStrike" spc="-1">
                  <a:solidFill>
                    <a:srgbClr val="3F3F3F"/>
                  </a:solidFill>
                  <a:latin typeface="Segoe UI"/>
                  <a:ea typeface="DejaVu Sans"/>
                </a:rPr>
                <a:t>Device,  Bus, or Service  Driver</a:t>
              </a:r>
              <a:endParaRPr lang="en-US" sz="1200" b="0" strike="noStrike" spc="-1">
                <a:latin typeface="Arial"/>
              </a:endParaRPr>
            </a:p>
          </p:txBody>
        </p:sp>
      </p:grpSp>
      <p:sp>
        <p:nvSpPr>
          <p:cNvPr id="55" name="CustomShape 48">
            <a:extLst>
              <a:ext uri="{FF2B5EF4-FFF2-40B4-BE49-F238E27FC236}">
                <a16:creationId xmlns:a16="http://schemas.microsoft.com/office/drawing/2014/main" id="{27835026-909B-4D55-BCAE-A974E84E1E98}"/>
              </a:ext>
            </a:extLst>
          </p:cNvPr>
          <p:cNvSpPr/>
          <p:nvPr/>
        </p:nvSpPr>
        <p:spPr>
          <a:xfrm rot="16200000">
            <a:off x="5104195" y="3943815"/>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6" name="CustomShape 49">
            <a:extLst>
              <a:ext uri="{FF2B5EF4-FFF2-40B4-BE49-F238E27FC236}">
                <a16:creationId xmlns:a16="http://schemas.microsoft.com/office/drawing/2014/main" id="{8DD8C3E7-26FB-4DF3-AEDD-ACB3ACDBAF86}"/>
              </a:ext>
            </a:extLst>
          </p:cNvPr>
          <p:cNvSpPr/>
          <p:nvPr/>
        </p:nvSpPr>
        <p:spPr>
          <a:xfrm rot="5400000">
            <a:off x="5063515" y="3941655"/>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7" name="CustomShape 50">
            <a:extLst>
              <a:ext uri="{FF2B5EF4-FFF2-40B4-BE49-F238E27FC236}">
                <a16:creationId xmlns:a16="http://schemas.microsoft.com/office/drawing/2014/main" id="{736A9F7A-8669-4A11-BA1D-24F892175595}"/>
              </a:ext>
            </a:extLst>
          </p:cNvPr>
          <p:cNvSpPr/>
          <p:nvPr/>
        </p:nvSpPr>
        <p:spPr>
          <a:xfrm>
            <a:off x="5713675" y="4155855"/>
            <a:ext cx="1437840" cy="537480"/>
          </a:xfrm>
          <a:prstGeom prst="ellipse">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Boot</a:t>
            </a:r>
            <a:br/>
            <a:r>
              <a:rPr lang="en-US" sz="1400" b="1" strike="noStrike" spc="-1">
                <a:solidFill>
                  <a:srgbClr val="FFFFFF"/>
                </a:solidFill>
                <a:latin typeface="Segoe UI"/>
                <a:ea typeface="DejaVu Sans"/>
              </a:rPr>
              <a:t>Manager</a:t>
            </a:r>
            <a:endParaRPr lang="en-US" sz="1400" b="0" strike="noStrike" spc="-1">
              <a:latin typeface="Arial"/>
            </a:endParaRPr>
          </a:p>
        </p:txBody>
      </p:sp>
      <p:sp>
        <p:nvSpPr>
          <p:cNvPr id="58" name="Line 51">
            <a:extLst>
              <a:ext uri="{FF2B5EF4-FFF2-40B4-BE49-F238E27FC236}">
                <a16:creationId xmlns:a16="http://schemas.microsoft.com/office/drawing/2014/main" id="{6AA22D72-3591-49E2-A732-2434EC050ACC}"/>
              </a:ext>
            </a:extLst>
          </p:cNvPr>
          <p:cNvSpPr/>
          <p:nvPr/>
        </p:nvSpPr>
        <p:spPr>
          <a:xfrm flipH="1">
            <a:off x="5983315" y="2536575"/>
            <a:ext cx="17640" cy="107928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9" name="Line 52">
            <a:extLst>
              <a:ext uri="{FF2B5EF4-FFF2-40B4-BE49-F238E27FC236}">
                <a16:creationId xmlns:a16="http://schemas.microsoft.com/office/drawing/2014/main" id="{AF400584-97C0-4B8B-B90F-F483E225BD9D}"/>
              </a:ext>
            </a:extLst>
          </p:cNvPr>
          <p:cNvSpPr/>
          <p:nvPr/>
        </p:nvSpPr>
        <p:spPr>
          <a:xfrm flipH="1">
            <a:off x="5983315" y="4876575"/>
            <a:ext cx="17640" cy="53964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60" name="CustomShape 53">
            <a:extLst>
              <a:ext uri="{FF2B5EF4-FFF2-40B4-BE49-F238E27FC236}">
                <a16:creationId xmlns:a16="http://schemas.microsoft.com/office/drawing/2014/main" id="{9172EA0F-051A-44C1-865E-2F3FFF354F06}"/>
              </a:ext>
            </a:extLst>
          </p:cNvPr>
          <p:cNvSpPr/>
          <p:nvPr/>
        </p:nvSpPr>
        <p:spPr>
          <a:xfrm>
            <a:off x="5456635" y="4425855"/>
            <a:ext cx="2548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1" name="Line 54">
            <a:extLst>
              <a:ext uri="{FF2B5EF4-FFF2-40B4-BE49-F238E27FC236}">
                <a16:creationId xmlns:a16="http://schemas.microsoft.com/office/drawing/2014/main" id="{0B8C1BBA-40F3-413C-81B6-8678EAC3DA8A}"/>
              </a:ext>
            </a:extLst>
          </p:cNvPr>
          <p:cNvSpPr/>
          <p:nvPr/>
        </p:nvSpPr>
        <p:spPr>
          <a:xfrm flipH="1">
            <a:off x="4597315" y="4695495"/>
            <a:ext cx="5040" cy="181080"/>
          </a:xfrm>
          <a:prstGeom prst="line">
            <a:avLst/>
          </a:prstGeom>
          <a:ln w="63360">
            <a:solidFill>
              <a:srgbClr val="1218FA"/>
            </a:solidFill>
            <a:round/>
          </a:ln>
        </p:spPr>
        <p:style>
          <a:lnRef idx="1">
            <a:schemeClr val="accent1"/>
          </a:lnRef>
          <a:fillRef idx="0">
            <a:schemeClr val="accent1"/>
          </a:fillRef>
          <a:effectRef idx="0">
            <a:schemeClr val="accent1"/>
          </a:effectRef>
          <a:fontRef idx="minor"/>
        </p:style>
      </p:sp>
      <p:sp>
        <p:nvSpPr>
          <p:cNvPr id="62" name="CustomShape 55">
            <a:extLst>
              <a:ext uri="{FF2B5EF4-FFF2-40B4-BE49-F238E27FC236}">
                <a16:creationId xmlns:a16="http://schemas.microsoft.com/office/drawing/2014/main" id="{4C4AE02B-2D5F-45C8-A54D-59E1B287FC6D}"/>
              </a:ext>
            </a:extLst>
          </p:cNvPr>
          <p:cNvSpPr/>
          <p:nvPr/>
        </p:nvSpPr>
        <p:spPr>
          <a:xfrm>
            <a:off x="8340955" y="5100495"/>
            <a:ext cx="25020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3" name="CustomShape 56">
            <a:extLst>
              <a:ext uri="{FF2B5EF4-FFF2-40B4-BE49-F238E27FC236}">
                <a16:creationId xmlns:a16="http://schemas.microsoft.com/office/drawing/2014/main" id="{4EDE7A03-4553-4548-8A49-0A386171863F}"/>
              </a:ext>
            </a:extLst>
          </p:cNvPr>
          <p:cNvSpPr/>
          <p:nvPr/>
        </p:nvSpPr>
        <p:spPr>
          <a:xfrm rot="18180000">
            <a:off x="7068355" y="4124895"/>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4" name="CustomShape 57">
            <a:extLst>
              <a:ext uri="{FF2B5EF4-FFF2-40B4-BE49-F238E27FC236}">
                <a16:creationId xmlns:a16="http://schemas.microsoft.com/office/drawing/2014/main" id="{55901E0D-FE84-470B-A4EC-AD9F073FA3F2}"/>
              </a:ext>
            </a:extLst>
          </p:cNvPr>
          <p:cNvSpPr/>
          <p:nvPr/>
        </p:nvSpPr>
        <p:spPr>
          <a:xfrm rot="7380000">
            <a:off x="7040275" y="4102575"/>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5" name="CustomShape 58">
            <a:extLst>
              <a:ext uri="{FF2B5EF4-FFF2-40B4-BE49-F238E27FC236}">
                <a16:creationId xmlns:a16="http://schemas.microsoft.com/office/drawing/2014/main" id="{EA864193-E088-4AC3-8E32-5E6FDD2ECB1B}"/>
              </a:ext>
            </a:extLst>
          </p:cNvPr>
          <p:cNvSpPr/>
          <p:nvPr/>
        </p:nvSpPr>
        <p:spPr>
          <a:xfrm>
            <a:off x="6942355" y="4616295"/>
            <a:ext cx="308880" cy="25344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6" name="CustomShape 59">
            <a:extLst>
              <a:ext uri="{FF2B5EF4-FFF2-40B4-BE49-F238E27FC236}">
                <a16:creationId xmlns:a16="http://schemas.microsoft.com/office/drawing/2014/main" id="{E41A1523-E479-4212-A4AE-7A82E838306D}"/>
              </a:ext>
            </a:extLst>
          </p:cNvPr>
          <p:cNvSpPr/>
          <p:nvPr/>
        </p:nvSpPr>
        <p:spPr>
          <a:xfrm>
            <a:off x="3067315" y="2041215"/>
            <a:ext cx="502560" cy="31212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7" name="CustomShape 60">
            <a:extLst>
              <a:ext uri="{FF2B5EF4-FFF2-40B4-BE49-F238E27FC236}">
                <a16:creationId xmlns:a16="http://schemas.microsoft.com/office/drawing/2014/main" id="{D5F161A9-D2B9-42D2-B645-9853FC44871B}"/>
              </a:ext>
            </a:extLst>
          </p:cNvPr>
          <p:cNvSpPr/>
          <p:nvPr/>
        </p:nvSpPr>
        <p:spPr>
          <a:xfrm rot="5400000">
            <a:off x="6067195" y="2432535"/>
            <a:ext cx="348840" cy="41076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8" name="CustomShape 61">
            <a:extLst>
              <a:ext uri="{FF2B5EF4-FFF2-40B4-BE49-F238E27FC236}">
                <a16:creationId xmlns:a16="http://schemas.microsoft.com/office/drawing/2014/main" id="{98203193-D767-49FD-A4EC-9E11C7912477}"/>
              </a:ext>
            </a:extLst>
          </p:cNvPr>
          <p:cNvSpPr/>
          <p:nvPr/>
        </p:nvSpPr>
        <p:spPr>
          <a:xfrm>
            <a:off x="3138595" y="1744575"/>
            <a:ext cx="671040" cy="301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Verify</a:t>
            </a:r>
            <a:endParaRPr lang="en-US" sz="1400" b="0" strike="noStrike" spc="-1">
              <a:latin typeface="Arial"/>
            </a:endParaRPr>
          </a:p>
        </p:txBody>
      </p:sp>
      <p:sp>
        <p:nvSpPr>
          <p:cNvPr id="69" name="CustomShape 62">
            <a:extLst>
              <a:ext uri="{FF2B5EF4-FFF2-40B4-BE49-F238E27FC236}">
                <a16:creationId xmlns:a16="http://schemas.microsoft.com/office/drawing/2014/main" id="{13439AA4-D158-45BC-A71F-0E5FD74183CB}"/>
              </a:ext>
            </a:extLst>
          </p:cNvPr>
          <p:cNvSpPr/>
          <p:nvPr/>
        </p:nvSpPr>
        <p:spPr>
          <a:xfrm>
            <a:off x="5942995" y="1941135"/>
            <a:ext cx="1006920" cy="5148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EFI/UEFI</a:t>
            </a:r>
            <a:br/>
            <a:r>
              <a:rPr lang="en-US" sz="1400" b="1" strike="noStrike" spc="-1">
                <a:solidFill>
                  <a:srgbClr val="3F3F3F"/>
                </a:solidFill>
                <a:latin typeface="Segoe UI"/>
                <a:ea typeface="DejaVu Sans"/>
              </a:rPr>
              <a:t>Interfaces</a:t>
            </a:r>
            <a:endParaRPr lang="en-US" sz="1400" b="0" strike="noStrike" spc="-1">
              <a:latin typeface="Arial"/>
            </a:endParaRPr>
          </a:p>
        </p:txBody>
      </p:sp>
      <p:sp>
        <p:nvSpPr>
          <p:cNvPr id="70" name="CustomShape 63">
            <a:extLst>
              <a:ext uri="{FF2B5EF4-FFF2-40B4-BE49-F238E27FC236}">
                <a16:creationId xmlns:a16="http://schemas.microsoft.com/office/drawing/2014/main" id="{D4F87295-3C26-4ABA-A2BF-A52012261CD5}"/>
              </a:ext>
            </a:extLst>
          </p:cNvPr>
          <p:cNvSpPr/>
          <p:nvPr/>
        </p:nvSpPr>
        <p:spPr>
          <a:xfrm rot="8100000">
            <a:off x="3931675" y="3974055"/>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1" name="CustomShape 64">
            <a:extLst>
              <a:ext uri="{FF2B5EF4-FFF2-40B4-BE49-F238E27FC236}">
                <a16:creationId xmlns:a16="http://schemas.microsoft.com/office/drawing/2014/main" id="{D739E5DC-D862-4DA2-9C35-9AC839167EA3}"/>
              </a:ext>
            </a:extLst>
          </p:cNvPr>
          <p:cNvSpPr/>
          <p:nvPr/>
        </p:nvSpPr>
        <p:spPr>
          <a:xfrm rot="8100000">
            <a:off x="3931675" y="3434055"/>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2" name="CustomShape 65">
            <a:extLst>
              <a:ext uri="{FF2B5EF4-FFF2-40B4-BE49-F238E27FC236}">
                <a16:creationId xmlns:a16="http://schemas.microsoft.com/office/drawing/2014/main" id="{48EFC28C-43C0-4E27-B238-E6047627A6A0}"/>
              </a:ext>
            </a:extLst>
          </p:cNvPr>
          <p:cNvSpPr/>
          <p:nvPr/>
        </p:nvSpPr>
        <p:spPr>
          <a:xfrm rot="8100000">
            <a:off x="3931675" y="2892975"/>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grpSp>
        <p:nvGrpSpPr>
          <p:cNvPr id="73" name="Group 66">
            <a:extLst>
              <a:ext uri="{FF2B5EF4-FFF2-40B4-BE49-F238E27FC236}">
                <a16:creationId xmlns:a16="http://schemas.microsoft.com/office/drawing/2014/main" id="{D8642B2C-ED9B-4A4B-958B-7894EC9DFA10}"/>
              </a:ext>
            </a:extLst>
          </p:cNvPr>
          <p:cNvGrpSpPr/>
          <p:nvPr/>
        </p:nvGrpSpPr>
        <p:grpSpPr>
          <a:xfrm>
            <a:off x="2205115" y="1823775"/>
            <a:ext cx="4665240" cy="4493880"/>
            <a:chOff x="361800" y="1562040"/>
            <a:chExt cx="4665240" cy="4493880"/>
          </a:xfrm>
        </p:grpSpPr>
        <p:sp>
          <p:nvSpPr>
            <p:cNvPr id="74" name="CustomShape 67">
              <a:extLst>
                <a:ext uri="{FF2B5EF4-FFF2-40B4-BE49-F238E27FC236}">
                  <a16:creationId xmlns:a16="http://schemas.microsoft.com/office/drawing/2014/main" id="{3A3A7C7E-8F85-46DC-82B6-DE18AFDA22FC}"/>
                </a:ext>
              </a:extLst>
            </p:cNvPr>
            <p:cNvSpPr/>
            <p:nvPr/>
          </p:nvSpPr>
          <p:spPr>
            <a:xfrm>
              <a:off x="361800" y="1562040"/>
              <a:ext cx="2207520" cy="4493520"/>
            </a:xfrm>
            <a:prstGeom prst="rect">
              <a:avLst/>
            </a:prstGeom>
            <a:solidFill>
              <a:schemeClr val="tx1">
                <a:lumMod val="95000"/>
                <a:lumOff val="5000"/>
                <a:alpha val="40000"/>
              </a:schemeClr>
            </a:solidFill>
            <a:ln>
              <a:noFill/>
            </a:ln>
          </p:spPr>
          <p:style>
            <a:lnRef idx="2">
              <a:schemeClr val="accent1">
                <a:shade val="50000"/>
              </a:schemeClr>
            </a:lnRef>
            <a:fillRef idx="1">
              <a:schemeClr val="accent1"/>
            </a:fillRef>
            <a:effectRef idx="0">
              <a:schemeClr val="accent1"/>
            </a:effectRef>
            <a:fontRef idx="minor"/>
          </p:style>
        </p:sp>
        <p:sp>
          <p:nvSpPr>
            <p:cNvPr id="75" name="CustomShape 68">
              <a:extLst>
                <a:ext uri="{FF2B5EF4-FFF2-40B4-BE49-F238E27FC236}">
                  <a16:creationId xmlns:a16="http://schemas.microsoft.com/office/drawing/2014/main" id="{CC42CA0A-20A1-42E9-9BA5-3F6A584F76AF}"/>
                </a:ext>
              </a:extLst>
            </p:cNvPr>
            <p:cNvSpPr/>
            <p:nvPr/>
          </p:nvSpPr>
          <p:spPr>
            <a:xfrm>
              <a:off x="2514600" y="3772080"/>
              <a:ext cx="1598040" cy="2283840"/>
            </a:xfrm>
            <a:prstGeom prst="rect">
              <a:avLst/>
            </a:prstGeom>
            <a:solidFill>
              <a:schemeClr val="tx1">
                <a:lumMod val="95000"/>
                <a:lumOff val="5000"/>
                <a:alpha val="40000"/>
              </a:schemeClr>
            </a:solidFill>
            <a:ln>
              <a:noFill/>
            </a:ln>
          </p:spPr>
          <p:style>
            <a:lnRef idx="2">
              <a:schemeClr val="accent1">
                <a:shade val="50000"/>
              </a:schemeClr>
            </a:lnRef>
            <a:fillRef idx="1">
              <a:schemeClr val="accent1"/>
            </a:fillRef>
            <a:effectRef idx="0">
              <a:schemeClr val="accent1"/>
            </a:effectRef>
            <a:fontRef idx="minor"/>
          </p:style>
        </p:sp>
        <p:sp>
          <p:nvSpPr>
            <p:cNvPr id="76" name="CustomShape 69">
              <a:extLst>
                <a:ext uri="{FF2B5EF4-FFF2-40B4-BE49-F238E27FC236}">
                  <a16:creationId xmlns:a16="http://schemas.microsoft.com/office/drawing/2014/main" id="{AA8EA5C8-C2FB-40B0-8399-887EFDCC853C}"/>
                </a:ext>
              </a:extLst>
            </p:cNvPr>
            <p:cNvSpPr/>
            <p:nvPr/>
          </p:nvSpPr>
          <p:spPr>
            <a:xfrm>
              <a:off x="4114800" y="5295960"/>
              <a:ext cx="912240" cy="759960"/>
            </a:xfrm>
            <a:prstGeom prst="rect">
              <a:avLst/>
            </a:prstGeom>
            <a:solidFill>
              <a:schemeClr val="tx1">
                <a:lumMod val="95000"/>
                <a:lumOff val="5000"/>
                <a:alpha val="40000"/>
              </a:schemeClr>
            </a:solidFill>
            <a:ln>
              <a:noFill/>
            </a:ln>
          </p:spPr>
          <p:style>
            <a:lnRef idx="2">
              <a:schemeClr val="accent1">
                <a:shade val="50000"/>
              </a:schemeClr>
            </a:lnRef>
            <a:fillRef idx="1">
              <a:schemeClr val="accent1"/>
            </a:fillRef>
            <a:effectRef idx="0">
              <a:schemeClr val="accent1"/>
            </a:effectRef>
            <a:fontRef idx="minor"/>
          </p:style>
        </p:sp>
      </p:grpSp>
      <p:sp>
        <p:nvSpPr>
          <p:cNvPr id="77" name="CustomShape 70">
            <a:extLst>
              <a:ext uri="{FF2B5EF4-FFF2-40B4-BE49-F238E27FC236}">
                <a16:creationId xmlns:a16="http://schemas.microsoft.com/office/drawing/2014/main" id="{199FA385-69E8-4816-BA7A-F83CE3B35F4F}"/>
              </a:ext>
            </a:extLst>
          </p:cNvPr>
          <p:cNvSpPr/>
          <p:nvPr/>
        </p:nvSpPr>
        <p:spPr>
          <a:xfrm>
            <a:off x="2682835" y="3728895"/>
            <a:ext cx="1823760" cy="10033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2000" b="1" strike="noStrike" spc="-1">
                <a:solidFill>
                  <a:srgbClr val="FFFFFF"/>
                </a:solidFill>
                <a:latin typeface="Segoe UI"/>
                <a:ea typeface="DejaVu Sans"/>
              </a:rPr>
              <a:t>Not</a:t>
            </a:r>
            <a:br/>
            <a:r>
              <a:rPr lang="en-US" sz="2000" b="1" strike="noStrike" spc="-1">
                <a:solidFill>
                  <a:srgbClr val="FFFFFF"/>
                </a:solidFill>
                <a:latin typeface="Segoe UI"/>
                <a:ea typeface="DejaVu Sans"/>
              </a:rPr>
              <a:t>Covered</a:t>
            </a:r>
            <a:br/>
            <a:r>
              <a:rPr lang="en-US" sz="2000" b="1" strike="noStrike" spc="-1">
                <a:solidFill>
                  <a:srgbClr val="FFFFFF"/>
                </a:solidFill>
                <a:latin typeface="Segoe UI"/>
                <a:ea typeface="DejaVu Sans"/>
              </a:rPr>
              <a:t>by EFI or UEFI</a:t>
            </a:r>
            <a:endParaRPr lang="en-US" sz="2000" b="0" strike="noStrike" spc="-1">
              <a:latin typeface="Arial"/>
            </a:endParaRPr>
          </a:p>
        </p:txBody>
      </p:sp>
      <p:sp>
        <p:nvSpPr>
          <p:cNvPr id="78" name="CustomShape 71">
            <a:extLst>
              <a:ext uri="{FF2B5EF4-FFF2-40B4-BE49-F238E27FC236}">
                <a16:creationId xmlns:a16="http://schemas.microsoft.com/office/drawing/2014/main" id="{10EA6921-18CA-48FE-BD54-B558A0223F3E}"/>
              </a:ext>
            </a:extLst>
          </p:cNvPr>
          <p:cNvSpPr/>
          <p:nvPr/>
        </p:nvSpPr>
        <p:spPr>
          <a:xfrm>
            <a:off x="5209675" y="1214295"/>
            <a:ext cx="4422240" cy="3934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2000" b="1" strike="noStrike" spc="-1">
                <a:solidFill>
                  <a:srgbClr val="3F3F3F"/>
                </a:solidFill>
                <a:latin typeface="Segoe UI"/>
                <a:ea typeface="DejaVu Sans"/>
              </a:rPr>
              <a:t>Components Covered by EFI &amp; UEFI</a:t>
            </a:r>
            <a:endParaRPr lang="en-US" sz="2000" b="0" strike="noStrike" spc="-1">
              <a:latin typeface="Arial"/>
            </a:endParaRPr>
          </a:p>
        </p:txBody>
      </p:sp>
      <p:sp>
        <p:nvSpPr>
          <p:cNvPr id="79" name="CustomShape 72">
            <a:extLst>
              <a:ext uri="{FF2B5EF4-FFF2-40B4-BE49-F238E27FC236}">
                <a16:creationId xmlns:a16="http://schemas.microsoft.com/office/drawing/2014/main" id="{822A520F-6C3A-44B7-87C5-07B1D533C90A}"/>
              </a:ext>
            </a:extLst>
          </p:cNvPr>
          <p:cNvSpPr/>
          <p:nvPr/>
        </p:nvSpPr>
        <p:spPr>
          <a:xfrm rot="16200000">
            <a:off x="7177435" y="-1205625"/>
            <a:ext cx="226440" cy="5712840"/>
          </a:xfrm>
          <a:prstGeom prst="rightBrace">
            <a:avLst>
              <a:gd name="adj1" fmla="val 8333"/>
              <a:gd name="adj2" fmla="val 50000"/>
            </a:avLst>
          </a:prstGeom>
          <a:noFill/>
          <a:ln w="38160">
            <a:solidFill>
              <a:schemeClr val="tx1"/>
            </a:solidFill>
            <a:round/>
          </a:ln>
        </p:spPr>
        <p:style>
          <a:lnRef idx="1">
            <a:schemeClr val="accent1"/>
          </a:lnRef>
          <a:fillRef idx="0">
            <a:schemeClr val="accent1"/>
          </a:fillRef>
          <a:effectRef idx="0">
            <a:schemeClr val="accent1"/>
          </a:effectRef>
          <a:fontRef idx="minor"/>
        </p:style>
      </p:sp>
    </p:spTree>
    <p:extLst>
      <p:ext uri="{BB962C8B-B14F-4D97-AF65-F5344CB8AC3E}">
        <p14:creationId xmlns:p14="http://schemas.microsoft.com/office/powerpoint/2010/main" val="142869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blinds(vertical)">
                                      <p:cBhvr additive="repl">
                                        <p:cTn id="7" dur="500"/>
                                        <p:tgtEl>
                                          <p:spTgt spid="73"/>
                                        </p:tgtEl>
                                      </p:cBhvr>
                                    </p:animEffect>
                                  </p:childTnLst>
                                </p:cTn>
                              </p:par>
                              <p:par>
                                <p:cTn id="8" presetID="3" presetClass="entr" presetSubtype="5" fill="hold"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blinds(vertical)">
                                      <p:cBhvr additive="repl">
                                        <p:cTn id="10" dur="500"/>
                                        <p:tgtEl>
                                          <p:spTgt spid="7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blinds(horizontal)">
                                      <p:cBhvr additive="repl">
                                        <p:cTn id="15" dur="500"/>
                                        <p:tgtEl>
                                          <p:spTgt spid="79"/>
                                        </p:tgtEl>
                                      </p:cBhvr>
                                    </p:animEffect>
                                  </p:childTnLst>
                                </p:cTn>
                              </p:par>
                              <p:par>
                                <p:cTn id="16" presetID="3" presetClass="entr" presetSubtype="10" fill="hold" nodeType="withEffect">
                                  <p:stCondLst>
                                    <p:cond delay="0"/>
                                  </p:stCondLst>
                                  <p:childTnLst>
                                    <p:set>
                                      <p:cBhvr>
                                        <p:cTn id="17" dur="1" fill="hold">
                                          <p:stCondLst>
                                            <p:cond delay="0"/>
                                          </p:stCondLst>
                                        </p:cTn>
                                        <p:tgtEl>
                                          <p:spTgt spid="78"/>
                                        </p:tgtEl>
                                        <p:attrNameLst>
                                          <p:attrName>style.visibility</p:attrName>
                                        </p:attrNameLst>
                                      </p:cBhvr>
                                      <p:to>
                                        <p:strVal val="visible"/>
                                      </p:to>
                                    </p:set>
                                    <p:animEffect transition="in" filter="blinds(horizontal)">
                                      <p:cBhvr additive="repl">
                                        <p:cTn id="1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1353800" cy="1075765"/>
          </a:xfrm>
        </p:spPr>
        <p:txBody>
          <a:bodyPr>
            <a:normAutofit fontScale="90000"/>
          </a:bodyPr>
          <a:lstStyle/>
          <a:p>
            <a:r>
              <a:rPr lang="en-US" dirty="0"/>
              <a:t>General Overview</a:t>
            </a:r>
            <a:br>
              <a:rPr lang="en-US" dirty="0"/>
            </a:br>
            <a:r>
              <a:rPr lang="en-US" sz="3100" dirty="0"/>
              <a:t>Platform Boot Flow: Where PI and Framework Fit into the Platform Boot Flow</a:t>
            </a:r>
            <a:endParaRPr lang="en-US" dirty="0"/>
          </a:p>
        </p:txBody>
      </p:sp>
      <p:sp>
        <p:nvSpPr>
          <p:cNvPr id="6" name="CustomShape 1">
            <a:extLst>
              <a:ext uri="{FF2B5EF4-FFF2-40B4-BE49-F238E27FC236}">
                <a16:creationId xmlns:a16="http://schemas.microsoft.com/office/drawing/2014/main" id="{3E9C4D90-63B3-4D07-AF25-B2FDB6094354}"/>
              </a:ext>
            </a:extLst>
          </p:cNvPr>
          <p:cNvSpPr/>
          <p:nvPr/>
        </p:nvSpPr>
        <p:spPr>
          <a:xfrm>
            <a:off x="4088811" y="2164030"/>
            <a:ext cx="235800" cy="1298160"/>
          </a:xfrm>
          <a:prstGeom prst="bentConnector2">
            <a:avLst/>
          </a:prstGeom>
          <a:noFill/>
          <a:ln w="25560">
            <a:solidFill>
              <a:schemeClr val="tx1"/>
            </a:solidFill>
            <a:round/>
          </a:ln>
        </p:spPr>
        <p:style>
          <a:lnRef idx="1">
            <a:schemeClr val="accent1"/>
          </a:lnRef>
          <a:fillRef idx="0">
            <a:schemeClr val="accent1"/>
          </a:fillRef>
          <a:effectRef idx="0">
            <a:schemeClr val="accent1"/>
          </a:effectRef>
          <a:fontRef idx="minor"/>
        </p:style>
      </p:sp>
      <p:sp>
        <p:nvSpPr>
          <p:cNvPr id="7" name="Line 2">
            <a:extLst>
              <a:ext uri="{FF2B5EF4-FFF2-40B4-BE49-F238E27FC236}">
                <a16:creationId xmlns:a16="http://schemas.microsoft.com/office/drawing/2014/main" id="{CEAECC0D-6779-43D1-8242-1B7D670534BA}"/>
              </a:ext>
            </a:extLst>
          </p:cNvPr>
          <p:cNvSpPr/>
          <p:nvPr/>
        </p:nvSpPr>
        <p:spPr>
          <a:xfrm flipH="1">
            <a:off x="4522251" y="147787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9" name="CustomShape 3">
            <a:extLst>
              <a:ext uri="{FF2B5EF4-FFF2-40B4-BE49-F238E27FC236}">
                <a16:creationId xmlns:a16="http://schemas.microsoft.com/office/drawing/2014/main" id="{6A0356E0-67F3-4D83-BAE3-A84A5780AD8E}"/>
              </a:ext>
            </a:extLst>
          </p:cNvPr>
          <p:cNvSpPr/>
          <p:nvPr/>
        </p:nvSpPr>
        <p:spPr>
          <a:xfrm>
            <a:off x="3906291" y="3727510"/>
            <a:ext cx="1707480" cy="537480"/>
          </a:xfrm>
          <a:prstGeom prst="ellipse">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 Driver</a:t>
            </a:r>
            <a:br/>
            <a:r>
              <a:rPr lang="en-US" sz="1400" b="1" strike="noStrike" spc="-1">
                <a:solidFill>
                  <a:srgbClr val="FFFFFF"/>
                </a:solidFill>
                <a:latin typeface="Segoe UI"/>
                <a:ea typeface="DejaVu Sans"/>
              </a:rPr>
              <a:t>Dispatcher</a:t>
            </a:r>
            <a:endParaRPr lang="en-US" sz="1400" b="0" strike="noStrike" spc="-1">
              <a:latin typeface="Arial"/>
            </a:endParaRPr>
          </a:p>
        </p:txBody>
      </p:sp>
      <p:sp>
        <p:nvSpPr>
          <p:cNvPr id="10" name="CustomShape 5">
            <a:extLst>
              <a:ext uri="{FF2B5EF4-FFF2-40B4-BE49-F238E27FC236}">
                <a16:creationId xmlns:a16="http://schemas.microsoft.com/office/drawing/2014/main" id="{0855BECD-31D3-4946-ACA3-A784DBCA9618}"/>
              </a:ext>
            </a:extLst>
          </p:cNvPr>
          <p:cNvSpPr/>
          <p:nvPr/>
        </p:nvSpPr>
        <p:spPr>
          <a:xfrm>
            <a:off x="2363331" y="516751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Security</a:t>
            </a:r>
            <a:br/>
            <a:r>
              <a:rPr lang="en-US" sz="1200" b="1" strike="noStrike" spc="-1">
                <a:solidFill>
                  <a:srgbClr val="3F3F3F"/>
                </a:solidFill>
                <a:latin typeface="Segoe UI"/>
                <a:ea typeface="DejaVu Sans"/>
              </a:rPr>
              <a:t> (SEC)</a:t>
            </a:r>
            <a:endParaRPr lang="en-US" sz="1200" b="0" strike="noStrike" spc="-1">
              <a:latin typeface="Arial"/>
            </a:endParaRPr>
          </a:p>
        </p:txBody>
      </p:sp>
      <p:sp>
        <p:nvSpPr>
          <p:cNvPr id="11" name="CustomShape 6">
            <a:extLst>
              <a:ext uri="{FF2B5EF4-FFF2-40B4-BE49-F238E27FC236}">
                <a16:creationId xmlns:a16="http://schemas.microsoft.com/office/drawing/2014/main" id="{965C7799-6BA8-49B5-BDB1-37567D121929}"/>
              </a:ext>
            </a:extLst>
          </p:cNvPr>
          <p:cNvSpPr/>
          <p:nvPr/>
        </p:nvSpPr>
        <p:spPr>
          <a:xfrm>
            <a:off x="2315811" y="5888230"/>
            <a:ext cx="99324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Power On</a:t>
            </a:r>
            <a:endParaRPr lang="en-US" sz="1400" b="0" strike="noStrike" spc="-1">
              <a:latin typeface="Arial"/>
            </a:endParaRPr>
          </a:p>
        </p:txBody>
      </p:sp>
      <p:sp>
        <p:nvSpPr>
          <p:cNvPr id="12" name="CustomShape 7">
            <a:extLst>
              <a:ext uri="{FF2B5EF4-FFF2-40B4-BE49-F238E27FC236}">
                <a16:creationId xmlns:a16="http://schemas.microsoft.com/office/drawing/2014/main" id="{4FA7607C-942C-4762-9191-298DD36B8B6A}"/>
              </a:ext>
            </a:extLst>
          </p:cNvPr>
          <p:cNvSpPr/>
          <p:nvPr/>
        </p:nvSpPr>
        <p:spPr>
          <a:xfrm>
            <a:off x="9496011" y="5888230"/>
            <a:ext cx="10314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Shutdown</a:t>
            </a:r>
            <a:endParaRPr lang="en-US" sz="1400" b="0" strike="noStrike" spc="-1">
              <a:latin typeface="Arial"/>
            </a:endParaRPr>
          </a:p>
        </p:txBody>
      </p:sp>
      <p:sp>
        <p:nvSpPr>
          <p:cNvPr id="13" name="CustomShape 8">
            <a:extLst>
              <a:ext uri="{FF2B5EF4-FFF2-40B4-BE49-F238E27FC236}">
                <a16:creationId xmlns:a16="http://schemas.microsoft.com/office/drawing/2014/main" id="{66DDC25C-F885-4ECB-837F-7A987B1D7683}"/>
              </a:ext>
            </a:extLst>
          </p:cNvPr>
          <p:cNvSpPr/>
          <p:nvPr/>
        </p:nvSpPr>
        <p:spPr>
          <a:xfrm>
            <a:off x="4160811" y="5888230"/>
            <a:ext cx="23436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[..Platform Initialization..]</a:t>
            </a:r>
            <a:endParaRPr lang="en-US" sz="1400" b="0" strike="noStrike" spc="-1">
              <a:latin typeface="Arial"/>
            </a:endParaRPr>
          </a:p>
        </p:txBody>
      </p:sp>
      <p:sp>
        <p:nvSpPr>
          <p:cNvPr id="14" name="CustomShape 9">
            <a:extLst>
              <a:ext uri="{FF2B5EF4-FFF2-40B4-BE49-F238E27FC236}">
                <a16:creationId xmlns:a16="http://schemas.microsoft.com/office/drawing/2014/main" id="{1058E3DB-EBDB-40ED-AC7B-5A1C8E1D0935}"/>
              </a:ext>
            </a:extLst>
          </p:cNvPr>
          <p:cNvSpPr/>
          <p:nvPr/>
        </p:nvSpPr>
        <p:spPr>
          <a:xfrm>
            <a:off x="7254651" y="5888230"/>
            <a:ext cx="119412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[..OS Boot..]</a:t>
            </a:r>
            <a:endParaRPr lang="en-US" sz="1400" b="0" strike="noStrike" spc="-1">
              <a:latin typeface="Arial"/>
            </a:endParaRPr>
          </a:p>
        </p:txBody>
      </p:sp>
      <p:sp>
        <p:nvSpPr>
          <p:cNvPr id="15" name="CustomShape 10">
            <a:extLst>
              <a:ext uri="{FF2B5EF4-FFF2-40B4-BE49-F238E27FC236}">
                <a16:creationId xmlns:a16="http://schemas.microsoft.com/office/drawing/2014/main" id="{DD023627-C07E-4901-8C92-5B70233548F8}"/>
              </a:ext>
            </a:extLst>
          </p:cNvPr>
          <p:cNvSpPr/>
          <p:nvPr/>
        </p:nvSpPr>
        <p:spPr>
          <a:xfrm>
            <a:off x="3263331" y="6023230"/>
            <a:ext cx="89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6" name="CustomShape 11">
            <a:extLst>
              <a:ext uri="{FF2B5EF4-FFF2-40B4-BE49-F238E27FC236}">
                <a16:creationId xmlns:a16="http://schemas.microsoft.com/office/drawing/2014/main" id="{A30CCA2E-30DC-45AE-BAAF-D078FCCF5027}"/>
              </a:ext>
            </a:extLst>
          </p:cNvPr>
          <p:cNvSpPr/>
          <p:nvPr/>
        </p:nvSpPr>
        <p:spPr>
          <a:xfrm>
            <a:off x="6503691" y="6023230"/>
            <a:ext cx="71712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7" name="CustomShape 12">
            <a:extLst>
              <a:ext uri="{FF2B5EF4-FFF2-40B4-BE49-F238E27FC236}">
                <a16:creationId xmlns:a16="http://schemas.microsoft.com/office/drawing/2014/main" id="{7EAB88AD-002B-4404-AFF3-5848C0E24383}"/>
              </a:ext>
            </a:extLst>
          </p:cNvPr>
          <p:cNvSpPr/>
          <p:nvPr/>
        </p:nvSpPr>
        <p:spPr>
          <a:xfrm>
            <a:off x="8482971" y="6023230"/>
            <a:ext cx="10774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8" name="CustomShape 13">
            <a:extLst>
              <a:ext uri="{FF2B5EF4-FFF2-40B4-BE49-F238E27FC236}">
                <a16:creationId xmlns:a16="http://schemas.microsoft.com/office/drawing/2014/main" id="{2821B959-6895-49AB-87DD-C89AB507B1BA}"/>
              </a:ext>
            </a:extLst>
          </p:cNvPr>
          <p:cNvSpPr/>
          <p:nvPr/>
        </p:nvSpPr>
        <p:spPr>
          <a:xfrm>
            <a:off x="3263331" y="5167510"/>
            <a:ext cx="12567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Pre EFI</a:t>
            </a:r>
            <a:br/>
            <a:r>
              <a:rPr lang="en-US" sz="1200" b="1" strike="noStrike" spc="-1">
                <a:solidFill>
                  <a:srgbClr val="3F3F3F"/>
                </a:solidFill>
                <a:latin typeface="Segoe UI"/>
                <a:ea typeface="DejaVu Sans"/>
              </a:rPr>
              <a:t>Initialization</a:t>
            </a:r>
            <a:endParaRPr lang="en-US" sz="1200" b="0" strike="noStrike" spc="-1">
              <a:latin typeface="Arial"/>
            </a:endParaRPr>
          </a:p>
          <a:p>
            <a:pPr algn="ctr">
              <a:lnSpc>
                <a:spcPct val="100000"/>
              </a:lnSpc>
            </a:pPr>
            <a:r>
              <a:rPr lang="en-US" sz="1200" b="1" strike="noStrike" spc="-1">
                <a:solidFill>
                  <a:srgbClr val="3F3F3F"/>
                </a:solidFill>
                <a:latin typeface="Segoe UI"/>
                <a:ea typeface="DejaVu Sans"/>
              </a:rPr>
              <a:t>(PEI)</a:t>
            </a:r>
            <a:endParaRPr lang="en-US" sz="1200" b="0" strike="noStrike" spc="-1">
              <a:latin typeface="Arial"/>
            </a:endParaRPr>
          </a:p>
        </p:txBody>
      </p:sp>
      <p:sp>
        <p:nvSpPr>
          <p:cNvPr id="19" name="CustomShape 14">
            <a:extLst>
              <a:ext uri="{FF2B5EF4-FFF2-40B4-BE49-F238E27FC236}">
                <a16:creationId xmlns:a16="http://schemas.microsoft.com/office/drawing/2014/main" id="{635B32F9-7361-4656-B0CB-B7B8D03E076B}"/>
              </a:ext>
            </a:extLst>
          </p:cNvPr>
          <p:cNvSpPr/>
          <p:nvPr/>
        </p:nvSpPr>
        <p:spPr>
          <a:xfrm>
            <a:off x="4522251" y="516751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Driver Execution</a:t>
            </a:r>
            <a:br/>
            <a:r>
              <a:rPr lang="en-US" sz="1200" b="1" strike="noStrike" spc="-1">
                <a:solidFill>
                  <a:srgbClr val="3F3F3F"/>
                </a:solidFill>
                <a:latin typeface="Segoe UI"/>
                <a:ea typeface="DejaVu Sans"/>
              </a:rPr>
              <a:t>Environment</a:t>
            </a:r>
            <a:br/>
            <a:r>
              <a:rPr lang="en-US" sz="1200" b="1" strike="noStrike" spc="-1">
                <a:solidFill>
                  <a:srgbClr val="3F3F3F"/>
                </a:solidFill>
                <a:latin typeface="Segoe UI"/>
                <a:ea typeface="DejaVu Sans"/>
              </a:rPr>
              <a:t>(DXE)</a:t>
            </a:r>
            <a:endParaRPr lang="en-US" sz="1200" b="0" strike="noStrike" spc="-1">
              <a:latin typeface="Arial"/>
            </a:endParaRPr>
          </a:p>
        </p:txBody>
      </p:sp>
      <p:sp>
        <p:nvSpPr>
          <p:cNvPr id="20" name="CustomShape 15">
            <a:extLst>
              <a:ext uri="{FF2B5EF4-FFF2-40B4-BE49-F238E27FC236}">
                <a16:creationId xmlns:a16="http://schemas.microsoft.com/office/drawing/2014/main" id="{33248987-384E-4FD3-BEA2-4926AD44B77A}"/>
              </a:ext>
            </a:extLst>
          </p:cNvPr>
          <p:cNvSpPr/>
          <p:nvPr/>
        </p:nvSpPr>
        <p:spPr>
          <a:xfrm>
            <a:off x="6143331" y="516751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Boot Dev</a:t>
            </a:r>
            <a:br/>
            <a:r>
              <a:rPr lang="en-US" sz="1200" b="1" strike="noStrike" spc="-1">
                <a:solidFill>
                  <a:srgbClr val="3F3F3F"/>
                </a:solidFill>
                <a:latin typeface="Segoe UI"/>
                <a:ea typeface="DejaVu Sans"/>
              </a:rPr>
              <a:t>Select</a:t>
            </a:r>
            <a:br/>
            <a:r>
              <a:rPr lang="en-US" sz="1200" b="1" strike="noStrike" spc="-1">
                <a:solidFill>
                  <a:srgbClr val="3F3F3F"/>
                </a:solidFill>
                <a:latin typeface="Segoe UI"/>
                <a:ea typeface="DejaVu Sans"/>
              </a:rPr>
              <a:t>(BDS)</a:t>
            </a:r>
            <a:endParaRPr lang="en-US" sz="1200" b="0" strike="noStrike" spc="-1">
              <a:latin typeface="Arial"/>
            </a:endParaRPr>
          </a:p>
        </p:txBody>
      </p:sp>
      <p:sp>
        <p:nvSpPr>
          <p:cNvPr id="21" name="CustomShape 16">
            <a:extLst>
              <a:ext uri="{FF2B5EF4-FFF2-40B4-BE49-F238E27FC236}">
                <a16:creationId xmlns:a16="http://schemas.microsoft.com/office/drawing/2014/main" id="{B1D47E51-F818-4BF2-A5EA-25908D908361}"/>
              </a:ext>
            </a:extLst>
          </p:cNvPr>
          <p:cNvSpPr/>
          <p:nvPr/>
        </p:nvSpPr>
        <p:spPr>
          <a:xfrm>
            <a:off x="7043331" y="5167510"/>
            <a:ext cx="161712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UEFI &amp; OS</a:t>
            </a:r>
            <a:br/>
            <a:r>
              <a:rPr lang="en-US" sz="1200" b="1" strike="noStrike" spc="-1">
                <a:solidFill>
                  <a:srgbClr val="3F3F3F"/>
                </a:solidFill>
                <a:latin typeface="Segoe UI"/>
                <a:ea typeface="DejaVu Sans"/>
              </a:rPr>
              <a:t>Loader</a:t>
            </a:r>
            <a:br/>
            <a:r>
              <a:rPr lang="en-US" sz="1200" b="1" strike="noStrike" spc="-1">
                <a:solidFill>
                  <a:srgbClr val="3F3F3F"/>
                </a:solidFill>
                <a:latin typeface="Segoe UI"/>
                <a:ea typeface="DejaVu Sans"/>
              </a:rPr>
              <a:t>Handshake</a:t>
            </a:r>
            <a:endParaRPr lang="en-US" sz="1200" b="0" strike="noStrike" spc="-1">
              <a:latin typeface="Arial"/>
            </a:endParaRPr>
          </a:p>
        </p:txBody>
      </p:sp>
      <p:sp>
        <p:nvSpPr>
          <p:cNvPr id="22" name="CustomShape 17">
            <a:extLst>
              <a:ext uri="{FF2B5EF4-FFF2-40B4-BE49-F238E27FC236}">
                <a16:creationId xmlns:a16="http://schemas.microsoft.com/office/drawing/2014/main" id="{3D975B71-48EB-491B-8680-48A11B0954CC}"/>
              </a:ext>
            </a:extLst>
          </p:cNvPr>
          <p:cNvSpPr/>
          <p:nvPr/>
        </p:nvSpPr>
        <p:spPr>
          <a:xfrm>
            <a:off x="8662611" y="516751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Runtime</a:t>
            </a:r>
            <a:br/>
            <a:r>
              <a:rPr lang="en-US" sz="1200" b="1" strike="noStrike" spc="-1">
                <a:solidFill>
                  <a:srgbClr val="3F3F3F"/>
                </a:solidFill>
                <a:latin typeface="Segoe UI"/>
                <a:ea typeface="DejaVu Sans"/>
              </a:rPr>
              <a:t>(RT)</a:t>
            </a:r>
            <a:endParaRPr lang="en-US" sz="1200" b="0" strike="noStrike" spc="-1">
              <a:latin typeface="Arial"/>
            </a:endParaRPr>
          </a:p>
        </p:txBody>
      </p:sp>
      <p:sp>
        <p:nvSpPr>
          <p:cNvPr id="23" name="Line 18">
            <a:extLst>
              <a:ext uri="{FF2B5EF4-FFF2-40B4-BE49-F238E27FC236}">
                <a16:creationId xmlns:a16="http://schemas.microsoft.com/office/drawing/2014/main" id="{B8413567-D39B-4C4A-B0FD-7C44405DED4E}"/>
              </a:ext>
            </a:extLst>
          </p:cNvPr>
          <p:cNvSpPr/>
          <p:nvPr/>
        </p:nvSpPr>
        <p:spPr>
          <a:xfrm flipH="1">
            <a:off x="2363331" y="147787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4" name="Line 19">
            <a:extLst>
              <a:ext uri="{FF2B5EF4-FFF2-40B4-BE49-F238E27FC236}">
                <a16:creationId xmlns:a16="http://schemas.microsoft.com/office/drawing/2014/main" id="{9CA62780-3E23-4FCA-80F3-2D821B5BC265}"/>
              </a:ext>
            </a:extLst>
          </p:cNvPr>
          <p:cNvSpPr/>
          <p:nvPr/>
        </p:nvSpPr>
        <p:spPr>
          <a:xfrm flipH="1">
            <a:off x="3263331" y="147787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5" name="Line 20">
            <a:extLst>
              <a:ext uri="{FF2B5EF4-FFF2-40B4-BE49-F238E27FC236}">
                <a16:creationId xmlns:a16="http://schemas.microsoft.com/office/drawing/2014/main" id="{A74E46FE-31A3-40EF-BB27-739C1673B45D}"/>
              </a:ext>
            </a:extLst>
          </p:cNvPr>
          <p:cNvSpPr/>
          <p:nvPr/>
        </p:nvSpPr>
        <p:spPr>
          <a:xfrm flipH="1">
            <a:off x="6142971" y="147787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6" name="Line 21">
            <a:extLst>
              <a:ext uri="{FF2B5EF4-FFF2-40B4-BE49-F238E27FC236}">
                <a16:creationId xmlns:a16="http://schemas.microsoft.com/office/drawing/2014/main" id="{C7B8E628-2BD4-4E36-BE4D-95D4EF3707C6}"/>
              </a:ext>
            </a:extLst>
          </p:cNvPr>
          <p:cNvSpPr/>
          <p:nvPr/>
        </p:nvSpPr>
        <p:spPr>
          <a:xfrm flipH="1">
            <a:off x="7042971" y="147787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7" name="Line 22">
            <a:extLst>
              <a:ext uri="{FF2B5EF4-FFF2-40B4-BE49-F238E27FC236}">
                <a16:creationId xmlns:a16="http://schemas.microsoft.com/office/drawing/2014/main" id="{1347AF97-D3A8-48BA-9FEB-B18384495185}"/>
              </a:ext>
            </a:extLst>
          </p:cNvPr>
          <p:cNvSpPr/>
          <p:nvPr/>
        </p:nvSpPr>
        <p:spPr>
          <a:xfrm flipH="1">
            <a:off x="8662251" y="147787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8" name="Line 23">
            <a:extLst>
              <a:ext uri="{FF2B5EF4-FFF2-40B4-BE49-F238E27FC236}">
                <a16:creationId xmlns:a16="http://schemas.microsoft.com/office/drawing/2014/main" id="{CDC2DE0D-E6FE-4844-BE64-B036D70942D2}"/>
              </a:ext>
            </a:extLst>
          </p:cNvPr>
          <p:cNvSpPr/>
          <p:nvPr/>
        </p:nvSpPr>
        <p:spPr>
          <a:xfrm flipH="1">
            <a:off x="10283331" y="147787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9" name="CustomShape 24">
            <a:extLst>
              <a:ext uri="{FF2B5EF4-FFF2-40B4-BE49-F238E27FC236}">
                <a16:creationId xmlns:a16="http://schemas.microsoft.com/office/drawing/2014/main" id="{45C370EA-44BB-4684-BE9C-264BECDDBD65}"/>
              </a:ext>
            </a:extLst>
          </p:cNvPr>
          <p:cNvSpPr/>
          <p:nvPr/>
        </p:nvSpPr>
        <p:spPr>
          <a:xfrm>
            <a:off x="2434611" y="1387510"/>
            <a:ext cx="78984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Pre</a:t>
            </a:r>
            <a:br/>
            <a:r>
              <a:rPr lang="en-US" sz="1200" b="1" strike="noStrike" spc="-1">
                <a:solidFill>
                  <a:srgbClr val="FFFFFF"/>
                </a:solidFill>
                <a:latin typeface="Segoe UI"/>
                <a:ea typeface="DejaVu Sans"/>
              </a:rPr>
              <a:t>Verifier</a:t>
            </a:r>
            <a:endParaRPr lang="en-US" sz="1200" b="0" strike="noStrike" spc="-1">
              <a:latin typeface="Arial"/>
            </a:endParaRPr>
          </a:p>
        </p:txBody>
      </p:sp>
      <p:sp>
        <p:nvSpPr>
          <p:cNvPr id="30" name="CustomShape 25">
            <a:extLst>
              <a:ext uri="{FF2B5EF4-FFF2-40B4-BE49-F238E27FC236}">
                <a16:creationId xmlns:a16="http://schemas.microsoft.com/office/drawing/2014/main" id="{DE730996-CD87-4695-B2C9-6106D827725A}"/>
              </a:ext>
            </a:extLst>
          </p:cNvPr>
          <p:cNvSpPr/>
          <p:nvPr/>
        </p:nvSpPr>
        <p:spPr>
          <a:xfrm>
            <a:off x="4072971" y="4448230"/>
            <a:ext cx="136620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Architectural</a:t>
            </a:r>
            <a:br/>
            <a:r>
              <a:rPr lang="en-US" sz="1200" b="1" strike="noStrike" spc="-1">
                <a:solidFill>
                  <a:srgbClr val="FFFFFF"/>
                </a:solidFill>
                <a:latin typeface="Segoe UI"/>
                <a:ea typeface="DejaVu Sans"/>
              </a:rPr>
              <a:t>Protocols</a:t>
            </a:r>
            <a:endParaRPr lang="en-US" sz="1200" b="0" strike="noStrike" spc="-1">
              <a:latin typeface="Arial"/>
            </a:endParaRPr>
          </a:p>
        </p:txBody>
      </p:sp>
      <p:sp>
        <p:nvSpPr>
          <p:cNvPr id="31" name="CustomShape 26">
            <a:extLst>
              <a:ext uri="{FF2B5EF4-FFF2-40B4-BE49-F238E27FC236}">
                <a16:creationId xmlns:a16="http://schemas.microsoft.com/office/drawing/2014/main" id="{7C9ADDBA-0C9A-4E9C-A658-C2DA816DE025}"/>
              </a:ext>
            </a:extLst>
          </p:cNvPr>
          <p:cNvSpPr/>
          <p:nvPr/>
        </p:nvSpPr>
        <p:spPr>
          <a:xfrm>
            <a:off x="7132251" y="444823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Boot Loader</a:t>
            </a:r>
            <a:endParaRPr lang="en-US" sz="1200" b="0" strike="noStrike" spc="-1">
              <a:latin typeface="Arial"/>
            </a:endParaRPr>
          </a:p>
        </p:txBody>
      </p:sp>
      <p:sp>
        <p:nvSpPr>
          <p:cNvPr id="32" name="CustomShape 27">
            <a:extLst>
              <a:ext uri="{FF2B5EF4-FFF2-40B4-BE49-F238E27FC236}">
                <a16:creationId xmlns:a16="http://schemas.microsoft.com/office/drawing/2014/main" id="{DBBC9D71-3608-4FFB-B25E-4556FC009E6F}"/>
              </a:ext>
            </a:extLst>
          </p:cNvPr>
          <p:cNvSpPr/>
          <p:nvPr/>
        </p:nvSpPr>
        <p:spPr>
          <a:xfrm>
            <a:off x="8752971" y="444823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Environment</a:t>
            </a:r>
            <a:endParaRPr lang="en-US" sz="1200" b="0" strike="noStrike" spc="-1">
              <a:latin typeface="Arial"/>
            </a:endParaRPr>
          </a:p>
        </p:txBody>
      </p:sp>
      <p:sp>
        <p:nvSpPr>
          <p:cNvPr id="33" name="CustomShape 28">
            <a:extLst>
              <a:ext uri="{FF2B5EF4-FFF2-40B4-BE49-F238E27FC236}">
                <a16:creationId xmlns:a16="http://schemas.microsoft.com/office/drawing/2014/main" id="{AD79258E-500F-4BAB-AC87-E7AC1C411D1D}"/>
              </a:ext>
            </a:extLst>
          </p:cNvPr>
          <p:cNvSpPr/>
          <p:nvPr/>
        </p:nvSpPr>
        <p:spPr>
          <a:xfrm>
            <a:off x="3334971" y="246715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CPU</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4" name="CustomShape 29">
            <a:extLst>
              <a:ext uri="{FF2B5EF4-FFF2-40B4-BE49-F238E27FC236}">
                <a16:creationId xmlns:a16="http://schemas.microsoft.com/office/drawing/2014/main" id="{5D0E416B-C7CF-41BB-AE81-6653104C2FAA}"/>
              </a:ext>
            </a:extLst>
          </p:cNvPr>
          <p:cNvSpPr/>
          <p:nvPr/>
        </p:nvSpPr>
        <p:spPr>
          <a:xfrm>
            <a:off x="3334971" y="300679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Chipset</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5" name="CustomShape 30">
            <a:extLst>
              <a:ext uri="{FF2B5EF4-FFF2-40B4-BE49-F238E27FC236}">
                <a16:creationId xmlns:a16="http://schemas.microsoft.com/office/drawing/2014/main" id="{02E9076A-A041-43D5-A6A2-E4E99C3AC5C7}"/>
              </a:ext>
            </a:extLst>
          </p:cNvPr>
          <p:cNvSpPr/>
          <p:nvPr/>
        </p:nvSpPr>
        <p:spPr>
          <a:xfrm>
            <a:off x="3334971" y="3548230"/>
            <a:ext cx="789840" cy="447120"/>
          </a:xfrm>
          <a:prstGeom prst="rect">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Board</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6" name="CustomShape 31">
            <a:extLst>
              <a:ext uri="{FF2B5EF4-FFF2-40B4-BE49-F238E27FC236}">
                <a16:creationId xmlns:a16="http://schemas.microsoft.com/office/drawing/2014/main" id="{5C05E9FD-C1E7-40ED-A037-F726EA19CF3C}"/>
              </a:ext>
            </a:extLst>
          </p:cNvPr>
          <p:cNvSpPr/>
          <p:nvPr/>
        </p:nvSpPr>
        <p:spPr>
          <a:xfrm>
            <a:off x="3334971" y="192751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PEI</a:t>
            </a:r>
            <a:br/>
            <a:r>
              <a:rPr lang="en-US" sz="1200" b="1" strike="noStrike" spc="-1">
                <a:solidFill>
                  <a:srgbClr val="FFFFFF"/>
                </a:solidFill>
                <a:latin typeface="Segoe UI"/>
                <a:ea typeface="DejaVu Sans"/>
              </a:rPr>
              <a:t>Core</a:t>
            </a:r>
            <a:endParaRPr lang="en-US" sz="1200" b="0" strike="noStrike" spc="-1">
              <a:latin typeface="Arial"/>
            </a:endParaRPr>
          </a:p>
        </p:txBody>
      </p:sp>
      <p:sp>
        <p:nvSpPr>
          <p:cNvPr id="37" name="CustomShape 32">
            <a:extLst>
              <a:ext uri="{FF2B5EF4-FFF2-40B4-BE49-F238E27FC236}">
                <a16:creationId xmlns:a16="http://schemas.microsoft.com/office/drawing/2014/main" id="{1320442A-99E0-4680-8578-2F2C941AA4BD}"/>
              </a:ext>
            </a:extLst>
          </p:cNvPr>
          <p:cNvSpPr/>
          <p:nvPr/>
        </p:nvSpPr>
        <p:spPr>
          <a:xfrm>
            <a:off x="8752971" y="372751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OS-Present</a:t>
            </a:r>
            <a:br/>
            <a:r>
              <a:rPr lang="en-US" sz="1200" b="1" strike="noStrike" spc="-1">
                <a:solidFill>
                  <a:srgbClr val="FFFFFF"/>
                </a:solidFill>
                <a:latin typeface="Segoe UI"/>
                <a:ea typeface="DejaVu Sans"/>
              </a:rPr>
              <a:t>App</a:t>
            </a:r>
            <a:endParaRPr lang="en-US" sz="1200" b="0" strike="noStrike" spc="-1">
              <a:latin typeface="Arial"/>
            </a:endParaRPr>
          </a:p>
        </p:txBody>
      </p:sp>
      <p:sp>
        <p:nvSpPr>
          <p:cNvPr id="38" name="CustomShape 33">
            <a:extLst>
              <a:ext uri="{FF2B5EF4-FFF2-40B4-BE49-F238E27FC236}">
                <a16:creationId xmlns:a16="http://schemas.microsoft.com/office/drawing/2014/main" id="{97DD8D88-6637-4F6E-A1AA-C217D442AEBD}"/>
              </a:ext>
            </a:extLst>
          </p:cNvPr>
          <p:cNvSpPr/>
          <p:nvPr/>
        </p:nvSpPr>
        <p:spPr>
          <a:xfrm>
            <a:off x="7132251" y="174787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OS-Absent</a:t>
            </a:r>
            <a:br/>
            <a:r>
              <a:rPr lang="en-US" sz="1200" b="1" strike="noStrike" spc="-1">
                <a:solidFill>
                  <a:srgbClr val="3F3F3F"/>
                </a:solidFill>
                <a:latin typeface="Segoe UI"/>
                <a:ea typeface="DejaVu Sans"/>
              </a:rPr>
              <a:t>App</a:t>
            </a:r>
            <a:endParaRPr lang="en-US" sz="1200" b="0" strike="noStrike" spc="-1">
              <a:latin typeface="Arial"/>
            </a:endParaRPr>
          </a:p>
        </p:txBody>
      </p:sp>
      <p:sp>
        <p:nvSpPr>
          <p:cNvPr id="39" name="CustomShape 34">
            <a:extLst>
              <a:ext uri="{FF2B5EF4-FFF2-40B4-BE49-F238E27FC236}">
                <a16:creationId xmlns:a16="http://schemas.microsoft.com/office/drawing/2014/main" id="{5EC12869-E49D-44AE-8BE0-A8D9E5345B70}"/>
              </a:ext>
            </a:extLst>
          </p:cNvPr>
          <p:cNvSpPr/>
          <p:nvPr/>
        </p:nvSpPr>
        <p:spPr>
          <a:xfrm>
            <a:off x="7132251" y="2467150"/>
            <a:ext cx="1366200" cy="44856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Environment</a:t>
            </a:r>
            <a:endParaRPr lang="en-US" sz="1200" b="0" strike="noStrike" spc="-1">
              <a:latin typeface="Arial"/>
            </a:endParaRPr>
          </a:p>
        </p:txBody>
      </p:sp>
      <p:sp>
        <p:nvSpPr>
          <p:cNvPr id="40" name="CustomShape 35">
            <a:extLst>
              <a:ext uri="{FF2B5EF4-FFF2-40B4-BE49-F238E27FC236}">
                <a16:creationId xmlns:a16="http://schemas.microsoft.com/office/drawing/2014/main" id="{35952F73-5E02-4853-83E7-76B3A81B4DDE}"/>
              </a:ext>
            </a:extLst>
          </p:cNvPr>
          <p:cNvSpPr/>
          <p:nvPr/>
        </p:nvSpPr>
        <p:spPr>
          <a:xfrm>
            <a:off x="7132251" y="318787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Boot Loader</a:t>
            </a:r>
            <a:endParaRPr lang="en-US" sz="1200" b="0" strike="noStrike" spc="-1">
              <a:latin typeface="Arial"/>
            </a:endParaRPr>
          </a:p>
        </p:txBody>
      </p:sp>
      <p:sp>
        <p:nvSpPr>
          <p:cNvPr id="41" name="CustomShape 36">
            <a:extLst>
              <a:ext uri="{FF2B5EF4-FFF2-40B4-BE49-F238E27FC236}">
                <a16:creationId xmlns:a16="http://schemas.microsoft.com/office/drawing/2014/main" id="{177C0582-0C57-4F78-94B5-96F67626D3E8}"/>
              </a:ext>
            </a:extLst>
          </p:cNvPr>
          <p:cNvSpPr/>
          <p:nvPr/>
        </p:nvSpPr>
        <p:spPr>
          <a:xfrm rot="16200000">
            <a:off x="7716171" y="228967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2" name="CustomShape 37">
            <a:extLst>
              <a:ext uri="{FF2B5EF4-FFF2-40B4-BE49-F238E27FC236}">
                <a16:creationId xmlns:a16="http://schemas.microsoft.com/office/drawing/2014/main" id="{DCE48CD2-B569-4247-89F9-D851E679B169}"/>
              </a:ext>
            </a:extLst>
          </p:cNvPr>
          <p:cNvSpPr/>
          <p:nvPr/>
        </p:nvSpPr>
        <p:spPr>
          <a:xfrm rot="5400000">
            <a:off x="7689891" y="228751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3" name="CustomShape 38">
            <a:extLst>
              <a:ext uri="{FF2B5EF4-FFF2-40B4-BE49-F238E27FC236}">
                <a16:creationId xmlns:a16="http://schemas.microsoft.com/office/drawing/2014/main" id="{DA9D30CF-7BA2-43B6-B78B-4F947B87D495}"/>
              </a:ext>
            </a:extLst>
          </p:cNvPr>
          <p:cNvSpPr/>
          <p:nvPr/>
        </p:nvSpPr>
        <p:spPr>
          <a:xfrm rot="16200000">
            <a:off x="7701771" y="300895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4" name="CustomShape 39">
            <a:extLst>
              <a:ext uri="{FF2B5EF4-FFF2-40B4-BE49-F238E27FC236}">
                <a16:creationId xmlns:a16="http://schemas.microsoft.com/office/drawing/2014/main" id="{53152463-8BE5-4962-A7D7-16A6065538E4}"/>
              </a:ext>
            </a:extLst>
          </p:cNvPr>
          <p:cNvSpPr/>
          <p:nvPr/>
        </p:nvSpPr>
        <p:spPr>
          <a:xfrm rot="5400000">
            <a:off x="7675491" y="300679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5" name="CustomShape 40">
            <a:extLst>
              <a:ext uri="{FF2B5EF4-FFF2-40B4-BE49-F238E27FC236}">
                <a16:creationId xmlns:a16="http://schemas.microsoft.com/office/drawing/2014/main" id="{5A796324-1A13-4538-AC0C-9ED68C3BCF13}"/>
              </a:ext>
            </a:extLst>
          </p:cNvPr>
          <p:cNvSpPr/>
          <p:nvPr/>
        </p:nvSpPr>
        <p:spPr>
          <a:xfrm rot="16200000">
            <a:off x="9328971" y="426931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6" name="CustomShape 41">
            <a:extLst>
              <a:ext uri="{FF2B5EF4-FFF2-40B4-BE49-F238E27FC236}">
                <a16:creationId xmlns:a16="http://schemas.microsoft.com/office/drawing/2014/main" id="{6F079DF3-1640-4FC8-8C5A-49BD23115F64}"/>
              </a:ext>
            </a:extLst>
          </p:cNvPr>
          <p:cNvSpPr/>
          <p:nvPr/>
        </p:nvSpPr>
        <p:spPr>
          <a:xfrm rot="5400000">
            <a:off x="9302691" y="426715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grpSp>
        <p:nvGrpSpPr>
          <p:cNvPr id="47" name="Group 42">
            <a:extLst>
              <a:ext uri="{FF2B5EF4-FFF2-40B4-BE49-F238E27FC236}">
                <a16:creationId xmlns:a16="http://schemas.microsoft.com/office/drawing/2014/main" id="{52580234-AF69-46CA-96F0-92A0776E6AA7}"/>
              </a:ext>
            </a:extLst>
          </p:cNvPr>
          <p:cNvGrpSpPr/>
          <p:nvPr/>
        </p:nvGrpSpPr>
        <p:grpSpPr>
          <a:xfrm>
            <a:off x="4744731" y="2233870"/>
            <a:ext cx="1032840" cy="1183680"/>
            <a:chOff x="2741760" y="1939680"/>
            <a:chExt cx="1032840" cy="1183680"/>
          </a:xfrm>
        </p:grpSpPr>
        <p:sp>
          <p:nvSpPr>
            <p:cNvPr id="48" name="CustomShape 43">
              <a:extLst>
                <a:ext uri="{FF2B5EF4-FFF2-40B4-BE49-F238E27FC236}">
                  <a16:creationId xmlns:a16="http://schemas.microsoft.com/office/drawing/2014/main" id="{161AAAB7-D8A3-4065-8FFE-15C5DCD2D157}"/>
                </a:ext>
              </a:extLst>
            </p:cNvPr>
            <p:cNvSpPr/>
            <p:nvPr/>
          </p:nvSpPr>
          <p:spPr>
            <a:xfrm>
              <a:off x="2967120" y="193968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49" name="CustomShape 44">
              <a:extLst>
                <a:ext uri="{FF2B5EF4-FFF2-40B4-BE49-F238E27FC236}">
                  <a16:creationId xmlns:a16="http://schemas.microsoft.com/office/drawing/2014/main" id="{8AF1867F-3CC1-40BD-B1DC-66A5D7336EB6}"/>
                </a:ext>
              </a:extLst>
            </p:cNvPr>
            <p:cNvSpPr/>
            <p:nvPr/>
          </p:nvSpPr>
          <p:spPr>
            <a:xfrm>
              <a:off x="2917800" y="2012400"/>
              <a:ext cx="80748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0" name="CustomShape 45">
              <a:extLst>
                <a:ext uri="{FF2B5EF4-FFF2-40B4-BE49-F238E27FC236}">
                  <a16:creationId xmlns:a16="http://schemas.microsoft.com/office/drawing/2014/main" id="{5D3BE443-86B3-4C92-A068-DE0542AAA5F3}"/>
                </a:ext>
              </a:extLst>
            </p:cNvPr>
            <p:cNvSpPr/>
            <p:nvPr/>
          </p:nvSpPr>
          <p:spPr>
            <a:xfrm>
              <a:off x="2863800" y="210312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51" name="CustomShape 46">
              <a:extLst>
                <a:ext uri="{FF2B5EF4-FFF2-40B4-BE49-F238E27FC236}">
                  <a16:creationId xmlns:a16="http://schemas.microsoft.com/office/drawing/2014/main" id="{41C7C134-A2BB-42C6-9108-08FC6C1F4D0A}"/>
                </a:ext>
              </a:extLst>
            </p:cNvPr>
            <p:cNvSpPr/>
            <p:nvPr/>
          </p:nvSpPr>
          <p:spPr>
            <a:xfrm>
              <a:off x="2805120" y="2190240"/>
              <a:ext cx="80892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2" name="CustomShape 47">
              <a:extLst>
                <a:ext uri="{FF2B5EF4-FFF2-40B4-BE49-F238E27FC236}">
                  <a16:creationId xmlns:a16="http://schemas.microsoft.com/office/drawing/2014/main" id="{77431D20-57EA-4DAA-B62F-485630B92D55}"/>
                </a:ext>
              </a:extLst>
            </p:cNvPr>
            <p:cNvSpPr/>
            <p:nvPr/>
          </p:nvSpPr>
          <p:spPr>
            <a:xfrm>
              <a:off x="2741760" y="2280960"/>
              <a:ext cx="807480" cy="842400"/>
            </a:xfrm>
            <a:prstGeom prst="rect">
              <a:avLst/>
            </a:prstGeom>
            <a:solidFill>
              <a:srgbClr val="FFCC00"/>
            </a:solidFill>
            <a:ln w="12600">
              <a:solidFill>
                <a:schemeClr val="tx1"/>
              </a:solidFill>
              <a:miter/>
            </a:ln>
          </p:spPr>
          <p:style>
            <a:lnRef idx="0">
              <a:scrgbClr r="0" g="0" b="0"/>
            </a:lnRef>
            <a:fillRef idx="0">
              <a:scrgbClr r="0" g="0" b="0"/>
            </a:fillRef>
            <a:effectRef idx="0">
              <a:scrgbClr r="0" g="0" b="0"/>
            </a:effectRef>
            <a:fontRef idx="minor"/>
          </p:style>
          <p:txBody>
            <a:bodyPr lIns="46080" tIns="46080" rIns="46080" bIns="46080" anchor="ctr">
              <a:noAutofit/>
            </a:bodyPr>
            <a:lstStyle/>
            <a:p>
              <a:pPr algn="ctr">
                <a:lnSpc>
                  <a:spcPct val="100000"/>
                </a:lnSpc>
              </a:pPr>
              <a:r>
                <a:rPr lang="en-US" sz="1200" b="1" strike="noStrike" spc="-1">
                  <a:solidFill>
                    <a:srgbClr val="3F3F3F"/>
                  </a:solidFill>
                  <a:latin typeface="Segoe UI"/>
                  <a:ea typeface="DejaVu Sans"/>
                </a:rPr>
                <a:t>Device,  Bus, or Service  Driver</a:t>
              </a:r>
              <a:endParaRPr lang="en-US" sz="1200" b="0" strike="noStrike" spc="-1">
                <a:latin typeface="Arial"/>
              </a:endParaRPr>
            </a:p>
          </p:txBody>
        </p:sp>
      </p:grpSp>
      <p:sp>
        <p:nvSpPr>
          <p:cNvPr id="53" name="CustomShape 48">
            <a:extLst>
              <a:ext uri="{FF2B5EF4-FFF2-40B4-BE49-F238E27FC236}">
                <a16:creationId xmlns:a16="http://schemas.microsoft.com/office/drawing/2014/main" id="{8FB1FBEC-669D-45E0-BFBD-C83EABAB9D54}"/>
              </a:ext>
            </a:extLst>
          </p:cNvPr>
          <p:cNvSpPr/>
          <p:nvPr/>
        </p:nvSpPr>
        <p:spPr>
          <a:xfrm rot="16200000">
            <a:off x="5263851" y="351547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4" name="CustomShape 49">
            <a:extLst>
              <a:ext uri="{FF2B5EF4-FFF2-40B4-BE49-F238E27FC236}">
                <a16:creationId xmlns:a16="http://schemas.microsoft.com/office/drawing/2014/main" id="{0FCDA9C0-340E-4267-A8B2-148139A98E94}"/>
              </a:ext>
            </a:extLst>
          </p:cNvPr>
          <p:cNvSpPr/>
          <p:nvPr/>
        </p:nvSpPr>
        <p:spPr>
          <a:xfrm rot="5400000">
            <a:off x="5223171" y="351331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5" name="CustomShape 50">
            <a:extLst>
              <a:ext uri="{FF2B5EF4-FFF2-40B4-BE49-F238E27FC236}">
                <a16:creationId xmlns:a16="http://schemas.microsoft.com/office/drawing/2014/main" id="{3E90967A-4E93-436E-BCEB-B4B47B99711F}"/>
              </a:ext>
            </a:extLst>
          </p:cNvPr>
          <p:cNvSpPr/>
          <p:nvPr/>
        </p:nvSpPr>
        <p:spPr>
          <a:xfrm>
            <a:off x="5873331" y="3727510"/>
            <a:ext cx="1437840" cy="537480"/>
          </a:xfrm>
          <a:prstGeom prst="ellipse">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Boot</a:t>
            </a:r>
            <a:br/>
            <a:r>
              <a:rPr lang="en-US" sz="1400" b="1" strike="noStrike" spc="-1">
                <a:solidFill>
                  <a:srgbClr val="FFFFFF"/>
                </a:solidFill>
                <a:latin typeface="Segoe UI"/>
                <a:ea typeface="DejaVu Sans"/>
              </a:rPr>
              <a:t>Manager</a:t>
            </a:r>
            <a:endParaRPr lang="en-US" sz="1400" b="0" strike="noStrike" spc="-1">
              <a:latin typeface="Arial"/>
            </a:endParaRPr>
          </a:p>
        </p:txBody>
      </p:sp>
      <p:sp>
        <p:nvSpPr>
          <p:cNvPr id="56" name="Line 51">
            <a:extLst>
              <a:ext uri="{FF2B5EF4-FFF2-40B4-BE49-F238E27FC236}">
                <a16:creationId xmlns:a16="http://schemas.microsoft.com/office/drawing/2014/main" id="{2959B37A-EB6F-429D-BB1B-4CEFAA024946}"/>
              </a:ext>
            </a:extLst>
          </p:cNvPr>
          <p:cNvSpPr/>
          <p:nvPr/>
        </p:nvSpPr>
        <p:spPr>
          <a:xfrm flipH="1">
            <a:off x="6142971" y="2108230"/>
            <a:ext cx="17640" cy="107928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7" name="Line 52">
            <a:extLst>
              <a:ext uri="{FF2B5EF4-FFF2-40B4-BE49-F238E27FC236}">
                <a16:creationId xmlns:a16="http://schemas.microsoft.com/office/drawing/2014/main" id="{0B627131-3274-48EE-ADC3-B4AA45A03559}"/>
              </a:ext>
            </a:extLst>
          </p:cNvPr>
          <p:cNvSpPr/>
          <p:nvPr/>
        </p:nvSpPr>
        <p:spPr>
          <a:xfrm flipH="1">
            <a:off x="6142971" y="4448230"/>
            <a:ext cx="17640" cy="53964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8" name="CustomShape 53">
            <a:extLst>
              <a:ext uri="{FF2B5EF4-FFF2-40B4-BE49-F238E27FC236}">
                <a16:creationId xmlns:a16="http://schemas.microsoft.com/office/drawing/2014/main" id="{8565B960-6908-4989-A4E8-60544AC97725}"/>
              </a:ext>
            </a:extLst>
          </p:cNvPr>
          <p:cNvSpPr/>
          <p:nvPr/>
        </p:nvSpPr>
        <p:spPr>
          <a:xfrm>
            <a:off x="5616291" y="3997510"/>
            <a:ext cx="2548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59" name="Line 54">
            <a:extLst>
              <a:ext uri="{FF2B5EF4-FFF2-40B4-BE49-F238E27FC236}">
                <a16:creationId xmlns:a16="http://schemas.microsoft.com/office/drawing/2014/main" id="{430A5995-FD8D-41BB-98E4-C3CB48C83FB4}"/>
              </a:ext>
            </a:extLst>
          </p:cNvPr>
          <p:cNvSpPr/>
          <p:nvPr/>
        </p:nvSpPr>
        <p:spPr>
          <a:xfrm flipH="1">
            <a:off x="4756971" y="4267150"/>
            <a:ext cx="5040" cy="181080"/>
          </a:xfrm>
          <a:prstGeom prst="line">
            <a:avLst/>
          </a:prstGeom>
          <a:ln w="63360">
            <a:solidFill>
              <a:srgbClr val="1218FA"/>
            </a:solidFill>
            <a:round/>
          </a:ln>
        </p:spPr>
        <p:style>
          <a:lnRef idx="1">
            <a:schemeClr val="accent1"/>
          </a:lnRef>
          <a:fillRef idx="0">
            <a:schemeClr val="accent1"/>
          </a:fillRef>
          <a:effectRef idx="0">
            <a:schemeClr val="accent1"/>
          </a:effectRef>
          <a:fontRef idx="minor"/>
        </p:style>
      </p:sp>
      <p:sp>
        <p:nvSpPr>
          <p:cNvPr id="60" name="CustomShape 55">
            <a:extLst>
              <a:ext uri="{FF2B5EF4-FFF2-40B4-BE49-F238E27FC236}">
                <a16:creationId xmlns:a16="http://schemas.microsoft.com/office/drawing/2014/main" id="{646DE3D5-A6DD-4A71-8B59-A4B5681D0993}"/>
              </a:ext>
            </a:extLst>
          </p:cNvPr>
          <p:cNvSpPr/>
          <p:nvPr/>
        </p:nvSpPr>
        <p:spPr>
          <a:xfrm>
            <a:off x="8500611" y="4672150"/>
            <a:ext cx="25020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1" name="CustomShape 56">
            <a:extLst>
              <a:ext uri="{FF2B5EF4-FFF2-40B4-BE49-F238E27FC236}">
                <a16:creationId xmlns:a16="http://schemas.microsoft.com/office/drawing/2014/main" id="{11943A76-D77E-4BDB-9D43-A8DBC28E40EE}"/>
              </a:ext>
            </a:extLst>
          </p:cNvPr>
          <p:cNvSpPr/>
          <p:nvPr/>
        </p:nvSpPr>
        <p:spPr>
          <a:xfrm rot="18180000">
            <a:off x="7228011" y="369655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2" name="CustomShape 57">
            <a:extLst>
              <a:ext uri="{FF2B5EF4-FFF2-40B4-BE49-F238E27FC236}">
                <a16:creationId xmlns:a16="http://schemas.microsoft.com/office/drawing/2014/main" id="{5D8A38AE-584B-416A-BA57-C4436B9D459E}"/>
              </a:ext>
            </a:extLst>
          </p:cNvPr>
          <p:cNvSpPr/>
          <p:nvPr/>
        </p:nvSpPr>
        <p:spPr>
          <a:xfrm rot="7380000">
            <a:off x="7199931" y="367423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3" name="CustomShape 58">
            <a:extLst>
              <a:ext uri="{FF2B5EF4-FFF2-40B4-BE49-F238E27FC236}">
                <a16:creationId xmlns:a16="http://schemas.microsoft.com/office/drawing/2014/main" id="{32063E4A-E10E-4E00-B029-5D93572EA9C3}"/>
              </a:ext>
            </a:extLst>
          </p:cNvPr>
          <p:cNvSpPr/>
          <p:nvPr/>
        </p:nvSpPr>
        <p:spPr>
          <a:xfrm>
            <a:off x="7102011" y="4187950"/>
            <a:ext cx="308880" cy="25344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4" name="CustomShape 59">
            <a:extLst>
              <a:ext uri="{FF2B5EF4-FFF2-40B4-BE49-F238E27FC236}">
                <a16:creationId xmlns:a16="http://schemas.microsoft.com/office/drawing/2014/main" id="{D9465C38-AB37-457A-867C-AFD4AD1CDA81}"/>
              </a:ext>
            </a:extLst>
          </p:cNvPr>
          <p:cNvSpPr/>
          <p:nvPr/>
        </p:nvSpPr>
        <p:spPr>
          <a:xfrm>
            <a:off x="3226971" y="1612870"/>
            <a:ext cx="502560" cy="31212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5" name="CustomShape 60">
            <a:extLst>
              <a:ext uri="{FF2B5EF4-FFF2-40B4-BE49-F238E27FC236}">
                <a16:creationId xmlns:a16="http://schemas.microsoft.com/office/drawing/2014/main" id="{56D191DC-2DF6-483A-8619-7F024DA7D94B}"/>
              </a:ext>
            </a:extLst>
          </p:cNvPr>
          <p:cNvSpPr/>
          <p:nvPr/>
        </p:nvSpPr>
        <p:spPr>
          <a:xfrm rot="5400000">
            <a:off x="6226851" y="2004190"/>
            <a:ext cx="348840" cy="41076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6" name="CustomShape 61">
            <a:extLst>
              <a:ext uri="{FF2B5EF4-FFF2-40B4-BE49-F238E27FC236}">
                <a16:creationId xmlns:a16="http://schemas.microsoft.com/office/drawing/2014/main" id="{27543382-B146-44CE-8B5B-CF2D852D97A4}"/>
              </a:ext>
            </a:extLst>
          </p:cNvPr>
          <p:cNvSpPr/>
          <p:nvPr/>
        </p:nvSpPr>
        <p:spPr>
          <a:xfrm>
            <a:off x="3298251" y="1316230"/>
            <a:ext cx="671040" cy="301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Verify</a:t>
            </a:r>
            <a:endParaRPr lang="en-US" sz="1400" b="0" strike="noStrike" spc="-1">
              <a:latin typeface="Arial"/>
            </a:endParaRPr>
          </a:p>
        </p:txBody>
      </p:sp>
      <p:sp>
        <p:nvSpPr>
          <p:cNvPr id="67" name="CustomShape 62">
            <a:extLst>
              <a:ext uri="{FF2B5EF4-FFF2-40B4-BE49-F238E27FC236}">
                <a16:creationId xmlns:a16="http://schemas.microsoft.com/office/drawing/2014/main" id="{09CA61A8-54B8-4097-A1C9-D661483EF2A0}"/>
              </a:ext>
            </a:extLst>
          </p:cNvPr>
          <p:cNvSpPr/>
          <p:nvPr/>
        </p:nvSpPr>
        <p:spPr>
          <a:xfrm>
            <a:off x="6102651" y="1513150"/>
            <a:ext cx="1006920" cy="5148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EFI/UEFI</a:t>
            </a:r>
            <a:br/>
            <a:r>
              <a:rPr lang="en-US" sz="1400" b="1" strike="noStrike" spc="-1">
                <a:solidFill>
                  <a:srgbClr val="3F3F3F"/>
                </a:solidFill>
                <a:latin typeface="Segoe UI"/>
                <a:ea typeface="DejaVu Sans"/>
              </a:rPr>
              <a:t>Interfaces</a:t>
            </a:r>
            <a:endParaRPr lang="en-US" sz="1400" b="0" strike="noStrike" spc="-1">
              <a:latin typeface="Arial"/>
            </a:endParaRPr>
          </a:p>
        </p:txBody>
      </p:sp>
      <p:sp>
        <p:nvSpPr>
          <p:cNvPr id="68" name="CustomShape 63">
            <a:extLst>
              <a:ext uri="{FF2B5EF4-FFF2-40B4-BE49-F238E27FC236}">
                <a16:creationId xmlns:a16="http://schemas.microsoft.com/office/drawing/2014/main" id="{4C671AF1-F3DA-4EAC-8D99-D36BB8EAEB20}"/>
              </a:ext>
            </a:extLst>
          </p:cNvPr>
          <p:cNvSpPr/>
          <p:nvPr/>
        </p:nvSpPr>
        <p:spPr>
          <a:xfrm rot="8100000">
            <a:off x="4091331" y="354571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9" name="CustomShape 64">
            <a:extLst>
              <a:ext uri="{FF2B5EF4-FFF2-40B4-BE49-F238E27FC236}">
                <a16:creationId xmlns:a16="http://schemas.microsoft.com/office/drawing/2014/main" id="{1837886F-1766-4B51-BF79-61126C70B5B0}"/>
              </a:ext>
            </a:extLst>
          </p:cNvPr>
          <p:cNvSpPr/>
          <p:nvPr/>
        </p:nvSpPr>
        <p:spPr>
          <a:xfrm rot="8100000">
            <a:off x="4091331" y="300427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0" name="CustomShape 65">
            <a:extLst>
              <a:ext uri="{FF2B5EF4-FFF2-40B4-BE49-F238E27FC236}">
                <a16:creationId xmlns:a16="http://schemas.microsoft.com/office/drawing/2014/main" id="{7C302386-E861-4777-8D73-1F1ED37ACA90}"/>
              </a:ext>
            </a:extLst>
          </p:cNvPr>
          <p:cNvSpPr/>
          <p:nvPr/>
        </p:nvSpPr>
        <p:spPr>
          <a:xfrm rot="8100000">
            <a:off x="4091331" y="246463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1" name="CustomShape 66">
            <a:extLst>
              <a:ext uri="{FF2B5EF4-FFF2-40B4-BE49-F238E27FC236}">
                <a16:creationId xmlns:a16="http://schemas.microsoft.com/office/drawing/2014/main" id="{1DDB29E5-69BF-4A4C-AF27-2071A7C75FAD}"/>
              </a:ext>
            </a:extLst>
          </p:cNvPr>
          <p:cNvSpPr/>
          <p:nvPr/>
        </p:nvSpPr>
        <p:spPr>
          <a:xfrm>
            <a:off x="2286651" y="6295030"/>
            <a:ext cx="5117040" cy="3934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2000" b="1" strike="noStrike" spc="-1">
                <a:solidFill>
                  <a:srgbClr val="3F3F3F"/>
                </a:solidFill>
                <a:latin typeface="Segoe UI"/>
                <a:ea typeface="DejaVu Sans"/>
              </a:rPr>
              <a:t>Components Covered by Framework &amp; PI</a:t>
            </a:r>
            <a:endParaRPr lang="en-US" sz="2000" b="0" strike="noStrike" spc="-1">
              <a:latin typeface="Arial"/>
            </a:endParaRPr>
          </a:p>
        </p:txBody>
      </p:sp>
      <p:sp>
        <p:nvSpPr>
          <p:cNvPr id="72" name="CustomShape 67">
            <a:extLst>
              <a:ext uri="{FF2B5EF4-FFF2-40B4-BE49-F238E27FC236}">
                <a16:creationId xmlns:a16="http://schemas.microsoft.com/office/drawing/2014/main" id="{47F732CB-A19C-4FAB-9775-119728282A86}"/>
              </a:ext>
            </a:extLst>
          </p:cNvPr>
          <p:cNvSpPr/>
          <p:nvPr/>
        </p:nvSpPr>
        <p:spPr>
          <a:xfrm rot="5400000">
            <a:off x="4557531" y="3944950"/>
            <a:ext cx="302760" cy="4646160"/>
          </a:xfrm>
          <a:prstGeom prst="rightBrace">
            <a:avLst>
              <a:gd name="adj1" fmla="val 8333"/>
              <a:gd name="adj2" fmla="val 50000"/>
            </a:avLst>
          </a:prstGeom>
          <a:noFill/>
          <a:ln w="38160">
            <a:solidFill>
              <a:schemeClr val="tx1"/>
            </a:solidFill>
            <a:round/>
          </a:ln>
        </p:spPr>
        <p:style>
          <a:lnRef idx="1">
            <a:schemeClr val="accent1"/>
          </a:lnRef>
          <a:fillRef idx="0">
            <a:schemeClr val="accent1"/>
          </a:fillRef>
          <a:effectRef idx="0">
            <a:schemeClr val="accent1"/>
          </a:effectRef>
          <a:fontRef idx="minor"/>
        </p:style>
      </p:sp>
      <p:grpSp>
        <p:nvGrpSpPr>
          <p:cNvPr id="73" name="Group 68">
            <a:extLst>
              <a:ext uri="{FF2B5EF4-FFF2-40B4-BE49-F238E27FC236}">
                <a16:creationId xmlns:a16="http://schemas.microsoft.com/office/drawing/2014/main" id="{2752ED73-B68D-444E-B374-6B154EBAE12D}"/>
              </a:ext>
            </a:extLst>
          </p:cNvPr>
          <p:cNvGrpSpPr/>
          <p:nvPr/>
        </p:nvGrpSpPr>
        <p:grpSpPr>
          <a:xfrm>
            <a:off x="4531971" y="1392190"/>
            <a:ext cx="5774760" cy="4493520"/>
            <a:chOff x="2529000" y="1098000"/>
            <a:chExt cx="5774760" cy="4493520"/>
          </a:xfrm>
        </p:grpSpPr>
        <p:grpSp>
          <p:nvGrpSpPr>
            <p:cNvPr id="74" name="Group 69">
              <a:extLst>
                <a:ext uri="{FF2B5EF4-FFF2-40B4-BE49-F238E27FC236}">
                  <a16:creationId xmlns:a16="http://schemas.microsoft.com/office/drawing/2014/main" id="{A8ABE6DE-86FE-4D01-B0C7-D830D1C79B68}"/>
                </a:ext>
              </a:extLst>
            </p:cNvPr>
            <p:cNvGrpSpPr/>
            <p:nvPr/>
          </p:nvGrpSpPr>
          <p:grpSpPr>
            <a:xfrm>
              <a:off x="4052880" y="1098000"/>
              <a:ext cx="4250880" cy="4493520"/>
              <a:chOff x="4052880" y="1098000"/>
              <a:chExt cx="4250880" cy="4493520"/>
            </a:xfrm>
          </p:grpSpPr>
          <p:sp>
            <p:nvSpPr>
              <p:cNvPr id="76" name="CustomShape 70">
                <a:extLst>
                  <a:ext uri="{FF2B5EF4-FFF2-40B4-BE49-F238E27FC236}">
                    <a16:creationId xmlns:a16="http://schemas.microsoft.com/office/drawing/2014/main" id="{1E39D6EA-E26C-41B1-89A5-38D7680928C9}"/>
                  </a:ext>
                </a:extLst>
              </p:cNvPr>
              <p:cNvSpPr/>
              <p:nvPr/>
            </p:nvSpPr>
            <p:spPr>
              <a:xfrm>
                <a:off x="5043600" y="1098000"/>
                <a:ext cx="3260160" cy="4493520"/>
              </a:xfrm>
              <a:prstGeom prst="rect">
                <a:avLst/>
              </a:prstGeom>
              <a:solidFill>
                <a:schemeClr val="tx1">
                  <a:lumMod val="95000"/>
                  <a:lumOff val="5000"/>
                  <a:alpha val="40000"/>
                </a:schemeClr>
              </a:solidFill>
              <a:ln>
                <a:noFill/>
              </a:ln>
            </p:spPr>
            <p:style>
              <a:lnRef idx="2">
                <a:schemeClr val="accent1">
                  <a:shade val="50000"/>
                </a:schemeClr>
              </a:lnRef>
              <a:fillRef idx="1">
                <a:schemeClr val="accent1"/>
              </a:fillRef>
              <a:effectRef idx="0">
                <a:schemeClr val="accent1"/>
              </a:effectRef>
              <a:fontRef idx="minor"/>
            </p:style>
          </p:sp>
          <p:sp>
            <p:nvSpPr>
              <p:cNvPr id="77" name="CustomShape 71">
                <a:extLst>
                  <a:ext uri="{FF2B5EF4-FFF2-40B4-BE49-F238E27FC236}">
                    <a16:creationId xmlns:a16="http://schemas.microsoft.com/office/drawing/2014/main" id="{D328B709-76B3-4D3A-A0B7-9B835CC46E5F}"/>
                  </a:ext>
                </a:extLst>
              </p:cNvPr>
              <p:cNvSpPr/>
              <p:nvPr/>
            </p:nvSpPr>
            <p:spPr>
              <a:xfrm>
                <a:off x="4052880" y="1098000"/>
                <a:ext cx="988560" cy="3807720"/>
              </a:xfrm>
              <a:prstGeom prst="rect">
                <a:avLst/>
              </a:prstGeom>
              <a:solidFill>
                <a:schemeClr val="tx1">
                  <a:lumMod val="95000"/>
                  <a:lumOff val="5000"/>
                  <a:alpha val="40000"/>
                </a:schemeClr>
              </a:solidFill>
              <a:ln>
                <a:noFill/>
              </a:ln>
            </p:spPr>
            <p:style>
              <a:lnRef idx="2">
                <a:schemeClr val="accent1">
                  <a:shade val="50000"/>
                </a:schemeClr>
              </a:lnRef>
              <a:fillRef idx="1">
                <a:schemeClr val="accent1"/>
              </a:fillRef>
              <a:effectRef idx="0">
                <a:schemeClr val="accent1"/>
              </a:effectRef>
              <a:fontRef idx="minor"/>
            </p:style>
          </p:sp>
        </p:grpSp>
        <p:sp>
          <p:nvSpPr>
            <p:cNvPr id="75" name="CustomShape 72">
              <a:extLst>
                <a:ext uri="{FF2B5EF4-FFF2-40B4-BE49-F238E27FC236}">
                  <a16:creationId xmlns:a16="http://schemas.microsoft.com/office/drawing/2014/main" id="{30B14FF5-8FE2-4DE5-BE83-181A29516473}"/>
                </a:ext>
              </a:extLst>
            </p:cNvPr>
            <p:cNvSpPr/>
            <p:nvPr/>
          </p:nvSpPr>
          <p:spPr>
            <a:xfrm>
              <a:off x="2529000" y="1098000"/>
              <a:ext cx="1521720" cy="2207520"/>
            </a:xfrm>
            <a:prstGeom prst="rect">
              <a:avLst/>
            </a:prstGeom>
            <a:solidFill>
              <a:schemeClr val="tx1">
                <a:lumMod val="95000"/>
                <a:lumOff val="5000"/>
                <a:alpha val="40000"/>
              </a:schemeClr>
            </a:solidFill>
            <a:ln>
              <a:noFill/>
            </a:ln>
          </p:spPr>
          <p:style>
            <a:lnRef idx="2">
              <a:schemeClr val="accent1">
                <a:shade val="50000"/>
              </a:schemeClr>
            </a:lnRef>
            <a:fillRef idx="1">
              <a:schemeClr val="accent1"/>
            </a:fillRef>
            <a:effectRef idx="0">
              <a:schemeClr val="accent1"/>
            </a:effectRef>
            <a:fontRef idx="minor"/>
          </p:style>
        </p:sp>
      </p:grpSp>
      <p:sp>
        <p:nvSpPr>
          <p:cNvPr id="78" name="CustomShape 73">
            <a:extLst>
              <a:ext uri="{FF2B5EF4-FFF2-40B4-BE49-F238E27FC236}">
                <a16:creationId xmlns:a16="http://schemas.microsoft.com/office/drawing/2014/main" id="{0EAD174A-F58D-48F3-9E14-635D874542D0}"/>
              </a:ext>
            </a:extLst>
          </p:cNvPr>
          <p:cNvSpPr/>
          <p:nvPr/>
        </p:nvSpPr>
        <p:spPr>
          <a:xfrm>
            <a:off x="6575691" y="2382910"/>
            <a:ext cx="2478960" cy="10033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2000" b="1" strike="noStrike" spc="-1">
                <a:solidFill>
                  <a:srgbClr val="FFFFFF"/>
                </a:solidFill>
                <a:latin typeface="Segoe UI"/>
                <a:ea typeface="DejaVu Sans"/>
              </a:rPr>
              <a:t>Not</a:t>
            </a:r>
            <a:br/>
            <a:r>
              <a:rPr lang="en-US" sz="2000" b="1" strike="noStrike" spc="-1">
                <a:solidFill>
                  <a:srgbClr val="FFFFFF"/>
                </a:solidFill>
                <a:latin typeface="Segoe UI"/>
                <a:ea typeface="DejaVu Sans"/>
              </a:rPr>
              <a:t>Covered</a:t>
            </a:r>
            <a:br/>
            <a:r>
              <a:rPr lang="en-US" sz="2000" b="1" strike="noStrike" spc="-1">
                <a:solidFill>
                  <a:srgbClr val="FFFFFF"/>
                </a:solidFill>
                <a:latin typeface="Segoe UI"/>
                <a:ea typeface="DejaVu Sans"/>
              </a:rPr>
              <a:t>by Framework &amp; PI</a:t>
            </a:r>
            <a:endParaRPr lang="en-US" sz="2000" b="0" strike="noStrike" spc="-1">
              <a:latin typeface="Arial"/>
            </a:endParaRPr>
          </a:p>
        </p:txBody>
      </p:sp>
    </p:spTree>
    <p:extLst>
      <p:ext uri="{BB962C8B-B14F-4D97-AF65-F5344CB8AC3E}">
        <p14:creationId xmlns:p14="http://schemas.microsoft.com/office/powerpoint/2010/main" val="200035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blinds(vertical)">
                                      <p:cBhvr additive="repl">
                                        <p:cTn id="7" dur="500"/>
                                        <p:tgtEl>
                                          <p:spTgt spid="73"/>
                                        </p:tgtEl>
                                      </p:cBhvr>
                                    </p:animEffect>
                                  </p:childTnLst>
                                </p:cTn>
                              </p:par>
                              <p:par>
                                <p:cTn id="8" presetID="3" presetClass="entr" presetSubtype="5" fill="hold" nodeType="withEffect">
                                  <p:stCondLst>
                                    <p:cond delay="0"/>
                                  </p:stCondLst>
                                  <p:childTnLst>
                                    <p:set>
                                      <p:cBhvr>
                                        <p:cTn id="9" dur="1" fill="hold">
                                          <p:stCondLst>
                                            <p:cond delay="0"/>
                                          </p:stCondLst>
                                        </p:cTn>
                                        <p:tgtEl>
                                          <p:spTgt spid="78"/>
                                        </p:tgtEl>
                                        <p:attrNameLst>
                                          <p:attrName>style.visibility</p:attrName>
                                        </p:attrNameLst>
                                      </p:cBhvr>
                                      <p:to>
                                        <p:strVal val="visible"/>
                                      </p:to>
                                    </p:set>
                                    <p:animEffect transition="in" filter="blinds(vertical)">
                                      <p:cBhvr additive="repl">
                                        <p:cTn id="10" dur="500"/>
                                        <p:tgtEl>
                                          <p:spTgt spid="7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blinds(horizontal)">
                                      <p:cBhvr additive="repl">
                                        <p:cTn id="15" dur="500"/>
                                        <p:tgtEl>
                                          <p:spTgt spid="72"/>
                                        </p:tgtEl>
                                      </p:cBhvr>
                                    </p:animEffect>
                                  </p:childTnLst>
                                </p:cTn>
                              </p:par>
                              <p:par>
                                <p:cTn id="16" presetID="3" presetClass="entr" presetSubtype="10" fill="hold" nodeType="with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blinds(horizontal)">
                                      <p:cBhvr additive="repl">
                                        <p:cTn id="1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1353800" cy="1075765"/>
          </a:xfrm>
        </p:spPr>
        <p:txBody>
          <a:bodyPr>
            <a:normAutofit fontScale="90000"/>
          </a:bodyPr>
          <a:lstStyle/>
          <a:p>
            <a:r>
              <a:rPr lang="en-US" dirty="0"/>
              <a:t>General Overview</a:t>
            </a:r>
            <a:br>
              <a:rPr lang="en-US" dirty="0"/>
            </a:br>
            <a:r>
              <a:rPr lang="en-US" sz="3100" dirty="0"/>
              <a:t>Platform Boot Flow: Where UEFI and PI Fit into the Platform Boot Flow</a:t>
            </a:r>
            <a:endParaRPr lang="en-US" dirty="0"/>
          </a:p>
        </p:txBody>
      </p:sp>
      <p:sp>
        <p:nvSpPr>
          <p:cNvPr id="6" name="CustomShape 1">
            <a:extLst>
              <a:ext uri="{FF2B5EF4-FFF2-40B4-BE49-F238E27FC236}">
                <a16:creationId xmlns:a16="http://schemas.microsoft.com/office/drawing/2014/main" id="{1F784271-5131-400D-9382-FF40F502EB21}"/>
              </a:ext>
            </a:extLst>
          </p:cNvPr>
          <p:cNvSpPr/>
          <p:nvPr/>
        </p:nvSpPr>
        <p:spPr>
          <a:xfrm>
            <a:off x="3725955" y="2592015"/>
            <a:ext cx="235800" cy="1298160"/>
          </a:xfrm>
          <a:prstGeom prst="bentConnector2">
            <a:avLst/>
          </a:prstGeom>
          <a:noFill/>
          <a:ln w="25560">
            <a:solidFill>
              <a:schemeClr val="tx1"/>
            </a:solidFill>
            <a:round/>
          </a:ln>
        </p:spPr>
        <p:style>
          <a:lnRef idx="1">
            <a:schemeClr val="accent1"/>
          </a:lnRef>
          <a:fillRef idx="0">
            <a:schemeClr val="accent1"/>
          </a:fillRef>
          <a:effectRef idx="0">
            <a:schemeClr val="accent1"/>
          </a:effectRef>
          <a:fontRef idx="minor"/>
        </p:style>
      </p:sp>
      <p:sp>
        <p:nvSpPr>
          <p:cNvPr id="7" name="Line 2">
            <a:extLst>
              <a:ext uri="{FF2B5EF4-FFF2-40B4-BE49-F238E27FC236}">
                <a16:creationId xmlns:a16="http://schemas.microsoft.com/office/drawing/2014/main" id="{F7C12F03-4AA1-4F2A-B6CA-C8D54F0CB56A}"/>
              </a:ext>
            </a:extLst>
          </p:cNvPr>
          <p:cNvSpPr/>
          <p:nvPr/>
        </p:nvSpPr>
        <p:spPr>
          <a:xfrm flipH="1">
            <a:off x="4159395" y="1906215"/>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8" name="CustomShape 3">
            <a:extLst>
              <a:ext uri="{FF2B5EF4-FFF2-40B4-BE49-F238E27FC236}">
                <a16:creationId xmlns:a16="http://schemas.microsoft.com/office/drawing/2014/main" id="{283A5164-8DE6-4E1B-9F9B-C574D3E43905}"/>
              </a:ext>
            </a:extLst>
          </p:cNvPr>
          <p:cNvSpPr/>
          <p:nvPr/>
        </p:nvSpPr>
        <p:spPr>
          <a:xfrm>
            <a:off x="3543435" y="4155855"/>
            <a:ext cx="1707480" cy="537480"/>
          </a:xfrm>
          <a:prstGeom prst="ellipse">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 Driver</a:t>
            </a:r>
            <a:br/>
            <a:r>
              <a:rPr lang="en-US" sz="1400" b="1" strike="noStrike" spc="-1">
                <a:solidFill>
                  <a:srgbClr val="FFFFFF"/>
                </a:solidFill>
                <a:latin typeface="Segoe UI"/>
                <a:ea typeface="DejaVu Sans"/>
              </a:rPr>
              <a:t>Dispatcher</a:t>
            </a:r>
            <a:endParaRPr lang="en-US" sz="1400" b="0" strike="noStrike" spc="-1">
              <a:latin typeface="Arial"/>
            </a:endParaRPr>
          </a:p>
        </p:txBody>
      </p:sp>
      <p:sp>
        <p:nvSpPr>
          <p:cNvPr id="9" name="CustomShape 5">
            <a:extLst>
              <a:ext uri="{FF2B5EF4-FFF2-40B4-BE49-F238E27FC236}">
                <a16:creationId xmlns:a16="http://schemas.microsoft.com/office/drawing/2014/main" id="{1922BA66-79DF-4741-B21E-FDE4EE23B0AC}"/>
              </a:ext>
            </a:extLst>
          </p:cNvPr>
          <p:cNvSpPr/>
          <p:nvPr/>
        </p:nvSpPr>
        <p:spPr>
          <a:xfrm>
            <a:off x="2000475" y="5595855"/>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Security</a:t>
            </a:r>
            <a:br/>
            <a:r>
              <a:rPr lang="en-US" sz="1200" b="1" strike="noStrike" spc="-1">
                <a:solidFill>
                  <a:srgbClr val="3F3F3F"/>
                </a:solidFill>
                <a:latin typeface="Segoe UI"/>
                <a:ea typeface="DejaVu Sans"/>
              </a:rPr>
              <a:t> (SEC)</a:t>
            </a:r>
            <a:endParaRPr lang="en-US" sz="1200" b="0" strike="noStrike" spc="-1">
              <a:latin typeface="Arial"/>
            </a:endParaRPr>
          </a:p>
        </p:txBody>
      </p:sp>
      <p:sp>
        <p:nvSpPr>
          <p:cNvPr id="10" name="CustomShape 6">
            <a:extLst>
              <a:ext uri="{FF2B5EF4-FFF2-40B4-BE49-F238E27FC236}">
                <a16:creationId xmlns:a16="http://schemas.microsoft.com/office/drawing/2014/main" id="{6D96647A-9FDA-4BC0-97DE-8361DDC15E08}"/>
              </a:ext>
            </a:extLst>
          </p:cNvPr>
          <p:cNvSpPr/>
          <p:nvPr/>
        </p:nvSpPr>
        <p:spPr>
          <a:xfrm>
            <a:off x="1952955" y="6316575"/>
            <a:ext cx="99324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Power On</a:t>
            </a:r>
            <a:endParaRPr lang="en-US" sz="1400" b="0" strike="noStrike" spc="-1">
              <a:latin typeface="Arial"/>
            </a:endParaRPr>
          </a:p>
        </p:txBody>
      </p:sp>
      <p:sp>
        <p:nvSpPr>
          <p:cNvPr id="11" name="CustomShape 7">
            <a:extLst>
              <a:ext uri="{FF2B5EF4-FFF2-40B4-BE49-F238E27FC236}">
                <a16:creationId xmlns:a16="http://schemas.microsoft.com/office/drawing/2014/main" id="{CCD64FF8-3D84-4728-9E7D-E0A60EA0AB47}"/>
              </a:ext>
            </a:extLst>
          </p:cNvPr>
          <p:cNvSpPr/>
          <p:nvPr/>
        </p:nvSpPr>
        <p:spPr>
          <a:xfrm>
            <a:off x="9133155" y="6316575"/>
            <a:ext cx="10314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Shutdown</a:t>
            </a:r>
            <a:endParaRPr lang="en-US" sz="1400" b="0" strike="noStrike" spc="-1">
              <a:latin typeface="Arial"/>
            </a:endParaRPr>
          </a:p>
        </p:txBody>
      </p:sp>
      <p:sp>
        <p:nvSpPr>
          <p:cNvPr id="12" name="CustomShape 8">
            <a:extLst>
              <a:ext uri="{FF2B5EF4-FFF2-40B4-BE49-F238E27FC236}">
                <a16:creationId xmlns:a16="http://schemas.microsoft.com/office/drawing/2014/main" id="{0FC925ED-981D-4DD0-AB4B-183551DA43DD}"/>
              </a:ext>
            </a:extLst>
          </p:cNvPr>
          <p:cNvSpPr/>
          <p:nvPr/>
        </p:nvSpPr>
        <p:spPr>
          <a:xfrm>
            <a:off x="3797955" y="6316575"/>
            <a:ext cx="23436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[..Platform Initialization..]</a:t>
            </a:r>
            <a:endParaRPr lang="en-US" sz="1400" b="0" strike="noStrike" spc="-1">
              <a:latin typeface="Arial"/>
            </a:endParaRPr>
          </a:p>
        </p:txBody>
      </p:sp>
      <p:sp>
        <p:nvSpPr>
          <p:cNvPr id="13" name="CustomShape 9">
            <a:extLst>
              <a:ext uri="{FF2B5EF4-FFF2-40B4-BE49-F238E27FC236}">
                <a16:creationId xmlns:a16="http://schemas.microsoft.com/office/drawing/2014/main" id="{8C672458-013D-484C-894E-8275E0272B11}"/>
              </a:ext>
            </a:extLst>
          </p:cNvPr>
          <p:cNvSpPr/>
          <p:nvPr/>
        </p:nvSpPr>
        <p:spPr>
          <a:xfrm>
            <a:off x="6891795" y="6316575"/>
            <a:ext cx="119412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[..OS Boot..]</a:t>
            </a:r>
            <a:endParaRPr lang="en-US" sz="1400" b="0" strike="noStrike" spc="-1">
              <a:latin typeface="Arial"/>
            </a:endParaRPr>
          </a:p>
        </p:txBody>
      </p:sp>
      <p:sp>
        <p:nvSpPr>
          <p:cNvPr id="14" name="CustomShape 10">
            <a:extLst>
              <a:ext uri="{FF2B5EF4-FFF2-40B4-BE49-F238E27FC236}">
                <a16:creationId xmlns:a16="http://schemas.microsoft.com/office/drawing/2014/main" id="{26E1E8CA-16D3-4CB5-910E-0F5A7E6CCE57}"/>
              </a:ext>
            </a:extLst>
          </p:cNvPr>
          <p:cNvSpPr/>
          <p:nvPr/>
        </p:nvSpPr>
        <p:spPr>
          <a:xfrm>
            <a:off x="2900475" y="6451575"/>
            <a:ext cx="89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5" name="CustomShape 11">
            <a:extLst>
              <a:ext uri="{FF2B5EF4-FFF2-40B4-BE49-F238E27FC236}">
                <a16:creationId xmlns:a16="http://schemas.microsoft.com/office/drawing/2014/main" id="{8E18B948-23DE-48EB-90E6-7DD2A20D37A3}"/>
              </a:ext>
            </a:extLst>
          </p:cNvPr>
          <p:cNvSpPr/>
          <p:nvPr/>
        </p:nvSpPr>
        <p:spPr>
          <a:xfrm>
            <a:off x="6140835" y="6451575"/>
            <a:ext cx="71712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6" name="CustomShape 12">
            <a:extLst>
              <a:ext uri="{FF2B5EF4-FFF2-40B4-BE49-F238E27FC236}">
                <a16:creationId xmlns:a16="http://schemas.microsoft.com/office/drawing/2014/main" id="{FDE84437-6D48-4038-8BB8-6A710F9E0CAE}"/>
              </a:ext>
            </a:extLst>
          </p:cNvPr>
          <p:cNvSpPr/>
          <p:nvPr/>
        </p:nvSpPr>
        <p:spPr>
          <a:xfrm>
            <a:off x="8120115" y="6451575"/>
            <a:ext cx="10774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7" name="CustomShape 13">
            <a:extLst>
              <a:ext uri="{FF2B5EF4-FFF2-40B4-BE49-F238E27FC236}">
                <a16:creationId xmlns:a16="http://schemas.microsoft.com/office/drawing/2014/main" id="{D40792CC-93E8-43AE-ADFB-6910C2E4BB56}"/>
              </a:ext>
            </a:extLst>
          </p:cNvPr>
          <p:cNvSpPr/>
          <p:nvPr/>
        </p:nvSpPr>
        <p:spPr>
          <a:xfrm>
            <a:off x="2900475" y="5595855"/>
            <a:ext cx="12567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Pre EFI</a:t>
            </a:r>
            <a:br/>
            <a:r>
              <a:rPr lang="en-US" sz="1200" b="1" strike="noStrike" spc="-1">
                <a:solidFill>
                  <a:srgbClr val="3F3F3F"/>
                </a:solidFill>
                <a:latin typeface="Segoe UI"/>
                <a:ea typeface="DejaVu Sans"/>
              </a:rPr>
              <a:t>Initialization</a:t>
            </a:r>
            <a:endParaRPr lang="en-US" sz="1200" b="0" strike="noStrike" spc="-1">
              <a:latin typeface="Arial"/>
            </a:endParaRPr>
          </a:p>
          <a:p>
            <a:pPr algn="ctr">
              <a:lnSpc>
                <a:spcPct val="100000"/>
              </a:lnSpc>
            </a:pPr>
            <a:r>
              <a:rPr lang="en-US" sz="1200" b="1" strike="noStrike" spc="-1">
                <a:solidFill>
                  <a:srgbClr val="3F3F3F"/>
                </a:solidFill>
                <a:latin typeface="Segoe UI"/>
                <a:ea typeface="DejaVu Sans"/>
              </a:rPr>
              <a:t>(PEI)</a:t>
            </a:r>
            <a:endParaRPr lang="en-US" sz="1200" b="0" strike="noStrike" spc="-1">
              <a:latin typeface="Arial"/>
            </a:endParaRPr>
          </a:p>
        </p:txBody>
      </p:sp>
      <p:sp>
        <p:nvSpPr>
          <p:cNvPr id="18" name="CustomShape 14">
            <a:extLst>
              <a:ext uri="{FF2B5EF4-FFF2-40B4-BE49-F238E27FC236}">
                <a16:creationId xmlns:a16="http://schemas.microsoft.com/office/drawing/2014/main" id="{00E3745A-9842-4FD6-877F-5317739489BF}"/>
              </a:ext>
            </a:extLst>
          </p:cNvPr>
          <p:cNvSpPr/>
          <p:nvPr/>
        </p:nvSpPr>
        <p:spPr>
          <a:xfrm>
            <a:off x="4159395" y="5595855"/>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Driver Execution</a:t>
            </a:r>
            <a:br/>
            <a:r>
              <a:rPr lang="en-US" sz="1200" b="1" strike="noStrike" spc="-1">
                <a:solidFill>
                  <a:srgbClr val="3F3F3F"/>
                </a:solidFill>
                <a:latin typeface="Segoe UI"/>
                <a:ea typeface="DejaVu Sans"/>
              </a:rPr>
              <a:t>Environment</a:t>
            </a:r>
            <a:br/>
            <a:r>
              <a:rPr lang="en-US" sz="1200" b="1" strike="noStrike" spc="-1">
                <a:solidFill>
                  <a:srgbClr val="3F3F3F"/>
                </a:solidFill>
                <a:latin typeface="Segoe UI"/>
                <a:ea typeface="DejaVu Sans"/>
              </a:rPr>
              <a:t>(DXE)</a:t>
            </a:r>
            <a:endParaRPr lang="en-US" sz="1200" b="0" strike="noStrike" spc="-1">
              <a:latin typeface="Arial"/>
            </a:endParaRPr>
          </a:p>
        </p:txBody>
      </p:sp>
      <p:sp>
        <p:nvSpPr>
          <p:cNvPr id="19" name="CustomShape 15">
            <a:extLst>
              <a:ext uri="{FF2B5EF4-FFF2-40B4-BE49-F238E27FC236}">
                <a16:creationId xmlns:a16="http://schemas.microsoft.com/office/drawing/2014/main" id="{A7A6B451-D6E0-4D71-8107-AE6BA8454907}"/>
              </a:ext>
            </a:extLst>
          </p:cNvPr>
          <p:cNvSpPr/>
          <p:nvPr/>
        </p:nvSpPr>
        <p:spPr>
          <a:xfrm>
            <a:off x="5780475" y="5595855"/>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Boot Dev</a:t>
            </a:r>
            <a:br/>
            <a:r>
              <a:rPr lang="en-US" sz="1200" b="1" strike="noStrike" spc="-1">
                <a:solidFill>
                  <a:srgbClr val="3F3F3F"/>
                </a:solidFill>
                <a:latin typeface="Segoe UI"/>
                <a:ea typeface="DejaVu Sans"/>
              </a:rPr>
              <a:t>Select</a:t>
            </a:r>
            <a:br/>
            <a:r>
              <a:rPr lang="en-US" sz="1200" b="1" strike="noStrike" spc="-1">
                <a:solidFill>
                  <a:srgbClr val="3F3F3F"/>
                </a:solidFill>
                <a:latin typeface="Segoe UI"/>
                <a:ea typeface="DejaVu Sans"/>
              </a:rPr>
              <a:t>(BDS)</a:t>
            </a:r>
            <a:endParaRPr lang="en-US" sz="1200" b="0" strike="noStrike" spc="-1">
              <a:latin typeface="Arial"/>
            </a:endParaRPr>
          </a:p>
        </p:txBody>
      </p:sp>
      <p:sp>
        <p:nvSpPr>
          <p:cNvPr id="20" name="CustomShape 16">
            <a:extLst>
              <a:ext uri="{FF2B5EF4-FFF2-40B4-BE49-F238E27FC236}">
                <a16:creationId xmlns:a16="http://schemas.microsoft.com/office/drawing/2014/main" id="{25937B06-0248-4F99-917F-E537837842F1}"/>
              </a:ext>
            </a:extLst>
          </p:cNvPr>
          <p:cNvSpPr/>
          <p:nvPr/>
        </p:nvSpPr>
        <p:spPr>
          <a:xfrm>
            <a:off x="6680475" y="5595855"/>
            <a:ext cx="161712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UEFI &amp; OS</a:t>
            </a:r>
            <a:br/>
            <a:r>
              <a:rPr lang="en-US" sz="1200" b="1" strike="noStrike" spc="-1">
                <a:solidFill>
                  <a:srgbClr val="3F3F3F"/>
                </a:solidFill>
                <a:latin typeface="Segoe UI"/>
                <a:ea typeface="DejaVu Sans"/>
              </a:rPr>
              <a:t>Loader</a:t>
            </a:r>
            <a:br/>
            <a:r>
              <a:rPr lang="en-US" sz="1200" b="1" strike="noStrike" spc="-1">
                <a:solidFill>
                  <a:srgbClr val="3F3F3F"/>
                </a:solidFill>
                <a:latin typeface="Segoe UI"/>
                <a:ea typeface="DejaVu Sans"/>
              </a:rPr>
              <a:t>Handshake</a:t>
            </a:r>
            <a:endParaRPr lang="en-US" sz="1200" b="0" strike="noStrike" spc="-1">
              <a:latin typeface="Arial"/>
            </a:endParaRPr>
          </a:p>
        </p:txBody>
      </p:sp>
      <p:sp>
        <p:nvSpPr>
          <p:cNvPr id="21" name="CustomShape 17">
            <a:extLst>
              <a:ext uri="{FF2B5EF4-FFF2-40B4-BE49-F238E27FC236}">
                <a16:creationId xmlns:a16="http://schemas.microsoft.com/office/drawing/2014/main" id="{77AADF2F-FA00-4DCA-8B6C-1CD87FE0C4C5}"/>
              </a:ext>
            </a:extLst>
          </p:cNvPr>
          <p:cNvSpPr/>
          <p:nvPr/>
        </p:nvSpPr>
        <p:spPr>
          <a:xfrm>
            <a:off x="8299755" y="5595855"/>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Runtime</a:t>
            </a:r>
            <a:br/>
            <a:r>
              <a:rPr lang="en-US" sz="1200" b="1" strike="noStrike" spc="-1">
                <a:solidFill>
                  <a:srgbClr val="3F3F3F"/>
                </a:solidFill>
                <a:latin typeface="Segoe UI"/>
                <a:ea typeface="DejaVu Sans"/>
              </a:rPr>
              <a:t>(RT)</a:t>
            </a:r>
            <a:endParaRPr lang="en-US" sz="1200" b="0" strike="noStrike" spc="-1">
              <a:latin typeface="Arial"/>
            </a:endParaRPr>
          </a:p>
        </p:txBody>
      </p:sp>
      <p:sp>
        <p:nvSpPr>
          <p:cNvPr id="22" name="Line 18">
            <a:extLst>
              <a:ext uri="{FF2B5EF4-FFF2-40B4-BE49-F238E27FC236}">
                <a16:creationId xmlns:a16="http://schemas.microsoft.com/office/drawing/2014/main" id="{8D22F867-5E3C-4624-9799-3ADA13A279CF}"/>
              </a:ext>
            </a:extLst>
          </p:cNvPr>
          <p:cNvSpPr/>
          <p:nvPr/>
        </p:nvSpPr>
        <p:spPr>
          <a:xfrm flipH="1">
            <a:off x="2000475" y="1906215"/>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3" name="Line 19">
            <a:extLst>
              <a:ext uri="{FF2B5EF4-FFF2-40B4-BE49-F238E27FC236}">
                <a16:creationId xmlns:a16="http://schemas.microsoft.com/office/drawing/2014/main" id="{39965565-D1F6-42F3-86AF-EA546EF7F9BD}"/>
              </a:ext>
            </a:extLst>
          </p:cNvPr>
          <p:cNvSpPr/>
          <p:nvPr/>
        </p:nvSpPr>
        <p:spPr>
          <a:xfrm flipH="1">
            <a:off x="2900475" y="1906215"/>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4" name="Line 20">
            <a:extLst>
              <a:ext uri="{FF2B5EF4-FFF2-40B4-BE49-F238E27FC236}">
                <a16:creationId xmlns:a16="http://schemas.microsoft.com/office/drawing/2014/main" id="{A68F8CC1-E003-49EE-98F1-49832841626C}"/>
              </a:ext>
            </a:extLst>
          </p:cNvPr>
          <p:cNvSpPr/>
          <p:nvPr/>
        </p:nvSpPr>
        <p:spPr>
          <a:xfrm flipH="1">
            <a:off x="5780115" y="1906215"/>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5" name="Line 21">
            <a:extLst>
              <a:ext uri="{FF2B5EF4-FFF2-40B4-BE49-F238E27FC236}">
                <a16:creationId xmlns:a16="http://schemas.microsoft.com/office/drawing/2014/main" id="{92C6CD11-C699-40EE-8BF9-087BF5A34AF5}"/>
              </a:ext>
            </a:extLst>
          </p:cNvPr>
          <p:cNvSpPr/>
          <p:nvPr/>
        </p:nvSpPr>
        <p:spPr>
          <a:xfrm flipH="1">
            <a:off x="6680115" y="1906215"/>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6" name="Line 22">
            <a:extLst>
              <a:ext uri="{FF2B5EF4-FFF2-40B4-BE49-F238E27FC236}">
                <a16:creationId xmlns:a16="http://schemas.microsoft.com/office/drawing/2014/main" id="{9D4F6D6F-5428-4068-8390-297F12DAB3BF}"/>
              </a:ext>
            </a:extLst>
          </p:cNvPr>
          <p:cNvSpPr/>
          <p:nvPr/>
        </p:nvSpPr>
        <p:spPr>
          <a:xfrm flipH="1">
            <a:off x="8299395" y="1906215"/>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7" name="Line 23">
            <a:extLst>
              <a:ext uri="{FF2B5EF4-FFF2-40B4-BE49-F238E27FC236}">
                <a16:creationId xmlns:a16="http://schemas.microsoft.com/office/drawing/2014/main" id="{FAE8B2A9-148D-4BBB-996E-FC4D37D9FDA3}"/>
              </a:ext>
            </a:extLst>
          </p:cNvPr>
          <p:cNvSpPr/>
          <p:nvPr/>
        </p:nvSpPr>
        <p:spPr>
          <a:xfrm flipH="1">
            <a:off x="9920475" y="1906215"/>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8" name="CustomShape 24">
            <a:extLst>
              <a:ext uri="{FF2B5EF4-FFF2-40B4-BE49-F238E27FC236}">
                <a16:creationId xmlns:a16="http://schemas.microsoft.com/office/drawing/2014/main" id="{E2FFE551-25B3-4E54-9E19-C012B4186B37}"/>
              </a:ext>
            </a:extLst>
          </p:cNvPr>
          <p:cNvSpPr/>
          <p:nvPr/>
        </p:nvSpPr>
        <p:spPr>
          <a:xfrm>
            <a:off x="2071755" y="1815855"/>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Pre</a:t>
            </a:r>
            <a:br/>
            <a:r>
              <a:rPr lang="en-US" sz="1200" b="1" strike="noStrike" spc="-1">
                <a:solidFill>
                  <a:srgbClr val="FFFFFF"/>
                </a:solidFill>
                <a:latin typeface="Segoe UI"/>
                <a:ea typeface="DejaVu Sans"/>
              </a:rPr>
              <a:t>Verifier</a:t>
            </a:r>
            <a:endParaRPr lang="en-US" sz="1200" b="0" strike="noStrike" spc="-1">
              <a:latin typeface="Arial"/>
            </a:endParaRPr>
          </a:p>
        </p:txBody>
      </p:sp>
      <p:sp>
        <p:nvSpPr>
          <p:cNvPr id="29" name="CustomShape 25">
            <a:extLst>
              <a:ext uri="{FF2B5EF4-FFF2-40B4-BE49-F238E27FC236}">
                <a16:creationId xmlns:a16="http://schemas.microsoft.com/office/drawing/2014/main" id="{7BBAD9E6-84D2-4776-8F12-D0F6058466CA}"/>
              </a:ext>
            </a:extLst>
          </p:cNvPr>
          <p:cNvSpPr/>
          <p:nvPr/>
        </p:nvSpPr>
        <p:spPr>
          <a:xfrm>
            <a:off x="3710115" y="4876575"/>
            <a:ext cx="136620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Architectural</a:t>
            </a:r>
            <a:br/>
            <a:r>
              <a:rPr lang="en-US" sz="1200" b="1" strike="noStrike" spc="-1">
                <a:solidFill>
                  <a:srgbClr val="FFFFFF"/>
                </a:solidFill>
                <a:latin typeface="Segoe UI"/>
                <a:ea typeface="DejaVu Sans"/>
              </a:rPr>
              <a:t>Protocols</a:t>
            </a:r>
            <a:endParaRPr lang="en-US" sz="1200" b="0" strike="noStrike" spc="-1">
              <a:latin typeface="Arial"/>
            </a:endParaRPr>
          </a:p>
        </p:txBody>
      </p:sp>
      <p:sp>
        <p:nvSpPr>
          <p:cNvPr id="30" name="CustomShape 26">
            <a:extLst>
              <a:ext uri="{FF2B5EF4-FFF2-40B4-BE49-F238E27FC236}">
                <a16:creationId xmlns:a16="http://schemas.microsoft.com/office/drawing/2014/main" id="{BD416610-AA1B-4CFF-9780-C8242E0BBCA4}"/>
              </a:ext>
            </a:extLst>
          </p:cNvPr>
          <p:cNvSpPr/>
          <p:nvPr/>
        </p:nvSpPr>
        <p:spPr>
          <a:xfrm>
            <a:off x="6769395" y="4876575"/>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Boot Loader</a:t>
            </a:r>
            <a:endParaRPr lang="en-US" sz="1200" b="0" strike="noStrike" spc="-1">
              <a:latin typeface="Arial"/>
            </a:endParaRPr>
          </a:p>
        </p:txBody>
      </p:sp>
      <p:sp>
        <p:nvSpPr>
          <p:cNvPr id="31" name="CustomShape 27">
            <a:extLst>
              <a:ext uri="{FF2B5EF4-FFF2-40B4-BE49-F238E27FC236}">
                <a16:creationId xmlns:a16="http://schemas.microsoft.com/office/drawing/2014/main" id="{8A28BEB5-B302-4D70-A64F-828CFFEF740E}"/>
              </a:ext>
            </a:extLst>
          </p:cNvPr>
          <p:cNvSpPr/>
          <p:nvPr/>
        </p:nvSpPr>
        <p:spPr>
          <a:xfrm>
            <a:off x="8390115" y="4876575"/>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Environment</a:t>
            </a:r>
            <a:endParaRPr lang="en-US" sz="1200" b="0" strike="noStrike" spc="-1">
              <a:latin typeface="Arial"/>
            </a:endParaRPr>
          </a:p>
        </p:txBody>
      </p:sp>
      <p:sp>
        <p:nvSpPr>
          <p:cNvPr id="32" name="CustomShape 28">
            <a:extLst>
              <a:ext uri="{FF2B5EF4-FFF2-40B4-BE49-F238E27FC236}">
                <a16:creationId xmlns:a16="http://schemas.microsoft.com/office/drawing/2014/main" id="{8E18EEC6-DACA-4C83-A92D-57C7AB13DABB}"/>
              </a:ext>
            </a:extLst>
          </p:cNvPr>
          <p:cNvSpPr/>
          <p:nvPr/>
        </p:nvSpPr>
        <p:spPr>
          <a:xfrm>
            <a:off x="2972115" y="2895495"/>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CPU</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3" name="CustomShape 29">
            <a:extLst>
              <a:ext uri="{FF2B5EF4-FFF2-40B4-BE49-F238E27FC236}">
                <a16:creationId xmlns:a16="http://schemas.microsoft.com/office/drawing/2014/main" id="{4BE36D28-835A-47E4-B6C0-C0B270DA8BB0}"/>
              </a:ext>
            </a:extLst>
          </p:cNvPr>
          <p:cNvSpPr/>
          <p:nvPr/>
        </p:nvSpPr>
        <p:spPr>
          <a:xfrm>
            <a:off x="2972115" y="3436575"/>
            <a:ext cx="78984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Chipset</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4" name="CustomShape 30">
            <a:extLst>
              <a:ext uri="{FF2B5EF4-FFF2-40B4-BE49-F238E27FC236}">
                <a16:creationId xmlns:a16="http://schemas.microsoft.com/office/drawing/2014/main" id="{73DEF9D6-3FA4-4AA2-A1D4-A6C15FE70539}"/>
              </a:ext>
            </a:extLst>
          </p:cNvPr>
          <p:cNvSpPr/>
          <p:nvPr/>
        </p:nvSpPr>
        <p:spPr>
          <a:xfrm>
            <a:off x="2972115" y="3976575"/>
            <a:ext cx="789840" cy="447120"/>
          </a:xfrm>
          <a:prstGeom prst="rect">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Board</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5" name="CustomShape 31">
            <a:extLst>
              <a:ext uri="{FF2B5EF4-FFF2-40B4-BE49-F238E27FC236}">
                <a16:creationId xmlns:a16="http://schemas.microsoft.com/office/drawing/2014/main" id="{BAAF3A9D-C658-49DA-9572-2C6B05E4EC64}"/>
              </a:ext>
            </a:extLst>
          </p:cNvPr>
          <p:cNvSpPr/>
          <p:nvPr/>
        </p:nvSpPr>
        <p:spPr>
          <a:xfrm>
            <a:off x="2972115" y="2355495"/>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PEI</a:t>
            </a:r>
            <a:br/>
            <a:r>
              <a:rPr lang="en-US" sz="1200" b="1" strike="noStrike" spc="-1">
                <a:solidFill>
                  <a:srgbClr val="FFFFFF"/>
                </a:solidFill>
                <a:latin typeface="Segoe UI"/>
                <a:ea typeface="DejaVu Sans"/>
              </a:rPr>
              <a:t>Core</a:t>
            </a:r>
            <a:endParaRPr lang="en-US" sz="1200" b="0" strike="noStrike" spc="-1">
              <a:latin typeface="Arial"/>
            </a:endParaRPr>
          </a:p>
        </p:txBody>
      </p:sp>
      <p:sp>
        <p:nvSpPr>
          <p:cNvPr id="36" name="CustomShape 32">
            <a:extLst>
              <a:ext uri="{FF2B5EF4-FFF2-40B4-BE49-F238E27FC236}">
                <a16:creationId xmlns:a16="http://schemas.microsoft.com/office/drawing/2014/main" id="{F8612AE0-1787-4382-95DC-6ED63DD7206E}"/>
              </a:ext>
            </a:extLst>
          </p:cNvPr>
          <p:cNvSpPr/>
          <p:nvPr/>
        </p:nvSpPr>
        <p:spPr>
          <a:xfrm>
            <a:off x="8390115" y="4155855"/>
            <a:ext cx="1366200" cy="44856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OS-Present</a:t>
            </a:r>
            <a:br/>
            <a:r>
              <a:rPr lang="en-US" sz="1200" b="1" strike="noStrike" spc="-1">
                <a:solidFill>
                  <a:srgbClr val="FFFFFF"/>
                </a:solidFill>
                <a:latin typeface="Segoe UI"/>
                <a:ea typeface="DejaVu Sans"/>
              </a:rPr>
              <a:t>App</a:t>
            </a:r>
            <a:endParaRPr lang="en-US" sz="1200" b="0" strike="noStrike" spc="-1">
              <a:latin typeface="Arial"/>
            </a:endParaRPr>
          </a:p>
        </p:txBody>
      </p:sp>
      <p:sp>
        <p:nvSpPr>
          <p:cNvPr id="37" name="CustomShape 33">
            <a:extLst>
              <a:ext uri="{FF2B5EF4-FFF2-40B4-BE49-F238E27FC236}">
                <a16:creationId xmlns:a16="http://schemas.microsoft.com/office/drawing/2014/main" id="{0B234B0E-B016-4E76-B00E-DB73449BF4F0}"/>
              </a:ext>
            </a:extLst>
          </p:cNvPr>
          <p:cNvSpPr/>
          <p:nvPr/>
        </p:nvSpPr>
        <p:spPr>
          <a:xfrm>
            <a:off x="6769395" y="2176215"/>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OS-Absent</a:t>
            </a:r>
            <a:br/>
            <a:r>
              <a:rPr lang="en-US" sz="1200" b="1" strike="noStrike" spc="-1">
                <a:solidFill>
                  <a:srgbClr val="3F3F3F"/>
                </a:solidFill>
                <a:latin typeface="Segoe UI"/>
                <a:ea typeface="DejaVu Sans"/>
              </a:rPr>
              <a:t>App</a:t>
            </a:r>
            <a:endParaRPr lang="en-US" sz="1200" b="0" strike="noStrike" spc="-1">
              <a:latin typeface="Arial"/>
            </a:endParaRPr>
          </a:p>
        </p:txBody>
      </p:sp>
      <p:sp>
        <p:nvSpPr>
          <p:cNvPr id="38" name="CustomShape 34">
            <a:extLst>
              <a:ext uri="{FF2B5EF4-FFF2-40B4-BE49-F238E27FC236}">
                <a16:creationId xmlns:a16="http://schemas.microsoft.com/office/drawing/2014/main" id="{C07BF0D2-335B-4828-8851-485FA587644C}"/>
              </a:ext>
            </a:extLst>
          </p:cNvPr>
          <p:cNvSpPr/>
          <p:nvPr/>
        </p:nvSpPr>
        <p:spPr>
          <a:xfrm>
            <a:off x="6769395" y="2895495"/>
            <a:ext cx="1366200" cy="44856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Environment</a:t>
            </a:r>
            <a:endParaRPr lang="en-US" sz="1200" b="0" strike="noStrike" spc="-1">
              <a:latin typeface="Arial"/>
            </a:endParaRPr>
          </a:p>
        </p:txBody>
      </p:sp>
      <p:sp>
        <p:nvSpPr>
          <p:cNvPr id="39" name="CustomShape 35">
            <a:extLst>
              <a:ext uri="{FF2B5EF4-FFF2-40B4-BE49-F238E27FC236}">
                <a16:creationId xmlns:a16="http://schemas.microsoft.com/office/drawing/2014/main" id="{51301367-7CD7-4E0E-8FDD-8EE4A7C6BF96}"/>
              </a:ext>
            </a:extLst>
          </p:cNvPr>
          <p:cNvSpPr/>
          <p:nvPr/>
        </p:nvSpPr>
        <p:spPr>
          <a:xfrm>
            <a:off x="6769395" y="3616215"/>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Boot Loader</a:t>
            </a:r>
            <a:endParaRPr lang="en-US" sz="1200" b="0" strike="noStrike" spc="-1">
              <a:latin typeface="Arial"/>
            </a:endParaRPr>
          </a:p>
        </p:txBody>
      </p:sp>
      <p:sp>
        <p:nvSpPr>
          <p:cNvPr id="40" name="CustomShape 36">
            <a:extLst>
              <a:ext uri="{FF2B5EF4-FFF2-40B4-BE49-F238E27FC236}">
                <a16:creationId xmlns:a16="http://schemas.microsoft.com/office/drawing/2014/main" id="{590DF2E4-577C-49B3-8227-740ED63CA5A6}"/>
              </a:ext>
            </a:extLst>
          </p:cNvPr>
          <p:cNvSpPr/>
          <p:nvPr/>
        </p:nvSpPr>
        <p:spPr>
          <a:xfrm rot="16200000">
            <a:off x="7353315" y="271801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1" name="CustomShape 37">
            <a:extLst>
              <a:ext uri="{FF2B5EF4-FFF2-40B4-BE49-F238E27FC236}">
                <a16:creationId xmlns:a16="http://schemas.microsoft.com/office/drawing/2014/main" id="{5E18A53A-7666-4E4F-A5EF-710A459B890B}"/>
              </a:ext>
            </a:extLst>
          </p:cNvPr>
          <p:cNvSpPr/>
          <p:nvPr/>
        </p:nvSpPr>
        <p:spPr>
          <a:xfrm rot="5400000">
            <a:off x="7327035" y="271585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2" name="CustomShape 38">
            <a:extLst>
              <a:ext uri="{FF2B5EF4-FFF2-40B4-BE49-F238E27FC236}">
                <a16:creationId xmlns:a16="http://schemas.microsoft.com/office/drawing/2014/main" id="{5F774C30-2602-4791-BCF8-401148F9F2C0}"/>
              </a:ext>
            </a:extLst>
          </p:cNvPr>
          <p:cNvSpPr/>
          <p:nvPr/>
        </p:nvSpPr>
        <p:spPr>
          <a:xfrm rot="16200000">
            <a:off x="7338915" y="343873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3" name="CustomShape 39">
            <a:extLst>
              <a:ext uri="{FF2B5EF4-FFF2-40B4-BE49-F238E27FC236}">
                <a16:creationId xmlns:a16="http://schemas.microsoft.com/office/drawing/2014/main" id="{0DAE9382-788A-464E-8260-48A7E655745A}"/>
              </a:ext>
            </a:extLst>
          </p:cNvPr>
          <p:cNvSpPr/>
          <p:nvPr/>
        </p:nvSpPr>
        <p:spPr>
          <a:xfrm rot="5400000">
            <a:off x="7312635" y="343657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4" name="CustomShape 40">
            <a:extLst>
              <a:ext uri="{FF2B5EF4-FFF2-40B4-BE49-F238E27FC236}">
                <a16:creationId xmlns:a16="http://schemas.microsoft.com/office/drawing/2014/main" id="{FAD59CDE-B7D4-45D6-BCAE-85ABC4BCAB3B}"/>
              </a:ext>
            </a:extLst>
          </p:cNvPr>
          <p:cNvSpPr/>
          <p:nvPr/>
        </p:nvSpPr>
        <p:spPr>
          <a:xfrm rot="16200000">
            <a:off x="8966115" y="469765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5" name="CustomShape 41">
            <a:extLst>
              <a:ext uri="{FF2B5EF4-FFF2-40B4-BE49-F238E27FC236}">
                <a16:creationId xmlns:a16="http://schemas.microsoft.com/office/drawing/2014/main" id="{990C901E-FA54-49C1-A896-BD3A84703700}"/>
              </a:ext>
            </a:extLst>
          </p:cNvPr>
          <p:cNvSpPr/>
          <p:nvPr/>
        </p:nvSpPr>
        <p:spPr>
          <a:xfrm rot="5400000">
            <a:off x="8939835" y="4695495"/>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grpSp>
        <p:nvGrpSpPr>
          <p:cNvPr id="46" name="Group 42">
            <a:extLst>
              <a:ext uri="{FF2B5EF4-FFF2-40B4-BE49-F238E27FC236}">
                <a16:creationId xmlns:a16="http://schemas.microsoft.com/office/drawing/2014/main" id="{20CF3E42-0542-442D-A109-340EDDF2C571}"/>
              </a:ext>
            </a:extLst>
          </p:cNvPr>
          <p:cNvGrpSpPr/>
          <p:nvPr/>
        </p:nvGrpSpPr>
        <p:grpSpPr>
          <a:xfrm>
            <a:off x="4381875" y="2662215"/>
            <a:ext cx="1032840" cy="1183680"/>
            <a:chOff x="2741760" y="2400480"/>
            <a:chExt cx="1032840" cy="1183680"/>
          </a:xfrm>
        </p:grpSpPr>
        <p:sp>
          <p:nvSpPr>
            <p:cNvPr id="47" name="CustomShape 43">
              <a:extLst>
                <a:ext uri="{FF2B5EF4-FFF2-40B4-BE49-F238E27FC236}">
                  <a16:creationId xmlns:a16="http://schemas.microsoft.com/office/drawing/2014/main" id="{67AF04E4-469E-47A6-9BE3-A738503CF35D}"/>
                </a:ext>
              </a:extLst>
            </p:cNvPr>
            <p:cNvSpPr/>
            <p:nvPr/>
          </p:nvSpPr>
          <p:spPr>
            <a:xfrm>
              <a:off x="2967120" y="240048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48" name="CustomShape 44">
              <a:extLst>
                <a:ext uri="{FF2B5EF4-FFF2-40B4-BE49-F238E27FC236}">
                  <a16:creationId xmlns:a16="http://schemas.microsoft.com/office/drawing/2014/main" id="{DDB5EF9E-F271-490E-B779-403D9327C4C0}"/>
                </a:ext>
              </a:extLst>
            </p:cNvPr>
            <p:cNvSpPr/>
            <p:nvPr/>
          </p:nvSpPr>
          <p:spPr>
            <a:xfrm>
              <a:off x="2917800" y="2473200"/>
              <a:ext cx="80748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49" name="CustomShape 45">
              <a:extLst>
                <a:ext uri="{FF2B5EF4-FFF2-40B4-BE49-F238E27FC236}">
                  <a16:creationId xmlns:a16="http://schemas.microsoft.com/office/drawing/2014/main" id="{6AE69F80-BCEB-4295-95F8-E0231E6F0184}"/>
                </a:ext>
              </a:extLst>
            </p:cNvPr>
            <p:cNvSpPr/>
            <p:nvPr/>
          </p:nvSpPr>
          <p:spPr>
            <a:xfrm>
              <a:off x="2863800" y="256392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50" name="CustomShape 46">
              <a:extLst>
                <a:ext uri="{FF2B5EF4-FFF2-40B4-BE49-F238E27FC236}">
                  <a16:creationId xmlns:a16="http://schemas.microsoft.com/office/drawing/2014/main" id="{37F68BE7-A275-4997-939A-9E3A3F00489E}"/>
                </a:ext>
              </a:extLst>
            </p:cNvPr>
            <p:cNvSpPr/>
            <p:nvPr/>
          </p:nvSpPr>
          <p:spPr>
            <a:xfrm>
              <a:off x="2805120" y="2651040"/>
              <a:ext cx="80892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1" name="CustomShape 47">
              <a:extLst>
                <a:ext uri="{FF2B5EF4-FFF2-40B4-BE49-F238E27FC236}">
                  <a16:creationId xmlns:a16="http://schemas.microsoft.com/office/drawing/2014/main" id="{AAB5E563-AAB2-41A2-865F-2EECC6468A5C}"/>
                </a:ext>
              </a:extLst>
            </p:cNvPr>
            <p:cNvSpPr/>
            <p:nvPr/>
          </p:nvSpPr>
          <p:spPr>
            <a:xfrm>
              <a:off x="2741760" y="2741760"/>
              <a:ext cx="807480" cy="842400"/>
            </a:xfrm>
            <a:prstGeom prst="rect">
              <a:avLst/>
            </a:prstGeom>
            <a:solidFill>
              <a:srgbClr val="FFCC00"/>
            </a:solidFill>
            <a:ln w="12600">
              <a:solidFill>
                <a:schemeClr val="tx1"/>
              </a:solidFill>
              <a:miter/>
            </a:ln>
          </p:spPr>
          <p:style>
            <a:lnRef idx="0">
              <a:scrgbClr r="0" g="0" b="0"/>
            </a:lnRef>
            <a:fillRef idx="0">
              <a:scrgbClr r="0" g="0" b="0"/>
            </a:fillRef>
            <a:effectRef idx="0">
              <a:scrgbClr r="0" g="0" b="0"/>
            </a:effectRef>
            <a:fontRef idx="minor"/>
          </p:style>
          <p:txBody>
            <a:bodyPr lIns="46080" tIns="46080" rIns="46080" bIns="46080" anchor="ctr">
              <a:noAutofit/>
            </a:bodyPr>
            <a:lstStyle/>
            <a:p>
              <a:pPr algn="ctr">
                <a:lnSpc>
                  <a:spcPct val="100000"/>
                </a:lnSpc>
              </a:pPr>
              <a:r>
                <a:rPr lang="en-US" sz="1200" b="1" strike="noStrike" spc="-1">
                  <a:solidFill>
                    <a:srgbClr val="3F3F3F"/>
                  </a:solidFill>
                  <a:latin typeface="Segoe UI"/>
                  <a:ea typeface="DejaVu Sans"/>
                </a:rPr>
                <a:t>Device,  Bus, or Service  Driver</a:t>
              </a:r>
              <a:endParaRPr lang="en-US" sz="1200" b="0" strike="noStrike" spc="-1">
                <a:latin typeface="Arial"/>
              </a:endParaRPr>
            </a:p>
          </p:txBody>
        </p:sp>
      </p:grpSp>
      <p:sp>
        <p:nvSpPr>
          <p:cNvPr id="52" name="CustomShape 48">
            <a:extLst>
              <a:ext uri="{FF2B5EF4-FFF2-40B4-BE49-F238E27FC236}">
                <a16:creationId xmlns:a16="http://schemas.microsoft.com/office/drawing/2014/main" id="{CCCCE879-0E8C-4DA6-865A-1C8BADDA492E}"/>
              </a:ext>
            </a:extLst>
          </p:cNvPr>
          <p:cNvSpPr/>
          <p:nvPr/>
        </p:nvSpPr>
        <p:spPr>
          <a:xfrm rot="16200000">
            <a:off x="4900995" y="3943815"/>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3" name="CustomShape 49">
            <a:extLst>
              <a:ext uri="{FF2B5EF4-FFF2-40B4-BE49-F238E27FC236}">
                <a16:creationId xmlns:a16="http://schemas.microsoft.com/office/drawing/2014/main" id="{3D39FFA8-6A34-4583-B69C-38822C80D56E}"/>
              </a:ext>
            </a:extLst>
          </p:cNvPr>
          <p:cNvSpPr/>
          <p:nvPr/>
        </p:nvSpPr>
        <p:spPr>
          <a:xfrm rot="5400000">
            <a:off x="4860315" y="3941655"/>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4" name="CustomShape 50">
            <a:extLst>
              <a:ext uri="{FF2B5EF4-FFF2-40B4-BE49-F238E27FC236}">
                <a16:creationId xmlns:a16="http://schemas.microsoft.com/office/drawing/2014/main" id="{FF362ED6-55FD-4ECC-8075-91FF7571BB55}"/>
              </a:ext>
            </a:extLst>
          </p:cNvPr>
          <p:cNvSpPr/>
          <p:nvPr/>
        </p:nvSpPr>
        <p:spPr>
          <a:xfrm>
            <a:off x="5510475" y="4155855"/>
            <a:ext cx="1437840" cy="537480"/>
          </a:xfrm>
          <a:prstGeom prst="ellipse">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Boot</a:t>
            </a:r>
            <a:br/>
            <a:r>
              <a:rPr lang="en-US" sz="1400" b="1" strike="noStrike" spc="-1">
                <a:solidFill>
                  <a:srgbClr val="FFFFFF"/>
                </a:solidFill>
                <a:latin typeface="Segoe UI"/>
                <a:ea typeface="DejaVu Sans"/>
              </a:rPr>
              <a:t>Manager</a:t>
            </a:r>
            <a:endParaRPr lang="en-US" sz="1400" b="0" strike="noStrike" spc="-1">
              <a:latin typeface="Arial"/>
            </a:endParaRPr>
          </a:p>
        </p:txBody>
      </p:sp>
      <p:sp>
        <p:nvSpPr>
          <p:cNvPr id="55" name="Line 51">
            <a:extLst>
              <a:ext uri="{FF2B5EF4-FFF2-40B4-BE49-F238E27FC236}">
                <a16:creationId xmlns:a16="http://schemas.microsoft.com/office/drawing/2014/main" id="{0480BEFC-88B9-4D5F-A3E3-996D6330E773}"/>
              </a:ext>
            </a:extLst>
          </p:cNvPr>
          <p:cNvSpPr/>
          <p:nvPr/>
        </p:nvSpPr>
        <p:spPr>
          <a:xfrm flipH="1">
            <a:off x="5780115" y="2536575"/>
            <a:ext cx="17640" cy="107928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6" name="Line 52">
            <a:extLst>
              <a:ext uri="{FF2B5EF4-FFF2-40B4-BE49-F238E27FC236}">
                <a16:creationId xmlns:a16="http://schemas.microsoft.com/office/drawing/2014/main" id="{CC1DCD37-F005-451C-A8C8-8E35F298E7F7}"/>
              </a:ext>
            </a:extLst>
          </p:cNvPr>
          <p:cNvSpPr/>
          <p:nvPr/>
        </p:nvSpPr>
        <p:spPr>
          <a:xfrm flipH="1">
            <a:off x="5780115" y="4876575"/>
            <a:ext cx="17640" cy="53964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7" name="CustomShape 53">
            <a:extLst>
              <a:ext uri="{FF2B5EF4-FFF2-40B4-BE49-F238E27FC236}">
                <a16:creationId xmlns:a16="http://schemas.microsoft.com/office/drawing/2014/main" id="{04D80E06-B973-4E5E-8D28-F4C86B037B72}"/>
              </a:ext>
            </a:extLst>
          </p:cNvPr>
          <p:cNvSpPr/>
          <p:nvPr/>
        </p:nvSpPr>
        <p:spPr>
          <a:xfrm>
            <a:off x="5253435" y="4425855"/>
            <a:ext cx="2548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58" name="Line 54">
            <a:extLst>
              <a:ext uri="{FF2B5EF4-FFF2-40B4-BE49-F238E27FC236}">
                <a16:creationId xmlns:a16="http://schemas.microsoft.com/office/drawing/2014/main" id="{A666B2FF-C204-41FE-B2F4-AF0AD5BE61B0}"/>
              </a:ext>
            </a:extLst>
          </p:cNvPr>
          <p:cNvSpPr/>
          <p:nvPr/>
        </p:nvSpPr>
        <p:spPr>
          <a:xfrm flipH="1">
            <a:off x="4394115" y="4695495"/>
            <a:ext cx="5040" cy="181080"/>
          </a:xfrm>
          <a:prstGeom prst="line">
            <a:avLst/>
          </a:prstGeom>
          <a:ln w="63360">
            <a:solidFill>
              <a:srgbClr val="1218FA"/>
            </a:solidFill>
            <a:round/>
          </a:ln>
        </p:spPr>
        <p:style>
          <a:lnRef idx="1">
            <a:schemeClr val="accent1"/>
          </a:lnRef>
          <a:fillRef idx="0">
            <a:schemeClr val="accent1"/>
          </a:fillRef>
          <a:effectRef idx="0">
            <a:schemeClr val="accent1"/>
          </a:effectRef>
          <a:fontRef idx="minor"/>
        </p:style>
      </p:sp>
      <p:sp>
        <p:nvSpPr>
          <p:cNvPr id="59" name="CustomShape 55">
            <a:extLst>
              <a:ext uri="{FF2B5EF4-FFF2-40B4-BE49-F238E27FC236}">
                <a16:creationId xmlns:a16="http://schemas.microsoft.com/office/drawing/2014/main" id="{91891C32-F0F7-436D-87DB-7B70021DA662}"/>
              </a:ext>
            </a:extLst>
          </p:cNvPr>
          <p:cNvSpPr/>
          <p:nvPr/>
        </p:nvSpPr>
        <p:spPr>
          <a:xfrm>
            <a:off x="8137755" y="5100495"/>
            <a:ext cx="25020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0" name="CustomShape 56">
            <a:extLst>
              <a:ext uri="{FF2B5EF4-FFF2-40B4-BE49-F238E27FC236}">
                <a16:creationId xmlns:a16="http://schemas.microsoft.com/office/drawing/2014/main" id="{1E159F4B-1DD9-4712-A7FC-A79E5DE8A59C}"/>
              </a:ext>
            </a:extLst>
          </p:cNvPr>
          <p:cNvSpPr/>
          <p:nvPr/>
        </p:nvSpPr>
        <p:spPr>
          <a:xfrm rot="18180000">
            <a:off x="6865155" y="4124895"/>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1" name="CustomShape 57">
            <a:extLst>
              <a:ext uri="{FF2B5EF4-FFF2-40B4-BE49-F238E27FC236}">
                <a16:creationId xmlns:a16="http://schemas.microsoft.com/office/drawing/2014/main" id="{D21DC737-CE3A-4331-9814-00EF32644F21}"/>
              </a:ext>
            </a:extLst>
          </p:cNvPr>
          <p:cNvSpPr/>
          <p:nvPr/>
        </p:nvSpPr>
        <p:spPr>
          <a:xfrm rot="7380000">
            <a:off x="6837075" y="4102575"/>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2" name="CustomShape 58">
            <a:extLst>
              <a:ext uri="{FF2B5EF4-FFF2-40B4-BE49-F238E27FC236}">
                <a16:creationId xmlns:a16="http://schemas.microsoft.com/office/drawing/2014/main" id="{1DFBF69F-8523-42E7-835F-0738E376A6BD}"/>
              </a:ext>
            </a:extLst>
          </p:cNvPr>
          <p:cNvSpPr/>
          <p:nvPr/>
        </p:nvSpPr>
        <p:spPr>
          <a:xfrm>
            <a:off x="6739155" y="4616295"/>
            <a:ext cx="308880" cy="25344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3" name="CustomShape 59">
            <a:extLst>
              <a:ext uri="{FF2B5EF4-FFF2-40B4-BE49-F238E27FC236}">
                <a16:creationId xmlns:a16="http://schemas.microsoft.com/office/drawing/2014/main" id="{C8CC9D32-5CB6-4734-BB10-FC1860F5084F}"/>
              </a:ext>
            </a:extLst>
          </p:cNvPr>
          <p:cNvSpPr/>
          <p:nvPr/>
        </p:nvSpPr>
        <p:spPr>
          <a:xfrm>
            <a:off x="2864115" y="2041215"/>
            <a:ext cx="502560" cy="31212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4" name="CustomShape 60">
            <a:extLst>
              <a:ext uri="{FF2B5EF4-FFF2-40B4-BE49-F238E27FC236}">
                <a16:creationId xmlns:a16="http://schemas.microsoft.com/office/drawing/2014/main" id="{9C32208E-D4D3-497E-8AB8-243ACCF4866B}"/>
              </a:ext>
            </a:extLst>
          </p:cNvPr>
          <p:cNvSpPr/>
          <p:nvPr/>
        </p:nvSpPr>
        <p:spPr>
          <a:xfrm rot="5400000">
            <a:off x="5863995" y="2432535"/>
            <a:ext cx="348840" cy="41076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5" name="CustomShape 61">
            <a:extLst>
              <a:ext uri="{FF2B5EF4-FFF2-40B4-BE49-F238E27FC236}">
                <a16:creationId xmlns:a16="http://schemas.microsoft.com/office/drawing/2014/main" id="{9F57F915-6496-459F-B591-5B0C2DF2FE48}"/>
              </a:ext>
            </a:extLst>
          </p:cNvPr>
          <p:cNvSpPr/>
          <p:nvPr/>
        </p:nvSpPr>
        <p:spPr>
          <a:xfrm>
            <a:off x="2935395" y="1744575"/>
            <a:ext cx="671040" cy="301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Verify</a:t>
            </a:r>
            <a:endParaRPr lang="en-US" sz="1400" b="0" strike="noStrike" spc="-1">
              <a:latin typeface="Arial"/>
            </a:endParaRPr>
          </a:p>
        </p:txBody>
      </p:sp>
      <p:sp>
        <p:nvSpPr>
          <p:cNvPr id="66" name="CustomShape 62">
            <a:extLst>
              <a:ext uri="{FF2B5EF4-FFF2-40B4-BE49-F238E27FC236}">
                <a16:creationId xmlns:a16="http://schemas.microsoft.com/office/drawing/2014/main" id="{2BA11B9D-4857-4930-A1A7-748A86EDA4A0}"/>
              </a:ext>
            </a:extLst>
          </p:cNvPr>
          <p:cNvSpPr/>
          <p:nvPr/>
        </p:nvSpPr>
        <p:spPr>
          <a:xfrm>
            <a:off x="5739795" y="1941135"/>
            <a:ext cx="1006920" cy="5148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EFI/UEFI</a:t>
            </a:r>
            <a:br/>
            <a:r>
              <a:rPr lang="en-US" sz="1400" b="1" strike="noStrike" spc="-1">
                <a:solidFill>
                  <a:srgbClr val="3F3F3F"/>
                </a:solidFill>
                <a:latin typeface="Segoe UI"/>
                <a:ea typeface="DejaVu Sans"/>
              </a:rPr>
              <a:t>Interfaces</a:t>
            </a:r>
            <a:endParaRPr lang="en-US" sz="1400" b="0" strike="noStrike" spc="-1">
              <a:latin typeface="Arial"/>
            </a:endParaRPr>
          </a:p>
        </p:txBody>
      </p:sp>
      <p:sp>
        <p:nvSpPr>
          <p:cNvPr id="67" name="CustomShape 63">
            <a:extLst>
              <a:ext uri="{FF2B5EF4-FFF2-40B4-BE49-F238E27FC236}">
                <a16:creationId xmlns:a16="http://schemas.microsoft.com/office/drawing/2014/main" id="{3F804994-BFC5-4A0D-A6A9-2C9A83B83046}"/>
              </a:ext>
            </a:extLst>
          </p:cNvPr>
          <p:cNvSpPr/>
          <p:nvPr/>
        </p:nvSpPr>
        <p:spPr>
          <a:xfrm rot="8100000">
            <a:off x="3728475" y="3974055"/>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8" name="CustomShape 64">
            <a:extLst>
              <a:ext uri="{FF2B5EF4-FFF2-40B4-BE49-F238E27FC236}">
                <a16:creationId xmlns:a16="http://schemas.microsoft.com/office/drawing/2014/main" id="{D2AAD680-1517-4289-A5E2-D452EBEA3079}"/>
              </a:ext>
            </a:extLst>
          </p:cNvPr>
          <p:cNvSpPr/>
          <p:nvPr/>
        </p:nvSpPr>
        <p:spPr>
          <a:xfrm rot="8100000">
            <a:off x="3728475" y="3434055"/>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9" name="CustomShape 65">
            <a:extLst>
              <a:ext uri="{FF2B5EF4-FFF2-40B4-BE49-F238E27FC236}">
                <a16:creationId xmlns:a16="http://schemas.microsoft.com/office/drawing/2014/main" id="{3511779C-D01C-4F8F-8148-ADE4CF1C7109}"/>
              </a:ext>
            </a:extLst>
          </p:cNvPr>
          <p:cNvSpPr/>
          <p:nvPr/>
        </p:nvSpPr>
        <p:spPr>
          <a:xfrm rot="8100000">
            <a:off x="3728475" y="2892975"/>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0" name="CustomShape 66">
            <a:extLst>
              <a:ext uri="{FF2B5EF4-FFF2-40B4-BE49-F238E27FC236}">
                <a16:creationId xmlns:a16="http://schemas.microsoft.com/office/drawing/2014/main" id="{0851DA78-AC25-4640-A9FD-5D31B3C9FB34}"/>
              </a:ext>
            </a:extLst>
          </p:cNvPr>
          <p:cNvSpPr/>
          <p:nvPr/>
        </p:nvSpPr>
        <p:spPr>
          <a:xfrm>
            <a:off x="3660795" y="1214295"/>
            <a:ext cx="4311000" cy="3934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2000" b="1" strike="noStrike" spc="-1">
                <a:solidFill>
                  <a:srgbClr val="3F3F3F"/>
                </a:solidFill>
                <a:latin typeface="Segoe UI"/>
                <a:ea typeface="DejaVu Sans"/>
              </a:rPr>
              <a:t>Components Covered by UEFI &amp; PI</a:t>
            </a:r>
            <a:endParaRPr lang="en-US" sz="2000" b="0" strike="noStrike" spc="-1">
              <a:latin typeface="Arial"/>
            </a:endParaRPr>
          </a:p>
        </p:txBody>
      </p:sp>
      <p:sp>
        <p:nvSpPr>
          <p:cNvPr id="71" name="CustomShape 67">
            <a:extLst>
              <a:ext uri="{FF2B5EF4-FFF2-40B4-BE49-F238E27FC236}">
                <a16:creationId xmlns:a16="http://schemas.microsoft.com/office/drawing/2014/main" id="{C01C6955-08CD-446A-8229-E713821D9D8F}"/>
              </a:ext>
            </a:extLst>
          </p:cNvPr>
          <p:cNvSpPr/>
          <p:nvPr/>
        </p:nvSpPr>
        <p:spPr>
          <a:xfrm rot="16200000">
            <a:off x="5871555" y="-2308305"/>
            <a:ext cx="226440" cy="7917840"/>
          </a:xfrm>
          <a:prstGeom prst="rightBrace">
            <a:avLst>
              <a:gd name="adj1" fmla="val 8333"/>
              <a:gd name="adj2" fmla="val 50000"/>
            </a:avLst>
          </a:prstGeom>
          <a:noFill/>
          <a:ln w="38160">
            <a:solidFill>
              <a:schemeClr val="tx1"/>
            </a:solidFill>
            <a:round/>
          </a:ln>
        </p:spPr>
        <p:style>
          <a:lnRef idx="1">
            <a:schemeClr val="accent1"/>
          </a:lnRef>
          <a:fillRef idx="0">
            <a:schemeClr val="accent1"/>
          </a:fillRef>
          <a:effectRef idx="0">
            <a:schemeClr val="accent1"/>
          </a:effectRef>
          <a:fontRef idx="minor"/>
        </p:style>
      </p:sp>
    </p:spTree>
    <p:extLst>
      <p:ext uri="{BB962C8B-B14F-4D97-AF65-F5344CB8AC3E}">
        <p14:creationId xmlns:p14="http://schemas.microsoft.com/office/powerpoint/2010/main" val="23951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blinds(horizontal)">
                                      <p:cBhvr additive="repl">
                                        <p:cTn id="7" dur="500"/>
                                        <p:tgtEl>
                                          <p:spTgt spid="71"/>
                                        </p:tgtEl>
                                      </p:cBhvr>
                                    </p:animEffect>
                                  </p:childTnLst>
                                </p:cTn>
                              </p:par>
                              <p:par>
                                <p:cTn id="8" presetID="3" presetClass="entr" presetSubtype="10" fill="hold"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blinds(horizontal)">
                                      <p:cBhvr additive="repl">
                                        <p:cTn id="10"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1353800" cy="1075765"/>
          </a:xfrm>
        </p:spPr>
        <p:txBody>
          <a:bodyPr>
            <a:normAutofit/>
          </a:bodyPr>
          <a:lstStyle/>
          <a:p>
            <a:r>
              <a:rPr lang="en-US" dirty="0"/>
              <a:t>General Overview</a:t>
            </a:r>
            <a:br>
              <a:rPr lang="en-US" dirty="0"/>
            </a:br>
            <a:r>
              <a:rPr lang="en-US" sz="3100" dirty="0"/>
              <a:t>UEFI Conceptual Overview</a:t>
            </a:r>
            <a:endParaRPr lang="en-US" dirty="0"/>
          </a:p>
        </p:txBody>
      </p:sp>
      <p:sp>
        <p:nvSpPr>
          <p:cNvPr id="6" name="CustomShape 2">
            <a:extLst>
              <a:ext uri="{FF2B5EF4-FFF2-40B4-BE49-F238E27FC236}">
                <a16:creationId xmlns:a16="http://schemas.microsoft.com/office/drawing/2014/main" id="{8EF7B764-2A8F-488C-A614-74518E823A02}"/>
              </a:ext>
            </a:extLst>
          </p:cNvPr>
          <p:cNvSpPr/>
          <p:nvPr/>
        </p:nvSpPr>
        <p:spPr>
          <a:xfrm>
            <a:off x="2497440" y="1339200"/>
            <a:ext cx="7197120" cy="717120"/>
          </a:xfrm>
          <a:prstGeom prst="rect">
            <a:avLst/>
          </a:prstGeom>
          <a:solidFill>
            <a:srgbClr val="C8A0DC"/>
          </a:solidFill>
          <a:ln>
            <a:solidFill>
              <a:schemeClr val="accent4">
                <a:lumMod val="60000"/>
                <a:lumOff val="4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1" strike="noStrike" spc="-1">
                <a:solidFill>
                  <a:srgbClr val="3F3F3F"/>
                </a:solidFill>
                <a:latin typeface="Segoe UI"/>
                <a:ea typeface="DejaVu Sans"/>
              </a:rPr>
              <a:t>OPERATING SYSTEM</a:t>
            </a:r>
            <a:endParaRPr lang="en-US" sz="1800" b="0" strike="noStrike" spc="-1">
              <a:latin typeface="Arial"/>
            </a:endParaRPr>
          </a:p>
        </p:txBody>
      </p:sp>
      <p:sp>
        <p:nvSpPr>
          <p:cNvPr id="7" name="CustomShape 3">
            <a:extLst>
              <a:ext uri="{FF2B5EF4-FFF2-40B4-BE49-F238E27FC236}">
                <a16:creationId xmlns:a16="http://schemas.microsoft.com/office/drawing/2014/main" id="{94A7F3B8-1FEC-490C-9428-E4BEE6771417}"/>
              </a:ext>
            </a:extLst>
          </p:cNvPr>
          <p:cNvSpPr/>
          <p:nvPr/>
        </p:nvSpPr>
        <p:spPr>
          <a:xfrm>
            <a:off x="2497440" y="2239560"/>
            <a:ext cx="7197120" cy="717120"/>
          </a:xfrm>
          <a:prstGeom prst="rect">
            <a:avLst/>
          </a:prstGeom>
          <a:solidFill>
            <a:schemeClr val="accent1">
              <a:lumMod val="40000"/>
              <a:lumOff val="60000"/>
            </a:schemeClr>
          </a:solidFill>
          <a:ln>
            <a:solidFill>
              <a:schemeClr val="accent1">
                <a:lumMod val="60000"/>
                <a:lumOff val="4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1" strike="noStrike" spc="-1">
                <a:solidFill>
                  <a:srgbClr val="3F3F3F"/>
                </a:solidFill>
                <a:latin typeface="Segoe UI"/>
                <a:ea typeface="DejaVu Sans"/>
              </a:rPr>
              <a:t>EFI OS LOADER</a:t>
            </a:r>
            <a:endParaRPr lang="en-US" sz="1800" b="0" strike="noStrike" spc="-1">
              <a:latin typeface="Arial"/>
            </a:endParaRPr>
          </a:p>
        </p:txBody>
      </p:sp>
      <p:sp>
        <p:nvSpPr>
          <p:cNvPr id="8" name="CustomShape 4">
            <a:extLst>
              <a:ext uri="{FF2B5EF4-FFF2-40B4-BE49-F238E27FC236}">
                <a16:creationId xmlns:a16="http://schemas.microsoft.com/office/drawing/2014/main" id="{61140CE7-C835-406C-9BB8-9CDBC74A2C7D}"/>
              </a:ext>
            </a:extLst>
          </p:cNvPr>
          <p:cNvSpPr/>
          <p:nvPr/>
        </p:nvSpPr>
        <p:spPr>
          <a:xfrm>
            <a:off x="5377440" y="4398480"/>
            <a:ext cx="4317480" cy="1798200"/>
          </a:xfrm>
          <a:prstGeom prst="rect">
            <a:avLst/>
          </a:prstGeom>
          <a:solidFill>
            <a:schemeClr val="bg1">
              <a:lumMod val="65000"/>
            </a:schemeClr>
          </a:solidFill>
          <a:ln>
            <a:solidFill>
              <a:schemeClr val="bg1">
                <a:lumMod val="65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US" sz="1800" b="1" strike="noStrike" spc="-1">
                <a:solidFill>
                  <a:srgbClr val="3F3F3F"/>
                </a:solidFill>
                <a:latin typeface="Segoe UI"/>
                <a:ea typeface="DejaVu Sans"/>
              </a:rPr>
              <a:t>PLATFORM </a:t>
            </a:r>
            <a:br/>
            <a:r>
              <a:rPr lang="en-US" sz="1800" b="1" strike="noStrike" spc="-1">
                <a:solidFill>
                  <a:srgbClr val="3F3F3F"/>
                </a:solidFill>
                <a:latin typeface="Segoe UI"/>
                <a:ea typeface="DejaVu Sans"/>
              </a:rPr>
              <a:t>HARDWARE</a:t>
            </a:r>
            <a:endParaRPr lang="en-US" sz="1800" b="0" strike="noStrike" spc="-1">
              <a:latin typeface="Arial"/>
            </a:endParaRPr>
          </a:p>
        </p:txBody>
      </p:sp>
      <p:sp>
        <p:nvSpPr>
          <p:cNvPr id="9" name="CustomShape 5">
            <a:extLst>
              <a:ext uri="{FF2B5EF4-FFF2-40B4-BE49-F238E27FC236}">
                <a16:creationId xmlns:a16="http://schemas.microsoft.com/office/drawing/2014/main" id="{5FB5C31F-B4DD-46E6-959A-BB5B6067E27A}"/>
              </a:ext>
            </a:extLst>
          </p:cNvPr>
          <p:cNvSpPr/>
          <p:nvPr/>
        </p:nvSpPr>
        <p:spPr>
          <a:xfrm>
            <a:off x="5377440" y="3139560"/>
            <a:ext cx="2518920" cy="1077480"/>
          </a:xfrm>
          <a:prstGeom prst="rect">
            <a:avLst/>
          </a:prstGeom>
          <a:solidFill>
            <a:srgbClr val="0070C0"/>
          </a:solidFill>
          <a:ln>
            <a:solidFill>
              <a:srgbClr val="0070C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1" strike="noStrike" spc="-1">
                <a:solidFill>
                  <a:srgbClr val="FFFFFF"/>
                </a:solidFill>
                <a:latin typeface="Segoe UI"/>
                <a:ea typeface="DejaVu Sans"/>
              </a:rPr>
              <a:t>EFI BOOT SERVICES</a:t>
            </a:r>
            <a:endParaRPr lang="en-US" sz="1800" b="0" strike="noStrike" spc="-1">
              <a:latin typeface="Arial"/>
            </a:endParaRPr>
          </a:p>
        </p:txBody>
      </p:sp>
      <p:sp>
        <p:nvSpPr>
          <p:cNvPr id="10" name="CustomShape 6">
            <a:extLst>
              <a:ext uri="{FF2B5EF4-FFF2-40B4-BE49-F238E27FC236}">
                <a16:creationId xmlns:a16="http://schemas.microsoft.com/office/drawing/2014/main" id="{2401EA3D-ADBC-4C58-932B-6A207A6A3BB9}"/>
              </a:ext>
            </a:extLst>
          </p:cNvPr>
          <p:cNvSpPr/>
          <p:nvPr/>
        </p:nvSpPr>
        <p:spPr>
          <a:xfrm>
            <a:off x="8077440" y="3139560"/>
            <a:ext cx="1617120" cy="1077480"/>
          </a:xfrm>
          <a:prstGeom prst="rect">
            <a:avLst/>
          </a:prstGeom>
          <a:solidFill>
            <a:srgbClr val="7030A0"/>
          </a:solidFill>
          <a:ln>
            <a:solidFill>
              <a:srgbClr val="7030A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1" strike="noStrike" spc="-1">
                <a:solidFill>
                  <a:srgbClr val="FFFFFF"/>
                </a:solidFill>
                <a:latin typeface="Segoe UI"/>
                <a:ea typeface="DejaVu Sans"/>
              </a:rPr>
              <a:t>EFI RUNTIME</a:t>
            </a:r>
            <a:br/>
            <a:r>
              <a:rPr lang="en-US" sz="1800" b="1" strike="noStrike" spc="-1">
                <a:solidFill>
                  <a:srgbClr val="FFFFFF"/>
                </a:solidFill>
                <a:latin typeface="Segoe UI"/>
                <a:ea typeface="DejaVu Sans"/>
              </a:rPr>
              <a:t>SERVICES</a:t>
            </a:r>
            <a:endParaRPr lang="en-US" sz="1800" b="0" strike="noStrike" spc="-1">
              <a:latin typeface="Arial"/>
            </a:endParaRPr>
          </a:p>
        </p:txBody>
      </p:sp>
      <p:sp>
        <p:nvSpPr>
          <p:cNvPr id="11" name="CustomShape 7">
            <a:extLst>
              <a:ext uri="{FF2B5EF4-FFF2-40B4-BE49-F238E27FC236}">
                <a16:creationId xmlns:a16="http://schemas.microsoft.com/office/drawing/2014/main" id="{02D420CC-130F-4A93-AB83-F0131A85350A}"/>
              </a:ext>
            </a:extLst>
          </p:cNvPr>
          <p:cNvSpPr/>
          <p:nvPr/>
        </p:nvSpPr>
        <p:spPr>
          <a:xfrm>
            <a:off x="6817080" y="5149440"/>
            <a:ext cx="2698200" cy="986760"/>
          </a:xfrm>
          <a:prstGeom prst="flowChartMagneticDisk">
            <a:avLst/>
          </a:prstGeom>
          <a:solidFill>
            <a:srgbClr val="FFC000"/>
          </a:solidFill>
          <a:ln>
            <a:solidFill>
              <a:srgbClr val="FFC000"/>
            </a:solidFill>
            <a:round/>
          </a:ln>
        </p:spPr>
        <p:style>
          <a:lnRef idx="2">
            <a:schemeClr val="accent1">
              <a:shade val="50000"/>
            </a:schemeClr>
          </a:lnRef>
          <a:fillRef idx="1">
            <a:schemeClr val="accent1"/>
          </a:fillRef>
          <a:effectRef idx="0">
            <a:schemeClr val="accent1"/>
          </a:effectRef>
          <a:fontRef idx="minor"/>
        </p:style>
      </p:sp>
      <p:sp>
        <p:nvSpPr>
          <p:cNvPr id="12" name="CustomShape 8">
            <a:extLst>
              <a:ext uri="{FF2B5EF4-FFF2-40B4-BE49-F238E27FC236}">
                <a16:creationId xmlns:a16="http://schemas.microsoft.com/office/drawing/2014/main" id="{65348E2C-67B6-4733-966D-6C932A37EA69}"/>
              </a:ext>
            </a:extLst>
          </p:cNvPr>
          <p:cNvSpPr/>
          <p:nvPr/>
        </p:nvSpPr>
        <p:spPr>
          <a:xfrm>
            <a:off x="6817080" y="4488840"/>
            <a:ext cx="2698200" cy="988560"/>
          </a:xfrm>
          <a:prstGeom prst="flowChartMagneticDisk">
            <a:avLst/>
          </a:prstGeom>
          <a:solidFill>
            <a:srgbClr val="FFFF00">
              <a:alpha val="50000"/>
            </a:srgbClr>
          </a:solidFill>
          <a:ln>
            <a:solidFill>
              <a:srgbClr val="FFFF00"/>
            </a:solidFill>
            <a:round/>
          </a:ln>
        </p:spPr>
        <p:style>
          <a:lnRef idx="2">
            <a:schemeClr val="accent1">
              <a:shade val="50000"/>
            </a:schemeClr>
          </a:lnRef>
          <a:fillRef idx="1">
            <a:schemeClr val="accent1"/>
          </a:fillRef>
          <a:effectRef idx="0">
            <a:schemeClr val="accent1"/>
          </a:effectRef>
          <a:fontRef idx="minor"/>
        </p:style>
      </p:sp>
      <p:sp>
        <p:nvSpPr>
          <p:cNvPr id="13" name="CustomShape 9">
            <a:extLst>
              <a:ext uri="{FF2B5EF4-FFF2-40B4-BE49-F238E27FC236}">
                <a16:creationId xmlns:a16="http://schemas.microsoft.com/office/drawing/2014/main" id="{0124FC95-2773-4F44-A85A-D01ABEE01389}"/>
              </a:ext>
            </a:extLst>
          </p:cNvPr>
          <p:cNvSpPr/>
          <p:nvPr/>
        </p:nvSpPr>
        <p:spPr>
          <a:xfrm>
            <a:off x="3397800" y="3498480"/>
            <a:ext cx="1437840" cy="1798200"/>
          </a:xfrm>
          <a:prstGeom prst="rect">
            <a:avLst/>
          </a:prstGeom>
          <a:solidFill>
            <a:srgbClr val="92D050"/>
          </a:solidFill>
          <a:ln>
            <a:solidFill>
              <a:srgbClr val="92D050"/>
            </a:solidFill>
            <a:round/>
          </a:ln>
        </p:spPr>
        <p:style>
          <a:lnRef idx="2">
            <a:schemeClr val="accent1">
              <a:shade val="50000"/>
            </a:schemeClr>
          </a:lnRef>
          <a:fillRef idx="1">
            <a:schemeClr val="accent1"/>
          </a:fillRef>
          <a:effectRef idx="0">
            <a:schemeClr val="accent1"/>
          </a:effectRef>
          <a:fontRef idx="minor"/>
        </p:style>
      </p:sp>
      <p:sp>
        <p:nvSpPr>
          <p:cNvPr id="14" name="CustomShape 10">
            <a:extLst>
              <a:ext uri="{FF2B5EF4-FFF2-40B4-BE49-F238E27FC236}">
                <a16:creationId xmlns:a16="http://schemas.microsoft.com/office/drawing/2014/main" id="{60B7CAEC-9215-4EF1-A120-476925A5FAF2}"/>
              </a:ext>
            </a:extLst>
          </p:cNvPr>
          <p:cNvSpPr/>
          <p:nvPr/>
        </p:nvSpPr>
        <p:spPr>
          <a:xfrm>
            <a:off x="3037440" y="3858840"/>
            <a:ext cx="1437840" cy="1798200"/>
          </a:xfrm>
          <a:prstGeom prst="rect">
            <a:avLst/>
          </a:prstGeom>
          <a:solidFill>
            <a:srgbClr val="00B0F0"/>
          </a:solidFill>
          <a:ln>
            <a:solidFill>
              <a:srgbClr val="00B0F0"/>
            </a:solidFill>
            <a:round/>
          </a:ln>
        </p:spPr>
        <p:style>
          <a:lnRef idx="2">
            <a:schemeClr val="accent1">
              <a:shade val="50000"/>
            </a:schemeClr>
          </a:lnRef>
          <a:fillRef idx="1">
            <a:schemeClr val="accent1"/>
          </a:fillRef>
          <a:effectRef idx="0">
            <a:schemeClr val="accent1"/>
          </a:effectRef>
          <a:fontRef idx="minor"/>
        </p:style>
      </p:sp>
      <p:sp>
        <p:nvSpPr>
          <p:cNvPr id="15" name="CustomShape 11">
            <a:extLst>
              <a:ext uri="{FF2B5EF4-FFF2-40B4-BE49-F238E27FC236}">
                <a16:creationId xmlns:a16="http://schemas.microsoft.com/office/drawing/2014/main" id="{62483EB8-A180-49EA-AE0F-6D59B185C6D1}"/>
              </a:ext>
            </a:extLst>
          </p:cNvPr>
          <p:cNvSpPr/>
          <p:nvPr/>
        </p:nvSpPr>
        <p:spPr>
          <a:xfrm>
            <a:off x="2677080" y="4219200"/>
            <a:ext cx="1437840" cy="1798200"/>
          </a:xfrm>
          <a:prstGeom prst="rect">
            <a:avLst/>
          </a:prstGeom>
          <a:solidFill>
            <a:srgbClr val="92D050"/>
          </a:solidFill>
          <a:ln>
            <a:solidFill>
              <a:srgbClr val="92D05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600" b="1" strike="noStrike" spc="-1">
                <a:solidFill>
                  <a:srgbClr val="3F3F3F"/>
                </a:solidFill>
                <a:latin typeface="Segoe UI"/>
                <a:ea typeface="DejaVu Sans"/>
              </a:rPr>
              <a:t>INTERFACES</a:t>
            </a:r>
            <a:br/>
            <a:r>
              <a:rPr lang="en-US" sz="1600" b="1" strike="noStrike" spc="-1">
                <a:solidFill>
                  <a:srgbClr val="3F3F3F"/>
                </a:solidFill>
                <a:latin typeface="Segoe UI"/>
                <a:ea typeface="DejaVu Sans"/>
              </a:rPr>
              <a:t>FROM</a:t>
            </a:r>
            <a:br/>
            <a:r>
              <a:rPr lang="en-US" sz="1600" b="1" strike="noStrike" spc="-1">
                <a:solidFill>
                  <a:srgbClr val="3F3F3F"/>
                </a:solidFill>
                <a:latin typeface="Segoe UI"/>
                <a:ea typeface="DejaVu Sans"/>
              </a:rPr>
              <a:t>OTHER</a:t>
            </a:r>
            <a:br/>
            <a:r>
              <a:rPr lang="en-US" sz="1600" b="1" strike="noStrike" spc="-1">
                <a:solidFill>
                  <a:srgbClr val="3F3F3F"/>
                </a:solidFill>
                <a:latin typeface="Segoe UI"/>
                <a:ea typeface="DejaVu Sans"/>
              </a:rPr>
              <a:t>REQUIRED</a:t>
            </a:r>
            <a:br/>
            <a:r>
              <a:rPr lang="en-US" sz="1600" b="1" strike="noStrike" spc="-1">
                <a:solidFill>
                  <a:srgbClr val="3F3F3F"/>
                </a:solidFill>
                <a:latin typeface="Segoe UI"/>
                <a:ea typeface="DejaVu Sans"/>
              </a:rPr>
              <a:t>SPECS</a:t>
            </a:r>
            <a:endParaRPr lang="en-US" sz="1600" b="0" strike="noStrike" spc="-1">
              <a:latin typeface="Arial"/>
            </a:endParaRPr>
          </a:p>
        </p:txBody>
      </p:sp>
      <p:sp>
        <p:nvSpPr>
          <p:cNvPr id="16" name="CustomShape 12">
            <a:extLst>
              <a:ext uri="{FF2B5EF4-FFF2-40B4-BE49-F238E27FC236}">
                <a16:creationId xmlns:a16="http://schemas.microsoft.com/office/drawing/2014/main" id="{FB16CA6D-C17F-46F7-9B40-32C6EB8D4272}"/>
              </a:ext>
            </a:extLst>
          </p:cNvPr>
          <p:cNvSpPr/>
          <p:nvPr/>
        </p:nvSpPr>
        <p:spPr>
          <a:xfrm>
            <a:off x="7268160" y="5749560"/>
            <a:ext cx="1798200" cy="267840"/>
          </a:xfrm>
          <a:prstGeom prst="rect">
            <a:avLst/>
          </a:prstGeom>
          <a:solidFill>
            <a:schemeClr val="accent1">
              <a:lumMod val="40000"/>
              <a:lumOff val="60000"/>
            </a:schemeClr>
          </a:solidFill>
          <a:ln>
            <a:solidFill>
              <a:schemeClr val="accent1">
                <a:lumMod val="60000"/>
                <a:lumOff val="40000"/>
              </a:scheme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600" b="1" strike="noStrike" spc="-1">
                <a:solidFill>
                  <a:srgbClr val="3F3F3F"/>
                </a:solidFill>
                <a:latin typeface="Segoe UI"/>
                <a:ea typeface="DejaVu Sans"/>
              </a:rPr>
              <a:t>EFI OS LOADER</a:t>
            </a:r>
            <a:endParaRPr lang="en-US" sz="1600" b="0" strike="noStrike" spc="-1">
              <a:latin typeface="Arial"/>
            </a:endParaRPr>
          </a:p>
        </p:txBody>
      </p:sp>
      <p:sp>
        <p:nvSpPr>
          <p:cNvPr id="17" name="CustomShape 13">
            <a:extLst>
              <a:ext uri="{FF2B5EF4-FFF2-40B4-BE49-F238E27FC236}">
                <a16:creationId xmlns:a16="http://schemas.microsoft.com/office/drawing/2014/main" id="{C889896F-6923-432C-A4E8-740EBE1A61A5}"/>
              </a:ext>
            </a:extLst>
          </p:cNvPr>
          <p:cNvSpPr/>
          <p:nvPr/>
        </p:nvSpPr>
        <p:spPr>
          <a:xfrm>
            <a:off x="3059760" y="3853800"/>
            <a:ext cx="693000" cy="362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1" strike="noStrike" spc="-1">
                <a:solidFill>
                  <a:srgbClr val="3F3F3F"/>
                </a:solidFill>
                <a:latin typeface="Segoe UI"/>
                <a:ea typeface="DejaVu Sans"/>
              </a:rPr>
              <a:t>ACPI</a:t>
            </a:r>
            <a:endParaRPr lang="en-US" sz="1800" b="0" strike="noStrike" spc="-1">
              <a:latin typeface="Arial"/>
            </a:endParaRPr>
          </a:p>
        </p:txBody>
      </p:sp>
      <p:sp>
        <p:nvSpPr>
          <p:cNvPr id="18" name="CustomShape 14">
            <a:extLst>
              <a:ext uri="{FF2B5EF4-FFF2-40B4-BE49-F238E27FC236}">
                <a16:creationId xmlns:a16="http://schemas.microsoft.com/office/drawing/2014/main" id="{FECD5B51-1EDC-459D-AB96-2DEDA5FBAC1D}"/>
              </a:ext>
            </a:extLst>
          </p:cNvPr>
          <p:cNvSpPr/>
          <p:nvPr/>
        </p:nvSpPr>
        <p:spPr>
          <a:xfrm>
            <a:off x="3426600" y="3507840"/>
            <a:ext cx="1047960" cy="362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1" strike="noStrike" spc="-1">
                <a:solidFill>
                  <a:srgbClr val="3F3F3F"/>
                </a:solidFill>
                <a:latin typeface="Segoe UI"/>
                <a:ea typeface="DejaVu Sans"/>
              </a:rPr>
              <a:t>SMBIOS</a:t>
            </a:r>
            <a:endParaRPr lang="en-US" sz="1800" b="0" strike="noStrike" spc="-1">
              <a:latin typeface="Arial"/>
            </a:endParaRPr>
          </a:p>
        </p:txBody>
      </p:sp>
      <p:sp>
        <p:nvSpPr>
          <p:cNvPr id="19" name="CustomShape 15">
            <a:extLst>
              <a:ext uri="{FF2B5EF4-FFF2-40B4-BE49-F238E27FC236}">
                <a16:creationId xmlns:a16="http://schemas.microsoft.com/office/drawing/2014/main" id="{A7049C2C-5EA1-46BE-97CD-E39EEE8800D0}"/>
              </a:ext>
            </a:extLst>
          </p:cNvPr>
          <p:cNvSpPr/>
          <p:nvPr/>
        </p:nvSpPr>
        <p:spPr>
          <a:xfrm>
            <a:off x="6913200" y="5441400"/>
            <a:ext cx="2402640" cy="331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600" b="1" strike="noStrike" spc="-1">
                <a:solidFill>
                  <a:srgbClr val="3F3F3F"/>
                </a:solidFill>
                <a:latin typeface="Segoe UI"/>
                <a:ea typeface="DejaVu Sans"/>
              </a:rPr>
              <a:t>EFI SYSTEM PARTITION</a:t>
            </a:r>
            <a:endParaRPr lang="en-US" sz="1600" b="0" strike="noStrike" spc="-1">
              <a:latin typeface="Arial"/>
            </a:endParaRPr>
          </a:p>
        </p:txBody>
      </p:sp>
    </p:spTree>
    <p:extLst>
      <p:ext uri="{BB962C8B-B14F-4D97-AF65-F5344CB8AC3E}">
        <p14:creationId xmlns:p14="http://schemas.microsoft.com/office/powerpoint/2010/main" val="125655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repl">
                                        <p:cTn id="7" dur="500" fill="hold"/>
                                        <p:tgtEl>
                                          <p:spTgt spid="9"/>
                                        </p:tgtEl>
                                        <p:attrNameLst>
                                          <p:attrName>ppt_x</p:attrName>
                                        </p:attrNameLst>
                                      </p:cBhvr>
                                      <p:tavLst>
                                        <p:tav tm="0">
                                          <p:val>
                                            <p:strVal val="#ppt_x"/>
                                          </p:val>
                                        </p:tav>
                                        <p:tav tm="100000">
                                          <p:val>
                                            <p:strVal val="#ppt_x"/>
                                          </p:val>
                                        </p:tav>
                                      </p:tavLst>
                                    </p:anim>
                                    <p:anim calcmode="lin" valueType="num">
                                      <p:cBhvr additive="repl">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repl">
                                        <p:cTn id="11" dur="500" fill="hold"/>
                                        <p:tgtEl>
                                          <p:spTgt spid="10"/>
                                        </p:tgtEl>
                                        <p:attrNameLst>
                                          <p:attrName>ppt_x</p:attrName>
                                        </p:attrNameLst>
                                      </p:cBhvr>
                                      <p:tavLst>
                                        <p:tav tm="0">
                                          <p:val>
                                            <p:strVal val="#ppt_x"/>
                                          </p:val>
                                        </p:tav>
                                        <p:tav tm="100000">
                                          <p:val>
                                            <p:strVal val="#ppt_x"/>
                                          </p:val>
                                        </p:tav>
                                      </p:tavLst>
                                    </p:anim>
                                    <p:anim calcmode="lin" valueType="num">
                                      <p:cBhvr additive="repl">
                                        <p:cTn id="12" dur="500" fill="hold"/>
                                        <p:tgtEl>
                                          <p:spTgt spid="10"/>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repl">
                                        <p:cTn id="16" dur="500" fill="hold"/>
                                        <p:tgtEl>
                                          <p:spTgt spid="18"/>
                                        </p:tgtEl>
                                        <p:attrNameLst>
                                          <p:attrName>ppt_x</p:attrName>
                                        </p:attrNameLst>
                                      </p:cBhvr>
                                      <p:tavLst>
                                        <p:tav tm="0">
                                          <p:val>
                                            <p:strVal val="#ppt_x"/>
                                          </p:val>
                                        </p:tav>
                                        <p:tav tm="100000">
                                          <p:val>
                                            <p:strVal val="#ppt_x"/>
                                          </p:val>
                                        </p:tav>
                                      </p:tavLst>
                                    </p:anim>
                                    <p:anim calcmode="lin" valueType="num">
                                      <p:cBhvr additive="repl">
                                        <p:cTn id="17" dur="500" fill="hold"/>
                                        <p:tgtEl>
                                          <p:spTgt spid="18"/>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repl">
                                        <p:cTn id="20" dur="500" fill="hold"/>
                                        <p:tgtEl>
                                          <p:spTgt spid="13"/>
                                        </p:tgtEl>
                                        <p:attrNameLst>
                                          <p:attrName>ppt_x</p:attrName>
                                        </p:attrNameLst>
                                      </p:cBhvr>
                                      <p:tavLst>
                                        <p:tav tm="0">
                                          <p:val>
                                            <p:strVal val="#ppt_x"/>
                                          </p:val>
                                        </p:tav>
                                        <p:tav tm="100000">
                                          <p:val>
                                            <p:strVal val="#ppt_x"/>
                                          </p:val>
                                        </p:tav>
                                      </p:tavLst>
                                    </p:anim>
                                    <p:anim calcmode="lin" valueType="num">
                                      <p:cBhvr additive="repl">
                                        <p:cTn id="21" dur="500" fill="hold"/>
                                        <p:tgtEl>
                                          <p:spTgt spid="13"/>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 presetClass="entr" presetSubtype="4" fill="hold" nodeType="after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repl">
                                        <p:cTn id="25" dur="500" fill="hold"/>
                                        <p:tgtEl>
                                          <p:spTgt spid="17"/>
                                        </p:tgtEl>
                                        <p:attrNameLst>
                                          <p:attrName>ppt_x</p:attrName>
                                        </p:attrNameLst>
                                      </p:cBhvr>
                                      <p:tavLst>
                                        <p:tav tm="0">
                                          <p:val>
                                            <p:strVal val="#ppt_x"/>
                                          </p:val>
                                        </p:tav>
                                        <p:tav tm="100000">
                                          <p:val>
                                            <p:strVal val="#ppt_x"/>
                                          </p:val>
                                        </p:tav>
                                      </p:tavLst>
                                    </p:anim>
                                    <p:anim calcmode="lin" valueType="num">
                                      <p:cBhvr additive="repl">
                                        <p:cTn id="26" dur="500" fill="hold"/>
                                        <p:tgtEl>
                                          <p:spTgt spid="1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repl">
                                        <p:cTn id="29" dur="500" fill="hold"/>
                                        <p:tgtEl>
                                          <p:spTgt spid="14"/>
                                        </p:tgtEl>
                                        <p:attrNameLst>
                                          <p:attrName>ppt_x</p:attrName>
                                        </p:attrNameLst>
                                      </p:cBhvr>
                                      <p:tavLst>
                                        <p:tav tm="0">
                                          <p:val>
                                            <p:strVal val="#ppt_x"/>
                                          </p:val>
                                        </p:tav>
                                        <p:tav tm="100000">
                                          <p:val>
                                            <p:strVal val="#ppt_x"/>
                                          </p:val>
                                        </p:tav>
                                      </p:tavLst>
                                    </p:anim>
                                    <p:anim calcmode="lin" valueType="num">
                                      <p:cBhvr additive="repl">
                                        <p:cTn id="30" dur="500" fill="hold"/>
                                        <p:tgtEl>
                                          <p:spTgt spid="14"/>
                                        </p:tgtEl>
                                        <p:attrNameLst>
                                          <p:attrName>ppt_y</p:attrName>
                                        </p:attrNameLst>
                                      </p:cBhvr>
                                      <p:tavLst>
                                        <p:tav tm="0">
                                          <p:val>
                                            <p:strVal val="1+#ppt_h/2"/>
                                          </p:val>
                                        </p:tav>
                                        <p:tav tm="100000">
                                          <p:val>
                                            <p:strVal val="#ppt_y"/>
                                          </p:val>
                                        </p:tav>
                                      </p:tavLst>
                                    </p:anim>
                                  </p:childTnLst>
                                </p:cTn>
                              </p:par>
                            </p:childTnLst>
                          </p:cTn>
                        </p:par>
                        <p:par>
                          <p:cTn id="31" fill="hold">
                            <p:stCondLst>
                              <p:cond delay="1500"/>
                            </p:stCondLst>
                            <p:childTnLst>
                              <p:par>
                                <p:cTn id="32" presetID="2" presetClass="entr" presetSubtype="4"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repl">
                                        <p:cTn id="34" dur="500" fill="hold"/>
                                        <p:tgtEl>
                                          <p:spTgt spid="15"/>
                                        </p:tgtEl>
                                        <p:attrNameLst>
                                          <p:attrName>ppt_x</p:attrName>
                                        </p:attrNameLst>
                                      </p:cBhvr>
                                      <p:tavLst>
                                        <p:tav tm="0">
                                          <p:val>
                                            <p:strVal val="#ppt_x"/>
                                          </p:val>
                                        </p:tav>
                                        <p:tav tm="100000">
                                          <p:val>
                                            <p:strVal val="#ppt_x"/>
                                          </p:val>
                                        </p:tav>
                                      </p:tavLst>
                                    </p:anim>
                                    <p:anim calcmode="lin" valueType="num">
                                      <p:cBhvr additive="repl">
                                        <p:cTn id="35" dur="500" fill="hold"/>
                                        <p:tgtEl>
                                          <p:spTgt spid="15"/>
                                        </p:tgtEl>
                                        <p:attrNameLst>
                                          <p:attrName>ppt_y</p:attrName>
                                        </p:attrNameLst>
                                      </p:cBhvr>
                                      <p:tavLst>
                                        <p:tav tm="0">
                                          <p:val>
                                            <p:strVal val="1+#ppt_h/2"/>
                                          </p:val>
                                        </p:tav>
                                        <p:tav tm="100000">
                                          <p:val>
                                            <p:strVal val="#ppt_y"/>
                                          </p:val>
                                        </p:tav>
                                      </p:tavLst>
                                    </p:anim>
                                  </p:childTnLst>
                                </p:cTn>
                              </p:par>
                            </p:childTnLst>
                          </p:cTn>
                        </p:par>
                        <p:par>
                          <p:cTn id="36" fill="hold">
                            <p:stCondLst>
                              <p:cond delay="2000"/>
                            </p:stCondLst>
                            <p:childTnLst>
                              <p:par>
                                <p:cTn id="37" presetID="2" presetClass="entr" presetSubtype="4"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repl">
                                        <p:cTn id="39" dur="500" fill="hold"/>
                                        <p:tgtEl>
                                          <p:spTgt spid="7"/>
                                        </p:tgtEl>
                                        <p:attrNameLst>
                                          <p:attrName>ppt_x</p:attrName>
                                        </p:attrNameLst>
                                      </p:cBhvr>
                                      <p:tavLst>
                                        <p:tav tm="0">
                                          <p:val>
                                            <p:strVal val="#ppt_x"/>
                                          </p:val>
                                        </p:tav>
                                        <p:tav tm="100000">
                                          <p:val>
                                            <p:strVal val="#ppt_x"/>
                                          </p:val>
                                        </p:tav>
                                      </p:tavLst>
                                    </p:anim>
                                    <p:anim calcmode="lin" valueType="num">
                                      <p:cBhvr additive="repl">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 calcmode="lin" valueType="num">
                                      <p:cBhvr additive="repl">
                                        <p:cTn id="45" dur="500" fill="hold"/>
                                        <p:tgtEl>
                                          <p:spTgt spid="6"/>
                                        </p:tgtEl>
                                        <p:attrNameLst>
                                          <p:attrName>ppt_x</p:attrName>
                                        </p:attrNameLst>
                                      </p:cBhvr>
                                      <p:tavLst>
                                        <p:tav tm="0">
                                          <p:val>
                                            <p:strVal val="#ppt_x"/>
                                          </p:val>
                                        </p:tav>
                                        <p:tav tm="100000">
                                          <p:val>
                                            <p:strVal val="#ppt_x"/>
                                          </p:val>
                                        </p:tav>
                                      </p:tavLst>
                                    </p:anim>
                                    <p:anim calcmode="lin" valueType="num">
                                      <p:cBhvr additive="repl">
                                        <p:cTn id="4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1353800" cy="1075765"/>
          </a:xfrm>
        </p:spPr>
        <p:txBody>
          <a:bodyPr>
            <a:normAutofit/>
          </a:bodyPr>
          <a:lstStyle/>
          <a:p>
            <a:r>
              <a:rPr lang="en-US" dirty="0"/>
              <a:t>General Overview</a:t>
            </a:r>
            <a:br>
              <a:rPr lang="en-US" dirty="0"/>
            </a:br>
            <a:r>
              <a:rPr lang="en-US" sz="3100" dirty="0"/>
              <a:t>POST Flow</a:t>
            </a:r>
            <a:endParaRPr lang="en-US" dirty="0"/>
          </a:p>
        </p:txBody>
      </p:sp>
      <p:sp>
        <p:nvSpPr>
          <p:cNvPr id="29" name="CustomShape 2">
            <a:extLst>
              <a:ext uri="{FF2B5EF4-FFF2-40B4-BE49-F238E27FC236}">
                <a16:creationId xmlns:a16="http://schemas.microsoft.com/office/drawing/2014/main" id="{286BC1B5-94D5-4003-90E0-F2504E0C2D44}"/>
              </a:ext>
            </a:extLst>
          </p:cNvPr>
          <p:cNvSpPr/>
          <p:nvPr/>
        </p:nvSpPr>
        <p:spPr>
          <a:xfrm>
            <a:off x="3171960" y="2205000"/>
            <a:ext cx="4200120" cy="45792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noAutofit/>
          </a:bodyPr>
          <a:lstStyle/>
          <a:p>
            <a:pPr>
              <a:lnSpc>
                <a:spcPct val="100000"/>
              </a:lnSpc>
            </a:pPr>
            <a:r>
              <a:rPr lang="en-US" sz="2400" b="0" strike="noStrike" spc="-1" dirty="0">
                <a:solidFill>
                  <a:srgbClr val="000000"/>
                </a:solidFill>
                <a:latin typeface="Arial"/>
                <a:ea typeface="新細明體"/>
              </a:rPr>
              <a:t>Security</a:t>
            </a:r>
            <a:endParaRPr lang="en-US" sz="2400" b="0" strike="noStrike" spc="-1" dirty="0">
              <a:latin typeface="Arial"/>
            </a:endParaRPr>
          </a:p>
        </p:txBody>
      </p:sp>
      <p:sp>
        <p:nvSpPr>
          <p:cNvPr id="30" name="CustomShape 3">
            <a:extLst>
              <a:ext uri="{FF2B5EF4-FFF2-40B4-BE49-F238E27FC236}">
                <a16:creationId xmlns:a16="http://schemas.microsoft.com/office/drawing/2014/main" id="{9EF88C1E-8866-4938-B09C-CE27CBB90E04}"/>
              </a:ext>
            </a:extLst>
          </p:cNvPr>
          <p:cNvSpPr/>
          <p:nvPr/>
        </p:nvSpPr>
        <p:spPr>
          <a:xfrm>
            <a:off x="3171960" y="2995560"/>
            <a:ext cx="4200120" cy="45792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oAutofit/>
          </a:bodyPr>
          <a:lstStyle/>
          <a:p>
            <a:pPr>
              <a:lnSpc>
                <a:spcPct val="100000"/>
              </a:lnSpc>
            </a:pPr>
            <a:r>
              <a:rPr lang="en-US" sz="2400" b="0" strike="noStrike" spc="-1">
                <a:solidFill>
                  <a:srgbClr val="000000"/>
                </a:solidFill>
                <a:latin typeface="Segoe UI"/>
                <a:ea typeface="DejaVu Sans"/>
              </a:rPr>
              <a:t>Pre-EFI Initialization</a:t>
            </a:r>
            <a:endParaRPr lang="en-US" sz="2400" b="0" strike="noStrike" spc="-1">
              <a:latin typeface="Arial"/>
            </a:endParaRPr>
          </a:p>
        </p:txBody>
      </p:sp>
      <p:sp>
        <p:nvSpPr>
          <p:cNvPr id="31" name="CustomShape 4">
            <a:extLst>
              <a:ext uri="{FF2B5EF4-FFF2-40B4-BE49-F238E27FC236}">
                <a16:creationId xmlns:a16="http://schemas.microsoft.com/office/drawing/2014/main" id="{43181B33-1B8F-4312-91AF-FEBA591D0ED9}"/>
              </a:ext>
            </a:extLst>
          </p:cNvPr>
          <p:cNvSpPr/>
          <p:nvPr/>
        </p:nvSpPr>
        <p:spPr>
          <a:xfrm>
            <a:off x="3171960" y="3835440"/>
            <a:ext cx="4200120" cy="45792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oAutofit/>
          </a:bodyPr>
          <a:lstStyle/>
          <a:p>
            <a:pPr>
              <a:lnSpc>
                <a:spcPct val="100000"/>
              </a:lnSpc>
            </a:pPr>
            <a:r>
              <a:rPr lang="en-US" sz="2400" b="0" strike="noStrike" spc="-1">
                <a:solidFill>
                  <a:srgbClr val="000000"/>
                </a:solidFill>
                <a:latin typeface="Segoe UI"/>
                <a:ea typeface="DejaVu Sans"/>
              </a:rPr>
              <a:t>Driver Execution Environment</a:t>
            </a:r>
            <a:endParaRPr lang="en-US" sz="2400" b="0" strike="noStrike" spc="-1">
              <a:latin typeface="Arial"/>
            </a:endParaRPr>
          </a:p>
        </p:txBody>
      </p:sp>
      <p:sp>
        <p:nvSpPr>
          <p:cNvPr id="32" name="CustomShape 5">
            <a:extLst>
              <a:ext uri="{FF2B5EF4-FFF2-40B4-BE49-F238E27FC236}">
                <a16:creationId xmlns:a16="http://schemas.microsoft.com/office/drawing/2014/main" id="{E8C61EB1-0C6A-45F9-87C3-15A75EFE246E}"/>
              </a:ext>
            </a:extLst>
          </p:cNvPr>
          <p:cNvSpPr/>
          <p:nvPr/>
        </p:nvSpPr>
        <p:spPr>
          <a:xfrm>
            <a:off x="3171960" y="4627440"/>
            <a:ext cx="4200120" cy="45792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oAutofit/>
          </a:bodyPr>
          <a:lstStyle/>
          <a:p>
            <a:pPr>
              <a:lnSpc>
                <a:spcPct val="100000"/>
              </a:lnSpc>
            </a:pPr>
            <a:r>
              <a:rPr lang="en-US" sz="2400" b="0" strike="noStrike" spc="-1">
                <a:solidFill>
                  <a:srgbClr val="000000"/>
                </a:solidFill>
                <a:latin typeface="Segoe UI"/>
                <a:ea typeface="DejaVu Sans"/>
              </a:rPr>
              <a:t>Boot Device Selection</a:t>
            </a:r>
            <a:endParaRPr lang="en-US" sz="2400" b="0" strike="noStrike" spc="-1">
              <a:latin typeface="Arial"/>
            </a:endParaRPr>
          </a:p>
        </p:txBody>
      </p:sp>
      <p:grpSp>
        <p:nvGrpSpPr>
          <p:cNvPr id="33" name="Group 6">
            <a:extLst>
              <a:ext uri="{FF2B5EF4-FFF2-40B4-BE49-F238E27FC236}">
                <a16:creationId xmlns:a16="http://schemas.microsoft.com/office/drawing/2014/main" id="{69313B07-3839-4FE4-95A0-96CA3C7F326D}"/>
              </a:ext>
            </a:extLst>
          </p:cNvPr>
          <p:cNvGrpSpPr/>
          <p:nvPr/>
        </p:nvGrpSpPr>
        <p:grpSpPr>
          <a:xfrm>
            <a:off x="1187280" y="1504800"/>
            <a:ext cx="1649160" cy="4370040"/>
            <a:chOff x="1187280" y="1504800"/>
            <a:chExt cx="1649160" cy="4370040"/>
          </a:xfrm>
        </p:grpSpPr>
        <p:sp>
          <p:nvSpPr>
            <p:cNvPr id="34" name="CustomShape 7">
              <a:extLst>
                <a:ext uri="{FF2B5EF4-FFF2-40B4-BE49-F238E27FC236}">
                  <a16:creationId xmlns:a16="http://schemas.microsoft.com/office/drawing/2014/main" id="{907DEC2E-8754-416A-81D9-7C55E4B8916D}"/>
                </a:ext>
              </a:extLst>
            </p:cNvPr>
            <p:cNvSpPr/>
            <p:nvPr/>
          </p:nvSpPr>
          <p:spPr>
            <a:xfrm>
              <a:off x="1187280" y="2971800"/>
              <a:ext cx="1598040" cy="526320"/>
            </a:xfrm>
            <a:prstGeom prst="ellipse">
              <a:avLst/>
            </a:prstGeom>
            <a:solidFill>
              <a:srgbClr val="92D050"/>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0" strike="noStrike" spc="-1">
                  <a:solidFill>
                    <a:srgbClr val="000000"/>
                  </a:solidFill>
                  <a:latin typeface="Arial"/>
                  <a:ea typeface="新細明體"/>
                </a:rPr>
                <a:t>PEI</a:t>
              </a:r>
              <a:endParaRPr lang="en-US" sz="2800" b="0" strike="noStrike" spc="-1">
                <a:latin typeface="Arial"/>
              </a:endParaRPr>
            </a:p>
          </p:txBody>
        </p:sp>
        <p:sp>
          <p:nvSpPr>
            <p:cNvPr id="35" name="CustomShape 8">
              <a:extLst>
                <a:ext uri="{FF2B5EF4-FFF2-40B4-BE49-F238E27FC236}">
                  <a16:creationId xmlns:a16="http://schemas.microsoft.com/office/drawing/2014/main" id="{81E41D27-5832-4B12-B92C-2CB1CE51AD3B}"/>
                </a:ext>
              </a:extLst>
            </p:cNvPr>
            <p:cNvSpPr/>
            <p:nvPr/>
          </p:nvSpPr>
          <p:spPr>
            <a:xfrm>
              <a:off x="1238400" y="3787920"/>
              <a:ext cx="1598040" cy="526320"/>
            </a:xfrm>
            <a:prstGeom prst="ellipse">
              <a:avLst/>
            </a:prstGeom>
            <a:solidFill>
              <a:srgbClr val="92D050"/>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0" strike="noStrike" spc="-1">
                  <a:solidFill>
                    <a:srgbClr val="000000"/>
                  </a:solidFill>
                  <a:latin typeface="Arial"/>
                  <a:ea typeface="新細明體"/>
                </a:rPr>
                <a:t>DXE</a:t>
              </a:r>
              <a:endParaRPr lang="en-US" sz="2800" b="0" strike="noStrike" spc="-1">
                <a:latin typeface="Arial"/>
              </a:endParaRPr>
            </a:p>
          </p:txBody>
        </p:sp>
        <p:sp>
          <p:nvSpPr>
            <p:cNvPr id="36" name="CustomShape 9">
              <a:extLst>
                <a:ext uri="{FF2B5EF4-FFF2-40B4-BE49-F238E27FC236}">
                  <a16:creationId xmlns:a16="http://schemas.microsoft.com/office/drawing/2014/main" id="{D5449F9A-6846-4C86-B30B-0EA2A3D2C9A2}"/>
                </a:ext>
              </a:extLst>
            </p:cNvPr>
            <p:cNvSpPr/>
            <p:nvPr/>
          </p:nvSpPr>
          <p:spPr>
            <a:xfrm>
              <a:off x="1238400" y="4579920"/>
              <a:ext cx="1598040" cy="526320"/>
            </a:xfrm>
            <a:prstGeom prst="ellipse">
              <a:avLst/>
            </a:prstGeom>
            <a:solidFill>
              <a:srgbClr val="92D050"/>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0" strike="noStrike" spc="-1">
                  <a:solidFill>
                    <a:srgbClr val="000000"/>
                  </a:solidFill>
                  <a:latin typeface="Arial"/>
                  <a:ea typeface="新細明體"/>
                </a:rPr>
                <a:t>BDS</a:t>
              </a:r>
              <a:endParaRPr lang="en-US" sz="2800" b="0" strike="noStrike" spc="-1">
                <a:latin typeface="Arial"/>
              </a:endParaRPr>
            </a:p>
          </p:txBody>
        </p:sp>
        <p:sp>
          <p:nvSpPr>
            <p:cNvPr id="37" name="CustomShape 10">
              <a:extLst>
                <a:ext uri="{FF2B5EF4-FFF2-40B4-BE49-F238E27FC236}">
                  <a16:creationId xmlns:a16="http://schemas.microsoft.com/office/drawing/2014/main" id="{478AE4C9-1900-4420-B560-129F059D1A93}"/>
                </a:ext>
              </a:extLst>
            </p:cNvPr>
            <p:cNvSpPr/>
            <p:nvPr/>
          </p:nvSpPr>
          <p:spPr>
            <a:xfrm>
              <a:off x="1339920" y="5407200"/>
              <a:ext cx="1369440" cy="467640"/>
            </a:xfrm>
            <a:prstGeom prst="rect">
              <a:avLst/>
            </a:prstGeom>
            <a:solidFill>
              <a:srgbClr val="92D050"/>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0" strike="noStrike" spc="-1">
                  <a:solidFill>
                    <a:srgbClr val="000000"/>
                  </a:solidFill>
                  <a:latin typeface="Arial"/>
                  <a:ea typeface="新細明體"/>
                </a:rPr>
                <a:t>OS</a:t>
              </a:r>
              <a:endParaRPr lang="en-US" sz="2800" b="0" strike="noStrike" spc="-1">
                <a:latin typeface="Arial"/>
              </a:endParaRPr>
            </a:p>
          </p:txBody>
        </p:sp>
        <p:sp>
          <p:nvSpPr>
            <p:cNvPr id="38" name="CustomShape 11">
              <a:extLst>
                <a:ext uri="{FF2B5EF4-FFF2-40B4-BE49-F238E27FC236}">
                  <a16:creationId xmlns:a16="http://schemas.microsoft.com/office/drawing/2014/main" id="{E73A464F-E5D6-49C3-A360-53C8A1D51D3B}"/>
                </a:ext>
              </a:extLst>
            </p:cNvPr>
            <p:cNvSpPr/>
            <p:nvPr/>
          </p:nvSpPr>
          <p:spPr>
            <a:xfrm>
              <a:off x="1317600" y="1504800"/>
              <a:ext cx="1445760" cy="408960"/>
            </a:xfrm>
            <a:prstGeom prst="rect">
              <a:avLst/>
            </a:prstGeom>
            <a:solidFill>
              <a:srgbClr val="92D050"/>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dirty="0">
                  <a:solidFill>
                    <a:srgbClr val="000000"/>
                  </a:solidFill>
                  <a:latin typeface="Arial"/>
                  <a:ea typeface="新細明體"/>
                </a:rPr>
                <a:t>PWR ON</a:t>
              </a:r>
              <a:endParaRPr lang="en-US" sz="1800" b="0" strike="noStrike" spc="-1" dirty="0">
                <a:latin typeface="Arial"/>
              </a:endParaRPr>
            </a:p>
          </p:txBody>
        </p:sp>
        <p:sp>
          <p:nvSpPr>
            <p:cNvPr id="39" name="CustomShape 12">
              <a:extLst>
                <a:ext uri="{FF2B5EF4-FFF2-40B4-BE49-F238E27FC236}">
                  <a16:creationId xmlns:a16="http://schemas.microsoft.com/office/drawing/2014/main" id="{89F7CA3C-2391-472D-A071-A113158932AF}"/>
                </a:ext>
              </a:extLst>
            </p:cNvPr>
            <p:cNvSpPr/>
            <p:nvPr/>
          </p:nvSpPr>
          <p:spPr>
            <a:xfrm>
              <a:off x="1238400" y="2179800"/>
              <a:ext cx="1598040" cy="526320"/>
            </a:xfrm>
            <a:prstGeom prst="ellipse">
              <a:avLst/>
            </a:prstGeom>
            <a:solidFill>
              <a:srgbClr val="92D050"/>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0" strike="noStrike" spc="-1">
                  <a:solidFill>
                    <a:srgbClr val="000000"/>
                  </a:solidFill>
                  <a:latin typeface="Arial"/>
                  <a:ea typeface="新細明體"/>
                </a:rPr>
                <a:t>SEC</a:t>
              </a:r>
              <a:endParaRPr lang="en-US" sz="2800" b="0" strike="noStrike" spc="-1">
                <a:latin typeface="Arial"/>
              </a:endParaRPr>
            </a:p>
          </p:txBody>
        </p:sp>
        <p:sp>
          <p:nvSpPr>
            <p:cNvPr id="40" name="Line 13">
              <a:extLst>
                <a:ext uri="{FF2B5EF4-FFF2-40B4-BE49-F238E27FC236}">
                  <a16:creationId xmlns:a16="http://schemas.microsoft.com/office/drawing/2014/main" id="{B5B4863A-E794-43DE-96D2-64179E9DC649}"/>
                </a:ext>
              </a:extLst>
            </p:cNvPr>
            <p:cNvSpPr/>
            <p:nvPr/>
          </p:nvSpPr>
          <p:spPr>
            <a:xfrm>
              <a:off x="2044440" y="2701800"/>
              <a:ext cx="1800" cy="29376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41" name="Line 14">
              <a:extLst>
                <a:ext uri="{FF2B5EF4-FFF2-40B4-BE49-F238E27FC236}">
                  <a16:creationId xmlns:a16="http://schemas.microsoft.com/office/drawing/2014/main" id="{1D0935FA-3A02-4B9C-9EE1-15AE45035236}"/>
                </a:ext>
              </a:extLst>
            </p:cNvPr>
            <p:cNvSpPr/>
            <p:nvPr/>
          </p:nvSpPr>
          <p:spPr>
            <a:xfrm>
              <a:off x="2044440" y="1911240"/>
              <a:ext cx="1800" cy="29376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42" name="Line 15">
              <a:extLst>
                <a:ext uri="{FF2B5EF4-FFF2-40B4-BE49-F238E27FC236}">
                  <a16:creationId xmlns:a16="http://schemas.microsoft.com/office/drawing/2014/main" id="{31806172-EE74-44A4-A20B-F99653147327}"/>
                </a:ext>
              </a:extLst>
            </p:cNvPr>
            <p:cNvSpPr/>
            <p:nvPr/>
          </p:nvSpPr>
          <p:spPr>
            <a:xfrm>
              <a:off x="2044440" y="3500280"/>
              <a:ext cx="1800" cy="29376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43" name="Line 16">
              <a:extLst>
                <a:ext uri="{FF2B5EF4-FFF2-40B4-BE49-F238E27FC236}">
                  <a16:creationId xmlns:a16="http://schemas.microsoft.com/office/drawing/2014/main" id="{A31EFDBC-D36D-439E-9B90-BE4734D9DBA4}"/>
                </a:ext>
              </a:extLst>
            </p:cNvPr>
            <p:cNvSpPr/>
            <p:nvPr/>
          </p:nvSpPr>
          <p:spPr>
            <a:xfrm>
              <a:off x="2044440" y="4311360"/>
              <a:ext cx="1800" cy="29376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44" name="Line 17">
              <a:extLst>
                <a:ext uri="{FF2B5EF4-FFF2-40B4-BE49-F238E27FC236}">
                  <a16:creationId xmlns:a16="http://schemas.microsoft.com/office/drawing/2014/main" id="{706D8AD6-8EEE-454E-95E0-8BFFF2424088}"/>
                </a:ext>
              </a:extLst>
            </p:cNvPr>
            <p:cNvSpPr/>
            <p:nvPr/>
          </p:nvSpPr>
          <p:spPr>
            <a:xfrm>
              <a:off x="2044440" y="5113080"/>
              <a:ext cx="1800" cy="29376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grpSp>
      <p:sp>
        <p:nvSpPr>
          <p:cNvPr id="45" name="CustomShape 18">
            <a:extLst>
              <a:ext uri="{FF2B5EF4-FFF2-40B4-BE49-F238E27FC236}">
                <a16:creationId xmlns:a16="http://schemas.microsoft.com/office/drawing/2014/main" id="{78D9E1C3-7CCA-481E-AEDA-30723880ABDF}"/>
              </a:ext>
            </a:extLst>
          </p:cNvPr>
          <p:cNvSpPr/>
          <p:nvPr/>
        </p:nvSpPr>
        <p:spPr>
          <a:xfrm>
            <a:off x="8554680" y="6416280"/>
            <a:ext cx="510120" cy="36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fld id="{5FE2C5E9-618B-4A25-BF26-B64DDE8BEE1A}" type="slidenum">
              <a:rPr lang="en-US" sz="1000" b="0" strike="noStrike" spc="-1">
                <a:solidFill>
                  <a:srgbClr val="A6A6A6"/>
                </a:solidFill>
                <a:latin typeface="Segoe UI"/>
                <a:ea typeface="DejaVu Sans"/>
              </a:rPr>
              <a:t>13</a:t>
            </a:fld>
            <a:endParaRPr lang="en-US" sz="1000" b="0" strike="noStrike" spc="-1">
              <a:latin typeface="Arial"/>
            </a:endParaRPr>
          </a:p>
        </p:txBody>
      </p:sp>
    </p:spTree>
    <p:extLst>
      <p:ext uri="{BB962C8B-B14F-4D97-AF65-F5344CB8AC3E}">
        <p14:creationId xmlns:p14="http://schemas.microsoft.com/office/powerpoint/2010/main" val="2361513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14</a:t>
            </a:fld>
            <a:endParaRPr lang="en-US" dirty="0"/>
          </a:p>
        </p:txBody>
      </p:sp>
      <p:sp>
        <p:nvSpPr>
          <p:cNvPr id="2" name="Title 1"/>
          <p:cNvSpPr>
            <a:spLocks noGrp="1"/>
          </p:cNvSpPr>
          <p:nvPr>
            <p:ph type="title"/>
          </p:nvPr>
        </p:nvSpPr>
        <p:spPr/>
        <p:txBody>
          <a:bodyPr/>
          <a:lstStyle/>
          <a:p>
            <a:r>
              <a:rPr lang="en-US" dirty="0"/>
              <a:t>Security (SEC)</a:t>
            </a:r>
          </a:p>
        </p:txBody>
      </p:sp>
    </p:spTree>
    <p:extLst>
      <p:ext uri="{BB962C8B-B14F-4D97-AF65-F5344CB8AC3E}">
        <p14:creationId xmlns:p14="http://schemas.microsoft.com/office/powerpoint/2010/main" val="969981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(SEC) Phase</a:t>
            </a:r>
          </a:p>
        </p:txBody>
      </p:sp>
      <p:sp>
        <p:nvSpPr>
          <p:cNvPr id="6" name="CustomShape 1">
            <a:extLst>
              <a:ext uri="{FF2B5EF4-FFF2-40B4-BE49-F238E27FC236}">
                <a16:creationId xmlns:a16="http://schemas.microsoft.com/office/drawing/2014/main" id="{7570A2F0-4BB2-462F-A6DF-86602FC01615}"/>
              </a:ext>
            </a:extLst>
          </p:cNvPr>
          <p:cNvSpPr/>
          <p:nvPr/>
        </p:nvSpPr>
        <p:spPr>
          <a:xfrm>
            <a:off x="4103325" y="2351230"/>
            <a:ext cx="235800" cy="1298160"/>
          </a:xfrm>
          <a:prstGeom prst="bentConnector2">
            <a:avLst/>
          </a:prstGeom>
          <a:noFill/>
          <a:ln w="25560">
            <a:solidFill>
              <a:schemeClr val="tx1"/>
            </a:solidFill>
            <a:round/>
          </a:ln>
        </p:spPr>
        <p:style>
          <a:lnRef idx="1">
            <a:schemeClr val="accent1"/>
          </a:lnRef>
          <a:fillRef idx="0">
            <a:schemeClr val="accent1"/>
          </a:fillRef>
          <a:effectRef idx="0">
            <a:schemeClr val="accent1"/>
          </a:effectRef>
          <a:fontRef idx="minor"/>
        </p:style>
      </p:sp>
      <p:sp>
        <p:nvSpPr>
          <p:cNvPr id="7" name="Line 2">
            <a:extLst>
              <a:ext uri="{FF2B5EF4-FFF2-40B4-BE49-F238E27FC236}">
                <a16:creationId xmlns:a16="http://schemas.microsoft.com/office/drawing/2014/main" id="{5F258AC1-9C4B-4F4B-8E14-93DF6247AF0C}"/>
              </a:ext>
            </a:extLst>
          </p:cNvPr>
          <p:cNvSpPr/>
          <p:nvPr/>
        </p:nvSpPr>
        <p:spPr>
          <a:xfrm flipH="1">
            <a:off x="4536765" y="166543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8" name="CustomShape 3">
            <a:extLst>
              <a:ext uri="{FF2B5EF4-FFF2-40B4-BE49-F238E27FC236}">
                <a16:creationId xmlns:a16="http://schemas.microsoft.com/office/drawing/2014/main" id="{87CFA272-307E-4F5E-9F28-4098E758208B}"/>
              </a:ext>
            </a:extLst>
          </p:cNvPr>
          <p:cNvSpPr/>
          <p:nvPr/>
        </p:nvSpPr>
        <p:spPr>
          <a:xfrm>
            <a:off x="3920805" y="3915070"/>
            <a:ext cx="1707480" cy="537480"/>
          </a:xfrm>
          <a:prstGeom prst="ellipse">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 Driver</a:t>
            </a:r>
            <a:br/>
            <a:r>
              <a:rPr lang="en-US" sz="1400" b="1" strike="noStrike" spc="-1">
                <a:solidFill>
                  <a:srgbClr val="FFFFFF"/>
                </a:solidFill>
                <a:latin typeface="Segoe UI"/>
                <a:ea typeface="DejaVu Sans"/>
              </a:rPr>
              <a:t>Dispatcher</a:t>
            </a:r>
            <a:endParaRPr lang="en-US" sz="1400" b="0" strike="noStrike" spc="-1">
              <a:latin typeface="Arial"/>
            </a:endParaRPr>
          </a:p>
        </p:txBody>
      </p:sp>
      <p:sp>
        <p:nvSpPr>
          <p:cNvPr id="9" name="CustomShape 5">
            <a:extLst>
              <a:ext uri="{FF2B5EF4-FFF2-40B4-BE49-F238E27FC236}">
                <a16:creationId xmlns:a16="http://schemas.microsoft.com/office/drawing/2014/main" id="{36BA86BD-EB2B-4A2D-A09A-228A3887BB72}"/>
              </a:ext>
            </a:extLst>
          </p:cNvPr>
          <p:cNvSpPr/>
          <p:nvPr/>
        </p:nvSpPr>
        <p:spPr>
          <a:xfrm>
            <a:off x="2377845" y="535507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Security</a:t>
            </a:r>
            <a:br/>
            <a:r>
              <a:rPr lang="en-US" sz="1200" b="1" strike="noStrike" spc="-1">
                <a:solidFill>
                  <a:srgbClr val="3F3F3F"/>
                </a:solidFill>
                <a:latin typeface="Segoe UI"/>
                <a:ea typeface="DejaVu Sans"/>
              </a:rPr>
              <a:t> (SEC)</a:t>
            </a:r>
            <a:endParaRPr lang="en-US" sz="1200" b="0" strike="noStrike" spc="-1">
              <a:latin typeface="Arial"/>
            </a:endParaRPr>
          </a:p>
        </p:txBody>
      </p:sp>
      <p:sp>
        <p:nvSpPr>
          <p:cNvPr id="10" name="CustomShape 6">
            <a:extLst>
              <a:ext uri="{FF2B5EF4-FFF2-40B4-BE49-F238E27FC236}">
                <a16:creationId xmlns:a16="http://schemas.microsoft.com/office/drawing/2014/main" id="{7BB78B2B-C8E3-4993-B310-08E1E5485024}"/>
              </a:ext>
            </a:extLst>
          </p:cNvPr>
          <p:cNvSpPr/>
          <p:nvPr/>
        </p:nvSpPr>
        <p:spPr>
          <a:xfrm>
            <a:off x="2330325" y="6075790"/>
            <a:ext cx="99324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Power On</a:t>
            </a:r>
            <a:endParaRPr lang="en-US" sz="1400" b="0" strike="noStrike" spc="-1">
              <a:latin typeface="Arial"/>
            </a:endParaRPr>
          </a:p>
        </p:txBody>
      </p:sp>
      <p:sp>
        <p:nvSpPr>
          <p:cNvPr id="11" name="CustomShape 7">
            <a:extLst>
              <a:ext uri="{FF2B5EF4-FFF2-40B4-BE49-F238E27FC236}">
                <a16:creationId xmlns:a16="http://schemas.microsoft.com/office/drawing/2014/main" id="{CCC7A3AD-3A39-4783-831B-5B7E67318D26}"/>
              </a:ext>
            </a:extLst>
          </p:cNvPr>
          <p:cNvSpPr/>
          <p:nvPr/>
        </p:nvSpPr>
        <p:spPr>
          <a:xfrm>
            <a:off x="9510525" y="6075790"/>
            <a:ext cx="10314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Shutdown</a:t>
            </a:r>
            <a:endParaRPr lang="en-US" sz="1400" b="0" strike="noStrike" spc="-1">
              <a:latin typeface="Arial"/>
            </a:endParaRPr>
          </a:p>
        </p:txBody>
      </p:sp>
      <p:sp>
        <p:nvSpPr>
          <p:cNvPr id="12" name="CustomShape 8">
            <a:extLst>
              <a:ext uri="{FF2B5EF4-FFF2-40B4-BE49-F238E27FC236}">
                <a16:creationId xmlns:a16="http://schemas.microsoft.com/office/drawing/2014/main" id="{65C5D105-AFC6-433D-9D66-78E81BC5D7BA}"/>
              </a:ext>
            </a:extLst>
          </p:cNvPr>
          <p:cNvSpPr/>
          <p:nvPr/>
        </p:nvSpPr>
        <p:spPr>
          <a:xfrm>
            <a:off x="4175325" y="6075790"/>
            <a:ext cx="23436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[..Platform Initialization..]</a:t>
            </a:r>
            <a:endParaRPr lang="en-US" sz="1400" b="0" strike="noStrike" spc="-1">
              <a:latin typeface="Arial"/>
            </a:endParaRPr>
          </a:p>
        </p:txBody>
      </p:sp>
      <p:sp>
        <p:nvSpPr>
          <p:cNvPr id="13" name="CustomShape 9">
            <a:extLst>
              <a:ext uri="{FF2B5EF4-FFF2-40B4-BE49-F238E27FC236}">
                <a16:creationId xmlns:a16="http://schemas.microsoft.com/office/drawing/2014/main" id="{1AAD666D-4F00-4D77-8E95-84C9D2726998}"/>
              </a:ext>
            </a:extLst>
          </p:cNvPr>
          <p:cNvSpPr/>
          <p:nvPr/>
        </p:nvSpPr>
        <p:spPr>
          <a:xfrm>
            <a:off x="7269165" y="6075790"/>
            <a:ext cx="119412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[..OS Boot..]</a:t>
            </a:r>
            <a:endParaRPr lang="en-US" sz="1400" b="0" strike="noStrike" spc="-1">
              <a:latin typeface="Arial"/>
            </a:endParaRPr>
          </a:p>
        </p:txBody>
      </p:sp>
      <p:sp>
        <p:nvSpPr>
          <p:cNvPr id="14" name="CustomShape 10">
            <a:extLst>
              <a:ext uri="{FF2B5EF4-FFF2-40B4-BE49-F238E27FC236}">
                <a16:creationId xmlns:a16="http://schemas.microsoft.com/office/drawing/2014/main" id="{6CF3287D-5913-40F8-9972-E7E77EE35194}"/>
              </a:ext>
            </a:extLst>
          </p:cNvPr>
          <p:cNvSpPr/>
          <p:nvPr/>
        </p:nvSpPr>
        <p:spPr>
          <a:xfrm>
            <a:off x="3277845" y="6210790"/>
            <a:ext cx="89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5" name="CustomShape 11">
            <a:extLst>
              <a:ext uri="{FF2B5EF4-FFF2-40B4-BE49-F238E27FC236}">
                <a16:creationId xmlns:a16="http://schemas.microsoft.com/office/drawing/2014/main" id="{264A12C8-DA8E-4B1E-BDF9-3AEF07B2BFAC}"/>
              </a:ext>
            </a:extLst>
          </p:cNvPr>
          <p:cNvSpPr/>
          <p:nvPr/>
        </p:nvSpPr>
        <p:spPr>
          <a:xfrm>
            <a:off x="6518205" y="6210790"/>
            <a:ext cx="71712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6" name="CustomShape 12">
            <a:extLst>
              <a:ext uri="{FF2B5EF4-FFF2-40B4-BE49-F238E27FC236}">
                <a16:creationId xmlns:a16="http://schemas.microsoft.com/office/drawing/2014/main" id="{D07077BE-9D49-4BD9-BF69-F602970F095E}"/>
              </a:ext>
            </a:extLst>
          </p:cNvPr>
          <p:cNvSpPr/>
          <p:nvPr/>
        </p:nvSpPr>
        <p:spPr>
          <a:xfrm>
            <a:off x="8497485" y="6210790"/>
            <a:ext cx="10774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7" name="CustomShape 13">
            <a:extLst>
              <a:ext uri="{FF2B5EF4-FFF2-40B4-BE49-F238E27FC236}">
                <a16:creationId xmlns:a16="http://schemas.microsoft.com/office/drawing/2014/main" id="{5B3BA276-2777-4727-8969-04561FB51B8B}"/>
              </a:ext>
            </a:extLst>
          </p:cNvPr>
          <p:cNvSpPr/>
          <p:nvPr/>
        </p:nvSpPr>
        <p:spPr>
          <a:xfrm>
            <a:off x="3277845" y="5355070"/>
            <a:ext cx="12567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Pre EFI</a:t>
            </a:r>
            <a:br/>
            <a:r>
              <a:rPr lang="en-US" sz="1200" b="1" strike="noStrike" spc="-1">
                <a:solidFill>
                  <a:srgbClr val="3F3F3F"/>
                </a:solidFill>
                <a:latin typeface="Segoe UI"/>
                <a:ea typeface="DejaVu Sans"/>
              </a:rPr>
              <a:t>Initialization</a:t>
            </a:r>
            <a:endParaRPr lang="en-US" sz="1200" b="0" strike="noStrike" spc="-1">
              <a:latin typeface="Arial"/>
            </a:endParaRPr>
          </a:p>
          <a:p>
            <a:pPr algn="ctr">
              <a:lnSpc>
                <a:spcPct val="100000"/>
              </a:lnSpc>
            </a:pPr>
            <a:r>
              <a:rPr lang="en-US" sz="1200" b="1" strike="noStrike" spc="-1">
                <a:solidFill>
                  <a:srgbClr val="3F3F3F"/>
                </a:solidFill>
                <a:latin typeface="Segoe UI"/>
                <a:ea typeface="DejaVu Sans"/>
              </a:rPr>
              <a:t>(PEI)</a:t>
            </a:r>
            <a:endParaRPr lang="en-US" sz="1200" b="0" strike="noStrike" spc="-1">
              <a:latin typeface="Arial"/>
            </a:endParaRPr>
          </a:p>
        </p:txBody>
      </p:sp>
      <p:sp>
        <p:nvSpPr>
          <p:cNvPr id="18" name="CustomShape 14">
            <a:extLst>
              <a:ext uri="{FF2B5EF4-FFF2-40B4-BE49-F238E27FC236}">
                <a16:creationId xmlns:a16="http://schemas.microsoft.com/office/drawing/2014/main" id="{0B71C759-0B28-48C6-9A63-4778F63503FF}"/>
              </a:ext>
            </a:extLst>
          </p:cNvPr>
          <p:cNvSpPr/>
          <p:nvPr/>
        </p:nvSpPr>
        <p:spPr>
          <a:xfrm>
            <a:off x="4536765" y="535507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Driver Execution</a:t>
            </a:r>
            <a:br/>
            <a:r>
              <a:rPr lang="en-US" sz="1200" b="1" strike="noStrike" spc="-1">
                <a:solidFill>
                  <a:srgbClr val="3F3F3F"/>
                </a:solidFill>
                <a:latin typeface="Segoe UI"/>
                <a:ea typeface="DejaVu Sans"/>
              </a:rPr>
              <a:t>Environment</a:t>
            </a:r>
            <a:br/>
            <a:r>
              <a:rPr lang="en-US" sz="1200" b="1" strike="noStrike" spc="-1">
                <a:solidFill>
                  <a:srgbClr val="3F3F3F"/>
                </a:solidFill>
                <a:latin typeface="Segoe UI"/>
                <a:ea typeface="DejaVu Sans"/>
              </a:rPr>
              <a:t>(DXE)</a:t>
            </a:r>
            <a:endParaRPr lang="en-US" sz="1200" b="0" strike="noStrike" spc="-1">
              <a:latin typeface="Arial"/>
            </a:endParaRPr>
          </a:p>
        </p:txBody>
      </p:sp>
      <p:sp>
        <p:nvSpPr>
          <p:cNvPr id="19" name="CustomShape 15">
            <a:extLst>
              <a:ext uri="{FF2B5EF4-FFF2-40B4-BE49-F238E27FC236}">
                <a16:creationId xmlns:a16="http://schemas.microsoft.com/office/drawing/2014/main" id="{0AFE4468-2D0E-4356-9071-303B563B0743}"/>
              </a:ext>
            </a:extLst>
          </p:cNvPr>
          <p:cNvSpPr/>
          <p:nvPr/>
        </p:nvSpPr>
        <p:spPr>
          <a:xfrm>
            <a:off x="6157845" y="535507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Boot Dev</a:t>
            </a:r>
            <a:br/>
            <a:r>
              <a:rPr lang="en-US" sz="1200" b="1" strike="noStrike" spc="-1">
                <a:solidFill>
                  <a:srgbClr val="3F3F3F"/>
                </a:solidFill>
                <a:latin typeface="Segoe UI"/>
                <a:ea typeface="DejaVu Sans"/>
              </a:rPr>
              <a:t>Select</a:t>
            </a:r>
            <a:br/>
            <a:r>
              <a:rPr lang="en-US" sz="1200" b="1" strike="noStrike" spc="-1">
                <a:solidFill>
                  <a:srgbClr val="3F3F3F"/>
                </a:solidFill>
                <a:latin typeface="Segoe UI"/>
                <a:ea typeface="DejaVu Sans"/>
              </a:rPr>
              <a:t>(BDS)</a:t>
            </a:r>
            <a:endParaRPr lang="en-US" sz="1200" b="0" strike="noStrike" spc="-1">
              <a:latin typeface="Arial"/>
            </a:endParaRPr>
          </a:p>
        </p:txBody>
      </p:sp>
      <p:sp>
        <p:nvSpPr>
          <p:cNvPr id="20" name="CustomShape 16">
            <a:extLst>
              <a:ext uri="{FF2B5EF4-FFF2-40B4-BE49-F238E27FC236}">
                <a16:creationId xmlns:a16="http://schemas.microsoft.com/office/drawing/2014/main" id="{32BEC064-ABF8-4EF5-875E-C47B6E8D4E40}"/>
              </a:ext>
            </a:extLst>
          </p:cNvPr>
          <p:cNvSpPr/>
          <p:nvPr/>
        </p:nvSpPr>
        <p:spPr>
          <a:xfrm>
            <a:off x="7057845" y="5355070"/>
            <a:ext cx="161712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UEFI &amp; OS</a:t>
            </a:r>
            <a:br/>
            <a:r>
              <a:rPr lang="en-US" sz="1200" b="1" strike="noStrike" spc="-1">
                <a:solidFill>
                  <a:srgbClr val="3F3F3F"/>
                </a:solidFill>
                <a:latin typeface="Segoe UI"/>
                <a:ea typeface="DejaVu Sans"/>
              </a:rPr>
              <a:t>Loader</a:t>
            </a:r>
            <a:br/>
            <a:r>
              <a:rPr lang="en-US" sz="1200" b="1" strike="noStrike" spc="-1">
                <a:solidFill>
                  <a:srgbClr val="3F3F3F"/>
                </a:solidFill>
                <a:latin typeface="Segoe UI"/>
                <a:ea typeface="DejaVu Sans"/>
              </a:rPr>
              <a:t>Handshake</a:t>
            </a:r>
            <a:endParaRPr lang="en-US" sz="1200" b="0" strike="noStrike" spc="-1">
              <a:latin typeface="Arial"/>
            </a:endParaRPr>
          </a:p>
        </p:txBody>
      </p:sp>
      <p:sp>
        <p:nvSpPr>
          <p:cNvPr id="21" name="CustomShape 17">
            <a:extLst>
              <a:ext uri="{FF2B5EF4-FFF2-40B4-BE49-F238E27FC236}">
                <a16:creationId xmlns:a16="http://schemas.microsoft.com/office/drawing/2014/main" id="{CD772CBE-EF2B-45ED-88F2-C5782323C7EC}"/>
              </a:ext>
            </a:extLst>
          </p:cNvPr>
          <p:cNvSpPr/>
          <p:nvPr/>
        </p:nvSpPr>
        <p:spPr>
          <a:xfrm>
            <a:off x="8677125" y="535507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Runtime</a:t>
            </a:r>
            <a:br/>
            <a:r>
              <a:rPr lang="en-US" sz="1200" b="1" strike="noStrike" spc="-1">
                <a:solidFill>
                  <a:srgbClr val="3F3F3F"/>
                </a:solidFill>
                <a:latin typeface="Segoe UI"/>
                <a:ea typeface="DejaVu Sans"/>
              </a:rPr>
              <a:t>(RT)</a:t>
            </a:r>
            <a:endParaRPr lang="en-US" sz="1200" b="0" strike="noStrike" spc="-1">
              <a:latin typeface="Arial"/>
            </a:endParaRPr>
          </a:p>
        </p:txBody>
      </p:sp>
      <p:sp>
        <p:nvSpPr>
          <p:cNvPr id="22" name="Line 18">
            <a:extLst>
              <a:ext uri="{FF2B5EF4-FFF2-40B4-BE49-F238E27FC236}">
                <a16:creationId xmlns:a16="http://schemas.microsoft.com/office/drawing/2014/main" id="{816C2DC6-AA50-46A3-A8F7-273156026365}"/>
              </a:ext>
            </a:extLst>
          </p:cNvPr>
          <p:cNvSpPr/>
          <p:nvPr/>
        </p:nvSpPr>
        <p:spPr>
          <a:xfrm flipH="1">
            <a:off x="2377845"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3" name="Line 19">
            <a:extLst>
              <a:ext uri="{FF2B5EF4-FFF2-40B4-BE49-F238E27FC236}">
                <a16:creationId xmlns:a16="http://schemas.microsoft.com/office/drawing/2014/main" id="{1049648D-2D81-4CE2-93B0-54E809DC0374}"/>
              </a:ext>
            </a:extLst>
          </p:cNvPr>
          <p:cNvSpPr/>
          <p:nvPr/>
        </p:nvSpPr>
        <p:spPr>
          <a:xfrm flipH="1">
            <a:off x="3277845"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4" name="Line 20">
            <a:extLst>
              <a:ext uri="{FF2B5EF4-FFF2-40B4-BE49-F238E27FC236}">
                <a16:creationId xmlns:a16="http://schemas.microsoft.com/office/drawing/2014/main" id="{568D5F2F-29DB-4E9A-99DF-146FA19FF541}"/>
              </a:ext>
            </a:extLst>
          </p:cNvPr>
          <p:cNvSpPr/>
          <p:nvPr/>
        </p:nvSpPr>
        <p:spPr>
          <a:xfrm flipH="1">
            <a:off x="6157485" y="166543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5" name="Line 21">
            <a:extLst>
              <a:ext uri="{FF2B5EF4-FFF2-40B4-BE49-F238E27FC236}">
                <a16:creationId xmlns:a16="http://schemas.microsoft.com/office/drawing/2014/main" id="{F42FEAB1-156E-4E67-B797-F48A164B6F20}"/>
              </a:ext>
            </a:extLst>
          </p:cNvPr>
          <p:cNvSpPr/>
          <p:nvPr/>
        </p:nvSpPr>
        <p:spPr>
          <a:xfrm flipH="1">
            <a:off x="7057485" y="166543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6" name="Line 22">
            <a:extLst>
              <a:ext uri="{FF2B5EF4-FFF2-40B4-BE49-F238E27FC236}">
                <a16:creationId xmlns:a16="http://schemas.microsoft.com/office/drawing/2014/main" id="{304443BA-EB3A-4187-B63C-D6E0801397FA}"/>
              </a:ext>
            </a:extLst>
          </p:cNvPr>
          <p:cNvSpPr/>
          <p:nvPr/>
        </p:nvSpPr>
        <p:spPr>
          <a:xfrm flipH="1">
            <a:off x="8676765" y="166543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7" name="Line 23">
            <a:extLst>
              <a:ext uri="{FF2B5EF4-FFF2-40B4-BE49-F238E27FC236}">
                <a16:creationId xmlns:a16="http://schemas.microsoft.com/office/drawing/2014/main" id="{EC1265CD-BD44-455B-A5DA-776B0E6281D2}"/>
              </a:ext>
            </a:extLst>
          </p:cNvPr>
          <p:cNvSpPr/>
          <p:nvPr/>
        </p:nvSpPr>
        <p:spPr>
          <a:xfrm flipH="1">
            <a:off x="10297845"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8" name="CustomShape 24">
            <a:extLst>
              <a:ext uri="{FF2B5EF4-FFF2-40B4-BE49-F238E27FC236}">
                <a16:creationId xmlns:a16="http://schemas.microsoft.com/office/drawing/2014/main" id="{B03EDEA2-F97D-4EAA-BBCA-FA515C687DEA}"/>
              </a:ext>
            </a:extLst>
          </p:cNvPr>
          <p:cNvSpPr/>
          <p:nvPr/>
        </p:nvSpPr>
        <p:spPr>
          <a:xfrm>
            <a:off x="2449125" y="1575070"/>
            <a:ext cx="78984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Pre</a:t>
            </a:r>
            <a:br/>
            <a:r>
              <a:rPr lang="en-US" sz="1200" b="1" strike="noStrike" spc="-1">
                <a:solidFill>
                  <a:srgbClr val="FFFFFF"/>
                </a:solidFill>
                <a:latin typeface="Segoe UI"/>
                <a:ea typeface="DejaVu Sans"/>
              </a:rPr>
              <a:t>Verifier</a:t>
            </a:r>
            <a:endParaRPr lang="en-US" sz="1200" b="0" strike="noStrike" spc="-1">
              <a:latin typeface="Arial"/>
            </a:endParaRPr>
          </a:p>
        </p:txBody>
      </p:sp>
      <p:sp>
        <p:nvSpPr>
          <p:cNvPr id="29" name="CustomShape 25">
            <a:extLst>
              <a:ext uri="{FF2B5EF4-FFF2-40B4-BE49-F238E27FC236}">
                <a16:creationId xmlns:a16="http://schemas.microsoft.com/office/drawing/2014/main" id="{519D6117-89E1-47F7-9D9C-DD3CC690794A}"/>
              </a:ext>
            </a:extLst>
          </p:cNvPr>
          <p:cNvSpPr/>
          <p:nvPr/>
        </p:nvSpPr>
        <p:spPr>
          <a:xfrm>
            <a:off x="4087485" y="4635790"/>
            <a:ext cx="136620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Architectural</a:t>
            </a:r>
            <a:br/>
            <a:r>
              <a:rPr lang="en-US" sz="1200" b="1" strike="noStrike" spc="-1">
                <a:solidFill>
                  <a:srgbClr val="FFFFFF"/>
                </a:solidFill>
                <a:latin typeface="Segoe UI"/>
                <a:ea typeface="DejaVu Sans"/>
              </a:rPr>
              <a:t>Protocols</a:t>
            </a:r>
            <a:endParaRPr lang="en-US" sz="1200" b="0" strike="noStrike" spc="-1">
              <a:latin typeface="Arial"/>
            </a:endParaRPr>
          </a:p>
        </p:txBody>
      </p:sp>
      <p:sp>
        <p:nvSpPr>
          <p:cNvPr id="30" name="CustomShape 26">
            <a:extLst>
              <a:ext uri="{FF2B5EF4-FFF2-40B4-BE49-F238E27FC236}">
                <a16:creationId xmlns:a16="http://schemas.microsoft.com/office/drawing/2014/main" id="{7B55C036-0631-427E-BE5A-6319CD4452E0}"/>
              </a:ext>
            </a:extLst>
          </p:cNvPr>
          <p:cNvSpPr/>
          <p:nvPr/>
        </p:nvSpPr>
        <p:spPr>
          <a:xfrm>
            <a:off x="7146765" y="463579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Boot Loader</a:t>
            </a:r>
            <a:endParaRPr lang="en-US" sz="1200" b="0" strike="noStrike" spc="-1">
              <a:latin typeface="Arial"/>
            </a:endParaRPr>
          </a:p>
        </p:txBody>
      </p:sp>
      <p:sp>
        <p:nvSpPr>
          <p:cNvPr id="31" name="CustomShape 27">
            <a:extLst>
              <a:ext uri="{FF2B5EF4-FFF2-40B4-BE49-F238E27FC236}">
                <a16:creationId xmlns:a16="http://schemas.microsoft.com/office/drawing/2014/main" id="{BCFCC14E-F72E-45F1-B315-A62FAE99CC7D}"/>
              </a:ext>
            </a:extLst>
          </p:cNvPr>
          <p:cNvSpPr/>
          <p:nvPr/>
        </p:nvSpPr>
        <p:spPr>
          <a:xfrm>
            <a:off x="8767485" y="463579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Environment</a:t>
            </a:r>
            <a:endParaRPr lang="en-US" sz="1200" b="0" strike="noStrike" spc="-1">
              <a:latin typeface="Arial"/>
            </a:endParaRPr>
          </a:p>
        </p:txBody>
      </p:sp>
      <p:sp>
        <p:nvSpPr>
          <p:cNvPr id="32" name="CustomShape 28">
            <a:extLst>
              <a:ext uri="{FF2B5EF4-FFF2-40B4-BE49-F238E27FC236}">
                <a16:creationId xmlns:a16="http://schemas.microsoft.com/office/drawing/2014/main" id="{C205AEF7-D58C-4014-8FAC-213BE68F981C}"/>
              </a:ext>
            </a:extLst>
          </p:cNvPr>
          <p:cNvSpPr/>
          <p:nvPr/>
        </p:nvSpPr>
        <p:spPr>
          <a:xfrm>
            <a:off x="3349485" y="265471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CPU</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3" name="CustomShape 29">
            <a:extLst>
              <a:ext uri="{FF2B5EF4-FFF2-40B4-BE49-F238E27FC236}">
                <a16:creationId xmlns:a16="http://schemas.microsoft.com/office/drawing/2014/main" id="{2406FB06-9676-4298-9508-C2F505F8A342}"/>
              </a:ext>
            </a:extLst>
          </p:cNvPr>
          <p:cNvSpPr/>
          <p:nvPr/>
        </p:nvSpPr>
        <p:spPr>
          <a:xfrm>
            <a:off x="3349485" y="319435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Chipset</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4" name="CustomShape 30">
            <a:extLst>
              <a:ext uri="{FF2B5EF4-FFF2-40B4-BE49-F238E27FC236}">
                <a16:creationId xmlns:a16="http://schemas.microsoft.com/office/drawing/2014/main" id="{F946FD61-69AA-4D1A-A33B-668BC6D4EBC5}"/>
              </a:ext>
            </a:extLst>
          </p:cNvPr>
          <p:cNvSpPr/>
          <p:nvPr/>
        </p:nvSpPr>
        <p:spPr>
          <a:xfrm>
            <a:off x="3349485" y="3735790"/>
            <a:ext cx="789840" cy="447120"/>
          </a:xfrm>
          <a:prstGeom prst="rect">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Board</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5" name="CustomShape 31">
            <a:extLst>
              <a:ext uri="{FF2B5EF4-FFF2-40B4-BE49-F238E27FC236}">
                <a16:creationId xmlns:a16="http://schemas.microsoft.com/office/drawing/2014/main" id="{060940D6-C909-4581-AD29-0B474FD6E2E5}"/>
              </a:ext>
            </a:extLst>
          </p:cNvPr>
          <p:cNvSpPr/>
          <p:nvPr/>
        </p:nvSpPr>
        <p:spPr>
          <a:xfrm>
            <a:off x="3349485" y="211471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PEI</a:t>
            </a:r>
            <a:br/>
            <a:r>
              <a:rPr lang="en-US" sz="1200" b="1" strike="noStrike" spc="-1">
                <a:solidFill>
                  <a:srgbClr val="FFFFFF"/>
                </a:solidFill>
                <a:latin typeface="Segoe UI"/>
                <a:ea typeface="DejaVu Sans"/>
              </a:rPr>
              <a:t>Core</a:t>
            </a:r>
            <a:endParaRPr lang="en-US" sz="1200" b="0" strike="noStrike" spc="-1">
              <a:latin typeface="Arial"/>
            </a:endParaRPr>
          </a:p>
        </p:txBody>
      </p:sp>
      <p:sp>
        <p:nvSpPr>
          <p:cNvPr id="36" name="CustomShape 32">
            <a:extLst>
              <a:ext uri="{FF2B5EF4-FFF2-40B4-BE49-F238E27FC236}">
                <a16:creationId xmlns:a16="http://schemas.microsoft.com/office/drawing/2014/main" id="{2E69F29B-5D77-464D-B199-571DE0262098}"/>
              </a:ext>
            </a:extLst>
          </p:cNvPr>
          <p:cNvSpPr/>
          <p:nvPr/>
        </p:nvSpPr>
        <p:spPr>
          <a:xfrm>
            <a:off x="8767485" y="391507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OS-Present</a:t>
            </a:r>
            <a:br/>
            <a:r>
              <a:rPr lang="en-US" sz="1200" b="1" strike="noStrike" spc="-1">
                <a:solidFill>
                  <a:srgbClr val="FFFFFF"/>
                </a:solidFill>
                <a:latin typeface="Segoe UI"/>
                <a:ea typeface="DejaVu Sans"/>
              </a:rPr>
              <a:t>App</a:t>
            </a:r>
            <a:endParaRPr lang="en-US" sz="1200" b="0" strike="noStrike" spc="-1">
              <a:latin typeface="Arial"/>
            </a:endParaRPr>
          </a:p>
        </p:txBody>
      </p:sp>
      <p:sp>
        <p:nvSpPr>
          <p:cNvPr id="37" name="CustomShape 33">
            <a:extLst>
              <a:ext uri="{FF2B5EF4-FFF2-40B4-BE49-F238E27FC236}">
                <a16:creationId xmlns:a16="http://schemas.microsoft.com/office/drawing/2014/main" id="{2B422980-A7D4-4201-A274-D22609A183B4}"/>
              </a:ext>
            </a:extLst>
          </p:cNvPr>
          <p:cNvSpPr/>
          <p:nvPr/>
        </p:nvSpPr>
        <p:spPr>
          <a:xfrm>
            <a:off x="7146765" y="193543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OS-Absent</a:t>
            </a:r>
            <a:br/>
            <a:r>
              <a:rPr lang="en-US" sz="1200" b="1" strike="noStrike" spc="-1">
                <a:solidFill>
                  <a:srgbClr val="3F3F3F"/>
                </a:solidFill>
                <a:latin typeface="Segoe UI"/>
                <a:ea typeface="DejaVu Sans"/>
              </a:rPr>
              <a:t>App</a:t>
            </a:r>
            <a:endParaRPr lang="en-US" sz="1200" b="0" strike="noStrike" spc="-1">
              <a:latin typeface="Arial"/>
            </a:endParaRPr>
          </a:p>
        </p:txBody>
      </p:sp>
      <p:sp>
        <p:nvSpPr>
          <p:cNvPr id="38" name="CustomShape 34">
            <a:extLst>
              <a:ext uri="{FF2B5EF4-FFF2-40B4-BE49-F238E27FC236}">
                <a16:creationId xmlns:a16="http://schemas.microsoft.com/office/drawing/2014/main" id="{E50E2986-72B4-4D60-AC81-0373F7EA4D7C}"/>
              </a:ext>
            </a:extLst>
          </p:cNvPr>
          <p:cNvSpPr/>
          <p:nvPr/>
        </p:nvSpPr>
        <p:spPr>
          <a:xfrm>
            <a:off x="7146765" y="2654710"/>
            <a:ext cx="1366200" cy="44856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Environment</a:t>
            </a:r>
            <a:endParaRPr lang="en-US" sz="1200" b="0" strike="noStrike" spc="-1">
              <a:latin typeface="Arial"/>
            </a:endParaRPr>
          </a:p>
        </p:txBody>
      </p:sp>
      <p:sp>
        <p:nvSpPr>
          <p:cNvPr id="39" name="CustomShape 35">
            <a:extLst>
              <a:ext uri="{FF2B5EF4-FFF2-40B4-BE49-F238E27FC236}">
                <a16:creationId xmlns:a16="http://schemas.microsoft.com/office/drawing/2014/main" id="{550217E1-2B4C-4372-9D4E-E71D7683A067}"/>
              </a:ext>
            </a:extLst>
          </p:cNvPr>
          <p:cNvSpPr/>
          <p:nvPr/>
        </p:nvSpPr>
        <p:spPr>
          <a:xfrm>
            <a:off x="7146765" y="337543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Boot Loader</a:t>
            </a:r>
            <a:endParaRPr lang="en-US" sz="1200" b="0" strike="noStrike" spc="-1">
              <a:latin typeface="Arial"/>
            </a:endParaRPr>
          </a:p>
        </p:txBody>
      </p:sp>
      <p:sp>
        <p:nvSpPr>
          <p:cNvPr id="40" name="CustomShape 36">
            <a:extLst>
              <a:ext uri="{FF2B5EF4-FFF2-40B4-BE49-F238E27FC236}">
                <a16:creationId xmlns:a16="http://schemas.microsoft.com/office/drawing/2014/main" id="{4E181CD9-A193-4D77-9D6F-15A3D5F35D72}"/>
              </a:ext>
            </a:extLst>
          </p:cNvPr>
          <p:cNvSpPr/>
          <p:nvPr/>
        </p:nvSpPr>
        <p:spPr>
          <a:xfrm rot="16200000">
            <a:off x="7730685" y="247723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1" name="CustomShape 37">
            <a:extLst>
              <a:ext uri="{FF2B5EF4-FFF2-40B4-BE49-F238E27FC236}">
                <a16:creationId xmlns:a16="http://schemas.microsoft.com/office/drawing/2014/main" id="{B92C9ACC-6ED5-421B-B241-020DE4DA3CE3}"/>
              </a:ext>
            </a:extLst>
          </p:cNvPr>
          <p:cNvSpPr/>
          <p:nvPr/>
        </p:nvSpPr>
        <p:spPr>
          <a:xfrm rot="5400000">
            <a:off x="7704405" y="247507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2" name="CustomShape 38">
            <a:extLst>
              <a:ext uri="{FF2B5EF4-FFF2-40B4-BE49-F238E27FC236}">
                <a16:creationId xmlns:a16="http://schemas.microsoft.com/office/drawing/2014/main" id="{E93DBF07-BA6E-43E3-9683-6D80665186A4}"/>
              </a:ext>
            </a:extLst>
          </p:cNvPr>
          <p:cNvSpPr/>
          <p:nvPr/>
        </p:nvSpPr>
        <p:spPr>
          <a:xfrm rot="16200000">
            <a:off x="7716285" y="319615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3" name="CustomShape 39">
            <a:extLst>
              <a:ext uri="{FF2B5EF4-FFF2-40B4-BE49-F238E27FC236}">
                <a16:creationId xmlns:a16="http://schemas.microsoft.com/office/drawing/2014/main" id="{37EDC2D2-BC55-41B8-AB5C-7B0EE8B32ECC}"/>
              </a:ext>
            </a:extLst>
          </p:cNvPr>
          <p:cNvSpPr/>
          <p:nvPr/>
        </p:nvSpPr>
        <p:spPr>
          <a:xfrm rot="5400000">
            <a:off x="7690005" y="319435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4" name="CustomShape 40">
            <a:extLst>
              <a:ext uri="{FF2B5EF4-FFF2-40B4-BE49-F238E27FC236}">
                <a16:creationId xmlns:a16="http://schemas.microsoft.com/office/drawing/2014/main" id="{79879C7B-C08B-4C71-9156-C8975C9797F5}"/>
              </a:ext>
            </a:extLst>
          </p:cNvPr>
          <p:cNvSpPr/>
          <p:nvPr/>
        </p:nvSpPr>
        <p:spPr>
          <a:xfrm rot="16200000">
            <a:off x="9343485" y="445687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5" name="CustomShape 41">
            <a:extLst>
              <a:ext uri="{FF2B5EF4-FFF2-40B4-BE49-F238E27FC236}">
                <a16:creationId xmlns:a16="http://schemas.microsoft.com/office/drawing/2014/main" id="{3FD49D22-6539-4136-81CB-135D26847244}"/>
              </a:ext>
            </a:extLst>
          </p:cNvPr>
          <p:cNvSpPr/>
          <p:nvPr/>
        </p:nvSpPr>
        <p:spPr>
          <a:xfrm rot="5400000">
            <a:off x="9317205" y="445471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grpSp>
        <p:nvGrpSpPr>
          <p:cNvPr id="46" name="Group 42">
            <a:extLst>
              <a:ext uri="{FF2B5EF4-FFF2-40B4-BE49-F238E27FC236}">
                <a16:creationId xmlns:a16="http://schemas.microsoft.com/office/drawing/2014/main" id="{64C188B8-1917-4660-913E-2B572A325606}"/>
              </a:ext>
            </a:extLst>
          </p:cNvPr>
          <p:cNvGrpSpPr/>
          <p:nvPr/>
        </p:nvGrpSpPr>
        <p:grpSpPr>
          <a:xfrm>
            <a:off x="4759245" y="2421430"/>
            <a:ext cx="1032840" cy="1183680"/>
            <a:chOff x="2741760" y="2171880"/>
            <a:chExt cx="1032840" cy="1183680"/>
          </a:xfrm>
        </p:grpSpPr>
        <p:sp>
          <p:nvSpPr>
            <p:cNvPr id="47" name="CustomShape 43">
              <a:extLst>
                <a:ext uri="{FF2B5EF4-FFF2-40B4-BE49-F238E27FC236}">
                  <a16:creationId xmlns:a16="http://schemas.microsoft.com/office/drawing/2014/main" id="{0128C9C3-F4B0-4E98-BEB4-B02C358B4522}"/>
                </a:ext>
              </a:extLst>
            </p:cNvPr>
            <p:cNvSpPr/>
            <p:nvPr/>
          </p:nvSpPr>
          <p:spPr>
            <a:xfrm>
              <a:off x="2967120" y="217188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48" name="CustomShape 44">
              <a:extLst>
                <a:ext uri="{FF2B5EF4-FFF2-40B4-BE49-F238E27FC236}">
                  <a16:creationId xmlns:a16="http://schemas.microsoft.com/office/drawing/2014/main" id="{C099B43C-9A51-414A-8A3E-8CA972096B38}"/>
                </a:ext>
              </a:extLst>
            </p:cNvPr>
            <p:cNvSpPr/>
            <p:nvPr/>
          </p:nvSpPr>
          <p:spPr>
            <a:xfrm>
              <a:off x="2917800" y="2244600"/>
              <a:ext cx="80748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49" name="CustomShape 45">
              <a:extLst>
                <a:ext uri="{FF2B5EF4-FFF2-40B4-BE49-F238E27FC236}">
                  <a16:creationId xmlns:a16="http://schemas.microsoft.com/office/drawing/2014/main" id="{6A92FA8B-9545-48CD-9C2F-286BA12E22FA}"/>
                </a:ext>
              </a:extLst>
            </p:cNvPr>
            <p:cNvSpPr/>
            <p:nvPr/>
          </p:nvSpPr>
          <p:spPr>
            <a:xfrm>
              <a:off x="2863800" y="233532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50" name="CustomShape 46">
              <a:extLst>
                <a:ext uri="{FF2B5EF4-FFF2-40B4-BE49-F238E27FC236}">
                  <a16:creationId xmlns:a16="http://schemas.microsoft.com/office/drawing/2014/main" id="{A7C01691-AD2A-44E2-A497-33111B234D5D}"/>
                </a:ext>
              </a:extLst>
            </p:cNvPr>
            <p:cNvSpPr/>
            <p:nvPr/>
          </p:nvSpPr>
          <p:spPr>
            <a:xfrm>
              <a:off x="2805120" y="2422440"/>
              <a:ext cx="80892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1" name="CustomShape 47">
              <a:extLst>
                <a:ext uri="{FF2B5EF4-FFF2-40B4-BE49-F238E27FC236}">
                  <a16:creationId xmlns:a16="http://schemas.microsoft.com/office/drawing/2014/main" id="{BD70736E-8D58-4BBD-A50F-F4B3DEB079EE}"/>
                </a:ext>
              </a:extLst>
            </p:cNvPr>
            <p:cNvSpPr/>
            <p:nvPr/>
          </p:nvSpPr>
          <p:spPr>
            <a:xfrm>
              <a:off x="2741760" y="2513160"/>
              <a:ext cx="807480" cy="842400"/>
            </a:xfrm>
            <a:prstGeom prst="rect">
              <a:avLst/>
            </a:prstGeom>
            <a:solidFill>
              <a:srgbClr val="FFCC00"/>
            </a:solidFill>
            <a:ln w="12600">
              <a:solidFill>
                <a:schemeClr val="tx1"/>
              </a:solidFill>
              <a:miter/>
            </a:ln>
          </p:spPr>
          <p:style>
            <a:lnRef idx="0">
              <a:scrgbClr r="0" g="0" b="0"/>
            </a:lnRef>
            <a:fillRef idx="0">
              <a:scrgbClr r="0" g="0" b="0"/>
            </a:fillRef>
            <a:effectRef idx="0">
              <a:scrgbClr r="0" g="0" b="0"/>
            </a:effectRef>
            <a:fontRef idx="minor"/>
          </p:style>
          <p:txBody>
            <a:bodyPr lIns="46080" tIns="46080" rIns="46080" bIns="46080" anchor="ctr">
              <a:noAutofit/>
            </a:bodyPr>
            <a:lstStyle/>
            <a:p>
              <a:pPr algn="ctr">
                <a:lnSpc>
                  <a:spcPct val="100000"/>
                </a:lnSpc>
              </a:pPr>
              <a:r>
                <a:rPr lang="en-US" sz="1200" b="1" strike="noStrike" spc="-1">
                  <a:solidFill>
                    <a:srgbClr val="3F3F3F"/>
                  </a:solidFill>
                  <a:latin typeface="Segoe UI"/>
                  <a:ea typeface="DejaVu Sans"/>
                </a:rPr>
                <a:t>Device,  Bus, or Service  Driver</a:t>
              </a:r>
              <a:endParaRPr lang="en-US" sz="1200" b="0" strike="noStrike" spc="-1">
                <a:latin typeface="Arial"/>
              </a:endParaRPr>
            </a:p>
          </p:txBody>
        </p:sp>
      </p:grpSp>
      <p:sp>
        <p:nvSpPr>
          <p:cNvPr id="52" name="CustomShape 48">
            <a:extLst>
              <a:ext uri="{FF2B5EF4-FFF2-40B4-BE49-F238E27FC236}">
                <a16:creationId xmlns:a16="http://schemas.microsoft.com/office/drawing/2014/main" id="{002BE33B-1747-4068-8573-A64568F42A25}"/>
              </a:ext>
            </a:extLst>
          </p:cNvPr>
          <p:cNvSpPr/>
          <p:nvPr/>
        </p:nvSpPr>
        <p:spPr>
          <a:xfrm rot="16200000">
            <a:off x="5278365" y="370303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3" name="CustomShape 49">
            <a:extLst>
              <a:ext uri="{FF2B5EF4-FFF2-40B4-BE49-F238E27FC236}">
                <a16:creationId xmlns:a16="http://schemas.microsoft.com/office/drawing/2014/main" id="{6C70C03F-C786-42E0-BEE2-6B8D9BBD241B}"/>
              </a:ext>
            </a:extLst>
          </p:cNvPr>
          <p:cNvSpPr/>
          <p:nvPr/>
        </p:nvSpPr>
        <p:spPr>
          <a:xfrm rot="5400000">
            <a:off x="5237685" y="370087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4" name="CustomShape 50">
            <a:extLst>
              <a:ext uri="{FF2B5EF4-FFF2-40B4-BE49-F238E27FC236}">
                <a16:creationId xmlns:a16="http://schemas.microsoft.com/office/drawing/2014/main" id="{40A1F8DC-0800-4717-8737-D2DB5F81C2AE}"/>
              </a:ext>
            </a:extLst>
          </p:cNvPr>
          <p:cNvSpPr/>
          <p:nvPr/>
        </p:nvSpPr>
        <p:spPr>
          <a:xfrm>
            <a:off x="5887845" y="3915070"/>
            <a:ext cx="1437840" cy="537480"/>
          </a:xfrm>
          <a:prstGeom prst="ellipse">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Boot</a:t>
            </a:r>
            <a:br/>
            <a:r>
              <a:rPr lang="en-US" sz="1400" b="1" strike="noStrike" spc="-1">
                <a:solidFill>
                  <a:srgbClr val="FFFFFF"/>
                </a:solidFill>
                <a:latin typeface="Segoe UI"/>
                <a:ea typeface="DejaVu Sans"/>
              </a:rPr>
              <a:t>Manager</a:t>
            </a:r>
            <a:endParaRPr lang="en-US" sz="1400" b="0" strike="noStrike" spc="-1">
              <a:latin typeface="Arial"/>
            </a:endParaRPr>
          </a:p>
        </p:txBody>
      </p:sp>
      <p:sp>
        <p:nvSpPr>
          <p:cNvPr id="55" name="Line 51">
            <a:extLst>
              <a:ext uri="{FF2B5EF4-FFF2-40B4-BE49-F238E27FC236}">
                <a16:creationId xmlns:a16="http://schemas.microsoft.com/office/drawing/2014/main" id="{46A911AF-F242-498C-B393-2D990BD4E4D0}"/>
              </a:ext>
            </a:extLst>
          </p:cNvPr>
          <p:cNvSpPr/>
          <p:nvPr/>
        </p:nvSpPr>
        <p:spPr>
          <a:xfrm flipH="1">
            <a:off x="6157485" y="2295790"/>
            <a:ext cx="17640" cy="107928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6" name="Line 52">
            <a:extLst>
              <a:ext uri="{FF2B5EF4-FFF2-40B4-BE49-F238E27FC236}">
                <a16:creationId xmlns:a16="http://schemas.microsoft.com/office/drawing/2014/main" id="{FFCE33CD-6496-4A21-92B0-1BF01D6EF668}"/>
              </a:ext>
            </a:extLst>
          </p:cNvPr>
          <p:cNvSpPr/>
          <p:nvPr/>
        </p:nvSpPr>
        <p:spPr>
          <a:xfrm flipH="1">
            <a:off x="6157485" y="4635790"/>
            <a:ext cx="17640" cy="53964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7" name="CustomShape 53">
            <a:extLst>
              <a:ext uri="{FF2B5EF4-FFF2-40B4-BE49-F238E27FC236}">
                <a16:creationId xmlns:a16="http://schemas.microsoft.com/office/drawing/2014/main" id="{B393E268-E473-4EFF-98BB-AFE42B474375}"/>
              </a:ext>
            </a:extLst>
          </p:cNvPr>
          <p:cNvSpPr/>
          <p:nvPr/>
        </p:nvSpPr>
        <p:spPr>
          <a:xfrm>
            <a:off x="5630805" y="4185070"/>
            <a:ext cx="2548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58" name="Line 54">
            <a:extLst>
              <a:ext uri="{FF2B5EF4-FFF2-40B4-BE49-F238E27FC236}">
                <a16:creationId xmlns:a16="http://schemas.microsoft.com/office/drawing/2014/main" id="{051BA10D-C800-4F40-B95F-308EAE60B445}"/>
              </a:ext>
            </a:extLst>
          </p:cNvPr>
          <p:cNvSpPr/>
          <p:nvPr/>
        </p:nvSpPr>
        <p:spPr>
          <a:xfrm flipH="1">
            <a:off x="4771485" y="4454710"/>
            <a:ext cx="5040" cy="181080"/>
          </a:xfrm>
          <a:prstGeom prst="line">
            <a:avLst/>
          </a:prstGeom>
          <a:ln w="63360">
            <a:solidFill>
              <a:srgbClr val="1218FA"/>
            </a:solidFill>
            <a:round/>
          </a:ln>
        </p:spPr>
        <p:style>
          <a:lnRef idx="1">
            <a:schemeClr val="accent1"/>
          </a:lnRef>
          <a:fillRef idx="0">
            <a:schemeClr val="accent1"/>
          </a:fillRef>
          <a:effectRef idx="0">
            <a:schemeClr val="accent1"/>
          </a:effectRef>
          <a:fontRef idx="minor"/>
        </p:style>
      </p:sp>
      <p:sp>
        <p:nvSpPr>
          <p:cNvPr id="59" name="CustomShape 55">
            <a:extLst>
              <a:ext uri="{FF2B5EF4-FFF2-40B4-BE49-F238E27FC236}">
                <a16:creationId xmlns:a16="http://schemas.microsoft.com/office/drawing/2014/main" id="{6A8CD771-C232-4A87-9542-F12FA48717D6}"/>
              </a:ext>
            </a:extLst>
          </p:cNvPr>
          <p:cNvSpPr/>
          <p:nvPr/>
        </p:nvSpPr>
        <p:spPr>
          <a:xfrm>
            <a:off x="8515125" y="4859710"/>
            <a:ext cx="25020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0" name="CustomShape 56">
            <a:extLst>
              <a:ext uri="{FF2B5EF4-FFF2-40B4-BE49-F238E27FC236}">
                <a16:creationId xmlns:a16="http://schemas.microsoft.com/office/drawing/2014/main" id="{224088CA-40BA-4633-85BF-D9EA624DE6C9}"/>
              </a:ext>
            </a:extLst>
          </p:cNvPr>
          <p:cNvSpPr/>
          <p:nvPr/>
        </p:nvSpPr>
        <p:spPr>
          <a:xfrm rot="18180000">
            <a:off x="7242525" y="388411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1" name="CustomShape 57">
            <a:extLst>
              <a:ext uri="{FF2B5EF4-FFF2-40B4-BE49-F238E27FC236}">
                <a16:creationId xmlns:a16="http://schemas.microsoft.com/office/drawing/2014/main" id="{F3ADABE2-192E-4B81-A5DA-F6E9B510E7A6}"/>
              </a:ext>
            </a:extLst>
          </p:cNvPr>
          <p:cNvSpPr/>
          <p:nvPr/>
        </p:nvSpPr>
        <p:spPr>
          <a:xfrm rot="7380000">
            <a:off x="7214445" y="386179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2" name="CustomShape 58">
            <a:extLst>
              <a:ext uri="{FF2B5EF4-FFF2-40B4-BE49-F238E27FC236}">
                <a16:creationId xmlns:a16="http://schemas.microsoft.com/office/drawing/2014/main" id="{0FF86772-E5A5-4AD5-A00D-D8590E01F42B}"/>
              </a:ext>
            </a:extLst>
          </p:cNvPr>
          <p:cNvSpPr/>
          <p:nvPr/>
        </p:nvSpPr>
        <p:spPr>
          <a:xfrm>
            <a:off x="7116525" y="4375510"/>
            <a:ext cx="308880" cy="25344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3" name="CustomShape 59">
            <a:extLst>
              <a:ext uri="{FF2B5EF4-FFF2-40B4-BE49-F238E27FC236}">
                <a16:creationId xmlns:a16="http://schemas.microsoft.com/office/drawing/2014/main" id="{FE3880D0-5AAA-4B58-8DBE-AE1BB8894B1C}"/>
              </a:ext>
            </a:extLst>
          </p:cNvPr>
          <p:cNvSpPr/>
          <p:nvPr/>
        </p:nvSpPr>
        <p:spPr>
          <a:xfrm>
            <a:off x="3241485" y="1800430"/>
            <a:ext cx="502560" cy="31212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4" name="CustomShape 60">
            <a:extLst>
              <a:ext uri="{FF2B5EF4-FFF2-40B4-BE49-F238E27FC236}">
                <a16:creationId xmlns:a16="http://schemas.microsoft.com/office/drawing/2014/main" id="{EB3CBFFE-BA50-4059-81C2-B56B94F71066}"/>
              </a:ext>
            </a:extLst>
          </p:cNvPr>
          <p:cNvSpPr/>
          <p:nvPr/>
        </p:nvSpPr>
        <p:spPr>
          <a:xfrm rot="5400000">
            <a:off x="6241365" y="2191750"/>
            <a:ext cx="348840" cy="41076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5" name="CustomShape 61">
            <a:extLst>
              <a:ext uri="{FF2B5EF4-FFF2-40B4-BE49-F238E27FC236}">
                <a16:creationId xmlns:a16="http://schemas.microsoft.com/office/drawing/2014/main" id="{4933D1A9-1D16-4C43-A74A-C7D7624F7FB9}"/>
              </a:ext>
            </a:extLst>
          </p:cNvPr>
          <p:cNvSpPr/>
          <p:nvPr/>
        </p:nvSpPr>
        <p:spPr>
          <a:xfrm>
            <a:off x="3312765" y="1503790"/>
            <a:ext cx="671040" cy="301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Verify</a:t>
            </a:r>
            <a:endParaRPr lang="en-US" sz="1400" b="0" strike="noStrike" spc="-1">
              <a:latin typeface="Arial"/>
            </a:endParaRPr>
          </a:p>
        </p:txBody>
      </p:sp>
      <p:sp>
        <p:nvSpPr>
          <p:cNvPr id="66" name="CustomShape 62">
            <a:extLst>
              <a:ext uri="{FF2B5EF4-FFF2-40B4-BE49-F238E27FC236}">
                <a16:creationId xmlns:a16="http://schemas.microsoft.com/office/drawing/2014/main" id="{277C46D4-DC7F-4818-8FBF-50344EF26DB7}"/>
              </a:ext>
            </a:extLst>
          </p:cNvPr>
          <p:cNvSpPr/>
          <p:nvPr/>
        </p:nvSpPr>
        <p:spPr>
          <a:xfrm>
            <a:off x="6117165" y="1700350"/>
            <a:ext cx="1006920" cy="5148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EFI/UEFI</a:t>
            </a:r>
            <a:br/>
            <a:r>
              <a:rPr lang="en-US" sz="1400" b="1" strike="noStrike" spc="-1">
                <a:solidFill>
                  <a:srgbClr val="3F3F3F"/>
                </a:solidFill>
                <a:latin typeface="Segoe UI"/>
                <a:ea typeface="DejaVu Sans"/>
              </a:rPr>
              <a:t>Interfaces</a:t>
            </a:r>
            <a:endParaRPr lang="en-US" sz="1400" b="0" strike="noStrike" spc="-1">
              <a:latin typeface="Arial"/>
            </a:endParaRPr>
          </a:p>
        </p:txBody>
      </p:sp>
      <p:sp>
        <p:nvSpPr>
          <p:cNvPr id="67" name="CustomShape 63">
            <a:extLst>
              <a:ext uri="{FF2B5EF4-FFF2-40B4-BE49-F238E27FC236}">
                <a16:creationId xmlns:a16="http://schemas.microsoft.com/office/drawing/2014/main" id="{03C877CB-0F5F-45A8-A7BA-A46A6442535A}"/>
              </a:ext>
            </a:extLst>
          </p:cNvPr>
          <p:cNvSpPr/>
          <p:nvPr/>
        </p:nvSpPr>
        <p:spPr>
          <a:xfrm rot="8100000">
            <a:off x="4105845" y="373327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8" name="CustomShape 64">
            <a:extLst>
              <a:ext uri="{FF2B5EF4-FFF2-40B4-BE49-F238E27FC236}">
                <a16:creationId xmlns:a16="http://schemas.microsoft.com/office/drawing/2014/main" id="{E60D7DD8-C272-48C0-9ACA-817C1A8F444E}"/>
              </a:ext>
            </a:extLst>
          </p:cNvPr>
          <p:cNvSpPr/>
          <p:nvPr/>
        </p:nvSpPr>
        <p:spPr>
          <a:xfrm rot="8100000">
            <a:off x="4105845" y="319183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9" name="CustomShape 65">
            <a:extLst>
              <a:ext uri="{FF2B5EF4-FFF2-40B4-BE49-F238E27FC236}">
                <a16:creationId xmlns:a16="http://schemas.microsoft.com/office/drawing/2014/main" id="{4171EB11-897A-4EA9-89EE-0D363AFEAFDE}"/>
              </a:ext>
            </a:extLst>
          </p:cNvPr>
          <p:cNvSpPr/>
          <p:nvPr/>
        </p:nvSpPr>
        <p:spPr>
          <a:xfrm rot="8100000">
            <a:off x="4105845" y="265219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0" name="CustomShape 66">
            <a:extLst>
              <a:ext uri="{FF2B5EF4-FFF2-40B4-BE49-F238E27FC236}">
                <a16:creationId xmlns:a16="http://schemas.microsoft.com/office/drawing/2014/main" id="{CCA5CBA2-53F9-46EE-9626-7532DF1D9D79}"/>
              </a:ext>
            </a:extLst>
          </p:cNvPr>
          <p:cNvSpPr/>
          <p:nvPr/>
        </p:nvSpPr>
        <p:spPr>
          <a:xfrm>
            <a:off x="2336445" y="1316230"/>
            <a:ext cx="1009080" cy="4822200"/>
          </a:xfrm>
          <a:prstGeom prst="rect">
            <a:avLst/>
          </a:prstGeom>
          <a:noFill/>
          <a:ln w="25560">
            <a:solidFill>
              <a:srgbClr val="FF0000"/>
            </a:solidFill>
            <a:miter/>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57881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(SEC) Phase</a:t>
            </a:r>
          </a:p>
        </p:txBody>
      </p:sp>
      <p:sp>
        <p:nvSpPr>
          <p:cNvPr id="72" name="CustomShape 2">
            <a:extLst>
              <a:ext uri="{FF2B5EF4-FFF2-40B4-BE49-F238E27FC236}">
                <a16:creationId xmlns:a16="http://schemas.microsoft.com/office/drawing/2014/main" id="{70B3E431-E69B-4E53-BD66-0F79FADFBE68}"/>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2000" indent="-226440">
              <a:lnSpc>
                <a:spcPct val="98000"/>
              </a:lnSpc>
              <a:spcBef>
                <a:spcPts val="499"/>
              </a:spcBef>
            </a:pPr>
            <a:r>
              <a:rPr lang="en-US" sz="2800" b="0" strike="noStrike" spc="-1" dirty="0">
                <a:solidFill>
                  <a:srgbClr val="3F3F3F"/>
                </a:solidFill>
                <a:latin typeface="Segoe UI"/>
                <a:ea typeface="DejaVu Sans"/>
              </a:rPr>
              <a:t>The Security (SEC) phase is the first phase in the PI Architecture and is responsible for the following:</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Handling all platform restart events</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Creating a temporary memory store</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Serving as the root of trust in the system</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Passing handoff information to the PEI Foundation</a:t>
            </a:r>
            <a:endParaRPr lang="en-US" sz="2800" b="0" strike="noStrike" spc="-1" dirty="0">
              <a:latin typeface="Arial"/>
            </a:endParaRPr>
          </a:p>
          <a:p>
            <a:pPr marL="800280" lvl="1" indent="-340920">
              <a:lnSpc>
                <a:spcPct val="90000"/>
              </a:lnSpc>
              <a:spcBef>
                <a:spcPts val="451"/>
              </a:spcBef>
              <a:buClr>
                <a:srgbClr val="3F3F3F"/>
              </a:buClr>
              <a:buFont typeface="Arial"/>
              <a:buChar char="•"/>
            </a:pPr>
            <a:r>
              <a:rPr lang="en-US" sz="2000" b="0" strike="noStrike" spc="-1" dirty="0" err="1">
                <a:solidFill>
                  <a:srgbClr val="3F3F3F"/>
                </a:solidFill>
                <a:latin typeface="Segoe UI"/>
                <a:ea typeface="DejaVu Sans"/>
              </a:rPr>
              <a:t>BootFirmwareVolume</a:t>
            </a:r>
            <a:endParaRPr lang="en-US" sz="2000" b="0" strike="noStrike" spc="-1" dirty="0">
              <a:latin typeface="Arial"/>
            </a:endParaRPr>
          </a:p>
          <a:p>
            <a:pPr marL="800280" lvl="1" indent="-340920">
              <a:lnSpc>
                <a:spcPct val="90000"/>
              </a:lnSpc>
              <a:spcBef>
                <a:spcPts val="451"/>
              </a:spcBef>
              <a:buClr>
                <a:srgbClr val="3F3F3F"/>
              </a:buClr>
              <a:buFont typeface="Arial"/>
              <a:buChar char="•"/>
            </a:pPr>
            <a:r>
              <a:rPr lang="en-US" sz="2000" b="0" strike="noStrike" spc="-1" dirty="0" err="1">
                <a:solidFill>
                  <a:srgbClr val="3F3F3F"/>
                </a:solidFill>
                <a:latin typeface="Segoe UI"/>
                <a:ea typeface="DejaVu Sans"/>
              </a:rPr>
              <a:t>SizeOfCacheAsRam</a:t>
            </a:r>
            <a:endParaRPr lang="en-US" sz="2000" b="0" strike="noStrike" spc="-1" dirty="0">
              <a:latin typeface="Arial"/>
            </a:endParaRPr>
          </a:p>
        </p:txBody>
      </p:sp>
    </p:spTree>
    <p:extLst>
      <p:ext uri="{BB962C8B-B14F-4D97-AF65-F5344CB8AC3E}">
        <p14:creationId xmlns:p14="http://schemas.microsoft.com/office/powerpoint/2010/main" val="660754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Security (SEC) Phase</a:t>
            </a:r>
            <a:br>
              <a:rPr lang="en-US" dirty="0"/>
            </a:br>
            <a:r>
              <a:rPr lang="en-US" sz="3100" dirty="0"/>
              <a:t>SEC-to-PEI Transition</a:t>
            </a:r>
            <a:endParaRPr lang="en-US" dirty="0"/>
          </a:p>
        </p:txBody>
      </p:sp>
      <p:grpSp>
        <p:nvGrpSpPr>
          <p:cNvPr id="4" name="Group 2">
            <a:extLst>
              <a:ext uri="{FF2B5EF4-FFF2-40B4-BE49-F238E27FC236}">
                <a16:creationId xmlns:a16="http://schemas.microsoft.com/office/drawing/2014/main" id="{3378F27D-84B8-4EA5-A64B-E4CAD4C11D54}"/>
              </a:ext>
            </a:extLst>
          </p:cNvPr>
          <p:cNvGrpSpPr/>
          <p:nvPr/>
        </p:nvGrpSpPr>
        <p:grpSpPr>
          <a:xfrm>
            <a:off x="574560" y="1868400"/>
            <a:ext cx="5636520" cy="3274560"/>
            <a:chOff x="574560" y="1868400"/>
            <a:chExt cx="5636520" cy="3274560"/>
          </a:xfrm>
        </p:grpSpPr>
        <p:grpSp>
          <p:nvGrpSpPr>
            <p:cNvPr id="5" name="Group 3">
              <a:extLst>
                <a:ext uri="{FF2B5EF4-FFF2-40B4-BE49-F238E27FC236}">
                  <a16:creationId xmlns:a16="http://schemas.microsoft.com/office/drawing/2014/main" id="{C8CEC82A-9E8F-41D4-9E4E-CBD2BFB905BB}"/>
                </a:ext>
              </a:extLst>
            </p:cNvPr>
            <p:cNvGrpSpPr/>
            <p:nvPr/>
          </p:nvGrpSpPr>
          <p:grpSpPr>
            <a:xfrm>
              <a:off x="3460680" y="1868400"/>
              <a:ext cx="2750400" cy="3274560"/>
              <a:chOff x="3460680" y="1868400"/>
              <a:chExt cx="2750400" cy="3274560"/>
            </a:xfrm>
          </p:grpSpPr>
          <p:sp>
            <p:nvSpPr>
              <p:cNvPr id="8" name="CustomShape 4">
                <a:extLst>
                  <a:ext uri="{FF2B5EF4-FFF2-40B4-BE49-F238E27FC236}">
                    <a16:creationId xmlns:a16="http://schemas.microsoft.com/office/drawing/2014/main" id="{AEA85421-735C-49E2-A4A7-C789CBA01C8E}"/>
                  </a:ext>
                </a:extLst>
              </p:cNvPr>
              <p:cNvSpPr/>
              <p:nvPr/>
            </p:nvSpPr>
            <p:spPr>
              <a:xfrm>
                <a:off x="3460680" y="1868400"/>
                <a:ext cx="2750400" cy="3274560"/>
              </a:xfrm>
              <a:prstGeom prst="ellipse">
                <a:avLst/>
              </a:prstGeom>
              <a:solidFill>
                <a:srgbClr val="FFFFCC"/>
              </a:solidFill>
              <a:ln w="9360" cap="rnd">
                <a:solidFill>
                  <a:srgbClr val="000000"/>
                </a:solidFill>
                <a:custDash>
                  <a:ds d="1700000" sp="1300000"/>
                  <a:ds d="100000" sp="1300000"/>
                </a:custDash>
                <a:miter/>
              </a:ln>
            </p:spPr>
            <p:style>
              <a:lnRef idx="0">
                <a:scrgbClr r="0" g="0" b="0"/>
              </a:lnRef>
              <a:fillRef idx="0">
                <a:scrgbClr r="0" g="0" b="0"/>
              </a:fillRef>
              <a:effectRef idx="0">
                <a:scrgbClr r="0" g="0" b="0"/>
              </a:effectRef>
              <a:fontRef idx="minor"/>
            </p:style>
          </p:sp>
          <p:sp>
            <p:nvSpPr>
              <p:cNvPr id="9" name="CustomShape 5">
                <a:extLst>
                  <a:ext uri="{FF2B5EF4-FFF2-40B4-BE49-F238E27FC236}">
                    <a16:creationId xmlns:a16="http://schemas.microsoft.com/office/drawing/2014/main" id="{F9EF1A15-FE3F-463E-9684-5DB92F75A259}"/>
                  </a:ext>
                </a:extLst>
              </p:cNvPr>
              <p:cNvSpPr/>
              <p:nvPr/>
            </p:nvSpPr>
            <p:spPr>
              <a:xfrm>
                <a:off x="4232160" y="2249640"/>
                <a:ext cx="1217160" cy="835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Trustworthy</a:t>
                </a:r>
                <a:endParaRPr lang="en-US" sz="1800" b="0" strike="noStrike" spc="-1">
                  <a:latin typeface="Arial"/>
                </a:endParaRPr>
              </a:p>
              <a:p>
                <a:pPr algn="ctr">
                  <a:lnSpc>
                    <a:spcPct val="100000"/>
                  </a:lnSpc>
                </a:pPr>
                <a:r>
                  <a:rPr lang="en-US" sz="1800" b="1" strike="noStrike" spc="-1">
                    <a:solidFill>
                      <a:srgbClr val="000000"/>
                    </a:solidFill>
                    <a:latin typeface="Arial"/>
                    <a:ea typeface="新細明體"/>
                  </a:rPr>
                  <a:t>RAM</a:t>
                </a:r>
                <a:endParaRPr lang="en-US" sz="1800" b="0" strike="noStrike" spc="-1">
                  <a:latin typeface="Arial"/>
                </a:endParaRPr>
              </a:p>
            </p:txBody>
          </p:sp>
        </p:grpSp>
        <p:sp>
          <p:nvSpPr>
            <p:cNvPr id="6" name="CustomShape 6">
              <a:extLst>
                <a:ext uri="{FF2B5EF4-FFF2-40B4-BE49-F238E27FC236}">
                  <a16:creationId xmlns:a16="http://schemas.microsoft.com/office/drawing/2014/main" id="{8164679E-722E-4295-A6A6-ED83E5D9B268}"/>
                </a:ext>
              </a:extLst>
            </p:cNvPr>
            <p:cNvSpPr/>
            <p:nvPr/>
          </p:nvSpPr>
          <p:spPr>
            <a:xfrm>
              <a:off x="574560" y="2478240"/>
              <a:ext cx="2360160" cy="9122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oAutofit/>
            </a:bodyPr>
            <a:lstStyle/>
            <a:p>
              <a:pPr marL="343080" indent="-340920">
                <a:lnSpc>
                  <a:spcPct val="100000"/>
                </a:lnSpc>
                <a:spcBef>
                  <a:spcPts val="1001"/>
                </a:spcBef>
                <a:buClr>
                  <a:srgbClr val="FF0000"/>
                </a:buClr>
                <a:buFont typeface="Times New Roman"/>
                <a:buAutoNum type="arabicPeriod"/>
              </a:pPr>
              <a:r>
                <a:rPr lang="en-US" sz="1800" b="0" strike="noStrike" spc="-1">
                  <a:solidFill>
                    <a:srgbClr val="FF0000"/>
                  </a:solidFill>
                  <a:latin typeface="Segoe UI"/>
                  <a:ea typeface="DejaVu Sans"/>
                </a:rPr>
                <a:t>SEC creates an early cache as RAM memory environment</a:t>
              </a:r>
              <a:endParaRPr lang="en-US" sz="1800" b="0" strike="noStrike" spc="-1">
                <a:latin typeface="Arial"/>
              </a:endParaRPr>
            </a:p>
          </p:txBody>
        </p:sp>
        <p:sp>
          <p:nvSpPr>
            <p:cNvPr id="7" name="Line 7">
              <a:extLst>
                <a:ext uri="{FF2B5EF4-FFF2-40B4-BE49-F238E27FC236}">
                  <a16:creationId xmlns:a16="http://schemas.microsoft.com/office/drawing/2014/main" id="{6D2A9DB8-CF13-4FE4-8BF4-02860D4E9CD5}"/>
                </a:ext>
              </a:extLst>
            </p:cNvPr>
            <p:cNvSpPr/>
            <p:nvPr/>
          </p:nvSpPr>
          <p:spPr>
            <a:xfrm>
              <a:off x="1946160" y="1868400"/>
              <a:ext cx="2209680" cy="228600"/>
            </a:xfrm>
            <a:prstGeom prst="line">
              <a:avLst/>
            </a:prstGeom>
            <a:ln w="9360" cap="rnd">
              <a:solidFill>
                <a:srgbClr val="FF0000"/>
              </a:solidFill>
              <a:custDash>
                <a:ds d="3900000" sp="1300000"/>
              </a:custDash>
              <a:miter/>
              <a:tailEnd type="triangle" w="med" len="med"/>
            </a:ln>
          </p:spPr>
          <p:style>
            <a:lnRef idx="0">
              <a:scrgbClr r="0" g="0" b="0"/>
            </a:lnRef>
            <a:fillRef idx="0">
              <a:scrgbClr r="0" g="0" b="0"/>
            </a:fillRef>
            <a:effectRef idx="0">
              <a:scrgbClr r="0" g="0" b="0"/>
            </a:effectRef>
            <a:fontRef idx="minor"/>
          </p:style>
        </p:sp>
      </p:grpSp>
      <p:sp>
        <p:nvSpPr>
          <p:cNvPr id="10" name="CustomShape 8">
            <a:extLst>
              <a:ext uri="{FF2B5EF4-FFF2-40B4-BE49-F238E27FC236}">
                <a16:creationId xmlns:a16="http://schemas.microsoft.com/office/drawing/2014/main" id="{892843D9-73A0-4561-9032-080AB035B056}"/>
              </a:ext>
            </a:extLst>
          </p:cNvPr>
          <p:cNvSpPr/>
          <p:nvPr/>
        </p:nvSpPr>
        <p:spPr>
          <a:xfrm>
            <a:off x="650880" y="1639800"/>
            <a:ext cx="1293120" cy="607320"/>
          </a:xfrm>
          <a:prstGeom prst="rect">
            <a:avLst/>
          </a:prstGeom>
          <a:solidFill>
            <a:srgbClr val="6699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1" strike="noStrike" spc="-1">
                <a:solidFill>
                  <a:srgbClr val="FFFFFF"/>
                </a:solidFill>
                <a:latin typeface="Arial"/>
                <a:ea typeface="新細明體"/>
              </a:rPr>
              <a:t>SEC</a:t>
            </a:r>
            <a:endParaRPr lang="en-US" sz="2800" b="0" strike="noStrike" spc="-1">
              <a:latin typeface="Arial"/>
            </a:endParaRPr>
          </a:p>
        </p:txBody>
      </p:sp>
      <p:sp>
        <p:nvSpPr>
          <p:cNvPr id="11" name="CustomShape 9">
            <a:extLst>
              <a:ext uri="{FF2B5EF4-FFF2-40B4-BE49-F238E27FC236}">
                <a16:creationId xmlns:a16="http://schemas.microsoft.com/office/drawing/2014/main" id="{480331C9-DC89-4C8F-87AB-7A0001BF857E}"/>
              </a:ext>
            </a:extLst>
          </p:cNvPr>
          <p:cNvSpPr/>
          <p:nvPr/>
        </p:nvSpPr>
        <p:spPr>
          <a:xfrm>
            <a:off x="6746760" y="3621240"/>
            <a:ext cx="1750320" cy="6836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1" strike="noStrike" spc="-1">
                <a:solidFill>
                  <a:srgbClr val="FFFFFF"/>
                </a:solidFill>
                <a:latin typeface="Arial"/>
                <a:ea typeface="新細明體"/>
              </a:rPr>
              <a:t>PEI Core</a:t>
            </a:r>
            <a:endParaRPr lang="en-US" sz="2800" b="0" strike="noStrike" spc="-1">
              <a:latin typeface="Arial"/>
            </a:endParaRPr>
          </a:p>
        </p:txBody>
      </p:sp>
      <p:grpSp>
        <p:nvGrpSpPr>
          <p:cNvPr id="12" name="Group 10">
            <a:extLst>
              <a:ext uri="{FF2B5EF4-FFF2-40B4-BE49-F238E27FC236}">
                <a16:creationId xmlns:a16="http://schemas.microsoft.com/office/drawing/2014/main" id="{9852DE11-91B2-476F-B315-42E465E88762}"/>
              </a:ext>
            </a:extLst>
          </p:cNvPr>
          <p:cNvGrpSpPr/>
          <p:nvPr/>
        </p:nvGrpSpPr>
        <p:grpSpPr>
          <a:xfrm>
            <a:off x="539640" y="1982520"/>
            <a:ext cx="5103360" cy="2741400"/>
            <a:chOff x="539640" y="1982520"/>
            <a:chExt cx="5103360" cy="2741400"/>
          </a:xfrm>
        </p:grpSpPr>
        <p:sp>
          <p:nvSpPr>
            <p:cNvPr id="13" name="CustomShape 11">
              <a:extLst>
                <a:ext uri="{FF2B5EF4-FFF2-40B4-BE49-F238E27FC236}">
                  <a16:creationId xmlns:a16="http://schemas.microsoft.com/office/drawing/2014/main" id="{E82ABBC8-B2F0-4053-BA5A-7A48CD51805F}"/>
                </a:ext>
              </a:extLst>
            </p:cNvPr>
            <p:cNvSpPr/>
            <p:nvPr/>
          </p:nvSpPr>
          <p:spPr>
            <a:xfrm>
              <a:off x="4730760" y="3583080"/>
              <a:ext cx="912240" cy="1140840"/>
            </a:xfrm>
            <a:prstGeom prst="rect">
              <a:avLst/>
            </a:prstGeom>
            <a:solidFill>
              <a:srgbClr val="FF6600"/>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00000"/>
                </a:lnSpc>
              </a:pPr>
              <a:r>
                <a:rPr lang="en-US" sz="2000" b="0" strike="noStrike" spc="-1">
                  <a:solidFill>
                    <a:srgbClr val="99CCFF"/>
                  </a:solidFill>
                  <a:latin typeface="Arial"/>
                  <a:ea typeface="新細明體"/>
                </a:rPr>
                <a:t>B</a:t>
              </a:r>
              <a:r>
                <a:rPr lang="en-US" sz="1800" b="0" strike="noStrike" spc="-1">
                  <a:solidFill>
                    <a:srgbClr val="FFFFFF"/>
                  </a:solidFill>
                  <a:latin typeface="Arial"/>
                  <a:ea typeface="新細明體"/>
                </a:rPr>
                <a:t>oot</a:t>
              </a:r>
              <a:endParaRPr lang="en-US" sz="1800" b="0" strike="noStrike" spc="-1">
                <a:latin typeface="Arial"/>
              </a:endParaRPr>
            </a:p>
            <a:p>
              <a:pPr>
                <a:lnSpc>
                  <a:spcPct val="100000"/>
                </a:lnSpc>
              </a:pPr>
              <a:r>
                <a:rPr lang="en-US" sz="2000" b="0" strike="noStrike" spc="-1">
                  <a:solidFill>
                    <a:srgbClr val="99CCFF"/>
                  </a:solidFill>
                  <a:latin typeface="Arial"/>
                  <a:ea typeface="新細明體"/>
                </a:rPr>
                <a:t>F</a:t>
              </a:r>
              <a:r>
                <a:rPr lang="en-US" sz="1800" b="0" strike="noStrike" spc="-1">
                  <a:solidFill>
                    <a:srgbClr val="FFFFFF"/>
                  </a:solidFill>
                  <a:latin typeface="Arial"/>
                  <a:ea typeface="新細明體"/>
                </a:rPr>
                <a:t>irmware</a:t>
              </a:r>
              <a:endParaRPr lang="en-US" sz="1800" b="0" strike="noStrike" spc="-1">
                <a:latin typeface="Arial"/>
              </a:endParaRPr>
            </a:p>
            <a:p>
              <a:pPr>
                <a:lnSpc>
                  <a:spcPct val="100000"/>
                </a:lnSpc>
              </a:pPr>
              <a:r>
                <a:rPr lang="en-US" sz="2000" b="0" strike="noStrike" spc="-1">
                  <a:solidFill>
                    <a:srgbClr val="99CCFF"/>
                  </a:solidFill>
                  <a:latin typeface="Arial"/>
                  <a:ea typeface="新細明體"/>
                </a:rPr>
                <a:t>V</a:t>
              </a:r>
              <a:r>
                <a:rPr lang="en-US" sz="1800" b="0" strike="noStrike" spc="-1">
                  <a:solidFill>
                    <a:srgbClr val="FFFFFF"/>
                  </a:solidFill>
                  <a:latin typeface="Arial"/>
                  <a:ea typeface="新細明體"/>
                </a:rPr>
                <a:t>olume</a:t>
              </a:r>
              <a:endParaRPr lang="en-US" sz="1800" b="0" strike="noStrike" spc="-1">
                <a:latin typeface="Arial"/>
              </a:endParaRPr>
            </a:p>
          </p:txBody>
        </p:sp>
        <p:sp>
          <p:nvSpPr>
            <p:cNvPr id="14" name="Line 12">
              <a:extLst>
                <a:ext uri="{FF2B5EF4-FFF2-40B4-BE49-F238E27FC236}">
                  <a16:creationId xmlns:a16="http://schemas.microsoft.com/office/drawing/2014/main" id="{08EEE99E-09A7-4261-A55F-154E6B5D3D43}"/>
                </a:ext>
              </a:extLst>
            </p:cNvPr>
            <p:cNvSpPr/>
            <p:nvPr/>
          </p:nvSpPr>
          <p:spPr>
            <a:xfrm>
              <a:off x="1911240" y="1982520"/>
              <a:ext cx="2819160" cy="1600200"/>
            </a:xfrm>
            <a:prstGeom prst="line">
              <a:avLst/>
            </a:prstGeom>
            <a:ln w="9360" cap="rnd">
              <a:solidFill>
                <a:srgbClr val="FF6600"/>
              </a:solidFill>
              <a:custDash>
                <a:ds d="3900000" sp="1300000"/>
              </a:custDash>
              <a:miter/>
              <a:tailEnd type="triangle" w="med" len="med"/>
            </a:ln>
          </p:spPr>
          <p:style>
            <a:lnRef idx="0">
              <a:scrgbClr r="0" g="0" b="0"/>
            </a:lnRef>
            <a:fillRef idx="0">
              <a:scrgbClr r="0" g="0" b="0"/>
            </a:fillRef>
            <a:effectRef idx="0">
              <a:scrgbClr r="0" g="0" b="0"/>
            </a:effectRef>
            <a:fontRef idx="minor"/>
          </p:style>
        </p:sp>
        <p:sp>
          <p:nvSpPr>
            <p:cNvPr id="15" name="CustomShape 13">
              <a:extLst>
                <a:ext uri="{FF2B5EF4-FFF2-40B4-BE49-F238E27FC236}">
                  <a16:creationId xmlns:a16="http://schemas.microsoft.com/office/drawing/2014/main" id="{C4DD524D-86EC-4161-B358-02F1BFC4409A}"/>
                </a:ext>
              </a:extLst>
            </p:cNvPr>
            <p:cNvSpPr/>
            <p:nvPr/>
          </p:nvSpPr>
          <p:spPr>
            <a:xfrm>
              <a:off x="539640" y="3583080"/>
              <a:ext cx="2360160" cy="9122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oAutofit/>
            </a:bodyPr>
            <a:lstStyle/>
            <a:p>
              <a:pPr marL="343080" indent="-340920">
                <a:lnSpc>
                  <a:spcPct val="100000"/>
                </a:lnSpc>
                <a:spcBef>
                  <a:spcPts val="1001"/>
                </a:spcBef>
                <a:buClr>
                  <a:srgbClr val="FF6600"/>
                </a:buClr>
                <a:buFont typeface="Times New Roman"/>
                <a:buAutoNum type="arabicPeriod" startAt="2"/>
              </a:pPr>
              <a:r>
                <a:rPr lang="en-US" sz="1800" b="0" strike="noStrike" spc="-1">
                  <a:solidFill>
                    <a:srgbClr val="FF6600"/>
                  </a:solidFill>
                  <a:latin typeface="Segoe UI"/>
                  <a:ea typeface="DejaVu Sans"/>
                </a:rPr>
                <a:t>SEC knows the location of the boot firmware volume</a:t>
              </a:r>
              <a:endParaRPr lang="en-US" sz="1800" b="0" strike="noStrike" spc="-1">
                <a:latin typeface="Arial"/>
              </a:endParaRPr>
            </a:p>
          </p:txBody>
        </p:sp>
      </p:grpSp>
      <p:grpSp>
        <p:nvGrpSpPr>
          <p:cNvPr id="16" name="Group 14">
            <a:extLst>
              <a:ext uri="{FF2B5EF4-FFF2-40B4-BE49-F238E27FC236}">
                <a16:creationId xmlns:a16="http://schemas.microsoft.com/office/drawing/2014/main" id="{57E5BE0B-1362-40F5-99A4-2C4602EA0096}"/>
              </a:ext>
            </a:extLst>
          </p:cNvPr>
          <p:cNvGrpSpPr/>
          <p:nvPr/>
        </p:nvGrpSpPr>
        <p:grpSpPr>
          <a:xfrm>
            <a:off x="574560" y="1868040"/>
            <a:ext cx="7162560" cy="3768480"/>
            <a:chOff x="574560" y="1868040"/>
            <a:chExt cx="7162560" cy="3768480"/>
          </a:xfrm>
        </p:grpSpPr>
        <p:grpSp>
          <p:nvGrpSpPr>
            <p:cNvPr id="17" name="Group 15">
              <a:extLst>
                <a:ext uri="{FF2B5EF4-FFF2-40B4-BE49-F238E27FC236}">
                  <a16:creationId xmlns:a16="http://schemas.microsoft.com/office/drawing/2014/main" id="{2127492D-8FB4-4699-90E6-5A299FE77C42}"/>
                </a:ext>
              </a:extLst>
            </p:cNvPr>
            <p:cNvGrpSpPr/>
            <p:nvPr/>
          </p:nvGrpSpPr>
          <p:grpSpPr>
            <a:xfrm>
              <a:off x="574560" y="1868040"/>
              <a:ext cx="7162560" cy="3768480"/>
              <a:chOff x="574560" y="1868040"/>
              <a:chExt cx="7162560" cy="3768480"/>
            </a:xfrm>
          </p:grpSpPr>
          <p:sp>
            <p:nvSpPr>
              <p:cNvPr id="20" name="Line 16">
                <a:extLst>
                  <a:ext uri="{FF2B5EF4-FFF2-40B4-BE49-F238E27FC236}">
                    <a16:creationId xmlns:a16="http://schemas.microsoft.com/office/drawing/2014/main" id="{3975D89D-772E-4B07-AA68-D6DF5487AA40}"/>
                  </a:ext>
                </a:extLst>
              </p:cNvPr>
              <p:cNvSpPr/>
              <p:nvPr/>
            </p:nvSpPr>
            <p:spPr>
              <a:xfrm>
                <a:off x="1946160" y="1868040"/>
                <a:ext cx="5790960" cy="1676520"/>
              </a:xfrm>
              <a:prstGeom prst="line">
                <a:avLst/>
              </a:prstGeom>
              <a:ln w="9360" cap="rnd">
                <a:solidFill>
                  <a:srgbClr val="00CC00"/>
                </a:solidFill>
                <a:custDash>
                  <a:ds d="3900000" sp="1300000"/>
                </a:custDash>
                <a:miter/>
                <a:tailEnd type="triangle" w="med" len="med"/>
              </a:ln>
            </p:spPr>
            <p:style>
              <a:lnRef idx="0">
                <a:scrgbClr r="0" g="0" b="0"/>
              </a:lnRef>
              <a:fillRef idx="0">
                <a:scrgbClr r="0" g="0" b="0"/>
              </a:fillRef>
              <a:effectRef idx="0">
                <a:scrgbClr r="0" g="0" b="0"/>
              </a:effectRef>
              <a:fontRef idx="minor"/>
            </p:style>
          </p:sp>
          <p:sp>
            <p:nvSpPr>
              <p:cNvPr id="21" name="CustomShape 17">
                <a:extLst>
                  <a:ext uri="{FF2B5EF4-FFF2-40B4-BE49-F238E27FC236}">
                    <a16:creationId xmlns:a16="http://schemas.microsoft.com/office/drawing/2014/main" id="{86836CDB-5E58-4597-815F-87E78ECD50D2}"/>
                  </a:ext>
                </a:extLst>
              </p:cNvPr>
              <p:cNvSpPr/>
              <p:nvPr/>
            </p:nvSpPr>
            <p:spPr>
              <a:xfrm>
                <a:off x="574560" y="4724280"/>
                <a:ext cx="2360160" cy="9122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oAutofit/>
              </a:bodyPr>
              <a:lstStyle/>
              <a:p>
                <a:pPr marL="343080" indent="-340920">
                  <a:lnSpc>
                    <a:spcPct val="100000"/>
                  </a:lnSpc>
                  <a:spcBef>
                    <a:spcPts val="1001"/>
                  </a:spcBef>
                  <a:buClr>
                    <a:srgbClr val="00CC00"/>
                  </a:buClr>
                  <a:buFont typeface="Times New Roman"/>
                  <a:buAutoNum type="arabicPeriod" startAt="3"/>
                </a:pPr>
                <a:r>
                  <a:rPr lang="en-US" sz="1800" b="0" strike="noStrike" spc="-1">
                    <a:solidFill>
                      <a:srgbClr val="00CC00"/>
                    </a:solidFill>
                    <a:latin typeface="Segoe UI"/>
                    <a:ea typeface="DejaVu Sans"/>
                  </a:rPr>
                  <a:t>SEC passes control to PEI core located in the BFV</a:t>
                </a:r>
                <a:endParaRPr lang="en-US" sz="1800" b="0" strike="noStrike" spc="-1">
                  <a:latin typeface="Arial"/>
                </a:endParaRPr>
              </a:p>
            </p:txBody>
          </p:sp>
        </p:grpSp>
        <p:sp>
          <p:nvSpPr>
            <p:cNvPr id="18" name="Line 18">
              <a:extLst>
                <a:ext uri="{FF2B5EF4-FFF2-40B4-BE49-F238E27FC236}">
                  <a16:creationId xmlns:a16="http://schemas.microsoft.com/office/drawing/2014/main" id="{88A7928E-3A25-4D5E-BCAA-B376D5AFEC44}"/>
                </a:ext>
              </a:extLst>
            </p:cNvPr>
            <p:cNvSpPr/>
            <p:nvPr/>
          </p:nvSpPr>
          <p:spPr>
            <a:xfrm>
              <a:off x="5679720" y="3925800"/>
              <a:ext cx="1067040" cy="144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19" name="Line 19">
              <a:extLst>
                <a:ext uri="{FF2B5EF4-FFF2-40B4-BE49-F238E27FC236}">
                  <a16:creationId xmlns:a16="http://schemas.microsoft.com/office/drawing/2014/main" id="{04079592-1BD2-49E5-883E-644CFAF34C14}"/>
                </a:ext>
              </a:extLst>
            </p:cNvPr>
            <p:cNvSpPr/>
            <p:nvPr/>
          </p:nvSpPr>
          <p:spPr>
            <a:xfrm>
              <a:off x="5679720" y="4078080"/>
              <a:ext cx="1067040" cy="1440"/>
            </a:xfrm>
            <a:prstGeom prst="line">
              <a:avLst/>
            </a:prstGeom>
            <a:ln w="9360">
              <a:solidFill>
                <a:srgbClr val="000000"/>
              </a:solidFill>
              <a:miter/>
            </a:ln>
          </p:spPr>
          <p:style>
            <a:lnRef idx="0">
              <a:scrgbClr r="0" g="0" b="0"/>
            </a:lnRef>
            <a:fillRef idx="0">
              <a:scrgbClr r="0" g="0" b="0"/>
            </a:fillRef>
            <a:effectRef idx="0">
              <a:scrgbClr r="0" g="0" b="0"/>
            </a:effectRef>
            <a:fontRef idx="minor"/>
          </p:style>
        </p:sp>
      </p:grpSp>
      <p:sp>
        <p:nvSpPr>
          <p:cNvPr id="22" name="CustomShape 20">
            <a:extLst>
              <a:ext uri="{FF2B5EF4-FFF2-40B4-BE49-F238E27FC236}">
                <a16:creationId xmlns:a16="http://schemas.microsoft.com/office/drawing/2014/main" id="{48CC9CC8-EE22-4912-B379-4E8F29393AB8}"/>
              </a:ext>
            </a:extLst>
          </p:cNvPr>
          <p:cNvSpPr/>
          <p:nvPr/>
        </p:nvSpPr>
        <p:spPr>
          <a:xfrm>
            <a:off x="6753240" y="4332240"/>
            <a:ext cx="1750320" cy="6836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1" strike="noStrike" spc="-1">
                <a:solidFill>
                  <a:srgbClr val="FFFFFF"/>
                </a:solidFill>
                <a:latin typeface="Arial"/>
                <a:ea typeface="新細明體"/>
              </a:rPr>
              <a:t>PEIMS</a:t>
            </a:r>
            <a:endParaRPr lang="en-US" sz="2800" b="0" strike="noStrike" spc="-1">
              <a:latin typeface="Arial"/>
            </a:endParaRPr>
          </a:p>
        </p:txBody>
      </p:sp>
    </p:spTree>
    <p:extLst>
      <p:ext uri="{BB962C8B-B14F-4D97-AF65-F5344CB8AC3E}">
        <p14:creationId xmlns:p14="http://schemas.microsoft.com/office/powerpoint/2010/main" val="412855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18</a:t>
            </a:fld>
            <a:endParaRPr lang="en-US" dirty="0"/>
          </a:p>
        </p:txBody>
      </p:sp>
      <p:sp>
        <p:nvSpPr>
          <p:cNvPr id="2" name="Title 1"/>
          <p:cNvSpPr>
            <a:spLocks noGrp="1"/>
          </p:cNvSpPr>
          <p:nvPr>
            <p:ph type="title"/>
          </p:nvPr>
        </p:nvSpPr>
        <p:spPr/>
        <p:txBody>
          <a:bodyPr/>
          <a:lstStyle/>
          <a:p>
            <a:r>
              <a:rPr lang="en-US" dirty="0"/>
              <a:t>Pre-EFI Initialization (PEI)</a:t>
            </a:r>
          </a:p>
        </p:txBody>
      </p:sp>
    </p:spTree>
    <p:extLst>
      <p:ext uri="{BB962C8B-B14F-4D97-AF65-F5344CB8AC3E}">
        <p14:creationId xmlns:p14="http://schemas.microsoft.com/office/powerpoint/2010/main" val="3988715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Platform Boot Flow</a:t>
            </a:r>
            <a:endParaRPr lang="en-US" dirty="0"/>
          </a:p>
        </p:txBody>
      </p:sp>
      <p:sp>
        <p:nvSpPr>
          <p:cNvPr id="6" name="CustomShape 1">
            <a:extLst>
              <a:ext uri="{FF2B5EF4-FFF2-40B4-BE49-F238E27FC236}">
                <a16:creationId xmlns:a16="http://schemas.microsoft.com/office/drawing/2014/main" id="{F55F6261-2DDD-4DBC-A722-F52A5D6B1D67}"/>
              </a:ext>
            </a:extLst>
          </p:cNvPr>
          <p:cNvSpPr/>
          <p:nvPr/>
        </p:nvSpPr>
        <p:spPr>
          <a:xfrm>
            <a:off x="3958181" y="2351230"/>
            <a:ext cx="235800" cy="1298160"/>
          </a:xfrm>
          <a:prstGeom prst="bentConnector2">
            <a:avLst/>
          </a:prstGeom>
          <a:noFill/>
          <a:ln w="25560">
            <a:solidFill>
              <a:schemeClr val="tx1"/>
            </a:solidFill>
            <a:round/>
          </a:ln>
        </p:spPr>
        <p:style>
          <a:lnRef idx="1">
            <a:schemeClr val="accent1"/>
          </a:lnRef>
          <a:fillRef idx="0">
            <a:schemeClr val="accent1"/>
          </a:fillRef>
          <a:effectRef idx="0">
            <a:schemeClr val="accent1"/>
          </a:effectRef>
          <a:fontRef idx="minor"/>
        </p:style>
      </p:sp>
      <p:sp>
        <p:nvSpPr>
          <p:cNvPr id="7" name="Line 2">
            <a:extLst>
              <a:ext uri="{FF2B5EF4-FFF2-40B4-BE49-F238E27FC236}">
                <a16:creationId xmlns:a16="http://schemas.microsoft.com/office/drawing/2014/main" id="{76FD0F22-8B37-4EC5-A327-818B750A3B10}"/>
              </a:ext>
            </a:extLst>
          </p:cNvPr>
          <p:cNvSpPr/>
          <p:nvPr/>
        </p:nvSpPr>
        <p:spPr>
          <a:xfrm flipH="1">
            <a:off x="4391621" y="166543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8" name="CustomShape 3">
            <a:extLst>
              <a:ext uri="{FF2B5EF4-FFF2-40B4-BE49-F238E27FC236}">
                <a16:creationId xmlns:a16="http://schemas.microsoft.com/office/drawing/2014/main" id="{5EEF2462-D115-4CEB-B824-5AFBE285E322}"/>
              </a:ext>
            </a:extLst>
          </p:cNvPr>
          <p:cNvSpPr/>
          <p:nvPr/>
        </p:nvSpPr>
        <p:spPr>
          <a:xfrm>
            <a:off x="3775661" y="3915070"/>
            <a:ext cx="1707480" cy="537480"/>
          </a:xfrm>
          <a:prstGeom prst="ellipse">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 Driver</a:t>
            </a:r>
            <a:br/>
            <a:r>
              <a:rPr lang="en-US" sz="1400" b="1" strike="noStrike" spc="-1">
                <a:solidFill>
                  <a:srgbClr val="FFFFFF"/>
                </a:solidFill>
                <a:latin typeface="Segoe UI"/>
                <a:ea typeface="DejaVu Sans"/>
              </a:rPr>
              <a:t>Dispatcher</a:t>
            </a:r>
            <a:endParaRPr lang="en-US" sz="1400" b="0" strike="noStrike" spc="-1">
              <a:latin typeface="Arial"/>
            </a:endParaRPr>
          </a:p>
        </p:txBody>
      </p:sp>
      <p:sp>
        <p:nvSpPr>
          <p:cNvPr id="9" name="CustomShape 5">
            <a:extLst>
              <a:ext uri="{FF2B5EF4-FFF2-40B4-BE49-F238E27FC236}">
                <a16:creationId xmlns:a16="http://schemas.microsoft.com/office/drawing/2014/main" id="{D5539E3C-C2A1-4701-AA1B-242AE1DB739A}"/>
              </a:ext>
            </a:extLst>
          </p:cNvPr>
          <p:cNvSpPr/>
          <p:nvPr/>
        </p:nvSpPr>
        <p:spPr>
          <a:xfrm>
            <a:off x="2232701" y="535507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Security</a:t>
            </a:r>
            <a:br/>
            <a:r>
              <a:rPr lang="en-US" sz="1200" b="1" strike="noStrike" spc="-1">
                <a:solidFill>
                  <a:srgbClr val="3F3F3F"/>
                </a:solidFill>
                <a:latin typeface="Segoe UI"/>
                <a:ea typeface="DejaVu Sans"/>
              </a:rPr>
              <a:t> (SEC)</a:t>
            </a:r>
            <a:endParaRPr lang="en-US" sz="1200" b="0" strike="noStrike" spc="-1">
              <a:latin typeface="Arial"/>
            </a:endParaRPr>
          </a:p>
        </p:txBody>
      </p:sp>
      <p:sp>
        <p:nvSpPr>
          <p:cNvPr id="10" name="CustomShape 6">
            <a:extLst>
              <a:ext uri="{FF2B5EF4-FFF2-40B4-BE49-F238E27FC236}">
                <a16:creationId xmlns:a16="http://schemas.microsoft.com/office/drawing/2014/main" id="{A3ABF8C9-9167-435B-B081-7EDB1BD23BAE}"/>
              </a:ext>
            </a:extLst>
          </p:cNvPr>
          <p:cNvSpPr/>
          <p:nvPr/>
        </p:nvSpPr>
        <p:spPr>
          <a:xfrm>
            <a:off x="2185181" y="6075790"/>
            <a:ext cx="99324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Power On</a:t>
            </a:r>
            <a:endParaRPr lang="en-US" sz="1400" b="0" strike="noStrike" spc="-1">
              <a:latin typeface="Arial"/>
            </a:endParaRPr>
          </a:p>
        </p:txBody>
      </p:sp>
      <p:sp>
        <p:nvSpPr>
          <p:cNvPr id="11" name="CustomShape 7">
            <a:extLst>
              <a:ext uri="{FF2B5EF4-FFF2-40B4-BE49-F238E27FC236}">
                <a16:creationId xmlns:a16="http://schemas.microsoft.com/office/drawing/2014/main" id="{229A8268-F186-41EF-8318-D70888871568}"/>
              </a:ext>
            </a:extLst>
          </p:cNvPr>
          <p:cNvSpPr/>
          <p:nvPr/>
        </p:nvSpPr>
        <p:spPr>
          <a:xfrm>
            <a:off x="9365381" y="6075790"/>
            <a:ext cx="10314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Shutdown</a:t>
            </a:r>
            <a:endParaRPr lang="en-US" sz="1400" b="0" strike="noStrike" spc="-1">
              <a:latin typeface="Arial"/>
            </a:endParaRPr>
          </a:p>
        </p:txBody>
      </p:sp>
      <p:sp>
        <p:nvSpPr>
          <p:cNvPr id="12" name="CustomShape 8">
            <a:extLst>
              <a:ext uri="{FF2B5EF4-FFF2-40B4-BE49-F238E27FC236}">
                <a16:creationId xmlns:a16="http://schemas.microsoft.com/office/drawing/2014/main" id="{A4B331A4-FED0-46FC-8438-05F396E802B8}"/>
              </a:ext>
            </a:extLst>
          </p:cNvPr>
          <p:cNvSpPr/>
          <p:nvPr/>
        </p:nvSpPr>
        <p:spPr>
          <a:xfrm>
            <a:off x="4030181" y="6075790"/>
            <a:ext cx="23436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[..Platform Initialization..]</a:t>
            </a:r>
            <a:endParaRPr lang="en-US" sz="1400" b="0" strike="noStrike" spc="-1">
              <a:latin typeface="Arial"/>
            </a:endParaRPr>
          </a:p>
        </p:txBody>
      </p:sp>
      <p:sp>
        <p:nvSpPr>
          <p:cNvPr id="13" name="CustomShape 9">
            <a:extLst>
              <a:ext uri="{FF2B5EF4-FFF2-40B4-BE49-F238E27FC236}">
                <a16:creationId xmlns:a16="http://schemas.microsoft.com/office/drawing/2014/main" id="{02EAD4A5-B8E5-4B30-AFBF-7EBCBA55189E}"/>
              </a:ext>
            </a:extLst>
          </p:cNvPr>
          <p:cNvSpPr/>
          <p:nvPr/>
        </p:nvSpPr>
        <p:spPr>
          <a:xfrm>
            <a:off x="7124021" y="6075790"/>
            <a:ext cx="119412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[..OS Boot..]</a:t>
            </a:r>
            <a:endParaRPr lang="en-US" sz="1400" b="0" strike="noStrike" spc="-1">
              <a:latin typeface="Arial"/>
            </a:endParaRPr>
          </a:p>
        </p:txBody>
      </p:sp>
      <p:sp>
        <p:nvSpPr>
          <p:cNvPr id="14" name="CustomShape 10">
            <a:extLst>
              <a:ext uri="{FF2B5EF4-FFF2-40B4-BE49-F238E27FC236}">
                <a16:creationId xmlns:a16="http://schemas.microsoft.com/office/drawing/2014/main" id="{234C40AD-9AB9-4B65-A6A9-1C2B03DD16AE}"/>
              </a:ext>
            </a:extLst>
          </p:cNvPr>
          <p:cNvSpPr/>
          <p:nvPr/>
        </p:nvSpPr>
        <p:spPr>
          <a:xfrm>
            <a:off x="3132701" y="6210790"/>
            <a:ext cx="89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5" name="CustomShape 11">
            <a:extLst>
              <a:ext uri="{FF2B5EF4-FFF2-40B4-BE49-F238E27FC236}">
                <a16:creationId xmlns:a16="http://schemas.microsoft.com/office/drawing/2014/main" id="{15CEA70A-CF28-4BED-AE3F-FB1A821D4A3C}"/>
              </a:ext>
            </a:extLst>
          </p:cNvPr>
          <p:cNvSpPr/>
          <p:nvPr/>
        </p:nvSpPr>
        <p:spPr>
          <a:xfrm>
            <a:off x="6373061" y="6210790"/>
            <a:ext cx="71712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6" name="CustomShape 12">
            <a:extLst>
              <a:ext uri="{FF2B5EF4-FFF2-40B4-BE49-F238E27FC236}">
                <a16:creationId xmlns:a16="http://schemas.microsoft.com/office/drawing/2014/main" id="{6B466B85-AC19-40F0-88D9-EAE0B5323D34}"/>
              </a:ext>
            </a:extLst>
          </p:cNvPr>
          <p:cNvSpPr/>
          <p:nvPr/>
        </p:nvSpPr>
        <p:spPr>
          <a:xfrm>
            <a:off x="8352341" y="6210790"/>
            <a:ext cx="10774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7" name="CustomShape 13">
            <a:extLst>
              <a:ext uri="{FF2B5EF4-FFF2-40B4-BE49-F238E27FC236}">
                <a16:creationId xmlns:a16="http://schemas.microsoft.com/office/drawing/2014/main" id="{C4048D15-DFBA-4662-9149-6513FFE5DCCA}"/>
              </a:ext>
            </a:extLst>
          </p:cNvPr>
          <p:cNvSpPr/>
          <p:nvPr/>
        </p:nvSpPr>
        <p:spPr>
          <a:xfrm>
            <a:off x="3132701" y="5355070"/>
            <a:ext cx="12567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Pre EFI</a:t>
            </a:r>
            <a:br/>
            <a:r>
              <a:rPr lang="en-US" sz="1200" b="1" strike="noStrike" spc="-1">
                <a:solidFill>
                  <a:srgbClr val="3F3F3F"/>
                </a:solidFill>
                <a:latin typeface="Segoe UI"/>
                <a:ea typeface="DejaVu Sans"/>
              </a:rPr>
              <a:t>Initialization</a:t>
            </a:r>
            <a:endParaRPr lang="en-US" sz="1200" b="0" strike="noStrike" spc="-1">
              <a:latin typeface="Arial"/>
            </a:endParaRPr>
          </a:p>
          <a:p>
            <a:pPr algn="ctr">
              <a:lnSpc>
                <a:spcPct val="100000"/>
              </a:lnSpc>
            </a:pPr>
            <a:r>
              <a:rPr lang="en-US" sz="1200" b="1" strike="noStrike" spc="-1">
                <a:solidFill>
                  <a:srgbClr val="3F3F3F"/>
                </a:solidFill>
                <a:latin typeface="Segoe UI"/>
                <a:ea typeface="DejaVu Sans"/>
              </a:rPr>
              <a:t>(PEI)</a:t>
            </a:r>
            <a:endParaRPr lang="en-US" sz="1200" b="0" strike="noStrike" spc="-1">
              <a:latin typeface="Arial"/>
            </a:endParaRPr>
          </a:p>
        </p:txBody>
      </p:sp>
      <p:sp>
        <p:nvSpPr>
          <p:cNvPr id="18" name="CustomShape 14">
            <a:extLst>
              <a:ext uri="{FF2B5EF4-FFF2-40B4-BE49-F238E27FC236}">
                <a16:creationId xmlns:a16="http://schemas.microsoft.com/office/drawing/2014/main" id="{4B48C408-7A73-479C-B11D-7E1A39CD691B}"/>
              </a:ext>
            </a:extLst>
          </p:cNvPr>
          <p:cNvSpPr/>
          <p:nvPr/>
        </p:nvSpPr>
        <p:spPr>
          <a:xfrm>
            <a:off x="4391621" y="535507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Driver Execution</a:t>
            </a:r>
            <a:br/>
            <a:r>
              <a:rPr lang="en-US" sz="1200" b="1" strike="noStrike" spc="-1">
                <a:solidFill>
                  <a:srgbClr val="3F3F3F"/>
                </a:solidFill>
                <a:latin typeface="Segoe UI"/>
                <a:ea typeface="DejaVu Sans"/>
              </a:rPr>
              <a:t>Environment</a:t>
            </a:r>
            <a:br/>
            <a:r>
              <a:rPr lang="en-US" sz="1200" b="1" strike="noStrike" spc="-1">
                <a:solidFill>
                  <a:srgbClr val="3F3F3F"/>
                </a:solidFill>
                <a:latin typeface="Segoe UI"/>
                <a:ea typeface="DejaVu Sans"/>
              </a:rPr>
              <a:t>(DXE)</a:t>
            </a:r>
            <a:endParaRPr lang="en-US" sz="1200" b="0" strike="noStrike" spc="-1">
              <a:latin typeface="Arial"/>
            </a:endParaRPr>
          </a:p>
        </p:txBody>
      </p:sp>
      <p:sp>
        <p:nvSpPr>
          <p:cNvPr id="19" name="CustomShape 15">
            <a:extLst>
              <a:ext uri="{FF2B5EF4-FFF2-40B4-BE49-F238E27FC236}">
                <a16:creationId xmlns:a16="http://schemas.microsoft.com/office/drawing/2014/main" id="{E43939D0-A4CB-4254-B5BB-07F42D02FC80}"/>
              </a:ext>
            </a:extLst>
          </p:cNvPr>
          <p:cNvSpPr/>
          <p:nvPr/>
        </p:nvSpPr>
        <p:spPr>
          <a:xfrm>
            <a:off x="6012701" y="535507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Boot Dev</a:t>
            </a:r>
            <a:br/>
            <a:r>
              <a:rPr lang="en-US" sz="1200" b="1" strike="noStrike" spc="-1">
                <a:solidFill>
                  <a:srgbClr val="3F3F3F"/>
                </a:solidFill>
                <a:latin typeface="Segoe UI"/>
                <a:ea typeface="DejaVu Sans"/>
              </a:rPr>
              <a:t>Select</a:t>
            </a:r>
            <a:br/>
            <a:r>
              <a:rPr lang="en-US" sz="1200" b="1" strike="noStrike" spc="-1">
                <a:solidFill>
                  <a:srgbClr val="3F3F3F"/>
                </a:solidFill>
                <a:latin typeface="Segoe UI"/>
                <a:ea typeface="DejaVu Sans"/>
              </a:rPr>
              <a:t>(BDS)</a:t>
            </a:r>
            <a:endParaRPr lang="en-US" sz="1200" b="0" strike="noStrike" spc="-1">
              <a:latin typeface="Arial"/>
            </a:endParaRPr>
          </a:p>
        </p:txBody>
      </p:sp>
      <p:sp>
        <p:nvSpPr>
          <p:cNvPr id="20" name="CustomShape 16">
            <a:extLst>
              <a:ext uri="{FF2B5EF4-FFF2-40B4-BE49-F238E27FC236}">
                <a16:creationId xmlns:a16="http://schemas.microsoft.com/office/drawing/2014/main" id="{BF3C8162-CE77-4F33-A762-B33C19AC58B3}"/>
              </a:ext>
            </a:extLst>
          </p:cNvPr>
          <p:cNvSpPr/>
          <p:nvPr/>
        </p:nvSpPr>
        <p:spPr>
          <a:xfrm>
            <a:off x="6912701" y="5355070"/>
            <a:ext cx="161712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UEFI &amp; OS</a:t>
            </a:r>
            <a:br/>
            <a:r>
              <a:rPr lang="en-US" sz="1200" b="1" strike="noStrike" spc="-1">
                <a:solidFill>
                  <a:srgbClr val="3F3F3F"/>
                </a:solidFill>
                <a:latin typeface="Segoe UI"/>
                <a:ea typeface="DejaVu Sans"/>
              </a:rPr>
              <a:t>Loader</a:t>
            </a:r>
            <a:br/>
            <a:r>
              <a:rPr lang="en-US" sz="1200" b="1" strike="noStrike" spc="-1">
                <a:solidFill>
                  <a:srgbClr val="3F3F3F"/>
                </a:solidFill>
                <a:latin typeface="Segoe UI"/>
                <a:ea typeface="DejaVu Sans"/>
              </a:rPr>
              <a:t>Handshake</a:t>
            </a:r>
            <a:endParaRPr lang="en-US" sz="1200" b="0" strike="noStrike" spc="-1">
              <a:latin typeface="Arial"/>
            </a:endParaRPr>
          </a:p>
        </p:txBody>
      </p:sp>
      <p:sp>
        <p:nvSpPr>
          <p:cNvPr id="21" name="CustomShape 17">
            <a:extLst>
              <a:ext uri="{FF2B5EF4-FFF2-40B4-BE49-F238E27FC236}">
                <a16:creationId xmlns:a16="http://schemas.microsoft.com/office/drawing/2014/main" id="{878CDFAE-0E9F-4760-A94C-0C3F508F44CB}"/>
              </a:ext>
            </a:extLst>
          </p:cNvPr>
          <p:cNvSpPr/>
          <p:nvPr/>
        </p:nvSpPr>
        <p:spPr>
          <a:xfrm>
            <a:off x="8531981" y="535507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Runtime</a:t>
            </a:r>
            <a:br/>
            <a:r>
              <a:rPr lang="en-US" sz="1200" b="1" strike="noStrike" spc="-1">
                <a:solidFill>
                  <a:srgbClr val="3F3F3F"/>
                </a:solidFill>
                <a:latin typeface="Segoe UI"/>
                <a:ea typeface="DejaVu Sans"/>
              </a:rPr>
              <a:t>(RT)</a:t>
            </a:r>
            <a:endParaRPr lang="en-US" sz="1200" b="0" strike="noStrike" spc="-1">
              <a:latin typeface="Arial"/>
            </a:endParaRPr>
          </a:p>
        </p:txBody>
      </p:sp>
      <p:sp>
        <p:nvSpPr>
          <p:cNvPr id="22" name="Line 18">
            <a:extLst>
              <a:ext uri="{FF2B5EF4-FFF2-40B4-BE49-F238E27FC236}">
                <a16:creationId xmlns:a16="http://schemas.microsoft.com/office/drawing/2014/main" id="{C595D570-CD37-4C63-8EB4-E0231B8A6E42}"/>
              </a:ext>
            </a:extLst>
          </p:cNvPr>
          <p:cNvSpPr/>
          <p:nvPr/>
        </p:nvSpPr>
        <p:spPr>
          <a:xfrm flipH="1">
            <a:off x="2232701"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3" name="Line 19">
            <a:extLst>
              <a:ext uri="{FF2B5EF4-FFF2-40B4-BE49-F238E27FC236}">
                <a16:creationId xmlns:a16="http://schemas.microsoft.com/office/drawing/2014/main" id="{13953A32-3CB2-41A9-BD65-7EFBB8521302}"/>
              </a:ext>
            </a:extLst>
          </p:cNvPr>
          <p:cNvSpPr/>
          <p:nvPr/>
        </p:nvSpPr>
        <p:spPr>
          <a:xfrm flipH="1">
            <a:off x="3132701"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4" name="Line 20">
            <a:extLst>
              <a:ext uri="{FF2B5EF4-FFF2-40B4-BE49-F238E27FC236}">
                <a16:creationId xmlns:a16="http://schemas.microsoft.com/office/drawing/2014/main" id="{FA9BA6D9-9DFB-4556-AD1C-1584CB92A468}"/>
              </a:ext>
            </a:extLst>
          </p:cNvPr>
          <p:cNvSpPr/>
          <p:nvPr/>
        </p:nvSpPr>
        <p:spPr>
          <a:xfrm flipH="1">
            <a:off x="6012341" y="166543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5" name="Line 21">
            <a:extLst>
              <a:ext uri="{FF2B5EF4-FFF2-40B4-BE49-F238E27FC236}">
                <a16:creationId xmlns:a16="http://schemas.microsoft.com/office/drawing/2014/main" id="{1A3AB65E-886E-4E8E-B439-89A31677C7B7}"/>
              </a:ext>
            </a:extLst>
          </p:cNvPr>
          <p:cNvSpPr/>
          <p:nvPr/>
        </p:nvSpPr>
        <p:spPr>
          <a:xfrm flipH="1">
            <a:off x="6912341" y="166543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6" name="Line 22">
            <a:extLst>
              <a:ext uri="{FF2B5EF4-FFF2-40B4-BE49-F238E27FC236}">
                <a16:creationId xmlns:a16="http://schemas.microsoft.com/office/drawing/2014/main" id="{09D6064E-519E-436D-BE8A-7D055A84E014}"/>
              </a:ext>
            </a:extLst>
          </p:cNvPr>
          <p:cNvSpPr/>
          <p:nvPr/>
        </p:nvSpPr>
        <p:spPr>
          <a:xfrm flipH="1">
            <a:off x="8531621" y="166543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7" name="Line 23">
            <a:extLst>
              <a:ext uri="{FF2B5EF4-FFF2-40B4-BE49-F238E27FC236}">
                <a16:creationId xmlns:a16="http://schemas.microsoft.com/office/drawing/2014/main" id="{07FDB213-23F7-4D77-8696-6F73F3647D85}"/>
              </a:ext>
            </a:extLst>
          </p:cNvPr>
          <p:cNvSpPr/>
          <p:nvPr/>
        </p:nvSpPr>
        <p:spPr>
          <a:xfrm flipH="1">
            <a:off x="10152701"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8" name="CustomShape 24">
            <a:extLst>
              <a:ext uri="{FF2B5EF4-FFF2-40B4-BE49-F238E27FC236}">
                <a16:creationId xmlns:a16="http://schemas.microsoft.com/office/drawing/2014/main" id="{10B9E8EB-9347-42CE-AF9F-287FAF54D583}"/>
              </a:ext>
            </a:extLst>
          </p:cNvPr>
          <p:cNvSpPr/>
          <p:nvPr/>
        </p:nvSpPr>
        <p:spPr>
          <a:xfrm>
            <a:off x="2303981" y="1575070"/>
            <a:ext cx="78984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Pre</a:t>
            </a:r>
            <a:br/>
            <a:r>
              <a:rPr lang="en-US" sz="1200" b="1" strike="noStrike" spc="-1">
                <a:solidFill>
                  <a:srgbClr val="FFFFFF"/>
                </a:solidFill>
                <a:latin typeface="Segoe UI"/>
                <a:ea typeface="DejaVu Sans"/>
              </a:rPr>
              <a:t>Verifier</a:t>
            </a:r>
            <a:endParaRPr lang="en-US" sz="1200" b="0" strike="noStrike" spc="-1">
              <a:latin typeface="Arial"/>
            </a:endParaRPr>
          </a:p>
        </p:txBody>
      </p:sp>
      <p:sp>
        <p:nvSpPr>
          <p:cNvPr id="29" name="CustomShape 25">
            <a:extLst>
              <a:ext uri="{FF2B5EF4-FFF2-40B4-BE49-F238E27FC236}">
                <a16:creationId xmlns:a16="http://schemas.microsoft.com/office/drawing/2014/main" id="{CA381D69-9267-4B48-BCFD-22D733F1A901}"/>
              </a:ext>
            </a:extLst>
          </p:cNvPr>
          <p:cNvSpPr/>
          <p:nvPr/>
        </p:nvSpPr>
        <p:spPr>
          <a:xfrm>
            <a:off x="3942341" y="4635790"/>
            <a:ext cx="136620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Architectural</a:t>
            </a:r>
            <a:br/>
            <a:r>
              <a:rPr lang="en-US" sz="1200" b="1" strike="noStrike" spc="-1">
                <a:solidFill>
                  <a:srgbClr val="FFFFFF"/>
                </a:solidFill>
                <a:latin typeface="Segoe UI"/>
                <a:ea typeface="DejaVu Sans"/>
              </a:rPr>
              <a:t>Protocols</a:t>
            </a:r>
            <a:endParaRPr lang="en-US" sz="1200" b="0" strike="noStrike" spc="-1">
              <a:latin typeface="Arial"/>
            </a:endParaRPr>
          </a:p>
        </p:txBody>
      </p:sp>
      <p:sp>
        <p:nvSpPr>
          <p:cNvPr id="30" name="CustomShape 26">
            <a:extLst>
              <a:ext uri="{FF2B5EF4-FFF2-40B4-BE49-F238E27FC236}">
                <a16:creationId xmlns:a16="http://schemas.microsoft.com/office/drawing/2014/main" id="{1BC4D711-687D-40B6-AFCC-8B4D05C137F6}"/>
              </a:ext>
            </a:extLst>
          </p:cNvPr>
          <p:cNvSpPr/>
          <p:nvPr/>
        </p:nvSpPr>
        <p:spPr>
          <a:xfrm>
            <a:off x="7001621" y="463579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Boot Loader</a:t>
            </a:r>
            <a:endParaRPr lang="en-US" sz="1200" b="0" strike="noStrike" spc="-1">
              <a:latin typeface="Arial"/>
            </a:endParaRPr>
          </a:p>
        </p:txBody>
      </p:sp>
      <p:sp>
        <p:nvSpPr>
          <p:cNvPr id="31" name="CustomShape 27">
            <a:extLst>
              <a:ext uri="{FF2B5EF4-FFF2-40B4-BE49-F238E27FC236}">
                <a16:creationId xmlns:a16="http://schemas.microsoft.com/office/drawing/2014/main" id="{ED8EAD28-CF9D-4249-8F20-6658A9FD07EB}"/>
              </a:ext>
            </a:extLst>
          </p:cNvPr>
          <p:cNvSpPr/>
          <p:nvPr/>
        </p:nvSpPr>
        <p:spPr>
          <a:xfrm>
            <a:off x="8622341" y="463579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Environment</a:t>
            </a:r>
            <a:endParaRPr lang="en-US" sz="1200" b="0" strike="noStrike" spc="-1">
              <a:latin typeface="Arial"/>
            </a:endParaRPr>
          </a:p>
        </p:txBody>
      </p:sp>
      <p:sp>
        <p:nvSpPr>
          <p:cNvPr id="32" name="CustomShape 28">
            <a:extLst>
              <a:ext uri="{FF2B5EF4-FFF2-40B4-BE49-F238E27FC236}">
                <a16:creationId xmlns:a16="http://schemas.microsoft.com/office/drawing/2014/main" id="{6029409F-D41A-484A-B647-2E00B688D583}"/>
              </a:ext>
            </a:extLst>
          </p:cNvPr>
          <p:cNvSpPr/>
          <p:nvPr/>
        </p:nvSpPr>
        <p:spPr>
          <a:xfrm>
            <a:off x="3204341" y="265471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CPU</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3" name="CustomShape 29">
            <a:extLst>
              <a:ext uri="{FF2B5EF4-FFF2-40B4-BE49-F238E27FC236}">
                <a16:creationId xmlns:a16="http://schemas.microsoft.com/office/drawing/2014/main" id="{F63A1E1E-A8EB-4877-80EA-69EB68684580}"/>
              </a:ext>
            </a:extLst>
          </p:cNvPr>
          <p:cNvSpPr/>
          <p:nvPr/>
        </p:nvSpPr>
        <p:spPr>
          <a:xfrm>
            <a:off x="3204341" y="319435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Chipset</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4" name="CustomShape 30">
            <a:extLst>
              <a:ext uri="{FF2B5EF4-FFF2-40B4-BE49-F238E27FC236}">
                <a16:creationId xmlns:a16="http://schemas.microsoft.com/office/drawing/2014/main" id="{D073D0F6-ECDC-4567-B54B-66CD37383C4F}"/>
              </a:ext>
            </a:extLst>
          </p:cNvPr>
          <p:cNvSpPr/>
          <p:nvPr/>
        </p:nvSpPr>
        <p:spPr>
          <a:xfrm>
            <a:off x="3204341" y="3735790"/>
            <a:ext cx="789840" cy="447120"/>
          </a:xfrm>
          <a:prstGeom prst="rect">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Board</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5" name="CustomShape 31">
            <a:extLst>
              <a:ext uri="{FF2B5EF4-FFF2-40B4-BE49-F238E27FC236}">
                <a16:creationId xmlns:a16="http://schemas.microsoft.com/office/drawing/2014/main" id="{E5D8579B-112C-4B8E-82F3-0AA7B6B78005}"/>
              </a:ext>
            </a:extLst>
          </p:cNvPr>
          <p:cNvSpPr/>
          <p:nvPr/>
        </p:nvSpPr>
        <p:spPr>
          <a:xfrm>
            <a:off x="3204341" y="211471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PEI</a:t>
            </a:r>
            <a:br/>
            <a:r>
              <a:rPr lang="en-US" sz="1200" b="1" strike="noStrike" spc="-1">
                <a:solidFill>
                  <a:srgbClr val="FFFFFF"/>
                </a:solidFill>
                <a:latin typeface="Segoe UI"/>
                <a:ea typeface="DejaVu Sans"/>
              </a:rPr>
              <a:t>Core</a:t>
            </a:r>
            <a:endParaRPr lang="en-US" sz="1200" b="0" strike="noStrike" spc="-1">
              <a:latin typeface="Arial"/>
            </a:endParaRPr>
          </a:p>
        </p:txBody>
      </p:sp>
      <p:sp>
        <p:nvSpPr>
          <p:cNvPr id="36" name="CustomShape 32">
            <a:extLst>
              <a:ext uri="{FF2B5EF4-FFF2-40B4-BE49-F238E27FC236}">
                <a16:creationId xmlns:a16="http://schemas.microsoft.com/office/drawing/2014/main" id="{07387734-058D-423C-B2FA-95FC6B0F3415}"/>
              </a:ext>
            </a:extLst>
          </p:cNvPr>
          <p:cNvSpPr/>
          <p:nvPr/>
        </p:nvSpPr>
        <p:spPr>
          <a:xfrm>
            <a:off x="8622341" y="391507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OS-Present</a:t>
            </a:r>
            <a:br/>
            <a:r>
              <a:rPr lang="en-US" sz="1200" b="1" strike="noStrike" spc="-1">
                <a:solidFill>
                  <a:srgbClr val="FFFFFF"/>
                </a:solidFill>
                <a:latin typeface="Segoe UI"/>
                <a:ea typeface="DejaVu Sans"/>
              </a:rPr>
              <a:t>App</a:t>
            </a:r>
            <a:endParaRPr lang="en-US" sz="1200" b="0" strike="noStrike" spc="-1">
              <a:latin typeface="Arial"/>
            </a:endParaRPr>
          </a:p>
        </p:txBody>
      </p:sp>
      <p:sp>
        <p:nvSpPr>
          <p:cNvPr id="37" name="CustomShape 33">
            <a:extLst>
              <a:ext uri="{FF2B5EF4-FFF2-40B4-BE49-F238E27FC236}">
                <a16:creationId xmlns:a16="http://schemas.microsoft.com/office/drawing/2014/main" id="{6AAECB40-7A8F-444F-8684-13B0051FEF47}"/>
              </a:ext>
            </a:extLst>
          </p:cNvPr>
          <p:cNvSpPr/>
          <p:nvPr/>
        </p:nvSpPr>
        <p:spPr>
          <a:xfrm>
            <a:off x="7001621" y="193543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OS-Absent</a:t>
            </a:r>
            <a:br/>
            <a:r>
              <a:rPr lang="en-US" sz="1200" b="1" strike="noStrike" spc="-1">
                <a:solidFill>
                  <a:srgbClr val="3F3F3F"/>
                </a:solidFill>
                <a:latin typeface="Segoe UI"/>
                <a:ea typeface="DejaVu Sans"/>
              </a:rPr>
              <a:t>App</a:t>
            </a:r>
            <a:endParaRPr lang="en-US" sz="1200" b="0" strike="noStrike" spc="-1">
              <a:latin typeface="Arial"/>
            </a:endParaRPr>
          </a:p>
        </p:txBody>
      </p:sp>
      <p:sp>
        <p:nvSpPr>
          <p:cNvPr id="38" name="CustomShape 34">
            <a:extLst>
              <a:ext uri="{FF2B5EF4-FFF2-40B4-BE49-F238E27FC236}">
                <a16:creationId xmlns:a16="http://schemas.microsoft.com/office/drawing/2014/main" id="{66F3D78F-497E-44CB-8A24-219CE4294E94}"/>
              </a:ext>
            </a:extLst>
          </p:cNvPr>
          <p:cNvSpPr/>
          <p:nvPr/>
        </p:nvSpPr>
        <p:spPr>
          <a:xfrm>
            <a:off x="7001621" y="2654710"/>
            <a:ext cx="1366200" cy="44856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dirty="0">
                <a:solidFill>
                  <a:srgbClr val="3F3F3F"/>
                </a:solidFill>
                <a:latin typeface="Segoe UI"/>
                <a:ea typeface="DejaVu Sans"/>
              </a:rPr>
              <a:t>Transient OS</a:t>
            </a:r>
            <a:br>
              <a:rPr dirty="0"/>
            </a:br>
            <a:r>
              <a:rPr lang="en-US" sz="1200" b="1" strike="noStrike" spc="-1" dirty="0">
                <a:solidFill>
                  <a:srgbClr val="3F3F3F"/>
                </a:solidFill>
                <a:latin typeface="Segoe UI"/>
                <a:ea typeface="DejaVu Sans"/>
              </a:rPr>
              <a:t>Environment</a:t>
            </a:r>
            <a:endParaRPr lang="en-US" sz="1200" b="0" strike="noStrike" spc="-1" dirty="0">
              <a:latin typeface="Arial"/>
            </a:endParaRPr>
          </a:p>
        </p:txBody>
      </p:sp>
      <p:sp>
        <p:nvSpPr>
          <p:cNvPr id="39" name="CustomShape 35">
            <a:extLst>
              <a:ext uri="{FF2B5EF4-FFF2-40B4-BE49-F238E27FC236}">
                <a16:creationId xmlns:a16="http://schemas.microsoft.com/office/drawing/2014/main" id="{70C66C17-8BE0-4EF7-A688-C77A094FDED4}"/>
              </a:ext>
            </a:extLst>
          </p:cNvPr>
          <p:cNvSpPr/>
          <p:nvPr/>
        </p:nvSpPr>
        <p:spPr>
          <a:xfrm>
            <a:off x="7001621" y="337543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Boot Loader</a:t>
            </a:r>
            <a:endParaRPr lang="en-US" sz="1200" b="0" strike="noStrike" spc="-1">
              <a:latin typeface="Arial"/>
            </a:endParaRPr>
          </a:p>
        </p:txBody>
      </p:sp>
      <p:sp>
        <p:nvSpPr>
          <p:cNvPr id="40" name="CustomShape 36">
            <a:extLst>
              <a:ext uri="{FF2B5EF4-FFF2-40B4-BE49-F238E27FC236}">
                <a16:creationId xmlns:a16="http://schemas.microsoft.com/office/drawing/2014/main" id="{2516E947-26C3-455F-8650-A5502FDABDC6}"/>
              </a:ext>
            </a:extLst>
          </p:cNvPr>
          <p:cNvSpPr/>
          <p:nvPr/>
        </p:nvSpPr>
        <p:spPr>
          <a:xfrm rot="16200000">
            <a:off x="7585541" y="247723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1" name="CustomShape 37">
            <a:extLst>
              <a:ext uri="{FF2B5EF4-FFF2-40B4-BE49-F238E27FC236}">
                <a16:creationId xmlns:a16="http://schemas.microsoft.com/office/drawing/2014/main" id="{DD53141A-8470-4477-A629-038CB5A8BC1D}"/>
              </a:ext>
            </a:extLst>
          </p:cNvPr>
          <p:cNvSpPr/>
          <p:nvPr/>
        </p:nvSpPr>
        <p:spPr>
          <a:xfrm rot="5400000">
            <a:off x="7559261" y="247507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2" name="CustomShape 38">
            <a:extLst>
              <a:ext uri="{FF2B5EF4-FFF2-40B4-BE49-F238E27FC236}">
                <a16:creationId xmlns:a16="http://schemas.microsoft.com/office/drawing/2014/main" id="{5DA839B1-6241-4F20-9563-0460B1A73276}"/>
              </a:ext>
            </a:extLst>
          </p:cNvPr>
          <p:cNvSpPr/>
          <p:nvPr/>
        </p:nvSpPr>
        <p:spPr>
          <a:xfrm rot="16200000">
            <a:off x="7571141" y="319615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3" name="CustomShape 39">
            <a:extLst>
              <a:ext uri="{FF2B5EF4-FFF2-40B4-BE49-F238E27FC236}">
                <a16:creationId xmlns:a16="http://schemas.microsoft.com/office/drawing/2014/main" id="{081A19E4-C394-46AD-819C-B190E1DB19E5}"/>
              </a:ext>
            </a:extLst>
          </p:cNvPr>
          <p:cNvSpPr/>
          <p:nvPr/>
        </p:nvSpPr>
        <p:spPr>
          <a:xfrm rot="5400000">
            <a:off x="7544861" y="319435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4" name="CustomShape 40">
            <a:extLst>
              <a:ext uri="{FF2B5EF4-FFF2-40B4-BE49-F238E27FC236}">
                <a16:creationId xmlns:a16="http://schemas.microsoft.com/office/drawing/2014/main" id="{5C3B423A-C66B-4744-B497-7E3FC97ADC3C}"/>
              </a:ext>
            </a:extLst>
          </p:cNvPr>
          <p:cNvSpPr/>
          <p:nvPr/>
        </p:nvSpPr>
        <p:spPr>
          <a:xfrm rot="16200000">
            <a:off x="9198341" y="445687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5" name="CustomShape 41">
            <a:extLst>
              <a:ext uri="{FF2B5EF4-FFF2-40B4-BE49-F238E27FC236}">
                <a16:creationId xmlns:a16="http://schemas.microsoft.com/office/drawing/2014/main" id="{B7A074E9-2213-42B1-909E-595AB059C7DA}"/>
              </a:ext>
            </a:extLst>
          </p:cNvPr>
          <p:cNvSpPr/>
          <p:nvPr/>
        </p:nvSpPr>
        <p:spPr>
          <a:xfrm rot="5400000">
            <a:off x="9172061" y="445471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grpSp>
        <p:nvGrpSpPr>
          <p:cNvPr id="46" name="Group 42">
            <a:extLst>
              <a:ext uri="{FF2B5EF4-FFF2-40B4-BE49-F238E27FC236}">
                <a16:creationId xmlns:a16="http://schemas.microsoft.com/office/drawing/2014/main" id="{C613F189-4488-439D-A631-062C29532B37}"/>
              </a:ext>
            </a:extLst>
          </p:cNvPr>
          <p:cNvGrpSpPr/>
          <p:nvPr/>
        </p:nvGrpSpPr>
        <p:grpSpPr>
          <a:xfrm>
            <a:off x="4614101" y="2421430"/>
            <a:ext cx="1032840" cy="1183680"/>
            <a:chOff x="2741760" y="2171880"/>
            <a:chExt cx="1032840" cy="1183680"/>
          </a:xfrm>
        </p:grpSpPr>
        <p:sp>
          <p:nvSpPr>
            <p:cNvPr id="47" name="CustomShape 43">
              <a:extLst>
                <a:ext uri="{FF2B5EF4-FFF2-40B4-BE49-F238E27FC236}">
                  <a16:creationId xmlns:a16="http://schemas.microsoft.com/office/drawing/2014/main" id="{10561FA7-3298-467B-8D26-4FB1C5C84AC0}"/>
                </a:ext>
              </a:extLst>
            </p:cNvPr>
            <p:cNvSpPr/>
            <p:nvPr/>
          </p:nvSpPr>
          <p:spPr>
            <a:xfrm>
              <a:off x="2967120" y="217188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48" name="CustomShape 44">
              <a:extLst>
                <a:ext uri="{FF2B5EF4-FFF2-40B4-BE49-F238E27FC236}">
                  <a16:creationId xmlns:a16="http://schemas.microsoft.com/office/drawing/2014/main" id="{624CEFCD-EBED-4F18-B18B-60BF8594F165}"/>
                </a:ext>
              </a:extLst>
            </p:cNvPr>
            <p:cNvSpPr/>
            <p:nvPr/>
          </p:nvSpPr>
          <p:spPr>
            <a:xfrm>
              <a:off x="2917800" y="2244600"/>
              <a:ext cx="80748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49" name="CustomShape 45">
              <a:extLst>
                <a:ext uri="{FF2B5EF4-FFF2-40B4-BE49-F238E27FC236}">
                  <a16:creationId xmlns:a16="http://schemas.microsoft.com/office/drawing/2014/main" id="{3BC2126C-34A3-48E0-ABDF-8609619ACBE0}"/>
                </a:ext>
              </a:extLst>
            </p:cNvPr>
            <p:cNvSpPr/>
            <p:nvPr/>
          </p:nvSpPr>
          <p:spPr>
            <a:xfrm>
              <a:off x="2863800" y="233532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50" name="CustomShape 46">
              <a:extLst>
                <a:ext uri="{FF2B5EF4-FFF2-40B4-BE49-F238E27FC236}">
                  <a16:creationId xmlns:a16="http://schemas.microsoft.com/office/drawing/2014/main" id="{15A32B17-2CE2-4C00-9DB2-0E3EC0E31685}"/>
                </a:ext>
              </a:extLst>
            </p:cNvPr>
            <p:cNvSpPr/>
            <p:nvPr/>
          </p:nvSpPr>
          <p:spPr>
            <a:xfrm>
              <a:off x="2805120" y="2422440"/>
              <a:ext cx="80892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1" name="CustomShape 47">
              <a:extLst>
                <a:ext uri="{FF2B5EF4-FFF2-40B4-BE49-F238E27FC236}">
                  <a16:creationId xmlns:a16="http://schemas.microsoft.com/office/drawing/2014/main" id="{D8B1FF1E-0931-4CEF-9996-86E3CDA236D1}"/>
                </a:ext>
              </a:extLst>
            </p:cNvPr>
            <p:cNvSpPr/>
            <p:nvPr/>
          </p:nvSpPr>
          <p:spPr>
            <a:xfrm>
              <a:off x="2741760" y="2513160"/>
              <a:ext cx="807480" cy="842400"/>
            </a:xfrm>
            <a:prstGeom prst="rect">
              <a:avLst/>
            </a:prstGeom>
            <a:solidFill>
              <a:srgbClr val="FFCC00"/>
            </a:solidFill>
            <a:ln w="12600">
              <a:solidFill>
                <a:schemeClr val="tx1"/>
              </a:solidFill>
              <a:miter/>
            </a:ln>
          </p:spPr>
          <p:style>
            <a:lnRef idx="0">
              <a:scrgbClr r="0" g="0" b="0"/>
            </a:lnRef>
            <a:fillRef idx="0">
              <a:scrgbClr r="0" g="0" b="0"/>
            </a:fillRef>
            <a:effectRef idx="0">
              <a:scrgbClr r="0" g="0" b="0"/>
            </a:effectRef>
            <a:fontRef idx="minor"/>
          </p:style>
          <p:txBody>
            <a:bodyPr lIns="46080" tIns="46080" rIns="46080" bIns="46080" anchor="ctr">
              <a:noAutofit/>
            </a:bodyPr>
            <a:lstStyle/>
            <a:p>
              <a:pPr algn="ctr">
                <a:lnSpc>
                  <a:spcPct val="100000"/>
                </a:lnSpc>
              </a:pPr>
              <a:r>
                <a:rPr lang="en-US" sz="1200" b="1" strike="noStrike" spc="-1">
                  <a:solidFill>
                    <a:srgbClr val="3F3F3F"/>
                  </a:solidFill>
                  <a:latin typeface="Segoe UI"/>
                  <a:ea typeface="DejaVu Sans"/>
                </a:rPr>
                <a:t>Device,  Bus, or Service  Driver</a:t>
              </a:r>
              <a:endParaRPr lang="en-US" sz="1200" b="0" strike="noStrike" spc="-1">
                <a:latin typeface="Arial"/>
              </a:endParaRPr>
            </a:p>
          </p:txBody>
        </p:sp>
      </p:grpSp>
      <p:sp>
        <p:nvSpPr>
          <p:cNvPr id="52" name="CustomShape 48">
            <a:extLst>
              <a:ext uri="{FF2B5EF4-FFF2-40B4-BE49-F238E27FC236}">
                <a16:creationId xmlns:a16="http://schemas.microsoft.com/office/drawing/2014/main" id="{B0A93303-1476-492A-ABC3-8E1A362EC983}"/>
              </a:ext>
            </a:extLst>
          </p:cNvPr>
          <p:cNvSpPr/>
          <p:nvPr/>
        </p:nvSpPr>
        <p:spPr>
          <a:xfrm rot="16200000">
            <a:off x="5133221" y="370303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3" name="CustomShape 49">
            <a:extLst>
              <a:ext uri="{FF2B5EF4-FFF2-40B4-BE49-F238E27FC236}">
                <a16:creationId xmlns:a16="http://schemas.microsoft.com/office/drawing/2014/main" id="{8720022A-259C-45D9-85DC-BCC663A55FAD}"/>
              </a:ext>
            </a:extLst>
          </p:cNvPr>
          <p:cNvSpPr/>
          <p:nvPr/>
        </p:nvSpPr>
        <p:spPr>
          <a:xfrm rot="5400000">
            <a:off x="5092541" y="370087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4" name="CustomShape 50">
            <a:extLst>
              <a:ext uri="{FF2B5EF4-FFF2-40B4-BE49-F238E27FC236}">
                <a16:creationId xmlns:a16="http://schemas.microsoft.com/office/drawing/2014/main" id="{267E9005-46B2-4C1C-BB99-84F97696C02C}"/>
              </a:ext>
            </a:extLst>
          </p:cNvPr>
          <p:cNvSpPr/>
          <p:nvPr/>
        </p:nvSpPr>
        <p:spPr>
          <a:xfrm>
            <a:off x="5742701" y="3915070"/>
            <a:ext cx="1437840" cy="537480"/>
          </a:xfrm>
          <a:prstGeom prst="ellipse">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Boot</a:t>
            </a:r>
            <a:br/>
            <a:r>
              <a:rPr lang="en-US" sz="1400" b="1" strike="noStrike" spc="-1">
                <a:solidFill>
                  <a:srgbClr val="FFFFFF"/>
                </a:solidFill>
                <a:latin typeface="Segoe UI"/>
                <a:ea typeface="DejaVu Sans"/>
              </a:rPr>
              <a:t>Manager</a:t>
            </a:r>
            <a:endParaRPr lang="en-US" sz="1400" b="0" strike="noStrike" spc="-1">
              <a:latin typeface="Arial"/>
            </a:endParaRPr>
          </a:p>
        </p:txBody>
      </p:sp>
      <p:sp>
        <p:nvSpPr>
          <p:cNvPr id="55" name="Line 51">
            <a:extLst>
              <a:ext uri="{FF2B5EF4-FFF2-40B4-BE49-F238E27FC236}">
                <a16:creationId xmlns:a16="http://schemas.microsoft.com/office/drawing/2014/main" id="{B8FBBB43-A195-4E21-96C5-4EF644C1A3C7}"/>
              </a:ext>
            </a:extLst>
          </p:cNvPr>
          <p:cNvSpPr/>
          <p:nvPr/>
        </p:nvSpPr>
        <p:spPr>
          <a:xfrm flipH="1">
            <a:off x="6012341" y="2295790"/>
            <a:ext cx="17640" cy="107928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6" name="Line 52">
            <a:extLst>
              <a:ext uri="{FF2B5EF4-FFF2-40B4-BE49-F238E27FC236}">
                <a16:creationId xmlns:a16="http://schemas.microsoft.com/office/drawing/2014/main" id="{9639AA06-39C3-498A-9AAA-266153F37188}"/>
              </a:ext>
            </a:extLst>
          </p:cNvPr>
          <p:cNvSpPr/>
          <p:nvPr/>
        </p:nvSpPr>
        <p:spPr>
          <a:xfrm flipH="1">
            <a:off x="6012341" y="4635790"/>
            <a:ext cx="17640" cy="53964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7" name="CustomShape 53">
            <a:extLst>
              <a:ext uri="{FF2B5EF4-FFF2-40B4-BE49-F238E27FC236}">
                <a16:creationId xmlns:a16="http://schemas.microsoft.com/office/drawing/2014/main" id="{6D3169C7-F047-465C-818A-92061A4D5750}"/>
              </a:ext>
            </a:extLst>
          </p:cNvPr>
          <p:cNvSpPr/>
          <p:nvPr/>
        </p:nvSpPr>
        <p:spPr>
          <a:xfrm>
            <a:off x="5485661" y="4185070"/>
            <a:ext cx="2548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58" name="Line 54">
            <a:extLst>
              <a:ext uri="{FF2B5EF4-FFF2-40B4-BE49-F238E27FC236}">
                <a16:creationId xmlns:a16="http://schemas.microsoft.com/office/drawing/2014/main" id="{37674D93-3B9E-4B46-901D-CA3AE86785BF}"/>
              </a:ext>
            </a:extLst>
          </p:cNvPr>
          <p:cNvSpPr/>
          <p:nvPr/>
        </p:nvSpPr>
        <p:spPr>
          <a:xfrm flipH="1">
            <a:off x="4626341" y="4454710"/>
            <a:ext cx="5040" cy="181080"/>
          </a:xfrm>
          <a:prstGeom prst="line">
            <a:avLst/>
          </a:prstGeom>
          <a:ln w="63360">
            <a:solidFill>
              <a:srgbClr val="1218FA"/>
            </a:solidFill>
            <a:round/>
          </a:ln>
        </p:spPr>
        <p:style>
          <a:lnRef idx="1">
            <a:schemeClr val="accent1"/>
          </a:lnRef>
          <a:fillRef idx="0">
            <a:schemeClr val="accent1"/>
          </a:fillRef>
          <a:effectRef idx="0">
            <a:schemeClr val="accent1"/>
          </a:effectRef>
          <a:fontRef idx="minor"/>
        </p:style>
      </p:sp>
      <p:sp>
        <p:nvSpPr>
          <p:cNvPr id="59" name="CustomShape 55">
            <a:extLst>
              <a:ext uri="{FF2B5EF4-FFF2-40B4-BE49-F238E27FC236}">
                <a16:creationId xmlns:a16="http://schemas.microsoft.com/office/drawing/2014/main" id="{D16E36E4-90B6-4EB4-A1B0-58A9AE0AE452}"/>
              </a:ext>
            </a:extLst>
          </p:cNvPr>
          <p:cNvSpPr/>
          <p:nvPr/>
        </p:nvSpPr>
        <p:spPr>
          <a:xfrm>
            <a:off x="8369981" y="4859710"/>
            <a:ext cx="25020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0" name="CustomShape 56">
            <a:extLst>
              <a:ext uri="{FF2B5EF4-FFF2-40B4-BE49-F238E27FC236}">
                <a16:creationId xmlns:a16="http://schemas.microsoft.com/office/drawing/2014/main" id="{FBDAECEC-5F46-48F7-B57D-0C2890FB1DC8}"/>
              </a:ext>
            </a:extLst>
          </p:cNvPr>
          <p:cNvSpPr/>
          <p:nvPr/>
        </p:nvSpPr>
        <p:spPr>
          <a:xfrm rot="18180000">
            <a:off x="7097381" y="388411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1" name="CustomShape 57">
            <a:extLst>
              <a:ext uri="{FF2B5EF4-FFF2-40B4-BE49-F238E27FC236}">
                <a16:creationId xmlns:a16="http://schemas.microsoft.com/office/drawing/2014/main" id="{76710759-F6C8-499B-8D42-2E11E67B43B2}"/>
              </a:ext>
            </a:extLst>
          </p:cNvPr>
          <p:cNvSpPr/>
          <p:nvPr/>
        </p:nvSpPr>
        <p:spPr>
          <a:xfrm rot="7380000">
            <a:off x="7069301" y="386179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2" name="CustomShape 58">
            <a:extLst>
              <a:ext uri="{FF2B5EF4-FFF2-40B4-BE49-F238E27FC236}">
                <a16:creationId xmlns:a16="http://schemas.microsoft.com/office/drawing/2014/main" id="{7F622E27-BFFC-4F12-87E1-F0307235BEC1}"/>
              </a:ext>
            </a:extLst>
          </p:cNvPr>
          <p:cNvSpPr/>
          <p:nvPr/>
        </p:nvSpPr>
        <p:spPr>
          <a:xfrm>
            <a:off x="6971381" y="4375510"/>
            <a:ext cx="308880" cy="25344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3" name="CustomShape 59">
            <a:extLst>
              <a:ext uri="{FF2B5EF4-FFF2-40B4-BE49-F238E27FC236}">
                <a16:creationId xmlns:a16="http://schemas.microsoft.com/office/drawing/2014/main" id="{10495488-6F11-4A6F-8DAB-F1D812E92754}"/>
              </a:ext>
            </a:extLst>
          </p:cNvPr>
          <p:cNvSpPr/>
          <p:nvPr/>
        </p:nvSpPr>
        <p:spPr>
          <a:xfrm>
            <a:off x="3096341" y="1800430"/>
            <a:ext cx="502560" cy="31212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4" name="CustomShape 60">
            <a:extLst>
              <a:ext uri="{FF2B5EF4-FFF2-40B4-BE49-F238E27FC236}">
                <a16:creationId xmlns:a16="http://schemas.microsoft.com/office/drawing/2014/main" id="{90E13D90-40A1-4F79-9180-6510960DE940}"/>
              </a:ext>
            </a:extLst>
          </p:cNvPr>
          <p:cNvSpPr/>
          <p:nvPr/>
        </p:nvSpPr>
        <p:spPr>
          <a:xfrm rot="5400000">
            <a:off x="6096221" y="2191750"/>
            <a:ext cx="348840" cy="41076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5" name="CustomShape 61">
            <a:extLst>
              <a:ext uri="{FF2B5EF4-FFF2-40B4-BE49-F238E27FC236}">
                <a16:creationId xmlns:a16="http://schemas.microsoft.com/office/drawing/2014/main" id="{BB51148C-81B4-4F42-9299-19D122DD53D2}"/>
              </a:ext>
            </a:extLst>
          </p:cNvPr>
          <p:cNvSpPr/>
          <p:nvPr/>
        </p:nvSpPr>
        <p:spPr>
          <a:xfrm>
            <a:off x="3167621" y="1503790"/>
            <a:ext cx="671040" cy="301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Verify</a:t>
            </a:r>
            <a:endParaRPr lang="en-US" sz="1400" b="0" strike="noStrike" spc="-1">
              <a:latin typeface="Arial"/>
            </a:endParaRPr>
          </a:p>
        </p:txBody>
      </p:sp>
      <p:sp>
        <p:nvSpPr>
          <p:cNvPr id="66" name="CustomShape 62">
            <a:extLst>
              <a:ext uri="{FF2B5EF4-FFF2-40B4-BE49-F238E27FC236}">
                <a16:creationId xmlns:a16="http://schemas.microsoft.com/office/drawing/2014/main" id="{BA30852F-6232-4AC6-B3B7-E32BCA38EB69}"/>
              </a:ext>
            </a:extLst>
          </p:cNvPr>
          <p:cNvSpPr/>
          <p:nvPr/>
        </p:nvSpPr>
        <p:spPr>
          <a:xfrm>
            <a:off x="5972021" y="1700350"/>
            <a:ext cx="1006920" cy="5148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EFI/UEFI</a:t>
            </a:r>
            <a:br/>
            <a:r>
              <a:rPr lang="en-US" sz="1400" b="1" strike="noStrike" spc="-1">
                <a:solidFill>
                  <a:srgbClr val="3F3F3F"/>
                </a:solidFill>
                <a:latin typeface="Segoe UI"/>
                <a:ea typeface="DejaVu Sans"/>
              </a:rPr>
              <a:t>Interfaces</a:t>
            </a:r>
            <a:endParaRPr lang="en-US" sz="1400" b="0" strike="noStrike" spc="-1">
              <a:latin typeface="Arial"/>
            </a:endParaRPr>
          </a:p>
        </p:txBody>
      </p:sp>
      <p:sp>
        <p:nvSpPr>
          <p:cNvPr id="67" name="CustomShape 63">
            <a:extLst>
              <a:ext uri="{FF2B5EF4-FFF2-40B4-BE49-F238E27FC236}">
                <a16:creationId xmlns:a16="http://schemas.microsoft.com/office/drawing/2014/main" id="{15800546-364B-4527-8720-4E3AE1FC7801}"/>
              </a:ext>
            </a:extLst>
          </p:cNvPr>
          <p:cNvSpPr/>
          <p:nvPr/>
        </p:nvSpPr>
        <p:spPr>
          <a:xfrm rot="8100000">
            <a:off x="3960701" y="373327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8" name="CustomShape 64">
            <a:extLst>
              <a:ext uri="{FF2B5EF4-FFF2-40B4-BE49-F238E27FC236}">
                <a16:creationId xmlns:a16="http://schemas.microsoft.com/office/drawing/2014/main" id="{AE7C326D-ABDD-4DEC-A3BE-07B3C7671024}"/>
              </a:ext>
            </a:extLst>
          </p:cNvPr>
          <p:cNvSpPr/>
          <p:nvPr/>
        </p:nvSpPr>
        <p:spPr>
          <a:xfrm rot="8100000">
            <a:off x="3960701" y="319183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9" name="CustomShape 65">
            <a:extLst>
              <a:ext uri="{FF2B5EF4-FFF2-40B4-BE49-F238E27FC236}">
                <a16:creationId xmlns:a16="http://schemas.microsoft.com/office/drawing/2014/main" id="{25DC8578-6360-4735-949C-AE9652E6BB12}"/>
              </a:ext>
            </a:extLst>
          </p:cNvPr>
          <p:cNvSpPr/>
          <p:nvPr/>
        </p:nvSpPr>
        <p:spPr>
          <a:xfrm rot="8100000">
            <a:off x="3960701" y="265219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0" name="CustomShape 66">
            <a:extLst>
              <a:ext uri="{FF2B5EF4-FFF2-40B4-BE49-F238E27FC236}">
                <a16:creationId xmlns:a16="http://schemas.microsoft.com/office/drawing/2014/main" id="{37855EEF-FEDA-4F75-B60D-D5AF3AE43A0C}"/>
              </a:ext>
            </a:extLst>
          </p:cNvPr>
          <p:cNvSpPr/>
          <p:nvPr/>
        </p:nvSpPr>
        <p:spPr>
          <a:xfrm>
            <a:off x="3091661" y="1316230"/>
            <a:ext cx="1369440" cy="4822200"/>
          </a:xfrm>
          <a:prstGeom prst="rect">
            <a:avLst/>
          </a:prstGeom>
          <a:noFill/>
          <a:ln w="25560">
            <a:solidFill>
              <a:srgbClr val="FF0000"/>
            </a:solidFill>
            <a:miter/>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2352819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Overview</a:t>
            </a:r>
            <a:endParaRPr lang="en-US" dirty="0"/>
          </a:p>
        </p:txBody>
      </p:sp>
      <p:sp>
        <p:nvSpPr>
          <p:cNvPr id="71" name="CustomShape 2">
            <a:extLst>
              <a:ext uri="{FF2B5EF4-FFF2-40B4-BE49-F238E27FC236}">
                <a16:creationId xmlns:a16="http://schemas.microsoft.com/office/drawing/2014/main" id="{5215EE87-736E-43F6-929E-6995238D6974}"/>
              </a:ext>
            </a:extLst>
          </p:cNvPr>
          <p:cNvSpPr/>
          <p:nvPr/>
        </p:nvSpPr>
        <p:spPr>
          <a:xfrm>
            <a:off x="838200" y="1355203"/>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8500"/>
          </a:bodyPr>
          <a:lstStyle/>
          <a:p>
            <a:pPr marL="341280" indent="-339120">
              <a:lnSpc>
                <a:spcPct val="98000"/>
              </a:lnSpc>
              <a:spcBef>
                <a:spcPts val="601"/>
              </a:spcBef>
            </a:pPr>
            <a:r>
              <a:rPr lang="en-US" sz="2800" b="0" strike="noStrike" spc="-1" dirty="0">
                <a:solidFill>
                  <a:srgbClr val="3F3F3F"/>
                </a:solidFill>
                <a:latin typeface="Segoe UI"/>
                <a:ea typeface="DejaVu Sans"/>
              </a:rPr>
              <a:t>The PEI phase will initially operate with the platform in a nascent state, leveraging only on-processor resources, such as the processor cache as a call stack, to dispatch </a:t>
            </a:r>
            <a:r>
              <a:rPr lang="en-US" sz="2800" b="0" strike="noStrike" spc="-1" dirty="0">
                <a:solidFill>
                  <a:srgbClr val="FF0000"/>
                </a:solidFill>
                <a:latin typeface="Segoe UI"/>
                <a:ea typeface="DejaVu Sans"/>
              </a:rPr>
              <a:t>Pre-EFI Initialization Modules</a:t>
            </a:r>
            <a:r>
              <a:rPr lang="en-US" sz="2800" b="0" strike="noStrike" spc="-1" dirty="0">
                <a:solidFill>
                  <a:srgbClr val="3F3F3F"/>
                </a:solidFill>
                <a:latin typeface="Segoe UI"/>
                <a:ea typeface="DejaVu Sans"/>
              </a:rPr>
              <a:t> (</a:t>
            </a:r>
            <a:r>
              <a:rPr lang="en-US" sz="2800" b="0" strike="noStrike" spc="-1" dirty="0">
                <a:solidFill>
                  <a:srgbClr val="FF0000"/>
                </a:solidFill>
                <a:latin typeface="Segoe UI"/>
                <a:ea typeface="DejaVu Sans"/>
              </a:rPr>
              <a:t>PEIMs</a:t>
            </a:r>
            <a:r>
              <a:rPr lang="en-US" sz="2800" b="0" strike="noStrike" spc="-1" dirty="0">
                <a:solidFill>
                  <a:srgbClr val="3F3F3F"/>
                </a:solidFill>
                <a:latin typeface="Segoe UI"/>
                <a:ea typeface="DejaVu Sans"/>
              </a:rPr>
              <a:t>).</a:t>
            </a:r>
            <a:endParaRPr lang="en-US" sz="2800" b="0" strike="noStrike" spc="-1" dirty="0">
              <a:latin typeface="Arial"/>
            </a:endParaRPr>
          </a:p>
          <a:p>
            <a:pPr marL="341280" indent="-339120">
              <a:lnSpc>
                <a:spcPct val="98000"/>
              </a:lnSpc>
              <a:spcBef>
                <a:spcPts val="601"/>
              </a:spcBef>
            </a:pPr>
            <a:r>
              <a:rPr lang="en-US" sz="2800" b="0" strike="noStrike" spc="-1" dirty="0">
                <a:solidFill>
                  <a:srgbClr val="3F3F3F"/>
                </a:solidFill>
                <a:latin typeface="Segoe UI"/>
                <a:ea typeface="DejaVu Sans"/>
              </a:rPr>
              <a:t>These PEIMs are responsible for the following:</a:t>
            </a:r>
            <a:endParaRPr lang="en-US" sz="2800" b="0" strike="noStrike" spc="-1" dirty="0">
              <a:latin typeface="Arial"/>
            </a:endParaRPr>
          </a:p>
          <a:p>
            <a:pPr marL="798480" lvl="1" indent="-339120">
              <a:lnSpc>
                <a:spcPct val="98000"/>
              </a:lnSpc>
              <a:spcBef>
                <a:spcPts val="601"/>
              </a:spcBef>
              <a:buClr>
                <a:srgbClr val="3F3F3F"/>
              </a:buClr>
              <a:buFont typeface="Arial"/>
              <a:buChar char="•"/>
            </a:pPr>
            <a:r>
              <a:rPr lang="en-US" sz="2400" b="0" strike="noStrike" spc="-1" dirty="0">
                <a:solidFill>
                  <a:srgbClr val="3F3F3F"/>
                </a:solidFill>
                <a:latin typeface="Segoe UI"/>
                <a:ea typeface="DejaVu Sans"/>
              </a:rPr>
              <a:t>Initializing some permanent memory complement</a:t>
            </a:r>
            <a:endParaRPr lang="en-US" sz="2400" b="0" strike="noStrike" spc="-1" dirty="0">
              <a:latin typeface="Arial"/>
            </a:endParaRPr>
          </a:p>
          <a:p>
            <a:pPr marL="798480" lvl="1" indent="-339120">
              <a:lnSpc>
                <a:spcPct val="98000"/>
              </a:lnSpc>
              <a:spcBef>
                <a:spcPts val="601"/>
              </a:spcBef>
              <a:buClr>
                <a:srgbClr val="3F3F3F"/>
              </a:buClr>
              <a:buFont typeface="Arial"/>
              <a:buChar char="•"/>
            </a:pPr>
            <a:r>
              <a:rPr lang="en-US" sz="2400" b="0" strike="noStrike" spc="-1" dirty="0">
                <a:solidFill>
                  <a:srgbClr val="3F3F3F"/>
                </a:solidFill>
                <a:latin typeface="Segoe UI"/>
                <a:ea typeface="DejaVu Sans"/>
              </a:rPr>
              <a:t>Describing the memory in Hand-Off Blocks (HOBs)</a:t>
            </a:r>
            <a:endParaRPr lang="en-US" sz="2400" b="0" strike="noStrike" spc="-1" dirty="0">
              <a:latin typeface="Arial"/>
            </a:endParaRPr>
          </a:p>
          <a:p>
            <a:pPr marL="798480" lvl="1" indent="-339120">
              <a:lnSpc>
                <a:spcPct val="98000"/>
              </a:lnSpc>
              <a:spcBef>
                <a:spcPts val="601"/>
              </a:spcBef>
              <a:buClr>
                <a:srgbClr val="3F3F3F"/>
              </a:buClr>
              <a:buFont typeface="Arial"/>
              <a:buChar char="•"/>
            </a:pPr>
            <a:r>
              <a:rPr lang="en-US" sz="2400" b="0" strike="noStrike" spc="-1" dirty="0">
                <a:solidFill>
                  <a:srgbClr val="3F3F3F"/>
                </a:solidFill>
                <a:latin typeface="Segoe UI"/>
                <a:ea typeface="DejaVu Sans"/>
              </a:rPr>
              <a:t>Describing the firmware volume locations in HOBs</a:t>
            </a:r>
            <a:endParaRPr lang="en-US" sz="2400" b="0" strike="noStrike" spc="-1" dirty="0">
              <a:latin typeface="Arial"/>
            </a:endParaRPr>
          </a:p>
          <a:p>
            <a:pPr marL="798480" lvl="1" indent="-339120">
              <a:lnSpc>
                <a:spcPct val="98000"/>
              </a:lnSpc>
              <a:spcBef>
                <a:spcPts val="601"/>
              </a:spcBef>
              <a:buClr>
                <a:srgbClr val="3F3F3F"/>
              </a:buClr>
              <a:buFont typeface="Arial"/>
              <a:buChar char="•"/>
            </a:pPr>
            <a:r>
              <a:rPr lang="en-US" sz="2400" b="0" strike="noStrike" spc="-1" dirty="0">
                <a:solidFill>
                  <a:srgbClr val="3F3F3F"/>
                </a:solidFill>
                <a:latin typeface="Segoe UI"/>
                <a:ea typeface="DejaVu Sans"/>
              </a:rPr>
              <a:t>Passing control into the Driver Execution Environment (DXE) phase </a:t>
            </a:r>
            <a:endParaRPr lang="en-US" sz="2400" b="0" strike="noStrike" spc="-1" dirty="0">
              <a:latin typeface="Arial"/>
            </a:endParaRPr>
          </a:p>
        </p:txBody>
      </p:sp>
    </p:spTree>
    <p:extLst>
      <p:ext uri="{BB962C8B-B14F-4D97-AF65-F5344CB8AC3E}">
        <p14:creationId xmlns:p14="http://schemas.microsoft.com/office/powerpoint/2010/main" val="3861805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Overview</a:t>
            </a:r>
            <a:endParaRPr lang="en-US" dirty="0"/>
          </a:p>
        </p:txBody>
      </p:sp>
      <p:sp>
        <p:nvSpPr>
          <p:cNvPr id="4" name="CustomShape 2">
            <a:extLst>
              <a:ext uri="{FF2B5EF4-FFF2-40B4-BE49-F238E27FC236}">
                <a16:creationId xmlns:a16="http://schemas.microsoft.com/office/drawing/2014/main" id="{5684FF6F-F626-4F6B-8501-E7399D60271F}"/>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0" strike="noStrike" spc="-1">
                <a:solidFill>
                  <a:srgbClr val="3F3F3F"/>
                </a:solidFill>
                <a:latin typeface="Segoe UI"/>
                <a:ea typeface="DejaVu Sans"/>
              </a:rPr>
              <a:t>The PI Architecture requires the PEI phase to configure a system to meet the minimum prerequisites for the Driver Execution Environment (DXE) phase of the PI Architecture.</a:t>
            </a:r>
            <a:endParaRPr lang="en-US" sz="2800" b="0" strike="noStrike" spc="-1">
              <a:latin typeface="Arial"/>
            </a:endParaRPr>
          </a:p>
          <a:p>
            <a:pPr marL="228600" indent="-226440">
              <a:lnSpc>
                <a:spcPct val="90000"/>
              </a:lnSpc>
              <a:spcBef>
                <a:spcPts val="1001"/>
              </a:spcBef>
              <a:buClr>
                <a:srgbClr val="3F3F3F"/>
              </a:buClr>
              <a:buFont typeface="Arial"/>
              <a:buChar char="•"/>
            </a:pPr>
            <a:r>
              <a:rPr lang="en-US" sz="2800" b="0" strike="noStrike" spc="-1">
                <a:solidFill>
                  <a:srgbClr val="3F3F3F"/>
                </a:solidFill>
                <a:latin typeface="Segoe UI"/>
                <a:ea typeface="DejaVu Sans"/>
              </a:rPr>
              <a:t>In general, the PEI phase is required to initialize a linear array of RAM large enough for the successful execution of the DXE phase elements.</a:t>
            </a:r>
            <a:endParaRPr lang="en-US" sz="2800" b="0" strike="noStrike" spc="-1">
              <a:latin typeface="Arial"/>
            </a:endParaRPr>
          </a:p>
        </p:txBody>
      </p:sp>
    </p:spTree>
    <p:extLst>
      <p:ext uri="{BB962C8B-B14F-4D97-AF65-F5344CB8AC3E}">
        <p14:creationId xmlns:p14="http://schemas.microsoft.com/office/powerpoint/2010/main" val="2487652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Overview</a:t>
            </a:r>
            <a:endParaRPr lang="en-US" dirty="0"/>
          </a:p>
        </p:txBody>
      </p:sp>
      <p:sp>
        <p:nvSpPr>
          <p:cNvPr id="4" name="CustomShape 2">
            <a:extLst>
              <a:ext uri="{FF2B5EF4-FFF2-40B4-BE49-F238E27FC236}">
                <a16:creationId xmlns:a16="http://schemas.microsoft.com/office/drawing/2014/main" id="{5684FF6F-F626-4F6B-8501-E7399D60271F}"/>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pPr>
            <a:r>
              <a:rPr lang="en-US" sz="2800" b="1" strike="noStrike" spc="-1" dirty="0">
                <a:solidFill>
                  <a:srgbClr val="FF6600"/>
                </a:solidFill>
                <a:latin typeface="Segoe UI"/>
                <a:ea typeface="新細明體"/>
              </a:rPr>
              <a:t>Essence of PEI:</a:t>
            </a:r>
            <a:r>
              <a:rPr lang="en-US" sz="2800" b="0" strike="noStrike" spc="-1" dirty="0">
                <a:solidFill>
                  <a:srgbClr val="333399"/>
                </a:solidFill>
                <a:latin typeface="Segoe UI"/>
                <a:ea typeface="新細明體"/>
              </a:rPr>
              <a:t> </a:t>
            </a:r>
            <a:endParaRPr lang="en-US" sz="2800" b="0" strike="noStrike" spc="-1" dirty="0">
              <a:latin typeface="Arial"/>
            </a:endParaRPr>
          </a:p>
          <a:p>
            <a:pPr marL="228600" indent="-226440">
              <a:lnSpc>
                <a:spcPct val="90000"/>
              </a:lnSpc>
              <a:spcBef>
                <a:spcPts val="1001"/>
              </a:spcBef>
            </a:pPr>
            <a:r>
              <a:rPr lang="en-US" sz="2800" b="0" strike="noStrike" spc="-1" dirty="0">
                <a:solidFill>
                  <a:srgbClr val="333399"/>
                </a:solidFill>
                <a:latin typeface="Segoe UI"/>
                <a:ea typeface="新細明體"/>
              </a:rPr>
              <a:t>        </a:t>
            </a:r>
            <a:r>
              <a:rPr lang="en-US" sz="2800" b="1" strike="noStrike" spc="-1" dirty="0">
                <a:solidFill>
                  <a:srgbClr val="333399"/>
                </a:solidFill>
                <a:latin typeface="Segoe UI"/>
                <a:ea typeface="新細明體"/>
              </a:rPr>
              <a:t>The PEI dispatcher dispatches PEI    </a:t>
            </a:r>
            <a:endParaRPr lang="en-US" sz="2800" b="0" strike="noStrike" spc="-1" dirty="0">
              <a:latin typeface="Arial"/>
            </a:endParaRPr>
          </a:p>
          <a:p>
            <a:pPr marL="228600" indent="-226440">
              <a:lnSpc>
                <a:spcPct val="90000"/>
              </a:lnSpc>
              <a:spcBef>
                <a:spcPts val="1001"/>
              </a:spcBef>
            </a:pPr>
            <a:r>
              <a:rPr lang="en-US" sz="2800" b="1" strike="noStrike" spc="-1" dirty="0">
                <a:solidFill>
                  <a:srgbClr val="333399"/>
                </a:solidFill>
                <a:latin typeface="Segoe UI"/>
                <a:ea typeface="新細明體"/>
              </a:rPr>
              <a:t>        modules (PEIMs) in the right order.</a:t>
            </a:r>
            <a:endParaRPr lang="en-US" sz="2800" b="0" strike="noStrike" spc="-1" dirty="0">
              <a:latin typeface="Arial"/>
            </a:endParaRPr>
          </a:p>
          <a:p>
            <a:pPr marL="228600" indent="-226440">
              <a:lnSpc>
                <a:spcPct val="90000"/>
              </a:lnSpc>
              <a:spcBef>
                <a:spcPts val="1001"/>
              </a:spcBef>
            </a:pPr>
            <a:endParaRPr lang="en-US" sz="2800" b="0" strike="noStrike" spc="-1" dirty="0">
              <a:latin typeface="Arial"/>
            </a:endParaRPr>
          </a:p>
        </p:txBody>
      </p:sp>
    </p:spTree>
    <p:extLst>
      <p:ext uri="{BB962C8B-B14F-4D97-AF65-F5344CB8AC3E}">
        <p14:creationId xmlns:p14="http://schemas.microsoft.com/office/powerpoint/2010/main" val="3458971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 </a:t>
            </a:r>
            <a:r>
              <a:rPr lang="en-US" sz="3100" dirty="0" err="1"/>
              <a:t>Compenents</a:t>
            </a:r>
            <a:endParaRPr lang="en-US" dirty="0"/>
          </a:p>
        </p:txBody>
      </p:sp>
      <p:sp>
        <p:nvSpPr>
          <p:cNvPr id="4" name="CustomShape 2">
            <a:extLst>
              <a:ext uri="{FF2B5EF4-FFF2-40B4-BE49-F238E27FC236}">
                <a16:creationId xmlns:a16="http://schemas.microsoft.com/office/drawing/2014/main" id="{5684FF6F-F626-4F6B-8501-E7399D60271F}"/>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 Foundation</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 Modules (PEIMs)</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 Services</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 Dispatcher</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PEIM-to-PEIM Interfaces (PPIs)</a:t>
            </a:r>
            <a:endParaRPr lang="en-US" sz="2800" b="0" strike="noStrike" spc="-1" dirty="0">
              <a:latin typeface="Arial"/>
            </a:endParaRPr>
          </a:p>
        </p:txBody>
      </p:sp>
    </p:spTree>
    <p:extLst>
      <p:ext uri="{BB962C8B-B14F-4D97-AF65-F5344CB8AC3E}">
        <p14:creationId xmlns:p14="http://schemas.microsoft.com/office/powerpoint/2010/main" val="2839879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 </a:t>
            </a:r>
            <a:r>
              <a:rPr lang="en-US" sz="3100" dirty="0" err="1"/>
              <a:t>Compenents</a:t>
            </a:r>
            <a:endParaRPr lang="en-US" dirty="0"/>
          </a:p>
        </p:txBody>
      </p:sp>
      <p:sp>
        <p:nvSpPr>
          <p:cNvPr id="4" name="CustomShape 2">
            <a:extLst>
              <a:ext uri="{FF2B5EF4-FFF2-40B4-BE49-F238E27FC236}">
                <a16:creationId xmlns:a16="http://schemas.microsoft.com/office/drawing/2014/main" id="{5684FF6F-F626-4F6B-8501-E7399D60271F}"/>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 Foundation</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Successfully dispatching Pre-EFI Initialization Modules (PEIMs) in an orderly manner</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Maintaining the boot mode</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Initializing permanent memory</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Invoking the Driver Execution Environment (DXE) loader</a:t>
            </a:r>
            <a:endParaRPr lang="en-US" sz="2400" b="0" strike="noStrike" spc="-1" dirty="0">
              <a:latin typeface="Arial"/>
            </a:endParaRPr>
          </a:p>
          <a:p>
            <a:pPr>
              <a:lnSpc>
                <a:spcPct val="90000"/>
              </a:lnSpc>
              <a:spcBef>
                <a:spcPts val="1001"/>
              </a:spcBef>
            </a:pPr>
            <a:endParaRPr lang="en-US" sz="24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 Modules (PEIMs)</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Pre-EFI Initialization Modules (PEIMs) are specialized drivers that personalize the PEI Foundation to the platform.</a:t>
            </a:r>
            <a:endParaRPr lang="en-US" sz="2400" b="0" strike="noStrike" spc="-1" dirty="0">
              <a:latin typeface="Arial"/>
            </a:endParaRPr>
          </a:p>
        </p:txBody>
      </p:sp>
    </p:spTree>
    <p:extLst>
      <p:ext uri="{BB962C8B-B14F-4D97-AF65-F5344CB8AC3E}">
        <p14:creationId xmlns:p14="http://schemas.microsoft.com/office/powerpoint/2010/main" val="3126221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Group of PEIMs</a:t>
            </a:r>
            <a:endParaRPr lang="en-US" dirty="0"/>
          </a:p>
        </p:txBody>
      </p:sp>
      <p:sp>
        <p:nvSpPr>
          <p:cNvPr id="4" name="CustomShape 2">
            <a:extLst>
              <a:ext uri="{FF2B5EF4-FFF2-40B4-BE49-F238E27FC236}">
                <a16:creationId xmlns:a16="http://schemas.microsoft.com/office/drawing/2014/main" id="{5684FF6F-F626-4F6B-8501-E7399D60271F}"/>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80000"/>
              </a:lnSpc>
              <a:spcBef>
                <a:spcPts val="1001"/>
              </a:spcBef>
              <a:buClr>
                <a:srgbClr val="FF0000"/>
              </a:buClr>
              <a:buFont typeface="Arial"/>
              <a:buChar char="•"/>
            </a:pPr>
            <a:r>
              <a:rPr lang="en-US" sz="2800" b="1" strike="noStrike" spc="-1" dirty="0">
                <a:solidFill>
                  <a:srgbClr val="FF0000"/>
                </a:solidFill>
                <a:latin typeface="Segoe UI"/>
                <a:ea typeface="新細明體"/>
              </a:rPr>
              <a:t>Platform-specific PEIMs</a:t>
            </a:r>
            <a:endParaRPr lang="en-US" sz="2800" b="0" strike="noStrike" spc="-1" dirty="0">
              <a:latin typeface="Arial"/>
            </a:endParaRPr>
          </a:p>
          <a:p>
            <a:pPr marL="228600" indent="-226440">
              <a:lnSpc>
                <a:spcPct val="80000"/>
              </a:lnSpc>
              <a:spcBef>
                <a:spcPts val="1001"/>
              </a:spcBef>
              <a:buClr>
                <a:srgbClr val="262626"/>
              </a:buClr>
              <a:buFont typeface="Arial"/>
              <a:buChar char="•"/>
            </a:pPr>
            <a:r>
              <a:rPr lang="en-US" sz="2800" b="1" strike="noStrike" spc="-1" dirty="0">
                <a:solidFill>
                  <a:srgbClr val="262626"/>
                </a:solidFill>
                <a:latin typeface="Segoe UI"/>
                <a:ea typeface="新細明體"/>
              </a:rPr>
              <a:t>Processor-specific PEIMs</a:t>
            </a:r>
            <a:endParaRPr lang="en-US" sz="2800" b="0" strike="noStrike" spc="-1" dirty="0">
              <a:latin typeface="Arial"/>
            </a:endParaRPr>
          </a:p>
          <a:p>
            <a:pPr marL="228600" indent="-226440">
              <a:lnSpc>
                <a:spcPct val="80000"/>
              </a:lnSpc>
              <a:spcBef>
                <a:spcPts val="1001"/>
              </a:spcBef>
              <a:buClr>
                <a:srgbClr val="262626"/>
              </a:buClr>
              <a:buFont typeface="Arial"/>
              <a:buChar char="•"/>
            </a:pPr>
            <a:r>
              <a:rPr lang="en-US" sz="2800" b="1" strike="noStrike" spc="-1" dirty="0">
                <a:solidFill>
                  <a:srgbClr val="262626"/>
                </a:solidFill>
                <a:latin typeface="Segoe UI"/>
                <a:ea typeface="新細明體"/>
              </a:rPr>
              <a:t>Chipset-specific PEIMs</a:t>
            </a:r>
            <a:endParaRPr lang="en-US" sz="2800" b="0" strike="noStrike" spc="-1" dirty="0">
              <a:latin typeface="Arial"/>
            </a:endParaRPr>
          </a:p>
          <a:p>
            <a:pPr marL="228600" indent="-226440">
              <a:lnSpc>
                <a:spcPct val="80000"/>
              </a:lnSpc>
              <a:spcBef>
                <a:spcPts val="1001"/>
              </a:spcBef>
              <a:buClr>
                <a:srgbClr val="262626"/>
              </a:buClr>
              <a:buFont typeface="Arial"/>
              <a:buChar char="•"/>
            </a:pPr>
            <a:r>
              <a:rPr lang="en-US" sz="2800" b="1" strike="noStrike" spc="-1" dirty="0">
                <a:solidFill>
                  <a:srgbClr val="262626"/>
                </a:solidFill>
                <a:latin typeface="Segoe UI"/>
                <a:ea typeface="新細明體"/>
              </a:rPr>
              <a:t>PEI CIS–prescribed architectural PEIMs</a:t>
            </a:r>
            <a:endParaRPr lang="en-US" sz="2800" b="0" strike="noStrike" spc="-1" dirty="0">
              <a:latin typeface="Arial"/>
            </a:endParaRPr>
          </a:p>
          <a:p>
            <a:pPr marL="228600" indent="-226440">
              <a:lnSpc>
                <a:spcPct val="80000"/>
              </a:lnSpc>
              <a:spcBef>
                <a:spcPts val="1001"/>
              </a:spcBef>
              <a:buClr>
                <a:srgbClr val="FF0000"/>
              </a:buClr>
              <a:buFont typeface="Arial"/>
              <a:buChar char="•"/>
            </a:pPr>
            <a:r>
              <a:rPr lang="en-US" sz="2800" b="1" strike="noStrike" spc="-1" dirty="0">
                <a:solidFill>
                  <a:srgbClr val="FF0000"/>
                </a:solidFill>
                <a:latin typeface="Segoe UI"/>
                <a:ea typeface="新細明體"/>
              </a:rPr>
              <a:t>Miscellaneous PEIMs</a:t>
            </a:r>
            <a:endParaRPr lang="en-US" sz="2800" b="0" strike="noStrike" spc="-1" dirty="0">
              <a:latin typeface="Arial"/>
            </a:endParaRPr>
          </a:p>
        </p:txBody>
      </p:sp>
    </p:spTree>
    <p:extLst>
      <p:ext uri="{BB962C8B-B14F-4D97-AF65-F5344CB8AC3E}">
        <p14:creationId xmlns:p14="http://schemas.microsoft.com/office/powerpoint/2010/main" val="4097714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PEIM Structure</a:t>
            </a:r>
            <a:endParaRPr lang="en-US" dirty="0"/>
          </a:p>
        </p:txBody>
      </p:sp>
      <p:pic>
        <p:nvPicPr>
          <p:cNvPr id="5" name="Picture 4">
            <a:extLst>
              <a:ext uri="{FF2B5EF4-FFF2-40B4-BE49-F238E27FC236}">
                <a16:creationId xmlns:a16="http://schemas.microsoft.com/office/drawing/2014/main" id="{5876FDA8-C643-4856-BCF3-C52923FB6132}"/>
              </a:ext>
            </a:extLst>
          </p:cNvPr>
          <p:cNvPicPr/>
          <p:nvPr/>
        </p:nvPicPr>
        <p:blipFill>
          <a:blip r:embed="rId2"/>
          <a:stretch/>
        </p:blipFill>
        <p:spPr>
          <a:xfrm>
            <a:off x="2497440" y="1316230"/>
            <a:ext cx="7197120" cy="4865040"/>
          </a:xfrm>
          <a:prstGeom prst="rect">
            <a:avLst/>
          </a:prstGeom>
          <a:ln w="12600">
            <a:noFill/>
          </a:ln>
        </p:spPr>
      </p:pic>
    </p:spTree>
    <p:extLst>
      <p:ext uri="{BB962C8B-B14F-4D97-AF65-F5344CB8AC3E}">
        <p14:creationId xmlns:p14="http://schemas.microsoft.com/office/powerpoint/2010/main" val="2963126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PEIM Components</a:t>
            </a:r>
            <a:endParaRPr lang="en-US" dirty="0"/>
          </a:p>
        </p:txBody>
      </p:sp>
      <p:sp>
        <p:nvSpPr>
          <p:cNvPr id="4" name="CustomShape 2">
            <a:extLst>
              <a:ext uri="{FF2B5EF4-FFF2-40B4-BE49-F238E27FC236}">
                <a16:creationId xmlns:a16="http://schemas.microsoft.com/office/drawing/2014/main" id="{FC992D86-8B7E-47B8-A3BE-08F6D156E4AD}"/>
              </a:ext>
            </a:extLst>
          </p:cNvPr>
          <p:cNvSpPr/>
          <p:nvPr/>
        </p:nvSpPr>
        <p:spPr>
          <a:xfrm>
            <a:off x="838200" y="131166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 Services</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The PEI Foundation establishes a system table named the PEI Services Table that is visible to all Pre-EFI Initialization Modules (PEIMs) in the system.</a:t>
            </a:r>
            <a:endParaRPr lang="en-US" sz="2400" b="0" strike="noStrike" spc="-1" dirty="0">
              <a:latin typeface="Arial"/>
            </a:endParaRPr>
          </a:p>
          <a:p>
            <a:pPr>
              <a:lnSpc>
                <a:spcPct val="100000"/>
              </a:lnSpc>
            </a:pP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A PEI Service is defined as a function, command, or other capability manifested by the PEI Foundation when that service’s initialization requirements are met.</a:t>
            </a:r>
            <a:endParaRPr lang="en-US" sz="2400" b="0" strike="noStrike" spc="-1" dirty="0">
              <a:latin typeface="Arial"/>
            </a:endParaRPr>
          </a:p>
        </p:txBody>
      </p:sp>
    </p:spTree>
    <p:extLst>
      <p:ext uri="{BB962C8B-B14F-4D97-AF65-F5344CB8AC3E}">
        <p14:creationId xmlns:p14="http://schemas.microsoft.com/office/powerpoint/2010/main" val="1267133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PEIM Services</a:t>
            </a:r>
            <a:endParaRPr lang="en-US" dirty="0"/>
          </a:p>
        </p:txBody>
      </p:sp>
      <p:graphicFrame>
        <p:nvGraphicFramePr>
          <p:cNvPr id="5" name="Table 2">
            <a:extLst>
              <a:ext uri="{FF2B5EF4-FFF2-40B4-BE49-F238E27FC236}">
                <a16:creationId xmlns:a16="http://schemas.microsoft.com/office/drawing/2014/main" id="{363FCD1C-1716-4D2E-B166-BE3F4E9F3404}"/>
              </a:ext>
            </a:extLst>
          </p:cNvPr>
          <p:cNvGraphicFramePr/>
          <p:nvPr>
            <p:extLst>
              <p:ext uri="{D42A27DB-BD31-4B8C-83A1-F6EECF244321}">
                <p14:modId xmlns:p14="http://schemas.microsoft.com/office/powerpoint/2010/main" val="3133597013"/>
              </p:ext>
            </p:extLst>
          </p:nvPr>
        </p:nvGraphicFramePr>
        <p:xfrm>
          <a:off x="838200" y="1316230"/>
          <a:ext cx="8686440" cy="4911480"/>
        </p:xfrm>
        <a:graphic>
          <a:graphicData uri="http://schemas.openxmlformats.org/drawingml/2006/table">
            <a:tbl>
              <a:tblPr/>
              <a:tblGrid>
                <a:gridCol w="1676160">
                  <a:extLst>
                    <a:ext uri="{9D8B030D-6E8A-4147-A177-3AD203B41FA5}">
                      <a16:colId xmlns:a16="http://schemas.microsoft.com/office/drawing/2014/main" val="20000"/>
                    </a:ext>
                  </a:extLst>
                </a:gridCol>
                <a:gridCol w="7010280">
                  <a:extLst>
                    <a:ext uri="{9D8B030D-6E8A-4147-A177-3AD203B41FA5}">
                      <a16:colId xmlns:a16="http://schemas.microsoft.com/office/drawing/2014/main" val="20001"/>
                    </a:ext>
                  </a:extLst>
                </a:gridCol>
              </a:tblGrid>
              <a:tr h="396720">
                <a:tc>
                  <a:txBody>
                    <a:bodyPr/>
                    <a:lstStyle/>
                    <a:p>
                      <a:pPr>
                        <a:lnSpc>
                          <a:spcPct val="100000"/>
                        </a:lnSpc>
                      </a:pPr>
                      <a:r>
                        <a:rPr lang="en-US" sz="1800" b="1" strike="noStrike" spc="-1">
                          <a:solidFill>
                            <a:srgbClr val="FFFFFF"/>
                          </a:solidFill>
                          <a:latin typeface="Segoe UI"/>
                        </a:rPr>
                        <a:t>PEI Service</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0178BB"/>
                    </a:solidFill>
                  </a:tcPr>
                </a:tc>
                <a:tc>
                  <a:txBody>
                    <a:bodyPr/>
                    <a:lstStyle/>
                    <a:p>
                      <a:pPr>
                        <a:lnSpc>
                          <a:spcPct val="100000"/>
                        </a:lnSpc>
                      </a:pPr>
                      <a:r>
                        <a:rPr lang="en-US" sz="1800" b="1" strike="noStrike" spc="-1">
                          <a:solidFill>
                            <a:srgbClr val="FFFFFF"/>
                          </a:solidFill>
                          <a:latin typeface="Segoe UI"/>
                        </a:rPr>
                        <a:t>Description</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0178BB"/>
                    </a:solidFill>
                  </a:tcPr>
                </a:tc>
                <a:extLst>
                  <a:ext uri="{0D108BD9-81ED-4DB2-BD59-A6C34878D82A}">
                    <a16:rowId xmlns:a16="http://schemas.microsoft.com/office/drawing/2014/main" val="10000"/>
                  </a:ext>
                </a:extLst>
              </a:tr>
              <a:tr h="396720">
                <a:tc>
                  <a:txBody>
                    <a:bodyPr/>
                    <a:lstStyle/>
                    <a:p>
                      <a:pPr>
                        <a:lnSpc>
                          <a:spcPct val="100000"/>
                        </a:lnSpc>
                      </a:pPr>
                      <a:r>
                        <a:rPr lang="en-US" sz="1800" b="1" strike="noStrike" spc="-1">
                          <a:solidFill>
                            <a:srgbClr val="3F3F3F"/>
                          </a:solidFill>
                          <a:latin typeface="Segoe UI"/>
                          <a:ea typeface="新細明體"/>
                        </a:rPr>
                        <a:t>PPI Services</a:t>
                      </a:r>
                      <a:endParaRPr lang="en-US"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CD6E6"/>
                    </a:solidFill>
                  </a:tcPr>
                </a:tc>
                <a:tc>
                  <a:txBody>
                    <a:bodyPr/>
                    <a:lstStyle/>
                    <a:p>
                      <a:pPr>
                        <a:lnSpc>
                          <a:spcPct val="100000"/>
                        </a:lnSpc>
                      </a:pPr>
                      <a:r>
                        <a:rPr lang="en-US" sz="1800" b="1" strike="noStrike" spc="-1">
                          <a:solidFill>
                            <a:srgbClr val="3F3F3F"/>
                          </a:solidFill>
                          <a:latin typeface="Segoe UI"/>
                          <a:ea typeface="新細明體"/>
                        </a:rPr>
                        <a:t>Manages PPIs to facilitate inter-module calls between PEIMs.</a:t>
                      </a:r>
                      <a:endParaRPr lang="en-US"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CD6E6"/>
                    </a:solidFill>
                  </a:tcPr>
                </a:tc>
                <a:extLst>
                  <a:ext uri="{0D108BD9-81ED-4DB2-BD59-A6C34878D82A}">
                    <a16:rowId xmlns:a16="http://schemas.microsoft.com/office/drawing/2014/main" val="10001"/>
                  </a:ext>
                </a:extLst>
              </a:tr>
              <a:tr h="701640">
                <a:tc>
                  <a:txBody>
                    <a:bodyPr/>
                    <a:lstStyle/>
                    <a:p>
                      <a:pPr>
                        <a:lnSpc>
                          <a:spcPct val="100000"/>
                        </a:lnSpc>
                      </a:pPr>
                      <a:r>
                        <a:rPr lang="en-US" sz="1800" b="1" strike="noStrike" spc="-1">
                          <a:solidFill>
                            <a:srgbClr val="3F3F3F"/>
                          </a:solidFill>
                          <a:latin typeface="Segoe UI"/>
                          <a:ea typeface="新細明體"/>
                        </a:rPr>
                        <a:t>Boot Mode Services</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tc>
                  <a:txBody>
                    <a:bodyPr/>
                    <a:lstStyle/>
                    <a:p>
                      <a:pPr>
                        <a:lnSpc>
                          <a:spcPct val="100000"/>
                        </a:lnSpc>
                      </a:pPr>
                      <a:r>
                        <a:rPr lang="en-US" sz="1800" b="1" strike="noStrike" spc="-1">
                          <a:solidFill>
                            <a:srgbClr val="3F3F3F"/>
                          </a:solidFill>
                          <a:latin typeface="Segoe UI"/>
                          <a:ea typeface="新細明體"/>
                        </a:rPr>
                        <a:t>Manages the boot mode of the system.</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extLst>
                  <a:ext uri="{0D108BD9-81ED-4DB2-BD59-A6C34878D82A}">
                    <a16:rowId xmlns:a16="http://schemas.microsoft.com/office/drawing/2014/main" val="10002"/>
                  </a:ext>
                </a:extLst>
              </a:tr>
              <a:tr h="1006560">
                <a:tc>
                  <a:txBody>
                    <a:bodyPr/>
                    <a:lstStyle/>
                    <a:p>
                      <a:pPr>
                        <a:lnSpc>
                          <a:spcPct val="100000"/>
                        </a:lnSpc>
                      </a:pPr>
                      <a:r>
                        <a:rPr lang="en-US" sz="1800" b="1" strike="noStrike" spc="-1">
                          <a:solidFill>
                            <a:srgbClr val="3F3F3F"/>
                          </a:solidFill>
                          <a:latin typeface="Segoe UI"/>
                          <a:ea typeface="新細明體"/>
                        </a:rPr>
                        <a:t>HOB Services</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tc>
                  <a:txBody>
                    <a:bodyPr/>
                    <a:lstStyle/>
                    <a:p>
                      <a:pPr>
                        <a:lnSpc>
                          <a:spcPct val="100000"/>
                        </a:lnSpc>
                        <a:spcBef>
                          <a:spcPts val="360"/>
                        </a:spcBef>
                      </a:pPr>
                      <a:r>
                        <a:rPr lang="en-US" sz="1800" b="1" strike="noStrike" spc="-1">
                          <a:solidFill>
                            <a:srgbClr val="3F3F3F"/>
                          </a:solidFill>
                          <a:latin typeface="Segoe UI"/>
                          <a:ea typeface="新細明體"/>
                        </a:rPr>
                        <a:t>Creates data structures called Hand-Off Blocks (HOBs) that are used to pass information to the next phase of the PI Architecture.</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extLst>
                  <a:ext uri="{0D108BD9-81ED-4DB2-BD59-A6C34878D82A}">
                    <a16:rowId xmlns:a16="http://schemas.microsoft.com/office/drawing/2014/main" val="10003"/>
                  </a:ext>
                </a:extLst>
              </a:tr>
              <a:tr h="1006560">
                <a:tc>
                  <a:txBody>
                    <a:bodyPr/>
                    <a:lstStyle/>
                    <a:p>
                      <a:pPr>
                        <a:lnSpc>
                          <a:spcPct val="100000"/>
                        </a:lnSpc>
                      </a:pPr>
                      <a:r>
                        <a:rPr lang="en-US" sz="1800" b="1" strike="noStrike" spc="-1">
                          <a:solidFill>
                            <a:srgbClr val="3F3F3F"/>
                          </a:solidFill>
                          <a:latin typeface="Segoe UI"/>
                          <a:ea typeface="新細明體"/>
                        </a:rPr>
                        <a:t>Firmware Volume Services</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tc>
                  <a:txBody>
                    <a:bodyPr/>
                    <a:lstStyle/>
                    <a:p>
                      <a:pPr>
                        <a:lnSpc>
                          <a:spcPct val="100000"/>
                        </a:lnSpc>
                      </a:pPr>
                      <a:r>
                        <a:rPr lang="en-US" sz="1800" b="1" strike="noStrike" spc="-1">
                          <a:solidFill>
                            <a:srgbClr val="3F3F3F"/>
                          </a:solidFill>
                          <a:latin typeface="Segoe UI"/>
                          <a:ea typeface="新細明體"/>
                        </a:rPr>
                        <a:t>Finds PEIMs and other firmware files in the firmware volumes.</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extLst>
                  <a:ext uri="{0D108BD9-81ED-4DB2-BD59-A6C34878D82A}">
                    <a16:rowId xmlns:a16="http://schemas.microsoft.com/office/drawing/2014/main" val="10004"/>
                  </a:ext>
                </a:extLst>
              </a:tr>
              <a:tr h="701640">
                <a:tc>
                  <a:txBody>
                    <a:bodyPr/>
                    <a:lstStyle/>
                    <a:p>
                      <a:pPr>
                        <a:lnSpc>
                          <a:spcPct val="100000"/>
                        </a:lnSpc>
                      </a:pPr>
                      <a:r>
                        <a:rPr lang="en-US" sz="1800" b="1" strike="noStrike" spc="-1">
                          <a:solidFill>
                            <a:srgbClr val="3F3F3F"/>
                          </a:solidFill>
                          <a:latin typeface="Segoe UI"/>
                          <a:ea typeface="新細明體"/>
                        </a:rPr>
                        <a:t>PEI Memory Services</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tc>
                  <a:txBody>
                    <a:bodyPr/>
                    <a:lstStyle/>
                    <a:p>
                      <a:pPr>
                        <a:lnSpc>
                          <a:spcPct val="100000"/>
                        </a:lnSpc>
                        <a:spcBef>
                          <a:spcPts val="360"/>
                        </a:spcBef>
                      </a:pPr>
                      <a:r>
                        <a:rPr lang="en-US" sz="1800" b="1" strike="noStrike" spc="-1">
                          <a:solidFill>
                            <a:srgbClr val="3F3F3F"/>
                          </a:solidFill>
                          <a:latin typeface="Segoe UI"/>
                          <a:ea typeface="新細明體"/>
                        </a:rPr>
                        <a:t>Provides a collection of memory management services for use both before and after permanent memory has been discovered.</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extLst>
                  <a:ext uri="{0D108BD9-81ED-4DB2-BD59-A6C34878D82A}">
                    <a16:rowId xmlns:a16="http://schemas.microsoft.com/office/drawing/2014/main" val="10005"/>
                  </a:ext>
                </a:extLst>
              </a:tr>
              <a:tr h="701640">
                <a:tc>
                  <a:txBody>
                    <a:bodyPr/>
                    <a:lstStyle/>
                    <a:p>
                      <a:pPr>
                        <a:lnSpc>
                          <a:spcPct val="100000"/>
                        </a:lnSpc>
                      </a:pPr>
                      <a:r>
                        <a:rPr lang="en-US" sz="1800" b="1" strike="noStrike" spc="-1">
                          <a:solidFill>
                            <a:srgbClr val="3F3F3F"/>
                          </a:solidFill>
                          <a:latin typeface="Segoe UI"/>
                          <a:ea typeface="新細明體"/>
                        </a:rPr>
                        <a:t>Status Code Services</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tc>
                  <a:txBody>
                    <a:bodyPr/>
                    <a:lstStyle/>
                    <a:p>
                      <a:pPr>
                        <a:lnSpc>
                          <a:spcPct val="100000"/>
                        </a:lnSpc>
                      </a:pPr>
                      <a:r>
                        <a:rPr lang="en-US" sz="1800" b="1" strike="noStrike" spc="-1" dirty="0">
                          <a:solidFill>
                            <a:srgbClr val="3F3F3F"/>
                          </a:solidFill>
                          <a:latin typeface="Segoe UI"/>
                          <a:ea typeface="新細明體"/>
                        </a:rPr>
                        <a:t>Provides common progress and error code reporting services.</a:t>
                      </a:r>
                      <a:endParaRPr lang="en-US" sz="1800" b="0" strike="noStrike" spc="-1" dirty="0">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27848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PEIM Services</a:t>
            </a:r>
            <a:endParaRPr lang="en-US" dirty="0"/>
          </a:p>
        </p:txBody>
      </p:sp>
      <p:sp>
        <p:nvSpPr>
          <p:cNvPr id="4" name="CustomShape 2">
            <a:extLst>
              <a:ext uri="{FF2B5EF4-FFF2-40B4-BE49-F238E27FC236}">
                <a16:creationId xmlns:a16="http://schemas.microsoft.com/office/drawing/2014/main" id="{E51178F8-918C-4CF1-AD60-9D7DD69501D3}"/>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spcBef>
                <a:spcPts val="1001"/>
              </a:spcBef>
            </a:pPr>
            <a:r>
              <a:rPr lang="en-US" sz="1600" b="1" strike="noStrike" spc="-1" dirty="0">
                <a:solidFill>
                  <a:srgbClr val="3F3F3F"/>
                </a:solidFill>
                <a:latin typeface="Calibri"/>
                <a:ea typeface="DejaVu Sans"/>
              </a:rPr>
              <a:t>struct _EFI_PEI_SERVICES {</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a:t>
            </a:r>
            <a:r>
              <a:rPr lang="en-US" sz="1600" b="1" i="1" strike="noStrike" spc="-1" dirty="0">
                <a:solidFill>
                  <a:srgbClr val="0070C0"/>
                </a:solidFill>
                <a:latin typeface="Calibri"/>
                <a:ea typeface="DejaVu Sans"/>
              </a:rPr>
              <a:t>// The table header for the PEI Services Table.</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EFI_TABLE_HEADER			</a:t>
            </a:r>
            <a:r>
              <a:rPr lang="en-US" sz="1600" b="1" strike="noStrike" spc="-1" dirty="0" err="1">
                <a:solidFill>
                  <a:srgbClr val="3F3F3F"/>
                </a:solidFill>
                <a:latin typeface="Calibri"/>
                <a:ea typeface="DejaVu Sans"/>
              </a:rPr>
              <a:t>Hdr</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a:t>
            </a:r>
            <a:r>
              <a:rPr lang="en-US" sz="1600" b="1" i="1" strike="noStrike" spc="-1" dirty="0">
                <a:solidFill>
                  <a:srgbClr val="0070C0"/>
                </a:solidFill>
                <a:latin typeface="Calibri"/>
                <a:ea typeface="DejaVu Sans"/>
              </a:rPr>
              <a:t>// PPI Functions</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EFI_PEI_INSTALL_PPI		</a:t>
            </a:r>
            <a:r>
              <a:rPr lang="en-US" sz="1600" b="1" strike="noStrike" spc="-1" dirty="0" err="1">
                <a:solidFill>
                  <a:srgbClr val="3F3F3F"/>
                </a:solidFill>
                <a:latin typeface="Calibri"/>
                <a:ea typeface="DejaVu Sans"/>
              </a:rPr>
              <a:t>InstallPpi</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EFI_PEI_REINSTALL_PPI		</a:t>
            </a:r>
            <a:r>
              <a:rPr lang="en-US" sz="1600" b="1" strike="noStrike" spc="-1" dirty="0" err="1">
                <a:solidFill>
                  <a:srgbClr val="3F3F3F"/>
                </a:solidFill>
                <a:latin typeface="Calibri"/>
                <a:ea typeface="DejaVu Sans"/>
              </a:rPr>
              <a:t>ReInstallPpi</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EFI_PEI_LOCATE_PPI			</a:t>
            </a:r>
            <a:r>
              <a:rPr lang="en-US" sz="1600" b="1" strike="noStrike" spc="-1" dirty="0" err="1">
                <a:solidFill>
                  <a:srgbClr val="3F3F3F"/>
                </a:solidFill>
                <a:latin typeface="Calibri"/>
                <a:ea typeface="DejaVu Sans"/>
              </a:rPr>
              <a:t>LocatePpi</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EFI_PEI_NOTIFY_PPI			</a:t>
            </a:r>
            <a:r>
              <a:rPr lang="en-US" sz="1600" b="1" strike="noStrike" spc="-1" dirty="0" err="1">
                <a:solidFill>
                  <a:srgbClr val="3F3F3F"/>
                </a:solidFill>
                <a:latin typeface="Calibri"/>
                <a:ea typeface="DejaVu Sans"/>
              </a:rPr>
              <a:t>NotifyPpi</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a:t>
            </a:r>
            <a:r>
              <a:rPr lang="en-US" sz="1600" b="1" i="1" strike="noStrike" spc="-1" dirty="0">
                <a:solidFill>
                  <a:srgbClr val="0070C0"/>
                </a:solidFill>
                <a:latin typeface="Calibri"/>
                <a:ea typeface="DejaVu Sans"/>
              </a:rPr>
              <a:t>// Boot Mode Functions</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EFI_PEI_GET_BOOT_MODE		</a:t>
            </a:r>
            <a:r>
              <a:rPr lang="en-US" sz="1600" b="1" strike="noStrike" spc="-1" dirty="0" err="1">
                <a:solidFill>
                  <a:srgbClr val="3F3F3F"/>
                </a:solidFill>
                <a:latin typeface="Calibri"/>
                <a:ea typeface="DejaVu Sans"/>
              </a:rPr>
              <a:t>GetBootMode</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EFI_PEI_SET_BOOT_MODE		</a:t>
            </a:r>
            <a:r>
              <a:rPr lang="en-US" sz="1600" b="1" strike="noStrike" spc="-1" dirty="0" err="1">
                <a:solidFill>
                  <a:srgbClr val="3F3F3F"/>
                </a:solidFill>
                <a:latin typeface="Calibri"/>
                <a:ea typeface="DejaVu Sans"/>
              </a:rPr>
              <a:t>SetBootMode</a:t>
            </a:r>
            <a:r>
              <a:rPr lang="en-US" sz="1600" b="1" strike="noStrike" spc="-1" dirty="0">
                <a:solidFill>
                  <a:srgbClr val="3F3F3F"/>
                </a:solidFill>
                <a:latin typeface="Calibri"/>
                <a:ea typeface="DejaVu Sans"/>
              </a:rPr>
              <a:t>;</a:t>
            </a:r>
            <a:endParaRPr lang="en-US" sz="1600" b="0" strike="noStrike" spc="-1" dirty="0">
              <a:latin typeface="Arial"/>
            </a:endParaRPr>
          </a:p>
        </p:txBody>
      </p:sp>
    </p:spTree>
    <p:extLst>
      <p:ext uri="{BB962C8B-B14F-4D97-AF65-F5344CB8AC3E}">
        <p14:creationId xmlns:p14="http://schemas.microsoft.com/office/powerpoint/2010/main" val="3231367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PEIM Services</a:t>
            </a:r>
            <a:endParaRPr lang="en-US" dirty="0"/>
          </a:p>
        </p:txBody>
      </p:sp>
      <p:sp>
        <p:nvSpPr>
          <p:cNvPr id="4" name="CustomShape 2">
            <a:extLst>
              <a:ext uri="{FF2B5EF4-FFF2-40B4-BE49-F238E27FC236}">
                <a16:creationId xmlns:a16="http://schemas.microsoft.com/office/drawing/2014/main" id="{E51178F8-918C-4CF1-AD60-9D7DD69501D3}"/>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spcBef>
                <a:spcPts val="1001"/>
              </a:spcBef>
            </a:pPr>
            <a:r>
              <a:rPr lang="en-US" sz="1600" b="1" strike="noStrike" spc="-1" dirty="0">
                <a:solidFill>
                  <a:srgbClr val="3F3F3F"/>
                </a:solidFill>
                <a:latin typeface="Calibri"/>
                <a:ea typeface="DejaVu Sans"/>
              </a:rPr>
              <a:t> </a:t>
            </a:r>
            <a:r>
              <a:rPr lang="en-US" sz="1600" b="1" i="1" strike="noStrike" spc="-1" dirty="0">
                <a:solidFill>
                  <a:srgbClr val="0070C0"/>
                </a:solidFill>
                <a:latin typeface="Calibri"/>
                <a:ea typeface="DejaVu Sans"/>
              </a:rPr>
              <a:t>// HOB Functions</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EFI_PEI_GET_HOB_LIST		</a:t>
            </a:r>
            <a:r>
              <a:rPr lang="en-US" sz="1600" b="1" strike="noStrike" spc="-1" dirty="0" err="1">
                <a:solidFill>
                  <a:srgbClr val="3F3F3F"/>
                </a:solidFill>
                <a:latin typeface="Calibri"/>
                <a:ea typeface="DejaVu Sans"/>
              </a:rPr>
              <a:t>GetHobList</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EFI_PEI_CREATE_HOB		</a:t>
            </a:r>
            <a:r>
              <a:rPr lang="en-US" sz="1600" b="1" strike="noStrike" spc="-1" dirty="0" err="1">
                <a:solidFill>
                  <a:srgbClr val="3F3F3F"/>
                </a:solidFill>
                <a:latin typeface="Calibri"/>
                <a:ea typeface="DejaVu Sans"/>
              </a:rPr>
              <a:t>CreateHob</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i="1" strike="noStrike" spc="-1" dirty="0">
                <a:solidFill>
                  <a:srgbClr val="0070C0"/>
                </a:solidFill>
                <a:latin typeface="Calibri"/>
                <a:ea typeface="DejaVu Sans"/>
              </a:rPr>
              <a:t>  // Firmware Volume Functions</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EFI_PEI_FFS_FIND_NEXT_VOLUME2	</a:t>
            </a:r>
            <a:r>
              <a:rPr lang="en-US" sz="1600" b="1" strike="noStrike" spc="-1" dirty="0" err="1">
                <a:solidFill>
                  <a:srgbClr val="3F3F3F"/>
                </a:solidFill>
                <a:latin typeface="Calibri"/>
                <a:ea typeface="DejaVu Sans"/>
              </a:rPr>
              <a:t>FfsFindNextVolume</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EFI_PEI_FFS_FIND_NEXT_FILE2		</a:t>
            </a:r>
            <a:r>
              <a:rPr lang="en-US" sz="1600" b="1" strike="noStrike" spc="-1" dirty="0" err="1">
                <a:solidFill>
                  <a:srgbClr val="3F3F3F"/>
                </a:solidFill>
                <a:latin typeface="Calibri"/>
                <a:ea typeface="DejaVu Sans"/>
              </a:rPr>
              <a:t>FfsFindNextFile</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EFI_PEI_FFS_FIND_SECTION_DATA2	</a:t>
            </a:r>
            <a:r>
              <a:rPr lang="en-US" sz="1600" b="1" strike="noStrike" spc="-1" dirty="0" err="1">
                <a:solidFill>
                  <a:srgbClr val="3F3F3F"/>
                </a:solidFill>
                <a:latin typeface="Calibri"/>
                <a:ea typeface="DejaVu Sans"/>
              </a:rPr>
              <a:t>FfsFindSectionData</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i="1" strike="noStrike" spc="-1" dirty="0">
                <a:solidFill>
                  <a:srgbClr val="0070C0"/>
                </a:solidFill>
                <a:latin typeface="Calibri"/>
                <a:ea typeface="DejaVu Sans"/>
              </a:rPr>
              <a:t>  // PEI Memory Functions</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EFI_PEI_INSTALL_PEI_MEMORY		</a:t>
            </a:r>
            <a:r>
              <a:rPr lang="en-US" sz="1600" b="1" strike="noStrike" spc="-1" dirty="0" err="1">
                <a:solidFill>
                  <a:srgbClr val="3F3F3F"/>
                </a:solidFill>
                <a:latin typeface="Calibri"/>
                <a:ea typeface="DejaVu Sans"/>
              </a:rPr>
              <a:t>InstallPeiMemory</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EFI_PEI_ALLOCATE_PAGES		</a:t>
            </a:r>
            <a:r>
              <a:rPr lang="en-US" sz="1600" b="1" strike="noStrike" spc="-1" dirty="0" err="1">
                <a:solidFill>
                  <a:srgbClr val="3F3F3F"/>
                </a:solidFill>
                <a:latin typeface="Calibri"/>
                <a:ea typeface="DejaVu Sans"/>
              </a:rPr>
              <a:t>AllocatePages</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EFI_PEI_ALLOCATE_POOL		</a:t>
            </a:r>
            <a:r>
              <a:rPr lang="en-US" sz="1600" b="1" strike="noStrike" spc="-1" dirty="0" err="1">
                <a:solidFill>
                  <a:srgbClr val="3F3F3F"/>
                </a:solidFill>
                <a:latin typeface="Calibri"/>
                <a:ea typeface="DejaVu Sans"/>
              </a:rPr>
              <a:t>AllocatePool</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EFI_PEI_COPY_MEM			</a:t>
            </a:r>
            <a:r>
              <a:rPr lang="en-US" sz="1600" b="1" strike="noStrike" spc="-1" dirty="0" err="1">
                <a:solidFill>
                  <a:srgbClr val="3F3F3F"/>
                </a:solidFill>
                <a:latin typeface="Calibri"/>
                <a:ea typeface="DejaVu Sans"/>
              </a:rPr>
              <a:t>CopyMem</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EFI_PEI_SET_MEM			</a:t>
            </a:r>
            <a:r>
              <a:rPr lang="en-US" sz="1600" b="1" strike="noStrike" spc="-1" dirty="0" err="1">
                <a:solidFill>
                  <a:srgbClr val="3F3F3F"/>
                </a:solidFill>
                <a:latin typeface="Calibri"/>
                <a:ea typeface="DejaVu Sans"/>
              </a:rPr>
              <a:t>SetMem</a:t>
            </a:r>
            <a:r>
              <a:rPr lang="en-US" sz="1600" b="1" strike="noStrike" spc="-1" dirty="0">
                <a:solidFill>
                  <a:srgbClr val="3F3F3F"/>
                </a:solidFill>
                <a:latin typeface="Calibri"/>
                <a:ea typeface="DejaVu Sans"/>
              </a:rPr>
              <a:t>;</a:t>
            </a:r>
            <a:endParaRPr lang="en-US" sz="1600" b="0" strike="noStrike" spc="-1" dirty="0">
              <a:latin typeface="Arial"/>
            </a:endParaRPr>
          </a:p>
        </p:txBody>
      </p:sp>
    </p:spTree>
    <p:extLst>
      <p:ext uri="{BB962C8B-B14F-4D97-AF65-F5344CB8AC3E}">
        <p14:creationId xmlns:p14="http://schemas.microsoft.com/office/powerpoint/2010/main" val="1650505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PEIM Services</a:t>
            </a:r>
            <a:endParaRPr lang="en-US" dirty="0"/>
          </a:p>
        </p:txBody>
      </p:sp>
      <p:sp>
        <p:nvSpPr>
          <p:cNvPr id="4" name="CustomShape 2">
            <a:extLst>
              <a:ext uri="{FF2B5EF4-FFF2-40B4-BE49-F238E27FC236}">
                <a16:creationId xmlns:a16="http://schemas.microsoft.com/office/drawing/2014/main" id="{E51178F8-918C-4CF1-AD60-9D7DD69501D3}"/>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spcBef>
                <a:spcPts val="1001"/>
              </a:spcBef>
            </a:pPr>
            <a:r>
              <a:rPr lang="en-US" sz="1600" b="1" i="1" strike="noStrike" spc="-1" dirty="0">
                <a:solidFill>
                  <a:srgbClr val="0070C0"/>
                </a:solidFill>
                <a:latin typeface="Calibri"/>
                <a:ea typeface="DejaVu Sans"/>
              </a:rPr>
              <a:t> // Status Code</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EFI_PEI_REPORT_STATUS_CODE	</a:t>
            </a:r>
            <a:r>
              <a:rPr lang="en-US" sz="1600" b="1" strike="noStrike" spc="-1" dirty="0" err="1">
                <a:solidFill>
                  <a:srgbClr val="3F3F3F"/>
                </a:solidFill>
                <a:latin typeface="Calibri"/>
                <a:ea typeface="DejaVu Sans"/>
              </a:rPr>
              <a:t>ReportStatusCode</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i="1" strike="noStrike" spc="-1" dirty="0">
                <a:solidFill>
                  <a:srgbClr val="0070C0"/>
                </a:solidFill>
                <a:latin typeface="Calibri"/>
                <a:ea typeface="DejaVu Sans"/>
              </a:rPr>
              <a:t>  // Reset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EFI_PEI_RESET_SYSTEM		</a:t>
            </a:r>
            <a:r>
              <a:rPr lang="en-US" sz="1600" b="1" strike="noStrike" spc="-1" dirty="0" err="1">
                <a:solidFill>
                  <a:srgbClr val="3F3F3F"/>
                </a:solidFill>
                <a:latin typeface="Calibri"/>
                <a:ea typeface="DejaVu Sans"/>
              </a:rPr>
              <a:t>ResetSystem</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i="1" strike="noStrike" spc="-1" dirty="0">
                <a:solidFill>
                  <a:srgbClr val="0070C0"/>
                </a:solidFill>
                <a:latin typeface="Calibri"/>
                <a:ea typeface="DejaVu Sans"/>
              </a:rPr>
              <a:t>  // I/O Abstractions</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EFI_PEI_CPU_IO_PPI			*</a:t>
            </a:r>
            <a:r>
              <a:rPr lang="en-US" sz="1600" b="1" strike="noStrike" spc="-1" dirty="0" err="1">
                <a:solidFill>
                  <a:srgbClr val="3F3F3F"/>
                </a:solidFill>
                <a:latin typeface="Calibri"/>
                <a:ea typeface="DejaVu Sans"/>
              </a:rPr>
              <a:t>CpuIo</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EFI_PEI_PCI_CFG2_PPI		*</a:t>
            </a:r>
            <a:r>
              <a:rPr lang="en-US" sz="1600" b="1" strike="noStrike" spc="-1" dirty="0" err="1">
                <a:solidFill>
                  <a:srgbClr val="3F3F3F"/>
                </a:solidFill>
                <a:latin typeface="Calibri"/>
                <a:ea typeface="DejaVu Sans"/>
              </a:rPr>
              <a:t>PciCfg</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i="1" strike="noStrike" spc="-1" dirty="0">
                <a:solidFill>
                  <a:srgbClr val="0070C0"/>
                </a:solidFill>
                <a:latin typeface="Calibri"/>
                <a:ea typeface="DejaVu Sans"/>
              </a:rPr>
              <a:t>  // Future Installed Services</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EFI_PEI_FFS_FIND_BY_NAME		</a:t>
            </a:r>
            <a:r>
              <a:rPr lang="en-US" sz="1600" b="1" strike="noStrike" spc="-1" dirty="0" err="1">
                <a:solidFill>
                  <a:srgbClr val="3F3F3F"/>
                </a:solidFill>
                <a:latin typeface="Calibri"/>
                <a:ea typeface="DejaVu Sans"/>
              </a:rPr>
              <a:t>FfsFindFileByName</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EFI_PEI_FFS_GET_FILE_INFO		</a:t>
            </a:r>
            <a:r>
              <a:rPr lang="en-US" sz="1600" b="1" strike="noStrike" spc="-1" dirty="0" err="1">
                <a:solidFill>
                  <a:srgbClr val="3F3F3F"/>
                </a:solidFill>
                <a:latin typeface="Calibri"/>
                <a:ea typeface="DejaVu Sans"/>
              </a:rPr>
              <a:t>FfsGetFileInfo</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EFI_PEI_FFS_GET_VOLUME_INFO	</a:t>
            </a:r>
            <a:r>
              <a:rPr lang="en-US" sz="1600" b="1" strike="noStrike" spc="-1" dirty="0" err="1">
                <a:solidFill>
                  <a:srgbClr val="3F3F3F"/>
                </a:solidFill>
                <a:latin typeface="Calibri"/>
                <a:ea typeface="DejaVu Sans"/>
              </a:rPr>
              <a:t>FfsGetVolumeInfo</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  EFI_PEI_REGISTER_FOR_SHADOW	</a:t>
            </a:r>
            <a:r>
              <a:rPr lang="en-US" sz="1600" b="1" strike="noStrike" spc="-1" dirty="0" err="1">
                <a:solidFill>
                  <a:srgbClr val="3F3F3F"/>
                </a:solidFill>
                <a:latin typeface="Calibri"/>
                <a:ea typeface="DejaVu Sans"/>
              </a:rPr>
              <a:t>RegisterForShadow</a:t>
            </a:r>
            <a:r>
              <a:rPr lang="en-US" sz="1600" b="1" strike="noStrike" spc="-1" dirty="0">
                <a:solidFill>
                  <a:srgbClr val="3F3F3F"/>
                </a:solidFill>
                <a:latin typeface="Calibri"/>
                <a:ea typeface="DejaVu Sans"/>
              </a:rPr>
              <a:t>;</a:t>
            </a:r>
            <a:endParaRPr lang="en-US" sz="1600" b="0" strike="noStrike" spc="-1" dirty="0">
              <a:latin typeface="Arial"/>
            </a:endParaRPr>
          </a:p>
          <a:p>
            <a:pPr>
              <a:lnSpc>
                <a:spcPct val="90000"/>
              </a:lnSpc>
              <a:spcBef>
                <a:spcPts val="1001"/>
              </a:spcBef>
            </a:pPr>
            <a:r>
              <a:rPr lang="en-US" sz="1600" b="1" strike="noStrike" spc="-1" dirty="0">
                <a:solidFill>
                  <a:srgbClr val="3F3F3F"/>
                </a:solidFill>
                <a:latin typeface="Calibri"/>
                <a:ea typeface="DejaVu Sans"/>
              </a:rPr>
              <a:t>};</a:t>
            </a:r>
            <a:endParaRPr lang="en-US" sz="1600" b="0" strike="noStrike" spc="-1" dirty="0">
              <a:latin typeface="Arial"/>
            </a:endParaRPr>
          </a:p>
        </p:txBody>
      </p:sp>
    </p:spTree>
    <p:extLst>
      <p:ext uri="{BB962C8B-B14F-4D97-AF65-F5344CB8AC3E}">
        <p14:creationId xmlns:p14="http://schemas.microsoft.com/office/powerpoint/2010/main" val="26214706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 Components</a:t>
            </a:r>
            <a:endParaRPr lang="en-US" dirty="0"/>
          </a:p>
        </p:txBody>
      </p:sp>
      <p:sp>
        <p:nvSpPr>
          <p:cNvPr id="4" name="CustomShape 2">
            <a:extLst>
              <a:ext uri="{FF2B5EF4-FFF2-40B4-BE49-F238E27FC236}">
                <a16:creationId xmlns:a16="http://schemas.microsoft.com/office/drawing/2014/main" id="{E51178F8-918C-4CF1-AD60-9D7DD69501D3}"/>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 Dispatcher</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The PEI Dispatcher is essentially a state machine that is implemented in the PEI Foundation.</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The PEI Dispatcher evaluates the dependency expressions in Pre-EFI Initialization Modules (PEIMs) that are in the firmware volume(s) being examined.</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The dependency expressions are logical combinations of PEIM-to-PEIM Interfaces (PPIs).</a:t>
            </a:r>
            <a:endParaRPr lang="en-US" sz="2400" b="0" strike="noStrike" spc="-1" dirty="0">
              <a:latin typeface="Arial"/>
            </a:endParaRPr>
          </a:p>
        </p:txBody>
      </p:sp>
    </p:spTree>
    <p:extLst>
      <p:ext uri="{BB962C8B-B14F-4D97-AF65-F5344CB8AC3E}">
        <p14:creationId xmlns:p14="http://schemas.microsoft.com/office/powerpoint/2010/main" val="963339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 Dispatcher</a:t>
            </a:r>
            <a:endParaRPr lang="en-US" dirty="0"/>
          </a:p>
        </p:txBody>
      </p:sp>
      <p:sp>
        <p:nvSpPr>
          <p:cNvPr id="5" name="CustomShape 2">
            <a:extLst>
              <a:ext uri="{FF2B5EF4-FFF2-40B4-BE49-F238E27FC236}">
                <a16:creationId xmlns:a16="http://schemas.microsoft.com/office/drawing/2014/main" id="{2D3E780B-7203-401B-BEBE-E1DD8A53B440}"/>
              </a:ext>
            </a:extLst>
          </p:cNvPr>
          <p:cNvSpPr/>
          <p:nvPr/>
        </p:nvSpPr>
        <p:spPr>
          <a:xfrm>
            <a:off x="2504343" y="1692160"/>
            <a:ext cx="1680480" cy="283680"/>
          </a:xfrm>
          <a:prstGeom prst="roundRect">
            <a:avLst>
              <a:gd name="adj" fmla="val 16667"/>
            </a:avLst>
          </a:prstGeom>
          <a:solidFill>
            <a:srgbClr val="FFC000"/>
          </a:solidFill>
          <a:ln w="12600">
            <a:solidFill>
              <a:schemeClr val="tx1"/>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gn="ctr">
              <a:lnSpc>
                <a:spcPct val="100000"/>
              </a:lnSpc>
            </a:pPr>
            <a:r>
              <a:rPr lang="en-US" sz="1600" b="1" strike="noStrike" spc="-1">
                <a:solidFill>
                  <a:srgbClr val="3F3F3F"/>
                </a:solidFill>
                <a:latin typeface="Segoe UI"/>
                <a:ea typeface="DejaVu Sans"/>
              </a:rPr>
              <a:t>PEI Start</a:t>
            </a:r>
            <a:endParaRPr lang="en-US" sz="1600" b="0" strike="noStrike" spc="-1">
              <a:latin typeface="Arial"/>
            </a:endParaRPr>
          </a:p>
        </p:txBody>
      </p:sp>
      <p:sp>
        <p:nvSpPr>
          <p:cNvPr id="6" name="CustomShape 3">
            <a:extLst>
              <a:ext uri="{FF2B5EF4-FFF2-40B4-BE49-F238E27FC236}">
                <a16:creationId xmlns:a16="http://schemas.microsoft.com/office/drawing/2014/main" id="{D489FF3D-09CC-46AB-8771-1452CB66F3D7}"/>
              </a:ext>
            </a:extLst>
          </p:cNvPr>
          <p:cNvSpPr/>
          <p:nvPr/>
        </p:nvSpPr>
        <p:spPr>
          <a:xfrm>
            <a:off x="3345663" y="1978000"/>
            <a:ext cx="360" cy="327960"/>
          </a:xfrm>
          <a:custGeom>
            <a:avLst/>
            <a:gdLst/>
            <a:ahLst/>
            <a:cxnLst/>
            <a:rect l="l" t="t" r="r" b="b"/>
            <a:pathLst>
              <a:path w="21600" h="21600">
                <a:moveTo>
                  <a:pt x="0" y="0"/>
                </a:moveTo>
                <a:lnTo>
                  <a:pt x="21600" y="21600"/>
                </a:lnTo>
              </a:path>
            </a:pathLst>
          </a:custGeom>
          <a:noFill/>
          <a:ln w="38160">
            <a:solidFill>
              <a:schemeClr val="tx1"/>
            </a:solidFill>
            <a:round/>
            <a:tailEnd type="triangle" w="med" len="med"/>
          </a:ln>
        </p:spPr>
        <p:style>
          <a:lnRef idx="0">
            <a:scrgbClr r="0" g="0" b="0"/>
          </a:lnRef>
          <a:fillRef idx="0">
            <a:scrgbClr r="0" g="0" b="0"/>
          </a:fillRef>
          <a:effectRef idx="0">
            <a:scrgbClr r="0" g="0" b="0"/>
          </a:effectRef>
          <a:fontRef idx="minor"/>
        </p:style>
      </p:sp>
      <p:grpSp>
        <p:nvGrpSpPr>
          <p:cNvPr id="7" name="Group 4">
            <a:extLst>
              <a:ext uri="{FF2B5EF4-FFF2-40B4-BE49-F238E27FC236}">
                <a16:creationId xmlns:a16="http://schemas.microsoft.com/office/drawing/2014/main" id="{A6929B4E-2CDD-4E50-83EE-F53686D09BEB}"/>
              </a:ext>
            </a:extLst>
          </p:cNvPr>
          <p:cNvGrpSpPr/>
          <p:nvPr/>
        </p:nvGrpSpPr>
        <p:grpSpPr>
          <a:xfrm>
            <a:off x="7698423" y="1574800"/>
            <a:ext cx="1617120" cy="1437840"/>
            <a:chOff x="6943680" y="1371600"/>
            <a:chExt cx="1617120" cy="1437840"/>
          </a:xfrm>
        </p:grpSpPr>
        <p:sp>
          <p:nvSpPr>
            <p:cNvPr id="8" name="CustomShape 5">
              <a:extLst>
                <a:ext uri="{FF2B5EF4-FFF2-40B4-BE49-F238E27FC236}">
                  <a16:creationId xmlns:a16="http://schemas.microsoft.com/office/drawing/2014/main" id="{5D08B19E-2CF5-421A-8AA5-5400D6BDA95C}"/>
                </a:ext>
              </a:extLst>
            </p:cNvPr>
            <p:cNvSpPr/>
            <p:nvPr/>
          </p:nvSpPr>
          <p:spPr>
            <a:xfrm>
              <a:off x="6943680" y="1371600"/>
              <a:ext cx="1617120" cy="1437840"/>
            </a:xfrm>
            <a:prstGeom prst="rect">
              <a:avLst/>
            </a:prstGeom>
            <a:solidFill>
              <a:srgbClr val="CC99FF"/>
            </a:solidFill>
            <a:ln w="1260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600" b="1" strike="noStrike" spc="-1">
                  <a:solidFill>
                    <a:srgbClr val="3F3F3F"/>
                  </a:solidFill>
                  <a:latin typeface="Segoe UI"/>
                  <a:ea typeface="DejaVu Sans"/>
                </a:rPr>
                <a:t>PEIM n</a:t>
              </a:r>
              <a:endParaRPr lang="en-US" sz="1600" b="0" strike="noStrike" spc="-1">
                <a:latin typeface="Arial"/>
              </a:endParaRPr>
            </a:p>
          </p:txBody>
        </p:sp>
        <p:sp>
          <p:nvSpPr>
            <p:cNvPr id="9" name="CustomShape 6">
              <a:extLst>
                <a:ext uri="{FF2B5EF4-FFF2-40B4-BE49-F238E27FC236}">
                  <a16:creationId xmlns:a16="http://schemas.microsoft.com/office/drawing/2014/main" id="{2B456D39-32A9-4FB9-9B07-1CFE4E5E9364}"/>
                </a:ext>
              </a:extLst>
            </p:cNvPr>
            <p:cNvSpPr/>
            <p:nvPr/>
          </p:nvSpPr>
          <p:spPr>
            <a:xfrm>
              <a:off x="7058160" y="1733400"/>
              <a:ext cx="1437840" cy="250200"/>
            </a:xfrm>
            <a:prstGeom prst="rect">
              <a:avLst/>
            </a:prstGeom>
            <a:solidFill>
              <a:srgbClr val="FFC000"/>
            </a:solidFill>
            <a:ln w="12600">
              <a:solidFill>
                <a:schemeClr val="tx1"/>
              </a:solidFill>
              <a:miter/>
            </a:ln>
          </p:spPr>
          <p:style>
            <a:lnRef idx="0">
              <a:scrgbClr r="0" g="0" b="0"/>
            </a:lnRef>
            <a:fillRef idx="0">
              <a:scrgbClr r="0" g="0" b="0"/>
            </a:fillRef>
            <a:effectRef idx="0">
              <a:scrgbClr r="0" g="0" b="0"/>
            </a:effectRef>
            <a:fontRef idx="minor"/>
          </p:style>
          <p:txBody>
            <a:bodyPr wrap="none" lIns="18000" tIns="45000" rIns="90000" bIns="45000" anchor="ctr">
              <a:noAutofit/>
            </a:bodyPr>
            <a:lstStyle/>
            <a:p>
              <a:pPr>
                <a:lnSpc>
                  <a:spcPct val="100000"/>
                </a:lnSpc>
              </a:pPr>
              <a:r>
                <a:rPr lang="en-US" sz="1400" b="1" strike="noStrike" spc="-1">
                  <a:solidFill>
                    <a:srgbClr val="3F3F3F"/>
                  </a:solidFill>
                  <a:latin typeface="Segoe UI"/>
                  <a:ea typeface="DejaVu Sans"/>
                </a:rPr>
                <a:t>PEIM Entry Point</a:t>
              </a:r>
              <a:endParaRPr lang="en-US" sz="1400" b="0" strike="noStrike" spc="-1">
                <a:latin typeface="Arial"/>
              </a:endParaRPr>
            </a:p>
          </p:txBody>
        </p:sp>
      </p:grpSp>
      <p:grpSp>
        <p:nvGrpSpPr>
          <p:cNvPr id="10" name="Group 7">
            <a:extLst>
              <a:ext uri="{FF2B5EF4-FFF2-40B4-BE49-F238E27FC236}">
                <a16:creationId xmlns:a16="http://schemas.microsoft.com/office/drawing/2014/main" id="{3BD337BD-9DE5-4DFF-B500-11E7E4353C44}"/>
              </a:ext>
            </a:extLst>
          </p:cNvPr>
          <p:cNvGrpSpPr/>
          <p:nvPr/>
        </p:nvGrpSpPr>
        <p:grpSpPr>
          <a:xfrm>
            <a:off x="7528503" y="1876480"/>
            <a:ext cx="1617120" cy="1437840"/>
            <a:chOff x="6773760" y="1673280"/>
            <a:chExt cx="1617120" cy="1437840"/>
          </a:xfrm>
        </p:grpSpPr>
        <p:sp>
          <p:nvSpPr>
            <p:cNvPr id="11" name="CustomShape 8">
              <a:extLst>
                <a:ext uri="{FF2B5EF4-FFF2-40B4-BE49-F238E27FC236}">
                  <a16:creationId xmlns:a16="http://schemas.microsoft.com/office/drawing/2014/main" id="{FA7096A1-6962-498F-A722-CBF50727EEDD}"/>
                </a:ext>
              </a:extLst>
            </p:cNvPr>
            <p:cNvSpPr/>
            <p:nvPr/>
          </p:nvSpPr>
          <p:spPr>
            <a:xfrm>
              <a:off x="6773760" y="1673280"/>
              <a:ext cx="1617120" cy="1437840"/>
            </a:xfrm>
            <a:prstGeom prst="rect">
              <a:avLst/>
            </a:prstGeom>
            <a:solidFill>
              <a:srgbClr val="CC99FF"/>
            </a:solidFill>
            <a:ln w="1260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600" b="1" strike="noStrike" spc="-1">
                  <a:solidFill>
                    <a:srgbClr val="3F3F3F"/>
                  </a:solidFill>
                  <a:latin typeface="Segoe UI"/>
                  <a:ea typeface="DejaVu Sans"/>
                </a:rPr>
                <a:t>PEIM 3</a:t>
              </a:r>
              <a:endParaRPr lang="en-US" sz="1600" b="0" strike="noStrike" spc="-1">
                <a:latin typeface="Arial"/>
              </a:endParaRPr>
            </a:p>
          </p:txBody>
        </p:sp>
        <p:sp>
          <p:nvSpPr>
            <p:cNvPr id="12" name="CustomShape 9">
              <a:extLst>
                <a:ext uri="{FF2B5EF4-FFF2-40B4-BE49-F238E27FC236}">
                  <a16:creationId xmlns:a16="http://schemas.microsoft.com/office/drawing/2014/main" id="{0CA34D19-A219-4802-B356-64B35D0DA68A}"/>
                </a:ext>
              </a:extLst>
            </p:cNvPr>
            <p:cNvSpPr/>
            <p:nvPr/>
          </p:nvSpPr>
          <p:spPr>
            <a:xfrm>
              <a:off x="6888240" y="2035080"/>
              <a:ext cx="1437840" cy="250200"/>
            </a:xfrm>
            <a:prstGeom prst="rect">
              <a:avLst/>
            </a:prstGeom>
            <a:solidFill>
              <a:srgbClr val="FFC000"/>
            </a:solidFill>
            <a:ln w="12600">
              <a:solidFill>
                <a:schemeClr val="tx1"/>
              </a:solidFill>
              <a:miter/>
            </a:ln>
          </p:spPr>
          <p:style>
            <a:lnRef idx="0">
              <a:scrgbClr r="0" g="0" b="0"/>
            </a:lnRef>
            <a:fillRef idx="0">
              <a:scrgbClr r="0" g="0" b="0"/>
            </a:fillRef>
            <a:effectRef idx="0">
              <a:scrgbClr r="0" g="0" b="0"/>
            </a:effectRef>
            <a:fontRef idx="minor"/>
          </p:style>
          <p:txBody>
            <a:bodyPr wrap="none" lIns="18000" tIns="45000" rIns="90000" bIns="45000" anchor="ctr">
              <a:noAutofit/>
            </a:bodyPr>
            <a:lstStyle/>
            <a:p>
              <a:pPr>
                <a:lnSpc>
                  <a:spcPct val="100000"/>
                </a:lnSpc>
              </a:pPr>
              <a:r>
                <a:rPr lang="en-US" sz="1400" b="1" strike="noStrike" spc="-1">
                  <a:solidFill>
                    <a:srgbClr val="3F3F3F"/>
                  </a:solidFill>
                  <a:latin typeface="Segoe UI"/>
                  <a:ea typeface="DejaVu Sans"/>
                </a:rPr>
                <a:t>PEIM Entry Point</a:t>
              </a:r>
              <a:endParaRPr lang="en-US" sz="1400" b="0" strike="noStrike" spc="-1">
                <a:latin typeface="Arial"/>
              </a:endParaRPr>
            </a:p>
          </p:txBody>
        </p:sp>
      </p:grpSp>
      <p:grpSp>
        <p:nvGrpSpPr>
          <p:cNvPr id="13" name="Group 10">
            <a:extLst>
              <a:ext uri="{FF2B5EF4-FFF2-40B4-BE49-F238E27FC236}">
                <a16:creationId xmlns:a16="http://schemas.microsoft.com/office/drawing/2014/main" id="{DABEAFA0-8F76-4E7F-BA69-98BE384E1F86}"/>
              </a:ext>
            </a:extLst>
          </p:cNvPr>
          <p:cNvGrpSpPr/>
          <p:nvPr/>
        </p:nvGrpSpPr>
        <p:grpSpPr>
          <a:xfrm>
            <a:off x="7372983" y="2178160"/>
            <a:ext cx="1617120" cy="1437840"/>
            <a:chOff x="6618240" y="1974960"/>
            <a:chExt cx="1617120" cy="1437840"/>
          </a:xfrm>
        </p:grpSpPr>
        <p:sp>
          <p:nvSpPr>
            <p:cNvPr id="14" name="CustomShape 11">
              <a:extLst>
                <a:ext uri="{FF2B5EF4-FFF2-40B4-BE49-F238E27FC236}">
                  <a16:creationId xmlns:a16="http://schemas.microsoft.com/office/drawing/2014/main" id="{BA332672-0066-4A2D-8A8F-F8E881B409B0}"/>
                </a:ext>
              </a:extLst>
            </p:cNvPr>
            <p:cNvSpPr/>
            <p:nvPr/>
          </p:nvSpPr>
          <p:spPr>
            <a:xfrm>
              <a:off x="6618240" y="1974960"/>
              <a:ext cx="1617120" cy="1437840"/>
            </a:xfrm>
            <a:prstGeom prst="rect">
              <a:avLst/>
            </a:prstGeom>
            <a:solidFill>
              <a:srgbClr val="CC99FF"/>
            </a:solidFill>
            <a:ln w="1260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600" b="1" strike="noStrike" spc="-1">
                  <a:solidFill>
                    <a:srgbClr val="3F3F3F"/>
                  </a:solidFill>
                  <a:latin typeface="Segoe UI"/>
                  <a:ea typeface="DejaVu Sans"/>
                </a:rPr>
                <a:t>PEIM 2</a:t>
              </a:r>
              <a:endParaRPr lang="en-US" sz="1600" b="0" strike="noStrike" spc="-1">
                <a:latin typeface="Arial"/>
              </a:endParaRPr>
            </a:p>
          </p:txBody>
        </p:sp>
        <p:sp>
          <p:nvSpPr>
            <p:cNvPr id="15" name="CustomShape 12">
              <a:extLst>
                <a:ext uri="{FF2B5EF4-FFF2-40B4-BE49-F238E27FC236}">
                  <a16:creationId xmlns:a16="http://schemas.microsoft.com/office/drawing/2014/main" id="{01A2010D-8A0D-4BA0-89A6-EDB77A92185F}"/>
                </a:ext>
              </a:extLst>
            </p:cNvPr>
            <p:cNvSpPr/>
            <p:nvPr/>
          </p:nvSpPr>
          <p:spPr>
            <a:xfrm>
              <a:off x="6732720" y="2336760"/>
              <a:ext cx="1437840" cy="250200"/>
            </a:xfrm>
            <a:prstGeom prst="rect">
              <a:avLst/>
            </a:prstGeom>
            <a:solidFill>
              <a:srgbClr val="FFC000"/>
            </a:solidFill>
            <a:ln w="12600">
              <a:solidFill>
                <a:schemeClr val="tx1"/>
              </a:solidFill>
              <a:miter/>
            </a:ln>
          </p:spPr>
          <p:style>
            <a:lnRef idx="0">
              <a:scrgbClr r="0" g="0" b="0"/>
            </a:lnRef>
            <a:fillRef idx="0">
              <a:scrgbClr r="0" g="0" b="0"/>
            </a:fillRef>
            <a:effectRef idx="0">
              <a:scrgbClr r="0" g="0" b="0"/>
            </a:effectRef>
            <a:fontRef idx="minor"/>
          </p:style>
          <p:txBody>
            <a:bodyPr wrap="none" lIns="18000" tIns="45000" rIns="90000" bIns="45000" anchor="ctr">
              <a:noAutofit/>
            </a:bodyPr>
            <a:lstStyle/>
            <a:p>
              <a:pPr>
                <a:lnSpc>
                  <a:spcPct val="100000"/>
                </a:lnSpc>
              </a:pPr>
              <a:r>
                <a:rPr lang="en-US" sz="1400" b="1" strike="noStrike" spc="-1">
                  <a:solidFill>
                    <a:srgbClr val="3F3F3F"/>
                  </a:solidFill>
                  <a:latin typeface="Segoe UI"/>
                  <a:ea typeface="DejaVu Sans"/>
                </a:rPr>
                <a:t>PEIM Entry Point</a:t>
              </a:r>
              <a:endParaRPr lang="en-US" sz="1400" b="0" strike="noStrike" spc="-1">
                <a:latin typeface="Arial"/>
              </a:endParaRPr>
            </a:p>
          </p:txBody>
        </p:sp>
      </p:grpSp>
      <p:grpSp>
        <p:nvGrpSpPr>
          <p:cNvPr id="16" name="Group 13">
            <a:extLst>
              <a:ext uri="{FF2B5EF4-FFF2-40B4-BE49-F238E27FC236}">
                <a16:creationId xmlns:a16="http://schemas.microsoft.com/office/drawing/2014/main" id="{DB77D2D9-F3C2-4595-8291-2F20489E141E}"/>
              </a:ext>
            </a:extLst>
          </p:cNvPr>
          <p:cNvGrpSpPr/>
          <p:nvPr/>
        </p:nvGrpSpPr>
        <p:grpSpPr>
          <a:xfrm>
            <a:off x="7217463" y="2493880"/>
            <a:ext cx="1617120" cy="1437840"/>
            <a:chOff x="6462720" y="2290680"/>
            <a:chExt cx="1617120" cy="1437840"/>
          </a:xfrm>
        </p:grpSpPr>
        <p:sp>
          <p:nvSpPr>
            <p:cNvPr id="17" name="CustomShape 14">
              <a:extLst>
                <a:ext uri="{FF2B5EF4-FFF2-40B4-BE49-F238E27FC236}">
                  <a16:creationId xmlns:a16="http://schemas.microsoft.com/office/drawing/2014/main" id="{B507B9DF-9508-44AE-8BEA-5E7F50F4F16D}"/>
                </a:ext>
              </a:extLst>
            </p:cNvPr>
            <p:cNvSpPr/>
            <p:nvPr/>
          </p:nvSpPr>
          <p:spPr>
            <a:xfrm>
              <a:off x="6462720" y="2290680"/>
              <a:ext cx="1617120" cy="1437840"/>
            </a:xfrm>
            <a:prstGeom prst="rect">
              <a:avLst/>
            </a:prstGeom>
            <a:solidFill>
              <a:srgbClr val="CC99FF"/>
            </a:solidFill>
            <a:ln w="1260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600" b="1" strike="noStrike" spc="-1">
                  <a:solidFill>
                    <a:srgbClr val="3F3F3F"/>
                  </a:solidFill>
                  <a:latin typeface="Segoe UI"/>
                  <a:ea typeface="DejaVu Sans"/>
                </a:rPr>
                <a:t>PEIM 1</a:t>
              </a:r>
              <a:endParaRPr lang="en-US" sz="1600" b="0" strike="noStrike" spc="-1">
                <a:latin typeface="Arial"/>
              </a:endParaRPr>
            </a:p>
          </p:txBody>
        </p:sp>
        <p:sp>
          <p:nvSpPr>
            <p:cNvPr id="18" name="CustomShape 15">
              <a:extLst>
                <a:ext uri="{FF2B5EF4-FFF2-40B4-BE49-F238E27FC236}">
                  <a16:creationId xmlns:a16="http://schemas.microsoft.com/office/drawing/2014/main" id="{1EF04E1A-7C31-439F-9235-5A188545650C}"/>
                </a:ext>
              </a:extLst>
            </p:cNvPr>
            <p:cNvSpPr/>
            <p:nvPr/>
          </p:nvSpPr>
          <p:spPr>
            <a:xfrm>
              <a:off x="6576840" y="2652840"/>
              <a:ext cx="1437840" cy="250200"/>
            </a:xfrm>
            <a:prstGeom prst="rect">
              <a:avLst/>
            </a:prstGeom>
            <a:solidFill>
              <a:srgbClr val="FFC000"/>
            </a:solidFill>
            <a:ln w="12600">
              <a:solidFill>
                <a:schemeClr val="tx1"/>
              </a:solidFill>
              <a:miter/>
            </a:ln>
          </p:spPr>
          <p:style>
            <a:lnRef idx="0">
              <a:scrgbClr r="0" g="0" b="0"/>
            </a:lnRef>
            <a:fillRef idx="0">
              <a:scrgbClr r="0" g="0" b="0"/>
            </a:fillRef>
            <a:effectRef idx="0">
              <a:scrgbClr r="0" g="0" b="0"/>
            </a:effectRef>
            <a:fontRef idx="minor"/>
          </p:style>
          <p:txBody>
            <a:bodyPr wrap="none" lIns="18000" tIns="45000" rIns="90000" bIns="45000" anchor="ctr">
              <a:noAutofit/>
            </a:bodyPr>
            <a:lstStyle/>
            <a:p>
              <a:pPr>
                <a:lnSpc>
                  <a:spcPct val="100000"/>
                </a:lnSpc>
              </a:pPr>
              <a:r>
                <a:rPr lang="en-US" sz="1400" b="1" strike="noStrike" spc="-1">
                  <a:solidFill>
                    <a:srgbClr val="3F3F3F"/>
                  </a:solidFill>
                  <a:latin typeface="Segoe UI"/>
                  <a:ea typeface="DejaVu Sans"/>
                </a:rPr>
                <a:t>PEIM Entry Point</a:t>
              </a:r>
              <a:endParaRPr lang="en-US" sz="1400" b="0" strike="noStrike" spc="-1">
                <a:latin typeface="Arial"/>
              </a:endParaRPr>
            </a:p>
          </p:txBody>
        </p:sp>
      </p:grpSp>
      <p:grpSp>
        <p:nvGrpSpPr>
          <p:cNvPr id="19" name="Group 16">
            <a:extLst>
              <a:ext uri="{FF2B5EF4-FFF2-40B4-BE49-F238E27FC236}">
                <a16:creationId xmlns:a16="http://schemas.microsoft.com/office/drawing/2014/main" id="{374F1E47-2C5A-40C1-9687-5442DD871AE7}"/>
              </a:ext>
            </a:extLst>
          </p:cNvPr>
          <p:cNvGrpSpPr/>
          <p:nvPr/>
        </p:nvGrpSpPr>
        <p:grpSpPr>
          <a:xfrm>
            <a:off x="7218903" y="4424200"/>
            <a:ext cx="1617120" cy="1437840"/>
            <a:chOff x="6464160" y="4221000"/>
            <a:chExt cx="1617120" cy="1437840"/>
          </a:xfrm>
        </p:grpSpPr>
        <p:sp>
          <p:nvSpPr>
            <p:cNvPr id="20" name="CustomShape 17">
              <a:extLst>
                <a:ext uri="{FF2B5EF4-FFF2-40B4-BE49-F238E27FC236}">
                  <a16:creationId xmlns:a16="http://schemas.microsoft.com/office/drawing/2014/main" id="{B0000162-0613-4B25-AE57-AD60AB68507B}"/>
                </a:ext>
              </a:extLst>
            </p:cNvPr>
            <p:cNvSpPr/>
            <p:nvPr/>
          </p:nvSpPr>
          <p:spPr>
            <a:xfrm>
              <a:off x="6464160" y="4221000"/>
              <a:ext cx="1617120" cy="1437840"/>
            </a:xfrm>
            <a:prstGeom prst="rect">
              <a:avLst/>
            </a:prstGeom>
            <a:solidFill>
              <a:srgbClr val="CC99FF"/>
            </a:solidFill>
            <a:ln w="1260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600" b="1" strike="noStrike" spc="-1">
                  <a:solidFill>
                    <a:srgbClr val="3F3F3F"/>
                  </a:solidFill>
                  <a:latin typeface="Segoe UI"/>
                  <a:ea typeface="DejaVu Sans"/>
                </a:rPr>
                <a:t>DXE IPL PEIM</a:t>
              </a:r>
              <a:endParaRPr lang="en-US" sz="1600" b="0" strike="noStrike" spc="-1">
                <a:latin typeface="Arial"/>
              </a:endParaRPr>
            </a:p>
          </p:txBody>
        </p:sp>
        <p:sp>
          <p:nvSpPr>
            <p:cNvPr id="21" name="CustomShape 18">
              <a:extLst>
                <a:ext uri="{FF2B5EF4-FFF2-40B4-BE49-F238E27FC236}">
                  <a16:creationId xmlns:a16="http://schemas.microsoft.com/office/drawing/2014/main" id="{5056443D-0D74-462A-965E-0F431882EB72}"/>
                </a:ext>
              </a:extLst>
            </p:cNvPr>
            <p:cNvSpPr/>
            <p:nvPr/>
          </p:nvSpPr>
          <p:spPr>
            <a:xfrm>
              <a:off x="6578640" y="4583160"/>
              <a:ext cx="1437840" cy="250200"/>
            </a:xfrm>
            <a:prstGeom prst="rect">
              <a:avLst/>
            </a:prstGeom>
            <a:solidFill>
              <a:srgbClr val="FFC000"/>
            </a:solidFill>
            <a:ln w="12600">
              <a:solidFill>
                <a:schemeClr val="tx1"/>
              </a:solidFill>
              <a:miter/>
            </a:ln>
          </p:spPr>
          <p:style>
            <a:lnRef idx="0">
              <a:scrgbClr r="0" g="0" b="0"/>
            </a:lnRef>
            <a:fillRef idx="0">
              <a:scrgbClr r="0" g="0" b="0"/>
            </a:fillRef>
            <a:effectRef idx="0">
              <a:scrgbClr r="0" g="0" b="0"/>
            </a:effectRef>
            <a:fontRef idx="minor"/>
          </p:style>
          <p:txBody>
            <a:bodyPr wrap="none" lIns="18000" tIns="45000" rIns="90000" bIns="45000" anchor="ctr">
              <a:noAutofit/>
            </a:bodyPr>
            <a:lstStyle/>
            <a:p>
              <a:pPr>
                <a:lnSpc>
                  <a:spcPct val="100000"/>
                </a:lnSpc>
              </a:pPr>
              <a:r>
                <a:rPr lang="en-US" sz="1400" b="1" strike="noStrike" spc="-1">
                  <a:solidFill>
                    <a:srgbClr val="3F3F3F"/>
                  </a:solidFill>
                  <a:latin typeface="Segoe UI"/>
                  <a:ea typeface="DejaVu Sans"/>
                </a:rPr>
                <a:t>PEIM Entry Point</a:t>
              </a:r>
              <a:endParaRPr lang="en-US" sz="1400" b="0" strike="noStrike" spc="-1">
                <a:latin typeface="Arial"/>
              </a:endParaRPr>
            </a:p>
          </p:txBody>
        </p:sp>
        <p:sp>
          <p:nvSpPr>
            <p:cNvPr id="22" name="CustomShape 19">
              <a:extLst>
                <a:ext uri="{FF2B5EF4-FFF2-40B4-BE49-F238E27FC236}">
                  <a16:creationId xmlns:a16="http://schemas.microsoft.com/office/drawing/2014/main" id="{48A11616-C345-46C9-9613-E6923B0A4154}"/>
                </a:ext>
              </a:extLst>
            </p:cNvPr>
            <p:cNvSpPr/>
            <p:nvPr/>
          </p:nvSpPr>
          <p:spPr>
            <a:xfrm>
              <a:off x="6580080" y="4998960"/>
              <a:ext cx="1437840" cy="250200"/>
            </a:xfrm>
            <a:prstGeom prst="rect">
              <a:avLst/>
            </a:prstGeom>
            <a:solidFill>
              <a:srgbClr val="FFC000"/>
            </a:solidFill>
            <a:ln w="12600">
              <a:solidFill>
                <a:schemeClr val="tx1"/>
              </a:solidFill>
              <a:miter/>
            </a:ln>
          </p:spPr>
          <p:style>
            <a:lnRef idx="0">
              <a:scrgbClr r="0" g="0" b="0"/>
            </a:lnRef>
            <a:fillRef idx="0">
              <a:scrgbClr r="0" g="0" b="0"/>
            </a:fillRef>
            <a:effectRef idx="0">
              <a:scrgbClr r="0" g="0" b="0"/>
            </a:effectRef>
            <a:fontRef idx="minor"/>
          </p:style>
          <p:txBody>
            <a:bodyPr wrap="none" lIns="18000" tIns="45000" rIns="90000" bIns="45000" anchor="ctr">
              <a:noAutofit/>
            </a:bodyPr>
            <a:lstStyle/>
            <a:p>
              <a:pPr algn="ctr">
                <a:lnSpc>
                  <a:spcPct val="100000"/>
                </a:lnSpc>
              </a:pPr>
              <a:r>
                <a:rPr lang="en-US" sz="1400" b="1" strike="noStrike" spc="-1">
                  <a:solidFill>
                    <a:srgbClr val="3F3F3F"/>
                  </a:solidFill>
                  <a:latin typeface="Segoe UI"/>
                  <a:ea typeface="DejaVu Sans"/>
                </a:rPr>
                <a:t>DXE IPL PPI</a:t>
              </a:r>
              <a:endParaRPr lang="en-US" sz="1400" b="0" strike="noStrike" spc="-1">
                <a:latin typeface="Arial"/>
              </a:endParaRPr>
            </a:p>
          </p:txBody>
        </p:sp>
        <p:sp>
          <p:nvSpPr>
            <p:cNvPr id="23" name="CustomShape 20">
              <a:extLst>
                <a:ext uri="{FF2B5EF4-FFF2-40B4-BE49-F238E27FC236}">
                  <a16:creationId xmlns:a16="http://schemas.microsoft.com/office/drawing/2014/main" id="{36C9682C-37AC-4DD7-A329-60D2F01550CF}"/>
                </a:ext>
              </a:extLst>
            </p:cNvPr>
            <p:cNvSpPr/>
            <p:nvPr/>
          </p:nvSpPr>
          <p:spPr>
            <a:xfrm>
              <a:off x="6581880" y="5243400"/>
              <a:ext cx="1437840" cy="250200"/>
            </a:xfrm>
            <a:prstGeom prst="rect">
              <a:avLst/>
            </a:prstGeom>
            <a:solidFill>
              <a:srgbClr val="FFC000"/>
            </a:solidFill>
            <a:ln w="12600">
              <a:solidFill>
                <a:schemeClr val="tx1"/>
              </a:solidFill>
              <a:miter/>
            </a:ln>
          </p:spPr>
          <p:style>
            <a:lnRef idx="0">
              <a:scrgbClr r="0" g="0" b="0"/>
            </a:lnRef>
            <a:fillRef idx="0">
              <a:scrgbClr r="0" g="0" b="0"/>
            </a:fillRef>
            <a:effectRef idx="0">
              <a:scrgbClr r="0" g="0" b="0"/>
            </a:effectRef>
            <a:fontRef idx="minor"/>
          </p:style>
          <p:txBody>
            <a:bodyPr wrap="none" lIns="18000" tIns="45000" rIns="90000" bIns="45000" anchor="ctr">
              <a:noAutofit/>
            </a:bodyPr>
            <a:lstStyle/>
            <a:p>
              <a:pPr algn="ctr">
                <a:lnSpc>
                  <a:spcPct val="100000"/>
                </a:lnSpc>
              </a:pPr>
              <a:r>
                <a:rPr lang="en-US" sz="1400" b="1" strike="noStrike" spc="-1">
                  <a:solidFill>
                    <a:srgbClr val="3F3F3F"/>
                  </a:solidFill>
                  <a:latin typeface="Segoe UI"/>
                  <a:ea typeface="DejaVu Sans"/>
                </a:rPr>
                <a:t>Load/Start DXE</a:t>
              </a:r>
              <a:endParaRPr lang="en-US" sz="1400" b="0" strike="noStrike" spc="-1">
                <a:latin typeface="Arial"/>
              </a:endParaRPr>
            </a:p>
          </p:txBody>
        </p:sp>
      </p:grpSp>
      <p:sp>
        <p:nvSpPr>
          <p:cNvPr id="24" name="CustomShape 21">
            <a:extLst>
              <a:ext uri="{FF2B5EF4-FFF2-40B4-BE49-F238E27FC236}">
                <a16:creationId xmlns:a16="http://schemas.microsoft.com/office/drawing/2014/main" id="{D32062B6-90B5-429B-8FC0-C7D54332F3C1}"/>
              </a:ext>
            </a:extLst>
          </p:cNvPr>
          <p:cNvSpPr/>
          <p:nvPr/>
        </p:nvSpPr>
        <p:spPr>
          <a:xfrm>
            <a:off x="2505783" y="2308120"/>
            <a:ext cx="1680480" cy="921600"/>
          </a:xfrm>
          <a:prstGeom prst="roundRect">
            <a:avLst>
              <a:gd name="adj" fmla="val 16667"/>
            </a:avLst>
          </a:prstGeom>
          <a:solidFill>
            <a:srgbClr val="FFC000"/>
          </a:solidFill>
          <a:ln w="12600">
            <a:solidFill>
              <a:schemeClr val="tx1"/>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gn="ctr">
              <a:lnSpc>
                <a:spcPct val="100000"/>
              </a:lnSpc>
            </a:pPr>
            <a:r>
              <a:rPr lang="en-US" sz="1600" b="1" strike="noStrike" spc="-1">
                <a:solidFill>
                  <a:srgbClr val="3F3F3F"/>
                </a:solidFill>
                <a:latin typeface="Segoe UI"/>
                <a:ea typeface="DejaVu Sans"/>
              </a:rPr>
              <a:t>Initialize the dispatch of the PEI Foundation</a:t>
            </a:r>
            <a:endParaRPr lang="en-US" sz="1600" b="0" strike="noStrike" spc="-1">
              <a:latin typeface="Arial"/>
            </a:endParaRPr>
          </a:p>
        </p:txBody>
      </p:sp>
      <p:sp>
        <p:nvSpPr>
          <p:cNvPr id="25" name="CustomShape 22">
            <a:extLst>
              <a:ext uri="{FF2B5EF4-FFF2-40B4-BE49-F238E27FC236}">
                <a16:creationId xmlns:a16="http://schemas.microsoft.com/office/drawing/2014/main" id="{46ECE7EA-0447-41CC-9886-4A3878C97C7F}"/>
              </a:ext>
            </a:extLst>
          </p:cNvPr>
          <p:cNvSpPr/>
          <p:nvPr/>
        </p:nvSpPr>
        <p:spPr>
          <a:xfrm>
            <a:off x="3347103" y="3232240"/>
            <a:ext cx="360" cy="304200"/>
          </a:xfrm>
          <a:custGeom>
            <a:avLst/>
            <a:gdLst/>
            <a:ahLst/>
            <a:cxnLst/>
            <a:rect l="l" t="t" r="r" b="b"/>
            <a:pathLst>
              <a:path w="21600" h="21600">
                <a:moveTo>
                  <a:pt x="0" y="0"/>
                </a:moveTo>
                <a:lnTo>
                  <a:pt x="21600" y="21600"/>
                </a:lnTo>
              </a:path>
            </a:pathLst>
          </a:custGeom>
          <a:noFill/>
          <a:ln w="38160">
            <a:solidFill>
              <a:schemeClr val="tx1"/>
            </a:solidFill>
            <a:round/>
            <a:tailEnd type="triangle" w="med" len="med"/>
          </a:ln>
        </p:spPr>
        <p:style>
          <a:lnRef idx="0">
            <a:scrgbClr r="0" g="0" b="0"/>
          </a:lnRef>
          <a:fillRef idx="0">
            <a:scrgbClr r="0" g="0" b="0"/>
          </a:fillRef>
          <a:effectRef idx="0">
            <a:scrgbClr r="0" g="0" b="0"/>
          </a:effectRef>
          <a:fontRef idx="minor"/>
        </p:style>
      </p:sp>
      <p:sp>
        <p:nvSpPr>
          <p:cNvPr id="26" name="CustomShape 23">
            <a:extLst>
              <a:ext uri="{FF2B5EF4-FFF2-40B4-BE49-F238E27FC236}">
                <a16:creationId xmlns:a16="http://schemas.microsoft.com/office/drawing/2014/main" id="{94C26152-F33A-4FF2-8C5D-1BB6D5938A29}"/>
              </a:ext>
            </a:extLst>
          </p:cNvPr>
          <p:cNvSpPr/>
          <p:nvPr/>
        </p:nvSpPr>
        <p:spPr>
          <a:xfrm>
            <a:off x="2507223" y="3538600"/>
            <a:ext cx="1680480" cy="921600"/>
          </a:xfrm>
          <a:prstGeom prst="roundRect">
            <a:avLst>
              <a:gd name="adj" fmla="val 16667"/>
            </a:avLst>
          </a:prstGeom>
          <a:solidFill>
            <a:srgbClr val="FFC000"/>
          </a:solidFill>
          <a:ln w="12600">
            <a:solidFill>
              <a:schemeClr val="tx1"/>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gn="ctr">
              <a:lnSpc>
                <a:spcPct val="100000"/>
              </a:lnSpc>
            </a:pPr>
            <a:r>
              <a:rPr lang="en-US" sz="1600" b="1" strike="noStrike" spc="-1">
                <a:solidFill>
                  <a:srgbClr val="3F3F3F"/>
                </a:solidFill>
                <a:latin typeface="Segoe UI"/>
                <a:ea typeface="DejaVu Sans"/>
              </a:rPr>
              <a:t>Invoke PEIMs</a:t>
            </a:r>
            <a:endParaRPr lang="en-US" sz="1600" b="0" strike="noStrike" spc="-1">
              <a:latin typeface="Arial"/>
            </a:endParaRPr>
          </a:p>
        </p:txBody>
      </p:sp>
      <p:sp>
        <p:nvSpPr>
          <p:cNvPr id="27" name="CustomShape 24">
            <a:extLst>
              <a:ext uri="{FF2B5EF4-FFF2-40B4-BE49-F238E27FC236}">
                <a16:creationId xmlns:a16="http://schemas.microsoft.com/office/drawing/2014/main" id="{393C42E2-A54B-4933-82CC-EEED61895C8A}"/>
              </a:ext>
            </a:extLst>
          </p:cNvPr>
          <p:cNvSpPr/>
          <p:nvPr/>
        </p:nvSpPr>
        <p:spPr>
          <a:xfrm>
            <a:off x="3348543" y="4462360"/>
            <a:ext cx="360" cy="275760"/>
          </a:xfrm>
          <a:custGeom>
            <a:avLst/>
            <a:gdLst/>
            <a:ahLst/>
            <a:cxnLst/>
            <a:rect l="l" t="t" r="r" b="b"/>
            <a:pathLst>
              <a:path w="21600" h="21600">
                <a:moveTo>
                  <a:pt x="0" y="0"/>
                </a:moveTo>
                <a:lnTo>
                  <a:pt x="21600" y="21600"/>
                </a:lnTo>
              </a:path>
            </a:pathLst>
          </a:custGeom>
          <a:noFill/>
          <a:ln w="38160">
            <a:solidFill>
              <a:schemeClr val="tx1"/>
            </a:solidFill>
            <a:round/>
            <a:tailEnd type="triangle" w="med" len="med"/>
          </a:ln>
        </p:spPr>
        <p:style>
          <a:lnRef idx="0">
            <a:scrgbClr r="0" g="0" b="0"/>
          </a:lnRef>
          <a:fillRef idx="0">
            <a:scrgbClr r="0" g="0" b="0"/>
          </a:fillRef>
          <a:effectRef idx="0">
            <a:scrgbClr r="0" g="0" b="0"/>
          </a:effectRef>
          <a:fontRef idx="minor"/>
        </p:style>
      </p:sp>
      <p:sp>
        <p:nvSpPr>
          <p:cNvPr id="28" name="CustomShape 25">
            <a:extLst>
              <a:ext uri="{FF2B5EF4-FFF2-40B4-BE49-F238E27FC236}">
                <a16:creationId xmlns:a16="http://schemas.microsoft.com/office/drawing/2014/main" id="{C8BE6180-7619-4E67-8A2D-6E0239695166}"/>
              </a:ext>
            </a:extLst>
          </p:cNvPr>
          <p:cNvSpPr/>
          <p:nvPr/>
        </p:nvSpPr>
        <p:spPr>
          <a:xfrm>
            <a:off x="2509023" y="4740280"/>
            <a:ext cx="1680480" cy="921600"/>
          </a:xfrm>
          <a:prstGeom prst="roundRect">
            <a:avLst>
              <a:gd name="adj" fmla="val 16667"/>
            </a:avLst>
          </a:prstGeom>
          <a:solidFill>
            <a:srgbClr val="FFC000"/>
          </a:solidFill>
          <a:ln w="12600">
            <a:solidFill>
              <a:schemeClr val="tx1"/>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gn="ctr">
              <a:lnSpc>
                <a:spcPct val="100000"/>
              </a:lnSpc>
            </a:pPr>
            <a:r>
              <a:rPr lang="en-US" sz="1600" b="1" strike="noStrike" spc="-1">
                <a:solidFill>
                  <a:srgbClr val="3F3F3F"/>
                </a:solidFill>
                <a:latin typeface="Segoe UI"/>
                <a:ea typeface="DejaVu Sans"/>
              </a:rPr>
              <a:t>Hand off to DXE IPL PPI</a:t>
            </a:r>
            <a:endParaRPr lang="en-US" sz="1600" b="0" strike="noStrike" spc="-1">
              <a:latin typeface="Arial"/>
            </a:endParaRPr>
          </a:p>
        </p:txBody>
      </p:sp>
      <p:sp>
        <p:nvSpPr>
          <p:cNvPr id="29" name="CustomShape 26">
            <a:extLst>
              <a:ext uri="{FF2B5EF4-FFF2-40B4-BE49-F238E27FC236}">
                <a16:creationId xmlns:a16="http://schemas.microsoft.com/office/drawing/2014/main" id="{236DCCEE-B260-4A45-8F00-D8AAB0E046F1}"/>
              </a:ext>
            </a:extLst>
          </p:cNvPr>
          <p:cNvSpPr/>
          <p:nvPr/>
        </p:nvSpPr>
        <p:spPr>
          <a:xfrm>
            <a:off x="4180503" y="2938480"/>
            <a:ext cx="3102840" cy="934560"/>
          </a:xfrm>
          <a:custGeom>
            <a:avLst/>
            <a:gdLst/>
            <a:ahLst/>
            <a:cxnLst/>
            <a:rect l="l" t="t" r="r" b="b"/>
            <a:pathLst>
              <a:path w="1956" h="590">
                <a:moveTo>
                  <a:pt x="0" y="590"/>
                </a:moveTo>
                <a:cubicBezTo>
                  <a:pt x="275" y="391"/>
                  <a:pt x="551" y="192"/>
                  <a:pt x="877" y="96"/>
                </a:cubicBezTo>
                <a:cubicBezTo>
                  <a:pt x="1203" y="0"/>
                  <a:pt x="1779" y="11"/>
                  <a:pt x="1956" y="14"/>
                </a:cubicBezTo>
              </a:path>
            </a:pathLst>
          </a:custGeom>
          <a:noFill/>
          <a:ln w="38160">
            <a:solidFill>
              <a:schemeClr val="tx1"/>
            </a:solidFill>
            <a:round/>
            <a:tailEnd type="triangle" w="med" len="med"/>
          </a:ln>
        </p:spPr>
        <p:style>
          <a:lnRef idx="0">
            <a:scrgbClr r="0" g="0" b="0"/>
          </a:lnRef>
          <a:fillRef idx="0">
            <a:scrgbClr r="0" g="0" b="0"/>
          </a:fillRef>
          <a:effectRef idx="0">
            <a:scrgbClr r="0" g="0" b="0"/>
          </a:effectRef>
          <a:fontRef idx="minor"/>
        </p:style>
      </p:sp>
      <p:sp>
        <p:nvSpPr>
          <p:cNvPr id="30" name="CustomShape 27">
            <a:extLst>
              <a:ext uri="{FF2B5EF4-FFF2-40B4-BE49-F238E27FC236}">
                <a16:creationId xmlns:a16="http://schemas.microsoft.com/office/drawing/2014/main" id="{64A3F20E-6B88-42A8-8F3C-50849A2279EF}"/>
              </a:ext>
            </a:extLst>
          </p:cNvPr>
          <p:cNvSpPr/>
          <p:nvPr/>
        </p:nvSpPr>
        <p:spPr>
          <a:xfrm>
            <a:off x="4223343" y="3076720"/>
            <a:ext cx="3060000" cy="1061640"/>
          </a:xfrm>
          <a:custGeom>
            <a:avLst/>
            <a:gdLst/>
            <a:ahLst/>
            <a:cxnLst/>
            <a:rect l="l" t="t" r="r" b="b"/>
            <a:pathLst>
              <a:path w="1929" h="670">
                <a:moveTo>
                  <a:pt x="1929" y="0"/>
                </a:moveTo>
                <a:cubicBezTo>
                  <a:pt x="1678" y="241"/>
                  <a:pt x="1427" y="482"/>
                  <a:pt x="1106" y="576"/>
                </a:cubicBezTo>
                <a:cubicBezTo>
                  <a:pt x="785" y="670"/>
                  <a:pt x="164" y="544"/>
                  <a:pt x="0" y="567"/>
                </a:cubicBezTo>
              </a:path>
            </a:pathLst>
          </a:custGeom>
          <a:noFill/>
          <a:ln w="38160">
            <a:solidFill>
              <a:schemeClr val="tx1"/>
            </a:solidFill>
            <a:round/>
            <a:tailEnd type="triangle" w="med" len="med"/>
          </a:ln>
        </p:spPr>
        <p:style>
          <a:lnRef idx="0">
            <a:scrgbClr r="0" g="0" b="0"/>
          </a:lnRef>
          <a:fillRef idx="0">
            <a:scrgbClr r="0" g="0" b="0"/>
          </a:fillRef>
          <a:effectRef idx="0">
            <a:scrgbClr r="0" g="0" b="0"/>
          </a:effectRef>
          <a:fontRef idx="minor"/>
        </p:style>
      </p:sp>
      <p:sp>
        <p:nvSpPr>
          <p:cNvPr id="31" name="Line 28">
            <a:extLst>
              <a:ext uri="{FF2B5EF4-FFF2-40B4-BE49-F238E27FC236}">
                <a16:creationId xmlns:a16="http://schemas.microsoft.com/office/drawing/2014/main" id="{190FEA7D-607A-4089-A11D-14BE8F0E5220}"/>
              </a:ext>
            </a:extLst>
          </p:cNvPr>
          <p:cNvSpPr/>
          <p:nvPr/>
        </p:nvSpPr>
        <p:spPr>
          <a:xfrm>
            <a:off x="4267623" y="4194160"/>
            <a:ext cx="2975040" cy="639720"/>
          </a:xfrm>
          <a:prstGeom prst="line">
            <a:avLst/>
          </a:prstGeom>
          <a:ln w="38160">
            <a:solidFill>
              <a:schemeClr val="tx1"/>
            </a:solidFill>
            <a:round/>
            <a:tailEnd type="triangle" w="med" len="med"/>
          </a:ln>
        </p:spPr>
        <p:style>
          <a:lnRef idx="0">
            <a:scrgbClr r="0" g="0" b="0"/>
          </a:lnRef>
          <a:fillRef idx="0">
            <a:scrgbClr r="0" g="0" b="0"/>
          </a:fillRef>
          <a:effectRef idx="0">
            <a:scrgbClr r="0" g="0" b="0"/>
          </a:effectRef>
          <a:fontRef idx="minor"/>
        </p:style>
      </p:sp>
      <p:sp>
        <p:nvSpPr>
          <p:cNvPr id="32" name="CustomShape 29">
            <a:extLst>
              <a:ext uri="{FF2B5EF4-FFF2-40B4-BE49-F238E27FC236}">
                <a16:creationId xmlns:a16="http://schemas.microsoft.com/office/drawing/2014/main" id="{10800EB9-ECE8-4F56-9F9F-61A4A219783F}"/>
              </a:ext>
            </a:extLst>
          </p:cNvPr>
          <p:cNvSpPr/>
          <p:nvPr/>
        </p:nvSpPr>
        <p:spPr>
          <a:xfrm rot="5400000" flipH="1" flipV="1">
            <a:off x="5175183" y="3502240"/>
            <a:ext cx="332640" cy="3982320"/>
          </a:xfrm>
          <a:prstGeom prst="bentConnector4">
            <a:avLst>
              <a:gd name="adj1" fmla="val -68245"/>
              <a:gd name="adj2" fmla="val 60556"/>
            </a:avLst>
          </a:prstGeom>
          <a:noFill/>
          <a:ln w="38160">
            <a:solidFill>
              <a:schemeClr val="tx1"/>
            </a:solidFill>
            <a:miter/>
            <a:tailEnd type="triangle" w="med" len="med"/>
          </a:ln>
        </p:spPr>
        <p:style>
          <a:lnRef idx="0">
            <a:scrgbClr r="0" g="0" b="0"/>
          </a:lnRef>
          <a:fillRef idx="0">
            <a:scrgbClr r="0" g="0" b="0"/>
          </a:fillRef>
          <a:effectRef idx="0">
            <a:scrgbClr r="0" g="0" b="0"/>
          </a:effectRef>
          <a:fontRef idx="minor"/>
        </p:style>
      </p:sp>
      <p:sp>
        <p:nvSpPr>
          <p:cNvPr id="33" name="CustomShape 30">
            <a:extLst>
              <a:ext uri="{FF2B5EF4-FFF2-40B4-BE49-F238E27FC236}">
                <a16:creationId xmlns:a16="http://schemas.microsoft.com/office/drawing/2014/main" id="{01C2F112-94F5-4750-B9E3-A6470F4B1316}"/>
              </a:ext>
            </a:extLst>
          </p:cNvPr>
          <p:cNvSpPr/>
          <p:nvPr/>
        </p:nvSpPr>
        <p:spPr>
          <a:xfrm>
            <a:off x="4223343" y="4354360"/>
            <a:ext cx="3060000" cy="796320"/>
          </a:xfrm>
          <a:custGeom>
            <a:avLst/>
            <a:gdLst/>
            <a:ahLst/>
            <a:cxnLst/>
            <a:rect l="l" t="t" r="r" b="b"/>
            <a:pathLst>
              <a:path w="1929" h="503">
                <a:moveTo>
                  <a:pt x="1929" y="384"/>
                </a:moveTo>
                <a:cubicBezTo>
                  <a:pt x="1559" y="443"/>
                  <a:pt x="1190" y="503"/>
                  <a:pt x="869" y="439"/>
                </a:cubicBezTo>
                <a:cubicBezTo>
                  <a:pt x="548" y="375"/>
                  <a:pt x="136" y="58"/>
                  <a:pt x="0" y="0"/>
                </a:cubicBezTo>
              </a:path>
            </a:pathLst>
          </a:custGeom>
          <a:noFill/>
          <a:ln w="38160">
            <a:solidFill>
              <a:schemeClr val="tx1"/>
            </a:solidFill>
            <a:round/>
            <a:tailEnd type="triangle" w="med" len="med"/>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9489625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Dispatching</a:t>
            </a:r>
            <a:endParaRPr lang="en-US" dirty="0"/>
          </a:p>
        </p:txBody>
      </p:sp>
      <p:grpSp>
        <p:nvGrpSpPr>
          <p:cNvPr id="34" name="Group 2">
            <a:extLst>
              <a:ext uri="{FF2B5EF4-FFF2-40B4-BE49-F238E27FC236}">
                <a16:creationId xmlns:a16="http://schemas.microsoft.com/office/drawing/2014/main" id="{38BCF5A9-231E-4112-9013-5E59B188F5A0}"/>
              </a:ext>
            </a:extLst>
          </p:cNvPr>
          <p:cNvGrpSpPr/>
          <p:nvPr/>
        </p:nvGrpSpPr>
        <p:grpSpPr>
          <a:xfrm>
            <a:off x="2192554" y="1512526"/>
            <a:ext cx="7486200" cy="2590560"/>
            <a:chOff x="755640" y="1628640"/>
            <a:chExt cx="7486200" cy="2590560"/>
          </a:xfrm>
        </p:grpSpPr>
        <p:grpSp>
          <p:nvGrpSpPr>
            <p:cNvPr id="35" name="Group 3">
              <a:extLst>
                <a:ext uri="{FF2B5EF4-FFF2-40B4-BE49-F238E27FC236}">
                  <a16:creationId xmlns:a16="http://schemas.microsoft.com/office/drawing/2014/main" id="{94BB29BE-ACE7-4541-81CA-4C12FCDC3254}"/>
                </a:ext>
              </a:extLst>
            </p:cNvPr>
            <p:cNvGrpSpPr/>
            <p:nvPr/>
          </p:nvGrpSpPr>
          <p:grpSpPr>
            <a:xfrm>
              <a:off x="755640" y="2421000"/>
              <a:ext cx="1294920" cy="1798200"/>
              <a:chOff x="755640" y="2421000"/>
              <a:chExt cx="1294920" cy="1798200"/>
            </a:xfrm>
          </p:grpSpPr>
          <p:sp>
            <p:nvSpPr>
              <p:cNvPr id="60" name="CustomShape 4">
                <a:extLst>
                  <a:ext uri="{FF2B5EF4-FFF2-40B4-BE49-F238E27FC236}">
                    <a16:creationId xmlns:a16="http://schemas.microsoft.com/office/drawing/2014/main" id="{4B78A3B7-E480-44EF-B22E-97A389E069AC}"/>
                  </a:ext>
                </a:extLst>
              </p:cNvPr>
              <p:cNvSpPr/>
              <p:nvPr/>
            </p:nvSpPr>
            <p:spPr>
              <a:xfrm>
                <a:off x="755640" y="2421000"/>
                <a:ext cx="1294920" cy="1798200"/>
              </a:xfrm>
              <a:prstGeom prst="rect">
                <a:avLst/>
              </a:prstGeom>
              <a:solidFill>
                <a:srgbClr val="FFFFCC"/>
              </a:solidFill>
              <a:ln w="9360" cap="rnd">
                <a:solidFill>
                  <a:srgbClr val="000000"/>
                </a:solidFill>
                <a:custDash>
                  <a:ds d="1700000" sp="1300000"/>
                  <a:ds d="100000" sp="1300000"/>
                </a:custDash>
                <a:miter/>
              </a:ln>
            </p:spPr>
            <p:style>
              <a:lnRef idx="0">
                <a:scrgbClr r="0" g="0" b="0"/>
              </a:lnRef>
              <a:fillRef idx="0">
                <a:scrgbClr r="0" g="0" b="0"/>
              </a:fillRef>
              <a:effectRef idx="0">
                <a:scrgbClr r="0" g="0" b="0"/>
              </a:effectRef>
              <a:fontRef idx="minor"/>
            </p:style>
          </p:sp>
          <p:sp>
            <p:nvSpPr>
              <p:cNvPr id="61" name="CustomShape 5">
                <a:extLst>
                  <a:ext uri="{FF2B5EF4-FFF2-40B4-BE49-F238E27FC236}">
                    <a16:creationId xmlns:a16="http://schemas.microsoft.com/office/drawing/2014/main" id="{75F48E99-039D-4271-8877-9D727E953A3F}"/>
                  </a:ext>
                </a:extLst>
              </p:cNvPr>
              <p:cNvSpPr/>
              <p:nvPr/>
            </p:nvSpPr>
            <p:spPr>
              <a:xfrm>
                <a:off x="1222200" y="3860640"/>
                <a:ext cx="750240" cy="30888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TRAM</a:t>
                </a:r>
                <a:endParaRPr lang="en-US" sz="1800" b="0" strike="noStrike" spc="-1">
                  <a:latin typeface="Arial"/>
                </a:endParaRPr>
              </a:p>
            </p:txBody>
          </p:sp>
          <p:sp>
            <p:nvSpPr>
              <p:cNvPr id="62" name="CustomShape 6">
                <a:extLst>
                  <a:ext uri="{FF2B5EF4-FFF2-40B4-BE49-F238E27FC236}">
                    <a16:creationId xmlns:a16="http://schemas.microsoft.com/office/drawing/2014/main" id="{76ED1C9F-A743-4F68-9EA7-B24A7A2F8854}"/>
                  </a:ext>
                </a:extLst>
              </p:cNvPr>
              <p:cNvSpPr/>
              <p:nvPr/>
            </p:nvSpPr>
            <p:spPr>
              <a:xfrm>
                <a:off x="930240" y="2573280"/>
                <a:ext cx="966240" cy="1140840"/>
              </a:xfrm>
              <a:prstGeom prst="rect">
                <a:avLst/>
              </a:prstGeom>
              <a:solidFill>
                <a:srgbClr val="FF6600"/>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00000"/>
                  </a:lnSpc>
                </a:pPr>
                <a:r>
                  <a:rPr lang="en-US" sz="2000" b="0" strike="noStrike" spc="-1">
                    <a:solidFill>
                      <a:srgbClr val="99CCFF"/>
                    </a:solidFill>
                    <a:latin typeface="Arial"/>
                    <a:ea typeface="新細明體"/>
                  </a:rPr>
                  <a:t>B</a:t>
                </a:r>
                <a:r>
                  <a:rPr lang="en-US" sz="1600" b="0" strike="noStrike" spc="-1">
                    <a:solidFill>
                      <a:srgbClr val="FFFFFF"/>
                    </a:solidFill>
                    <a:latin typeface="Arial"/>
                    <a:ea typeface="新細明體"/>
                  </a:rPr>
                  <a:t>oot</a:t>
                </a:r>
                <a:endParaRPr lang="en-US" sz="1600" b="0" strike="noStrike" spc="-1">
                  <a:latin typeface="Arial"/>
                </a:endParaRPr>
              </a:p>
              <a:p>
                <a:pPr>
                  <a:lnSpc>
                    <a:spcPct val="100000"/>
                  </a:lnSpc>
                </a:pPr>
                <a:r>
                  <a:rPr lang="en-US" sz="2000" b="0" strike="noStrike" spc="-1">
                    <a:solidFill>
                      <a:srgbClr val="99CCFF"/>
                    </a:solidFill>
                    <a:latin typeface="Arial"/>
                    <a:ea typeface="新細明體"/>
                  </a:rPr>
                  <a:t>F</a:t>
                </a:r>
                <a:r>
                  <a:rPr lang="en-US" sz="1600" b="0" strike="noStrike" spc="-1">
                    <a:solidFill>
                      <a:srgbClr val="FFFFFF"/>
                    </a:solidFill>
                    <a:latin typeface="Arial"/>
                    <a:ea typeface="新細明體"/>
                  </a:rPr>
                  <a:t>irmware</a:t>
                </a:r>
                <a:endParaRPr lang="en-US" sz="1600" b="0" strike="noStrike" spc="-1">
                  <a:latin typeface="Arial"/>
                </a:endParaRPr>
              </a:p>
              <a:p>
                <a:pPr>
                  <a:lnSpc>
                    <a:spcPct val="100000"/>
                  </a:lnSpc>
                </a:pPr>
                <a:r>
                  <a:rPr lang="en-US" sz="2000" b="0" strike="noStrike" spc="-1">
                    <a:solidFill>
                      <a:srgbClr val="99CCFF"/>
                    </a:solidFill>
                    <a:latin typeface="Arial"/>
                    <a:ea typeface="新細明體"/>
                  </a:rPr>
                  <a:t>V</a:t>
                </a:r>
                <a:r>
                  <a:rPr lang="en-US" sz="1600" b="0" strike="noStrike" spc="-1">
                    <a:solidFill>
                      <a:srgbClr val="FFFFFF"/>
                    </a:solidFill>
                    <a:latin typeface="Arial"/>
                    <a:ea typeface="新細明體"/>
                  </a:rPr>
                  <a:t>olume</a:t>
                </a:r>
                <a:endParaRPr lang="en-US" sz="1600" b="0" strike="noStrike" spc="-1">
                  <a:latin typeface="Arial"/>
                </a:endParaRPr>
              </a:p>
            </p:txBody>
          </p:sp>
        </p:grpSp>
        <p:grpSp>
          <p:nvGrpSpPr>
            <p:cNvPr id="36" name="Group 7">
              <a:extLst>
                <a:ext uri="{FF2B5EF4-FFF2-40B4-BE49-F238E27FC236}">
                  <a16:creationId xmlns:a16="http://schemas.microsoft.com/office/drawing/2014/main" id="{E974ABCF-F466-482B-9A25-852DC18A9CAA}"/>
                </a:ext>
              </a:extLst>
            </p:cNvPr>
            <p:cNvGrpSpPr/>
            <p:nvPr/>
          </p:nvGrpSpPr>
          <p:grpSpPr>
            <a:xfrm>
              <a:off x="2627280" y="1628640"/>
              <a:ext cx="5614560" cy="2518920"/>
              <a:chOff x="2627280" y="1628640"/>
              <a:chExt cx="5614560" cy="2518920"/>
            </a:xfrm>
          </p:grpSpPr>
          <p:sp>
            <p:nvSpPr>
              <p:cNvPr id="56" name="CustomShape 8">
                <a:extLst>
                  <a:ext uri="{FF2B5EF4-FFF2-40B4-BE49-F238E27FC236}">
                    <a16:creationId xmlns:a16="http://schemas.microsoft.com/office/drawing/2014/main" id="{02E7145E-F9A1-4DCD-8962-BAC35AE533A8}"/>
                  </a:ext>
                </a:extLst>
              </p:cNvPr>
              <p:cNvSpPr/>
              <p:nvPr/>
            </p:nvSpPr>
            <p:spPr>
              <a:xfrm>
                <a:off x="2627280" y="1628640"/>
                <a:ext cx="5614560" cy="2518920"/>
              </a:xfrm>
              <a:prstGeom prst="rect">
                <a:avLst/>
              </a:prstGeom>
              <a:solidFill>
                <a:srgbClr val="3B6A4D"/>
              </a:solidFill>
              <a:ln w="9360">
                <a:solidFill>
                  <a:srgbClr val="CCCCFF"/>
                </a:solidFill>
                <a:miter/>
              </a:ln>
            </p:spPr>
            <p:style>
              <a:lnRef idx="0">
                <a:scrgbClr r="0" g="0" b="0"/>
              </a:lnRef>
              <a:fillRef idx="0">
                <a:scrgbClr r="0" g="0" b="0"/>
              </a:fillRef>
              <a:effectRef idx="0">
                <a:scrgbClr r="0" g="0" b="0"/>
              </a:effectRef>
              <a:fontRef idx="minor"/>
            </p:style>
          </p:sp>
          <p:grpSp>
            <p:nvGrpSpPr>
              <p:cNvPr id="57" name="Group 9">
                <a:extLst>
                  <a:ext uri="{FF2B5EF4-FFF2-40B4-BE49-F238E27FC236}">
                    <a16:creationId xmlns:a16="http://schemas.microsoft.com/office/drawing/2014/main" id="{5C43C7B8-1A57-439D-9138-822E04762762}"/>
                  </a:ext>
                </a:extLst>
              </p:cNvPr>
              <p:cNvGrpSpPr/>
              <p:nvPr/>
            </p:nvGrpSpPr>
            <p:grpSpPr>
              <a:xfrm>
                <a:off x="2698920" y="1735200"/>
                <a:ext cx="1870920" cy="683640"/>
                <a:chOff x="2698920" y="1735200"/>
                <a:chExt cx="1870920" cy="683640"/>
              </a:xfrm>
            </p:grpSpPr>
            <p:sp>
              <p:nvSpPr>
                <p:cNvPr id="58" name="CustomShape 10">
                  <a:extLst>
                    <a:ext uri="{FF2B5EF4-FFF2-40B4-BE49-F238E27FC236}">
                      <a16:creationId xmlns:a16="http://schemas.microsoft.com/office/drawing/2014/main" id="{AA9BD0C7-049A-4D2E-A958-C26FD64BAFDC}"/>
                    </a:ext>
                  </a:extLst>
                </p:cNvPr>
                <p:cNvSpPr/>
                <p:nvPr/>
              </p:nvSpPr>
              <p:spPr>
                <a:xfrm>
                  <a:off x="2771640" y="1735200"/>
                  <a:ext cx="1750320" cy="68364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 Core</a:t>
                  </a:r>
                  <a:endParaRPr lang="en-US" sz="1800" b="0" strike="noStrike" spc="-1">
                    <a:latin typeface="Arial"/>
                  </a:endParaRPr>
                </a:p>
              </p:txBody>
            </p:sp>
            <p:sp>
              <p:nvSpPr>
                <p:cNvPr id="59" name="CustomShape 11">
                  <a:extLst>
                    <a:ext uri="{FF2B5EF4-FFF2-40B4-BE49-F238E27FC236}">
                      <a16:creationId xmlns:a16="http://schemas.microsoft.com/office/drawing/2014/main" id="{7A8A73A3-2222-4F7C-9412-6B656F0A83D2}"/>
                    </a:ext>
                  </a:extLst>
                </p:cNvPr>
                <p:cNvSpPr/>
                <p:nvPr/>
              </p:nvSpPr>
              <p:spPr>
                <a:xfrm>
                  <a:off x="2698920" y="1806480"/>
                  <a:ext cx="1870920" cy="574200"/>
                </a:xfrm>
                <a:prstGeom prst="ellipse">
                  <a:avLst/>
                </a:prstGeom>
                <a:noFill/>
                <a:ln w="9360">
                  <a:solidFill>
                    <a:srgbClr val="CCCCFF"/>
                  </a:solidFill>
                  <a:miter/>
                </a:ln>
              </p:spPr>
              <p:style>
                <a:lnRef idx="0">
                  <a:scrgbClr r="0" g="0" b="0"/>
                </a:lnRef>
                <a:fillRef idx="0">
                  <a:scrgbClr r="0" g="0" b="0"/>
                </a:fillRef>
                <a:effectRef idx="0">
                  <a:scrgbClr r="0" g="0" b="0"/>
                </a:effectRef>
                <a:fontRef idx="minor"/>
              </p:style>
            </p:sp>
          </p:grpSp>
        </p:grpSp>
        <p:sp>
          <p:nvSpPr>
            <p:cNvPr id="37" name="CustomShape 12">
              <a:extLst>
                <a:ext uri="{FF2B5EF4-FFF2-40B4-BE49-F238E27FC236}">
                  <a16:creationId xmlns:a16="http://schemas.microsoft.com/office/drawing/2014/main" id="{1430CEFE-73C6-4161-9964-D5498E0201C4}"/>
                </a:ext>
              </a:extLst>
            </p:cNvPr>
            <p:cNvSpPr/>
            <p:nvPr/>
          </p:nvSpPr>
          <p:spPr>
            <a:xfrm>
              <a:off x="757080" y="1630440"/>
              <a:ext cx="1293120" cy="607320"/>
            </a:xfrm>
            <a:prstGeom prst="rect">
              <a:avLst/>
            </a:prstGeom>
            <a:solidFill>
              <a:srgbClr val="6699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1" strike="noStrike" spc="-1">
                  <a:solidFill>
                    <a:srgbClr val="FFFFFF"/>
                  </a:solidFill>
                  <a:latin typeface="Arial"/>
                  <a:ea typeface="新細明體"/>
                </a:rPr>
                <a:t>SEC</a:t>
              </a:r>
              <a:endParaRPr lang="en-US" sz="2800" b="0" strike="noStrike" spc="-1">
                <a:latin typeface="Arial"/>
              </a:endParaRPr>
            </a:p>
          </p:txBody>
        </p:sp>
        <p:grpSp>
          <p:nvGrpSpPr>
            <p:cNvPr id="38" name="Group 13">
              <a:extLst>
                <a:ext uri="{FF2B5EF4-FFF2-40B4-BE49-F238E27FC236}">
                  <a16:creationId xmlns:a16="http://schemas.microsoft.com/office/drawing/2014/main" id="{61796F12-673E-465C-8268-B10BB8528354}"/>
                </a:ext>
              </a:extLst>
            </p:cNvPr>
            <p:cNvGrpSpPr/>
            <p:nvPr/>
          </p:nvGrpSpPr>
          <p:grpSpPr>
            <a:xfrm>
              <a:off x="2700360" y="3070080"/>
              <a:ext cx="1870920" cy="898200"/>
              <a:chOff x="2700360" y="3070080"/>
              <a:chExt cx="1870920" cy="898200"/>
            </a:xfrm>
          </p:grpSpPr>
          <p:grpSp>
            <p:nvGrpSpPr>
              <p:cNvPr id="52" name="Group 14">
                <a:extLst>
                  <a:ext uri="{FF2B5EF4-FFF2-40B4-BE49-F238E27FC236}">
                    <a16:creationId xmlns:a16="http://schemas.microsoft.com/office/drawing/2014/main" id="{DBFDAF88-C87A-423A-A105-B50B681F7F6A}"/>
                  </a:ext>
                </a:extLst>
              </p:cNvPr>
              <p:cNvGrpSpPr/>
              <p:nvPr/>
            </p:nvGrpSpPr>
            <p:grpSpPr>
              <a:xfrm>
                <a:off x="2700360" y="3284640"/>
                <a:ext cx="1870920" cy="683640"/>
                <a:chOff x="2700360" y="3284640"/>
                <a:chExt cx="1870920" cy="683640"/>
              </a:xfrm>
            </p:grpSpPr>
            <p:sp>
              <p:nvSpPr>
                <p:cNvPr id="54" name="CustomShape 15">
                  <a:extLst>
                    <a:ext uri="{FF2B5EF4-FFF2-40B4-BE49-F238E27FC236}">
                      <a16:creationId xmlns:a16="http://schemas.microsoft.com/office/drawing/2014/main" id="{C7692CF6-31D6-42A1-8F6C-8767AFB6DE92}"/>
                    </a:ext>
                  </a:extLst>
                </p:cNvPr>
                <p:cNvSpPr/>
                <p:nvPr/>
              </p:nvSpPr>
              <p:spPr>
                <a:xfrm>
                  <a:off x="2773440" y="3284640"/>
                  <a:ext cx="1750320" cy="68364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000" b="1" strike="noStrike" spc="-1">
                      <a:solidFill>
                        <a:srgbClr val="FFFFFF"/>
                      </a:solidFill>
                      <a:latin typeface="Arial"/>
                      <a:ea typeface="新細明體"/>
                    </a:rPr>
                    <a:t>PEI Dispatcher</a:t>
                  </a:r>
                  <a:endParaRPr lang="en-US" sz="2000" b="0" strike="noStrike" spc="-1">
                    <a:latin typeface="Arial"/>
                  </a:endParaRPr>
                </a:p>
              </p:txBody>
            </p:sp>
            <p:sp>
              <p:nvSpPr>
                <p:cNvPr id="55" name="CustomShape 16">
                  <a:extLst>
                    <a:ext uri="{FF2B5EF4-FFF2-40B4-BE49-F238E27FC236}">
                      <a16:creationId xmlns:a16="http://schemas.microsoft.com/office/drawing/2014/main" id="{7CD96224-DEB2-4312-9CB5-0AD04A072FC1}"/>
                    </a:ext>
                  </a:extLst>
                </p:cNvPr>
                <p:cNvSpPr/>
                <p:nvPr/>
              </p:nvSpPr>
              <p:spPr>
                <a:xfrm>
                  <a:off x="2700360" y="3355920"/>
                  <a:ext cx="1870920" cy="574200"/>
                </a:xfrm>
                <a:prstGeom prst="ellipse">
                  <a:avLst/>
                </a:prstGeom>
                <a:noFill/>
                <a:ln w="9360">
                  <a:solidFill>
                    <a:srgbClr val="CCCCFF"/>
                  </a:solidFill>
                  <a:miter/>
                </a:ln>
              </p:spPr>
              <p:style>
                <a:lnRef idx="0">
                  <a:scrgbClr r="0" g="0" b="0"/>
                </a:lnRef>
                <a:fillRef idx="0">
                  <a:scrgbClr r="0" g="0" b="0"/>
                </a:fillRef>
                <a:effectRef idx="0">
                  <a:scrgbClr r="0" g="0" b="0"/>
                </a:effectRef>
                <a:fontRef idx="minor"/>
              </p:style>
            </p:sp>
          </p:grpSp>
          <p:sp>
            <p:nvSpPr>
              <p:cNvPr id="53" name="Line 17">
                <a:extLst>
                  <a:ext uri="{FF2B5EF4-FFF2-40B4-BE49-F238E27FC236}">
                    <a16:creationId xmlns:a16="http://schemas.microsoft.com/office/drawing/2014/main" id="{AABF5A48-2EEF-491E-92AE-2D71ED22777B}"/>
                  </a:ext>
                </a:extLst>
              </p:cNvPr>
              <p:cNvSpPr/>
              <p:nvPr/>
            </p:nvSpPr>
            <p:spPr>
              <a:xfrm>
                <a:off x="3635280" y="3070080"/>
                <a:ext cx="1440" cy="21420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grpSp>
        <p:grpSp>
          <p:nvGrpSpPr>
            <p:cNvPr id="39" name="Group 18">
              <a:extLst>
                <a:ext uri="{FF2B5EF4-FFF2-40B4-BE49-F238E27FC236}">
                  <a16:creationId xmlns:a16="http://schemas.microsoft.com/office/drawing/2014/main" id="{CDA1DA33-61C8-4A34-A21D-49DD471FE4A8}"/>
                </a:ext>
              </a:extLst>
            </p:cNvPr>
            <p:cNvGrpSpPr/>
            <p:nvPr/>
          </p:nvGrpSpPr>
          <p:grpSpPr>
            <a:xfrm>
              <a:off x="2700360" y="1844640"/>
              <a:ext cx="5182560" cy="2158560"/>
              <a:chOff x="2700360" y="1844640"/>
              <a:chExt cx="5182560" cy="2158560"/>
            </a:xfrm>
          </p:grpSpPr>
          <p:sp>
            <p:nvSpPr>
              <p:cNvPr id="40" name="Line 19">
                <a:extLst>
                  <a:ext uri="{FF2B5EF4-FFF2-40B4-BE49-F238E27FC236}">
                    <a16:creationId xmlns:a16="http://schemas.microsoft.com/office/drawing/2014/main" id="{5CFC96F4-1E7F-4731-BA11-EB8BE117BEE9}"/>
                  </a:ext>
                </a:extLst>
              </p:cNvPr>
              <p:cNvSpPr/>
              <p:nvPr/>
            </p:nvSpPr>
            <p:spPr>
              <a:xfrm>
                <a:off x="3635280" y="2420640"/>
                <a:ext cx="1440" cy="21600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sp>
            <p:nvSpPr>
              <p:cNvPr id="41" name="CustomShape 20">
                <a:extLst>
                  <a:ext uri="{FF2B5EF4-FFF2-40B4-BE49-F238E27FC236}">
                    <a16:creationId xmlns:a16="http://schemas.microsoft.com/office/drawing/2014/main" id="{D49B9C9B-F3A7-4E0B-A193-CD7014806281}"/>
                  </a:ext>
                </a:extLst>
              </p:cNvPr>
              <p:cNvSpPr/>
              <p:nvPr/>
            </p:nvSpPr>
            <p:spPr>
              <a:xfrm>
                <a:off x="2700360" y="2781360"/>
                <a:ext cx="1870920" cy="213840"/>
              </a:xfrm>
              <a:prstGeom prst="rect">
                <a:avLst/>
              </a:prstGeom>
              <a:noFill/>
              <a:ln w="9360">
                <a:solidFill>
                  <a:srgbClr val="CCCCFF"/>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600" b="1" strike="noStrike" spc="-1">
                    <a:solidFill>
                      <a:srgbClr val="FFCCCC"/>
                    </a:solidFill>
                    <a:latin typeface="Arial"/>
                    <a:ea typeface="新細明體"/>
                  </a:rPr>
                  <a:t>Initialization</a:t>
                </a:r>
                <a:endParaRPr lang="en-US" sz="1600" b="0" strike="noStrike" spc="-1">
                  <a:latin typeface="Arial"/>
                </a:endParaRPr>
              </a:p>
            </p:txBody>
          </p:sp>
          <p:grpSp>
            <p:nvGrpSpPr>
              <p:cNvPr id="42" name="Group 21">
                <a:extLst>
                  <a:ext uri="{FF2B5EF4-FFF2-40B4-BE49-F238E27FC236}">
                    <a16:creationId xmlns:a16="http://schemas.microsoft.com/office/drawing/2014/main" id="{3CFAF7EE-CB58-4C58-964D-10572936FFB6}"/>
                  </a:ext>
                </a:extLst>
              </p:cNvPr>
              <p:cNvGrpSpPr/>
              <p:nvPr/>
            </p:nvGrpSpPr>
            <p:grpSpPr>
              <a:xfrm>
                <a:off x="5292720" y="1844640"/>
                <a:ext cx="2590200" cy="2158560"/>
                <a:chOff x="5292720" y="1844640"/>
                <a:chExt cx="2590200" cy="2158560"/>
              </a:xfrm>
            </p:grpSpPr>
            <p:sp>
              <p:nvSpPr>
                <p:cNvPr id="45" name="CustomShape 22">
                  <a:extLst>
                    <a:ext uri="{FF2B5EF4-FFF2-40B4-BE49-F238E27FC236}">
                      <a16:creationId xmlns:a16="http://schemas.microsoft.com/office/drawing/2014/main" id="{53BC1411-9444-4C5C-B8C8-07EFA317BBE9}"/>
                    </a:ext>
                  </a:extLst>
                </p:cNvPr>
                <p:cNvSpPr/>
                <p:nvPr/>
              </p:nvSpPr>
              <p:spPr>
                <a:xfrm>
                  <a:off x="5369040" y="227808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dirty="0">
                      <a:solidFill>
                        <a:srgbClr val="000000"/>
                      </a:solidFill>
                      <a:latin typeface="Arial"/>
                      <a:ea typeface="新細明體"/>
                    </a:rPr>
                    <a:t>PPI Database</a:t>
                  </a:r>
                  <a:endParaRPr lang="en-US" sz="1600" b="0" strike="noStrike" spc="-1" dirty="0">
                    <a:latin typeface="Arial"/>
                  </a:endParaRPr>
                </a:p>
              </p:txBody>
            </p:sp>
            <p:sp>
              <p:nvSpPr>
                <p:cNvPr id="46" name="CustomShape 23">
                  <a:extLst>
                    <a:ext uri="{FF2B5EF4-FFF2-40B4-BE49-F238E27FC236}">
                      <a16:creationId xmlns:a16="http://schemas.microsoft.com/office/drawing/2014/main" id="{EB3E79B7-CE67-48FF-A6BD-874F77A0EEA9}"/>
                    </a:ext>
                  </a:extLst>
                </p:cNvPr>
                <p:cNvSpPr/>
                <p:nvPr/>
              </p:nvSpPr>
              <p:spPr>
                <a:xfrm>
                  <a:off x="5793060" y="227808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dirty="0">
                      <a:solidFill>
                        <a:srgbClr val="000000"/>
                      </a:solidFill>
                      <a:latin typeface="Arial"/>
                      <a:ea typeface="新細明體"/>
                    </a:rPr>
                    <a:t>Boot Mode</a:t>
                  </a:r>
                  <a:endParaRPr lang="en-US" sz="1600" b="0" strike="noStrike" spc="-1" dirty="0">
                    <a:latin typeface="Arial"/>
                  </a:endParaRPr>
                </a:p>
              </p:txBody>
            </p:sp>
            <p:sp>
              <p:nvSpPr>
                <p:cNvPr id="47" name="CustomShape 24">
                  <a:extLst>
                    <a:ext uri="{FF2B5EF4-FFF2-40B4-BE49-F238E27FC236}">
                      <a16:creationId xmlns:a16="http://schemas.microsoft.com/office/drawing/2014/main" id="{69FF09DC-CD1A-4ED4-90DF-1F8ECB2815B3}"/>
                    </a:ext>
                  </a:extLst>
                </p:cNvPr>
                <p:cNvSpPr/>
                <p:nvPr/>
              </p:nvSpPr>
              <p:spPr>
                <a:xfrm>
                  <a:off x="6157800" y="227808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dirty="0">
                      <a:solidFill>
                        <a:srgbClr val="000000"/>
                      </a:solidFill>
                      <a:latin typeface="Arial"/>
                      <a:ea typeface="新細明體"/>
                    </a:rPr>
                    <a:t>R/O FW Volume</a:t>
                  </a:r>
                  <a:endParaRPr lang="en-US" sz="1600" b="0" strike="noStrike" spc="-1" dirty="0">
                    <a:latin typeface="Arial"/>
                  </a:endParaRPr>
                </a:p>
              </p:txBody>
            </p:sp>
            <p:sp>
              <p:nvSpPr>
                <p:cNvPr id="48" name="CustomShape 25">
                  <a:extLst>
                    <a:ext uri="{FF2B5EF4-FFF2-40B4-BE49-F238E27FC236}">
                      <a16:creationId xmlns:a16="http://schemas.microsoft.com/office/drawing/2014/main" id="{D482AF68-0FD7-4845-BD6A-622BEADA8D77}"/>
                    </a:ext>
                  </a:extLst>
                </p:cNvPr>
                <p:cNvSpPr/>
                <p:nvPr/>
              </p:nvSpPr>
              <p:spPr>
                <a:xfrm>
                  <a:off x="6589800" y="227808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dirty="0">
                      <a:solidFill>
                        <a:srgbClr val="000000"/>
                      </a:solidFill>
                      <a:latin typeface="Arial"/>
                      <a:ea typeface="新細明體"/>
                    </a:rPr>
                    <a:t>Memory Service</a:t>
                  </a:r>
                  <a:endParaRPr lang="en-US" sz="1600" b="0" strike="noStrike" spc="-1" dirty="0">
                    <a:latin typeface="Arial"/>
                  </a:endParaRPr>
                </a:p>
              </p:txBody>
            </p:sp>
            <p:sp>
              <p:nvSpPr>
                <p:cNvPr id="49" name="CustomShape 26">
                  <a:extLst>
                    <a:ext uri="{FF2B5EF4-FFF2-40B4-BE49-F238E27FC236}">
                      <a16:creationId xmlns:a16="http://schemas.microsoft.com/office/drawing/2014/main" id="{5CE97E23-5FBE-4C31-AAD0-0BC9EA92C0F5}"/>
                    </a:ext>
                  </a:extLst>
                </p:cNvPr>
                <p:cNvSpPr/>
                <p:nvPr/>
              </p:nvSpPr>
              <p:spPr>
                <a:xfrm>
                  <a:off x="6950160" y="227808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dirty="0" err="1">
                      <a:solidFill>
                        <a:srgbClr val="000000"/>
                      </a:solidFill>
                      <a:latin typeface="Arial"/>
                      <a:ea typeface="新細明體"/>
                    </a:rPr>
                    <a:t>HandOffBlocks</a:t>
                  </a:r>
                  <a:endParaRPr lang="en-US" sz="1600" b="0" strike="noStrike" spc="-1" dirty="0">
                    <a:latin typeface="Arial"/>
                  </a:endParaRPr>
                </a:p>
              </p:txBody>
            </p:sp>
            <p:sp>
              <p:nvSpPr>
                <p:cNvPr id="50" name="CustomShape 27">
                  <a:extLst>
                    <a:ext uri="{FF2B5EF4-FFF2-40B4-BE49-F238E27FC236}">
                      <a16:creationId xmlns:a16="http://schemas.microsoft.com/office/drawing/2014/main" id="{5839CCBB-E951-466B-905C-9E5955B0CA9A}"/>
                    </a:ext>
                  </a:extLst>
                </p:cNvPr>
                <p:cNvSpPr/>
                <p:nvPr/>
              </p:nvSpPr>
              <p:spPr>
                <a:xfrm>
                  <a:off x="7381800" y="227808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dirty="0">
                      <a:solidFill>
                        <a:srgbClr val="000000"/>
                      </a:solidFill>
                      <a:latin typeface="Arial"/>
                      <a:ea typeface="新細明體"/>
                    </a:rPr>
                    <a:t>Status Code</a:t>
                  </a:r>
                  <a:endParaRPr lang="en-US" sz="1600" b="0" strike="noStrike" spc="-1" dirty="0">
                    <a:latin typeface="Arial"/>
                  </a:endParaRPr>
                </a:p>
              </p:txBody>
            </p:sp>
            <p:sp>
              <p:nvSpPr>
                <p:cNvPr id="51" name="CustomShape 28">
                  <a:extLst>
                    <a:ext uri="{FF2B5EF4-FFF2-40B4-BE49-F238E27FC236}">
                      <a16:creationId xmlns:a16="http://schemas.microsoft.com/office/drawing/2014/main" id="{5E843F80-38A7-4B69-8A37-0280C8D0704A}"/>
                    </a:ext>
                  </a:extLst>
                </p:cNvPr>
                <p:cNvSpPr/>
                <p:nvPr/>
              </p:nvSpPr>
              <p:spPr>
                <a:xfrm>
                  <a:off x="5292720" y="1844640"/>
                  <a:ext cx="2590200" cy="2158560"/>
                </a:xfrm>
                <a:prstGeom prst="rect">
                  <a:avLst/>
                </a:prstGeom>
                <a:noFill/>
                <a:ln w="9360">
                  <a:solidFill>
                    <a:srgbClr val="CCCCFF"/>
                  </a:solidFill>
                  <a:miter/>
                </a:ln>
              </p:spPr>
              <p:style>
                <a:lnRef idx="0">
                  <a:scrgbClr r="0" g="0" b="0"/>
                </a:lnRef>
                <a:fillRef idx="0">
                  <a:scrgbClr r="0" g="0" b="0"/>
                </a:fillRef>
                <a:effectRef idx="0">
                  <a:scrgbClr r="0" g="0" b="0"/>
                </a:effectRef>
                <a:fontRef idx="minor"/>
              </p:style>
              <p:txBody>
                <a:bodyPr lIns="90000" tIns="46800" rIns="90000" bIns="46800">
                  <a:noAutofit/>
                </a:bodyPr>
                <a:lstStyle/>
                <a:p>
                  <a:pPr algn="ctr">
                    <a:lnSpc>
                      <a:spcPct val="100000"/>
                    </a:lnSpc>
                    <a:spcBef>
                      <a:spcPts val="1250"/>
                    </a:spcBef>
                  </a:pPr>
                  <a:r>
                    <a:rPr lang="en-US" sz="2000" b="1" strike="noStrike" spc="-1">
                      <a:solidFill>
                        <a:srgbClr val="FFCCCC"/>
                      </a:solidFill>
                      <a:latin typeface="Arial"/>
                      <a:ea typeface="新細明體"/>
                    </a:rPr>
                    <a:t>Core Services</a:t>
                  </a:r>
                  <a:endParaRPr lang="en-US" sz="2000" b="0" strike="noStrike" spc="-1">
                    <a:latin typeface="Arial"/>
                  </a:endParaRPr>
                </a:p>
              </p:txBody>
            </p:sp>
          </p:grpSp>
          <p:sp>
            <p:nvSpPr>
              <p:cNvPr id="43" name="Line 29">
                <a:extLst>
                  <a:ext uri="{FF2B5EF4-FFF2-40B4-BE49-F238E27FC236}">
                    <a16:creationId xmlns:a16="http://schemas.microsoft.com/office/drawing/2014/main" id="{65C50766-E906-4805-9114-BD5FF3209FF7}"/>
                  </a:ext>
                </a:extLst>
              </p:cNvPr>
              <p:cNvSpPr/>
              <p:nvPr/>
            </p:nvSpPr>
            <p:spPr>
              <a:xfrm flipV="1">
                <a:off x="4572000" y="1915920"/>
                <a:ext cx="647640" cy="79524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sp>
            <p:nvSpPr>
              <p:cNvPr id="44" name="Line 30">
                <a:extLst>
                  <a:ext uri="{FF2B5EF4-FFF2-40B4-BE49-F238E27FC236}">
                    <a16:creationId xmlns:a16="http://schemas.microsoft.com/office/drawing/2014/main" id="{3E7DFD4D-0B2F-4FCB-A48A-36E75F571E1A}"/>
                  </a:ext>
                </a:extLst>
              </p:cNvPr>
              <p:cNvSpPr/>
              <p:nvPr/>
            </p:nvSpPr>
            <p:spPr>
              <a:xfrm flipH="1" flipV="1">
                <a:off x="4570200" y="3066840"/>
                <a:ext cx="650880" cy="86832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grpSp>
      </p:grpSp>
      <p:grpSp>
        <p:nvGrpSpPr>
          <p:cNvPr id="63" name="Group 31">
            <a:extLst>
              <a:ext uri="{FF2B5EF4-FFF2-40B4-BE49-F238E27FC236}">
                <a16:creationId xmlns:a16="http://schemas.microsoft.com/office/drawing/2014/main" id="{3EB35C0E-DC1E-4D61-A16F-EE32F304D9CE}"/>
              </a:ext>
            </a:extLst>
          </p:cNvPr>
          <p:cNvGrpSpPr/>
          <p:nvPr/>
        </p:nvGrpSpPr>
        <p:grpSpPr>
          <a:xfrm>
            <a:off x="2336914" y="4536886"/>
            <a:ext cx="1294920" cy="1437840"/>
            <a:chOff x="900000" y="4653000"/>
            <a:chExt cx="1294920" cy="1437840"/>
          </a:xfrm>
        </p:grpSpPr>
        <p:sp>
          <p:nvSpPr>
            <p:cNvPr id="64" name="CustomShape 32">
              <a:extLst>
                <a:ext uri="{FF2B5EF4-FFF2-40B4-BE49-F238E27FC236}">
                  <a16:creationId xmlns:a16="http://schemas.microsoft.com/office/drawing/2014/main" id="{D91E29DF-B65F-42D6-BFAB-E91A20096325}"/>
                </a:ext>
              </a:extLst>
            </p:cNvPr>
            <p:cNvSpPr/>
            <p:nvPr/>
          </p:nvSpPr>
          <p:spPr>
            <a:xfrm>
              <a:off x="900000" y="465300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65" name="CustomShape 33">
              <a:extLst>
                <a:ext uri="{FF2B5EF4-FFF2-40B4-BE49-F238E27FC236}">
                  <a16:creationId xmlns:a16="http://schemas.microsoft.com/office/drawing/2014/main" id="{844808DE-0E78-4320-86CB-E200CFC6E517}"/>
                </a:ext>
              </a:extLst>
            </p:cNvPr>
            <p:cNvSpPr/>
            <p:nvPr/>
          </p:nvSpPr>
          <p:spPr>
            <a:xfrm>
              <a:off x="973080" y="566100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66" name="CustomShape 34">
              <a:extLst>
                <a:ext uri="{FF2B5EF4-FFF2-40B4-BE49-F238E27FC236}">
                  <a16:creationId xmlns:a16="http://schemas.microsoft.com/office/drawing/2014/main" id="{B80FD9ED-AAAF-4D53-B8BB-FDF501522F42}"/>
                </a:ext>
              </a:extLst>
            </p:cNvPr>
            <p:cNvSpPr/>
            <p:nvPr/>
          </p:nvSpPr>
          <p:spPr>
            <a:xfrm>
              <a:off x="1074600" y="4805280"/>
              <a:ext cx="967680" cy="42156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sp>
        <p:nvSpPr>
          <p:cNvPr id="67" name="CustomShape 35">
            <a:extLst>
              <a:ext uri="{FF2B5EF4-FFF2-40B4-BE49-F238E27FC236}">
                <a16:creationId xmlns:a16="http://schemas.microsoft.com/office/drawing/2014/main" id="{0A61CF32-FFB1-4128-A053-E3896644480E}"/>
              </a:ext>
            </a:extLst>
          </p:cNvPr>
          <p:cNvSpPr/>
          <p:nvPr/>
        </p:nvSpPr>
        <p:spPr>
          <a:xfrm>
            <a:off x="3273634" y="3674686"/>
            <a:ext cx="1148760" cy="789840"/>
          </a:xfrm>
          <a:custGeom>
            <a:avLst/>
            <a:gdLst/>
            <a:ahLst/>
            <a:cxnLst/>
            <a:rect l="l" t="t" r="r" b="b"/>
            <a:pathLst>
              <a:path w="3198" h="2202">
                <a:moveTo>
                  <a:pt x="3197" y="0"/>
                </a:moveTo>
                <a:lnTo>
                  <a:pt x="0" y="2201"/>
                </a:lnTo>
              </a:path>
            </a:pathLst>
          </a:custGeom>
          <a:noFill/>
          <a:ln w="9360">
            <a:solidFill>
              <a:srgbClr val="000000"/>
            </a:solidFill>
            <a:miter/>
            <a:tailEnd type="triangle" w="med" len="med"/>
          </a:ln>
        </p:spPr>
        <p:style>
          <a:lnRef idx="0">
            <a:scrgbClr r="0" g="0" b="0"/>
          </a:lnRef>
          <a:fillRef idx="0">
            <a:scrgbClr r="0" g="0" b="0"/>
          </a:fillRef>
          <a:effectRef idx="0">
            <a:scrgbClr r="0" g="0" b="0"/>
          </a:effectRef>
          <a:fontRef idx="minor"/>
        </p:style>
      </p:sp>
      <p:grpSp>
        <p:nvGrpSpPr>
          <p:cNvPr id="68" name="Group 36">
            <a:extLst>
              <a:ext uri="{FF2B5EF4-FFF2-40B4-BE49-F238E27FC236}">
                <a16:creationId xmlns:a16="http://schemas.microsoft.com/office/drawing/2014/main" id="{95D6903E-0BC3-479B-8116-CB5B641AF0E9}"/>
              </a:ext>
            </a:extLst>
          </p:cNvPr>
          <p:cNvGrpSpPr/>
          <p:nvPr/>
        </p:nvGrpSpPr>
        <p:grpSpPr>
          <a:xfrm>
            <a:off x="3919834" y="4536886"/>
            <a:ext cx="1294920" cy="1437840"/>
            <a:chOff x="2482920" y="4653000"/>
            <a:chExt cx="1294920" cy="1437840"/>
          </a:xfrm>
        </p:grpSpPr>
        <p:sp>
          <p:nvSpPr>
            <p:cNvPr id="69" name="CustomShape 37">
              <a:extLst>
                <a:ext uri="{FF2B5EF4-FFF2-40B4-BE49-F238E27FC236}">
                  <a16:creationId xmlns:a16="http://schemas.microsoft.com/office/drawing/2014/main" id="{C5CEADE7-F3DE-468C-8BDE-BCF2651F7DF2}"/>
                </a:ext>
              </a:extLst>
            </p:cNvPr>
            <p:cNvSpPr/>
            <p:nvPr/>
          </p:nvSpPr>
          <p:spPr>
            <a:xfrm>
              <a:off x="2482920" y="465300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70" name="CustomShape 38">
              <a:extLst>
                <a:ext uri="{FF2B5EF4-FFF2-40B4-BE49-F238E27FC236}">
                  <a16:creationId xmlns:a16="http://schemas.microsoft.com/office/drawing/2014/main" id="{77991F73-ED3C-43D2-8440-AA25DFFA19C3}"/>
                </a:ext>
              </a:extLst>
            </p:cNvPr>
            <p:cNvSpPr/>
            <p:nvPr/>
          </p:nvSpPr>
          <p:spPr>
            <a:xfrm>
              <a:off x="2556000" y="566100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71" name="CustomShape 39">
              <a:extLst>
                <a:ext uri="{FF2B5EF4-FFF2-40B4-BE49-F238E27FC236}">
                  <a16:creationId xmlns:a16="http://schemas.microsoft.com/office/drawing/2014/main" id="{499D32AF-C2C3-4025-B01C-2A8F5EE5C7FE}"/>
                </a:ext>
              </a:extLst>
            </p:cNvPr>
            <p:cNvSpPr/>
            <p:nvPr/>
          </p:nvSpPr>
          <p:spPr>
            <a:xfrm>
              <a:off x="2657520" y="4805280"/>
              <a:ext cx="967680" cy="42156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grpSp>
        <p:nvGrpSpPr>
          <p:cNvPr id="72" name="Group 40">
            <a:extLst>
              <a:ext uri="{FF2B5EF4-FFF2-40B4-BE49-F238E27FC236}">
                <a16:creationId xmlns:a16="http://schemas.microsoft.com/office/drawing/2014/main" id="{303A71B0-0193-41CC-8E6E-F98597258100}"/>
              </a:ext>
            </a:extLst>
          </p:cNvPr>
          <p:cNvGrpSpPr/>
          <p:nvPr/>
        </p:nvGrpSpPr>
        <p:grpSpPr>
          <a:xfrm>
            <a:off x="7016914" y="4465246"/>
            <a:ext cx="1294920" cy="1437840"/>
            <a:chOff x="5580000" y="4581360"/>
            <a:chExt cx="1294920" cy="1437840"/>
          </a:xfrm>
        </p:grpSpPr>
        <p:sp>
          <p:nvSpPr>
            <p:cNvPr id="73" name="CustomShape 41">
              <a:extLst>
                <a:ext uri="{FF2B5EF4-FFF2-40B4-BE49-F238E27FC236}">
                  <a16:creationId xmlns:a16="http://schemas.microsoft.com/office/drawing/2014/main" id="{64EA89C2-E1A7-4E76-A6E8-19371EDD12DF}"/>
                </a:ext>
              </a:extLst>
            </p:cNvPr>
            <p:cNvSpPr/>
            <p:nvPr/>
          </p:nvSpPr>
          <p:spPr>
            <a:xfrm>
              <a:off x="5580000" y="458136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74" name="CustomShape 42">
              <a:extLst>
                <a:ext uri="{FF2B5EF4-FFF2-40B4-BE49-F238E27FC236}">
                  <a16:creationId xmlns:a16="http://schemas.microsoft.com/office/drawing/2014/main" id="{64F9CB54-619F-48F8-B867-6C7AA9B8BAFA}"/>
                </a:ext>
              </a:extLst>
            </p:cNvPr>
            <p:cNvSpPr/>
            <p:nvPr/>
          </p:nvSpPr>
          <p:spPr>
            <a:xfrm>
              <a:off x="5653080" y="558972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75" name="CustomShape 43">
              <a:extLst>
                <a:ext uri="{FF2B5EF4-FFF2-40B4-BE49-F238E27FC236}">
                  <a16:creationId xmlns:a16="http://schemas.microsoft.com/office/drawing/2014/main" id="{24BCA43D-C926-4CFD-91D7-989362B3BE9C}"/>
                </a:ext>
              </a:extLst>
            </p:cNvPr>
            <p:cNvSpPr/>
            <p:nvPr/>
          </p:nvSpPr>
          <p:spPr>
            <a:xfrm>
              <a:off x="5754600" y="4734000"/>
              <a:ext cx="967680" cy="42156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sp>
        <p:nvSpPr>
          <p:cNvPr id="76" name="CustomShape 44">
            <a:extLst>
              <a:ext uri="{FF2B5EF4-FFF2-40B4-BE49-F238E27FC236}">
                <a16:creationId xmlns:a16="http://schemas.microsoft.com/office/drawing/2014/main" id="{1745CBB5-DF20-4A42-B076-7787EAEA4442}"/>
              </a:ext>
            </a:extLst>
          </p:cNvPr>
          <p:cNvSpPr/>
          <p:nvPr/>
        </p:nvSpPr>
        <p:spPr>
          <a:xfrm>
            <a:off x="4424554" y="3746326"/>
            <a:ext cx="358200" cy="718560"/>
          </a:xfrm>
          <a:custGeom>
            <a:avLst/>
            <a:gdLst/>
            <a:ahLst/>
            <a:cxnLst/>
            <a:rect l="l" t="t" r="r" b="b"/>
            <a:pathLst>
              <a:path w="1002" h="2003">
                <a:moveTo>
                  <a:pt x="1001" y="0"/>
                </a:moveTo>
                <a:lnTo>
                  <a:pt x="0" y="2002"/>
                </a:lnTo>
              </a:path>
            </a:pathLst>
          </a:custGeom>
          <a:noFill/>
          <a:ln w="9360">
            <a:solidFill>
              <a:srgbClr val="000000"/>
            </a:solidFill>
            <a:miter/>
            <a:tailEnd type="triangle" w="med" len="med"/>
          </a:ln>
        </p:spPr>
        <p:style>
          <a:lnRef idx="0">
            <a:scrgbClr r="0" g="0" b="0"/>
          </a:lnRef>
          <a:fillRef idx="0">
            <a:scrgbClr r="0" g="0" b="0"/>
          </a:fillRef>
          <a:effectRef idx="0">
            <a:scrgbClr r="0" g="0" b="0"/>
          </a:effectRef>
          <a:fontRef idx="minor"/>
        </p:style>
      </p:sp>
      <p:grpSp>
        <p:nvGrpSpPr>
          <p:cNvPr id="77" name="Group 45">
            <a:extLst>
              <a:ext uri="{FF2B5EF4-FFF2-40B4-BE49-F238E27FC236}">
                <a16:creationId xmlns:a16="http://schemas.microsoft.com/office/drawing/2014/main" id="{2E8CD1F8-9DF9-4069-87FC-DD807F71948D}"/>
              </a:ext>
            </a:extLst>
          </p:cNvPr>
          <p:cNvGrpSpPr/>
          <p:nvPr/>
        </p:nvGrpSpPr>
        <p:grpSpPr>
          <a:xfrm>
            <a:off x="5719834" y="5184526"/>
            <a:ext cx="502560" cy="140760"/>
            <a:chOff x="4282920" y="5300640"/>
            <a:chExt cx="502560" cy="140760"/>
          </a:xfrm>
        </p:grpSpPr>
        <p:sp>
          <p:nvSpPr>
            <p:cNvPr id="78" name="CustomShape 46">
              <a:extLst>
                <a:ext uri="{FF2B5EF4-FFF2-40B4-BE49-F238E27FC236}">
                  <a16:creationId xmlns:a16="http://schemas.microsoft.com/office/drawing/2014/main" id="{09285F40-5215-4F2C-B268-0C1ADB256ABA}"/>
                </a:ext>
              </a:extLst>
            </p:cNvPr>
            <p:cNvSpPr/>
            <p:nvPr/>
          </p:nvSpPr>
          <p:spPr>
            <a:xfrm>
              <a:off x="4282920" y="5300640"/>
              <a:ext cx="142200" cy="14076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sp>
        <p:sp>
          <p:nvSpPr>
            <p:cNvPr id="79" name="CustomShape 47">
              <a:extLst>
                <a:ext uri="{FF2B5EF4-FFF2-40B4-BE49-F238E27FC236}">
                  <a16:creationId xmlns:a16="http://schemas.microsoft.com/office/drawing/2014/main" id="{CCB0B0B4-1EA3-4C40-BF67-49F02B59F52D}"/>
                </a:ext>
              </a:extLst>
            </p:cNvPr>
            <p:cNvSpPr/>
            <p:nvPr/>
          </p:nvSpPr>
          <p:spPr>
            <a:xfrm>
              <a:off x="4643280" y="5300640"/>
              <a:ext cx="142200" cy="14076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sp>
      </p:grpSp>
      <p:sp>
        <p:nvSpPr>
          <p:cNvPr id="80" name="CustomShape 48">
            <a:extLst>
              <a:ext uri="{FF2B5EF4-FFF2-40B4-BE49-F238E27FC236}">
                <a16:creationId xmlns:a16="http://schemas.microsoft.com/office/drawing/2014/main" id="{08E63407-881A-4AB8-84AC-7508486BF573}"/>
              </a:ext>
            </a:extLst>
          </p:cNvPr>
          <p:cNvSpPr/>
          <p:nvPr/>
        </p:nvSpPr>
        <p:spPr>
          <a:xfrm>
            <a:off x="6440554" y="5184526"/>
            <a:ext cx="142200" cy="14076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sp>
      <p:sp>
        <p:nvSpPr>
          <p:cNvPr id="81" name="CustomShape 49">
            <a:extLst>
              <a:ext uri="{FF2B5EF4-FFF2-40B4-BE49-F238E27FC236}">
                <a16:creationId xmlns:a16="http://schemas.microsoft.com/office/drawing/2014/main" id="{77F34AB4-D870-4CB4-974E-13EBF80FA7A4}"/>
              </a:ext>
            </a:extLst>
          </p:cNvPr>
          <p:cNvSpPr/>
          <p:nvPr/>
        </p:nvSpPr>
        <p:spPr>
          <a:xfrm>
            <a:off x="5145274" y="3746326"/>
            <a:ext cx="574200" cy="718560"/>
          </a:xfrm>
          <a:custGeom>
            <a:avLst/>
            <a:gdLst/>
            <a:ahLst/>
            <a:cxnLst/>
            <a:rect l="l" t="t" r="r" b="b"/>
            <a:pathLst>
              <a:path w="1602" h="2003">
                <a:moveTo>
                  <a:pt x="0" y="0"/>
                </a:moveTo>
                <a:lnTo>
                  <a:pt x="1601" y="2002"/>
                </a:lnTo>
              </a:path>
            </a:pathLst>
          </a:custGeom>
          <a:noFill/>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82" name="CustomShape 50">
            <a:extLst>
              <a:ext uri="{FF2B5EF4-FFF2-40B4-BE49-F238E27FC236}">
                <a16:creationId xmlns:a16="http://schemas.microsoft.com/office/drawing/2014/main" id="{A4DE5C06-4EE4-4E12-B3CC-8C1E95B65CF3}"/>
              </a:ext>
            </a:extLst>
          </p:cNvPr>
          <p:cNvSpPr/>
          <p:nvPr/>
        </p:nvSpPr>
        <p:spPr>
          <a:xfrm>
            <a:off x="5505634" y="3746326"/>
            <a:ext cx="789840" cy="718560"/>
          </a:xfrm>
          <a:custGeom>
            <a:avLst/>
            <a:gdLst/>
            <a:ahLst/>
            <a:cxnLst/>
            <a:rect l="l" t="t" r="r" b="b"/>
            <a:pathLst>
              <a:path w="2202" h="2003">
                <a:moveTo>
                  <a:pt x="0" y="0"/>
                </a:moveTo>
                <a:lnTo>
                  <a:pt x="2201" y="2002"/>
                </a:lnTo>
              </a:path>
            </a:pathLst>
          </a:custGeom>
          <a:noFill/>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83" name="CustomShape 51">
            <a:extLst>
              <a:ext uri="{FF2B5EF4-FFF2-40B4-BE49-F238E27FC236}">
                <a16:creationId xmlns:a16="http://schemas.microsoft.com/office/drawing/2014/main" id="{76D49ED9-3D30-4A5B-B2D1-3E14DD606AC5}"/>
              </a:ext>
            </a:extLst>
          </p:cNvPr>
          <p:cNvSpPr/>
          <p:nvPr/>
        </p:nvSpPr>
        <p:spPr>
          <a:xfrm>
            <a:off x="5864554" y="3674686"/>
            <a:ext cx="1582200" cy="789840"/>
          </a:xfrm>
          <a:custGeom>
            <a:avLst/>
            <a:gdLst/>
            <a:ahLst/>
            <a:cxnLst/>
            <a:rect l="l" t="t" r="r" b="b"/>
            <a:pathLst>
              <a:path w="4402" h="2202">
                <a:moveTo>
                  <a:pt x="0" y="0"/>
                </a:moveTo>
                <a:lnTo>
                  <a:pt x="4401" y="2201"/>
                </a:lnTo>
              </a:path>
            </a:pathLst>
          </a:custGeom>
          <a:noFill/>
          <a:ln w="9360">
            <a:solidFill>
              <a:srgbClr val="000000"/>
            </a:solidFill>
            <a:miter/>
            <a:tailEnd type="triangle" w="med" len="med"/>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62150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8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Dispatching</a:t>
            </a:r>
            <a:endParaRPr lang="en-US" dirty="0"/>
          </a:p>
        </p:txBody>
      </p:sp>
      <p:sp>
        <p:nvSpPr>
          <p:cNvPr id="113" name="CustomShape 31">
            <a:extLst>
              <a:ext uri="{FF2B5EF4-FFF2-40B4-BE49-F238E27FC236}">
                <a16:creationId xmlns:a16="http://schemas.microsoft.com/office/drawing/2014/main" id="{B664555A-7F5F-4924-B84E-4B0B0F00AF2F}"/>
              </a:ext>
            </a:extLst>
          </p:cNvPr>
          <p:cNvSpPr/>
          <p:nvPr/>
        </p:nvSpPr>
        <p:spPr>
          <a:xfrm>
            <a:off x="3938430" y="1316230"/>
            <a:ext cx="6098760" cy="2517120"/>
          </a:xfrm>
          <a:prstGeom prst="rect">
            <a:avLst/>
          </a:prstGeom>
          <a:noFill/>
          <a:ln w="9360">
            <a:noFill/>
          </a:ln>
        </p:spPr>
        <p:style>
          <a:lnRef idx="0">
            <a:scrgbClr r="0" g="0" b="0"/>
          </a:lnRef>
          <a:fillRef idx="0">
            <a:scrgbClr r="0" g="0" b="0"/>
          </a:fillRef>
          <a:effectRef idx="0">
            <a:scrgbClr r="0" g="0" b="0"/>
          </a:effectRef>
          <a:fontRef idx="minor"/>
        </p:style>
        <p:txBody>
          <a:bodyPr lIns="92160" tIns="82440" rIns="92160" bIns="46080">
            <a:noAutofit/>
          </a:bodyPr>
          <a:lstStyle/>
          <a:p>
            <a:pPr marL="341280" indent="-339120">
              <a:lnSpc>
                <a:spcPct val="88000"/>
              </a:lnSpc>
              <a:spcBef>
                <a:spcPts val="601"/>
              </a:spcBef>
              <a:buClr>
                <a:srgbClr val="000000"/>
              </a:buClr>
              <a:buFont typeface="Arial"/>
              <a:buChar char="•"/>
            </a:pPr>
            <a:r>
              <a:rPr lang="en-US" sz="2000" b="0" strike="noStrike" spc="-1" dirty="0">
                <a:solidFill>
                  <a:srgbClr val="000000"/>
                </a:solidFill>
                <a:latin typeface="Segoe UI"/>
                <a:ea typeface="細明體"/>
              </a:rPr>
              <a:t>The PEI dispatcher examines the PEIMs in BFV for the following:</a:t>
            </a:r>
            <a:endParaRPr lang="en-US" sz="2000" b="0" strike="noStrike" spc="-1" dirty="0">
              <a:latin typeface="Arial"/>
            </a:endParaRPr>
          </a:p>
          <a:p>
            <a:pPr marL="741240" lvl="1" indent="-281880">
              <a:lnSpc>
                <a:spcPct val="88000"/>
              </a:lnSpc>
              <a:spcBef>
                <a:spcPts val="499"/>
              </a:spcBef>
              <a:buClr>
                <a:srgbClr val="000000"/>
              </a:buClr>
              <a:buFont typeface="Arial"/>
              <a:buChar char="•"/>
            </a:pPr>
            <a:r>
              <a:rPr lang="en-US" sz="2000" b="0" strike="noStrike" spc="-1" dirty="0">
                <a:solidFill>
                  <a:srgbClr val="000000"/>
                </a:solidFill>
                <a:latin typeface="Segoe UI"/>
                <a:ea typeface="細明體"/>
              </a:rPr>
              <a:t>The PEIM has not yet been invoked. </a:t>
            </a:r>
            <a:endParaRPr lang="en-US" sz="2000" b="0" strike="noStrike" spc="-1" dirty="0">
              <a:latin typeface="Arial"/>
            </a:endParaRPr>
          </a:p>
          <a:p>
            <a:pPr marL="741240" lvl="1" indent="-281880">
              <a:lnSpc>
                <a:spcPct val="88000"/>
              </a:lnSpc>
              <a:spcBef>
                <a:spcPts val="499"/>
              </a:spcBef>
              <a:buClr>
                <a:srgbClr val="000000"/>
              </a:buClr>
              <a:buFont typeface="Arial"/>
              <a:buChar char="•"/>
            </a:pPr>
            <a:r>
              <a:rPr lang="en-US" sz="2000" b="0" strike="noStrike" spc="-1" dirty="0">
                <a:solidFill>
                  <a:srgbClr val="000000"/>
                </a:solidFill>
                <a:latin typeface="Segoe UI"/>
                <a:ea typeface="細明體"/>
              </a:rPr>
              <a:t>The PEIM file is correctly formatted. </a:t>
            </a:r>
            <a:endParaRPr lang="en-US" sz="2000" b="0" strike="noStrike" spc="-1" dirty="0">
              <a:latin typeface="Arial"/>
            </a:endParaRPr>
          </a:p>
          <a:p>
            <a:pPr marL="741240" lvl="1" indent="-281880">
              <a:lnSpc>
                <a:spcPct val="88000"/>
              </a:lnSpc>
              <a:spcBef>
                <a:spcPts val="499"/>
              </a:spcBef>
              <a:buClr>
                <a:srgbClr val="000000"/>
              </a:buClr>
              <a:buFont typeface="Arial"/>
              <a:buChar char="•"/>
            </a:pPr>
            <a:r>
              <a:rPr lang="en-US" sz="2000" b="0" strike="noStrike" spc="-1" dirty="0">
                <a:solidFill>
                  <a:srgbClr val="000000"/>
                </a:solidFill>
                <a:latin typeface="Segoe UI"/>
                <a:ea typeface="細明體"/>
              </a:rPr>
              <a:t>The PEIM is trustworthy. </a:t>
            </a:r>
            <a:endParaRPr lang="en-US" sz="2000" b="0" strike="noStrike" spc="-1" dirty="0">
              <a:latin typeface="Arial"/>
            </a:endParaRPr>
          </a:p>
          <a:p>
            <a:pPr marL="741240" lvl="1" indent="-281880">
              <a:lnSpc>
                <a:spcPct val="88000"/>
              </a:lnSpc>
              <a:spcBef>
                <a:spcPts val="499"/>
              </a:spcBef>
              <a:buClr>
                <a:srgbClr val="000000"/>
              </a:buClr>
              <a:buFont typeface="Arial"/>
              <a:buChar char="•"/>
            </a:pPr>
            <a:r>
              <a:rPr lang="en-US" sz="2000" b="0" strike="noStrike" spc="-1" dirty="0">
                <a:solidFill>
                  <a:srgbClr val="000000"/>
                </a:solidFill>
                <a:latin typeface="Segoe UI"/>
                <a:ea typeface="細明體"/>
              </a:rPr>
              <a:t>The PEIM’s dependency requirements have been met. </a:t>
            </a:r>
            <a:endParaRPr lang="en-US" sz="2000" b="0" strike="noStrike" spc="-1" dirty="0">
              <a:latin typeface="Arial"/>
            </a:endParaRPr>
          </a:p>
        </p:txBody>
      </p:sp>
      <p:sp>
        <p:nvSpPr>
          <p:cNvPr id="33" name="Freeform 48">
            <a:extLst>
              <a:ext uri="{FF2B5EF4-FFF2-40B4-BE49-F238E27FC236}">
                <a16:creationId xmlns:a16="http://schemas.microsoft.com/office/drawing/2014/main" id="{1BF49298-2343-4A2E-A083-80F9F23A1574}"/>
              </a:ext>
            </a:extLst>
          </p:cNvPr>
          <p:cNvSpPr>
            <a:spLocks/>
          </p:cNvSpPr>
          <p:nvPr/>
        </p:nvSpPr>
        <p:spPr bwMode="auto">
          <a:xfrm>
            <a:off x="1557338" y="3341688"/>
            <a:ext cx="1587" cy="1066800"/>
          </a:xfrm>
          <a:custGeom>
            <a:avLst/>
            <a:gdLst>
              <a:gd name="T0" fmla="*/ 0 w 1"/>
              <a:gd name="T1" fmla="*/ 0 h 2965"/>
              <a:gd name="T2" fmla="*/ 0 w 1"/>
              <a:gd name="T3" fmla="*/ 2964 h 2965"/>
            </a:gdLst>
            <a:ahLst/>
            <a:cxnLst>
              <a:cxn ang="0">
                <a:pos x="T0" y="T1"/>
              </a:cxn>
              <a:cxn ang="0">
                <a:pos x="T2" y="T3"/>
              </a:cxn>
            </a:cxnLst>
            <a:rect l="0" t="0" r="r" b="b"/>
            <a:pathLst>
              <a:path w="1" h="2965">
                <a:moveTo>
                  <a:pt x="0" y="0"/>
                </a:moveTo>
                <a:lnTo>
                  <a:pt x="0" y="2964"/>
                </a:lnTo>
              </a:path>
            </a:pathLst>
          </a:custGeom>
          <a:noFill/>
          <a:ln w="9360">
            <a:solidFill>
              <a:srgbClr val="00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 name="Freeform 49">
            <a:extLst>
              <a:ext uri="{FF2B5EF4-FFF2-40B4-BE49-F238E27FC236}">
                <a16:creationId xmlns:a16="http://schemas.microsoft.com/office/drawing/2014/main" id="{61D8130F-2589-4E21-A201-B1E44BFD4610}"/>
              </a:ext>
            </a:extLst>
          </p:cNvPr>
          <p:cNvSpPr>
            <a:spLocks/>
          </p:cNvSpPr>
          <p:nvPr/>
        </p:nvSpPr>
        <p:spPr bwMode="auto">
          <a:xfrm>
            <a:off x="1884363" y="3341688"/>
            <a:ext cx="1219200" cy="1066800"/>
          </a:xfrm>
          <a:custGeom>
            <a:avLst/>
            <a:gdLst>
              <a:gd name="T0" fmla="*/ 0 w 3388"/>
              <a:gd name="T1" fmla="*/ 0 h 2965"/>
              <a:gd name="T2" fmla="*/ 3387 w 3388"/>
              <a:gd name="T3" fmla="*/ 2964 h 2965"/>
            </a:gdLst>
            <a:ahLst/>
            <a:cxnLst>
              <a:cxn ang="0">
                <a:pos x="T0" y="T1"/>
              </a:cxn>
              <a:cxn ang="0">
                <a:pos x="T2" y="T3"/>
              </a:cxn>
            </a:cxnLst>
            <a:rect l="0" t="0" r="r" b="b"/>
            <a:pathLst>
              <a:path w="3388" h="2965">
                <a:moveTo>
                  <a:pt x="0" y="0"/>
                </a:moveTo>
                <a:lnTo>
                  <a:pt x="3387" y="2964"/>
                </a:lnTo>
              </a:path>
            </a:pathLst>
          </a:custGeom>
          <a:noFill/>
          <a:ln w="9360">
            <a:solidFill>
              <a:srgbClr val="00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 name="Freeform 50">
            <a:extLst>
              <a:ext uri="{FF2B5EF4-FFF2-40B4-BE49-F238E27FC236}">
                <a16:creationId xmlns:a16="http://schemas.microsoft.com/office/drawing/2014/main" id="{6E9009A0-6C32-4D81-AAED-1D9ACDB2E7D4}"/>
              </a:ext>
            </a:extLst>
          </p:cNvPr>
          <p:cNvSpPr>
            <a:spLocks/>
          </p:cNvSpPr>
          <p:nvPr/>
        </p:nvSpPr>
        <p:spPr bwMode="auto">
          <a:xfrm>
            <a:off x="2036763" y="3341688"/>
            <a:ext cx="2362200" cy="1066800"/>
          </a:xfrm>
          <a:custGeom>
            <a:avLst/>
            <a:gdLst>
              <a:gd name="T0" fmla="*/ 0 w 6562"/>
              <a:gd name="T1" fmla="*/ 0 h 2965"/>
              <a:gd name="T2" fmla="*/ 6561 w 6562"/>
              <a:gd name="T3" fmla="*/ 2964 h 2965"/>
            </a:gdLst>
            <a:ahLst/>
            <a:cxnLst>
              <a:cxn ang="0">
                <a:pos x="T0" y="T1"/>
              </a:cxn>
              <a:cxn ang="0">
                <a:pos x="T2" y="T3"/>
              </a:cxn>
            </a:cxnLst>
            <a:rect l="0" t="0" r="r" b="b"/>
            <a:pathLst>
              <a:path w="6562" h="2965">
                <a:moveTo>
                  <a:pt x="0" y="0"/>
                </a:moveTo>
                <a:lnTo>
                  <a:pt x="6561" y="2964"/>
                </a:lnTo>
              </a:path>
            </a:pathLst>
          </a:custGeom>
          <a:noFill/>
          <a:ln w="9360">
            <a:solidFill>
              <a:srgbClr val="00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 name="Freeform 51">
            <a:extLst>
              <a:ext uri="{FF2B5EF4-FFF2-40B4-BE49-F238E27FC236}">
                <a16:creationId xmlns:a16="http://schemas.microsoft.com/office/drawing/2014/main" id="{6B1E1684-B30B-4EEC-B88A-534C001DEC3F}"/>
              </a:ext>
            </a:extLst>
          </p:cNvPr>
          <p:cNvSpPr>
            <a:spLocks/>
          </p:cNvSpPr>
          <p:nvPr/>
        </p:nvSpPr>
        <p:spPr bwMode="auto">
          <a:xfrm>
            <a:off x="2189163" y="3341688"/>
            <a:ext cx="2743200" cy="1066800"/>
          </a:xfrm>
          <a:custGeom>
            <a:avLst/>
            <a:gdLst>
              <a:gd name="T0" fmla="*/ 0 w 7621"/>
              <a:gd name="T1" fmla="*/ 0 h 2965"/>
              <a:gd name="T2" fmla="*/ 7620 w 7621"/>
              <a:gd name="T3" fmla="*/ 2964 h 2965"/>
            </a:gdLst>
            <a:ahLst/>
            <a:cxnLst>
              <a:cxn ang="0">
                <a:pos x="T0" y="T1"/>
              </a:cxn>
              <a:cxn ang="0">
                <a:pos x="T2" y="T3"/>
              </a:cxn>
            </a:cxnLst>
            <a:rect l="0" t="0" r="r" b="b"/>
            <a:pathLst>
              <a:path w="7621" h="2965">
                <a:moveTo>
                  <a:pt x="0" y="0"/>
                </a:moveTo>
                <a:lnTo>
                  <a:pt x="7620" y="2964"/>
                </a:lnTo>
              </a:path>
            </a:pathLst>
          </a:custGeom>
          <a:noFill/>
          <a:ln w="9360">
            <a:solidFill>
              <a:srgbClr val="00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 name="Freeform 52">
            <a:extLst>
              <a:ext uri="{FF2B5EF4-FFF2-40B4-BE49-F238E27FC236}">
                <a16:creationId xmlns:a16="http://schemas.microsoft.com/office/drawing/2014/main" id="{23E775DF-FA06-4A11-82E9-C21DD24E611A}"/>
              </a:ext>
            </a:extLst>
          </p:cNvPr>
          <p:cNvSpPr>
            <a:spLocks/>
          </p:cNvSpPr>
          <p:nvPr/>
        </p:nvSpPr>
        <p:spPr bwMode="auto">
          <a:xfrm>
            <a:off x="2417763" y="3341688"/>
            <a:ext cx="3657600" cy="1066800"/>
          </a:xfrm>
          <a:custGeom>
            <a:avLst/>
            <a:gdLst>
              <a:gd name="T0" fmla="*/ 0 w 10161"/>
              <a:gd name="T1" fmla="*/ 0 h 2965"/>
              <a:gd name="T2" fmla="*/ 10160 w 10161"/>
              <a:gd name="T3" fmla="*/ 2964 h 2965"/>
            </a:gdLst>
            <a:ahLst/>
            <a:cxnLst>
              <a:cxn ang="0">
                <a:pos x="T0" y="T1"/>
              </a:cxn>
              <a:cxn ang="0">
                <a:pos x="T2" y="T3"/>
              </a:cxn>
            </a:cxnLst>
            <a:rect l="0" t="0" r="r" b="b"/>
            <a:pathLst>
              <a:path w="10161" h="2965">
                <a:moveTo>
                  <a:pt x="0" y="0"/>
                </a:moveTo>
                <a:lnTo>
                  <a:pt x="10160" y="2964"/>
                </a:lnTo>
              </a:path>
            </a:pathLst>
          </a:custGeom>
          <a:noFill/>
          <a:ln w="9360">
            <a:solidFill>
              <a:srgbClr val="00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8" name="Group 53">
            <a:extLst>
              <a:ext uri="{FF2B5EF4-FFF2-40B4-BE49-F238E27FC236}">
                <a16:creationId xmlns:a16="http://schemas.microsoft.com/office/drawing/2014/main" id="{C1F11DB8-91B5-4588-B245-0DD49E70186B}"/>
              </a:ext>
            </a:extLst>
          </p:cNvPr>
          <p:cNvGrpSpPr>
            <a:grpSpLocks/>
          </p:cNvGrpSpPr>
          <p:nvPr/>
        </p:nvGrpSpPr>
        <p:grpSpPr bwMode="auto">
          <a:xfrm>
            <a:off x="819150" y="2438400"/>
            <a:ext cx="1871663" cy="898525"/>
            <a:chOff x="516" y="1536"/>
            <a:chExt cx="1179" cy="566"/>
          </a:xfrm>
        </p:grpSpPr>
        <p:sp>
          <p:nvSpPr>
            <p:cNvPr id="39" name="Line 54">
              <a:extLst>
                <a:ext uri="{FF2B5EF4-FFF2-40B4-BE49-F238E27FC236}">
                  <a16:creationId xmlns:a16="http://schemas.microsoft.com/office/drawing/2014/main" id="{6388C521-3F6A-49FE-B813-690DF378C457}"/>
                </a:ext>
              </a:extLst>
            </p:cNvPr>
            <p:cNvSpPr>
              <a:spLocks noChangeShapeType="1"/>
            </p:cNvSpPr>
            <p:nvPr/>
          </p:nvSpPr>
          <p:spPr bwMode="auto">
            <a:xfrm>
              <a:off x="1105" y="1536"/>
              <a:ext cx="1" cy="135"/>
            </a:xfrm>
            <a:prstGeom prst="line">
              <a:avLst/>
            </a:prstGeom>
            <a:noFill/>
            <a:ln w="9360">
              <a:solidFill>
                <a:srgbClr val="CCCC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 name="Oval 55">
              <a:extLst>
                <a:ext uri="{FF2B5EF4-FFF2-40B4-BE49-F238E27FC236}">
                  <a16:creationId xmlns:a16="http://schemas.microsoft.com/office/drawing/2014/main" id="{815ADBEF-4571-4802-A5BA-0598D4468A34}"/>
                </a:ext>
              </a:extLst>
            </p:cNvPr>
            <p:cNvSpPr>
              <a:spLocks noChangeArrowheads="1"/>
            </p:cNvSpPr>
            <p:nvPr/>
          </p:nvSpPr>
          <p:spPr bwMode="auto">
            <a:xfrm>
              <a:off x="516" y="1717"/>
              <a:ext cx="1180" cy="363"/>
            </a:xfrm>
            <a:prstGeom prst="ellipse">
              <a:avLst/>
            </a:prstGeom>
            <a:solidFill>
              <a:srgbClr val="3B6A4D"/>
            </a:solidFill>
            <a:ln w="9360">
              <a:solidFill>
                <a:srgbClr val="CC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Rectangle 56">
              <a:extLst>
                <a:ext uri="{FF2B5EF4-FFF2-40B4-BE49-F238E27FC236}">
                  <a16:creationId xmlns:a16="http://schemas.microsoft.com/office/drawing/2014/main" id="{2A3ABE15-4D20-4C06-8D18-D06777D610A4}"/>
                </a:ext>
              </a:extLst>
            </p:cNvPr>
            <p:cNvSpPr>
              <a:spLocks noChangeArrowheads="1"/>
            </p:cNvSpPr>
            <p:nvPr/>
          </p:nvSpPr>
          <p:spPr bwMode="auto">
            <a:xfrm>
              <a:off x="562" y="1671"/>
              <a:ext cx="1104"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sz="2000" b="1">
                  <a:solidFill>
                    <a:srgbClr val="FFFFFF"/>
                  </a:solidFill>
                  <a:ea typeface="新細明體" panose="02020500000000000000" pitchFamily="18" charset="-120"/>
                </a:rPr>
                <a:t>PEI Dispatcher</a:t>
              </a:r>
            </a:p>
          </p:txBody>
        </p:sp>
      </p:grpSp>
      <p:grpSp>
        <p:nvGrpSpPr>
          <p:cNvPr id="42" name="Group 57">
            <a:extLst>
              <a:ext uri="{FF2B5EF4-FFF2-40B4-BE49-F238E27FC236}">
                <a16:creationId xmlns:a16="http://schemas.microsoft.com/office/drawing/2014/main" id="{7703C119-8321-4745-97E6-4943E5C40331}"/>
              </a:ext>
            </a:extLst>
          </p:cNvPr>
          <p:cNvGrpSpPr>
            <a:grpSpLocks/>
          </p:cNvGrpSpPr>
          <p:nvPr/>
        </p:nvGrpSpPr>
        <p:grpSpPr bwMode="auto">
          <a:xfrm>
            <a:off x="1106488" y="4464050"/>
            <a:ext cx="6119812" cy="1438275"/>
            <a:chOff x="697" y="2812"/>
            <a:chExt cx="3855" cy="906"/>
          </a:xfrm>
        </p:grpSpPr>
        <p:grpSp>
          <p:nvGrpSpPr>
            <p:cNvPr id="43" name="Group 58">
              <a:extLst>
                <a:ext uri="{FF2B5EF4-FFF2-40B4-BE49-F238E27FC236}">
                  <a16:creationId xmlns:a16="http://schemas.microsoft.com/office/drawing/2014/main" id="{99024A51-16D9-4B9C-B13F-4FC32711BA9D}"/>
                </a:ext>
              </a:extLst>
            </p:cNvPr>
            <p:cNvGrpSpPr>
              <a:grpSpLocks/>
            </p:cNvGrpSpPr>
            <p:nvPr/>
          </p:nvGrpSpPr>
          <p:grpSpPr bwMode="auto">
            <a:xfrm>
              <a:off x="1785" y="2812"/>
              <a:ext cx="816" cy="906"/>
              <a:chOff x="1785" y="2812"/>
              <a:chExt cx="816" cy="906"/>
            </a:xfrm>
          </p:grpSpPr>
          <p:sp>
            <p:nvSpPr>
              <p:cNvPr id="57" name="Rectangle 59">
                <a:extLst>
                  <a:ext uri="{FF2B5EF4-FFF2-40B4-BE49-F238E27FC236}">
                    <a16:creationId xmlns:a16="http://schemas.microsoft.com/office/drawing/2014/main" id="{5550BAB0-DE91-476B-9A9E-8432D6E75D3E}"/>
                  </a:ext>
                </a:extLst>
              </p:cNvPr>
              <p:cNvSpPr>
                <a:spLocks noChangeArrowheads="1"/>
              </p:cNvSpPr>
              <p:nvPr/>
            </p:nvSpPr>
            <p:spPr bwMode="auto">
              <a:xfrm>
                <a:off x="1785" y="2812"/>
                <a:ext cx="817" cy="907"/>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8" name="Rectangle 60">
                <a:extLst>
                  <a:ext uri="{FF2B5EF4-FFF2-40B4-BE49-F238E27FC236}">
                    <a16:creationId xmlns:a16="http://schemas.microsoft.com/office/drawing/2014/main" id="{3361CBB2-2D91-4A6B-BA60-812D80EF0508}"/>
                  </a:ext>
                </a:extLst>
              </p:cNvPr>
              <p:cNvSpPr>
                <a:spLocks noChangeArrowheads="1"/>
              </p:cNvSpPr>
              <p:nvPr/>
            </p:nvSpPr>
            <p:spPr bwMode="auto">
              <a:xfrm>
                <a:off x="1831" y="3447"/>
                <a:ext cx="68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FFFFFF"/>
                    </a:solidFill>
                    <a:ea typeface="新細明體" panose="02020500000000000000" pitchFamily="18" charset="-120"/>
                  </a:rPr>
                  <a:t>PEIM</a:t>
                </a:r>
              </a:p>
            </p:txBody>
          </p:sp>
          <p:sp>
            <p:nvSpPr>
              <p:cNvPr id="59" name="Rectangle 61">
                <a:extLst>
                  <a:ext uri="{FF2B5EF4-FFF2-40B4-BE49-F238E27FC236}">
                    <a16:creationId xmlns:a16="http://schemas.microsoft.com/office/drawing/2014/main" id="{78F7995E-F8BC-413D-8762-B7F509CBF665}"/>
                  </a:ext>
                </a:extLst>
              </p:cNvPr>
              <p:cNvSpPr>
                <a:spLocks noChangeArrowheads="1"/>
              </p:cNvSpPr>
              <p:nvPr/>
            </p:nvSpPr>
            <p:spPr bwMode="auto">
              <a:xfrm>
                <a:off x="1895" y="2908"/>
                <a:ext cx="611" cy="26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000000"/>
                    </a:solidFill>
                    <a:ea typeface="新細明體" panose="02020500000000000000" pitchFamily="18" charset="-120"/>
                  </a:rPr>
                  <a:t>Entry</a:t>
                </a:r>
              </a:p>
            </p:txBody>
          </p:sp>
        </p:grpSp>
        <p:grpSp>
          <p:nvGrpSpPr>
            <p:cNvPr id="44" name="Group 62">
              <a:extLst>
                <a:ext uri="{FF2B5EF4-FFF2-40B4-BE49-F238E27FC236}">
                  <a16:creationId xmlns:a16="http://schemas.microsoft.com/office/drawing/2014/main" id="{33AF9AA7-BA9B-4E8B-AC48-581F098F23A7}"/>
                </a:ext>
              </a:extLst>
            </p:cNvPr>
            <p:cNvGrpSpPr>
              <a:grpSpLocks/>
            </p:cNvGrpSpPr>
            <p:nvPr/>
          </p:nvGrpSpPr>
          <p:grpSpPr bwMode="auto">
            <a:xfrm>
              <a:off x="3736" y="2812"/>
              <a:ext cx="816" cy="906"/>
              <a:chOff x="3736" y="2812"/>
              <a:chExt cx="816" cy="906"/>
            </a:xfrm>
          </p:grpSpPr>
          <p:sp>
            <p:nvSpPr>
              <p:cNvPr id="54" name="Rectangle 63">
                <a:extLst>
                  <a:ext uri="{FF2B5EF4-FFF2-40B4-BE49-F238E27FC236}">
                    <a16:creationId xmlns:a16="http://schemas.microsoft.com/office/drawing/2014/main" id="{E1C0D44B-8D32-4E6F-BE64-5A9EA37F5AE7}"/>
                  </a:ext>
                </a:extLst>
              </p:cNvPr>
              <p:cNvSpPr>
                <a:spLocks noChangeArrowheads="1"/>
              </p:cNvSpPr>
              <p:nvPr/>
            </p:nvSpPr>
            <p:spPr bwMode="auto">
              <a:xfrm>
                <a:off x="3736" y="2812"/>
                <a:ext cx="817" cy="907"/>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5" name="Rectangle 64">
                <a:extLst>
                  <a:ext uri="{FF2B5EF4-FFF2-40B4-BE49-F238E27FC236}">
                    <a16:creationId xmlns:a16="http://schemas.microsoft.com/office/drawing/2014/main" id="{232646C9-04FA-4726-9777-483D45790E59}"/>
                  </a:ext>
                </a:extLst>
              </p:cNvPr>
              <p:cNvSpPr>
                <a:spLocks noChangeArrowheads="1"/>
              </p:cNvSpPr>
              <p:nvPr/>
            </p:nvSpPr>
            <p:spPr bwMode="auto">
              <a:xfrm>
                <a:off x="3782" y="3447"/>
                <a:ext cx="68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FFFFFF"/>
                    </a:solidFill>
                    <a:ea typeface="新細明體" panose="02020500000000000000" pitchFamily="18" charset="-120"/>
                  </a:rPr>
                  <a:t>PEIM</a:t>
                </a:r>
              </a:p>
            </p:txBody>
          </p:sp>
          <p:sp>
            <p:nvSpPr>
              <p:cNvPr id="56" name="Rectangle 65">
                <a:extLst>
                  <a:ext uri="{FF2B5EF4-FFF2-40B4-BE49-F238E27FC236}">
                    <a16:creationId xmlns:a16="http://schemas.microsoft.com/office/drawing/2014/main" id="{BA5EAB0F-FCDE-4004-8D0E-C11E7816703B}"/>
                  </a:ext>
                </a:extLst>
              </p:cNvPr>
              <p:cNvSpPr>
                <a:spLocks noChangeArrowheads="1"/>
              </p:cNvSpPr>
              <p:nvPr/>
            </p:nvSpPr>
            <p:spPr bwMode="auto">
              <a:xfrm>
                <a:off x="3846" y="2908"/>
                <a:ext cx="611" cy="26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000000"/>
                    </a:solidFill>
                    <a:ea typeface="新細明體" panose="02020500000000000000" pitchFamily="18" charset="-120"/>
                  </a:rPr>
                  <a:t>Entry</a:t>
                </a:r>
              </a:p>
            </p:txBody>
          </p:sp>
        </p:grpSp>
        <p:grpSp>
          <p:nvGrpSpPr>
            <p:cNvPr id="45" name="Group 66">
              <a:extLst>
                <a:ext uri="{FF2B5EF4-FFF2-40B4-BE49-F238E27FC236}">
                  <a16:creationId xmlns:a16="http://schemas.microsoft.com/office/drawing/2014/main" id="{251CE626-A6AE-43E4-8201-CE2ACEF4371F}"/>
                </a:ext>
              </a:extLst>
            </p:cNvPr>
            <p:cNvGrpSpPr>
              <a:grpSpLocks/>
            </p:cNvGrpSpPr>
            <p:nvPr/>
          </p:nvGrpSpPr>
          <p:grpSpPr bwMode="auto">
            <a:xfrm>
              <a:off x="2919" y="3220"/>
              <a:ext cx="317" cy="89"/>
              <a:chOff x="2919" y="3220"/>
              <a:chExt cx="317" cy="89"/>
            </a:xfrm>
          </p:grpSpPr>
          <p:sp>
            <p:nvSpPr>
              <p:cNvPr id="52" name="Oval 67">
                <a:extLst>
                  <a:ext uri="{FF2B5EF4-FFF2-40B4-BE49-F238E27FC236}">
                    <a16:creationId xmlns:a16="http://schemas.microsoft.com/office/drawing/2014/main" id="{C0B5DDC1-3381-4799-8A75-13622EF25E2C}"/>
                  </a:ext>
                </a:extLst>
              </p:cNvPr>
              <p:cNvSpPr>
                <a:spLocks noChangeArrowheads="1"/>
              </p:cNvSpPr>
              <p:nvPr/>
            </p:nvSpPr>
            <p:spPr bwMode="auto">
              <a:xfrm>
                <a:off x="2919" y="3220"/>
                <a:ext cx="91" cy="90"/>
              </a:xfrm>
              <a:prstGeom prst="ellipse">
                <a:avLst/>
              </a:prstGeom>
              <a:solidFill>
                <a:srgbClr val="00CC99"/>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3" name="Oval 68">
                <a:extLst>
                  <a:ext uri="{FF2B5EF4-FFF2-40B4-BE49-F238E27FC236}">
                    <a16:creationId xmlns:a16="http://schemas.microsoft.com/office/drawing/2014/main" id="{03242C70-1C3C-4BC5-B12A-6B00DA43802E}"/>
                  </a:ext>
                </a:extLst>
              </p:cNvPr>
              <p:cNvSpPr>
                <a:spLocks noChangeArrowheads="1"/>
              </p:cNvSpPr>
              <p:nvPr/>
            </p:nvSpPr>
            <p:spPr bwMode="auto">
              <a:xfrm>
                <a:off x="3146" y="3220"/>
                <a:ext cx="91" cy="90"/>
              </a:xfrm>
              <a:prstGeom prst="ellipse">
                <a:avLst/>
              </a:prstGeom>
              <a:solidFill>
                <a:srgbClr val="00CC99"/>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46" name="Oval 69">
              <a:extLst>
                <a:ext uri="{FF2B5EF4-FFF2-40B4-BE49-F238E27FC236}">
                  <a16:creationId xmlns:a16="http://schemas.microsoft.com/office/drawing/2014/main" id="{CCC2AD19-9095-40BF-9BFB-9FDB087C2EBF}"/>
                </a:ext>
              </a:extLst>
            </p:cNvPr>
            <p:cNvSpPr>
              <a:spLocks noChangeArrowheads="1"/>
            </p:cNvSpPr>
            <p:nvPr/>
          </p:nvSpPr>
          <p:spPr bwMode="auto">
            <a:xfrm>
              <a:off x="3373" y="3220"/>
              <a:ext cx="91" cy="90"/>
            </a:xfrm>
            <a:prstGeom prst="ellipse">
              <a:avLst/>
            </a:prstGeom>
            <a:solidFill>
              <a:srgbClr val="00CC99"/>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47" name="Group 70">
              <a:extLst>
                <a:ext uri="{FF2B5EF4-FFF2-40B4-BE49-F238E27FC236}">
                  <a16:creationId xmlns:a16="http://schemas.microsoft.com/office/drawing/2014/main" id="{2C800AF7-88A8-498B-B385-E15331388EEC}"/>
                </a:ext>
              </a:extLst>
            </p:cNvPr>
            <p:cNvGrpSpPr>
              <a:grpSpLocks/>
            </p:cNvGrpSpPr>
            <p:nvPr/>
          </p:nvGrpSpPr>
          <p:grpSpPr bwMode="auto">
            <a:xfrm>
              <a:off x="697" y="2812"/>
              <a:ext cx="816" cy="906"/>
              <a:chOff x="697" y="2812"/>
              <a:chExt cx="816" cy="906"/>
            </a:xfrm>
          </p:grpSpPr>
          <p:sp>
            <p:nvSpPr>
              <p:cNvPr id="48" name="Rectangle 71">
                <a:extLst>
                  <a:ext uri="{FF2B5EF4-FFF2-40B4-BE49-F238E27FC236}">
                    <a16:creationId xmlns:a16="http://schemas.microsoft.com/office/drawing/2014/main" id="{1BDAD5D0-DA2D-46D0-A884-4A7B9122D645}"/>
                  </a:ext>
                </a:extLst>
              </p:cNvPr>
              <p:cNvSpPr>
                <a:spLocks noChangeArrowheads="1"/>
              </p:cNvSpPr>
              <p:nvPr/>
            </p:nvSpPr>
            <p:spPr bwMode="auto">
              <a:xfrm>
                <a:off x="697" y="2812"/>
                <a:ext cx="817" cy="907"/>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Rectangle 72">
                <a:extLst>
                  <a:ext uri="{FF2B5EF4-FFF2-40B4-BE49-F238E27FC236}">
                    <a16:creationId xmlns:a16="http://schemas.microsoft.com/office/drawing/2014/main" id="{B36EA8CD-CEF2-4F0B-99B5-2EB518AC6468}"/>
                  </a:ext>
                </a:extLst>
              </p:cNvPr>
              <p:cNvSpPr>
                <a:spLocks noChangeArrowheads="1"/>
              </p:cNvSpPr>
              <p:nvPr/>
            </p:nvSpPr>
            <p:spPr bwMode="auto">
              <a:xfrm>
                <a:off x="743" y="3447"/>
                <a:ext cx="68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FFFFFF"/>
                    </a:solidFill>
                    <a:ea typeface="新細明體" panose="02020500000000000000" pitchFamily="18" charset="-120"/>
                  </a:rPr>
                  <a:t>PEIM</a:t>
                </a:r>
              </a:p>
            </p:txBody>
          </p:sp>
          <p:sp>
            <p:nvSpPr>
              <p:cNvPr id="50" name="Rectangle 73">
                <a:extLst>
                  <a:ext uri="{FF2B5EF4-FFF2-40B4-BE49-F238E27FC236}">
                    <a16:creationId xmlns:a16="http://schemas.microsoft.com/office/drawing/2014/main" id="{E5BA7936-714B-4E09-AA50-F2453E6E9096}"/>
                  </a:ext>
                </a:extLst>
              </p:cNvPr>
              <p:cNvSpPr>
                <a:spLocks noChangeArrowheads="1"/>
              </p:cNvSpPr>
              <p:nvPr/>
            </p:nvSpPr>
            <p:spPr bwMode="auto">
              <a:xfrm>
                <a:off x="807" y="2857"/>
                <a:ext cx="611" cy="22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000000"/>
                    </a:solidFill>
                    <a:ea typeface="新細明體" panose="02020500000000000000" pitchFamily="18" charset="-120"/>
                  </a:rPr>
                  <a:t>Entry</a:t>
                </a:r>
              </a:p>
            </p:txBody>
          </p:sp>
          <p:sp>
            <p:nvSpPr>
              <p:cNvPr id="51" name="Rectangle 74">
                <a:extLst>
                  <a:ext uri="{FF2B5EF4-FFF2-40B4-BE49-F238E27FC236}">
                    <a16:creationId xmlns:a16="http://schemas.microsoft.com/office/drawing/2014/main" id="{A51C4FD4-74DC-4F61-9DA1-B9E8F51D044C}"/>
                  </a:ext>
                </a:extLst>
              </p:cNvPr>
              <p:cNvSpPr>
                <a:spLocks noChangeArrowheads="1"/>
              </p:cNvSpPr>
              <p:nvPr/>
            </p:nvSpPr>
            <p:spPr bwMode="auto">
              <a:xfrm>
                <a:off x="812" y="3130"/>
                <a:ext cx="611" cy="22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000000"/>
                    </a:solidFill>
                    <a:ea typeface="新細明體" panose="02020500000000000000" pitchFamily="18" charset="-120"/>
                  </a:rPr>
                  <a:t>PPI</a:t>
                </a:r>
                <a:r>
                  <a:rPr lang="en-US" altLang="zh-TW" sz="1400" b="1">
                    <a:solidFill>
                      <a:srgbClr val="000000"/>
                    </a:solidFill>
                    <a:ea typeface="新細明體" panose="02020500000000000000" pitchFamily="18" charset="-120"/>
                  </a:rPr>
                  <a:t>(s)</a:t>
                </a:r>
              </a:p>
            </p:txBody>
          </p:sp>
        </p:grpSp>
      </p:grpSp>
    </p:spTree>
    <p:extLst>
      <p:ext uri="{BB962C8B-B14F-4D97-AF65-F5344CB8AC3E}">
        <p14:creationId xmlns:p14="http://schemas.microsoft.com/office/powerpoint/2010/main" val="386840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additive="repl">
                                        <p:cTn id="18" dur="1" fill="hold">
                                          <p:stCondLst>
                                            <p:cond delay="0"/>
                                          </p:stCondLst>
                                        </p:cTn>
                                        <p:tgtEl>
                                          <p:spTgt spid="36"/>
                                        </p:tgtEl>
                                        <p:attrNameLst>
                                          <p:attrName>style.visibility</p:attrName>
                                        </p:attrNameLst>
                                      </p:cBhvr>
                                      <p:to>
                                        <p:strVal val="visible"/>
                                      </p:to>
                                    </p:se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additive="repl">
                                        <p:cTn id="22" dur="1" fill="hold">
                                          <p:stCondLst>
                                            <p:cond delay="0"/>
                                          </p:stCondLst>
                                        </p:cTn>
                                        <p:tgtEl>
                                          <p:spTgt spid="37"/>
                                        </p:tgtEl>
                                        <p:attrNameLst>
                                          <p:attrName>style.visibility</p:attrName>
                                        </p:attrNameLst>
                                      </p:cBhvr>
                                      <p:to>
                                        <p:strVal val="visible"/>
                                      </p:to>
                                    </p:se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Dependency</a:t>
            </a:r>
            <a:endParaRPr lang="en-US" dirty="0"/>
          </a:p>
        </p:txBody>
      </p:sp>
      <p:sp>
        <p:nvSpPr>
          <p:cNvPr id="56" name="CustomShape 25">
            <a:extLst>
              <a:ext uri="{FF2B5EF4-FFF2-40B4-BE49-F238E27FC236}">
                <a16:creationId xmlns:a16="http://schemas.microsoft.com/office/drawing/2014/main" id="{C957C20F-0C55-4D06-B773-8A5452B7793A}"/>
              </a:ext>
            </a:extLst>
          </p:cNvPr>
          <p:cNvSpPr/>
          <p:nvPr/>
        </p:nvSpPr>
        <p:spPr>
          <a:xfrm>
            <a:off x="4095660" y="1316230"/>
            <a:ext cx="6268320" cy="2806200"/>
          </a:xfrm>
          <a:prstGeom prst="rect">
            <a:avLst/>
          </a:prstGeom>
          <a:noFill/>
          <a:ln w="9360">
            <a:noFill/>
          </a:ln>
        </p:spPr>
        <p:style>
          <a:lnRef idx="0">
            <a:scrgbClr r="0" g="0" b="0"/>
          </a:lnRef>
          <a:fillRef idx="0">
            <a:scrgbClr r="0" g="0" b="0"/>
          </a:fillRef>
          <a:effectRef idx="0">
            <a:scrgbClr r="0" g="0" b="0"/>
          </a:effectRef>
          <a:fontRef idx="minor"/>
        </p:style>
        <p:txBody>
          <a:bodyPr lIns="92160" tIns="51120" rIns="92160" bIns="46080">
            <a:noAutofit/>
          </a:bodyPr>
          <a:lstStyle/>
          <a:p>
            <a:pPr marL="341280" indent="-339120">
              <a:lnSpc>
                <a:spcPct val="98000"/>
              </a:lnSpc>
              <a:spcBef>
                <a:spcPts val="499"/>
              </a:spcBef>
              <a:buClr>
                <a:srgbClr val="000000"/>
              </a:buClr>
              <a:buFont typeface="Arial"/>
              <a:buChar char="•"/>
            </a:pPr>
            <a:r>
              <a:rPr lang="en-US" sz="2000" b="0" strike="noStrike" spc="-1">
                <a:solidFill>
                  <a:srgbClr val="000000"/>
                </a:solidFill>
                <a:latin typeface="Segoe UI"/>
                <a:ea typeface="細明體"/>
              </a:rPr>
              <a:t>PEIMs may have dependencies on one another.</a:t>
            </a:r>
            <a:endParaRPr lang="en-US" sz="2000" b="0" strike="noStrike" spc="-1">
              <a:latin typeface="Arial"/>
            </a:endParaRPr>
          </a:p>
          <a:p>
            <a:pPr marL="341280" indent="-339120">
              <a:lnSpc>
                <a:spcPct val="98000"/>
              </a:lnSpc>
              <a:spcBef>
                <a:spcPts val="499"/>
              </a:spcBef>
              <a:buClr>
                <a:srgbClr val="000000"/>
              </a:buClr>
              <a:buFont typeface="Arial"/>
              <a:buChar char="•"/>
            </a:pPr>
            <a:r>
              <a:rPr lang="en-US" sz="2000" b="0" strike="noStrike" spc="-1">
                <a:solidFill>
                  <a:srgbClr val="000000"/>
                </a:solidFill>
                <a:latin typeface="Segoe UI"/>
                <a:ea typeface="細明體"/>
              </a:rPr>
              <a:t>Dependencies for a PEIM are recorded in a special section of the FV.</a:t>
            </a:r>
            <a:endParaRPr lang="en-US" sz="2000" b="0" strike="noStrike" spc="-1">
              <a:latin typeface="Arial"/>
            </a:endParaRPr>
          </a:p>
          <a:p>
            <a:pPr marL="341280" indent="-339120">
              <a:lnSpc>
                <a:spcPct val="98000"/>
              </a:lnSpc>
              <a:spcBef>
                <a:spcPts val="499"/>
              </a:spcBef>
              <a:buClr>
                <a:srgbClr val="000000"/>
              </a:buClr>
              <a:buFont typeface="Arial"/>
              <a:buChar char="•"/>
            </a:pPr>
            <a:r>
              <a:rPr lang="en-US" sz="2000" b="0" strike="noStrike" spc="-1">
                <a:solidFill>
                  <a:srgbClr val="000000"/>
                </a:solidFill>
                <a:latin typeface="Segoe UI"/>
                <a:ea typeface="細明體"/>
              </a:rPr>
              <a:t>Notation</a:t>
            </a:r>
            <a:endParaRPr lang="en-US" sz="2000" b="0" strike="noStrike" spc="-1">
              <a:latin typeface="Arial"/>
            </a:endParaRPr>
          </a:p>
          <a:p>
            <a:pPr marL="741240" lvl="1" indent="-281880">
              <a:lnSpc>
                <a:spcPct val="98000"/>
              </a:lnSpc>
              <a:spcBef>
                <a:spcPts val="451"/>
              </a:spcBef>
              <a:buClr>
                <a:srgbClr val="000000"/>
              </a:buClr>
              <a:buFont typeface="Arial"/>
              <a:buChar char="•"/>
            </a:pPr>
            <a:r>
              <a:rPr lang="en-US" sz="1800" b="1" strike="noStrike" spc="-1">
                <a:solidFill>
                  <a:srgbClr val="000000"/>
                </a:solidFill>
                <a:latin typeface="Segoe UI"/>
                <a:ea typeface="細明體"/>
              </a:rPr>
              <a:t>AcXpY = A consumes X and produces Y</a:t>
            </a:r>
            <a:endParaRPr lang="en-US" sz="1800" b="0" strike="noStrike" spc="-1">
              <a:latin typeface="Arial"/>
            </a:endParaRPr>
          </a:p>
          <a:p>
            <a:pPr marL="341280" indent="-339120">
              <a:lnSpc>
                <a:spcPct val="98000"/>
              </a:lnSpc>
              <a:spcBef>
                <a:spcPts val="499"/>
              </a:spcBef>
              <a:buClr>
                <a:srgbClr val="000000"/>
              </a:buClr>
              <a:buFont typeface="Arial"/>
              <a:buChar char="•"/>
            </a:pPr>
            <a:r>
              <a:rPr lang="en-US" sz="2000" b="0" strike="noStrike" spc="-1">
                <a:solidFill>
                  <a:srgbClr val="000000"/>
                </a:solidFill>
                <a:latin typeface="Segoe UI"/>
                <a:ea typeface="細明體"/>
              </a:rPr>
              <a:t>Uses Boolean operators AND, OR and NOT</a:t>
            </a:r>
            <a:endParaRPr lang="en-US" sz="2000" b="0" strike="noStrike" spc="-1">
              <a:latin typeface="Arial"/>
            </a:endParaRPr>
          </a:p>
        </p:txBody>
      </p:sp>
      <p:grpSp>
        <p:nvGrpSpPr>
          <p:cNvPr id="27" name="Group 4">
            <a:extLst>
              <a:ext uri="{FF2B5EF4-FFF2-40B4-BE49-F238E27FC236}">
                <a16:creationId xmlns:a16="http://schemas.microsoft.com/office/drawing/2014/main" id="{B502E2B0-AAC5-4186-92B3-5FFAAAC6C1AF}"/>
              </a:ext>
            </a:extLst>
          </p:cNvPr>
          <p:cNvGrpSpPr>
            <a:grpSpLocks/>
          </p:cNvGrpSpPr>
          <p:nvPr/>
        </p:nvGrpSpPr>
        <p:grpSpPr bwMode="auto">
          <a:xfrm>
            <a:off x="663575" y="2816225"/>
            <a:ext cx="1871663" cy="898525"/>
            <a:chOff x="322" y="1678"/>
            <a:chExt cx="1179" cy="566"/>
          </a:xfrm>
        </p:grpSpPr>
        <p:sp>
          <p:nvSpPr>
            <p:cNvPr id="28" name="Line 5">
              <a:extLst>
                <a:ext uri="{FF2B5EF4-FFF2-40B4-BE49-F238E27FC236}">
                  <a16:creationId xmlns:a16="http://schemas.microsoft.com/office/drawing/2014/main" id="{AAA2D8B6-632A-4E6D-9452-5DAB7B56DE27}"/>
                </a:ext>
              </a:extLst>
            </p:cNvPr>
            <p:cNvSpPr>
              <a:spLocks noChangeShapeType="1"/>
            </p:cNvSpPr>
            <p:nvPr/>
          </p:nvSpPr>
          <p:spPr bwMode="auto">
            <a:xfrm>
              <a:off x="911" y="1678"/>
              <a:ext cx="1" cy="135"/>
            </a:xfrm>
            <a:prstGeom prst="line">
              <a:avLst/>
            </a:prstGeom>
            <a:noFill/>
            <a:ln w="9360">
              <a:solidFill>
                <a:srgbClr val="CCCC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 name="Oval 6">
              <a:extLst>
                <a:ext uri="{FF2B5EF4-FFF2-40B4-BE49-F238E27FC236}">
                  <a16:creationId xmlns:a16="http://schemas.microsoft.com/office/drawing/2014/main" id="{A0D009EC-D25A-479D-9F97-B9034DAA28DB}"/>
                </a:ext>
              </a:extLst>
            </p:cNvPr>
            <p:cNvSpPr>
              <a:spLocks noChangeArrowheads="1"/>
            </p:cNvSpPr>
            <p:nvPr/>
          </p:nvSpPr>
          <p:spPr bwMode="auto">
            <a:xfrm>
              <a:off x="322" y="1859"/>
              <a:ext cx="1180" cy="363"/>
            </a:xfrm>
            <a:prstGeom prst="ellipse">
              <a:avLst/>
            </a:prstGeom>
            <a:solidFill>
              <a:srgbClr val="3B6A4D"/>
            </a:solidFill>
            <a:ln w="9360">
              <a:solidFill>
                <a:srgbClr val="CC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Rectangle 7">
              <a:extLst>
                <a:ext uri="{FF2B5EF4-FFF2-40B4-BE49-F238E27FC236}">
                  <a16:creationId xmlns:a16="http://schemas.microsoft.com/office/drawing/2014/main" id="{DA74AD13-544A-488B-8D23-F2D71507D6E7}"/>
                </a:ext>
              </a:extLst>
            </p:cNvPr>
            <p:cNvSpPr>
              <a:spLocks noChangeArrowheads="1"/>
            </p:cNvSpPr>
            <p:nvPr/>
          </p:nvSpPr>
          <p:spPr bwMode="auto">
            <a:xfrm>
              <a:off x="368" y="1813"/>
              <a:ext cx="1104"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sz="2000" b="1">
                  <a:solidFill>
                    <a:srgbClr val="FFFFFF"/>
                  </a:solidFill>
                  <a:ea typeface="新細明體" panose="02020500000000000000" pitchFamily="18" charset="-120"/>
                </a:rPr>
                <a:t>PEI Dispatcher</a:t>
              </a:r>
            </a:p>
          </p:txBody>
        </p:sp>
      </p:grpSp>
      <p:sp>
        <p:nvSpPr>
          <p:cNvPr id="31" name="Rectangle 8">
            <a:extLst>
              <a:ext uri="{FF2B5EF4-FFF2-40B4-BE49-F238E27FC236}">
                <a16:creationId xmlns:a16="http://schemas.microsoft.com/office/drawing/2014/main" id="{97A5F409-F6CB-4D50-90FA-DCB3938FCA1C}"/>
              </a:ext>
            </a:extLst>
          </p:cNvPr>
          <p:cNvSpPr>
            <a:spLocks noChangeArrowheads="1"/>
          </p:cNvSpPr>
          <p:nvPr/>
        </p:nvSpPr>
        <p:spPr bwMode="auto">
          <a:xfrm>
            <a:off x="1123950" y="4373563"/>
            <a:ext cx="1296988" cy="1439862"/>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Rectangle 9">
            <a:extLst>
              <a:ext uri="{FF2B5EF4-FFF2-40B4-BE49-F238E27FC236}">
                <a16:creationId xmlns:a16="http://schemas.microsoft.com/office/drawing/2014/main" id="{78C6C8D2-EED0-4DC3-BABB-DD242ADF27BA}"/>
              </a:ext>
            </a:extLst>
          </p:cNvPr>
          <p:cNvSpPr>
            <a:spLocks noChangeArrowheads="1"/>
          </p:cNvSpPr>
          <p:nvPr/>
        </p:nvSpPr>
        <p:spPr bwMode="auto">
          <a:xfrm>
            <a:off x="1196975" y="5381625"/>
            <a:ext cx="1079500"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FFFFFF"/>
                </a:solidFill>
                <a:ea typeface="新細明體" panose="02020500000000000000" pitchFamily="18" charset="-120"/>
              </a:rPr>
              <a:t>PEIM</a:t>
            </a:r>
          </a:p>
        </p:txBody>
      </p:sp>
      <p:sp>
        <p:nvSpPr>
          <p:cNvPr id="57" name="Rectangle 10">
            <a:extLst>
              <a:ext uri="{FF2B5EF4-FFF2-40B4-BE49-F238E27FC236}">
                <a16:creationId xmlns:a16="http://schemas.microsoft.com/office/drawing/2014/main" id="{E2F43275-896C-46C7-ACFC-1C9200C5ADF3}"/>
              </a:ext>
            </a:extLst>
          </p:cNvPr>
          <p:cNvSpPr>
            <a:spLocks noChangeArrowheads="1"/>
          </p:cNvSpPr>
          <p:nvPr/>
        </p:nvSpPr>
        <p:spPr bwMode="auto">
          <a:xfrm>
            <a:off x="1298575" y="4525963"/>
            <a:ext cx="969963" cy="423862"/>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000000"/>
                </a:solidFill>
                <a:ea typeface="新細明體" panose="02020500000000000000" pitchFamily="18" charset="-120"/>
              </a:rPr>
              <a:t>Entry</a:t>
            </a:r>
          </a:p>
        </p:txBody>
      </p:sp>
      <p:grpSp>
        <p:nvGrpSpPr>
          <p:cNvPr id="58" name="Group 11">
            <a:extLst>
              <a:ext uri="{FF2B5EF4-FFF2-40B4-BE49-F238E27FC236}">
                <a16:creationId xmlns:a16="http://schemas.microsoft.com/office/drawing/2014/main" id="{3D7C1E54-8C7B-4865-8D3D-47D1099A74AB}"/>
              </a:ext>
            </a:extLst>
          </p:cNvPr>
          <p:cNvGrpSpPr>
            <a:grpSpLocks/>
          </p:cNvGrpSpPr>
          <p:nvPr/>
        </p:nvGrpSpPr>
        <p:grpSpPr bwMode="auto">
          <a:xfrm>
            <a:off x="5992813" y="4408488"/>
            <a:ext cx="1295400" cy="1438275"/>
            <a:chOff x="3679" y="2681"/>
            <a:chExt cx="816" cy="906"/>
          </a:xfrm>
        </p:grpSpPr>
        <p:sp>
          <p:nvSpPr>
            <p:cNvPr id="59" name="Rectangle 12">
              <a:extLst>
                <a:ext uri="{FF2B5EF4-FFF2-40B4-BE49-F238E27FC236}">
                  <a16:creationId xmlns:a16="http://schemas.microsoft.com/office/drawing/2014/main" id="{AAC4BCBD-28D0-4FAF-A26A-3084A55F62B7}"/>
                </a:ext>
              </a:extLst>
            </p:cNvPr>
            <p:cNvSpPr>
              <a:spLocks noChangeArrowheads="1"/>
            </p:cNvSpPr>
            <p:nvPr/>
          </p:nvSpPr>
          <p:spPr bwMode="auto">
            <a:xfrm>
              <a:off x="3679" y="2681"/>
              <a:ext cx="817" cy="907"/>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0" name="Rectangle 13">
              <a:extLst>
                <a:ext uri="{FF2B5EF4-FFF2-40B4-BE49-F238E27FC236}">
                  <a16:creationId xmlns:a16="http://schemas.microsoft.com/office/drawing/2014/main" id="{28D466AC-794D-462E-BD58-30ECD245C6EB}"/>
                </a:ext>
              </a:extLst>
            </p:cNvPr>
            <p:cNvSpPr>
              <a:spLocks noChangeArrowheads="1"/>
            </p:cNvSpPr>
            <p:nvPr/>
          </p:nvSpPr>
          <p:spPr bwMode="auto">
            <a:xfrm>
              <a:off x="3725" y="3316"/>
              <a:ext cx="68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FFFFFF"/>
                  </a:solidFill>
                  <a:ea typeface="新細明體" panose="02020500000000000000" pitchFamily="18" charset="-120"/>
                </a:rPr>
                <a:t>PEIM</a:t>
              </a:r>
            </a:p>
          </p:txBody>
        </p:sp>
        <p:sp>
          <p:nvSpPr>
            <p:cNvPr id="61" name="Rectangle 14">
              <a:extLst>
                <a:ext uri="{FF2B5EF4-FFF2-40B4-BE49-F238E27FC236}">
                  <a16:creationId xmlns:a16="http://schemas.microsoft.com/office/drawing/2014/main" id="{10CAC3C5-F9B8-4244-94F8-E8EBA553E176}"/>
                </a:ext>
              </a:extLst>
            </p:cNvPr>
            <p:cNvSpPr>
              <a:spLocks noChangeArrowheads="1"/>
            </p:cNvSpPr>
            <p:nvPr/>
          </p:nvSpPr>
          <p:spPr bwMode="auto">
            <a:xfrm>
              <a:off x="3789" y="2777"/>
              <a:ext cx="611" cy="26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000000"/>
                  </a:solidFill>
                  <a:ea typeface="新細明體" panose="02020500000000000000" pitchFamily="18" charset="-120"/>
                </a:rPr>
                <a:t>Entry</a:t>
              </a:r>
            </a:p>
          </p:txBody>
        </p:sp>
      </p:grpSp>
      <p:grpSp>
        <p:nvGrpSpPr>
          <p:cNvPr id="62" name="Group 15">
            <a:extLst>
              <a:ext uri="{FF2B5EF4-FFF2-40B4-BE49-F238E27FC236}">
                <a16:creationId xmlns:a16="http://schemas.microsoft.com/office/drawing/2014/main" id="{09D78CEF-805D-42C3-9A96-6AEBB562466F}"/>
              </a:ext>
            </a:extLst>
          </p:cNvPr>
          <p:cNvGrpSpPr>
            <a:grpSpLocks/>
          </p:cNvGrpSpPr>
          <p:nvPr/>
        </p:nvGrpSpPr>
        <p:grpSpPr bwMode="auto">
          <a:xfrm>
            <a:off x="4695825" y="5056188"/>
            <a:ext cx="503238" cy="141287"/>
            <a:chOff x="2862" y="3089"/>
            <a:chExt cx="317" cy="89"/>
          </a:xfrm>
        </p:grpSpPr>
        <p:sp>
          <p:nvSpPr>
            <p:cNvPr id="63" name="Oval 16">
              <a:extLst>
                <a:ext uri="{FF2B5EF4-FFF2-40B4-BE49-F238E27FC236}">
                  <a16:creationId xmlns:a16="http://schemas.microsoft.com/office/drawing/2014/main" id="{FEDECCF7-597E-4567-99C0-9674A26F6463}"/>
                </a:ext>
              </a:extLst>
            </p:cNvPr>
            <p:cNvSpPr>
              <a:spLocks noChangeArrowheads="1"/>
            </p:cNvSpPr>
            <p:nvPr/>
          </p:nvSpPr>
          <p:spPr bwMode="auto">
            <a:xfrm>
              <a:off x="2862" y="3089"/>
              <a:ext cx="91" cy="90"/>
            </a:xfrm>
            <a:prstGeom prst="ellipse">
              <a:avLst/>
            </a:prstGeom>
            <a:solidFill>
              <a:srgbClr val="00CC99"/>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4" name="Oval 17">
              <a:extLst>
                <a:ext uri="{FF2B5EF4-FFF2-40B4-BE49-F238E27FC236}">
                  <a16:creationId xmlns:a16="http://schemas.microsoft.com/office/drawing/2014/main" id="{C8FE5996-46F4-4BD4-BBD6-9DB9C61ADB08}"/>
                </a:ext>
              </a:extLst>
            </p:cNvPr>
            <p:cNvSpPr>
              <a:spLocks noChangeArrowheads="1"/>
            </p:cNvSpPr>
            <p:nvPr/>
          </p:nvSpPr>
          <p:spPr bwMode="auto">
            <a:xfrm>
              <a:off x="3089" y="3089"/>
              <a:ext cx="91" cy="90"/>
            </a:xfrm>
            <a:prstGeom prst="ellipse">
              <a:avLst/>
            </a:prstGeom>
            <a:solidFill>
              <a:srgbClr val="00CC99"/>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65" name="Oval 18">
            <a:extLst>
              <a:ext uri="{FF2B5EF4-FFF2-40B4-BE49-F238E27FC236}">
                <a16:creationId xmlns:a16="http://schemas.microsoft.com/office/drawing/2014/main" id="{30C4C74B-ACB4-4788-A130-8E5937367A11}"/>
              </a:ext>
            </a:extLst>
          </p:cNvPr>
          <p:cNvSpPr>
            <a:spLocks noChangeArrowheads="1"/>
          </p:cNvSpPr>
          <p:nvPr/>
        </p:nvSpPr>
        <p:spPr bwMode="auto">
          <a:xfrm>
            <a:off x="5416550" y="5056188"/>
            <a:ext cx="144463" cy="142875"/>
          </a:xfrm>
          <a:prstGeom prst="ellipse">
            <a:avLst/>
          </a:prstGeom>
          <a:solidFill>
            <a:srgbClr val="00CC99"/>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6" name="Rectangle 19">
            <a:extLst>
              <a:ext uri="{FF2B5EF4-FFF2-40B4-BE49-F238E27FC236}">
                <a16:creationId xmlns:a16="http://schemas.microsoft.com/office/drawing/2014/main" id="{D502D14F-00F2-4666-9333-83A700C4A63D}"/>
              </a:ext>
            </a:extLst>
          </p:cNvPr>
          <p:cNvSpPr>
            <a:spLocks noChangeArrowheads="1"/>
          </p:cNvSpPr>
          <p:nvPr/>
        </p:nvSpPr>
        <p:spPr bwMode="auto">
          <a:xfrm>
            <a:off x="2922588" y="4408488"/>
            <a:ext cx="1296987" cy="1439862"/>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7" name="Rectangle 20">
            <a:extLst>
              <a:ext uri="{FF2B5EF4-FFF2-40B4-BE49-F238E27FC236}">
                <a16:creationId xmlns:a16="http://schemas.microsoft.com/office/drawing/2014/main" id="{1C24B72F-BB2C-4FD2-880D-8677F9AF4C98}"/>
              </a:ext>
            </a:extLst>
          </p:cNvPr>
          <p:cNvSpPr>
            <a:spLocks noChangeArrowheads="1"/>
          </p:cNvSpPr>
          <p:nvPr/>
        </p:nvSpPr>
        <p:spPr bwMode="auto">
          <a:xfrm>
            <a:off x="2995613" y="5416550"/>
            <a:ext cx="1079500"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FFFFFF"/>
                </a:solidFill>
                <a:ea typeface="新細明體" panose="02020500000000000000" pitchFamily="18" charset="-120"/>
              </a:rPr>
              <a:t>PEIM</a:t>
            </a:r>
          </a:p>
        </p:txBody>
      </p:sp>
      <p:sp>
        <p:nvSpPr>
          <p:cNvPr id="68" name="Rectangle 21">
            <a:extLst>
              <a:ext uri="{FF2B5EF4-FFF2-40B4-BE49-F238E27FC236}">
                <a16:creationId xmlns:a16="http://schemas.microsoft.com/office/drawing/2014/main" id="{7B851BC1-6907-4B01-8794-DEBCB5E2D0BF}"/>
              </a:ext>
            </a:extLst>
          </p:cNvPr>
          <p:cNvSpPr>
            <a:spLocks noChangeArrowheads="1"/>
          </p:cNvSpPr>
          <p:nvPr/>
        </p:nvSpPr>
        <p:spPr bwMode="auto">
          <a:xfrm>
            <a:off x="3097213" y="4479925"/>
            <a:ext cx="969962" cy="360363"/>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000000"/>
                </a:solidFill>
                <a:ea typeface="新細明體" panose="02020500000000000000" pitchFamily="18" charset="-120"/>
              </a:rPr>
              <a:t>Entry</a:t>
            </a:r>
          </a:p>
        </p:txBody>
      </p:sp>
      <p:sp>
        <p:nvSpPr>
          <p:cNvPr id="69" name="Line 22">
            <a:extLst>
              <a:ext uri="{FF2B5EF4-FFF2-40B4-BE49-F238E27FC236}">
                <a16:creationId xmlns:a16="http://schemas.microsoft.com/office/drawing/2014/main" id="{9B83B332-46B9-4AEF-83DB-3ED760FE34A4}"/>
              </a:ext>
            </a:extLst>
          </p:cNvPr>
          <p:cNvSpPr>
            <a:spLocks noChangeShapeType="1"/>
          </p:cNvSpPr>
          <p:nvPr/>
        </p:nvSpPr>
        <p:spPr bwMode="auto">
          <a:xfrm>
            <a:off x="1628775" y="3652838"/>
            <a:ext cx="142875" cy="720725"/>
          </a:xfrm>
          <a:prstGeom prst="line">
            <a:avLst/>
          </a:prstGeom>
          <a:noFill/>
          <a:ln w="9398">
            <a:solidFill>
              <a:schemeClr val="folHlink"/>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 name="Rectangle 24">
            <a:extLst>
              <a:ext uri="{FF2B5EF4-FFF2-40B4-BE49-F238E27FC236}">
                <a16:creationId xmlns:a16="http://schemas.microsoft.com/office/drawing/2014/main" id="{A1F8DBA7-DEF6-4C8B-9094-90F49F29B4EA}"/>
              </a:ext>
            </a:extLst>
          </p:cNvPr>
          <p:cNvSpPr>
            <a:spLocks noChangeArrowheads="1"/>
          </p:cNvSpPr>
          <p:nvPr/>
        </p:nvSpPr>
        <p:spPr bwMode="auto">
          <a:xfrm>
            <a:off x="3094038" y="4949825"/>
            <a:ext cx="969962" cy="360363"/>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defTabSz="449263"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US" altLang="zh-TW" b="1">
                <a:solidFill>
                  <a:srgbClr val="000000"/>
                </a:solidFill>
                <a:ea typeface="新細明體" panose="02020500000000000000" pitchFamily="18" charset="-120"/>
              </a:rPr>
              <a:t>A PPI</a:t>
            </a:r>
            <a:endParaRPr lang="en-US" altLang="zh-TW" sz="1400" b="1">
              <a:solidFill>
                <a:srgbClr val="000000"/>
              </a:solidFill>
              <a:ea typeface="新細明體" panose="02020500000000000000" pitchFamily="18" charset="-120"/>
            </a:endParaRPr>
          </a:p>
        </p:txBody>
      </p:sp>
      <p:sp>
        <p:nvSpPr>
          <p:cNvPr id="71" name="Line 25">
            <a:extLst>
              <a:ext uri="{FF2B5EF4-FFF2-40B4-BE49-F238E27FC236}">
                <a16:creationId xmlns:a16="http://schemas.microsoft.com/office/drawing/2014/main" id="{17D6A3D1-5457-4A4C-9485-A4047885D363}"/>
              </a:ext>
            </a:extLst>
          </p:cNvPr>
          <p:cNvSpPr>
            <a:spLocks noChangeShapeType="1"/>
          </p:cNvSpPr>
          <p:nvPr/>
        </p:nvSpPr>
        <p:spPr bwMode="auto">
          <a:xfrm>
            <a:off x="1628775" y="3652838"/>
            <a:ext cx="2016125" cy="72072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2" name="Line 26">
            <a:extLst>
              <a:ext uri="{FF2B5EF4-FFF2-40B4-BE49-F238E27FC236}">
                <a16:creationId xmlns:a16="http://schemas.microsoft.com/office/drawing/2014/main" id="{BBD9070D-6DE9-40BA-BE49-D87848A648AF}"/>
              </a:ext>
            </a:extLst>
          </p:cNvPr>
          <p:cNvSpPr>
            <a:spLocks noChangeShapeType="1"/>
          </p:cNvSpPr>
          <p:nvPr/>
        </p:nvSpPr>
        <p:spPr bwMode="auto">
          <a:xfrm>
            <a:off x="1628775" y="3652838"/>
            <a:ext cx="3167063" cy="72072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3" name="Line 27">
            <a:extLst>
              <a:ext uri="{FF2B5EF4-FFF2-40B4-BE49-F238E27FC236}">
                <a16:creationId xmlns:a16="http://schemas.microsoft.com/office/drawing/2014/main" id="{DD82C8A4-1ED1-43EA-96FD-703510E482F7}"/>
              </a:ext>
            </a:extLst>
          </p:cNvPr>
          <p:cNvSpPr>
            <a:spLocks noChangeShapeType="1"/>
          </p:cNvSpPr>
          <p:nvPr/>
        </p:nvSpPr>
        <p:spPr bwMode="auto">
          <a:xfrm>
            <a:off x="1628775" y="3652838"/>
            <a:ext cx="5040313" cy="72072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4" name="Line 28">
            <a:extLst>
              <a:ext uri="{FF2B5EF4-FFF2-40B4-BE49-F238E27FC236}">
                <a16:creationId xmlns:a16="http://schemas.microsoft.com/office/drawing/2014/main" id="{88B4D104-6175-4D2A-AC01-4C0F4EEEE8E7}"/>
              </a:ext>
            </a:extLst>
          </p:cNvPr>
          <p:cNvSpPr>
            <a:spLocks noChangeShapeType="1"/>
          </p:cNvSpPr>
          <p:nvPr/>
        </p:nvSpPr>
        <p:spPr bwMode="auto">
          <a:xfrm>
            <a:off x="1628775" y="3652838"/>
            <a:ext cx="142875" cy="72072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5" name="Text Box 29">
            <a:extLst>
              <a:ext uri="{FF2B5EF4-FFF2-40B4-BE49-F238E27FC236}">
                <a16:creationId xmlns:a16="http://schemas.microsoft.com/office/drawing/2014/main" id="{A90A9D59-76A3-45E4-AE79-9F89E942A6C6}"/>
              </a:ext>
            </a:extLst>
          </p:cNvPr>
          <p:cNvSpPr txBox="1">
            <a:spLocks noChangeArrowheads="1"/>
          </p:cNvSpPr>
          <p:nvPr/>
        </p:nvSpPr>
        <p:spPr bwMode="auto">
          <a:xfrm>
            <a:off x="1195388" y="5021263"/>
            <a:ext cx="1085850" cy="366712"/>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
                <a:srgbClr val="000000"/>
              </a:buClr>
              <a:buSzPct val="100000"/>
              <a:buFont typeface="Times New Roman" panose="02020603050405020304" pitchFamily="18" charset="0"/>
              <a:buNone/>
            </a:pPr>
            <a:r>
              <a:rPr lang="en-US" altLang="zh-TW" b="1">
                <a:solidFill>
                  <a:srgbClr val="FF0000"/>
                </a:solidFill>
                <a:latin typeface="Calibri" panose="020F0502020204030204" pitchFamily="34" charset="0"/>
                <a:ea typeface="新細明體" panose="02020500000000000000" pitchFamily="18" charset="-120"/>
              </a:rPr>
              <a:t>Use A PPI</a:t>
            </a:r>
            <a:endParaRPr lang="zh-TW" altLang="en-US">
              <a:solidFill>
                <a:srgbClr val="FF0000"/>
              </a:solidFill>
              <a:latin typeface="Calibri" panose="020F0502020204030204" pitchFamily="34" charset="0"/>
              <a:ea typeface="新細明體" panose="02020500000000000000" pitchFamily="18" charset="-120"/>
            </a:endParaRPr>
          </a:p>
        </p:txBody>
      </p:sp>
      <p:sp>
        <p:nvSpPr>
          <p:cNvPr id="76" name="Line 30">
            <a:extLst>
              <a:ext uri="{FF2B5EF4-FFF2-40B4-BE49-F238E27FC236}">
                <a16:creationId xmlns:a16="http://schemas.microsoft.com/office/drawing/2014/main" id="{CEEC6A0E-D8B2-4F20-854B-27B94CFF3BE3}"/>
              </a:ext>
            </a:extLst>
          </p:cNvPr>
          <p:cNvSpPr>
            <a:spLocks noChangeShapeType="1"/>
          </p:cNvSpPr>
          <p:nvPr/>
        </p:nvSpPr>
        <p:spPr bwMode="auto">
          <a:xfrm flipV="1">
            <a:off x="2276475" y="5165725"/>
            <a:ext cx="792163" cy="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extLst>
      <p:ext uri="{BB962C8B-B14F-4D97-AF65-F5344CB8AC3E}">
        <p14:creationId xmlns:p14="http://schemas.microsoft.com/office/powerpoint/2010/main" val="1570526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dissolve">
                                      <p:cBhvr>
                                        <p:cTn id="11" dur="500"/>
                                        <p:tgtEl>
                                          <p:spTgt spid="7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1"/>
                                        </p:tgtEl>
                                        <p:attrNameLst>
                                          <p:attrName>style.visibility</p:attrName>
                                        </p:attrNameLst>
                                      </p:cBhvr>
                                      <p:to>
                                        <p:strVal val="visible"/>
                                      </p:to>
                                    </p:set>
                                  </p:childTnLst>
                                </p:cTn>
                              </p:par>
                              <p:par>
                                <p:cTn id="16" presetID="1" presetClass="exit" presetSubtype="0" fill="hold" nodeType="withEffect">
                                  <p:stCondLst>
                                    <p:cond delay="0"/>
                                  </p:stCondLst>
                                  <p:childTnLst>
                                    <p:set>
                                      <p:cBhvr>
                                        <p:cTn id="17" dur="1" fill="hold">
                                          <p:stCondLst>
                                            <p:cond delay="0"/>
                                          </p:stCondLst>
                                        </p:cTn>
                                        <p:tgtEl>
                                          <p:spTgt spid="69"/>
                                        </p:tgtEl>
                                        <p:attrNameLst>
                                          <p:attrName>style.visibility</p:attrName>
                                        </p:attrNameLst>
                                      </p:cBhvr>
                                      <p:to>
                                        <p:strVal val="hidden"/>
                                      </p:to>
                                    </p:set>
                                  </p:childTnLst>
                                </p:cTn>
                              </p:par>
                              <p:par>
                                <p:cTn id="18" presetID="1" presetClass="entr" presetSubtype="0" fill="hold" grpId="0" nodeType="withEffect">
                                  <p:stCondLst>
                                    <p:cond delay="0"/>
                                  </p:stCondLst>
                                  <p:childTnLst>
                                    <p:set>
                                      <p:cBhvr>
                                        <p:cTn id="19" dur="1" fill="hold">
                                          <p:stCondLst>
                                            <p:cond delay="0"/>
                                          </p:stCondLst>
                                        </p:cTn>
                                        <p:tgtEl>
                                          <p:spTgt spid="7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2"/>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71"/>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3"/>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72"/>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4"/>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73"/>
                                        </p:tgtEl>
                                        <p:attrNameLst>
                                          <p:attrName>style.visibility</p:attrName>
                                        </p:attrNameLst>
                                      </p:cBhvr>
                                      <p:to>
                                        <p:strVal val="hidden"/>
                                      </p:to>
                                    </p:set>
                                  </p:childTnLst>
                                </p:cTn>
                              </p:par>
                              <p:par>
                                <p:cTn id="38" presetID="1" presetClass="entr" presetSubtype="0" fill="hold" nodeType="withEffect">
                                  <p:stCondLst>
                                    <p:cond delay="0"/>
                                  </p:stCondLst>
                                  <p:childTnLst>
                                    <p:set>
                                      <p:cBhvr>
                                        <p:cTn id="39"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 Components</a:t>
            </a:r>
            <a:endParaRPr lang="en-US" dirty="0"/>
          </a:p>
        </p:txBody>
      </p:sp>
      <p:sp>
        <p:nvSpPr>
          <p:cNvPr id="27" name="CustomShape 2">
            <a:extLst>
              <a:ext uri="{FF2B5EF4-FFF2-40B4-BE49-F238E27FC236}">
                <a16:creationId xmlns:a16="http://schemas.microsoft.com/office/drawing/2014/main" id="{3D2F15E4-8CF1-4E34-8306-CC8CB0B52ED2}"/>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PEIM-to-PEIM Interfaces (PPIs)</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PEIMs communicate with each other using a structure called a PEIM-to-PEIM Interface (PPI).</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Architectural PPIs</a:t>
            </a:r>
            <a:endParaRPr lang="en-US" sz="2400" b="0" strike="noStrike" spc="-1" dirty="0">
              <a:latin typeface="Arial"/>
            </a:endParaRPr>
          </a:p>
          <a:p>
            <a:pPr marL="1143000" lvl="2" indent="-226440">
              <a:lnSpc>
                <a:spcPct val="90000"/>
              </a:lnSpc>
              <a:spcBef>
                <a:spcPts val="451"/>
              </a:spcBef>
              <a:buClr>
                <a:srgbClr val="3F3F3F"/>
              </a:buClr>
              <a:buFont typeface="Arial"/>
              <a:buChar char="•"/>
            </a:pPr>
            <a:r>
              <a:rPr lang="en-US" sz="2000" b="0" strike="noStrike" spc="-1" dirty="0">
                <a:solidFill>
                  <a:srgbClr val="3F3F3F"/>
                </a:solidFill>
                <a:latin typeface="Segoe UI"/>
                <a:ea typeface="DejaVu Sans"/>
              </a:rPr>
              <a:t>An architectural PPI is a PPI whose GUID is described in the PEI CIS and is a GUID known to the PEI Foundation.</a:t>
            </a:r>
            <a:endParaRPr lang="en-US" sz="2000" b="0" strike="noStrike" spc="-1" dirty="0">
              <a:latin typeface="Arial"/>
            </a:endParaRPr>
          </a:p>
          <a:p>
            <a:pPr marL="1143000" lvl="2" indent="-226440">
              <a:lnSpc>
                <a:spcPct val="90000"/>
              </a:lnSpc>
              <a:spcBef>
                <a:spcPts val="451"/>
              </a:spcBef>
              <a:buClr>
                <a:srgbClr val="3F3F3F"/>
              </a:buClr>
              <a:buFont typeface="Arial"/>
              <a:buChar char="•"/>
            </a:pPr>
            <a:r>
              <a:rPr lang="en-US" sz="2000" b="0" strike="noStrike" spc="-1" dirty="0">
                <a:solidFill>
                  <a:srgbClr val="3F3F3F"/>
                </a:solidFill>
                <a:latin typeface="Segoe UI"/>
                <a:ea typeface="DejaVu Sans"/>
              </a:rPr>
              <a:t>These were interfaces consumed by the PEI Foundation and are not intended to be consumed by other PEIMs.</a:t>
            </a:r>
            <a:endParaRPr lang="en-US" sz="20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Additional PPIs</a:t>
            </a:r>
            <a:endParaRPr lang="en-US" sz="2400" b="0" strike="noStrike" spc="-1" dirty="0">
              <a:latin typeface="Arial"/>
            </a:endParaRPr>
          </a:p>
          <a:p>
            <a:pPr marL="1143000" lvl="2" indent="-226440">
              <a:lnSpc>
                <a:spcPct val="90000"/>
              </a:lnSpc>
              <a:spcBef>
                <a:spcPts val="451"/>
              </a:spcBef>
              <a:buClr>
                <a:srgbClr val="3F3F3F"/>
              </a:buClr>
              <a:buFont typeface="Arial"/>
              <a:buChar char="•"/>
            </a:pPr>
            <a:r>
              <a:rPr lang="en-US" sz="2000" b="0" strike="noStrike" spc="-1" dirty="0">
                <a:solidFill>
                  <a:srgbClr val="3F3F3F"/>
                </a:solidFill>
                <a:latin typeface="Segoe UI"/>
                <a:ea typeface="DejaVu Sans"/>
              </a:rPr>
              <a:t>Additional PPIs are PPIs that are important for interoperability but are not depended upon by the PEI Foundation.</a:t>
            </a:r>
            <a:endParaRPr lang="en-US" sz="2000" b="0" strike="noStrike" spc="-1" dirty="0">
              <a:latin typeface="Arial"/>
            </a:endParaRPr>
          </a:p>
        </p:txBody>
      </p:sp>
    </p:spTree>
    <p:extLst>
      <p:ext uri="{BB962C8B-B14F-4D97-AF65-F5344CB8AC3E}">
        <p14:creationId xmlns:p14="http://schemas.microsoft.com/office/powerpoint/2010/main" val="1035569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PPI Descriptor</a:t>
            </a:r>
            <a:endParaRPr lang="en-US" dirty="0"/>
          </a:p>
        </p:txBody>
      </p:sp>
      <p:sp>
        <p:nvSpPr>
          <p:cNvPr id="5" name="CustomShape 2">
            <a:extLst>
              <a:ext uri="{FF2B5EF4-FFF2-40B4-BE49-F238E27FC236}">
                <a16:creationId xmlns:a16="http://schemas.microsoft.com/office/drawing/2014/main" id="{068475ED-5310-4C01-BEA3-5A9C0A601B71}"/>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8500" lnSpcReduction="10000"/>
          </a:bodyPr>
          <a:lstStyle/>
          <a:p>
            <a:pPr marL="228600" indent="-226440">
              <a:lnSpc>
                <a:spcPct val="80000"/>
              </a:lnSpc>
              <a:spcBef>
                <a:spcPts val="1001"/>
              </a:spcBef>
              <a:buClr>
                <a:srgbClr val="3F3F3F"/>
              </a:buClr>
              <a:buFont typeface="Arial"/>
              <a:buChar char="•"/>
            </a:pPr>
            <a:r>
              <a:rPr lang="en-US" sz="2800" b="1" strike="noStrike" spc="-1" dirty="0">
                <a:solidFill>
                  <a:srgbClr val="3F3F3F"/>
                </a:solidFill>
                <a:latin typeface="Segoe UI"/>
                <a:ea typeface="新細明體"/>
              </a:rPr>
              <a:t>EFI_PEI_PPI_DESCRIPTOR</a:t>
            </a:r>
            <a:endParaRPr lang="en-US" sz="2800" b="0" strike="noStrike" spc="-1" dirty="0">
              <a:latin typeface="Arial"/>
            </a:endParaRPr>
          </a:p>
          <a:p>
            <a:pPr marL="228600" indent="-226440">
              <a:lnSpc>
                <a:spcPct val="80000"/>
              </a:lnSpc>
              <a:spcBef>
                <a:spcPts val="1001"/>
              </a:spcBef>
            </a:pPr>
            <a:endParaRPr lang="en-US" sz="28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typedef struct {</a:t>
            </a: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  UINTN		Flags;</a:t>
            </a: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  EFI_GUID	*</a:t>
            </a:r>
            <a:r>
              <a:rPr lang="en-US" sz="1600" b="1" strike="noStrike" spc="-1" dirty="0" err="1">
                <a:solidFill>
                  <a:srgbClr val="262626"/>
                </a:solidFill>
                <a:latin typeface="Segoe UI"/>
                <a:ea typeface="新細明體"/>
              </a:rPr>
              <a:t>Guid</a:t>
            </a:r>
            <a:r>
              <a:rPr lang="en-US" sz="1600" b="1" strike="noStrike" spc="-1" dirty="0">
                <a:solidFill>
                  <a:srgbClr val="262626"/>
                </a:solidFill>
                <a:latin typeface="Segoe UI"/>
                <a:ea typeface="新細明體"/>
              </a:rPr>
              <a:t>;</a:t>
            </a: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  VOID		*</a:t>
            </a:r>
            <a:r>
              <a:rPr lang="en-US" sz="1600" b="1" strike="noStrike" spc="-1" dirty="0" err="1">
                <a:solidFill>
                  <a:srgbClr val="262626"/>
                </a:solidFill>
                <a:latin typeface="Segoe UI"/>
                <a:ea typeface="新細明體"/>
              </a:rPr>
              <a:t>Ppi</a:t>
            </a:r>
            <a:r>
              <a:rPr lang="en-US" sz="1600" b="1" strike="noStrike" spc="-1" dirty="0">
                <a:solidFill>
                  <a:srgbClr val="262626"/>
                </a:solidFill>
                <a:latin typeface="Segoe UI"/>
                <a:ea typeface="新細明體"/>
              </a:rPr>
              <a:t>;</a:t>
            </a: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 EFI_PEI_PPI_DESCRIPTOR;</a:t>
            </a:r>
            <a:endParaRPr lang="en-US" sz="1600" b="0" strike="noStrike" spc="-1" dirty="0">
              <a:latin typeface="Arial"/>
            </a:endParaRPr>
          </a:p>
          <a:p>
            <a:pPr marL="228600" indent="-226440">
              <a:lnSpc>
                <a:spcPct val="90000"/>
              </a:lnSpc>
              <a:spcBef>
                <a:spcPts val="1001"/>
              </a:spcBef>
            </a:pPr>
            <a:endParaRPr lang="en-US" sz="1600" b="0" strike="noStrike" spc="-1" dirty="0">
              <a:latin typeface="Arial"/>
            </a:endParaRPr>
          </a:p>
          <a:p>
            <a:pPr marL="228600" indent="-226440">
              <a:lnSpc>
                <a:spcPct val="90000"/>
              </a:lnSpc>
              <a:spcBef>
                <a:spcPts val="1001"/>
              </a:spcBef>
            </a:pPr>
            <a:endParaRPr lang="en-US" sz="1600" b="0" strike="noStrike" spc="-1" dirty="0">
              <a:latin typeface="Arial"/>
            </a:endParaRPr>
          </a:p>
          <a:p>
            <a:pPr marL="228600" indent="-226440">
              <a:lnSpc>
                <a:spcPct val="90000"/>
              </a:lnSpc>
              <a:spcBef>
                <a:spcPts val="1001"/>
              </a:spcBef>
            </a:pP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typedef struct _EFI_PEI_NOTIFY_DESCRIPTOR {</a:t>
            </a: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  UINTN					Flags;</a:t>
            </a: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  EFI_GUID				*</a:t>
            </a:r>
            <a:r>
              <a:rPr lang="en-US" sz="1600" b="1" strike="noStrike" spc="-1" dirty="0" err="1">
                <a:solidFill>
                  <a:srgbClr val="262626"/>
                </a:solidFill>
                <a:latin typeface="Segoe UI"/>
                <a:ea typeface="新細明體"/>
              </a:rPr>
              <a:t>Guid</a:t>
            </a:r>
            <a:r>
              <a:rPr lang="en-US" sz="1600" b="1" strike="noStrike" spc="-1" dirty="0">
                <a:solidFill>
                  <a:srgbClr val="262626"/>
                </a:solidFill>
                <a:latin typeface="Segoe UI"/>
                <a:ea typeface="新細明體"/>
              </a:rPr>
              <a:t>;</a:t>
            </a: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  EFI_PEIM_NOTIFY_ENTRY_POINT	Notify;</a:t>
            </a:r>
            <a:endParaRPr lang="en-US" sz="1600" b="0" strike="noStrike" spc="-1" dirty="0">
              <a:latin typeface="Arial"/>
            </a:endParaRPr>
          </a:p>
          <a:p>
            <a:pPr marL="228600" indent="-226440">
              <a:lnSpc>
                <a:spcPct val="90000"/>
              </a:lnSpc>
              <a:spcBef>
                <a:spcPts val="1001"/>
              </a:spcBef>
            </a:pPr>
            <a:r>
              <a:rPr lang="en-US" sz="1600" b="1" strike="noStrike" spc="-1" dirty="0">
                <a:solidFill>
                  <a:srgbClr val="262626"/>
                </a:solidFill>
                <a:latin typeface="Segoe UI"/>
                <a:ea typeface="新細明體"/>
              </a:rPr>
              <a:t>} EFI_PEI_NOTIFY_DESCRIPTOR;</a:t>
            </a:r>
            <a:endParaRPr lang="en-US" sz="1600" b="0" strike="noStrike" spc="-1" dirty="0">
              <a:latin typeface="Arial"/>
            </a:endParaRPr>
          </a:p>
        </p:txBody>
      </p:sp>
      <p:pic>
        <p:nvPicPr>
          <p:cNvPr id="6" name="Picture 4">
            <a:extLst>
              <a:ext uri="{FF2B5EF4-FFF2-40B4-BE49-F238E27FC236}">
                <a16:creationId xmlns:a16="http://schemas.microsoft.com/office/drawing/2014/main" id="{28193246-52E1-46C9-919E-6AD57381088A}"/>
              </a:ext>
            </a:extLst>
          </p:cNvPr>
          <p:cNvPicPr/>
          <p:nvPr/>
        </p:nvPicPr>
        <p:blipFill>
          <a:blip r:embed="rId2"/>
          <a:stretch/>
        </p:blipFill>
        <p:spPr>
          <a:xfrm>
            <a:off x="4438560" y="1589110"/>
            <a:ext cx="5154120" cy="2188440"/>
          </a:xfrm>
          <a:prstGeom prst="rect">
            <a:avLst/>
          </a:prstGeom>
          <a:ln w="12600">
            <a:noFill/>
          </a:ln>
        </p:spPr>
      </p:pic>
    </p:spTree>
    <p:extLst>
      <p:ext uri="{BB962C8B-B14F-4D97-AF65-F5344CB8AC3E}">
        <p14:creationId xmlns:p14="http://schemas.microsoft.com/office/powerpoint/2010/main" val="24442479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stomShape 2">
            <a:extLst>
              <a:ext uri="{FF2B5EF4-FFF2-40B4-BE49-F238E27FC236}">
                <a16:creationId xmlns:a16="http://schemas.microsoft.com/office/drawing/2014/main" id="{D590D2EE-BEA0-4F3D-A8F6-137B4CA00D7A}"/>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1280" indent="-339120">
              <a:lnSpc>
                <a:spcPct val="78000"/>
              </a:lnSpc>
              <a:spcBef>
                <a:spcPts val="601"/>
              </a:spcBef>
              <a:buClr>
                <a:srgbClr val="000000"/>
              </a:buClr>
              <a:buFont typeface="Arial"/>
              <a:buChar char="•"/>
            </a:pPr>
            <a:r>
              <a:rPr lang="en-US" sz="2800" b="0" strike="noStrike" spc="-1" dirty="0">
                <a:solidFill>
                  <a:srgbClr val="000000"/>
                </a:solidFill>
                <a:latin typeface="Segoe UI"/>
                <a:ea typeface="細明體"/>
              </a:rPr>
              <a:t>PEI Cache PPI</a:t>
            </a:r>
            <a:endParaRPr lang="en-US" sz="2800" b="0" strike="noStrike" spc="-1" dirty="0">
              <a:latin typeface="Arial"/>
            </a:endParaRPr>
          </a:p>
          <a:p>
            <a:pPr marL="741240" lvl="1" indent="-281880">
              <a:lnSpc>
                <a:spcPct val="78000"/>
              </a:lnSpc>
              <a:spcBef>
                <a:spcPts val="499"/>
              </a:spcBef>
              <a:buClr>
                <a:srgbClr val="000000"/>
              </a:buClr>
              <a:buFont typeface="Arial"/>
              <a:buChar char="•"/>
            </a:pPr>
            <a:r>
              <a:rPr lang="en-US" sz="2000" b="0" strike="noStrike" spc="-1" dirty="0">
                <a:solidFill>
                  <a:srgbClr val="000000"/>
                </a:solidFill>
                <a:latin typeface="Segoe UI"/>
                <a:ea typeface="細明體"/>
              </a:rPr>
              <a:t>GUID Definition</a:t>
            </a:r>
            <a:endParaRPr lang="en-US" sz="2000" b="0" strike="noStrike" spc="-1" dirty="0">
              <a:latin typeface="Arial"/>
            </a:endParaRPr>
          </a:p>
          <a:p>
            <a:pPr marL="741240" indent="-281880">
              <a:lnSpc>
                <a:spcPct val="78000"/>
              </a:lnSpc>
              <a:spcBef>
                <a:spcPts val="499"/>
              </a:spcBef>
            </a:pPr>
            <a:r>
              <a:rPr lang="en-US" sz="1600" b="0" strike="noStrike" spc="-1" dirty="0">
                <a:solidFill>
                  <a:srgbClr val="000000"/>
                </a:solidFill>
                <a:latin typeface="Calibri"/>
                <a:ea typeface="細明體"/>
              </a:rPr>
              <a:t>	#define PEI_CACHE_PPI_GUID \</a:t>
            </a:r>
            <a:endParaRPr lang="en-US" sz="1600" b="0" strike="noStrike" spc="-1" dirty="0">
              <a:latin typeface="Arial"/>
            </a:endParaRPr>
          </a:p>
          <a:p>
            <a:pPr marL="1141560" indent="-339120">
              <a:lnSpc>
                <a:spcPct val="78000"/>
              </a:lnSpc>
              <a:spcBef>
                <a:spcPts val="499"/>
              </a:spcBef>
            </a:pPr>
            <a:r>
              <a:rPr lang="en-US" sz="1600" b="0" strike="noStrike" spc="-1" dirty="0">
                <a:solidFill>
                  <a:srgbClr val="000000"/>
                </a:solidFill>
                <a:latin typeface="Calibri"/>
                <a:ea typeface="細明體"/>
              </a:rPr>
              <a:t>  		{0xc153205a, 0xe898, 0x4c24, 0x86, 0x89, 0xa4, 0xb4, 0xbc, 0xc5, 0xc8, 0xa2};</a:t>
            </a:r>
            <a:endParaRPr lang="en-US" sz="1600" b="0" strike="noStrike" spc="-1" dirty="0">
              <a:latin typeface="Arial"/>
            </a:endParaRPr>
          </a:p>
          <a:p>
            <a:pPr marL="341280" indent="-339120">
              <a:lnSpc>
                <a:spcPct val="78000"/>
              </a:lnSpc>
              <a:spcBef>
                <a:spcPts val="499"/>
              </a:spcBef>
            </a:pPr>
            <a:endParaRPr lang="en-US" sz="1600" b="0" strike="noStrike" spc="-1" dirty="0">
              <a:latin typeface="Arial"/>
            </a:endParaRPr>
          </a:p>
          <a:p>
            <a:pPr marL="741240" lvl="1" indent="-281880">
              <a:lnSpc>
                <a:spcPct val="78000"/>
              </a:lnSpc>
              <a:spcBef>
                <a:spcPts val="499"/>
              </a:spcBef>
              <a:buClr>
                <a:srgbClr val="000000"/>
              </a:buClr>
              <a:buFont typeface="Arial"/>
              <a:buChar char="•"/>
            </a:pPr>
            <a:r>
              <a:rPr lang="en-US" sz="2000" b="0" strike="noStrike" spc="-1" dirty="0">
                <a:solidFill>
                  <a:srgbClr val="000000"/>
                </a:solidFill>
                <a:latin typeface="Segoe UI"/>
                <a:ea typeface="細明體"/>
              </a:rPr>
              <a:t>Procedure Template</a:t>
            </a:r>
            <a:endParaRPr lang="en-US" sz="20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typedef</a:t>
            </a:r>
            <a:endParaRPr lang="en-US" sz="16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EFI_STATUS</a:t>
            </a:r>
            <a:endParaRPr lang="en-US" sz="16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(EFIAPI *PEI_SET_CACHE_PPI) (</a:t>
            </a:r>
            <a:endParaRPr lang="en-US" sz="16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  IN  EFI_PEI_SERVICES		**</a:t>
            </a:r>
            <a:r>
              <a:rPr lang="en-US" sz="1600" b="1" strike="noStrike" spc="-1" dirty="0" err="1">
                <a:solidFill>
                  <a:srgbClr val="000000"/>
                </a:solidFill>
                <a:latin typeface="Calibri"/>
                <a:ea typeface="細明體"/>
              </a:rPr>
              <a:t>PeiServices</a:t>
            </a:r>
            <a:r>
              <a:rPr lang="en-US" sz="1600" b="1" strike="noStrike" spc="-1" dirty="0">
                <a:solidFill>
                  <a:srgbClr val="000000"/>
                </a:solidFill>
                <a:latin typeface="Calibri"/>
                <a:ea typeface="細明體"/>
              </a:rPr>
              <a:t>,</a:t>
            </a:r>
            <a:endParaRPr lang="en-US" sz="16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  IN  PEI_CACHE_PPI		*This,</a:t>
            </a:r>
            <a:endParaRPr lang="en-US" sz="16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  IN  EFI_PHYSICAL_ADDRESS	</a:t>
            </a:r>
            <a:r>
              <a:rPr lang="en-US" sz="1600" b="1" strike="noStrike" spc="-1" dirty="0" err="1">
                <a:solidFill>
                  <a:srgbClr val="000000"/>
                </a:solidFill>
                <a:latin typeface="Calibri"/>
                <a:ea typeface="細明體"/>
              </a:rPr>
              <a:t>MemoryAddress</a:t>
            </a:r>
            <a:r>
              <a:rPr lang="en-US" sz="1600" b="1" strike="noStrike" spc="-1" dirty="0">
                <a:solidFill>
                  <a:srgbClr val="000000"/>
                </a:solidFill>
                <a:latin typeface="Calibri"/>
                <a:ea typeface="細明體"/>
              </a:rPr>
              <a:t>,</a:t>
            </a:r>
            <a:endParaRPr lang="en-US" sz="16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  IN  UINT64			</a:t>
            </a:r>
            <a:r>
              <a:rPr lang="en-US" sz="1600" b="1" strike="noStrike" spc="-1" dirty="0" err="1">
                <a:solidFill>
                  <a:srgbClr val="000000"/>
                </a:solidFill>
                <a:latin typeface="Calibri"/>
                <a:ea typeface="細明體"/>
              </a:rPr>
              <a:t>MemoryLength</a:t>
            </a:r>
            <a:r>
              <a:rPr lang="en-US" sz="1600" b="1" strike="noStrike" spc="-1" dirty="0">
                <a:solidFill>
                  <a:srgbClr val="000000"/>
                </a:solidFill>
                <a:latin typeface="Calibri"/>
                <a:ea typeface="細明體"/>
              </a:rPr>
              <a:t>,</a:t>
            </a:r>
            <a:endParaRPr lang="en-US" sz="16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  IN  EFI_MEMORY_CACHE_TYPE	</a:t>
            </a:r>
            <a:r>
              <a:rPr lang="en-US" sz="1600" b="1" strike="noStrike" spc="-1" dirty="0" err="1">
                <a:solidFill>
                  <a:srgbClr val="000000"/>
                </a:solidFill>
                <a:latin typeface="Calibri"/>
                <a:ea typeface="細明體"/>
              </a:rPr>
              <a:t>MemoryCacheType</a:t>
            </a:r>
            <a:endParaRPr lang="en-US" sz="1600" b="0" strike="noStrike" spc="-1" dirty="0">
              <a:latin typeface="Arial"/>
            </a:endParaRPr>
          </a:p>
          <a:p>
            <a:pPr marL="1141560" indent="-339120">
              <a:lnSpc>
                <a:spcPct val="71000"/>
              </a:lnSpc>
              <a:spcBef>
                <a:spcPts val="400"/>
              </a:spcBef>
            </a:pPr>
            <a:r>
              <a:rPr lang="en-US" sz="1600" b="1" strike="noStrike" spc="-1" dirty="0">
                <a:solidFill>
                  <a:srgbClr val="000000"/>
                </a:solidFill>
                <a:latin typeface="Calibri"/>
                <a:ea typeface="細明體"/>
              </a:rPr>
              <a:t>  );</a:t>
            </a:r>
            <a:endParaRPr lang="en-US" sz="1600" b="0" strike="noStrike" spc="-1" dirty="0">
              <a:latin typeface="Arial"/>
            </a:endParaRPr>
          </a:p>
        </p:txBody>
      </p:sp>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PPI Example</a:t>
            </a:r>
            <a:endParaRPr lang="en-US" dirty="0"/>
          </a:p>
        </p:txBody>
      </p:sp>
    </p:spTree>
    <p:extLst>
      <p:ext uri="{BB962C8B-B14F-4D97-AF65-F5344CB8AC3E}">
        <p14:creationId xmlns:p14="http://schemas.microsoft.com/office/powerpoint/2010/main" val="25188527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stomShape 2">
            <a:extLst>
              <a:ext uri="{FF2B5EF4-FFF2-40B4-BE49-F238E27FC236}">
                <a16:creationId xmlns:a16="http://schemas.microsoft.com/office/drawing/2014/main" id="{D590D2EE-BEA0-4F3D-A8F6-137B4CA00D7A}"/>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1280" indent="-339120">
              <a:lnSpc>
                <a:spcPct val="98000"/>
              </a:lnSpc>
              <a:spcBef>
                <a:spcPts val="601"/>
              </a:spcBef>
              <a:buClr>
                <a:srgbClr val="000000"/>
              </a:buClr>
              <a:buFont typeface="Arial"/>
              <a:buChar char="•"/>
            </a:pPr>
            <a:r>
              <a:rPr lang="en-US" sz="2800" b="0" strike="noStrike" spc="-1" dirty="0">
                <a:solidFill>
                  <a:srgbClr val="000000"/>
                </a:solidFill>
                <a:latin typeface="Segoe UI"/>
                <a:ea typeface="細明體"/>
              </a:rPr>
              <a:t>Provides a simple call-back mechanism for PEIMs</a:t>
            </a:r>
            <a:endParaRPr lang="en-US" sz="2800" b="0" strike="noStrike" spc="-1" dirty="0">
              <a:latin typeface="Arial"/>
            </a:endParaRPr>
          </a:p>
          <a:p>
            <a:pPr marL="341280" indent="-339120">
              <a:lnSpc>
                <a:spcPct val="98000"/>
              </a:lnSpc>
              <a:spcBef>
                <a:spcPts val="601"/>
              </a:spcBef>
              <a:buClr>
                <a:srgbClr val="000000"/>
              </a:buClr>
              <a:buFont typeface="Arial"/>
              <a:buChar char="•"/>
            </a:pPr>
            <a:r>
              <a:rPr lang="en-US" sz="2800" b="0" strike="noStrike" spc="-1" dirty="0">
                <a:solidFill>
                  <a:srgbClr val="000000"/>
                </a:solidFill>
                <a:latin typeface="Segoe UI"/>
                <a:ea typeface="細明體"/>
              </a:rPr>
              <a:t>Occurs on installation of a PPI</a:t>
            </a:r>
            <a:endParaRPr lang="en-US" sz="2800" b="0" strike="noStrike" spc="-1" dirty="0">
              <a:latin typeface="Arial"/>
            </a:endParaRPr>
          </a:p>
          <a:p>
            <a:pPr marL="341280" indent="-339120">
              <a:lnSpc>
                <a:spcPct val="98000"/>
              </a:lnSpc>
              <a:spcBef>
                <a:spcPts val="601"/>
              </a:spcBef>
              <a:buClr>
                <a:srgbClr val="000000"/>
              </a:buClr>
              <a:buFont typeface="Arial"/>
              <a:buChar char="•"/>
            </a:pPr>
            <a:r>
              <a:rPr lang="en-US" sz="2800" b="0" strike="noStrike" spc="-1" dirty="0">
                <a:solidFill>
                  <a:srgbClr val="000000"/>
                </a:solidFill>
                <a:latin typeface="Segoe UI"/>
                <a:ea typeface="細明體"/>
              </a:rPr>
              <a:t>Registered with the PEI Core with a Notify Descriptor</a:t>
            </a:r>
            <a:endParaRPr lang="en-US" sz="2800" b="0" strike="noStrike" spc="-1" dirty="0">
              <a:latin typeface="Arial"/>
            </a:endParaRPr>
          </a:p>
          <a:p>
            <a:pPr marL="341280" indent="-339120">
              <a:lnSpc>
                <a:spcPct val="98000"/>
              </a:lnSpc>
              <a:spcBef>
                <a:spcPts val="601"/>
              </a:spcBef>
              <a:buClr>
                <a:srgbClr val="000000"/>
              </a:buClr>
              <a:buFont typeface="Arial"/>
              <a:buChar char="•"/>
            </a:pPr>
            <a:r>
              <a:rPr lang="en-US" sz="2800" b="0" strike="noStrike" spc="-1" dirty="0">
                <a:solidFill>
                  <a:srgbClr val="000000"/>
                </a:solidFill>
                <a:latin typeface="Segoe UI"/>
                <a:ea typeface="細明體"/>
              </a:rPr>
              <a:t>Allows a PEIM to register the service that will be invoked upon installation of another service</a:t>
            </a:r>
            <a:endParaRPr lang="en-US" sz="2800" b="0" strike="noStrike" spc="-1" dirty="0">
              <a:latin typeface="Arial"/>
            </a:endParaRPr>
          </a:p>
        </p:txBody>
      </p:sp>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Notification</a:t>
            </a:r>
            <a:endParaRPr lang="en-US" dirty="0"/>
          </a:p>
        </p:txBody>
      </p:sp>
    </p:spTree>
    <p:extLst>
      <p:ext uri="{BB962C8B-B14F-4D97-AF65-F5344CB8AC3E}">
        <p14:creationId xmlns:p14="http://schemas.microsoft.com/office/powerpoint/2010/main" val="11213354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stomShape 2">
            <a:extLst>
              <a:ext uri="{FF2B5EF4-FFF2-40B4-BE49-F238E27FC236}">
                <a16:creationId xmlns:a16="http://schemas.microsoft.com/office/drawing/2014/main" id="{D590D2EE-BEA0-4F3D-A8F6-137B4CA00D7A}"/>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1280" indent="-339120">
              <a:lnSpc>
                <a:spcPct val="88000"/>
              </a:lnSpc>
              <a:spcBef>
                <a:spcPts val="499"/>
              </a:spcBef>
              <a:buClr>
                <a:srgbClr val="000000"/>
              </a:buClr>
              <a:buFont typeface="Arial"/>
              <a:buChar char="•"/>
            </a:pPr>
            <a:r>
              <a:rPr lang="en-US" sz="2000" b="0" strike="noStrike" spc="-1" dirty="0">
                <a:solidFill>
                  <a:srgbClr val="000000"/>
                </a:solidFill>
                <a:latin typeface="Segoe UI"/>
                <a:ea typeface="細明體"/>
              </a:rPr>
              <a:t>The Core “switches” memory when real system memory is found</a:t>
            </a:r>
            <a:endParaRPr lang="en-US" sz="2000" b="0" strike="noStrike" spc="-1" dirty="0">
              <a:latin typeface="Arial"/>
            </a:endParaRPr>
          </a:p>
          <a:p>
            <a:pPr marL="741240" lvl="1" indent="-281880">
              <a:lnSpc>
                <a:spcPct val="88000"/>
              </a:lnSpc>
              <a:spcBef>
                <a:spcPts val="499"/>
              </a:spcBef>
              <a:buClr>
                <a:srgbClr val="000000"/>
              </a:buClr>
              <a:buFont typeface="Arial"/>
              <a:buChar char="•"/>
            </a:pPr>
            <a:r>
              <a:rPr lang="en-US" sz="2200" b="0" strike="noStrike" spc="-1" dirty="0">
                <a:solidFill>
                  <a:srgbClr val="000000"/>
                </a:solidFill>
                <a:latin typeface="Segoe UI"/>
                <a:ea typeface="細明體"/>
              </a:rPr>
              <a:t>Migrates private data and any pointer there</a:t>
            </a:r>
            <a:endParaRPr lang="en-US" sz="2200" b="0" strike="noStrike" spc="-1" dirty="0">
              <a:latin typeface="Arial"/>
            </a:endParaRPr>
          </a:p>
          <a:p>
            <a:pPr marL="741240" lvl="1" indent="-281880">
              <a:lnSpc>
                <a:spcPct val="88000"/>
              </a:lnSpc>
              <a:spcBef>
                <a:spcPts val="499"/>
              </a:spcBef>
              <a:buClr>
                <a:srgbClr val="000000"/>
              </a:buClr>
              <a:buFont typeface="Arial"/>
              <a:buChar char="•"/>
            </a:pPr>
            <a:r>
              <a:rPr lang="en-US" sz="2200" b="0" strike="noStrike" spc="-1" dirty="0">
                <a:solidFill>
                  <a:srgbClr val="000000"/>
                </a:solidFill>
                <a:latin typeface="Segoe UI"/>
                <a:ea typeface="細明體"/>
              </a:rPr>
              <a:t>Installs PPI notification to all PEIMs that the real memory has been found</a:t>
            </a:r>
            <a:endParaRPr lang="en-US" sz="2200" b="0" strike="noStrike" spc="-1" dirty="0">
              <a:latin typeface="Arial"/>
            </a:endParaRPr>
          </a:p>
          <a:p>
            <a:pPr marL="741240" lvl="1" indent="-281880">
              <a:lnSpc>
                <a:spcPct val="88000"/>
              </a:lnSpc>
              <a:spcBef>
                <a:spcPts val="499"/>
              </a:spcBef>
              <a:buClr>
                <a:srgbClr val="000000"/>
              </a:buClr>
              <a:buFont typeface="Arial"/>
              <a:buChar char="•"/>
            </a:pPr>
            <a:r>
              <a:rPr lang="en-US" sz="2200" b="0" strike="noStrike" spc="-1" dirty="0">
                <a:solidFill>
                  <a:srgbClr val="000000"/>
                </a:solidFill>
                <a:latin typeface="Segoe UI"/>
                <a:ea typeface="細明體"/>
              </a:rPr>
              <a:t>Allows PEIMs to perform further “memory switch” operations</a:t>
            </a:r>
            <a:endParaRPr lang="en-US" sz="2200" b="0" strike="noStrike" spc="-1" dirty="0">
              <a:latin typeface="Arial"/>
            </a:endParaRPr>
          </a:p>
          <a:p>
            <a:pPr marL="341280" indent="-339120">
              <a:lnSpc>
                <a:spcPct val="98000"/>
              </a:lnSpc>
              <a:spcBef>
                <a:spcPts val="601"/>
              </a:spcBef>
              <a:buClr>
                <a:srgbClr val="000000"/>
              </a:buClr>
              <a:buFont typeface="Arial"/>
              <a:buChar char="•"/>
            </a:pPr>
            <a:endParaRPr lang="en-US" sz="2800" b="0" strike="noStrike" spc="-1" dirty="0">
              <a:latin typeface="Arial"/>
            </a:endParaRPr>
          </a:p>
        </p:txBody>
      </p:sp>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Memory Switch</a:t>
            </a:r>
            <a:endParaRPr lang="en-US" dirty="0"/>
          </a:p>
        </p:txBody>
      </p:sp>
      <p:grpSp>
        <p:nvGrpSpPr>
          <p:cNvPr id="4" name="Group 8">
            <a:extLst>
              <a:ext uri="{FF2B5EF4-FFF2-40B4-BE49-F238E27FC236}">
                <a16:creationId xmlns:a16="http://schemas.microsoft.com/office/drawing/2014/main" id="{0E163319-4E9C-427C-B4D4-D842D848829F}"/>
              </a:ext>
            </a:extLst>
          </p:cNvPr>
          <p:cNvGrpSpPr/>
          <p:nvPr/>
        </p:nvGrpSpPr>
        <p:grpSpPr>
          <a:xfrm>
            <a:off x="2599320" y="4531390"/>
            <a:ext cx="1294920" cy="1437840"/>
            <a:chOff x="1330200" y="4780080"/>
            <a:chExt cx="1294920" cy="1437840"/>
          </a:xfrm>
        </p:grpSpPr>
        <p:sp>
          <p:nvSpPr>
            <p:cNvPr id="5" name="CustomShape 9">
              <a:extLst>
                <a:ext uri="{FF2B5EF4-FFF2-40B4-BE49-F238E27FC236}">
                  <a16:creationId xmlns:a16="http://schemas.microsoft.com/office/drawing/2014/main" id="{1F1A0EDE-2366-417F-B941-51A299D3E3EA}"/>
                </a:ext>
              </a:extLst>
            </p:cNvPr>
            <p:cNvSpPr/>
            <p:nvPr/>
          </p:nvSpPr>
          <p:spPr>
            <a:xfrm>
              <a:off x="1330200" y="478008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6" name="CustomShape 10">
              <a:extLst>
                <a:ext uri="{FF2B5EF4-FFF2-40B4-BE49-F238E27FC236}">
                  <a16:creationId xmlns:a16="http://schemas.microsoft.com/office/drawing/2014/main" id="{3A0BB380-DC37-4F4C-ACFB-30A6D869F805}"/>
                </a:ext>
              </a:extLst>
            </p:cNvPr>
            <p:cNvSpPr/>
            <p:nvPr/>
          </p:nvSpPr>
          <p:spPr>
            <a:xfrm>
              <a:off x="1403280" y="578808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8" name="CustomShape 11">
              <a:extLst>
                <a:ext uri="{FF2B5EF4-FFF2-40B4-BE49-F238E27FC236}">
                  <a16:creationId xmlns:a16="http://schemas.microsoft.com/office/drawing/2014/main" id="{77D9A604-A365-48D2-8FA2-9B3CC69F3E27}"/>
                </a:ext>
              </a:extLst>
            </p:cNvPr>
            <p:cNvSpPr/>
            <p:nvPr/>
          </p:nvSpPr>
          <p:spPr>
            <a:xfrm>
              <a:off x="1504800" y="4851360"/>
              <a:ext cx="96768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sp>
        <p:nvSpPr>
          <p:cNvPr id="9" name="CustomShape 12">
            <a:extLst>
              <a:ext uri="{FF2B5EF4-FFF2-40B4-BE49-F238E27FC236}">
                <a16:creationId xmlns:a16="http://schemas.microsoft.com/office/drawing/2014/main" id="{CE84EFF9-62D2-4EA4-BB21-E1D5A891093C}"/>
              </a:ext>
            </a:extLst>
          </p:cNvPr>
          <p:cNvSpPr/>
          <p:nvPr/>
        </p:nvSpPr>
        <p:spPr>
          <a:xfrm>
            <a:off x="2867880" y="3670990"/>
            <a:ext cx="307440" cy="856800"/>
          </a:xfrm>
          <a:prstGeom prst="downArrow">
            <a:avLst>
              <a:gd name="adj1" fmla="val 50000"/>
              <a:gd name="adj2" fmla="val 69359"/>
            </a:avLst>
          </a:prstGeom>
          <a:solidFill>
            <a:srgbClr val="FFFF00"/>
          </a:solidFill>
          <a:ln w="9360">
            <a:solidFill>
              <a:srgbClr val="CCCCFF"/>
            </a:solidFill>
            <a:miter/>
          </a:ln>
        </p:spPr>
        <p:style>
          <a:lnRef idx="0">
            <a:scrgbClr r="0" g="0" b="0"/>
          </a:lnRef>
          <a:fillRef idx="0">
            <a:scrgbClr r="0" g="0" b="0"/>
          </a:fillRef>
          <a:effectRef idx="0">
            <a:scrgbClr r="0" g="0" b="0"/>
          </a:effectRef>
          <a:fontRef idx="minor"/>
        </p:style>
      </p:sp>
      <p:sp>
        <p:nvSpPr>
          <p:cNvPr id="10" name="CustomShape 13">
            <a:extLst>
              <a:ext uri="{FF2B5EF4-FFF2-40B4-BE49-F238E27FC236}">
                <a16:creationId xmlns:a16="http://schemas.microsoft.com/office/drawing/2014/main" id="{07250B11-C8D2-4966-B0BC-B7F5E3E8BDA9}"/>
              </a:ext>
            </a:extLst>
          </p:cNvPr>
          <p:cNvSpPr/>
          <p:nvPr/>
        </p:nvSpPr>
        <p:spPr>
          <a:xfrm>
            <a:off x="2780400" y="5024950"/>
            <a:ext cx="96768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PPI</a:t>
            </a:r>
            <a:r>
              <a:rPr lang="en-US" sz="1400" b="1" strike="noStrike" spc="-1">
                <a:solidFill>
                  <a:srgbClr val="000000"/>
                </a:solidFill>
                <a:latin typeface="Arial"/>
                <a:ea typeface="新細明體"/>
              </a:rPr>
              <a:t>(s)</a:t>
            </a:r>
            <a:endParaRPr lang="en-US" sz="1400" b="0" strike="noStrike" spc="-1">
              <a:latin typeface="Arial"/>
            </a:endParaRPr>
          </a:p>
        </p:txBody>
      </p:sp>
      <p:sp>
        <p:nvSpPr>
          <p:cNvPr id="11" name="CustomShape 14">
            <a:extLst>
              <a:ext uri="{FF2B5EF4-FFF2-40B4-BE49-F238E27FC236}">
                <a16:creationId xmlns:a16="http://schemas.microsoft.com/office/drawing/2014/main" id="{676A407D-9075-486B-B70C-7ACE835DB21F}"/>
              </a:ext>
            </a:extLst>
          </p:cNvPr>
          <p:cNvSpPr/>
          <p:nvPr/>
        </p:nvSpPr>
        <p:spPr>
          <a:xfrm>
            <a:off x="6047400" y="3072310"/>
            <a:ext cx="1005840" cy="3166560"/>
          </a:xfrm>
          <a:prstGeom prst="rect">
            <a:avLst/>
          </a:prstGeom>
          <a:solidFill>
            <a:srgbClr val="FFFFCC"/>
          </a:solidFill>
          <a:ln w="3240">
            <a:solidFill>
              <a:srgbClr val="000000"/>
            </a:solidFill>
            <a:miter/>
          </a:ln>
        </p:spPr>
        <p:style>
          <a:lnRef idx="0">
            <a:scrgbClr r="0" g="0" b="0"/>
          </a:lnRef>
          <a:fillRef idx="0">
            <a:scrgbClr r="0" g="0" b="0"/>
          </a:fillRef>
          <a:effectRef idx="0">
            <a:scrgbClr r="0" g="0" b="0"/>
          </a:effectRef>
          <a:fontRef idx="minor"/>
        </p:style>
      </p:sp>
      <p:sp>
        <p:nvSpPr>
          <p:cNvPr id="12" name="CustomShape 15">
            <a:extLst>
              <a:ext uri="{FF2B5EF4-FFF2-40B4-BE49-F238E27FC236}">
                <a16:creationId xmlns:a16="http://schemas.microsoft.com/office/drawing/2014/main" id="{73E34A9D-08DC-4A2C-A295-1EA213C8A2B2}"/>
              </a:ext>
            </a:extLst>
          </p:cNvPr>
          <p:cNvSpPr/>
          <p:nvPr/>
        </p:nvSpPr>
        <p:spPr>
          <a:xfrm>
            <a:off x="6053880" y="3215230"/>
            <a:ext cx="1005840" cy="458280"/>
          </a:xfrm>
          <a:prstGeom prst="rect">
            <a:avLst/>
          </a:prstGeom>
          <a:solidFill>
            <a:srgbClr val="FF6600"/>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00000"/>
              </a:lnSpc>
            </a:pPr>
            <a:r>
              <a:rPr lang="en-US" sz="2400" b="1" strike="noStrike" spc="-1">
                <a:solidFill>
                  <a:srgbClr val="99CCFF"/>
                </a:solidFill>
                <a:latin typeface="Arial"/>
                <a:ea typeface="新細明體"/>
              </a:rPr>
              <a:t>BFV</a:t>
            </a:r>
            <a:endParaRPr lang="en-US" sz="2400" b="0" strike="noStrike" spc="-1">
              <a:latin typeface="Arial"/>
            </a:endParaRPr>
          </a:p>
        </p:txBody>
      </p:sp>
      <p:sp>
        <p:nvSpPr>
          <p:cNvPr id="13" name="CustomShape 16">
            <a:extLst>
              <a:ext uri="{FF2B5EF4-FFF2-40B4-BE49-F238E27FC236}">
                <a16:creationId xmlns:a16="http://schemas.microsoft.com/office/drawing/2014/main" id="{278CF1B7-843A-424F-BF15-BD90BC9E56FB}"/>
              </a:ext>
            </a:extLst>
          </p:cNvPr>
          <p:cNvSpPr/>
          <p:nvPr/>
        </p:nvSpPr>
        <p:spPr>
          <a:xfrm>
            <a:off x="6055320" y="4431310"/>
            <a:ext cx="1005840" cy="458280"/>
          </a:xfrm>
          <a:prstGeom prst="rect">
            <a:avLst/>
          </a:prstGeom>
          <a:no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00000"/>
              </a:lnSpc>
            </a:pPr>
            <a:r>
              <a:rPr lang="en-US" sz="2400" b="1" strike="noStrike" spc="-1">
                <a:solidFill>
                  <a:srgbClr val="000000"/>
                </a:solidFill>
                <a:latin typeface="Arial"/>
                <a:ea typeface="新細明體"/>
              </a:rPr>
              <a:t>TRAM</a:t>
            </a:r>
            <a:endParaRPr lang="en-US" sz="2400" b="0" strike="noStrike" spc="-1">
              <a:latin typeface="Arial"/>
            </a:endParaRPr>
          </a:p>
        </p:txBody>
      </p:sp>
      <p:sp>
        <p:nvSpPr>
          <p:cNvPr id="14" name="CustomShape 17">
            <a:extLst>
              <a:ext uri="{FF2B5EF4-FFF2-40B4-BE49-F238E27FC236}">
                <a16:creationId xmlns:a16="http://schemas.microsoft.com/office/drawing/2014/main" id="{5E8FB056-6390-43E7-A3F2-EED788636E99}"/>
              </a:ext>
            </a:extLst>
          </p:cNvPr>
          <p:cNvSpPr/>
          <p:nvPr/>
        </p:nvSpPr>
        <p:spPr>
          <a:xfrm>
            <a:off x="6053880" y="3800950"/>
            <a:ext cx="1005840" cy="458280"/>
          </a:xfrm>
          <a:prstGeom prst="rect">
            <a:avLst/>
          </a:prstGeom>
          <a:solidFill>
            <a:srgbClr val="FF9933"/>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00000"/>
              </a:lnSpc>
            </a:pPr>
            <a:r>
              <a:rPr lang="en-US" sz="2400" b="1" strike="noStrike" spc="-1">
                <a:solidFill>
                  <a:srgbClr val="99CCFF"/>
                </a:solidFill>
                <a:latin typeface="Arial"/>
                <a:ea typeface="新細明體"/>
              </a:rPr>
              <a:t>FV(s)</a:t>
            </a:r>
            <a:endParaRPr lang="en-US" sz="2400" b="0" strike="noStrike" spc="-1">
              <a:latin typeface="Arial"/>
            </a:endParaRPr>
          </a:p>
        </p:txBody>
      </p:sp>
      <p:sp>
        <p:nvSpPr>
          <p:cNvPr id="15" name="CustomShape 18">
            <a:extLst>
              <a:ext uri="{FF2B5EF4-FFF2-40B4-BE49-F238E27FC236}">
                <a16:creationId xmlns:a16="http://schemas.microsoft.com/office/drawing/2014/main" id="{24C7BF6C-EF48-4053-9C25-28A9A65DC49B}"/>
              </a:ext>
            </a:extLst>
          </p:cNvPr>
          <p:cNvSpPr/>
          <p:nvPr/>
        </p:nvSpPr>
        <p:spPr>
          <a:xfrm>
            <a:off x="6055320" y="5296390"/>
            <a:ext cx="1005840" cy="717120"/>
          </a:xfrm>
          <a:prstGeom prst="rect">
            <a:avLst/>
          </a:prstGeom>
          <a:solidFill>
            <a:srgbClr val="99CCFF"/>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System</a:t>
            </a:r>
            <a:endParaRPr lang="en-US" sz="1800" b="0" strike="noStrike" spc="-1">
              <a:latin typeface="Arial"/>
            </a:endParaRPr>
          </a:p>
          <a:p>
            <a:pPr algn="ctr">
              <a:lnSpc>
                <a:spcPct val="100000"/>
              </a:lnSpc>
            </a:pPr>
            <a:r>
              <a:rPr lang="en-US" sz="1800" b="1" strike="noStrike" spc="-1">
                <a:solidFill>
                  <a:srgbClr val="000000"/>
                </a:solidFill>
                <a:latin typeface="Arial"/>
                <a:ea typeface="新細明體"/>
              </a:rPr>
              <a:t>Memory</a:t>
            </a:r>
            <a:endParaRPr lang="en-US" sz="1800" b="0" strike="noStrike" spc="-1">
              <a:latin typeface="Arial"/>
            </a:endParaRPr>
          </a:p>
        </p:txBody>
      </p:sp>
      <p:sp>
        <p:nvSpPr>
          <p:cNvPr id="16" name="CustomShape 19">
            <a:extLst>
              <a:ext uri="{FF2B5EF4-FFF2-40B4-BE49-F238E27FC236}">
                <a16:creationId xmlns:a16="http://schemas.microsoft.com/office/drawing/2014/main" id="{AB1F2BA8-CA09-4C2A-B055-ABFB40A4A119}"/>
              </a:ext>
            </a:extLst>
          </p:cNvPr>
          <p:cNvSpPr/>
          <p:nvPr/>
        </p:nvSpPr>
        <p:spPr>
          <a:xfrm>
            <a:off x="6055320" y="4431310"/>
            <a:ext cx="1005840" cy="458280"/>
          </a:xfrm>
          <a:prstGeom prst="rect">
            <a:avLst/>
          </a:prstGeom>
          <a:solidFill>
            <a:srgbClr val="FFFFCC"/>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sp>
      <p:sp>
        <p:nvSpPr>
          <p:cNvPr id="17" name="CustomShape 20">
            <a:extLst>
              <a:ext uri="{FF2B5EF4-FFF2-40B4-BE49-F238E27FC236}">
                <a16:creationId xmlns:a16="http://schemas.microsoft.com/office/drawing/2014/main" id="{ADC6A2B6-0D6A-4553-B2EE-38F897B47387}"/>
              </a:ext>
            </a:extLst>
          </p:cNvPr>
          <p:cNvSpPr/>
          <p:nvPr/>
        </p:nvSpPr>
        <p:spPr>
          <a:xfrm>
            <a:off x="7063320" y="4521670"/>
            <a:ext cx="431280" cy="1132920"/>
          </a:xfrm>
          <a:prstGeom prst="curvedLeftArrow">
            <a:avLst>
              <a:gd name="adj1" fmla="val 24347"/>
              <a:gd name="adj2" fmla="val 76389"/>
              <a:gd name="adj3" fmla="val 36995"/>
            </a:avLst>
          </a:prstGeom>
          <a:solidFill>
            <a:srgbClr val="FFFF00"/>
          </a:solidFill>
          <a:ln w="9360">
            <a:solidFill>
              <a:srgbClr val="000000"/>
            </a:solidFill>
            <a:miter/>
          </a:ln>
        </p:spPr>
        <p:style>
          <a:lnRef idx="0">
            <a:scrgbClr r="0" g="0" b="0"/>
          </a:lnRef>
          <a:fillRef idx="0">
            <a:scrgbClr r="0" g="0" b="0"/>
          </a:fillRef>
          <a:effectRef idx="0">
            <a:scrgbClr r="0" g="0" b="0"/>
          </a:effectRef>
          <a:fontRef idx="minor"/>
        </p:style>
      </p:sp>
      <p:sp>
        <p:nvSpPr>
          <p:cNvPr id="18" name="CustomShape 21">
            <a:extLst>
              <a:ext uri="{FF2B5EF4-FFF2-40B4-BE49-F238E27FC236}">
                <a16:creationId xmlns:a16="http://schemas.microsoft.com/office/drawing/2014/main" id="{61C78DBE-5180-4A98-B460-DF156039733B}"/>
              </a:ext>
            </a:extLst>
          </p:cNvPr>
          <p:cNvSpPr/>
          <p:nvPr/>
        </p:nvSpPr>
        <p:spPr>
          <a:xfrm>
            <a:off x="3375840" y="3665950"/>
            <a:ext cx="302760" cy="861480"/>
          </a:xfrm>
          <a:prstGeom prst="upArrow">
            <a:avLst>
              <a:gd name="adj1" fmla="val 50000"/>
              <a:gd name="adj2" fmla="val 70833"/>
            </a:avLst>
          </a:prstGeom>
          <a:solidFill>
            <a:srgbClr val="FFFF00"/>
          </a:solidFill>
          <a:ln w="9360">
            <a:solidFill>
              <a:srgbClr val="CCCCFF"/>
            </a:solidFill>
            <a:miter/>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400960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stomShape 2">
            <a:extLst>
              <a:ext uri="{FF2B5EF4-FFF2-40B4-BE49-F238E27FC236}">
                <a16:creationId xmlns:a16="http://schemas.microsoft.com/office/drawing/2014/main" id="{D590D2EE-BEA0-4F3D-A8F6-137B4CA00D7A}"/>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1280" indent="-339120">
              <a:lnSpc>
                <a:spcPct val="90000"/>
              </a:lnSpc>
              <a:spcBef>
                <a:spcPts val="499"/>
              </a:spcBef>
              <a:buClr>
                <a:srgbClr val="000000"/>
              </a:buClr>
              <a:buSzPct val="50000"/>
              <a:buFont typeface="Wingdings" charset="2"/>
              <a:buChar char=""/>
            </a:pPr>
            <a:r>
              <a:rPr lang="en-US" sz="2000" b="0" strike="noStrike" spc="-1" dirty="0">
                <a:solidFill>
                  <a:srgbClr val="000000"/>
                </a:solidFill>
                <a:latin typeface="Segoe UI"/>
                <a:ea typeface="新細明體"/>
              </a:rPr>
              <a:t>A dispatch pass is done when no PEIM is dispatched during a pass through the known PEIMs</a:t>
            </a:r>
            <a:endParaRPr lang="en-US" sz="2000" b="0" strike="noStrike" spc="-1" dirty="0">
              <a:latin typeface="Arial"/>
            </a:endParaRPr>
          </a:p>
          <a:p>
            <a:pPr marL="341280" indent="-339120">
              <a:lnSpc>
                <a:spcPct val="90000"/>
              </a:lnSpc>
              <a:spcBef>
                <a:spcPts val="499"/>
              </a:spcBef>
              <a:buClr>
                <a:srgbClr val="000000"/>
              </a:buClr>
              <a:buSzPct val="50000"/>
              <a:buFont typeface="Wingdings" charset="2"/>
              <a:buChar char=""/>
            </a:pPr>
            <a:r>
              <a:rPr lang="en-US" sz="2000" b="0" strike="noStrike" spc="-1" dirty="0">
                <a:solidFill>
                  <a:srgbClr val="000000"/>
                </a:solidFill>
                <a:latin typeface="Segoe UI"/>
                <a:ea typeface="新細明體"/>
              </a:rPr>
              <a:t>Done with dispatch: Invoke the DXE Initial Program Load (IPL)</a:t>
            </a:r>
            <a:endParaRPr lang="en-US" sz="2000" b="0" strike="noStrike" spc="-1" dirty="0">
              <a:latin typeface="Arial"/>
            </a:endParaRPr>
          </a:p>
        </p:txBody>
      </p:sp>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End Condition</a:t>
            </a:r>
            <a:endParaRPr lang="en-US" dirty="0"/>
          </a:p>
        </p:txBody>
      </p:sp>
      <p:sp>
        <p:nvSpPr>
          <p:cNvPr id="11" name="CustomShape 14">
            <a:extLst>
              <a:ext uri="{FF2B5EF4-FFF2-40B4-BE49-F238E27FC236}">
                <a16:creationId xmlns:a16="http://schemas.microsoft.com/office/drawing/2014/main" id="{676A407D-9075-486B-B70C-7ACE835DB21F}"/>
              </a:ext>
            </a:extLst>
          </p:cNvPr>
          <p:cNvSpPr/>
          <p:nvPr/>
        </p:nvSpPr>
        <p:spPr>
          <a:xfrm>
            <a:off x="6047400" y="3072310"/>
            <a:ext cx="1005840" cy="3166560"/>
          </a:xfrm>
          <a:prstGeom prst="rect">
            <a:avLst/>
          </a:prstGeom>
          <a:solidFill>
            <a:srgbClr val="FFFFCC"/>
          </a:solidFill>
          <a:ln w="3240">
            <a:solidFill>
              <a:srgbClr val="000000"/>
            </a:solidFill>
            <a:miter/>
          </a:ln>
        </p:spPr>
        <p:style>
          <a:lnRef idx="0">
            <a:scrgbClr r="0" g="0" b="0"/>
          </a:lnRef>
          <a:fillRef idx="0">
            <a:scrgbClr r="0" g="0" b="0"/>
          </a:fillRef>
          <a:effectRef idx="0">
            <a:scrgbClr r="0" g="0" b="0"/>
          </a:effectRef>
          <a:fontRef idx="minor"/>
        </p:style>
      </p:sp>
      <p:sp>
        <p:nvSpPr>
          <p:cNvPr id="12" name="CustomShape 15">
            <a:extLst>
              <a:ext uri="{FF2B5EF4-FFF2-40B4-BE49-F238E27FC236}">
                <a16:creationId xmlns:a16="http://schemas.microsoft.com/office/drawing/2014/main" id="{73E34A9D-08DC-4A2C-A295-1EA213C8A2B2}"/>
              </a:ext>
            </a:extLst>
          </p:cNvPr>
          <p:cNvSpPr/>
          <p:nvPr/>
        </p:nvSpPr>
        <p:spPr>
          <a:xfrm>
            <a:off x="6053880" y="3215230"/>
            <a:ext cx="1005840" cy="458280"/>
          </a:xfrm>
          <a:prstGeom prst="rect">
            <a:avLst/>
          </a:prstGeom>
          <a:solidFill>
            <a:srgbClr val="FF6600"/>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00000"/>
              </a:lnSpc>
            </a:pPr>
            <a:r>
              <a:rPr lang="en-US" sz="2400" b="1" strike="noStrike" spc="-1">
                <a:solidFill>
                  <a:srgbClr val="99CCFF"/>
                </a:solidFill>
                <a:latin typeface="Arial"/>
                <a:ea typeface="新細明體"/>
              </a:rPr>
              <a:t>BFV</a:t>
            </a:r>
            <a:endParaRPr lang="en-US" sz="2400" b="0" strike="noStrike" spc="-1">
              <a:latin typeface="Arial"/>
            </a:endParaRPr>
          </a:p>
        </p:txBody>
      </p:sp>
      <p:sp>
        <p:nvSpPr>
          <p:cNvPr id="13" name="CustomShape 16">
            <a:extLst>
              <a:ext uri="{FF2B5EF4-FFF2-40B4-BE49-F238E27FC236}">
                <a16:creationId xmlns:a16="http://schemas.microsoft.com/office/drawing/2014/main" id="{278CF1B7-843A-424F-BF15-BD90BC9E56FB}"/>
              </a:ext>
            </a:extLst>
          </p:cNvPr>
          <p:cNvSpPr/>
          <p:nvPr/>
        </p:nvSpPr>
        <p:spPr>
          <a:xfrm>
            <a:off x="6055320" y="4431310"/>
            <a:ext cx="1005840" cy="458280"/>
          </a:xfrm>
          <a:prstGeom prst="rect">
            <a:avLst/>
          </a:prstGeom>
          <a:no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00000"/>
              </a:lnSpc>
            </a:pPr>
            <a:r>
              <a:rPr lang="en-US" sz="2400" b="1" strike="noStrike" spc="-1">
                <a:solidFill>
                  <a:srgbClr val="000000"/>
                </a:solidFill>
                <a:latin typeface="Arial"/>
                <a:ea typeface="新細明體"/>
              </a:rPr>
              <a:t>TRAM</a:t>
            </a:r>
            <a:endParaRPr lang="en-US" sz="2400" b="0" strike="noStrike" spc="-1">
              <a:latin typeface="Arial"/>
            </a:endParaRPr>
          </a:p>
        </p:txBody>
      </p:sp>
      <p:sp>
        <p:nvSpPr>
          <p:cNvPr id="14" name="CustomShape 17">
            <a:extLst>
              <a:ext uri="{FF2B5EF4-FFF2-40B4-BE49-F238E27FC236}">
                <a16:creationId xmlns:a16="http://schemas.microsoft.com/office/drawing/2014/main" id="{5E8FB056-6390-43E7-A3F2-EED788636E99}"/>
              </a:ext>
            </a:extLst>
          </p:cNvPr>
          <p:cNvSpPr/>
          <p:nvPr/>
        </p:nvSpPr>
        <p:spPr>
          <a:xfrm>
            <a:off x="6053880" y="3800950"/>
            <a:ext cx="1005840" cy="458280"/>
          </a:xfrm>
          <a:prstGeom prst="rect">
            <a:avLst/>
          </a:prstGeom>
          <a:solidFill>
            <a:srgbClr val="FF9933"/>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00000"/>
              </a:lnSpc>
            </a:pPr>
            <a:r>
              <a:rPr lang="en-US" sz="2400" b="1" strike="noStrike" spc="-1">
                <a:solidFill>
                  <a:srgbClr val="99CCFF"/>
                </a:solidFill>
                <a:latin typeface="Arial"/>
                <a:ea typeface="新細明體"/>
              </a:rPr>
              <a:t>FV(s)</a:t>
            </a:r>
            <a:endParaRPr lang="en-US" sz="2400" b="0" strike="noStrike" spc="-1">
              <a:latin typeface="Arial"/>
            </a:endParaRPr>
          </a:p>
        </p:txBody>
      </p:sp>
      <p:sp>
        <p:nvSpPr>
          <p:cNvPr id="15" name="CustomShape 18">
            <a:extLst>
              <a:ext uri="{FF2B5EF4-FFF2-40B4-BE49-F238E27FC236}">
                <a16:creationId xmlns:a16="http://schemas.microsoft.com/office/drawing/2014/main" id="{24C7BF6C-EF48-4053-9C25-28A9A65DC49B}"/>
              </a:ext>
            </a:extLst>
          </p:cNvPr>
          <p:cNvSpPr/>
          <p:nvPr/>
        </p:nvSpPr>
        <p:spPr>
          <a:xfrm>
            <a:off x="6055320" y="5296390"/>
            <a:ext cx="1005840" cy="717120"/>
          </a:xfrm>
          <a:prstGeom prst="rect">
            <a:avLst/>
          </a:prstGeom>
          <a:solidFill>
            <a:srgbClr val="99CCFF"/>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System</a:t>
            </a:r>
            <a:endParaRPr lang="en-US" sz="1800" b="0" strike="noStrike" spc="-1">
              <a:latin typeface="Arial"/>
            </a:endParaRPr>
          </a:p>
          <a:p>
            <a:pPr algn="ctr">
              <a:lnSpc>
                <a:spcPct val="100000"/>
              </a:lnSpc>
            </a:pPr>
            <a:r>
              <a:rPr lang="en-US" sz="1800" b="1" strike="noStrike" spc="-1">
                <a:solidFill>
                  <a:srgbClr val="000000"/>
                </a:solidFill>
                <a:latin typeface="Arial"/>
                <a:ea typeface="新細明體"/>
              </a:rPr>
              <a:t>Memory</a:t>
            </a:r>
            <a:endParaRPr lang="en-US" sz="1800" b="0" strike="noStrike" spc="-1">
              <a:latin typeface="Arial"/>
            </a:endParaRPr>
          </a:p>
        </p:txBody>
      </p:sp>
      <p:sp>
        <p:nvSpPr>
          <p:cNvPr id="16" name="CustomShape 19">
            <a:extLst>
              <a:ext uri="{FF2B5EF4-FFF2-40B4-BE49-F238E27FC236}">
                <a16:creationId xmlns:a16="http://schemas.microsoft.com/office/drawing/2014/main" id="{AB1F2BA8-CA09-4C2A-B055-ABFB40A4A119}"/>
              </a:ext>
            </a:extLst>
          </p:cNvPr>
          <p:cNvSpPr/>
          <p:nvPr/>
        </p:nvSpPr>
        <p:spPr>
          <a:xfrm>
            <a:off x="6055320" y="4431310"/>
            <a:ext cx="1005840" cy="458280"/>
          </a:xfrm>
          <a:prstGeom prst="rect">
            <a:avLst/>
          </a:prstGeom>
          <a:solidFill>
            <a:srgbClr val="FFFFCC"/>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sp>
      <p:sp>
        <p:nvSpPr>
          <p:cNvPr id="17" name="CustomShape 20">
            <a:extLst>
              <a:ext uri="{FF2B5EF4-FFF2-40B4-BE49-F238E27FC236}">
                <a16:creationId xmlns:a16="http://schemas.microsoft.com/office/drawing/2014/main" id="{ADC6A2B6-0D6A-4553-B2EE-38F897B47387}"/>
              </a:ext>
            </a:extLst>
          </p:cNvPr>
          <p:cNvSpPr/>
          <p:nvPr/>
        </p:nvSpPr>
        <p:spPr>
          <a:xfrm>
            <a:off x="7063320" y="4521670"/>
            <a:ext cx="431280" cy="1132920"/>
          </a:xfrm>
          <a:prstGeom prst="curvedLeftArrow">
            <a:avLst>
              <a:gd name="adj1" fmla="val 24347"/>
              <a:gd name="adj2" fmla="val 76389"/>
              <a:gd name="adj3" fmla="val 36995"/>
            </a:avLst>
          </a:prstGeom>
          <a:solidFill>
            <a:srgbClr val="FFFF00"/>
          </a:solidFill>
          <a:ln w="9360">
            <a:solidFill>
              <a:srgbClr val="000000"/>
            </a:solidFill>
            <a:miter/>
          </a:ln>
        </p:spPr>
        <p:style>
          <a:lnRef idx="0">
            <a:scrgbClr r="0" g="0" b="0"/>
          </a:lnRef>
          <a:fillRef idx="0">
            <a:scrgbClr r="0" g="0" b="0"/>
          </a:fillRef>
          <a:effectRef idx="0">
            <a:scrgbClr r="0" g="0" b="0"/>
          </a:effectRef>
          <a:fontRef idx="minor"/>
        </p:style>
      </p:sp>
      <p:grpSp>
        <p:nvGrpSpPr>
          <p:cNvPr id="19" name="Group 7">
            <a:extLst>
              <a:ext uri="{FF2B5EF4-FFF2-40B4-BE49-F238E27FC236}">
                <a16:creationId xmlns:a16="http://schemas.microsoft.com/office/drawing/2014/main" id="{F2EF7A81-B67E-48E3-9E4A-ABC6614B1FB1}"/>
              </a:ext>
            </a:extLst>
          </p:cNvPr>
          <p:cNvGrpSpPr/>
          <p:nvPr/>
        </p:nvGrpSpPr>
        <p:grpSpPr>
          <a:xfrm>
            <a:off x="1532820" y="4521670"/>
            <a:ext cx="1294920" cy="1437840"/>
            <a:chOff x="1015920" y="4545000"/>
            <a:chExt cx="1294920" cy="1437840"/>
          </a:xfrm>
        </p:grpSpPr>
        <p:grpSp>
          <p:nvGrpSpPr>
            <p:cNvPr id="20" name="Group 8">
              <a:extLst>
                <a:ext uri="{FF2B5EF4-FFF2-40B4-BE49-F238E27FC236}">
                  <a16:creationId xmlns:a16="http://schemas.microsoft.com/office/drawing/2014/main" id="{84BA1E59-DC84-4A0F-945E-81491911126D}"/>
                </a:ext>
              </a:extLst>
            </p:cNvPr>
            <p:cNvGrpSpPr/>
            <p:nvPr/>
          </p:nvGrpSpPr>
          <p:grpSpPr>
            <a:xfrm>
              <a:off x="1015920" y="4545000"/>
              <a:ext cx="1294920" cy="1437840"/>
              <a:chOff x="1015920" y="4545000"/>
              <a:chExt cx="1294920" cy="1437840"/>
            </a:xfrm>
          </p:grpSpPr>
          <p:sp>
            <p:nvSpPr>
              <p:cNvPr id="22" name="CustomShape 9">
                <a:extLst>
                  <a:ext uri="{FF2B5EF4-FFF2-40B4-BE49-F238E27FC236}">
                    <a16:creationId xmlns:a16="http://schemas.microsoft.com/office/drawing/2014/main" id="{EA1607C8-5C06-48A3-B2D6-C568A91C4B86}"/>
                  </a:ext>
                </a:extLst>
              </p:cNvPr>
              <p:cNvSpPr/>
              <p:nvPr/>
            </p:nvSpPr>
            <p:spPr>
              <a:xfrm>
                <a:off x="1015920" y="454500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23" name="CustomShape 10">
                <a:extLst>
                  <a:ext uri="{FF2B5EF4-FFF2-40B4-BE49-F238E27FC236}">
                    <a16:creationId xmlns:a16="http://schemas.microsoft.com/office/drawing/2014/main" id="{BF9070EF-3F4F-4E8D-8C7C-B1884EF81124}"/>
                  </a:ext>
                </a:extLst>
              </p:cNvPr>
              <p:cNvSpPr/>
              <p:nvPr/>
            </p:nvSpPr>
            <p:spPr>
              <a:xfrm>
                <a:off x="1089000" y="555300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24" name="CustomShape 11">
                <a:extLst>
                  <a:ext uri="{FF2B5EF4-FFF2-40B4-BE49-F238E27FC236}">
                    <a16:creationId xmlns:a16="http://schemas.microsoft.com/office/drawing/2014/main" id="{6C02F7E9-5018-4B51-B2D3-DA3260094189}"/>
                  </a:ext>
                </a:extLst>
              </p:cNvPr>
              <p:cNvSpPr/>
              <p:nvPr/>
            </p:nvSpPr>
            <p:spPr>
              <a:xfrm>
                <a:off x="1190520" y="4616280"/>
                <a:ext cx="96768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sp>
          <p:nvSpPr>
            <p:cNvPr id="21" name="CustomShape 12">
              <a:extLst>
                <a:ext uri="{FF2B5EF4-FFF2-40B4-BE49-F238E27FC236}">
                  <a16:creationId xmlns:a16="http://schemas.microsoft.com/office/drawing/2014/main" id="{82DFE054-AE09-45BB-8065-11AB6E494195}"/>
                </a:ext>
              </a:extLst>
            </p:cNvPr>
            <p:cNvSpPr/>
            <p:nvPr/>
          </p:nvSpPr>
          <p:spPr>
            <a:xfrm>
              <a:off x="1198440" y="5049720"/>
              <a:ext cx="967680" cy="358200"/>
            </a:xfrm>
            <a:prstGeom prst="rect">
              <a:avLst/>
            </a:prstGeom>
            <a:solidFill>
              <a:srgbClr val="66FF33"/>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DXE IPL</a:t>
              </a:r>
              <a:endParaRPr lang="en-US" sz="1800" b="0" strike="noStrike" spc="-1">
                <a:latin typeface="Arial"/>
              </a:endParaRPr>
            </a:p>
          </p:txBody>
        </p:sp>
      </p:grpSp>
      <p:sp>
        <p:nvSpPr>
          <p:cNvPr id="25" name="CustomShape 19">
            <a:extLst>
              <a:ext uri="{FF2B5EF4-FFF2-40B4-BE49-F238E27FC236}">
                <a16:creationId xmlns:a16="http://schemas.microsoft.com/office/drawing/2014/main" id="{00D77604-8977-461D-A9F0-A570559F396A}"/>
              </a:ext>
            </a:extLst>
          </p:cNvPr>
          <p:cNvSpPr/>
          <p:nvPr/>
        </p:nvSpPr>
        <p:spPr>
          <a:xfrm>
            <a:off x="2839260" y="5024950"/>
            <a:ext cx="988560" cy="378720"/>
          </a:xfrm>
          <a:prstGeom prst="rightArrow">
            <a:avLst>
              <a:gd name="adj1" fmla="val 50000"/>
              <a:gd name="adj2" fmla="val 65000"/>
            </a:avLst>
          </a:prstGeom>
          <a:solidFill>
            <a:srgbClr val="FFFF00"/>
          </a:solidFill>
          <a:ln w="9360">
            <a:solidFill>
              <a:srgbClr val="000000"/>
            </a:solidFill>
            <a:miter/>
          </a:ln>
        </p:spPr>
        <p:style>
          <a:lnRef idx="0">
            <a:scrgbClr r="0" g="0" b="0"/>
          </a:lnRef>
          <a:fillRef idx="0">
            <a:scrgbClr r="0" g="0" b="0"/>
          </a:fillRef>
          <a:effectRef idx="0">
            <a:scrgbClr r="0" g="0" b="0"/>
          </a:effectRef>
          <a:fontRef idx="minor"/>
        </p:style>
      </p:sp>
      <p:sp>
        <p:nvSpPr>
          <p:cNvPr id="26" name="CustomShape 20">
            <a:extLst>
              <a:ext uri="{FF2B5EF4-FFF2-40B4-BE49-F238E27FC236}">
                <a16:creationId xmlns:a16="http://schemas.microsoft.com/office/drawing/2014/main" id="{F77DF87C-81E4-4BD4-905E-0E65BD2CB517}"/>
              </a:ext>
            </a:extLst>
          </p:cNvPr>
          <p:cNvSpPr/>
          <p:nvPr/>
        </p:nvSpPr>
        <p:spPr>
          <a:xfrm>
            <a:off x="3918900" y="452167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27" name="CustomShape 21">
            <a:extLst>
              <a:ext uri="{FF2B5EF4-FFF2-40B4-BE49-F238E27FC236}">
                <a16:creationId xmlns:a16="http://schemas.microsoft.com/office/drawing/2014/main" id="{9E13C621-393A-4368-B12F-7C61D31CE298}"/>
              </a:ext>
            </a:extLst>
          </p:cNvPr>
          <p:cNvSpPr/>
          <p:nvPr/>
        </p:nvSpPr>
        <p:spPr>
          <a:xfrm>
            <a:off x="4009260" y="509803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400" b="1" strike="noStrike" spc="-1">
                <a:solidFill>
                  <a:srgbClr val="FFFFFF"/>
                </a:solidFill>
                <a:latin typeface="Arial"/>
                <a:ea typeface="新細明體"/>
              </a:rPr>
              <a:t>DXE</a:t>
            </a:r>
            <a:endParaRPr lang="en-US" sz="2400" b="0" strike="noStrike" spc="-1">
              <a:latin typeface="Arial"/>
            </a:endParaRPr>
          </a:p>
        </p:txBody>
      </p:sp>
      <p:sp>
        <p:nvSpPr>
          <p:cNvPr id="28" name="CustomShape 22">
            <a:extLst>
              <a:ext uri="{FF2B5EF4-FFF2-40B4-BE49-F238E27FC236}">
                <a16:creationId xmlns:a16="http://schemas.microsoft.com/office/drawing/2014/main" id="{79333441-6A6C-4F54-8477-52465702D76E}"/>
              </a:ext>
            </a:extLst>
          </p:cNvPr>
          <p:cNvSpPr/>
          <p:nvPr/>
        </p:nvSpPr>
        <p:spPr>
          <a:xfrm>
            <a:off x="1939260" y="3638950"/>
            <a:ext cx="307440" cy="856800"/>
          </a:xfrm>
          <a:prstGeom prst="downArrow">
            <a:avLst>
              <a:gd name="adj1" fmla="val 50000"/>
              <a:gd name="adj2" fmla="val 69359"/>
            </a:avLst>
          </a:prstGeom>
          <a:solidFill>
            <a:srgbClr val="FFFF00"/>
          </a:solidFill>
          <a:ln w="9360">
            <a:solidFill>
              <a:srgbClr val="CCCCFF"/>
            </a:solidFill>
            <a:miter/>
          </a:ln>
        </p:spPr>
        <p:style>
          <a:lnRef idx="0">
            <a:scrgbClr r="0" g="0" b="0"/>
          </a:lnRef>
          <a:fillRef idx="0">
            <a:scrgbClr r="0" g="0" b="0"/>
          </a:fillRef>
          <a:effectRef idx="0">
            <a:scrgbClr r="0" g="0" b="0"/>
          </a:effectRef>
          <a:fontRef idx="minor"/>
        </p:style>
      </p:sp>
      <p:grpSp>
        <p:nvGrpSpPr>
          <p:cNvPr id="29" name="Group 3">
            <a:extLst>
              <a:ext uri="{FF2B5EF4-FFF2-40B4-BE49-F238E27FC236}">
                <a16:creationId xmlns:a16="http://schemas.microsoft.com/office/drawing/2014/main" id="{B2C43728-BA7E-46FF-9A26-12D2B9D67314}"/>
              </a:ext>
            </a:extLst>
          </p:cNvPr>
          <p:cNvGrpSpPr/>
          <p:nvPr/>
        </p:nvGrpSpPr>
        <p:grpSpPr>
          <a:xfrm>
            <a:off x="1157520" y="2781080"/>
            <a:ext cx="1870920" cy="898920"/>
            <a:chOff x="746280" y="2780280"/>
            <a:chExt cx="1870920" cy="898920"/>
          </a:xfrm>
        </p:grpSpPr>
        <p:sp>
          <p:nvSpPr>
            <p:cNvPr id="30" name="Line 4">
              <a:extLst>
                <a:ext uri="{FF2B5EF4-FFF2-40B4-BE49-F238E27FC236}">
                  <a16:creationId xmlns:a16="http://schemas.microsoft.com/office/drawing/2014/main" id="{2251F7C1-7FDC-4EDF-B832-A0675B6FE8BC}"/>
                </a:ext>
              </a:extLst>
            </p:cNvPr>
            <p:cNvSpPr/>
            <p:nvPr/>
          </p:nvSpPr>
          <p:spPr>
            <a:xfrm>
              <a:off x="1680840" y="2780280"/>
              <a:ext cx="1800" cy="21528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sp>
          <p:nvSpPr>
            <p:cNvPr id="31" name="CustomShape 5">
              <a:extLst>
                <a:ext uri="{FF2B5EF4-FFF2-40B4-BE49-F238E27FC236}">
                  <a16:creationId xmlns:a16="http://schemas.microsoft.com/office/drawing/2014/main" id="{D71B70AE-7E61-48B5-9847-034986911E01}"/>
                </a:ext>
              </a:extLst>
            </p:cNvPr>
            <p:cNvSpPr/>
            <p:nvPr/>
          </p:nvSpPr>
          <p:spPr>
            <a:xfrm>
              <a:off x="746280" y="3068640"/>
              <a:ext cx="1870920" cy="574200"/>
            </a:xfrm>
            <a:prstGeom prst="ellipse">
              <a:avLst/>
            </a:prstGeom>
            <a:solidFill>
              <a:srgbClr val="3B6A4D"/>
            </a:solidFill>
            <a:ln w="9360">
              <a:solidFill>
                <a:srgbClr val="CCCCFF"/>
              </a:solidFill>
              <a:miter/>
            </a:ln>
          </p:spPr>
          <p:style>
            <a:lnRef idx="0">
              <a:scrgbClr r="0" g="0" b="0"/>
            </a:lnRef>
            <a:fillRef idx="0">
              <a:scrgbClr r="0" g="0" b="0"/>
            </a:fillRef>
            <a:effectRef idx="0">
              <a:scrgbClr r="0" g="0" b="0"/>
            </a:effectRef>
            <a:fontRef idx="minor"/>
          </p:style>
        </p:sp>
        <p:sp>
          <p:nvSpPr>
            <p:cNvPr id="32" name="CustomShape 6">
              <a:extLst>
                <a:ext uri="{FF2B5EF4-FFF2-40B4-BE49-F238E27FC236}">
                  <a16:creationId xmlns:a16="http://schemas.microsoft.com/office/drawing/2014/main" id="{B7907E46-966A-4CBF-859E-A499D27732EA}"/>
                </a:ext>
              </a:extLst>
            </p:cNvPr>
            <p:cNvSpPr/>
            <p:nvPr/>
          </p:nvSpPr>
          <p:spPr>
            <a:xfrm>
              <a:off x="819000" y="2995560"/>
              <a:ext cx="1750320" cy="68364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000" b="1" strike="noStrike" spc="-1">
                  <a:solidFill>
                    <a:srgbClr val="FFFFFF"/>
                  </a:solidFill>
                  <a:latin typeface="Arial"/>
                  <a:ea typeface="新細明體"/>
                </a:rPr>
                <a:t>PEI Dispatcher</a:t>
              </a:r>
              <a:endParaRPr lang="en-US" sz="2000" b="0" strike="noStrike" spc="-1">
                <a:latin typeface="Arial"/>
              </a:endParaRPr>
            </a:p>
          </p:txBody>
        </p:sp>
      </p:grpSp>
    </p:spTree>
    <p:extLst>
      <p:ext uri="{BB962C8B-B14F-4D97-AF65-F5344CB8AC3E}">
        <p14:creationId xmlns:p14="http://schemas.microsoft.com/office/powerpoint/2010/main" val="162058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 Phase Flow</a:t>
            </a:r>
            <a:endParaRPr lang="en-US" dirty="0"/>
          </a:p>
        </p:txBody>
      </p:sp>
      <p:grpSp>
        <p:nvGrpSpPr>
          <p:cNvPr id="33" name="Group 2">
            <a:extLst>
              <a:ext uri="{FF2B5EF4-FFF2-40B4-BE49-F238E27FC236}">
                <a16:creationId xmlns:a16="http://schemas.microsoft.com/office/drawing/2014/main" id="{32FD582A-92BD-415B-81F5-19100D700ABA}"/>
              </a:ext>
            </a:extLst>
          </p:cNvPr>
          <p:cNvGrpSpPr/>
          <p:nvPr/>
        </p:nvGrpSpPr>
        <p:grpSpPr>
          <a:xfrm>
            <a:off x="2408070" y="5021350"/>
            <a:ext cx="1294920" cy="1437840"/>
            <a:chOff x="826920" y="4651200"/>
            <a:chExt cx="1294920" cy="1437840"/>
          </a:xfrm>
        </p:grpSpPr>
        <p:sp>
          <p:nvSpPr>
            <p:cNvPr id="34" name="CustomShape 3">
              <a:extLst>
                <a:ext uri="{FF2B5EF4-FFF2-40B4-BE49-F238E27FC236}">
                  <a16:creationId xmlns:a16="http://schemas.microsoft.com/office/drawing/2014/main" id="{6B1EB4F3-85FD-47A9-9FAF-88A9F6DBBCC8}"/>
                </a:ext>
              </a:extLst>
            </p:cNvPr>
            <p:cNvSpPr/>
            <p:nvPr/>
          </p:nvSpPr>
          <p:spPr>
            <a:xfrm>
              <a:off x="826920" y="465120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35" name="CustomShape 4">
              <a:extLst>
                <a:ext uri="{FF2B5EF4-FFF2-40B4-BE49-F238E27FC236}">
                  <a16:creationId xmlns:a16="http://schemas.microsoft.com/office/drawing/2014/main" id="{713FCD28-0165-43D7-9B81-247C5A58FCA5}"/>
                </a:ext>
              </a:extLst>
            </p:cNvPr>
            <p:cNvSpPr/>
            <p:nvPr/>
          </p:nvSpPr>
          <p:spPr>
            <a:xfrm>
              <a:off x="900000" y="565956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36" name="CustomShape 5">
              <a:extLst>
                <a:ext uri="{FF2B5EF4-FFF2-40B4-BE49-F238E27FC236}">
                  <a16:creationId xmlns:a16="http://schemas.microsoft.com/office/drawing/2014/main" id="{377C53A6-A9B1-4B2D-9F11-9CDE6C7AEDC2}"/>
                </a:ext>
              </a:extLst>
            </p:cNvPr>
            <p:cNvSpPr/>
            <p:nvPr/>
          </p:nvSpPr>
          <p:spPr>
            <a:xfrm>
              <a:off x="971640" y="4722840"/>
              <a:ext cx="99792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grpSp>
        <p:nvGrpSpPr>
          <p:cNvPr id="37" name="Group 6">
            <a:extLst>
              <a:ext uri="{FF2B5EF4-FFF2-40B4-BE49-F238E27FC236}">
                <a16:creationId xmlns:a16="http://schemas.microsoft.com/office/drawing/2014/main" id="{FBF350B5-7DAE-46D4-A76E-2772B6595008}"/>
              </a:ext>
            </a:extLst>
          </p:cNvPr>
          <p:cNvGrpSpPr/>
          <p:nvPr/>
        </p:nvGrpSpPr>
        <p:grpSpPr>
          <a:xfrm>
            <a:off x="2120790" y="1781350"/>
            <a:ext cx="5614560" cy="2518920"/>
            <a:chOff x="539640" y="1411200"/>
            <a:chExt cx="5614560" cy="2518920"/>
          </a:xfrm>
        </p:grpSpPr>
        <p:sp>
          <p:nvSpPr>
            <p:cNvPr id="38" name="CustomShape 7">
              <a:extLst>
                <a:ext uri="{FF2B5EF4-FFF2-40B4-BE49-F238E27FC236}">
                  <a16:creationId xmlns:a16="http://schemas.microsoft.com/office/drawing/2014/main" id="{541E0CD8-FA59-4294-88DF-F9C154D1DF8D}"/>
                </a:ext>
              </a:extLst>
            </p:cNvPr>
            <p:cNvSpPr/>
            <p:nvPr/>
          </p:nvSpPr>
          <p:spPr>
            <a:xfrm>
              <a:off x="539640" y="1411200"/>
              <a:ext cx="5614560" cy="2518920"/>
            </a:xfrm>
            <a:prstGeom prst="rect">
              <a:avLst/>
            </a:prstGeom>
            <a:solidFill>
              <a:srgbClr val="3B6A4D"/>
            </a:solidFill>
            <a:ln w="9360">
              <a:solidFill>
                <a:srgbClr val="CCCCFF"/>
              </a:solidFill>
              <a:miter/>
            </a:ln>
          </p:spPr>
          <p:style>
            <a:lnRef idx="0">
              <a:scrgbClr r="0" g="0" b="0"/>
            </a:lnRef>
            <a:fillRef idx="0">
              <a:scrgbClr r="0" g="0" b="0"/>
            </a:fillRef>
            <a:effectRef idx="0">
              <a:scrgbClr r="0" g="0" b="0"/>
            </a:effectRef>
            <a:fontRef idx="minor"/>
          </p:style>
        </p:sp>
        <p:grpSp>
          <p:nvGrpSpPr>
            <p:cNvPr id="39" name="Group 8">
              <a:extLst>
                <a:ext uri="{FF2B5EF4-FFF2-40B4-BE49-F238E27FC236}">
                  <a16:creationId xmlns:a16="http://schemas.microsoft.com/office/drawing/2014/main" id="{3D49E116-DEBB-4BEB-BF8F-50EECA6FD1C9}"/>
                </a:ext>
              </a:extLst>
            </p:cNvPr>
            <p:cNvGrpSpPr/>
            <p:nvPr/>
          </p:nvGrpSpPr>
          <p:grpSpPr>
            <a:xfrm>
              <a:off x="611280" y="1517760"/>
              <a:ext cx="1870920" cy="683640"/>
              <a:chOff x="611280" y="1517760"/>
              <a:chExt cx="1870920" cy="683640"/>
            </a:xfrm>
          </p:grpSpPr>
          <p:sp>
            <p:nvSpPr>
              <p:cNvPr id="40" name="CustomShape 9">
                <a:extLst>
                  <a:ext uri="{FF2B5EF4-FFF2-40B4-BE49-F238E27FC236}">
                    <a16:creationId xmlns:a16="http://schemas.microsoft.com/office/drawing/2014/main" id="{01459CDB-94F8-4769-B3DC-1545F8BDA7E4}"/>
                  </a:ext>
                </a:extLst>
              </p:cNvPr>
              <p:cNvSpPr/>
              <p:nvPr/>
            </p:nvSpPr>
            <p:spPr>
              <a:xfrm>
                <a:off x="684360" y="1517760"/>
                <a:ext cx="1750320" cy="68364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 Core</a:t>
                </a:r>
                <a:endParaRPr lang="en-US" sz="1800" b="0" strike="noStrike" spc="-1">
                  <a:latin typeface="Arial"/>
                </a:endParaRPr>
              </a:p>
            </p:txBody>
          </p:sp>
          <p:sp>
            <p:nvSpPr>
              <p:cNvPr id="41" name="CustomShape 10">
                <a:extLst>
                  <a:ext uri="{FF2B5EF4-FFF2-40B4-BE49-F238E27FC236}">
                    <a16:creationId xmlns:a16="http://schemas.microsoft.com/office/drawing/2014/main" id="{7EB8A786-20D0-45DA-BC78-C90EB35198D7}"/>
                  </a:ext>
                </a:extLst>
              </p:cNvPr>
              <p:cNvSpPr/>
              <p:nvPr/>
            </p:nvSpPr>
            <p:spPr>
              <a:xfrm>
                <a:off x="611280" y="1589040"/>
                <a:ext cx="1870920" cy="574200"/>
              </a:xfrm>
              <a:prstGeom prst="ellipse">
                <a:avLst/>
              </a:prstGeom>
              <a:noFill/>
              <a:ln w="9360">
                <a:solidFill>
                  <a:srgbClr val="CCCCFF"/>
                </a:solidFill>
                <a:miter/>
              </a:ln>
            </p:spPr>
            <p:style>
              <a:lnRef idx="0">
                <a:scrgbClr r="0" g="0" b="0"/>
              </a:lnRef>
              <a:fillRef idx="0">
                <a:scrgbClr r="0" g="0" b="0"/>
              </a:fillRef>
              <a:effectRef idx="0">
                <a:scrgbClr r="0" g="0" b="0"/>
              </a:effectRef>
              <a:fontRef idx="minor"/>
            </p:style>
          </p:sp>
        </p:grpSp>
      </p:grpSp>
      <p:sp>
        <p:nvSpPr>
          <p:cNvPr id="42" name="CustomShape 11">
            <a:extLst>
              <a:ext uri="{FF2B5EF4-FFF2-40B4-BE49-F238E27FC236}">
                <a16:creationId xmlns:a16="http://schemas.microsoft.com/office/drawing/2014/main" id="{DB993F80-527C-4B9E-B1A2-DB65F0D59BD6}"/>
              </a:ext>
            </a:extLst>
          </p:cNvPr>
          <p:cNvSpPr/>
          <p:nvPr/>
        </p:nvSpPr>
        <p:spPr>
          <a:xfrm>
            <a:off x="8385150" y="1316230"/>
            <a:ext cx="1293120" cy="607320"/>
          </a:xfrm>
          <a:prstGeom prst="rect">
            <a:avLst/>
          </a:prstGeom>
          <a:solidFill>
            <a:srgbClr val="6699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800" b="1" strike="noStrike" spc="-1">
                <a:solidFill>
                  <a:srgbClr val="FFFFFF"/>
                </a:solidFill>
                <a:latin typeface="Arial"/>
                <a:ea typeface="新細明體"/>
              </a:rPr>
              <a:t>SEC</a:t>
            </a:r>
            <a:endParaRPr lang="en-US" sz="2800" b="0" strike="noStrike" spc="-1">
              <a:latin typeface="Arial"/>
            </a:endParaRPr>
          </a:p>
        </p:txBody>
      </p:sp>
      <p:grpSp>
        <p:nvGrpSpPr>
          <p:cNvPr id="43" name="Group 12">
            <a:extLst>
              <a:ext uri="{FF2B5EF4-FFF2-40B4-BE49-F238E27FC236}">
                <a16:creationId xmlns:a16="http://schemas.microsoft.com/office/drawing/2014/main" id="{B59141C8-1C3D-449F-A166-6DBD327AD43C}"/>
              </a:ext>
            </a:extLst>
          </p:cNvPr>
          <p:cNvGrpSpPr/>
          <p:nvPr/>
        </p:nvGrpSpPr>
        <p:grpSpPr>
          <a:xfrm>
            <a:off x="2193870" y="3222070"/>
            <a:ext cx="1870920" cy="898920"/>
            <a:chOff x="612720" y="2851920"/>
            <a:chExt cx="1870920" cy="898920"/>
          </a:xfrm>
        </p:grpSpPr>
        <p:grpSp>
          <p:nvGrpSpPr>
            <p:cNvPr id="44" name="Group 13">
              <a:extLst>
                <a:ext uri="{FF2B5EF4-FFF2-40B4-BE49-F238E27FC236}">
                  <a16:creationId xmlns:a16="http://schemas.microsoft.com/office/drawing/2014/main" id="{C2586D7E-F290-4970-9ABE-B8BBB264431A}"/>
                </a:ext>
              </a:extLst>
            </p:cNvPr>
            <p:cNvGrpSpPr/>
            <p:nvPr/>
          </p:nvGrpSpPr>
          <p:grpSpPr>
            <a:xfrm>
              <a:off x="612720" y="3067200"/>
              <a:ext cx="1870920" cy="683640"/>
              <a:chOff x="612720" y="3067200"/>
              <a:chExt cx="1870920" cy="683640"/>
            </a:xfrm>
          </p:grpSpPr>
          <p:sp>
            <p:nvSpPr>
              <p:cNvPr id="46" name="CustomShape 14">
                <a:extLst>
                  <a:ext uri="{FF2B5EF4-FFF2-40B4-BE49-F238E27FC236}">
                    <a16:creationId xmlns:a16="http://schemas.microsoft.com/office/drawing/2014/main" id="{D37144A4-7C27-4EF6-BC28-240B3978E7C9}"/>
                  </a:ext>
                </a:extLst>
              </p:cNvPr>
              <p:cNvSpPr/>
              <p:nvPr/>
            </p:nvSpPr>
            <p:spPr>
              <a:xfrm>
                <a:off x="685800" y="3067200"/>
                <a:ext cx="1750320" cy="68364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000" b="1" strike="noStrike" spc="-1">
                    <a:solidFill>
                      <a:srgbClr val="FFFFFF"/>
                    </a:solidFill>
                    <a:latin typeface="Arial"/>
                    <a:ea typeface="新細明體"/>
                  </a:rPr>
                  <a:t>PEI Dispatcher</a:t>
                </a:r>
                <a:endParaRPr lang="en-US" sz="2000" b="0" strike="noStrike" spc="-1">
                  <a:latin typeface="Arial"/>
                </a:endParaRPr>
              </a:p>
            </p:txBody>
          </p:sp>
          <p:sp>
            <p:nvSpPr>
              <p:cNvPr id="47" name="CustomShape 15">
                <a:extLst>
                  <a:ext uri="{FF2B5EF4-FFF2-40B4-BE49-F238E27FC236}">
                    <a16:creationId xmlns:a16="http://schemas.microsoft.com/office/drawing/2014/main" id="{0F6BB0DF-9ADD-47D4-B007-1BBA512A4047}"/>
                  </a:ext>
                </a:extLst>
              </p:cNvPr>
              <p:cNvSpPr/>
              <p:nvPr/>
            </p:nvSpPr>
            <p:spPr>
              <a:xfrm>
                <a:off x="612720" y="3138480"/>
                <a:ext cx="1870920" cy="574200"/>
              </a:xfrm>
              <a:prstGeom prst="ellipse">
                <a:avLst/>
              </a:prstGeom>
              <a:noFill/>
              <a:ln w="9360">
                <a:solidFill>
                  <a:srgbClr val="CCCCFF"/>
                </a:solidFill>
                <a:miter/>
              </a:ln>
            </p:spPr>
            <p:style>
              <a:lnRef idx="0">
                <a:scrgbClr r="0" g="0" b="0"/>
              </a:lnRef>
              <a:fillRef idx="0">
                <a:scrgbClr r="0" g="0" b="0"/>
              </a:fillRef>
              <a:effectRef idx="0">
                <a:scrgbClr r="0" g="0" b="0"/>
              </a:effectRef>
              <a:fontRef idx="minor"/>
            </p:style>
          </p:sp>
        </p:grpSp>
        <p:sp>
          <p:nvSpPr>
            <p:cNvPr id="45" name="Line 16">
              <a:extLst>
                <a:ext uri="{FF2B5EF4-FFF2-40B4-BE49-F238E27FC236}">
                  <a16:creationId xmlns:a16="http://schemas.microsoft.com/office/drawing/2014/main" id="{94CC3063-30F2-4CB7-A169-1A18B523CC34}"/>
                </a:ext>
              </a:extLst>
            </p:cNvPr>
            <p:cNvSpPr/>
            <p:nvPr/>
          </p:nvSpPr>
          <p:spPr>
            <a:xfrm>
              <a:off x="1547640" y="2851920"/>
              <a:ext cx="1440" cy="21492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grpSp>
      <p:grpSp>
        <p:nvGrpSpPr>
          <p:cNvPr id="48" name="Group 17">
            <a:extLst>
              <a:ext uri="{FF2B5EF4-FFF2-40B4-BE49-F238E27FC236}">
                <a16:creationId xmlns:a16="http://schemas.microsoft.com/office/drawing/2014/main" id="{1EF47C68-E8B8-4C00-94F6-41844F370CA3}"/>
              </a:ext>
            </a:extLst>
          </p:cNvPr>
          <p:cNvGrpSpPr/>
          <p:nvPr/>
        </p:nvGrpSpPr>
        <p:grpSpPr>
          <a:xfrm>
            <a:off x="2193870" y="1997350"/>
            <a:ext cx="5182560" cy="2158560"/>
            <a:chOff x="612720" y="1627200"/>
            <a:chExt cx="5182560" cy="2158560"/>
          </a:xfrm>
        </p:grpSpPr>
        <p:sp>
          <p:nvSpPr>
            <p:cNvPr id="49" name="Line 18">
              <a:extLst>
                <a:ext uri="{FF2B5EF4-FFF2-40B4-BE49-F238E27FC236}">
                  <a16:creationId xmlns:a16="http://schemas.microsoft.com/office/drawing/2014/main" id="{E5DF7097-B7D0-40D9-8475-954A43EF002F}"/>
                </a:ext>
              </a:extLst>
            </p:cNvPr>
            <p:cNvSpPr/>
            <p:nvPr/>
          </p:nvSpPr>
          <p:spPr>
            <a:xfrm>
              <a:off x="1547640" y="2203200"/>
              <a:ext cx="1440" cy="21600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sp>
          <p:nvSpPr>
            <p:cNvPr id="50" name="CustomShape 19">
              <a:extLst>
                <a:ext uri="{FF2B5EF4-FFF2-40B4-BE49-F238E27FC236}">
                  <a16:creationId xmlns:a16="http://schemas.microsoft.com/office/drawing/2014/main" id="{7B17C49C-4825-4F8A-B582-A0596184803D}"/>
                </a:ext>
              </a:extLst>
            </p:cNvPr>
            <p:cNvSpPr/>
            <p:nvPr/>
          </p:nvSpPr>
          <p:spPr>
            <a:xfrm>
              <a:off x="612720" y="2563920"/>
              <a:ext cx="1870920" cy="213840"/>
            </a:xfrm>
            <a:prstGeom prst="rect">
              <a:avLst/>
            </a:prstGeom>
            <a:noFill/>
            <a:ln w="9360">
              <a:solidFill>
                <a:srgbClr val="CCCCFF"/>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600" b="1" strike="noStrike" spc="-1">
                  <a:solidFill>
                    <a:srgbClr val="FFCCCC"/>
                  </a:solidFill>
                  <a:latin typeface="Arial"/>
                  <a:ea typeface="新細明體"/>
                </a:rPr>
                <a:t>Initialization</a:t>
              </a:r>
              <a:endParaRPr lang="en-US" sz="1600" b="0" strike="noStrike" spc="-1">
                <a:latin typeface="Arial"/>
              </a:endParaRPr>
            </a:p>
          </p:txBody>
        </p:sp>
        <p:grpSp>
          <p:nvGrpSpPr>
            <p:cNvPr id="51" name="Group 20">
              <a:extLst>
                <a:ext uri="{FF2B5EF4-FFF2-40B4-BE49-F238E27FC236}">
                  <a16:creationId xmlns:a16="http://schemas.microsoft.com/office/drawing/2014/main" id="{DB9AA416-9040-42A5-AC29-7AEA89B05046}"/>
                </a:ext>
              </a:extLst>
            </p:cNvPr>
            <p:cNvGrpSpPr/>
            <p:nvPr/>
          </p:nvGrpSpPr>
          <p:grpSpPr>
            <a:xfrm>
              <a:off x="3205080" y="1627200"/>
              <a:ext cx="2590200" cy="2158560"/>
              <a:chOff x="3205080" y="1627200"/>
              <a:chExt cx="2590200" cy="2158560"/>
            </a:xfrm>
          </p:grpSpPr>
          <p:sp>
            <p:nvSpPr>
              <p:cNvPr id="54" name="CustomShape 21">
                <a:extLst>
                  <a:ext uri="{FF2B5EF4-FFF2-40B4-BE49-F238E27FC236}">
                    <a16:creationId xmlns:a16="http://schemas.microsoft.com/office/drawing/2014/main" id="{3B74A7EF-3775-4D63-A524-453F5825EB5C}"/>
                  </a:ext>
                </a:extLst>
              </p:cNvPr>
              <p:cNvSpPr/>
              <p:nvPr/>
            </p:nvSpPr>
            <p:spPr>
              <a:xfrm>
                <a:off x="3281400" y="206064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a:solidFill>
                      <a:srgbClr val="000000"/>
                    </a:solidFill>
                    <a:latin typeface="Arial"/>
                    <a:ea typeface="新細明體"/>
                  </a:rPr>
                  <a:t>PPI Database</a:t>
                </a:r>
                <a:endParaRPr lang="en-US" sz="1600" b="0" strike="noStrike" spc="-1">
                  <a:latin typeface="Arial"/>
                </a:endParaRPr>
              </a:p>
            </p:txBody>
          </p:sp>
          <p:sp>
            <p:nvSpPr>
              <p:cNvPr id="55" name="CustomShape 22">
                <a:extLst>
                  <a:ext uri="{FF2B5EF4-FFF2-40B4-BE49-F238E27FC236}">
                    <a16:creationId xmlns:a16="http://schemas.microsoft.com/office/drawing/2014/main" id="{A9B5D6E3-7DFD-47D0-A02D-7DA5FD1DB64B}"/>
                  </a:ext>
                </a:extLst>
              </p:cNvPr>
              <p:cNvSpPr/>
              <p:nvPr/>
            </p:nvSpPr>
            <p:spPr>
              <a:xfrm>
                <a:off x="3713040" y="206064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a:solidFill>
                      <a:srgbClr val="000000"/>
                    </a:solidFill>
                    <a:latin typeface="Arial"/>
                    <a:ea typeface="新細明體"/>
                  </a:rPr>
                  <a:t>Boot Mode</a:t>
                </a:r>
                <a:endParaRPr lang="en-US" sz="1600" b="0" strike="noStrike" spc="-1">
                  <a:latin typeface="Arial"/>
                </a:endParaRPr>
              </a:p>
            </p:txBody>
          </p:sp>
          <p:sp>
            <p:nvSpPr>
              <p:cNvPr id="56" name="CustomShape 23">
                <a:extLst>
                  <a:ext uri="{FF2B5EF4-FFF2-40B4-BE49-F238E27FC236}">
                    <a16:creationId xmlns:a16="http://schemas.microsoft.com/office/drawing/2014/main" id="{1A8F6E80-1ED0-445E-BC5A-8EA02AF59D0A}"/>
                  </a:ext>
                </a:extLst>
              </p:cNvPr>
              <p:cNvSpPr/>
              <p:nvPr/>
            </p:nvSpPr>
            <p:spPr>
              <a:xfrm>
                <a:off x="4070520" y="206064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a:solidFill>
                      <a:srgbClr val="000000"/>
                    </a:solidFill>
                    <a:latin typeface="Arial"/>
                    <a:ea typeface="新細明體"/>
                  </a:rPr>
                  <a:t>R/O FW Volume</a:t>
                </a:r>
                <a:endParaRPr lang="en-US" sz="1600" b="0" strike="noStrike" spc="-1">
                  <a:latin typeface="Arial"/>
                </a:endParaRPr>
              </a:p>
            </p:txBody>
          </p:sp>
          <p:sp>
            <p:nvSpPr>
              <p:cNvPr id="57" name="CustomShape 24">
                <a:extLst>
                  <a:ext uri="{FF2B5EF4-FFF2-40B4-BE49-F238E27FC236}">
                    <a16:creationId xmlns:a16="http://schemas.microsoft.com/office/drawing/2014/main" id="{4BAD1957-372F-43C1-A153-6E100D06E1E6}"/>
                  </a:ext>
                </a:extLst>
              </p:cNvPr>
              <p:cNvSpPr/>
              <p:nvPr/>
            </p:nvSpPr>
            <p:spPr>
              <a:xfrm>
                <a:off x="4502160" y="206064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a:solidFill>
                      <a:srgbClr val="000000"/>
                    </a:solidFill>
                    <a:latin typeface="Arial"/>
                    <a:ea typeface="新細明體"/>
                  </a:rPr>
                  <a:t>Memory Service</a:t>
                </a:r>
                <a:endParaRPr lang="en-US" sz="1600" b="0" strike="noStrike" spc="-1">
                  <a:latin typeface="Arial"/>
                </a:endParaRPr>
              </a:p>
            </p:txBody>
          </p:sp>
          <p:sp>
            <p:nvSpPr>
              <p:cNvPr id="58" name="CustomShape 25">
                <a:extLst>
                  <a:ext uri="{FF2B5EF4-FFF2-40B4-BE49-F238E27FC236}">
                    <a16:creationId xmlns:a16="http://schemas.microsoft.com/office/drawing/2014/main" id="{370BB27A-19D4-4B7C-8B1A-49582E83B5B4}"/>
                  </a:ext>
                </a:extLst>
              </p:cNvPr>
              <p:cNvSpPr/>
              <p:nvPr/>
            </p:nvSpPr>
            <p:spPr>
              <a:xfrm>
                <a:off x="4862520" y="206064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dirty="0" err="1">
                    <a:solidFill>
                      <a:srgbClr val="000000"/>
                    </a:solidFill>
                    <a:latin typeface="Arial"/>
                    <a:ea typeface="新細明體"/>
                  </a:rPr>
                  <a:t>HandOffBlocks</a:t>
                </a:r>
                <a:endParaRPr lang="en-US" sz="1600" b="0" strike="noStrike" spc="-1" dirty="0">
                  <a:latin typeface="Arial"/>
                </a:endParaRPr>
              </a:p>
            </p:txBody>
          </p:sp>
          <p:sp>
            <p:nvSpPr>
              <p:cNvPr id="59" name="CustomShape 26">
                <a:extLst>
                  <a:ext uri="{FF2B5EF4-FFF2-40B4-BE49-F238E27FC236}">
                    <a16:creationId xmlns:a16="http://schemas.microsoft.com/office/drawing/2014/main" id="{E52B812C-CAA2-4954-A5E7-BD20941DE5AD}"/>
                  </a:ext>
                </a:extLst>
              </p:cNvPr>
              <p:cNvSpPr/>
              <p:nvPr/>
            </p:nvSpPr>
            <p:spPr>
              <a:xfrm>
                <a:off x="5294160" y="2060640"/>
                <a:ext cx="426600" cy="165348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rot="5400000" vert="vert" lIns="90000" tIns="46800" rIns="90000" bIns="46800" anchor="t" anchorCtr="1">
                <a:noAutofit/>
                <a:scene3d>
                  <a:camera prst="orthographicFront">
                    <a:rot lat="0" lon="0" rev="5400000"/>
                  </a:camera>
                  <a:lightRig rig="threePt" dir="t"/>
                </a:scene3d>
              </a:bodyPr>
              <a:lstStyle/>
              <a:p>
                <a:pPr rtl="1">
                  <a:lnSpc>
                    <a:spcPct val="100000"/>
                  </a:lnSpc>
                  <a:spcBef>
                    <a:spcPts val="1001"/>
                  </a:spcBef>
                </a:pPr>
                <a:r>
                  <a:rPr lang="en-US" sz="1600" b="1" strike="noStrike" spc="-1">
                    <a:solidFill>
                      <a:srgbClr val="000000"/>
                    </a:solidFill>
                    <a:latin typeface="Arial"/>
                    <a:ea typeface="新細明體"/>
                  </a:rPr>
                  <a:t>Status Code</a:t>
                </a:r>
                <a:endParaRPr lang="en-US" sz="1600" b="0" strike="noStrike" spc="-1">
                  <a:latin typeface="Arial"/>
                </a:endParaRPr>
              </a:p>
            </p:txBody>
          </p:sp>
          <p:sp>
            <p:nvSpPr>
              <p:cNvPr id="60" name="CustomShape 27">
                <a:extLst>
                  <a:ext uri="{FF2B5EF4-FFF2-40B4-BE49-F238E27FC236}">
                    <a16:creationId xmlns:a16="http://schemas.microsoft.com/office/drawing/2014/main" id="{6AB8D63C-2330-47AD-A82C-D1953EE3F2F8}"/>
                  </a:ext>
                </a:extLst>
              </p:cNvPr>
              <p:cNvSpPr/>
              <p:nvPr/>
            </p:nvSpPr>
            <p:spPr>
              <a:xfrm>
                <a:off x="3205080" y="1627200"/>
                <a:ext cx="2590200" cy="2158560"/>
              </a:xfrm>
              <a:prstGeom prst="rect">
                <a:avLst/>
              </a:prstGeom>
              <a:noFill/>
              <a:ln w="9360">
                <a:solidFill>
                  <a:srgbClr val="CCCCFF"/>
                </a:solidFill>
                <a:miter/>
              </a:ln>
            </p:spPr>
            <p:style>
              <a:lnRef idx="0">
                <a:scrgbClr r="0" g="0" b="0"/>
              </a:lnRef>
              <a:fillRef idx="0">
                <a:scrgbClr r="0" g="0" b="0"/>
              </a:fillRef>
              <a:effectRef idx="0">
                <a:scrgbClr r="0" g="0" b="0"/>
              </a:effectRef>
              <a:fontRef idx="minor"/>
            </p:style>
            <p:txBody>
              <a:bodyPr lIns="90000" tIns="46800" rIns="90000" bIns="46800">
                <a:noAutofit/>
              </a:bodyPr>
              <a:lstStyle/>
              <a:p>
                <a:pPr algn="ctr">
                  <a:lnSpc>
                    <a:spcPct val="100000"/>
                  </a:lnSpc>
                  <a:spcBef>
                    <a:spcPts val="1250"/>
                  </a:spcBef>
                </a:pPr>
                <a:r>
                  <a:rPr lang="en-US" sz="2000" b="1" strike="noStrike" spc="-1">
                    <a:solidFill>
                      <a:srgbClr val="FFCCCC"/>
                    </a:solidFill>
                    <a:latin typeface="Arial"/>
                    <a:ea typeface="新細明體"/>
                  </a:rPr>
                  <a:t>Core Services</a:t>
                </a:r>
                <a:endParaRPr lang="en-US" sz="2000" b="0" strike="noStrike" spc="-1">
                  <a:latin typeface="Arial"/>
                </a:endParaRPr>
              </a:p>
            </p:txBody>
          </p:sp>
        </p:grpSp>
        <p:sp>
          <p:nvSpPr>
            <p:cNvPr id="52" name="Line 28">
              <a:extLst>
                <a:ext uri="{FF2B5EF4-FFF2-40B4-BE49-F238E27FC236}">
                  <a16:creationId xmlns:a16="http://schemas.microsoft.com/office/drawing/2014/main" id="{94A24F9A-CA27-4C83-9D78-A3642390BD42}"/>
                </a:ext>
              </a:extLst>
            </p:cNvPr>
            <p:cNvSpPr/>
            <p:nvPr/>
          </p:nvSpPr>
          <p:spPr>
            <a:xfrm flipV="1">
              <a:off x="2484360" y="1698480"/>
              <a:ext cx="647640" cy="79524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sp>
          <p:nvSpPr>
            <p:cNvPr id="53" name="Line 29">
              <a:extLst>
                <a:ext uri="{FF2B5EF4-FFF2-40B4-BE49-F238E27FC236}">
                  <a16:creationId xmlns:a16="http://schemas.microsoft.com/office/drawing/2014/main" id="{FDCB6DDA-EB9A-47CF-827F-B9174F360205}"/>
                </a:ext>
              </a:extLst>
            </p:cNvPr>
            <p:cNvSpPr/>
            <p:nvPr/>
          </p:nvSpPr>
          <p:spPr>
            <a:xfrm flipH="1" flipV="1">
              <a:off x="2482560" y="2849400"/>
              <a:ext cx="650880" cy="868320"/>
            </a:xfrm>
            <a:prstGeom prst="line">
              <a:avLst/>
            </a:prstGeom>
            <a:ln w="9360">
              <a:solidFill>
                <a:srgbClr val="CCCCFF"/>
              </a:solidFill>
              <a:miter/>
              <a:tailEnd type="triangle" w="med" len="med"/>
            </a:ln>
          </p:spPr>
          <p:style>
            <a:lnRef idx="0">
              <a:scrgbClr r="0" g="0" b="0"/>
            </a:lnRef>
            <a:fillRef idx="0">
              <a:scrgbClr r="0" g="0" b="0"/>
            </a:fillRef>
            <a:effectRef idx="0">
              <a:scrgbClr r="0" g="0" b="0"/>
            </a:effectRef>
            <a:fontRef idx="minor"/>
          </p:style>
        </p:sp>
      </p:grpSp>
      <p:sp>
        <p:nvSpPr>
          <p:cNvPr id="61" name="CustomShape 30">
            <a:extLst>
              <a:ext uri="{FF2B5EF4-FFF2-40B4-BE49-F238E27FC236}">
                <a16:creationId xmlns:a16="http://schemas.microsoft.com/office/drawing/2014/main" id="{CF87CDAA-3A2E-4599-956B-0B47FC8714D4}"/>
              </a:ext>
            </a:extLst>
          </p:cNvPr>
          <p:cNvSpPr/>
          <p:nvPr/>
        </p:nvSpPr>
        <p:spPr>
          <a:xfrm>
            <a:off x="8381910" y="2068630"/>
            <a:ext cx="1294920" cy="2520360"/>
          </a:xfrm>
          <a:prstGeom prst="rect">
            <a:avLst/>
          </a:prstGeom>
          <a:solidFill>
            <a:srgbClr val="FFFFCC"/>
          </a:solidFill>
          <a:ln w="3240">
            <a:solidFill>
              <a:srgbClr val="000000"/>
            </a:solidFill>
            <a:miter/>
          </a:ln>
        </p:spPr>
        <p:style>
          <a:lnRef idx="0">
            <a:scrgbClr r="0" g="0" b="0"/>
          </a:lnRef>
          <a:fillRef idx="0">
            <a:scrgbClr r="0" g="0" b="0"/>
          </a:fillRef>
          <a:effectRef idx="0">
            <a:scrgbClr r="0" g="0" b="0"/>
          </a:effectRef>
          <a:fontRef idx="minor"/>
        </p:style>
      </p:sp>
      <p:sp>
        <p:nvSpPr>
          <p:cNvPr id="62" name="CustomShape 31">
            <a:extLst>
              <a:ext uri="{FF2B5EF4-FFF2-40B4-BE49-F238E27FC236}">
                <a16:creationId xmlns:a16="http://schemas.microsoft.com/office/drawing/2014/main" id="{4C4AF6B0-2FAC-4E56-9CC1-30945C79E2E1}"/>
              </a:ext>
            </a:extLst>
          </p:cNvPr>
          <p:cNvSpPr/>
          <p:nvPr/>
        </p:nvSpPr>
        <p:spPr>
          <a:xfrm>
            <a:off x="8381910" y="2213350"/>
            <a:ext cx="1294920" cy="358200"/>
          </a:xfrm>
          <a:prstGeom prst="rect">
            <a:avLst/>
          </a:prstGeom>
          <a:solidFill>
            <a:srgbClr val="FF6600"/>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400" b="1" strike="noStrike" spc="-1">
                <a:solidFill>
                  <a:srgbClr val="99CCFF"/>
                </a:solidFill>
                <a:latin typeface="Arial"/>
                <a:ea typeface="新細明體"/>
              </a:rPr>
              <a:t>BFV</a:t>
            </a:r>
            <a:endParaRPr lang="en-US" sz="2400" b="0" strike="noStrike" spc="-1">
              <a:latin typeface="Arial"/>
            </a:endParaRPr>
          </a:p>
        </p:txBody>
      </p:sp>
      <p:sp>
        <p:nvSpPr>
          <p:cNvPr id="63" name="CustomShape 32">
            <a:extLst>
              <a:ext uri="{FF2B5EF4-FFF2-40B4-BE49-F238E27FC236}">
                <a16:creationId xmlns:a16="http://schemas.microsoft.com/office/drawing/2014/main" id="{FA3F6B4B-E67D-48E5-9860-D928B1CF08B2}"/>
              </a:ext>
            </a:extLst>
          </p:cNvPr>
          <p:cNvSpPr/>
          <p:nvPr/>
        </p:nvSpPr>
        <p:spPr>
          <a:xfrm>
            <a:off x="8383710" y="3872230"/>
            <a:ext cx="1293120" cy="717120"/>
          </a:xfrm>
          <a:prstGeom prst="rect">
            <a:avLst/>
          </a:prstGeom>
          <a:solidFill>
            <a:srgbClr val="99CCFF"/>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System</a:t>
            </a:r>
            <a:endParaRPr lang="en-US" sz="1800" b="0" strike="noStrike" spc="-1">
              <a:latin typeface="Arial"/>
            </a:endParaRPr>
          </a:p>
          <a:p>
            <a:pPr algn="ctr">
              <a:lnSpc>
                <a:spcPct val="100000"/>
              </a:lnSpc>
            </a:pPr>
            <a:r>
              <a:rPr lang="en-US" sz="1800" b="1" strike="noStrike" spc="-1">
                <a:solidFill>
                  <a:srgbClr val="000000"/>
                </a:solidFill>
                <a:latin typeface="Arial"/>
                <a:ea typeface="新細明體"/>
              </a:rPr>
              <a:t>Memory</a:t>
            </a:r>
            <a:endParaRPr lang="en-US" sz="1800" b="0" strike="noStrike" spc="-1">
              <a:latin typeface="Arial"/>
            </a:endParaRPr>
          </a:p>
        </p:txBody>
      </p:sp>
      <p:sp>
        <p:nvSpPr>
          <p:cNvPr id="64" name="CustomShape 33">
            <a:extLst>
              <a:ext uri="{FF2B5EF4-FFF2-40B4-BE49-F238E27FC236}">
                <a16:creationId xmlns:a16="http://schemas.microsoft.com/office/drawing/2014/main" id="{0026FB6E-B691-481B-AE26-DF407A08A062}"/>
              </a:ext>
            </a:extLst>
          </p:cNvPr>
          <p:cNvSpPr/>
          <p:nvPr/>
        </p:nvSpPr>
        <p:spPr>
          <a:xfrm>
            <a:off x="8381910" y="2646790"/>
            <a:ext cx="1294920" cy="356760"/>
          </a:xfrm>
          <a:prstGeom prst="rect">
            <a:avLst/>
          </a:prstGeom>
          <a:no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400" b="1" strike="noStrike" spc="-1">
                <a:solidFill>
                  <a:srgbClr val="000000"/>
                </a:solidFill>
                <a:latin typeface="Arial"/>
                <a:ea typeface="新細明體"/>
              </a:rPr>
              <a:t>TRAM</a:t>
            </a:r>
            <a:endParaRPr lang="en-US" sz="2400" b="0" strike="noStrike" spc="-1">
              <a:latin typeface="Arial"/>
            </a:endParaRPr>
          </a:p>
        </p:txBody>
      </p:sp>
      <p:sp>
        <p:nvSpPr>
          <p:cNvPr id="65" name="CustomShape 34">
            <a:extLst>
              <a:ext uri="{FF2B5EF4-FFF2-40B4-BE49-F238E27FC236}">
                <a16:creationId xmlns:a16="http://schemas.microsoft.com/office/drawing/2014/main" id="{DE90EE53-C857-42F9-85DA-AC3E5EC0D57B}"/>
              </a:ext>
            </a:extLst>
          </p:cNvPr>
          <p:cNvSpPr/>
          <p:nvPr/>
        </p:nvSpPr>
        <p:spPr>
          <a:xfrm>
            <a:off x="2697150" y="4162750"/>
            <a:ext cx="307440" cy="856800"/>
          </a:xfrm>
          <a:prstGeom prst="downArrow">
            <a:avLst>
              <a:gd name="adj1" fmla="val 50000"/>
              <a:gd name="adj2" fmla="val 69359"/>
            </a:avLst>
          </a:prstGeom>
          <a:solidFill>
            <a:srgbClr val="FFFF00"/>
          </a:solidFill>
          <a:ln w="9360">
            <a:solidFill>
              <a:srgbClr val="CCCCFF"/>
            </a:solidFill>
            <a:miter/>
          </a:ln>
        </p:spPr>
        <p:style>
          <a:lnRef idx="0">
            <a:scrgbClr r="0" g="0" b="0"/>
          </a:lnRef>
          <a:fillRef idx="0">
            <a:scrgbClr r="0" g="0" b="0"/>
          </a:fillRef>
          <a:effectRef idx="0">
            <a:scrgbClr r="0" g="0" b="0"/>
          </a:effectRef>
          <a:fontRef idx="minor"/>
        </p:style>
      </p:sp>
      <p:sp>
        <p:nvSpPr>
          <p:cNvPr id="66" name="CustomShape 35">
            <a:extLst>
              <a:ext uri="{FF2B5EF4-FFF2-40B4-BE49-F238E27FC236}">
                <a16:creationId xmlns:a16="http://schemas.microsoft.com/office/drawing/2014/main" id="{460D1134-9669-4BEB-87A1-66EC609C6C9A}"/>
              </a:ext>
            </a:extLst>
          </p:cNvPr>
          <p:cNvSpPr/>
          <p:nvPr/>
        </p:nvSpPr>
        <p:spPr>
          <a:xfrm>
            <a:off x="3111510" y="4158070"/>
            <a:ext cx="302760" cy="861480"/>
          </a:xfrm>
          <a:prstGeom prst="upArrow">
            <a:avLst>
              <a:gd name="adj1" fmla="val 50000"/>
              <a:gd name="adj2" fmla="val 70833"/>
            </a:avLst>
          </a:prstGeom>
          <a:solidFill>
            <a:srgbClr val="FFFF00"/>
          </a:solidFill>
          <a:ln w="9360">
            <a:solidFill>
              <a:srgbClr val="CCCCFF"/>
            </a:solidFill>
            <a:miter/>
          </a:ln>
        </p:spPr>
        <p:style>
          <a:lnRef idx="0">
            <a:scrgbClr r="0" g="0" b="0"/>
          </a:lnRef>
          <a:fillRef idx="0">
            <a:scrgbClr r="0" g="0" b="0"/>
          </a:fillRef>
          <a:effectRef idx="0">
            <a:scrgbClr r="0" g="0" b="0"/>
          </a:effectRef>
          <a:fontRef idx="minor"/>
        </p:style>
      </p:sp>
      <p:grpSp>
        <p:nvGrpSpPr>
          <p:cNvPr id="67" name="Group 36">
            <a:extLst>
              <a:ext uri="{FF2B5EF4-FFF2-40B4-BE49-F238E27FC236}">
                <a16:creationId xmlns:a16="http://schemas.microsoft.com/office/drawing/2014/main" id="{4E449774-AE20-4DAD-9BC4-2F6925BE81CC}"/>
              </a:ext>
            </a:extLst>
          </p:cNvPr>
          <p:cNvGrpSpPr/>
          <p:nvPr/>
        </p:nvGrpSpPr>
        <p:grpSpPr>
          <a:xfrm>
            <a:off x="3848070" y="5023150"/>
            <a:ext cx="1294920" cy="1437840"/>
            <a:chOff x="2266920" y="4653000"/>
            <a:chExt cx="1294920" cy="1437840"/>
          </a:xfrm>
        </p:grpSpPr>
        <p:grpSp>
          <p:nvGrpSpPr>
            <p:cNvPr id="68" name="Group 37">
              <a:extLst>
                <a:ext uri="{FF2B5EF4-FFF2-40B4-BE49-F238E27FC236}">
                  <a16:creationId xmlns:a16="http://schemas.microsoft.com/office/drawing/2014/main" id="{DF878B46-DDC4-4BB1-AA4D-11C0D56A0FCD}"/>
                </a:ext>
              </a:extLst>
            </p:cNvPr>
            <p:cNvGrpSpPr/>
            <p:nvPr/>
          </p:nvGrpSpPr>
          <p:grpSpPr>
            <a:xfrm>
              <a:off x="2266920" y="4653000"/>
              <a:ext cx="1294920" cy="1437840"/>
              <a:chOff x="2266920" y="4653000"/>
              <a:chExt cx="1294920" cy="1437840"/>
            </a:xfrm>
          </p:grpSpPr>
          <p:sp>
            <p:nvSpPr>
              <p:cNvPr id="70" name="CustomShape 38">
                <a:extLst>
                  <a:ext uri="{FF2B5EF4-FFF2-40B4-BE49-F238E27FC236}">
                    <a16:creationId xmlns:a16="http://schemas.microsoft.com/office/drawing/2014/main" id="{5ABB17BB-CA36-4A03-B379-E095F5AB8EC5}"/>
                  </a:ext>
                </a:extLst>
              </p:cNvPr>
              <p:cNvSpPr/>
              <p:nvPr/>
            </p:nvSpPr>
            <p:spPr>
              <a:xfrm>
                <a:off x="2266920" y="465300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71" name="CustomShape 39">
                <a:extLst>
                  <a:ext uri="{FF2B5EF4-FFF2-40B4-BE49-F238E27FC236}">
                    <a16:creationId xmlns:a16="http://schemas.microsoft.com/office/drawing/2014/main" id="{D727AC9C-64B9-49E7-9E57-030E76850CF1}"/>
                  </a:ext>
                </a:extLst>
              </p:cNvPr>
              <p:cNvSpPr/>
              <p:nvPr/>
            </p:nvSpPr>
            <p:spPr>
              <a:xfrm>
                <a:off x="2340000" y="566100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72" name="CustomShape 40">
                <a:extLst>
                  <a:ext uri="{FF2B5EF4-FFF2-40B4-BE49-F238E27FC236}">
                    <a16:creationId xmlns:a16="http://schemas.microsoft.com/office/drawing/2014/main" id="{B3DA7777-6401-42B9-8E0D-BE0C9D4A01B3}"/>
                  </a:ext>
                </a:extLst>
              </p:cNvPr>
              <p:cNvSpPr/>
              <p:nvPr/>
            </p:nvSpPr>
            <p:spPr>
              <a:xfrm>
                <a:off x="2411280" y="4724280"/>
                <a:ext cx="99792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sp>
          <p:nvSpPr>
            <p:cNvPr id="69" name="CustomShape 41">
              <a:extLst>
                <a:ext uri="{FF2B5EF4-FFF2-40B4-BE49-F238E27FC236}">
                  <a16:creationId xmlns:a16="http://schemas.microsoft.com/office/drawing/2014/main" id="{F8D81173-F2D8-4286-9259-80E3F91DFA7C}"/>
                </a:ext>
              </a:extLst>
            </p:cNvPr>
            <p:cNvSpPr/>
            <p:nvPr/>
          </p:nvSpPr>
          <p:spPr>
            <a:xfrm>
              <a:off x="2411280" y="5157720"/>
              <a:ext cx="100764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PPI(s)</a:t>
              </a:r>
              <a:endParaRPr lang="en-US" sz="1800" b="0" strike="noStrike" spc="-1">
                <a:latin typeface="Arial"/>
              </a:endParaRPr>
            </a:p>
          </p:txBody>
        </p:sp>
      </p:grpSp>
      <p:grpSp>
        <p:nvGrpSpPr>
          <p:cNvPr id="73" name="Group 42">
            <a:extLst>
              <a:ext uri="{FF2B5EF4-FFF2-40B4-BE49-F238E27FC236}">
                <a16:creationId xmlns:a16="http://schemas.microsoft.com/office/drawing/2014/main" id="{EABBC722-951E-437F-A19E-E2548146DDBF}"/>
              </a:ext>
            </a:extLst>
          </p:cNvPr>
          <p:cNvGrpSpPr/>
          <p:nvPr/>
        </p:nvGrpSpPr>
        <p:grpSpPr>
          <a:xfrm>
            <a:off x="5288070" y="5021350"/>
            <a:ext cx="1294920" cy="1437840"/>
            <a:chOff x="3706920" y="4651200"/>
            <a:chExt cx="1294920" cy="1437840"/>
          </a:xfrm>
        </p:grpSpPr>
        <p:grpSp>
          <p:nvGrpSpPr>
            <p:cNvPr id="74" name="Group 43">
              <a:extLst>
                <a:ext uri="{FF2B5EF4-FFF2-40B4-BE49-F238E27FC236}">
                  <a16:creationId xmlns:a16="http://schemas.microsoft.com/office/drawing/2014/main" id="{04C5A9D6-A82C-4090-8A57-525DDCCC307F}"/>
                </a:ext>
              </a:extLst>
            </p:cNvPr>
            <p:cNvGrpSpPr/>
            <p:nvPr/>
          </p:nvGrpSpPr>
          <p:grpSpPr>
            <a:xfrm>
              <a:off x="3706920" y="4651200"/>
              <a:ext cx="1294920" cy="1437840"/>
              <a:chOff x="3706920" y="4651200"/>
              <a:chExt cx="1294920" cy="1437840"/>
            </a:xfrm>
          </p:grpSpPr>
          <p:sp>
            <p:nvSpPr>
              <p:cNvPr id="76" name="CustomShape 44">
                <a:extLst>
                  <a:ext uri="{FF2B5EF4-FFF2-40B4-BE49-F238E27FC236}">
                    <a16:creationId xmlns:a16="http://schemas.microsoft.com/office/drawing/2014/main" id="{B9505567-617F-4575-92E2-B2D9E8512C1B}"/>
                  </a:ext>
                </a:extLst>
              </p:cNvPr>
              <p:cNvSpPr/>
              <p:nvPr/>
            </p:nvSpPr>
            <p:spPr>
              <a:xfrm>
                <a:off x="3706920" y="465120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77" name="CustomShape 45">
                <a:extLst>
                  <a:ext uri="{FF2B5EF4-FFF2-40B4-BE49-F238E27FC236}">
                    <a16:creationId xmlns:a16="http://schemas.microsoft.com/office/drawing/2014/main" id="{985DEC1D-E318-4781-8597-CDF96415A24B}"/>
                  </a:ext>
                </a:extLst>
              </p:cNvPr>
              <p:cNvSpPr/>
              <p:nvPr/>
            </p:nvSpPr>
            <p:spPr>
              <a:xfrm>
                <a:off x="3780000" y="565956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78" name="CustomShape 46">
                <a:extLst>
                  <a:ext uri="{FF2B5EF4-FFF2-40B4-BE49-F238E27FC236}">
                    <a16:creationId xmlns:a16="http://schemas.microsoft.com/office/drawing/2014/main" id="{40C0FD8F-FA92-45D9-B988-57F7D6D4E1A7}"/>
                  </a:ext>
                </a:extLst>
              </p:cNvPr>
              <p:cNvSpPr/>
              <p:nvPr/>
            </p:nvSpPr>
            <p:spPr>
              <a:xfrm>
                <a:off x="3851280" y="4722840"/>
                <a:ext cx="99792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sp>
          <p:nvSpPr>
            <p:cNvPr id="75" name="CustomShape 47">
              <a:extLst>
                <a:ext uri="{FF2B5EF4-FFF2-40B4-BE49-F238E27FC236}">
                  <a16:creationId xmlns:a16="http://schemas.microsoft.com/office/drawing/2014/main" id="{496C51A8-94F1-4475-903E-768536742B15}"/>
                </a:ext>
              </a:extLst>
            </p:cNvPr>
            <p:cNvSpPr/>
            <p:nvPr/>
          </p:nvSpPr>
          <p:spPr>
            <a:xfrm>
              <a:off x="3851280" y="5156280"/>
              <a:ext cx="100764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PPI(s)</a:t>
              </a:r>
              <a:endParaRPr lang="en-US" sz="1800" b="0" strike="noStrike" spc="-1">
                <a:latin typeface="Arial"/>
              </a:endParaRPr>
            </a:p>
          </p:txBody>
        </p:sp>
      </p:grpSp>
      <p:sp>
        <p:nvSpPr>
          <p:cNvPr id="79" name="CustomShape 48">
            <a:extLst>
              <a:ext uri="{FF2B5EF4-FFF2-40B4-BE49-F238E27FC236}">
                <a16:creationId xmlns:a16="http://schemas.microsoft.com/office/drawing/2014/main" id="{3A702549-04A8-4B3F-BD05-13BDE21D114D}"/>
              </a:ext>
            </a:extLst>
          </p:cNvPr>
          <p:cNvSpPr/>
          <p:nvPr/>
        </p:nvSpPr>
        <p:spPr>
          <a:xfrm flipH="1">
            <a:off x="5000070" y="5274070"/>
            <a:ext cx="428040" cy="432720"/>
          </a:xfrm>
          <a:custGeom>
            <a:avLst/>
            <a:gdLst/>
            <a:ahLst/>
            <a:cxnLst/>
            <a:rect l="l" t="t" r="r" b="b"/>
            <a:pathLst>
              <a:path w="21600" h="21600">
                <a:moveTo>
                  <a:pt x="0" y="0"/>
                </a:moveTo>
                <a:lnTo>
                  <a:pt x="21600" y="21600"/>
                </a:lnTo>
              </a:path>
            </a:pathLst>
          </a:custGeom>
          <a:noFill/>
          <a:ln w="25560">
            <a:solidFill>
              <a:srgbClr val="FF0000"/>
            </a:solidFill>
            <a:miter/>
            <a:tailEnd type="triangle" w="med" len="med"/>
          </a:ln>
        </p:spPr>
        <p:style>
          <a:lnRef idx="0">
            <a:scrgbClr r="0" g="0" b="0"/>
          </a:lnRef>
          <a:fillRef idx="0">
            <a:scrgbClr r="0" g="0" b="0"/>
          </a:fillRef>
          <a:effectRef idx="0">
            <a:scrgbClr r="0" g="0" b="0"/>
          </a:effectRef>
          <a:fontRef idx="minor"/>
        </p:style>
      </p:sp>
      <p:grpSp>
        <p:nvGrpSpPr>
          <p:cNvPr id="80" name="Group 49">
            <a:extLst>
              <a:ext uri="{FF2B5EF4-FFF2-40B4-BE49-F238E27FC236}">
                <a16:creationId xmlns:a16="http://schemas.microsoft.com/office/drawing/2014/main" id="{89560566-EECE-4597-A8AA-C3EA55693A07}"/>
              </a:ext>
            </a:extLst>
          </p:cNvPr>
          <p:cNvGrpSpPr/>
          <p:nvPr/>
        </p:nvGrpSpPr>
        <p:grpSpPr>
          <a:xfrm>
            <a:off x="6872430" y="5021350"/>
            <a:ext cx="1294920" cy="1437840"/>
            <a:chOff x="5291280" y="4651200"/>
            <a:chExt cx="1294920" cy="1437840"/>
          </a:xfrm>
        </p:grpSpPr>
        <p:grpSp>
          <p:nvGrpSpPr>
            <p:cNvPr id="81" name="Group 50">
              <a:extLst>
                <a:ext uri="{FF2B5EF4-FFF2-40B4-BE49-F238E27FC236}">
                  <a16:creationId xmlns:a16="http://schemas.microsoft.com/office/drawing/2014/main" id="{64F26FA4-C629-41D7-BD0D-CF0C9E9FAE6A}"/>
                </a:ext>
              </a:extLst>
            </p:cNvPr>
            <p:cNvGrpSpPr/>
            <p:nvPr/>
          </p:nvGrpSpPr>
          <p:grpSpPr>
            <a:xfrm>
              <a:off x="5291280" y="4651200"/>
              <a:ext cx="1294920" cy="1437840"/>
              <a:chOff x="5291280" y="4651200"/>
              <a:chExt cx="1294920" cy="1437840"/>
            </a:xfrm>
          </p:grpSpPr>
          <p:sp>
            <p:nvSpPr>
              <p:cNvPr id="83" name="CustomShape 51">
                <a:extLst>
                  <a:ext uri="{FF2B5EF4-FFF2-40B4-BE49-F238E27FC236}">
                    <a16:creationId xmlns:a16="http://schemas.microsoft.com/office/drawing/2014/main" id="{6385979C-0E52-476E-B2F3-AAB4B9B414CE}"/>
                  </a:ext>
                </a:extLst>
              </p:cNvPr>
              <p:cNvSpPr/>
              <p:nvPr/>
            </p:nvSpPr>
            <p:spPr>
              <a:xfrm>
                <a:off x="5291280" y="465120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84" name="CustomShape 52">
                <a:extLst>
                  <a:ext uri="{FF2B5EF4-FFF2-40B4-BE49-F238E27FC236}">
                    <a16:creationId xmlns:a16="http://schemas.microsoft.com/office/drawing/2014/main" id="{B4C0A96D-8600-4B9F-B41D-C8CF280BCE09}"/>
                  </a:ext>
                </a:extLst>
              </p:cNvPr>
              <p:cNvSpPr/>
              <p:nvPr/>
            </p:nvSpPr>
            <p:spPr>
              <a:xfrm>
                <a:off x="5364000" y="565956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85" name="CustomShape 53">
                <a:extLst>
                  <a:ext uri="{FF2B5EF4-FFF2-40B4-BE49-F238E27FC236}">
                    <a16:creationId xmlns:a16="http://schemas.microsoft.com/office/drawing/2014/main" id="{ED274F39-A617-4946-83E3-EC87765682CC}"/>
                  </a:ext>
                </a:extLst>
              </p:cNvPr>
              <p:cNvSpPr/>
              <p:nvPr/>
            </p:nvSpPr>
            <p:spPr>
              <a:xfrm>
                <a:off x="5435640" y="4722840"/>
                <a:ext cx="99792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sp>
          <p:nvSpPr>
            <p:cNvPr id="82" name="CustomShape 54">
              <a:extLst>
                <a:ext uri="{FF2B5EF4-FFF2-40B4-BE49-F238E27FC236}">
                  <a16:creationId xmlns:a16="http://schemas.microsoft.com/office/drawing/2014/main" id="{3BC1A4D8-0CFA-453B-9F00-3D38CB6AE0CF}"/>
                </a:ext>
              </a:extLst>
            </p:cNvPr>
            <p:cNvSpPr/>
            <p:nvPr/>
          </p:nvSpPr>
          <p:spPr>
            <a:xfrm>
              <a:off x="5435640" y="5156280"/>
              <a:ext cx="100764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PPI(s)</a:t>
              </a:r>
              <a:endParaRPr lang="en-US" sz="1800" b="0" strike="noStrike" spc="-1">
                <a:latin typeface="Arial"/>
              </a:endParaRPr>
            </a:p>
          </p:txBody>
        </p:sp>
      </p:grpSp>
      <p:sp>
        <p:nvSpPr>
          <p:cNvPr id="86" name="CustomShape 55">
            <a:extLst>
              <a:ext uri="{FF2B5EF4-FFF2-40B4-BE49-F238E27FC236}">
                <a16:creationId xmlns:a16="http://schemas.microsoft.com/office/drawing/2014/main" id="{F002A730-9B3B-4D3A-BA43-4FF9B9F7E60A}"/>
              </a:ext>
            </a:extLst>
          </p:cNvPr>
          <p:cNvSpPr/>
          <p:nvPr/>
        </p:nvSpPr>
        <p:spPr>
          <a:xfrm flipH="1">
            <a:off x="5000070" y="5247070"/>
            <a:ext cx="2012400" cy="432720"/>
          </a:xfrm>
          <a:custGeom>
            <a:avLst/>
            <a:gdLst/>
            <a:ahLst/>
            <a:cxnLst/>
            <a:rect l="l" t="t" r="r" b="b"/>
            <a:pathLst>
              <a:path w="21600" h="21600">
                <a:moveTo>
                  <a:pt x="0" y="0"/>
                </a:moveTo>
                <a:lnTo>
                  <a:pt x="21600" y="21600"/>
                </a:lnTo>
              </a:path>
            </a:pathLst>
          </a:custGeom>
          <a:noFill/>
          <a:ln w="25560">
            <a:solidFill>
              <a:srgbClr val="FF0000"/>
            </a:solidFill>
            <a:miter/>
            <a:tailEnd type="triangle" w="med" len="med"/>
          </a:ln>
        </p:spPr>
        <p:style>
          <a:lnRef idx="0">
            <a:scrgbClr r="0" g="0" b="0"/>
          </a:lnRef>
          <a:fillRef idx="0">
            <a:scrgbClr r="0" g="0" b="0"/>
          </a:fillRef>
          <a:effectRef idx="0">
            <a:scrgbClr r="0" g="0" b="0"/>
          </a:effectRef>
          <a:fontRef idx="minor"/>
        </p:style>
      </p:sp>
      <p:sp>
        <p:nvSpPr>
          <p:cNvPr id="87" name="CustomShape 56">
            <a:extLst>
              <a:ext uri="{FF2B5EF4-FFF2-40B4-BE49-F238E27FC236}">
                <a16:creationId xmlns:a16="http://schemas.microsoft.com/office/drawing/2014/main" id="{A9906536-81D3-4264-A3D4-4F7AE21D6DFB}"/>
              </a:ext>
            </a:extLst>
          </p:cNvPr>
          <p:cNvSpPr/>
          <p:nvPr/>
        </p:nvSpPr>
        <p:spPr>
          <a:xfrm flipH="1">
            <a:off x="6440070" y="5274070"/>
            <a:ext cx="572400" cy="431280"/>
          </a:xfrm>
          <a:custGeom>
            <a:avLst/>
            <a:gdLst/>
            <a:ahLst/>
            <a:cxnLst/>
            <a:rect l="l" t="t" r="r" b="b"/>
            <a:pathLst>
              <a:path w="21600" h="21600">
                <a:moveTo>
                  <a:pt x="0" y="0"/>
                </a:moveTo>
                <a:lnTo>
                  <a:pt x="21600" y="21600"/>
                </a:lnTo>
              </a:path>
            </a:pathLst>
          </a:custGeom>
          <a:noFill/>
          <a:ln w="25560">
            <a:solidFill>
              <a:srgbClr val="FF0000"/>
            </a:solidFill>
            <a:miter/>
            <a:tailEnd type="triangle" w="med" len="med"/>
          </a:ln>
        </p:spPr>
        <p:style>
          <a:lnRef idx="0">
            <a:scrgbClr r="0" g="0" b="0"/>
          </a:lnRef>
          <a:fillRef idx="0">
            <a:scrgbClr r="0" g="0" b="0"/>
          </a:fillRef>
          <a:effectRef idx="0">
            <a:scrgbClr r="0" g="0" b="0"/>
          </a:effectRef>
          <a:fontRef idx="minor"/>
        </p:style>
      </p:sp>
      <p:sp>
        <p:nvSpPr>
          <p:cNvPr id="88" name="CustomShape 57">
            <a:extLst>
              <a:ext uri="{FF2B5EF4-FFF2-40B4-BE49-F238E27FC236}">
                <a16:creationId xmlns:a16="http://schemas.microsoft.com/office/drawing/2014/main" id="{88EBB349-68A6-420F-ABD4-5969C5CF0A68}"/>
              </a:ext>
            </a:extLst>
          </p:cNvPr>
          <p:cNvSpPr/>
          <p:nvPr/>
        </p:nvSpPr>
        <p:spPr>
          <a:xfrm>
            <a:off x="9607710" y="2791150"/>
            <a:ext cx="431280" cy="1580400"/>
          </a:xfrm>
          <a:prstGeom prst="curvedLeftArrow">
            <a:avLst>
              <a:gd name="adj1" fmla="val 33950"/>
              <a:gd name="adj2" fmla="val 106517"/>
              <a:gd name="adj3" fmla="val 36995"/>
            </a:avLst>
          </a:prstGeom>
          <a:solidFill>
            <a:srgbClr val="FFFF00"/>
          </a:solidFill>
          <a:ln w="9360">
            <a:solidFill>
              <a:srgbClr val="000000"/>
            </a:solidFill>
            <a:miter/>
          </a:ln>
        </p:spPr>
        <p:style>
          <a:lnRef idx="0">
            <a:scrgbClr r="0" g="0" b="0"/>
          </a:lnRef>
          <a:fillRef idx="0">
            <a:scrgbClr r="0" g="0" b="0"/>
          </a:fillRef>
          <a:effectRef idx="0">
            <a:scrgbClr r="0" g="0" b="0"/>
          </a:effectRef>
          <a:fontRef idx="minor"/>
        </p:style>
      </p:sp>
      <p:sp>
        <p:nvSpPr>
          <p:cNvPr id="89" name="CustomShape 58">
            <a:extLst>
              <a:ext uri="{FF2B5EF4-FFF2-40B4-BE49-F238E27FC236}">
                <a16:creationId xmlns:a16="http://schemas.microsoft.com/office/drawing/2014/main" id="{03BEAC10-D37A-4E20-9B61-775CBE62B2FE}"/>
              </a:ext>
            </a:extLst>
          </p:cNvPr>
          <p:cNvSpPr/>
          <p:nvPr/>
        </p:nvSpPr>
        <p:spPr>
          <a:xfrm>
            <a:off x="8385150" y="2646790"/>
            <a:ext cx="1294920" cy="356760"/>
          </a:xfrm>
          <a:prstGeom prst="rect">
            <a:avLst/>
          </a:prstGeom>
          <a:solidFill>
            <a:srgbClr val="FFFFCC"/>
          </a:solidFill>
          <a:ln w="9360" cap="rnd">
            <a:solidFill>
              <a:srgbClr val="000000"/>
            </a:solidFill>
            <a:custDash>
              <a:ds d="100000" sp="100000"/>
            </a:custDash>
            <a:miter/>
          </a:ln>
        </p:spPr>
        <p:style>
          <a:lnRef idx="0">
            <a:scrgbClr r="0" g="0" b="0"/>
          </a:lnRef>
          <a:fillRef idx="0">
            <a:scrgbClr r="0" g="0" b="0"/>
          </a:fillRef>
          <a:effectRef idx="0">
            <a:scrgbClr r="0" g="0" b="0"/>
          </a:effectRef>
          <a:fontRef idx="minor"/>
        </p:style>
      </p:sp>
      <p:sp>
        <p:nvSpPr>
          <p:cNvPr id="90" name="CustomShape 59">
            <a:extLst>
              <a:ext uri="{FF2B5EF4-FFF2-40B4-BE49-F238E27FC236}">
                <a16:creationId xmlns:a16="http://schemas.microsoft.com/office/drawing/2014/main" id="{4BA92915-F4C3-4A14-9AE3-D099A9A75E43}"/>
              </a:ext>
            </a:extLst>
          </p:cNvPr>
          <p:cNvSpPr/>
          <p:nvPr/>
        </p:nvSpPr>
        <p:spPr>
          <a:xfrm>
            <a:off x="2552790" y="5526430"/>
            <a:ext cx="100764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PPI(s)</a:t>
            </a:r>
            <a:endParaRPr lang="en-US" sz="1800" b="0" strike="noStrike" spc="-1">
              <a:latin typeface="Arial"/>
            </a:endParaRPr>
          </a:p>
        </p:txBody>
      </p:sp>
      <p:grpSp>
        <p:nvGrpSpPr>
          <p:cNvPr id="91" name="Group 60">
            <a:extLst>
              <a:ext uri="{FF2B5EF4-FFF2-40B4-BE49-F238E27FC236}">
                <a16:creationId xmlns:a16="http://schemas.microsoft.com/office/drawing/2014/main" id="{679F0E41-C2EA-46FA-BB94-55DF1B37BABE}"/>
              </a:ext>
            </a:extLst>
          </p:cNvPr>
          <p:cNvGrpSpPr/>
          <p:nvPr/>
        </p:nvGrpSpPr>
        <p:grpSpPr>
          <a:xfrm>
            <a:off x="8383710" y="5021350"/>
            <a:ext cx="1294920" cy="1437840"/>
            <a:chOff x="6802560" y="4651200"/>
            <a:chExt cx="1294920" cy="1437840"/>
          </a:xfrm>
        </p:grpSpPr>
        <p:grpSp>
          <p:nvGrpSpPr>
            <p:cNvPr id="92" name="Group 61">
              <a:extLst>
                <a:ext uri="{FF2B5EF4-FFF2-40B4-BE49-F238E27FC236}">
                  <a16:creationId xmlns:a16="http://schemas.microsoft.com/office/drawing/2014/main" id="{70AC0DC6-5474-451E-8B7B-BA99D9FDA65E}"/>
                </a:ext>
              </a:extLst>
            </p:cNvPr>
            <p:cNvGrpSpPr/>
            <p:nvPr/>
          </p:nvGrpSpPr>
          <p:grpSpPr>
            <a:xfrm>
              <a:off x="6802560" y="4651200"/>
              <a:ext cx="1294920" cy="1437840"/>
              <a:chOff x="6802560" y="4651200"/>
              <a:chExt cx="1294920" cy="1437840"/>
            </a:xfrm>
          </p:grpSpPr>
          <p:sp>
            <p:nvSpPr>
              <p:cNvPr id="94" name="CustomShape 62">
                <a:extLst>
                  <a:ext uri="{FF2B5EF4-FFF2-40B4-BE49-F238E27FC236}">
                    <a16:creationId xmlns:a16="http://schemas.microsoft.com/office/drawing/2014/main" id="{269D4EC0-25AE-4AD5-992E-C0663348D853}"/>
                  </a:ext>
                </a:extLst>
              </p:cNvPr>
              <p:cNvSpPr/>
              <p:nvPr/>
            </p:nvSpPr>
            <p:spPr>
              <a:xfrm>
                <a:off x="6802560" y="465120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95" name="CustomShape 63">
                <a:extLst>
                  <a:ext uri="{FF2B5EF4-FFF2-40B4-BE49-F238E27FC236}">
                    <a16:creationId xmlns:a16="http://schemas.microsoft.com/office/drawing/2014/main" id="{BE3A1D76-3983-4C55-9DE6-F22E8F5959A7}"/>
                  </a:ext>
                </a:extLst>
              </p:cNvPr>
              <p:cNvSpPr/>
              <p:nvPr/>
            </p:nvSpPr>
            <p:spPr>
              <a:xfrm>
                <a:off x="6875640" y="5659560"/>
                <a:ext cx="1077480" cy="2869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Arial"/>
                    <a:ea typeface="新細明體"/>
                  </a:rPr>
                  <a:t>PEIM</a:t>
                </a:r>
                <a:endParaRPr lang="en-US" sz="1800" b="0" strike="noStrike" spc="-1">
                  <a:latin typeface="Arial"/>
                </a:endParaRPr>
              </a:p>
            </p:txBody>
          </p:sp>
          <p:sp>
            <p:nvSpPr>
              <p:cNvPr id="96" name="CustomShape 64">
                <a:extLst>
                  <a:ext uri="{FF2B5EF4-FFF2-40B4-BE49-F238E27FC236}">
                    <a16:creationId xmlns:a16="http://schemas.microsoft.com/office/drawing/2014/main" id="{15D9A9D1-0118-47A4-ACA7-0A513D087F10}"/>
                  </a:ext>
                </a:extLst>
              </p:cNvPr>
              <p:cNvSpPr/>
              <p:nvPr/>
            </p:nvSpPr>
            <p:spPr>
              <a:xfrm>
                <a:off x="6977160" y="4722840"/>
                <a:ext cx="96768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Entry</a:t>
                </a:r>
                <a:endParaRPr lang="en-US" sz="1800" b="0" strike="noStrike" spc="-1">
                  <a:latin typeface="Arial"/>
                </a:endParaRPr>
              </a:p>
            </p:txBody>
          </p:sp>
        </p:grpSp>
        <p:sp>
          <p:nvSpPr>
            <p:cNvPr id="93" name="CustomShape 65">
              <a:extLst>
                <a:ext uri="{FF2B5EF4-FFF2-40B4-BE49-F238E27FC236}">
                  <a16:creationId xmlns:a16="http://schemas.microsoft.com/office/drawing/2014/main" id="{939EA71D-E56C-43A9-8AD6-508A5D68BC35}"/>
                </a:ext>
              </a:extLst>
            </p:cNvPr>
            <p:cNvSpPr/>
            <p:nvPr/>
          </p:nvSpPr>
          <p:spPr>
            <a:xfrm>
              <a:off x="6985080" y="5156280"/>
              <a:ext cx="967680" cy="358200"/>
            </a:xfrm>
            <a:prstGeom prst="rect">
              <a:avLst/>
            </a:prstGeom>
            <a:solidFill>
              <a:srgbClr val="66FF33"/>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DXE IPL</a:t>
              </a:r>
              <a:endParaRPr lang="en-US" sz="1800" b="0" strike="noStrike" spc="-1">
                <a:latin typeface="Arial"/>
              </a:endParaRPr>
            </a:p>
          </p:txBody>
        </p:sp>
      </p:grpSp>
    </p:spTree>
    <p:extLst>
      <p:ext uri="{BB962C8B-B14F-4D97-AF65-F5344CB8AC3E}">
        <p14:creationId xmlns:p14="http://schemas.microsoft.com/office/powerpoint/2010/main" val="278280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fill="hold" nodeType="clickEffect">
                                  <p:stCondLst>
                                    <p:cond delay="0"/>
                                  </p:stCondLst>
                                  <p:childTnLst>
                                    <p:set>
                                      <p:cBhvr>
                                        <p:cTn id="50" dur="1" fill="hold">
                                          <p:stCondLst>
                                            <p:cond delay="0"/>
                                          </p:stCondLst>
                                        </p:cTn>
                                        <p:tgtEl>
                                          <p:spTgt spid="7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fill="hold" nodeType="click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fill="hold" nodeType="clickEffect">
                                  <p:stCondLst>
                                    <p:cond delay="0"/>
                                  </p:stCondLst>
                                  <p:childTnLst>
                                    <p:set>
                                      <p:cBhvr>
                                        <p:cTn id="58" dur="1" fill="hold">
                                          <p:stCondLst>
                                            <p:cond delay="0"/>
                                          </p:stCondLst>
                                        </p:cTn>
                                        <p:tgtEl>
                                          <p:spTgt spid="8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fill="hold" nodeType="clickEffect">
                                  <p:stCondLst>
                                    <p:cond delay="0"/>
                                  </p:stCondLst>
                                  <p:childTnLst>
                                    <p:set>
                                      <p:cBhvr>
                                        <p:cTn id="62" dur="1" fill="hold">
                                          <p:stCondLst>
                                            <p:cond delay="0"/>
                                          </p:stCondLst>
                                        </p:cTn>
                                        <p:tgtEl>
                                          <p:spTgt spid="8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fill="hold" nodeType="click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fill="hold" nodeType="clickEffect">
                                  <p:stCondLst>
                                    <p:cond delay="0"/>
                                  </p:stCondLst>
                                  <p:childTnLst>
                                    <p:set>
                                      <p:cBhvr>
                                        <p:cTn id="70" dur="1" fill="hold">
                                          <p:stCondLst>
                                            <p:cond delay="0"/>
                                          </p:stCondLst>
                                        </p:cTn>
                                        <p:tgtEl>
                                          <p:spTgt spid="8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fill="hold" nodeType="clickEffect">
                                  <p:stCondLst>
                                    <p:cond delay="0"/>
                                  </p:stCondLst>
                                  <p:childTnLst>
                                    <p:set>
                                      <p:cBhvr>
                                        <p:cTn id="74" dur="1" fill="hold">
                                          <p:stCondLst>
                                            <p:cond delay="0"/>
                                          </p:stCondLst>
                                        </p:cTn>
                                        <p:tgtEl>
                                          <p:spTgt spid="8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fill="hold" nodeType="click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Hand-Off Block (HOB)</a:t>
            </a:r>
            <a:endParaRPr lang="en-US" dirty="0"/>
          </a:p>
        </p:txBody>
      </p:sp>
      <p:sp>
        <p:nvSpPr>
          <p:cNvPr id="103" name="CustomShape 2">
            <a:extLst>
              <a:ext uri="{FF2B5EF4-FFF2-40B4-BE49-F238E27FC236}">
                <a16:creationId xmlns:a16="http://schemas.microsoft.com/office/drawing/2014/main" id="{77341167-36DE-430A-B92E-773384D6C003}"/>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1280" indent="-339120">
              <a:lnSpc>
                <a:spcPct val="98000"/>
              </a:lnSpc>
              <a:spcBef>
                <a:spcPts val="601"/>
              </a:spcBef>
              <a:buClr>
                <a:srgbClr val="000000"/>
              </a:buClr>
              <a:buFont typeface="Arial"/>
              <a:buChar char="•"/>
            </a:pPr>
            <a:r>
              <a:rPr lang="en-US" sz="2800" b="0" strike="noStrike" spc="-1" dirty="0">
                <a:solidFill>
                  <a:srgbClr val="000000"/>
                </a:solidFill>
                <a:latin typeface="Segoe UI"/>
                <a:ea typeface="細明體"/>
              </a:rPr>
              <a:t>The Handoff Block (HOB) is a binary data structure that contains the parameter to be passed from PEI to DXE</a:t>
            </a:r>
            <a:endParaRPr lang="en-US" sz="2800" b="0" strike="noStrike" spc="-1" dirty="0">
              <a:latin typeface="Arial"/>
            </a:endParaRPr>
          </a:p>
          <a:p>
            <a:pPr marL="341280" indent="-339120">
              <a:lnSpc>
                <a:spcPct val="98000"/>
              </a:lnSpc>
              <a:spcBef>
                <a:spcPts val="601"/>
              </a:spcBef>
              <a:buClr>
                <a:srgbClr val="000000"/>
              </a:buClr>
              <a:buFont typeface="Arial"/>
              <a:buChar char="•"/>
            </a:pPr>
            <a:r>
              <a:rPr lang="en-US" sz="2800" b="0" strike="noStrike" spc="-1" dirty="0">
                <a:solidFill>
                  <a:srgbClr val="000000"/>
                </a:solidFill>
                <a:latin typeface="Segoe UI"/>
                <a:ea typeface="細明體"/>
              </a:rPr>
              <a:t>HOB is the </a:t>
            </a:r>
            <a:r>
              <a:rPr lang="en-US" sz="2800" b="1" strike="noStrike" spc="-1" dirty="0">
                <a:solidFill>
                  <a:srgbClr val="000000"/>
                </a:solidFill>
                <a:latin typeface="Segoe UI"/>
                <a:ea typeface="細明體"/>
              </a:rPr>
              <a:t>only</a:t>
            </a:r>
            <a:r>
              <a:rPr lang="en-US" sz="2800" b="0" strike="noStrike" spc="-1" dirty="0">
                <a:solidFill>
                  <a:srgbClr val="000000"/>
                </a:solidFill>
                <a:latin typeface="Segoe UI"/>
                <a:ea typeface="細明體"/>
              </a:rPr>
              <a:t> information that PEI passes to DXE</a:t>
            </a:r>
            <a:endParaRPr lang="en-US" sz="2800" b="0" strike="noStrike" spc="-1" dirty="0">
              <a:latin typeface="Arial"/>
            </a:endParaRPr>
          </a:p>
          <a:p>
            <a:pPr marL="341280" indent="-339120">
              <a:lnSpc>
                <a:spcPct val="90000"/>
              </a:lnSpc>
              <a:spcBef>
                <a:spcPts val="1001"/>
              </a:spcBef>
            </a:pPr>
            <a:endParaRPr lang="en-US" sz="2800" b="0" strike="noStrike" spc="-1" dirty="0">
              <a:latin typeface="Arial"/>
            </a:endParaRPr>
          </a:p>
        </p:txBody>
      </p:sp>
      <p:pic>
        <p:nvPicPr>
          <p:cNvPr id="104" name="Picture 3">
            <a:extLst>
              <a:ext uri="{FF2B5EF4-FFF2-40B4-BE49-F238E27FC236}">
                <a16:creationId xmlns:a16="http://schemas.microsoft.com/office/drawing/2014/main" id="{79A7D5F1-A9BA-4D68-94DD-FA209106C52E}"/>
              </a:ext>
            </a:extLst>
          </p:cNvPr>
          <p:cNvPicPr/>
          <p:nvPr/>
        </p:nvPicPr>
        <p:blipFill>
          <a:blip r:embed="rId2"/>
          <a:stretch/>
        </p:blipFill>
        <p:spPr>
          <a:xfrm>
            <a:off x="1322400" y="3142870"/>
            <a:ext cx="7605000" cy="2239560"/>
          </a:xfrm>
          <a:prstGeom prst="rect">
            <a:avLst/>
          </a:prstGeom>
          <a:ln>
            <a:noFill/>
          </a:ln>
        </p:spPr>
      </p:pic>
    </p:spTree>
    <p:extLst>
      <p:ext uri="{BB962C8B-B14F-4D97-AF65-F5344CB8AC3E}">
        <p14:creationId xmlns:p14="http://schemas.microsoft.com/office/powerpoint/2010/main" val="13503538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HOB List</a:t>
            </a:r>
            <a:endParaRPr lang="en-US" dirty="0"/>
          </a:p>
        </p:txBody>
      </p:sp>
      <p:sp>
        <p:nvSpPr>
          <p:cNvPr id="99" name="CustomShape 2">
            <a:extLst>
              <a:ext uri="{FF2B5EF4-FFF2-40B4-BE49-F238E27FC236}">
                <a16:creationId xmlns:a16="http://schemas.microsoft.com/office/drawing/2014/main" id="{A36041C3-65D4-4817-B063-1E7D45ED662F}"/>
              </a:ext>
            </a:extLst>
          </p:cNvPr>
          <p:cNvSpPr/>
          <p:nvPr/>
        </p:nvSpPr>
        <p:spPr>
          <a:xfrm>
            <a:off x="838200" y="1316230"/>
            <a:ext cx="561132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4000" lnSpcReduction="10000"/>
          </a:bodyPr>
          <a:lstStyle/>
          <a:p>
            <a:pPr marL="341280" indent="-339120">
              <a:lnSpc>
                <a:spcPct val="98000"/>
              </a:lnSpc>
              <a:spcBef>
                <a:spcPts val="451"/>
              </a:spcBef>
              <a:buClr>
                <a:srgbClr val="000000"/>
              </a:buClr>
              <a:buFont typeface="Arial"/>
              <a:buChar char="•"/>
            </a:pPr>
            <a:r>
              <a:rPr lang="en-US" sz="2800" b="0" strike="noStrike" spc="-1">
                <a:solidFill>
                  <a:srgbClr val="000000"/>
                </a:solidFill>
                <a:latin typeface="Segoe UI"/>
                <a:ea typeface="細明體"/>
              </a:rPr>
              <a:t>PEI Handoff Information Table (PHIT), containing </a:t>
            </a:r>
            <a:r>
              <a:rPr lang="en-US" sz="2800" b="1" strike="noStrike" spc="-1">
                <a:solidFill>
                  <a:srgbClr val="000000"/>
                </a:solidFill>
                <a:latin typeface="Segoe UI"/>
                <a:ea typeface="細明體"/>
              </a:rPr>
              <a:t>Boot Mode</a:t>
            </a:r>
            <a:r>
              <a:rPr lang="en-US" sz="2800" b="0" strike="noStrike" spc="-1">
                <a:solidFill>
                  <a:srgbClr val="000000"/>
                </a:solidFill>
                <a:latin typeface="Segoe UI"/>
                <a:ea typeface="細明體"/>
              </a:rPr>
              <a:t> information</a:t>
            </a:r>
            <a:endParaRPr lang="en-US" sz="2800" b="0" strike="noStrike" spc="-1">
              <a:latin typeface="Arial"/>
            </a:endParaRPr>
          </a:p>
          <a:p>
            <a:pPr marL="341280" indent="-339120">
              <a:lnSpc>
                <a:spcPct val="98000"/>
              </a:lnSpc>
              <a:spcBef>
                <a:spcPts val="451"/>
              </a:spcBef>
              <a:buClr>
                <a:srgbClr val="000000"/>
              </a:buClr>
              <a:buFont typeface="Arial"/>
              <a:buChar char="•"/>
            </a:pPr>
            <a:r>
              <a:rPr lang="en-US" sz="2800" b="0" strike="noStrike" spc="-1">
                <a:solidFill>
                  <a:srgbClr val="000000"/>
                </a:solidFill>
                <a:latin typeface="Segoe UI"/>
                <a:ea typeface="細明體"/>
              </a:rPr>
              <a:t>Resource Descriptor for system memory</a:t>
            </a:r>
            <a:endParaRPr lang="en-US" sz="2800" b="0" strike="noStrike" spc="-1">
              <a:latin typeface="Arial"/>
            </a:endParaRPr>
          </a:p>
          <a:p>
            <a:pPr marL="341280" indent="-339120">
              <a:lnSpc>
                <a:spcPct val="98000"/>
              </a:lnSpc>
              <a:spcBef>
                <a:spcPts val="451"/>
              </a:spcBef>
              <a:buClr>
                <a:srgbClr val="000000"/>
              </a:buClr>
              <a:buFont typeface="Arial"/>
              <a:buChar char="•"/>
            </a:pPr>
            <a:r>
              <a:rPr lang="en-US" sz="2800" b="0" strike="noStrike" spc="-1">
                <a:solidFill>
                  <a:srgbClr val="000000"/>
                </a:solidFill>
                <a:latin typeface="Segoe UI"/>
                <a:ea typeface="細明體"/>
              </a:rPr>
              <a:t>Resource Descriptor for firmware devices</a:t>
            </a:r>
            <a:endParaRPr lang="en-US" sz="2800" b="0" strike="noStrike" spc="-1">
              <a:latin typeface="Arial"/>
            </a:endParaRPr>
          </a:p>
          <a:p>
            <a:pPr marL="341280" indent="-339120">
              <a:lnSpc>
                <a:spcPct val="98000"/>
              </a:lnSpc>
              <a:spcBef>
                <a:spcPts val="451"/>
              </a:spcBef>
              <a:buClr>
                <a:srgbClr val="000000"/>
              </a:buClr>
              <a:buFont typeface="Arial"/>
              <a:buChar char="•"/>
            </a:pPr>
            <a:r>
              <a:rPr lang="en-US" sz="2800" b="0" strike="noStrike" spc="-1">
                <a:solidFill>
                  <a:srgbClr val="000000"/>
                </a:solidFill>
                <a:latin typeface="Segoe UI"/>
                <a:ea typeface="細明體"/>
              </a:rPr>
              <a:t>System memory locations of the firmware volumes, contained within those firmware devices</a:t>
            </a:r>
            <a:endParaRPr lang="en-US" sz="2800" b="0" strike="noStrike" spc="-1">
              <a:latin typeface="Arial"/>
            </a:endParaRPr>
          </a:p>
          <a:p>
            <a:pPr marL="341280" indent="-339120">
              <a:lnSpc>
                <a:spcPct val="98000"/>
              </a:lnSpc>
              <a:spcBef>
                <a:spcPts val="451"/>
              </a:spcBef>
              <a:buClr>
                <a:srgbClr val="000000"/>
              </a:buClr>
              <a:buFont typeface="Arial"/>
              <a:buChar char="•"/>
            </a:pPr>
            <a:r>
              <a:rPr lang="en-US" sz="2800" b="0" strike="noStrike" spc="-1">
                <a:solidFill>
                  <a:srgbClr val="000000"/>
                </a:solidFill>
                <a:latin typeface="Segoe UI"/>
                <a:ea typeface="細明體"/>
              </a:rPr>
              <a:t>DXE Core memory allocation</a:t>
            </a:r>
            <a:endParaRPr lang="en-US" sz="2800" b="0" strike="noStrike" spc="-1">
              <a:latin typeface="Arial"/>
            </a:endParaRPr>
          </a:p>
          <a:p>
            <a:pPr marL="341280" indent="-339120">
              <a:lnSpc>
                <a:spcPct val="98000"/>
              </a:lnSpc>
              <a:spcBef>
                <a:spcPts val="451"/>
              </a:spcBef>
              <a:buClr>
                <a:srgbClr val="000000"/>
              </a:buClr>
              <a:buFont typeface="Arial"/>
              <a:buChar char="•"/>
            </a:pPr>
            <a:r>
              <a:rPr lang="en-US" sz="2800" b="0" strike="noStrike" spc="-1">
                <a:solidFill>
                  <a:srgbClr val="000000"/>
                </a:solidFill>
                <a:latin typeface="Segoe UI"/>
                <a:ea typeface="細明體"/>
              </a:rPr>
              <a:t>GUIDed HOB, allowing private information to be conveyed into the DXE driver from associated PEIM </a:t>
            </a:r>
            <a:endParaRPr lang="en-US" sz="2800" b="0" strike="noStrike" spc="-1">
              <a:latin typeface="Arial"/>
            </a:endParaRPr>
          </a:p>
        </p:txBody>
      </p:sp>
      <p:grpSp>
        <p:nvGrpSpPr>
          <p:cNvPr id="100" name="Group 3">
            <a:extLst>
              <a:ext uri="{FF2B5EF4-FFF2-40B4-BE49-F238E27FC236}">
                <a16:creationId xmlns:a16="http://schemas.microsoft.com/office/drawing/2014/main" id="{FE4AA8AE-6F0E-4801-990E-0B0B2D50457D}"/>
              </a:ext>
            </a:extLst>
          </p:cNvPr>
          <p:cNvGrpSpPr/>
          <p:nvPr/>
        </p:nvGrpSpPr>
        <p:grpSpPr>
          <a:xfrm>
            <a:off x="6451680" y="1649230"/>
            <a:ext cx="2717280" cy="3814200"/>
            <a:chOff x="5815080" y="1630440"/>
            <a:chExt cx="2717280" cy="3814200"/>
          </a:xfrm>
        </p:grpSpPr>
        <p:pic>
          <p:nvPicPr>
            <p:cNvPr id="101" name="Picture 4">
              <a:extLst>
                <a:ext uri="{FF2B5EF4-FFF2-40B4-BE49-F238E27FC236}">
                  <a16:creationId xmlns:a16="http://schemas.microsoft.com/office/drawing/2014/main" id="{272DF9FE-D807-4425-A70E-A7B993769431}"/>
                </a:ext>
              </a:extLst>
            </p:cNvPr>
            <p:cNvPicPr/>
            <p:nvPr/>
          </p:nvPicPr>
          <p:blipFill>
            <a:blip r:embed="rId2"/>
            <a:stretch/>
          </p:blipFill>
          <p:spPr>
            <a:xfrm>
              <a:off x="5815080" y="1630440"/>
              <a:ext cx="2717280" cy="3814200"/>
            </a:xfrm>
            <a:prstGeom prst="rect">
              <a:avLst/>
            </a:prstGeom>
            <a:ln>
              <a:noFill/>
            </a:ln>
          </p:spPr>
        </p:pic>
        <p:sp>
          <p:nvSpPr>
            <p:cNvPr id="102" name="CustomShape 4">
              <a:extLst>
                <a:ext uri="{FF2B5EF4-FFF2-40B4-BE49-F238E27FC236}">
                  <a16:creationId xmlns:a16="http://schemas.microsoft.com/office/drawing/2014/main" id="{7D2A2779-2A04-42EB-8C65-CC080D6BC4E9}"/>
                </a:ext>
              </a:extLst>
            </p:cNvPr>
            <p:cNvSpPr/>
            <p:nvPr/>
          </p:nvSpPr>
          <p:spPr>
            <a:xfrm>
              <a:off x="5815080" y="1630440"/>
              <a:ext cx="2717280" cy="3814200"/>
            </a:xfrm>
            <a:prstGeom prst="rect">
              <a:avLst/>
            </a:prstGeom>
            <a:noFill/>
            <a:ln>
              <a:noFill/>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7815117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HOB List</a:t>
            </a:r>
            <a:endParaRPr lang="en-US" dirty="0"/>
          </a:p>
        </p:txBody>
      </p:sp>
      <p:pic>
        <p:nvPicPr>
          <p:cNvPr id="7" name="Picture 2">
            <a:extLst>
              <a:ext uri="{FF2B5EF4-FFF2-40B4-BE49-F238E27FC236}">
                <a16:creationId xmlns:a16="http://schemas.microsoft.com/office/drawing/2014/main" id="{15F9E4AF-FD74-417A-8C19-21CAA8BD8D02}"/>
              </a:ext>
            </a:extLst>
          </p:cNvPr>
          <p:cNvPicPr/>
          <p:nvPr/>
        </p:nvPicPr>
        <p:blipFill>
          <a:blip r:embed="rId2"/>
          <a:stretch/>
        </p:blipFill>
        <p:spPr>
          <a:xfrm>
            <a:off x="2986680" y="1316230"/>
            <a:ext cx="6218640" cy="5169960"/>
          </a:xfrm>
          <a:prstGeom prst="rect">
            <a:avLst/>
          </a:prstGeom>
          <a:ln w="9360">
            <a:noFill/>
          </a:ln>
        </p:spPr>
      </p:pic>
    </p:spTree>
    <p:extLst>
      <p:ext uri="{BB962C8B-B14F-4D97-AF65-F5344CB8AC3E}">
        <p14:creationId xmlns:p14="http://schemas.microsoft.com/office/powerpoint/2010/main" val="12556862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Pre-EFI Initialization (PEI) Phase</a:t>
            </a:r>
            <a:br>
              <a:rPr lang="en-US" dirty="0"/>
            </a:br>
            <a:r>
              <a:rPr lang="en-US" sz="3100" dirty="0"/>
              <a:t>PEI-to-DXE Transition</a:t>
            </a:r>
            <a:endParaRPr lang="en-US" dirty="0"/>
          </a:p>
        </p:txBody>
      </p:sp>
      <p:grpSp>
        <p:nvGrpSpPr>
          <p:cNvPr id="4" name="Group 2">
            <a:extLst>
              <a:ext uri="{FF2B5EF4-FFF2-40B4-BE49-F238E27FC236}">
                <a16:creationId xmlns:a16="http://schemas.microsoft.com/office/drawing/2014/main" id="{8D344564-D5FB-42A6-BAFE-A9897BE2630A}"/>
              </a:ext>
            </a:extLst>
          </p:cNvPr>
          <p:cNvGrpSpPr/>
          <p:nvPr/>
        </p:nvGrpSpPr>
        <p:grpSpPr>
          <a:xfrm>
            <a:off x="2316030" y="2365630"/>
            <a:ext cx="1979280" cy="988560"/>
            <a:chOff x="1268280" y="2181240"/>
            <a:chExt cx="1979280" cy="988560"/>
          </a:xfrm>
        </p:grpSpPr>
        <p:sp>
          <p:nvSpPr>
            <p:cNvPr id="5" name="CustomShape 3">
              <a:extLst>
                <a:ext uri="{FF2B5EF4-FFF2-40B4-BE49-F238E27FC236}">
                  <a16:creationId xmlns:a16="http://schemas.microsoft.com/office/drawing/2014/main" id="{926950F3-EE49-4425-9631-85A6E0C73BEF}"/>
                </a:ext>
              </a:extLst>
            </p:cNvPr>
            <p:cNvSpPr/>
            <p:nvPr/>
          </p:nvSpPr>
          <p:spPr>
            <a:xfrm>
              <a:off x="2030400" y="2181240"/>
              <a:ext cx="1217160" cy="988560"/>
            </a:xfrm>
            <a:prstGeom prst="rect">
              <a:avLst/>
            </a:prstGeom>
            <a:solidFill>
              <a:srgbClr val="00CC99"/>
            </a:solidFill>
            <a:ln w="38160">
              <a:solidFill>
                <a:srgbClr val="000000"/>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spcBef>
                  <a:spcPts val="1500"/>
                </a:spcBef>
              </a:pPr>
              <a:r>
                <a:rPr lang="en-US" sz="1800" b="1" strike="noStrike" spc="-1">
                  <a:solidFill>
                    <a:srgbClr val="000000"/>
                  </a:solidFill>
                  <a:latin typeface="Arial"/>
                  <a:ea typeface="新細明體"/>
                </a:rPr>
                <a:t>PEI</a:t>
              </a:r>
              <a:endParaRPr lang="en-US" sz="1800" b="0" strike="noStrike" spc="-1">
                <a:latin typeface="Arial"/>
              </a:endParaRPr>
            </a:p>
            <a:p>
              <a:pPr algn="ctr">
                <a:lnSpc>
                  <a:spcPct val="100000"/>
                </a:lnSpc>
                <a:spcBef>
                  <a:spcPts val="1001"/>
                </a:spcBef>
              </a:pPr>
              <a:r>
                <a:rPr lang="en-US" sz="1800" b="1" strike="noStrike" spc="-1">
                  <a:solidFill>
                    <a:srgbClr val="000000"/>
                  </a:solidFill>
                  <a:latin typeface="Arial"/>
                  <a:ea typeface="新細明體"/>
                </a:rPr>
                <a:t>Post-Memory</a:t>
              </a:r>
              <a:endParaRPr lang="en-US" sz="1800" b="0" strike="noStrike" spc="-1">
                <a:latin typeface="Arial"/>
              </a:endParaRPr>
            </a:p>
          </p:txBody>
        </p:sp>
        <p:sp>
          <p:nvSpPr>
            <p:cNvPr id="6" name="CustomShape 4">
              <a:extLst>
                <a:ext uri="{FF2B5EF4-FFF2-40B4-BE49-F238E27FC236}">
                  <a16:creationId xmlns:a16="http://schemas.microsoft.com/office/drawing/2014/main" id="{8319B761-2D26-4600-BB09-CE5A9D47F8D0}"/>
                </a:ext>
              </a:extLst>
            </p:cNvPr>
            <p:cNvSpPr/>
            <p:nvPr/>
          </p:nvSpPr>
          <p:spPr>
            <a:xfrm>
              <a:off x="1268280" y="2181240"/>
              <a:ext cx="759960" cy="455040"/>
            </a:xfrm>
            <a:custGeom>
              <a:avLst/>
              <a:gdLst/>
              <a:ahLst/>
              <a:cxnLst/>
              <a:rect l="l" t="t" r="r" b="b"/>
              <a:pathLst>
                <a:path w="480" h="384">
                  <a:moveTo>
                    <a:pt x="0" y="0"/>
                  </a:moveTo>
                  <a:cubicBezTo>
                    <a:pt x="28" y="44"/>
                    <a:pt x="88" y="198"/>
                    <a:pt x="168" y="262"/>
                  </a:cubicBezTo>
                  <a:cubicBezTo>
                    <a:pt x="248" y="326"/>
                    <a:pt x="415" y="359"/>
                    <a:pt x="480" y="384"/>
                  </a:cubicBezTo>
                </a:path>
              </a:pathLst>
            </a:custGeom>
            <a:noFill/>
            <a:ln w="63360">
              <a:solidFill>
                <a:srgbClr val="000000"/>
              </a:solidFill>
              <a:round/>
              <a:tailEnd type="triangle" w="med" len="med"/>
            </a:ln>
          </p:spPr>
          <p:style>
            <a:lnRef idx="0">
              <a:scrgbClr r="0" g="0" b="0"/>
            </a:lnRef>
            <a:fillRef idx="0">
              <a:scrgbClr r="0" g="0" b="0"/>
            </a:fillRef>
            <a:effectRef idx="0">
              <a:scrgbClr r="0" g="0" b="0"/>
            </a:effectRef>
            <a:fontRef idx="minor"/>
          </p:style>
        </p:sp>
      </p:grpSp>
      <p:sp>
        <p:nvSpPr>
          <p:cNvPr id="8" name="Line 5">
            <a:extLst>
              <a:ext uri="{FF2B5EF4-FFF2-40B4-BE49-F238E27FC236}">
                <a16:creationId xmlns:a16="http://schemas.microsoft.com/office/drawing/2014/main" id="{0CC3A69F-3ADB-4219-AD93-C64B10E06A6A}"/>
              </a:ext>
            </a:extLst>
          </p:cNvPr>
          <p:cNvSpPr/>
          <p:nvPr/>
        </p:nvSpPr>
        <p:spPr>
          <a:xfrm>
            <a:off x="5745030" y="1222270"/>
            <a:ext cx="1440" cy="5486400"/>
          </a:xfrm>
          <a:prstGeom prst="line">
            <a:avLst/>
          </a:prstGeom>
          <a:ln w="76320" cap="rnd">
            <a:solidFill>
              <a:srgbClr val="3333CC"/>
            </a:solidFill>
            <a:custDash>
              <a:ds d="100000" sp="100000"/>
            </a:custDash>
            <a:miter/>
          </a:ln>
        </p:spPr>
        <p:style>
          <a:lnRef idx="0">
            <a:scrgbClr r="0" g="0" b="0"/>
          </a:lnRef>
          <a:fillRef idx="0">
            <a:scrgbClr r="0" g="0" b="0"/>
          </a:fillRef>
          <a:effectRef idx="0">
            <a:scrgbClr r="0" g="0" b="0"/>
          </a:effectRef>
          <a:fontRef idx="minor"/>
        </p:style>
      </p:sp>
      <p:grpSp>
        <p:nvGrpSpPr>
          <p:cNvPr id="9" name="Group 6">
            <a:extLst>
              <a:ext uri="{FF2B5EF4-FFF2-40B4-BE49-F238E27FC236}">
                <a16:creationId xmlns:a16="http://schemas.microsoft.com/office/drawing/2014/main" id="{9456CB95-B04E-47CB-91CC-1728566AB0FE}"/>
              </a:ext>
            </a:extLst>
          </p:cNvPr>
          <p:cNvGrpSpPr/>
          <p:nvPr/>
        </p:nvGrpSpPr>
        <p:grpSpPr>
          <a:xfrm>
            <a:off x="1325670" y="1316230"/>
            <a:ext cx="5946120" cy="1936080"/>
            <a:chOff x="277920" y="1131840"/>
            <a:chExt cx="5946120" cy="1936080"/>
          </a:xfrm>
        </p:grpSpPr>
        <p:sp>
          <p:nvSpPr>
            <p:cNvPr id="10" name="CustomShape 7">
              <a:extLst>
                <a:ext uri="{FF2B5EF4-FFF2-40B4-BE49-F238E27FC236}">
                  <a16:creationId xmlns:a16="http://schemas.microsoft.com/office/drawing/2014/main" id="{69BFDE9B-64DA-4ACA-A7FD-EFBA69776607}"/>
                </a:ext>
              </a:extLst>
            </p:cNvPr>
            <p:cNvSpPr/>
            <p:nvPr/>
          </p:nvSpPr>
          <p:spPr>
            <a:xfrm>
              <a:off x="658800" y="1285920"/>
              <a:ext cx="1217160" cy="988560"/>
            </a:xfrm>
            <a:prstGeom prst="rect">
              <a:avLst/>
            </a:prstGeom>
            <a:solidFill>
              <a:srgbClr val="00CC99"/>
            </a:solidFill>
            <a:ln w="38160">
              <a:solidFill>
                <a:srgbClr val="000000"/>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spcBef>
                  <a:spcPts val="1500"/>
                </a:spcBef>
              </a:pPr>
              <a:r>
                <a:rPr lang="en-US" sz="1800" b="1" strike="noStrike" spc="-1">
                  <a:solidFill>
                    <a:srgbClr val="000000"/>
                  </a:solidFill>
                  <a:latin typeface="Arial"/>
                  <a:ea typeface="新細明體"/>
                </a:rPr>
                <a:t>PEI</a:t>
              </a:r>
              <a:endParaRPr lang="en-US" sz="1800" b="0" strike="noStrike" spc="-1">
                <a:latin typeface="Arial"/>
              </a:endParaRPr>
            </a:p>
            <a:p>
              <a:pPr algn="ctr">
                <a:lnSpc>
                  <a:spcPct val="100000"/>
                </a:lnSpc>
                <a:spcBef>
                  <a:spcPts val="1001"/>
                </a:spcBef>
              </a:pPr>
              <a:r>
                <a:rPr lang="en-US" sz="1800" b="1" strike="noStrike" spc="-1">
                  <a:solidFill>
                    <a:srgbClr val="000000"/>
                  </a:solidFill>
                  <a:latin typeface="Arial"/>
                  <a:ea typeface="新細明體"/>
                </a:rPr>
                <a:t>Pre-Memory</a:t>
              </a:r>
              <a:endParaRPr lang="en-US" sz="1800" b="0" strike="noStrike" spc="-1">
                <a:latin typeface="Arial"/>
              </a:endParaRPr>
            </a:p>
          </p:txBody>
        </p:sp>
        <p:sp>
          <p:nvSpPr>
            <p:cNvPr id="11" name="CustomShape 8">
              <a:extLst>
                <a:ext uri="{FF2B5EF4-FFF2-40B4-BE49-F238E27FC236}">
                  <a16:creationId xmlns:a16="http://schemas.microsoft.com/office/drawing/2014/main" id="{D499F96A-D8DB-436F-AA7B-8E01578C7584}"/>
                </a:ext>
              </a:extLst>
            </p:cNvPr>
            <p:cNvSpPr/>
            <p:nvPr/>
          </p:nvSpPr>
          <p:spPr>
            <a:xfrm>
              <a:off x="3249720" y="1131840"/>
              <a:ext cx="1374120" cy="76140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pPr>
              <a:r>
                <a:rPr lang="en-US" sz="4400" b="1" strike="noStrike" spc="-1">
                  <a:solidFill>
                    <a:srgbClr val="3333CC"/>
                  </a:solidFill>
                  <a:latin typeface="Arial"/>
                  <a:ea typeface="新細明體"/>
                </a:rPr>
                <a:t>PEI</a:t>
              </a:r>
              <a:endParaRPr lang="en-US" sz="4400" b="0" strike="noStrike" spc="-1">
                <a:latin typeface="Arial"/>
              </a:endParaRPr>
            </a:p>
          </p:txBody>
        </p:sp>
        <p:sp>
          <p:nvSpPr>
            <p:cNvPr id="12" name="CustomShape 9">
              <a:extLst>
                <a:ext uri="{FF2B5EF4-FFF2-40B4-BE49-F238E27FC236}">
                  <a16:creationId xmlns:a16="http://schemas.microsoft.com/office/drawing/2014/main" id="{467CFE3D-F2EA-4222-B9DF-0EE4C26F037A}"/>
                </a:ext>
              </a:extLst>
            </p:cNvPr>
            <p:cNvSpPr/>
            <p:nvPr/>
          </p:nvSpPr>
          <p:spPr>
            <a:xfrm>
              <a:off x="4849920" y="1131840"/>
              <a:ext cx="1374120" cy="76140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pPr>
              <a:r>
                <a:rPr lang="en-US" sz="4400" b="1" strike="noStrike" spc="-1">
                  <a:solidFill>
                    <a:srgbClr val="3333CC"/>
                  </a:solidFill>
                  <a:latin typeface="Arial"/>
                  <a:ea typeface="新細明體"/>
                </a:rPr>
                <a:t>DXE</a:t>
              </a:r>
              <a:endParaRPr lang="en-US" sz="4400" b="0" strike="noStrike" spc="-1">
                <a:latin typeface="Arial"/>
              </a:endParaRPr>
            </a:p>
          </p:txBody>
        </p:sp>
        <p:sp>
          <p:nvSpPr>
            <p:cNvPr id="13" name="CustomShape 10">
              <a:extLst>
                <a:ext uri="{FF2B5EF4-FFF2-40B4-BE49-F238E27FC236}">
                  <a16:creationId xmlns:a16="http://schemas.microsoft.com/office/drawing/2014/main" id="{5ADD5DFD-8CE4-446A-AB5A-4DC3C126F63F}"/>
                </a:ext>
              </a:extLst>
            </p:cNvPr>
            <p:cNvSpPr/>
            <p:nvPr/>
          </p:nvSpPr>
          <p:spPr>
            <a:xfrm>
              <a:off x="277920" y="2427120"/>
              <a:ext cx="1221840" cy="64080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Memory</a:t>
              </a:r>
              <a:endParaRPr lang="en-US" sz="1800" b="0" strike="noStrike" spc="-1">
                <a:latin typeface="Arial"/>
              </a:endParaRPr>
            </a:p>
            <a:p>
              <a:pPr algn="ctr">
                <a:lnSpc>
                  <a:spcPct val="100000"/>
                </a:lnSpc>
              </a:pPr>
              <a:r>
                <a:rPr lang="en-US" sz="1800" b="1" strike="noStrike" spc="-1">
                  <a:solidFill>
                    <a:srgbClr val="000000"/>
                  </a:solidFill>
                  <a:latin typeface="Arial"/>
                  <a:ea typeface="新細明體"/>
                </a:rPr>
                <a:t>Initialized</a:t>
              </a:r>
              <a:endParaRPr lang="en-US" sz="1800" b="0" strike="noStrike" spc="-1">
                <a:latin typeface="Arial"/>
              </a:endParaRPr>
            </a:p>
          </p:txBody>
        </p:sp>
      </p:grpSp>
      <p:grpSp>
        <p:nvGrpSpPr>
          <p:cNvPr id="14" name="Group 11">
            <a:extLst>
              <a:ext uri="{FF2B5EF4-FFF2-40B4-BE49-F238E27FC236}">
                <a16:creationId xmlns:a16="http://schemas.microsoft.com/office/drawing/2014/main" id="{68F74587-5F40-4817-9ADD-A758AA8BD9A6}"/>
              </a:ext>
            </a:extLst>
          </p:cNvPr>
          <p:cNvGrpSpPr/>
          <p:nvPr/>
        </p:nvGrpSpPr>
        <p:grpSpPr>
          <a:xfrm>
            <a:off x="6430830" y="4573870"/>
            <a:ext cx="3157200" cy="1752120"/>
            <a:chOff x="5383080" y="4389480"/>
            <a:chExt cx="3157200" cy="1752120"/>
          </a:xfrm>
        </p:grpSpPr>
        <p:sp>
          <p:nvSpPr>
            <p:cNvPr id="15" name="CustomShape 12">
              <a:extLst>
                <a:ext uri="{FF2B5EF4-FFF2-40B4-BE49-F238E27FC236}">
                  <a16:creationId xmlns:a16="http://schemas.microsoft.com/office/drawing/2014/main" id="{FE67E705-86BE-4B35-A4E6-3CC8A5576B70}"/>
                </a:ext>
              </a:extLst>
            </p:cNvPr>
            <p:cNvSpPr/>
            <p:nvPr/>
          </p:nvSpPr>
          <p:spPr>
            <a:xfrm>
              <a:off x="6145200" y="5153040"/>
              <a:ext cx="1978920" cy="988560"/>
            </a:xfrm>
            <a:prstGeom prst="rect">
              <a:avLst/>
            </a:prstGeom>
            <a:solidFill>
              <a:srgbClr val="00CC99"/>
            </a:solidFill>
            <a:ln w="38160">
              <a:solidFill>
                <a:srgbClr val="000000"/>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spcBef>
                  <a:spcPts val="1500"/>
                </a:spcBef>
              </a:pPr>
              <a:r>
                <a:rPr lang="en-US" sz="1800" b="1" strike="noStrike" spc="-1">
                  <a:solidFill>
                    <a:srgbClr val="000000"/>
                  </a:solidFill>
                  <a:latin typeface="Arial"/>
                  <a:ea typeface="新細明體"/>
                </a:rPr>
                <a:t>DXE</a:t>
              </a:r>
              <a:endParaRPr lang="en-US" sz="1800" b="0" strike="noStrike" spc="-1">
                <a:latin typeface="Arial"/>
              </a:endParaRPr>
            </a:p>
            <a:p>
              <a:pPr algn="ctr">
                <a:lnSpc>
                  <a:spcPct val="100000"/>
                </a:lnSpc>
                <a:spcBef>
                  <a:spcPts val="1500"/>
                </a:spcBef>
              </a:pPr>
              <a:r>
                <a:rPr lang="en-US" sz="1800" b="1" strike="noStrike" spc="-1">
                  <a:solidFill>
                    <a:srgbClr val="000000"/>
                  </a:solidFill>
                  <a:latin typeface="Arial"/>
                  <a:ea typeface="新細明體"/>
                </a:rPr>
                <a:t>Dispatcher</a:t>
              </a:r>
              <a:endParaRPr lang="en-US" sz="1800" b="0" strike="noStrike" spc="-1">
                <a:latin typeface="Arial"/>
              </a:endParaRPr>
            </a:p>
          </p:txBody>
        </p:sp>
        <p:sp>
          <p:nvSpPr>
            <p:cNvPr id="16" name="CustomShape 13">
              <a:extLst>
                <a:ext uri="{FF2B5EF4-FFF2-40B4-BE49-F238E27FC236}">
                  <a16:creationId xmlns:a16="http://schemas.microsoft.com/office/drawing/2014/main" id="{CFCC5460-3F40-44AD-B325-6323028D340B}"/>
                </a:ext>
              </a:extLst>
            </p:cNvPr>
            <p:cNvSpPr/>
            <p:nvPr/>
          </p:nvSpPr>
          <p:spPr>
            <a:xfrm>
              <a:off x="5383080" y="5153040"/>
              <a:ext cx="759960" cy="455040"/>
            </a:xfrm>
            <a:custGeom>
              <a:avLst/>
              <a:gdLst/>
              <a:ahLst/>
              <a:cxnLst/>
              <a:rect l="l" t="t" r="r" b="b"/>
              <a:pathLst>
                <a:path w="480" h="384">
                  <a:moveTo>
                    <a:pt x="0" y="0"/>
                  </a:moveTo>
                  <a:cubicBezTo>
                    <a:pt x="28" y="44"/>
                    <a:pt x="88" y="198"/>
                    <a:pt x="168" y="262"/>
                  </a:cubicBezTo>
                  <a:cubicBezTo>
                    <a:pt x="248" y="326"/>
                    <a:pt x="415" y="359"/>
                    <a:pt x="480" y="384"/>
                  </a:cubicBezTo>
                </a:path>
              </a:pathLst>
            </a:custGeom>
            <a:noFill/>
            <a:ln w="63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7" name="CustomShape 14">
              <a:extLst>
                <a:ext uri="{FF2B5EF4-FFF2-40B4-BE49-F238E27FC236}">
                  <a16:creationId xmlns:a16="http://schemas.microsoft.com/office/drawing/2014/main" id="{5EC56AC3-8D30-44E8-AC50-9866DB339488}"/>
                </a:ext>
              </a:extLst>
            </p:cNvPr>
            <p:cNvSpPr/>
            <p:nvPr/>
          </p:nvSpPr>
          <p:spPr>
            <a:xfrm>
              <a:off x="5985000" y="4389480"/>
              <a:ext cx="2555280" cy="73116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400" b="1" strike="noStrike" spc="-1">
                  <a:solidFill>
                    <a:srgbClr val="000000"/>
                  </a:solidFill>
                  <a:latin typeface="Arial"/>
                  <a:ea typeface="新細明體"/>
                </a:rPr>
                <a:t>EFI System Table</a:t>
              </a:r>
              <a:endParaRPr lang="en-US" sz="1400" b="0" strike="noStrike" spc="-1">
                <a:latin typeface="Arial"/>
              </a:endParaRPr>
            </a:p>
            <a:p>
              <a:pPr algn="ctr">
                <a:lnSpc>
                  <a:spcPct val="100000"/>
                </a:lnSpc>
              </a:pPr>
              <a:r>
                <a:rPr lang="en-US" sz="1400" b="1" strike="noStrike" spc="-1">
                  <a:solidFill>
                    <a:srgbClr val="000000"/>
                  </a:solidFill>
                  <a:latin typeface="Arial"/>
                  <a:ea typeface="新細明體"/>
                </a:rPr>
                <a:t>EFI Boot Services Table</a:t>
              </a:r>
              <a:endParaRPr lang="en-US" sz="1400" b="0" strike="noStrike" spc="-1">
                <a:latin typeface="Arial"/>
              </a:endParaRPr>
            </a:p>
            <a:p>
              <a:pPr algn="ctr">
                <a:lnSpc>
                  <a:spcPct val="100000"/>
                </a:lnSpc>
              </a:pPr>
              <a:r>
                <a:rPr lang="en-US" sz="1400" b="1" strike="noStrike" spc="-1">
                  <a:solidFill>
                    <a:srgbClr val="000000"/>
                  </a:solidFill>
                  <a:latin typeface="Arial"/>
                  <a:ea typeface="新細明體"/>
                </a:rPr>
                <a:t>Memory-Only Boot Services</a:t>
              </a:r>
              <a:endParaRPr lang="en-US" sz="1400" b="0" strike="noStrike" spc="-1">
                <a:latin typeface="Arial"/>
              </a:endParaRPr>
            </a:p>
          </p:txBody>
        </p:sp>
      </p:grpSp>
      <p:grpSp>
        <p:nvGrpSpPr>
          <p:cNvPr id="18" name="Group 15">
            <a:extLst>
              <a:ext uri="{FF2B5EF4-FFF2-40B4-BE49-F238E27FC236}">
                <a16:creationId xmlns:a16="http://schemas.microsoft.com/office/drawing/2014/main" id="{2AAC48AD-F547-4AA5-AFB2-FC732ED2BB3C}"/>
              </a:ext>
            </a:extLst>
          </p:cNvPr>
          <p:cNvGrpSpPr/>
          <p:nvPr/>
        </p:nvGrpSpPr>
        <p:grpSpPr>
          <a:xfrm>
            <a:off x="4068870" y="4346710"/>
            <a:ext cx="2969640" cy="2207880"/>
            <a:chOff x="3021120" y="4162320"/>
            <a:chExt cx="2969640" cy="2207880"/>
          </a:xfrm>
        </p:grpSpPr>
        <p:sp>
          <p:nvSpPr>
            <p:cNvPr id="19" name="CustomShape 16">
              <a:extLst>
                <a:ext uri="{FF2B5EF4-FFF2-40B4-BE49-F238E27FC236}">
                  <a16:creationId xmlns:a16="http://schemas.microsoft.com/office/drawing/2014/main" id="{681DFEE5-624F-48DC-B6B9-8F7898399EC7}"/>
                </a:ext>
              </a:extLst>
            </p:cNvPr>
            <p:cNvSpPr/>
            <p:nvPr/>
          </p:nvSpPr>
          <p:spPr>
            <a:xfrm>
              <a:off x="4773600" y="4162320"/>
              <a:ext cx="1217160" cy="988560"/>
            </a:xfrm>
            <a:prstGeom prst="rect">
              <a:avLst/>
            </a:prstGeom>
            <a:solidFill>
              <a:srgbClr val="00CC99"/>
            </a:solidFill>
            <a:ln w="38160">
              <a:solidFill>
                <a:srgbClr val="000000"/>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spcBef>
                  <a:spcPts val="1500"/>
                </a:spcBef>
              </a:pPr>
              <a:r>
                <a:rPr lang="en-US" sz="1800" b="1" strike="noStrike" spc="-1">
                  <a:solidFill>
                    <a:srgbClr val="000000"/>
                  </a:solidFill>
                  <a:latin typeface="Arial"/>
                  <a:ea typeface="新細明體"/>
                </a:rPr>
                <a:t>DXE</a:t>
              </a:r>
              <a:endParaRPr lang="en-US" sz="1800" b="0" strike="noStrike" spc="-1">
                <a:latin typeface="Arial"/>
              </a:endParaRPr>
            </a:p>
            <a:p>
              <a:pPr algn="ctr">
                <a:lnSpc>
                  <a:spcPct val="100000"/>
                </a:lnSpc>
                <a:spcBef>
                  <a:spcPts val="1500"/>
                </a:spcBef>
              </a:pPr>
              <a:r>
                <a:rPr lang="en-US" sz="1800" b="1" strike="noStrike" spc="-1">
                  <a:solidFill>
                    <a:srgbClr val="000000"/>
                  </a:solidFill>
                  <a:latin typeface="Arial"/>
                  <a:ea typeface="新細明體"/>
                </a:rPr>
                <a:t>MAIN</a:t>
              </a:r>
              <a:endParaRPr lang="en-US" sz="1800" b="0" strike="noStrike" spc="-1">
                <a:latin typeface="Arial"/>
              </a:endParaRPr>
            </a:p>
          </p:txBody>
        </p:sp>
        <p:sp>
          <p:nvSpPr>
            <p:cNvPr id="20" name="CustomShape 17">
              <a:extLst>
                <a:ext uri="{FF2B5EF4-FFF2-40B4-BE49-F238E27FC236}">
                  <a16:creationId xmlns:a16="http://schemas.microsoft.com/office/drawing/2014/main" id="{D26238F7-4354-443B-90AA-44E5CCE00D2E}"/>
                </a:ext>
              </a:extLst>
            </p:cNvPr>
            <p:cNvSpPr/>
            <p:nvPr/>
          </p:nvSpPr>
          <p:spPr>
            <a:xfrm>
              <a:off x="4011480" y="4162320"/>
              <a:ext cx="759960" cy="455040"/>
            </a:xfrm>
            <a:custGeom>
              <a:avLst/>
              <a:gdLst/>
              <a:ahLst/>
              <a:cxnLst/>
              <a:rect l="l" t="t" r="r" b="b"/>
              <a:pathLst>
                <a:path w="480" h="384">
                  <a:moveTo>
                    <a:pt x="0" y="0"/>
                  </a:moveTo>
                  <a:cubicBezTo>
                    <a:pt x="28" y="44"/>
                    <a:pt x="88" y="198"/>
                    <a:pt x="168" y="262"/>
                  </a:cubicBezTo>
                  <a:cubicBezTo>
                    <a:pt x="248" y="326"/>
                    <a:pt x="415" y="359"/>
                    <a:pt x="480" y="384"/>
                  </a:cubicBezTo>
                </a:path>
              </a:pathLst>
            </a:custGeom>
            <a:noFill/>
            <a:ln w="63360">
              <a:solidFill>
                <a:srgbClr val="000000"/>
              </a:solidFill>
              <a:round/>
              <a:tailEnd type="triangle" w="med" len="med"/>
            </a:ln>
          </p:spPr>
          <p:style>
            <a:lnRef idx="0">
              <a:scrgbClr r="0" g="0" b="0"/>
            </a:lnRef>
            <a:fillRef idx="0">
              <a:scrgbClr r="0" g="0" b="0"/>
            </a:fillRef>
            <a:effectRef idx="0">
              <a:scrgbClr r="0" g="0" b="0"/>
            </a:effectRef>
            <a:fontRef idx="minor"/>
          </p:style>
        </p:sp>
        <p:sp>
          <p:nvSpPr>
            <p:cNvPr id="21" name="CustomShape 18">
              <a:extLst>
                <a:ext uri="{FF2B5EF4-FFF2-40B4-BE49-F238E27FC236}">
                  <a16:creationId xmlns:a16="http://schemas.microsoft.com/office/drawing/2014/main" id="{BF905E9B-C6DF-4A06-A85F-0D40D3D5E675}"/>
                </a:ext>
              </a:extLst>
            </p:cNvPr>
            <p:cNvSpPr/>
            <p:nvPr/>
          </p:nvSpPr>
          <p:spPr>
            <a:xfrm>
              <a:off x="3174840" y="4389480"/>
              <a:ext cx="1156680" cy="3661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HOB List</a:t>
              </a:r>
              <a:endParaRPr lang="en-US" sz="1800" b="0" strike="noStrike" spc="-1">
                <a:latin typeface="Arial"/>
              </a:endParaRPr>
            </a:p>
          </p:txBody>
        </p:sp>
        <p:sp>
          <p:nvSpPr>
            <p:cNvPr id="22" name="CustomShape 19">
              <a:extLst>
                <a:ext uri="{FF2B5EF4-FFF2-40B4-BE49-F238E27FC236}">
                  <a16:creationId xmlns:a16="http://schemas.microsoft.com/office/drawing/2014/main" id="{1676CDF1-41DA-4F2C-AA37-304981805C34}"/>
                </a:ext>
              </a:extLst>
            </p:cNvPr>
            <p:cNvSpPr/>
            <p:nvPr/>
          </p:nvSpPr>
          <p:spPr>
            <a:xfrm>
              <a:off x="3021120" y="545796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DXE Core</a:t>
              </a:r>
              <a:endParaRPr lang="en-US" sz="1400" b="0" strike="noStrike" spc="-1">
                <a:latin typeface="Arial"/>
              </a:endParaRPr>
            </a:p>
          </p:txBody>
        </p:sp>
        <p:sp>
          <p:nvSpPr>
            <p:cNvPr id="23" name="CustomShape 20">
              <a:extLst>
                <a:ext uri="{FF2B5EF4-FFF2-40B4-BE49-F238E27FC236}">
                  <a16:creationId xmlns:a16="http://schemas.microsoft.com/office/drawing/2014/main" id="{8453ECB0-48B0-469C-AF47-96898C967583}"/>
                </a:ext>
              </a:extLst>
            </p:cNvPr>
            <p:cNvSpPr/>
            <p:nvPr/>
          </p:nvSpPr>
          <p:spPr>
            <a:xfrm>
              <a:off x="3021120" y="568656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Firmware Volume</a:t>
              </a:r>
              <a:endParaRPr lang="en-US" sz="1400" b="0" strike="noStrike" spc="-1">
                <a:latin typeface="Arial"/>
              </a:endParaRPr>
            </a:p>
          </p:txBody>
        </p:sp>
        <p:sp>
          <p:nvSpPr>
            <p:cNvPr id="24" name="CustomShape 21">
              <a:extLst>
                <a:ext uri="{FF2B5EF4-FFF2-40B4-BE49-F238E27FC236}">
                  <a16:creationId xmlns:a16="http://schemas.microsoft.com/office/drawing/2014/main" id="{152E4CA1-2728-49C9-B70B-3A96A1D247F2}"/>
                </a:ext>
              </a:extLst>
            </p:cNvPr>
            <p:cNvSpPr/>
            <p:nvPr/>
          </p:nvSpPr>
          <p:spPr>
            <a:xfrm>
              <a:off x="3021120" y="591516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Physical Memory</a:t>
              </a:r>
              <a:endParaRPr lang="en-US" sz="1400" b="0" strike="noStrike" spc="-1">
                <a:latin typeface="Arial"/>
              </a:endParaRPr>
            </a:p>
          </p:txBody>
        </p:sp>
        <p:sp>
          <p:nvSpPr>
            <p:cNvPr id="25" name="CustomShape 22">
              <a:extLst>
                <a:ext uri="{FF2B5EF4-FFF2-40B4-BE49-F238E27FC236}">
                  <a16:creationId xmlns:a16="http://schemas.microsoft.com/office/drawing/2014/main" id="{816D5009-AE1E-481F-8D2F-411D873AB8AD}"/>
                </a:ext>
              </a:extLst>
            </p:cNvPr>
            <p:cNvSpPr/>
            <p:nvPr/>
          </p:nvSpPr>
          <p:spPr>
            <a:xfrm>
              <a:off x="3021120" y="614376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PHIT</a:t>
              </a:r>
              <a:endParaRPr lang="en-US" sz="1400" b="0" strike="noStrike" spc="-1">
                <a:latin typeface="Arial"/>
              </a:endParaRPr>
            </a:p>
          </p:txBody>
        </p:sp>
        <p:sp>
          <p:nvSpPr>
            <p:cNvPr id="26" name="CustomShape 23">
              <a:extLst>
                <a:ext uri="{FF2B5EF4-FFF2-40B4-BE49-F238E27FC236}">
                  <a16:creationId xmlns:a16="http://schemas.microsoft.com/office/drawing/2014/main" id="{8A4ECF8C-4D23-4225-A3E3-0062C4CE8FFB}"/>
                </a:ext>
              </a:extLst>
            </p:cNvPr>
            <p:cNvSpPr/>
            <p:nvPr/>
          </p:nvSpPr>
          <p:spPr>
            <a:xfrm>
              <a:off x="3021120" y="477216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Termination</a:t>
              </a:r>
              <a:endParaRPr lang="en-US" sz="1400" b="0" strike="noStrike" spc="-1">
                <a:latin typeface="Arial"/>
              </a:endParaRPr>
            </a:p>
          </p:txBody>
        </p:sp>
        <p:sp>
          <p:nvSpPr>
            <p:cNvPr id="27" name="CustomShape 24">
              <a:extLst>
                <a:ext uri="{FF2B5EF4-FFF2-40B4-BE49-F238E27FC236}">
                  <a16:creationId xmlns:a16="http://schemas.microsoft.com/office/drawing/2014/main" id="{E1CF75E4-53C3-4B44-992F-29FDE1EBEE47}"/>
                </a:ext>
              </a:extLst>
            </p:cNvPr>
            <p:cNvSpPr/>
            <p:nvPr/>
          </p:nvSpPr>
          <p:spPr>
            <a:xfrm>
              <a:off x="3021120" y="500076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GUID HOBs</a:t>
              </a:r>
              <a:endParaRPr lang="en-US" sz="1400" b="0" strike="noStrike" spc="-1">
                <a:latin typeface="Arial"/>
              </a:endParaRPr>
            </a:p>
          </p:txBody>
        </p:sp>
        <p:sp>
          <p:nvSpPr>
            <p:cNvPr id="28" name="CustomShape 25">
              <a:extLst>
                <a:ext uri="{FF2B5EF4-FFF2-40B4-BE49-F238E27FC236}">
                  <a16:creationId xmlns:a16="http://schemas.microsoft.com/office/drawing/2014/main" id="{2FD845B3-C69D-4A8A-AE52-557EF5218FA7}"/>
                </a:ext>
              </a:extLst>
            </p:cNvPr>
            <p:cNvSpPr/>
            <p:nvPr/>
          </p:nvSpPr>
          <p:spPr>
            <a:xfrm>
              <a:off x="3021120" y="522936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DXE Stack/BSP</a:t>
              </a:r>
              <a:endParaRPr lang="en-US" sz="1400" b="0" strike="noStrike" spc="-1">
                <a:latin typeface="Arial"/>
              </a:endParaRPr>
            </a:p>
          </p:txBody>
        </p:sp>
      </p:grpSp>
      <p:grpSp>
        <p:nvGrpSpPr>
          <p:cNvPr id="29" name="Group 26">
            <a:extLst>
              <a:ext uri="{FF2B5EF4-FFF2-40B4-BE49-F238E27FC236}">
                <a16:creationId xmlns:a16="http://schemas.microsoft.com/office/drawing/2014/main" id="{71FD1831-D654-4B97-B49B-63AC8D11E3C5}"/>
              </a:ext>
            </a:extLst>
          </p:cNvPr>
          <p:cNvGrpSpPr/>
          <p:nvPr/>
        </p:nvGrpSpPr>
        <p:grpSpPr>
          <a:xfrm>
            <a:off x="2468670" y="2973670"/>
            <a:ext cx="3253680" cy="1828080"/>
            <a:chOff x="1420920" y="2789280"/>
            <a:chExt cx="3253680" cy="1828080"/>
          </a:xfrm>
        </p:grpSpPr>
        <p:sp>
          <p:nvSpPr>
            <p:cNvPr id="30" name="CustomShape 27">
              <a:extLst>
                <a:ext uri="{FF2B5EF4-FFF2-40B4-BE49-F238E27FC236}">
                  <a16:creationId xmlns:a16="http://schemas.microsoft.com/office/drawing/2014/main" id="{7513ECE0-87DA-4918-966A-B9C8711EB965}"/>
                </a:ext>
              </a:extLst>
            </p:cNvPr>
            <p:cNvSpPr/>
            <p:nvPr/>
          </p:nvSpPr>
          <p:spPr>
            <a:xfrm>
              <a:off x="3402000" y="3171960"/>
              <a:ext cx="1217160" cy="988560"/>
            </a:xfrm>
            <a:prstGeom prst="rect">
              <a:avLst/>
            </a:prstGeom>
            <a:solidFill>
              <a:srgbClr val="00CC99"/>
            </a:solidFill>
            <a:ln w="38160">
              <a:solidFill>
                <a:srgbClr val="000000"/>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spcBef>
                  <a:spcPts val="1500"/>
                </a:spcBef>
              </a:pPr>
              <a:r>
                <a:rPr lang="en-US" sz="1800" b="1" strike="noStrike" spc="-1">
                  <a:solidFill>
                    <a:srgbClr val="000000"/>
                  </a:solidFill>
                  <a:latin typeface="Arial"/>
                  <a:ea typeface="新細明體"/>
                </a:rPr>
                <a:t>DXE</a:t>
              </a:r>
              <a:endParaRPr lang="en-US" sz="1800" b="0" strike="noStrike" spc="-1">
                <a:latin typeface="Arial"/>
              </a:endParaRPr>
            </a:p>
            <a:p>
              <a:pPr algn="ctr">
                <a:lnSpc>
                  <a:spcPct val="100000"/>
                </a:lnSpc>
                <a:spcBef>
                  <a:spcPts val="1500"/>
                </a:spcBef>
              </a:pPr>
              <a:r>
                <a:rPr lang="en-US" sz="1800" b="1" strike="noStrike" spc="-1">
                  <a:solidFill>
                    <a:srgbClr val="000000"/>
                  </a:solidFill>
                  <a:latin typeface="Arial"/>
                  <a:ea typeface="新細明體"/>
                </a:rPr>
                <a:t>IPL</a:t>
              </a:r>
              <a:endParaRPr lang="en-US" sz="1800" b="0" strike="noStrike" spc="-1">
                <a:latin typeface="Arial"/>
              </a:endParaRPr>
            </a:p>
          </p:txBody>
        </p:sp>
        <p:sp>
          <p:nvSpPr>
            <p:cNvPr id="31" name="CustomShape 28">
              <a:extLst>
                <a:ext uri="{FF2B5EF4-FFF2-40B4-BE49-F238E27FC236}">
                  <a16:creationId xmlns:a16="http://schemas.microsoft.com/office/drawing/2014/main" id="{60AD0C07-E4BF-46C3-984A-F1D3C4CF15B1}"/>
                </a:ext>
              </a:extLst>
            </p:cNvPr>
            <p:cNvSpPr/>
            <p:nvPr/>
          </p:nvSpPr>
          <p:spPr>
            <a:xfrm>
              <a:off x="2639880" y="3171960"/>
              <a:ext cx="759960" cy="455040"/>
            </a:xfrm>
            <a:custGeom>
              <a:avLst/>
              <a:gdLst/>
              <a:ahLst/>
              <a:cxnLst/>
              <a:rect l="l" t="t" r="r" b="b"/>
              <a:pathLst>
                <a:path w="480" h="384">
                  <a:moveTo>
                    <a:pt x="0" y="0"/>
                  </a:moveTo>
                  <a:cubicBezTo>
                    <a:pt x="28" y="44"/>
                    <a:pt x="88" y="198"/>
                    <a:pt x="168" y="262"/>
                  </a:cubicBezTo>
                  <a:cubicBezTo>
                    <a:pt x="248" y="326"/>
                    <a:pt x="415" y="359"/>
                    <a:pt x="480" y="384"/>
                  </a:cubicBezTo>
                </a:path>
              </a:pathLst>
            </a:custGeom>
            <a:noFill/>
            <a:ln w="63360">
              <a:solidFill>
                <a:srgbClr val="000000"/>
              </a:solidFill>
              <a:round/>
              <a:tailEnd type="triangle" w="med" len="med"/>
            </a:ln>
          </p:spPr>
          <p:style>
            <a:lnRef idx="0">
              <a:scrgbClr r="0" g="0" b="0"/>
            </a:lnRef>
            <a:fillRef idx="0">
              <a:scrgbClr r="0" g="0" b="0"/>
            </a:fillRef>
            <a:effectRef idx="0">
              <a:scrgbClr r="0" g="0" b="0"/>
            </a:effectRef>
            <a:fontRef idx="minor"/>
          </p:style>
        </p:sp>
        <p:sp>
          <p:nvSpPr>
            <p:cNvPr id="32" name="CustomShape 29">
              <a:extLst>
                <a:ext uri="{FF2B5EF4-FFF2-40B4-BE49-F238E27FC236}">
                  <a16:creationId xmlns:a16="http://schemas.microsoft.com/office/drawing/2014/main" id="{D4E91129-F0E3-4F5B-97EB-CE30998B73D1}"/>
                </a:ext>
              </a:extLst>
            </p:cNvPr>
            <p:cNvSpPr/>
            <p:nvPr/>
          </p:nvSpPr>
          <p:spPr>
            <a:xfrm>
              <a:off x="1650960" y="3324240"/>
              <a:ext cx="1156680" cy="3661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HOB List</a:t>
              </a:r>
              <a:endParaRPr lang="en-US" sz="1800" b="0" strike="noStrike" spc="-1">
                <a:latin typeface="Arial"/>
              </a:endParaRPr>
            </a:p>
          </p:txBody>
        </p:sp>
        <p:sp>
          <p:nvSpPr>
            <p:cNvPr id="33" name="CustomShape 30">
              <a:extLst>
                <a:ext uri="{FF2B5EF4-FFF2-40B4-BE49-F238E27FC236}">
                  <a16:creationId xmlns:a16="http://schemas.microsoft.com/office/drawing/2014/main" id="{58882FC0-206E-4007-B8D9-B4CFD8B9C2E9}"/>
                </a:ext>
              </a:extLst>
            </p:cNvPr>
            <p:cNvSpPr/>
            <p:nvPr/>
          </p:nvSpPr>
          <p:spPr>
            <a:xfrm>
              <a:off x="1420920" y="370512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Termination</a:t>
              </a:r>
              <a:endParaRPr lang="en-US" sz="1400" b="0" strike="noStrike" spc="-1">
                <a:latin typeface="Arial"/>
              </a:endParaRPr>
            </a:p>
          </p:txBody>
        </p:sp>
        <p:sp>
          <p:nvSpPr>
            <p:cNvPr id="34" name="CustomShape 31">
              <a:extLst>
                <a:ext uri="{FF2B5EF4-FFF2-40B4-BE49-F238E27FC236}">
                  <a16:creationId xmlns:a16="http://schemas.microsoft.com/office/drawing/2014/main" id="{48B0B53E-0927-4E53-8E3B-D187ED27C282}"/>
                </a:ext>
              </a:extLst>
            </p:cNvPr>
            <p:cNvSpPr/>
            <p:nvPr/>
          </p:nvSpPr>
          <p:spPr>
            <a:xfrm>
              <a:off x="1420920" y="393372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Firmware Volume</a:t>
              </a:r>
              <a:endParaRPr lang="en-US" sz="1400" b="0" strike="noStrike" spc="-1">
                <a:latin typeface="Arial"/>
              </a:endParaRPr>
            </a:p>
          </p:txBody>
        </p:sp>
        <p:sp>
          <p:nvSpPr>
            <p:cNvPr id="35" name="CustomShape 32">
              <a:extLst>
                <a:ext uri="{FF2B5EF4-FFF2-40B4-BE49-F238E27FC236}">
                  <a16:creationId xmlns:a16="http://schemas.microsoft.com/office/drawing/2014/main" id="{C66B4E1A-6487-4CAD-A5ED-24DCE684BAC4}"/>
                </a:ext>
              </a:extLst>
            </p:cNvPr>
            <p:cNvSpPr/>
            <p:nvPr/>
          </p:nvSpPr>
          <p:spPr>
            <a:xfrm>
              <a:off x="1420920" y="416232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Physical Memory</a:t>
              </a:r>
              <a:endParaRPr lang="en-US" sz="1400" b="0" strike="noStrike" spc="-1">
                <a:latin typeface="Arial"/>
              </a:endParaRPr>
            </a:p>
          </p:txBody>
        </p:sp>
        <p:sp>
          <p:nvSpPr>
            <p:cNvPr id="36" name="CustomShape 33">
              <a:extLst>
                <a:ext uri="{FF2B5EF4-FFF2-40B4-BE49-F238E27FC236}">
                  <a16:creationId xmlns:a16="http://schemas.microsoft.com/office/drawing/2014/main" id="{A13B3C4A-D8B8-43A2-82AD-F5423B710C5E}"/>
                </a:ext>
              </a:extLst>
            </p:cNvPr>
            <p:cNvSpPr/>
            <p:nvPr/>
          </p:nvSpPr>
          <p:spPr>
            <a:xfrm>
              <a:off x="1420920" y="4390920"/>
              <a:ext cx="1521720" cy="226440"/>
            </a:xfrm>
            <a:prstGeom prst="rect">
              <a:avLst/>
            </a:prstGeom>
            <a:solidFill>
              <a:srgbClr val="CCCC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spcBef>
                  <a:spcPts val="876"/>
                </a:spcBef>
              </a:pPr>
              <a:r>
                <a:rPr lang="en-US" sz="1400" b="1" strike="noStrike" spc="-1">
                  <a:solidFill>
                    <a:srgbClr val="000000"/>
                  </a:solidFill>
                  <a:latin typeface="Arial"/>
                  <a:ea typeface="新細明體"/>
                </a:rPr>
                <a:t>PHIT</a:t>
              </a:r>
              <a:endParaRPr lang="en-US" sz="1400" b="0" strike="noStrike" spc="-1">
                <a:latin typeface="Arial"/>
              </a:endParaRPr>
            </a:p>
          </p:txBody>
        </p:sp>
        <p:sp>
          <p:nvSpPr>
            <p:cNvPr id="37" name="CustomShape 34">
              <a:extLst>
                <a:ext uri="{FF2B5EF4-FFF2-40B4-BE49-F238E27FC236}">
                  <a16:creationId xmlns:a16="http://schemas.microsoft.com/office/drawing/2014/main" id="{64876E62-467F-409D-800C-C1E0F11A7A61}"/>
                </a:ext>
              </a:extLst>
            </p:cNvPr>
            <p:cNvSpPr/>
            <p:nvPr/>
          </p:nvSpPr>
          <p:spPr>
            <a:xfrm>
              <a:off x="3403440" y="2789280"/>
              <a:ext cx="1271160" cy="3661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Last PEIM</a:t>
              </a:r>
              <a:endParaRPr lang="en-US" sz="1800" b="0" strike="noStrike" spc="-1">
                <a:latin typeface="Arial"/>
              </a:endParaRPr>
            </a:p>
          </p:txBody>
        </p:sp>
      </p:grpSp>
      <p:sp>
        <p:nvSpPr>
          <p:cNvPr id="38" name="CustomShape 35">
            <a:extLst>
              <a:ext uri="{FF2B5EF4-FFF2-40B4-BE49-F238E27FC236}">
                <a16:creationId xmlns:a16="http://schemas.microsoft.com/office/drawing/2014/main" id="{601788A8-FC92-4A4F-93F2-96364D4E4A0E}"/>
              </a:ext>
            </a:extLst>
          </p:cNvPr>
          <p:cNvSpPr/>
          <p:nvPr/>
        </p:nvSpPr>
        <p:spPr>
          <a:xfrm>
            <a:off x="1659030" y="5701030"/>
            <a:ext cx="2121840" cy="51840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nchorCtr="1">
            <a:noAutofit/>
          </a:bodyPr>
          <a:lstStyle/>
          <a:p>
            <a:pPr algn="ctr">
              <a:lnSpc>
                <a:spcPct val="100000"/>
              </a:lnSpc>
            </a:pPr>
            <a:r>
              <a:rPr lang="en-US" sz="1400" b="0" strike="noStrike" spc="-1">
                <a:solidFill>
                  <a:srgbClr val="000000"/>
                </a:solidFill>
                <a:latin typeface="Arial"/>
                <a:ea typeface="新細明體"/>
              </a:rPr>
              <a:t>* PHIT – PEI Handoff Information Table</a:t>
            </a:r>
            <a:endParaRPr lang="en-US" sz="1400" b="0" strike="noStrike" spc="-1">
              <a:latin typeface="Arial"/>
            </a:endParaRPr>
          </a:p>
        </p:txBody>
      </p:sp>
    </p:spTree>
    <p:extLst>
      <p:ext uri="{BB962C8B-B14F-4D97-AF65-F5344CB8AC3E}">
        <p14:creationId xmlns:p14="http://schemas.microsoft.com/office/powerpoint/2010/main" val="293140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48</a:t>
            </a:fld>
            <a:endParaRPr lang="en-US" dirty="0"/>
          </a:p>
        </p:txBody>
      </p:sp>
      <p:sp>
        <p:nvSpPr>
          <p:cNvPr id="2" name="Title 1"/>
          <p:cNvSpPr>
            <a:spLocks noGrp="1"/>
          </p:cNvSpPr>
          <p:nvPr>
            <p:ph type="title"/>
          </p:nvPr>
        </p:nvSpPr>
        <p:spPr/>
        <p:txBody>
          <a:bodyPr/>
          <a:lstStyle/>
          <a:p>
            <a:r>
              <a:rPr lang="en-US" dirty="0"/>
              <a:t>Driver Execution Environment  (DXE)</a:t>
            </a:r>
          </a:p>
        </p:txBody>
      </p:sp>
    </p:spTree>
    <p:extLst>
      <p:ext uri="{BB962C8B-B14F-4D97-AF65-F5344CB8AC3E}">
        <p14:creationId xmlns:p14="http://schemas.microsoft.com/office/powerpoint/2010/main" val="6710658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Platform Boot Flow</a:t>
            </a:r>
            <a:endParaRPr lang="en-US" dirty="0"/>
          </a:p>
        </p:txBody>
      </p:sp>
      <p:sp>
        <p:nvSpPr>
          <p:cNvPr id="4" name="CustomShape 1">
            <a:extLst>
              <a:ext uri="{FF2B5EF4-FFF2-40B4-BE49-F238E27FC236}">
                <a16:creationId xmlns:a16="http://schemas.microsoft.com/office/drawing/2014/main" id="{27C4E43C-293B-426A-BB88-4F9745EA52EB}"/>
              </a:ext>
            </a:extLst>
          </p:cNvPr>
          <p:cNvSpPr/>
          <p:nvPr/>
        </p:nvSpPr>
        <p:spPr>
          <a:xfrm>
            <a:off x="3933690" y="2351230"/>
            <a:ext cx="235800" cy="1298160"/>
          </a:xfrm>
          <a:prstGeom prst="bentConnector2">
            <a:avLst/>
          </a:prstGeom>
          <a:noFill/>
          <a:ln w="25560">
            <a:solidFill>
              <a:schemeClr val="tx1"/>
            </a:solidFill>
            <a:round/>
          </a:ln>
        </p:spPr>
        <p:style>
          <a:lnRef idx="1">
            <a:schemeClr val="accent1"/>
          </a:lnRef>
          <a:fillRef idx="0">
            <a:schemeClr val="accent1"/>
          </a:fillRef>
          <a:effectRef idx="0">
            <a:schemeClr val="accent1"/>
          </a:effectRef>
          <a:fontRef idx="minor"/>
        </p:style>
      </p:sp>
      <p:sp>
        <p:nvSpPr>
          <p:cNvPr id="5" name="Line 2">
            <a:extLst>
              <a:ext uri="{FF2B5EF4-FFF2-40B4-BE49-F238E27FC236}">
                <a16:creationId xmlns:a16="http://schemas.microsoft.com/office/drawing/2014/main" id="{F0F7DE81-A2BC-46AF-B064-9FD0DC56FC3F}"/>
              </a:ext>
            </a:extLst>
          </p:cNvPr>
          <p:cNvSpPr/>
          <p:nvPr/>
        </p:nvSpPr>
        <p:spPr>
          <a:xfrm flipH="1">
            <a:off x="4367130" y="166543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6" name="CustomShape 3">
            <a:extLst>
              <a:ext uri="{FF2B5EF4-FFF2-40B4-BE49-F238E27FC236}">
                <a16:creationId xmlns:a16="http://schemas.microsoft.com/office/drawing/2014/main" id="{CC469347-9FEE-4A0B-8F89-FFF5271D46BC}"/>
              </a:ext>
            </a:extLst>
          </p:cNvPr>
          <p:cNvSpPr/>
          <p:nvPr/>
        </p:nvSpPr>
        <p:spPr>
          <a:xfrm>
            <a:off x="3751170" y="3915070"/>
            <a:ext cx="1707480" cy="537480"/>
          </a:xfrm>
          <a:prstGeom prst="ellipse">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 Driver</a:t>
            </a:r>
            <a:br/>
            <a:r>
              <a:rPr lang="en-US" sz="1400" b="1" strike="noStrike" spc="-1">
                <a:solidFill>
                  <a:srgbClr val="FFFFFF"/>
                </a:solidFill>
                <a:latin typeface="Segoe UI"/>
                <a:ea typeface="DejaVu Sans"/>
              </a:rPr>
              <a:t>Dispatcher</a:t>
            </a:r>
            <a:endParaRPr lang="en-US" sz="1400" b="0" strike="noStrike" spc="-1">
              <a:latin typeface="Arial"/>
            </a:endParaRPr>
          </a:p>
        </p:txBody>
      </p:sp>
      <p:sp>
        <p:nvSpPr>
          <p:cNvPr id="8" name="CustomShape 5">
            <a:extLst>
              <a:ext uri="{FF2B5EF4-FFF2-40B4-BE49-F238E27FC236}">
                <a16:creationId xmlns:a16="http://schemas.microsoft.com/office/drawing/2014/main" id="{B355662C-0EA7-4ED8-B8E4-F921316B8D45}"/>
              </a:ext>
            </a:extLst>
          </p:cNvPr>
          <p:cNvSpPr/>
          <p:nvPr/>
        </p:nvSpPr>
        <p:spPr>
          <a:xfrm>
            <a:off x="2208210" y="535507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Security</a:t>
            </a:r>
            <a:br/>
            <a:r>
              <a:rPr lang="en-US" sz="1200" b="1" strike="noStrike" spc="-1">
                <a:solidFill>
                  <a:srgbClr val="3F3F3F"/>
                </a:solidFill>
                <a:latin typeface="Segoe UI"/>
                <a:ea typeface="DejaVu Sans"/>
              </a:rPr>
              <a:t> (SEC)</a:t>
            </a:r>
            <a:endParaRPr lang="en-US" sz="1200" b="0" strike="noStrike" spc="-1">
              <a:latin typeface="Arial"/>
            </a:endParaRPr>
          </a:p>
        </p:txBody>
      </p:sp>
      <p:sp>
        <p:nvSpPr>
          <p:cNvPr id="9" name="CustomShape 6">
            <a:extLst>
              <a:ext uri="{FF2B5EF4-FFF2-40B4-BE49-F238E27FC236}">
                <a16:creationId xmlns:a16="http://schemas.microsoft.com/office/drawing/2014/main" id="{C54EC6CF-EFED-4A87-A17E-7BF5BA17B304}"/>
              </a:ext>
            </a:extLst>
          </p:cNvPr>
          <p:cNvSpPr/>
          <p:nvPr/>
        </p:nvSpPr>
        <p:spPr>
          <a:xfrm>
            <a:off x="2160690" y="6075790"/>
            <a:ext cx="99324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Power On</a:t>
            </a:r>
            <a:endParaRPr lang="en-US" sz="1400" b="0" strike="noStrike" spc="-1">
              <a:latin typeface="Arial"/>
            </a:endParaRPr>
          </a:p>
        </p:txBody>
      </p:sp>
      <p:sp>
        <p:nvSpPr>
          <p:cNvPr id="10" name="CustomShape 7">
            <a:extLst>
              <a:ext uri="{FF2B5EF4-FFF2-40B4-BE49-F238E27FC236}">
                <a16:creationId xmlns:a16="http://schemas.microsoft.com/office/drawing/2014/main" id="{C31CB51E-E1DB-4140-A390-96039C78FD0B}"/>
              </a:ext>
            </a:extLst>
          </p:cNvPr>
          <p:cNvSpPr/>
          <p:nvPr/>
        </p:nvSpPr>
        <p:spPr>
          <a:xfrm>
            <a:off x="9340890" y="6075790"/>
            <a:ext cx="10314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Shutdown</a:t>
            </a:r>
            <a:endParaRPr lang="en-US" sz="1400" b="0" strike="noStrike" spc="-1">
              <a:latin typeface="Arial"/>
            </a:endParaRPr>
          </a:p>
        </p:txBody>
      </p:sp>
      <p:sp>
        <p:nvSpPr>
          <p:cNvPr id="11" name="CustomShape 8">
            <a:extLst>
              <a:ext uri="{FF2B5EF4-FFF2-40B4-BE49-F238E27FC236}">
                <a16:creationId xmlns:a16="http://schemas.microsoft.com/office/drawing/2014/main" id="{798B8F8F-BFBD-45F0-B399-FB72741C9043}"/>
              </a:ext>
            </a:extLst>
          </p:cNvPr>
          <p:cNvSpPr/>
          <p:nvPr/>
        </p:nvSpPr>
        <p:spPr>
          <a:xfrm>
            <a:off x="4005690" y="6075790"/>
            <a:ext cx="23436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[..Platform Initialization..]</a:t>
            </a:r>
            <a:endParaRPr lang="en-US" sz="1400" b="0" strike="noStrike" spc="-1">
              <a:latin typeface="Arial"/>
            </a:endParaRPr>
          </a:p>
        </p:txBody>
      </p:sp>
      <p:sp>
        <p:nvSpPr>
          <p:cNvPr id="12" name="CustomShape 9">
            <a:extLst>
              <a:ext uri="{FF2B5EF4-FFF2-40B4-BE49-F238E27FC236}">
                <a16:creationId xmlns:a16="http://schemas.microsoft.com/office/drawing/2014/main" id="{C914A868-A45C-4CB1-A533-EF65463D1FD8}"/>
              </a:ext>
            </a:extLst>
          </p:cNvPr>
          <p:cNvSpPr/>
          <p:nvPr/>
        </p:nvSpPr>
        <p:spPr>
          <a:xfrm>
            <a:off x="7099530" y="6075790"/>
            <a:ext cx="119412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[..OS Boot..]</a:t>
            </a:r>
            <a:endParaRPr lang="en-US" sz="1400" b="0" strike="noStrike" spc="-1">
              <a:latin typeface="Arial"/>
            </a:endParaRPr>
          </a:p>
        </p:txBody>
      </p:sp>
      <p:sp>
        <p:nvSpPr>
          <p:cNvPr id="13" name="CustomShape 10">
            <a:extLst>
              <a:ext uri="{FF2B5EF4-FFF2-40B4-BE49-F238E27FC236}">
                <a16:creationId xmlns:a16="http://schemas.microsoft.com/office/drawing/2014/main" id="{75EBD71B-CE45-4406-8BC5-D51D4AE6F1C8}"/>
              </a:ext>
            </a:extLst>
          </p:cNvPr>
          <p:cNvSpPr/>
          <p:nvPr/>
        </p:nvSpPr>
        <p:spPr>
          <a:xfrm>
            <a:off x="3108210" y="6210790"/>
            <a:ext cx="89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4" name="CustomShape 11">
            <a:extLst>
              <a:ext uri="{FF2B5EF4-FFF2-40B4-BE49-F238E27FC236}">
                <a16:creationId xmlns:a16="http://schemas.microsoft.com/office/drawing/2014/main" id="{01CB47EC-FEE0-4430-9992-23D9CFF57FEE}"/>
              </a:ext>
            </a:extLst>
          </p:cNvPr>
          <p:cNvSpPr/>
          <p:nvPr/>
        </p:nvSpPr>
        <p:spPr>
          <a:xfrm>
            <a:off x="6348570" y="6210790"/>
            <a:ext cx="71712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5" name="CustomShape 12">
            <a:extLst>
              <a:ext uri="{FF2B5EF4-FFF2-40B4-BE49-F238E27FC236}">
                <a16:creationId xmlns:a16="http://schemas.microsoft.com/office/drawing/2014/main" id="{D06D31A6-DE5A-44DF-A9EE-23664A852E14}"/>
              </a:ext>
            </a:extLst>
          </p:cNvPr>
          <p:cNvSpPr/>
          <p:nvPr/>
        </p:nvSpPr>
        <p:spPr>
          <a:xfrm>
            <a:off x="8327850" y="6210790"/>
            <a:ext cx="10774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6" name="CustomShape 13">
            <a:extLst>
              <a:ext uri="{FF2B5EF4-FFF2-40B4-BE49-F238E27FC236}">
                <a16:creationId xmlns:a16="http://schemas.microsoft.com/office/drawing/2014/main" id="{300ACEC0-E764-486D-8845-BE516C1C58AC}"/>
              </a:ext>
            </a:extLst>
          </p:cNvPr>
          <p:cNvSpPr/>
          <p:nvPr/>
        </p:nvSpPr>
        <p:spPr>
          <a:xfrm>
            <a:off x="3108210" y="5355070"/>
            <a:ext cx="12567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Pre EFI</a:t>
            </a:r>
            <a:br/>
            <a:r>
              <a:rPr lang="en-US" sz="1200" b="1" strike="noStrike" spc="-1">
                <a:solidFill>
                  <a:srgbClr val="3F3F3F"/>
                </a:solidFill>
                <a:latin typeface="Segoe UI"/>
                <a:ea typeface="DejaVu Sans"/>
              </a:rPr>
              <a:t>Initialization</a:t>
            </a:r>
            <a:endParaRPr lang="en-US" sz="1200" b="0" strike="noStrike" spc="-1">
              <a:latin typeface="Arial"/>
            </a:endParaRPr>
          </a:p>
          <a:p>
            <a:pPr algn="ctr">
              <a:lnSpc>
                <a:spcPct val="100000"/>
              </a:lnSpc>
            </a:pPr>
            <a:r>
              <a:rPr lang="en-US" sz="1200" b="1" strike="noStrike" spc="-1">
                <a:solidFill>
                  <a:srgbClr val="3F3F3F"/>
                </a:solidFill>
                <a:latin typeface="Segoe UI"/>
                <a:ea typeface="DejaVu Sans"/>
              </a:rPr>
              <a:t>(PEI)</a:t>
            </a:r>
            <a:endParaRPr lang="en-US" sz="1200" b="0" strike="noStrike" spc="-1">
              <a:latin typeface="Arial"/>
            </a:endParaRPr>
          </a:p>
        </p:txBody>
      </p:sp>
      <p:sp>
        <p:nvSpPr>
          <p:cNvPr id="17" name="CustomShape 14">
            <a:extLst>
              <a:ext uri="{FF2B5EF4-FFF2-40B4-BE49-F238E27FC236}">
                <a16:creationId xmlns:a16="http://schemas.microsoft.com/office/drawing/2014/main" id="{A9382D7B-45ED-4C6E-B2C5-26C606C102ED}"/>
              </a:ext>
            </a:extLst>
          </p:cNvPr>
          <p:cNvSpPr/>
          <p:nvPr/>
        </p:nvSpPr>
        <p:spPr>
          <a:xfrm>
            <a:off x="4367130" y="535507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Driver Execution</a:t>
            </a:r>
            <a:br/>
            <a:r>
              <a:rPr lang="en-US" sz="1200" b="1" strike="noStrike" spc="-1">
                <a:solidFill>
                  <a:srgbClr val="3F3F3F"/>
                </a:solidFill>
                <a:latin typeface="Segoe UI"/>
                <a:ea typeface="DejaVu Sans"/>
              </a:rPr>
              <a:t>Environment</a:t>
            </a:r>
            <a:br/>
            <a:r>
              <a:rPr lang="en-US" sz="1200" b="1" strike="noStrike" spc="-1">
                <a:solidFill>
                  <a:srgbClr val="3F3F3F"/>
                </a:solidFill>
                <a:latin typeface="Segoe UI"/>
                <a:ea typeface="DejaVu Sans"/>
              </a:rPr>
              <a:t>(DXE)</a:t>
            </a:r>
            <a:endParaRPr lang="en-US" sz="1200" b="0" strike="noStrike" spc="-1">
              <a:latin typeface="Arial"/>
            </a:endParaRPr>
          </a:p>
        </p:txBody>
      </p:sp>
      <p:sp>
        <p:nvSpPr>
          <p:cNvPr id="18" name="CustomShape 15">
            <a:extLst>
              <a:ext uri="{FF2B5EF4-FFF2-40B4-BE49-F238E27FC236}">
                <a16:creationId xmlns:a16="http://schemas.microsoft.com/office/drawing/2014/main" id="{35926129-AB78-4AEE-A213-1EB02236F471}"/>
              </a:ext>
            </a:extLst>
          </p:cNvPr>
          <p:cNvSpPr/>
          <p:nvPr/>
        </p:nvSpPr>
        <p:spPr>
          <a:xfrm>
            <a:off x="5988210" y="535507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Boot Dev</a:t>
            </a:r>
            <a:br/>
            <a:r>
              <a:rPr lang="en-US" sz="1200" b="1" strike="noStrike" spc="-1">
                <a:solidFill>
                  <a:srgbClr val="3F3F3F"/>
                </a:solidFill>
                <a:latin typeface="Segoe UI"/>
                <a:ea typeface="DejaVu Sans"/>
              </a:rPr>
              <a:t>Select</a:t>
            </a:r>
            <a:br/>
            <a:r>
              <a:rPr lang="en-US" sz="1200" b="1" strike="noStrike" spc="-1">
                <a:solidFill>
                  <a:srgbClr val="3F3F3F"/>
                </a:solidFill>
                <a:latin typeface="Segoe UI"/>
                <a:ea typeface="DejaVu Sans"/>
              </a:rPr>
              <a:t>(BDS)</a:t>
            </a:r>
            <a:endParaRPr lang="en-US" sz="1200" b="0" strike="noStrike" spc="-1">
              <a:latin typeface="Arial"/>
            </a:endParaRPr>
          </a:p>
        </p:txBody>
      </p:sp>
      <p:sp>
        <p:nvSpPr>
          <p:cNvPr id="19" name="CustomShape 16">
            <a:extLst>
              <a:ext uri="{FF2B5EF4-FFF2-40B4-BE49-F238E27FC236}">
                <a16:creationId xmlns:a16="http://schemas.microsoft.com/office/drawing/2014/main" id="{50B2332D-DF80-4147-B3BD-72EB4E96F11C}"/>
              </a:ext>
            </a:extLst>
          </p:cNvPr>
          <p:cNvSpPr/>
          <p:nvPr/>
        </p:nvSpPr>
        <p:spPr>
          <a:xfrm>
            <a:off x="6888210" y="5355070"/>
            <a:ext cx="161712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UEFI &amp; OS</a:t>
            </a:r>
            <a:br/>
            <a:r>
              <a:rPr lang="en-US" sz="1200" b="1" strike="noStrike" spc="-1">
                <a:solidFill>
                  <a:srgbClr val="3F3F3F"/>
                </a:solidFill>
                <a:latin typeface="Segoe UI"/>
                <a:ea typeface="DejaVu Sans"/>
              </a:rPr>
              <a:t>Loader</a:t>
            </a:r>
            <a:br/>
            <a:r>
              <a:rPr lang="en-US" sz="1200" b="1" strike="noStrike" spc="-1">
                <a:solidFill>
                  <a:srgbClr val="3F3F3F"/>
                </a:solidFill>
                <a:latin typeface="Segoe UI"/>
                <a:ea typeface="DejaVu Sans"/>
              </a:rPr>
              <a:t>Handshake</a:t>
            </a:r>
            <a:endParaRPr lang="en-US" sz="1200" b="0" strike="noStrike" spc="-1">
              <a:latin typeface="Arial"/>
            </a:endParaRPr>
          </a:p>
        </p:txBody>
      </p:sp>
      <p:sp>
        <p:nvSpPr>
          <p:cNvPr id="20" name="CustomShape 17">
            <a:extLst>
              <a:ext uri="{FF2B5EF4-FFF2-40B4-BE49-F238E27FC236}">
                <a16:creationId xmlns:a16="http://schemas.microsoft.com/office/drawing/2014/main" id="{9DD2B02D-F943-408A-AFC4-A9BE165F6B30}"/>
              </a:ext>
            </a:extLst>
          </p:cNvPr>
          <p:cNvSpPr/>
          <p:nvPr/>
        </p:nvSpPr>
        <p:spPr>
          <a:xfrm>
            <a:off x="8507490" y="535507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Runtime</a:t>
            </a:r>
            <a:br/>
            <a:r>
              <a:rPr lang="en-US" sz="1200" b="1" strike="noStrike" spc="-1">
                <a:solidFill>
                  <a:srgbClr val="3F3F3F"/>
                </a:solidFill>
                <a:latin typeface="Segoe UI"/>
                <a:ea typeface="DejaVu Sans"/>
              </a:rPr>
              <a:t>(RT)</a:t>
            </a:r>
            <a:endParaRPr lang="en-US" sz="1200" b="0" strike="noStrike" spc="-1">
              <a:latin typeface="Arial"/>
            </a:endParaRPr>
          </a:p>
        </p:txBody>
      </p:sp>
      <p:sp>
        <p:nvSpPr>
          <p:cNvPr id="21" name="Line 18">
            <a:extLst>
              <a:ext uri="{FF2B5EF4-FFF2-40B4-BE49-F238E27FC236}">
                <a16:creationId xmlns:a16="http://schemas.microsoft.com/office/drawing/2014/main" id="{CFB9495B-4526-4051-9F7A-44F4FFC588DC}"/>
              </a:ext>
            </a:extLst>
          </p:cNvPr>
          <p:cNvSpPr/>
          <p:nvPr/>
        </p:nvSpPr>
        <p:spPr>
          <a:xfrm flipH="1">
            <a:off x="2208210"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2" name="Line 19">
            <a:extLst>
              <a:ext uri="{FF2B5EF4-FFF2-40B4-BE49-F238E27FC236}">
                <a16:creationId xmlns:a16="http://schemas.microsoft.com/office/drawing/2014/main" id="{5D1FFE1F-E0A3-431E-9A30-8823888F3070}"/>
              </a:ext>
            </a:extLst>
          </p:cNvPr>
          <p:cNvSpPr/>
          <p:nvPr/>
        </p:nvSpPr>
        <p:spPr>
          <a:xfrm flipH="1">
            <a:off x="3108210"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3" name="Line 20">
            <a:extLst>
              <a:ext uri="{FF2B5EF4-FFF2-40B4-BE49-F238E27FC236}">
                <a16:creationId xmlns:a16="http://schemas.microsoft.com/office/drawing/2014/main" id="{360FB476-3FF1-42E4-B711-808A980CD0CA}"/>
              </a:ext>
            </a:extLst>
          </p:cNvPr>
          <p:cNvSpPr/>
          <p:nvPr/>
        </p:nvSpPr>
        <p:spPr>
          <a:xfrm flipH="1">
            <a:off x="5987850" y="166543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4" name="Line 21">
            <a:extLst>
              <a:ext uri="{FF2B5EF4-FFF2-40B4-BE49-F238E27FC236}">
                <a16:creationId xmlns:a16="http://schemas.microsoft.com/office/drawing/2014/main" id="{60408EB2-0FA0-406F-BF95-04D95833947A}"/>
              </a:ext>
            </a:extLst>
          </p:cNvPr>
          <p:cNvSpPr/>
          <p:nvPr/>
        </p:nvSpPr>
        <p:spPr>
          <a:xfrm flipH="1">
            <a:off x="6887850" y="166543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5" name="Line 22">
            <a:extLst>
              <a:ext uri="{FF2B5EF4-FFF2-40B4-BE49-F238E27FC236}">
                <a16:creationId xmlns:a16="http://schemas.microsoft.com/office/drawing/2014/main" id="{3EECBE26-9E49-4E46-824C-30A778189D63}"/>
              </a:ext>
            </a:extLst>
          </p:cNvPr>
          <p:cNvSpPr/>
          <p:nvPr/>
        </p:nvSpPr>
        <p:spPr>
          <a:xfrm flipH="1">
            <a:off x="8507130" y="166543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6" name="Line 23">
            <a:extLst>
              <a:ext uri="{FF2B5EF4-FFF2-40B4-BE49-F238E27FC236}">
                <a16:creationId xmlns:a16="http://schemas.microsoft.com/office/drawing/2014/main" id="{DB54AE06-0B5D-4800-AD20-46AE0759456C}"/>
              </a:ext>
            </a:extLst>
          </p:cNvPr>
          <p:cNvSpPr/>
          <p:nvPr/>
        </p:nvSpPr>
        <p:spPr>
          <a:xfrm flipH="1">
            <a:off x="10128210" y="166543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7" name="CustomShape 24">
            <a:extLst>
              <a:ext uri="{FF2B5EF4-FFF2-40B4-BE49-F238E27FC236}">
                <a16:creationId xmlns:a16="http://schemas.microsoft.com/office/drawing/2014/main" id="{B199E04E-2DBB-4E96-B91A-8C830E95CDFC}"/>
              </a:ext>
            </a:extLst>
          </p:cNvPr>
          <p:cNvSpPr/>
          <p:nvPr/>
        </p:nvSpPr>
        <p:spPr>
          <a:xfrm>
            <a:off x="2279490" y="1575070"/>
            <a:ext cx="78984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Pre</a:t>
            </a:r>
            <a:br/>
            <a:r>
              <a:rPr lang="en-US" sz="1200" b="1" strike="noStrike" spc="-1">
                <a:solidFill>
                  <a:srgbClr val="FFFFFF"/>
                </a:solidFill>
                <a:latin typeface="Segoe UI"/>
                <a:ea typeface="DejaVu Sans"/>
              </a:rPr>
              <a:t>Verifier</a:t>
            </a:r>
            <a:endParaRPr lang="en-US" sz="1200" b="0" strike="noStrike" spc="-1">
              <a:latin typeface="Arial"/>
            </a:endParaRPr>
          </a:p>
        </p:txBody>
      </p:sp>
      <p:sp>
        <p:nvSpPr>
          <p:cNvPr id="28" name="CustomShape 25">
            <a:extLst>
              <a:ext uri="{FF2B5EF4-FFF2-40B4-BE49-F238E27FC236}">
                <a16:creationId xmlns:a16="http://schemas.microsoft.com/office/drawing/2014/main" id="{DD48207D-C420-4E3D-B8B6-96C6588A5E22}"/>
              </a:ext>
            </a:extLst>
          </p:cNvPr>
          <p:cNvSpPr/>
          <p:nvPr/>
        </p:nvSpPr>
        <p:spPr>
          <a:xfrm>
            <a:off x="3917850" y="4635790"/>
            <a:ext cx="136620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Architectural</a:t>
            </a:r>
            <a:br/>
            <a:r>
              <a:rPr lang="en-US" sz="1200" b="1" strike="noStrike" spc="-1">
                <a:solidFill>
                  <a:srgbClr val="FFFFFF"/>
                </a:solidFill>
                <a:latin typeface="Segoe UI"/>
                <a:ea typeface="DejaVu Sans"/>
              </a:rPr>
              <a:t>Protocols</a:t>
            </a:r>
            <a:endParaRPr lang="en-US" sz="1200" b="0" strike="noStrike" spc="-1">
              <a:latin typeface="Arial"/>
            </a:endParaRPr>
          </a:p>
        </p:txBody>
      </p:sp>
      <p:sp>
        <p:nvSpPr>
          <p:cNvPr id="29" name="CustomShape 26">
            <a:extLst>
              <a:ext uri="{FF2B5EF4-FFF2-40B4-BE49-F238E27FC236}">
                <a16:creationId xmlns:a16="http://schemas.microsoft.com/office/drawing/2014/main" id="{9F155930-628B-44FE-8A40-B72B0B6E5215}"/>
              </a:ext>
            </a:extLst>
          </p:cNvPr>
          <p:cNvSpPr/>
          <p:nvPr/>
        </p:nvSpPr>
        <p:spPr>
          <a:xfrm>
            <a:off x="6977130" y="463579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Boot Loader</a:t>
            </a:r>
            <a:endParaRPr lang="en-US" sz="1200" b="0" strike="noStrike" spc="-1">
              <a:latin typeface="Arial"/>
            </a:endParaRPr>
          </a:p>
        </p:txBody>
      </p:sp>
      <p:sp>
        <p:nvSpPr>
          <p:cNvPr id="30" name="CustomShape 27">
            <a:extLst>
              <a:ext uri="{FF2B5EF4-FFF2-40B4-BE49-F238E27FC236}">
                <a16:creationId xmlns:a16="http://schemas.microsoft.com/office/drawing/2014/main" id="{85EF7BCE-E8F0-48C0-8166-6411712802AD}"/>
              </a:ext>
            </a:extLst>
          </p:cNvPr>
          <p:cNvSpPr/>
          <p:nvPr/>
        </p:nvSpPr>
        <p:spPr>
          <a:xfrm>
            <a:off x="8597850" y="463579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Environment</a:t>
            </a:r>
            <a:endParaRPr lang="en-US" sz="1200" b="0" strike="noStrike" spc="-1">
              <a:latin typeface="Arial"/>
            </a:endParaRPr>
          </a:p>
        </p:txBody>
      </p:sp>
      <p:sp>
        <p:nvSpPr>
          <p:cNvPr id="31" name="CustomShape 28">
            <a:extLst>
              <a:ext uri="{FF2B5EF4-FFF2-40B4-BE49-F238E27FC236}">
                <a16:creationId xmlns:a16="http://schemas.microsoft.com/office/drawing/2014/main" id="{5B56B4EA-B7E4-4427-9E73-4DC3A6CE1D0C}"/>
              </a:ext>
            </a:extLst>
          </p:cNvPr>
          <p:cNvSpPr/>
          <p:nvPr/>
        </p:nvSpPr>
        <p:spPr>
          <a:xfrm>
            <a:off x="3179850" y="265471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CPU</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2" name="CustomShape 29">
            <a:extLst>
              <a:ext uri="{FF2B5EF4-FFF2-40B4-BE49-F238E27FC236}">
                <a16:creationId xmlns:a16="http://schemas.microsoft.com/office/drawing/2014/main" id="{147F421E-DFA5-40FE-A001-DF7A3483692B}"/>
              </a:ext>
            </a:extLst>
          </p:cNvPr>
          <p:cNvSpPr/>
          <p:nvPr/>
        </p:nvSpPr>
        <p:spPr>
          <a:xfrm>
            <a:off x="3179850" y="319435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Chipset</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3" name="CustomShape 30">
            <a:extLst>
              <a:ext uri="{FF2B5EF4-FFF2-40B4-BE49-F238E27FC236}">
                <a16:creationId xmlns:a16="http://schemas.microsoft.com/office/drawing/2014/main" id="{6D1A20AC-8DDC-4FD6-AF27-B40FD5D05F81}"/>
              </a:ext>
            </a:extLst>
          </p:cNvPr>
          <p:cNvSpPr/>
          <p:nvPr/>
        </p:nvSpPr>
        <p:spPr>
          <a:xfrm>
            <a:off x="3179850" y="3735790"/>
            <a:ext cx="789840" cy="447120"/>
          </a:xfrm>
          <a:prstGeom prst="rect">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Board</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4" name="CustomShape 31">
            <a:extLst>
              <a:ext uri="{FF2B5EF4-FFF2-40B4-BE49-F238E27FC236}">
                <a16:creationId xmlns:a16="http://schemas.microsoft.com/office/drawing/2014/main" id="{CF5C8D61-3CBE-4C4B-8ECA-27FCF17DA76D}"/>
              </a:ext>
            </a:extLst>
          </p:cNvPr>
          <p:cNvSpPr/>
          <p:nvPr/>
        </p:nvSpPr>
        <p:spPr>
          <a:xfrm>
            <a:off x="3179850" y="211471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PEI</a:t>
            </a:r>
            <a:br/>
            <a:r>
              <a:rPr lang="en-US" sz="1200" b="1" strike="noStrike" spc="-1">
                <a:solidFill>
                  <a:srgbClr val="FFFFFF"/>
                </a:solidFill>
                <a:latin typeface="Segoe UI"/>
                <a:ea typeface="DejaVu Sans"/>
              </a:rPr>
              <a:t>Core</a:t>
            </a:r>
            <a:endParaRPr lang="en-US" sz="1200" b="0" strike="noStrike" spc="-1">
              <a:latin typeface="Arial"/>
            </a:endParaRPr>
          </a:p>
        </p:txBody>
      </p:sp>
      <p:sp>
        <p:nvSpPr>
          <p:cNvPr id="35" name="CustomShape 32">
            <a:extLst>
              <a:ext uri="{FF2B5EF4-FFF2-40B4-BE49-F238E27FC236}">
                <a16:creationId xmlns:a16="http://schemas.microsoft.com/office/drawing/2014/main" id="{081DD981-03A4-424B-8FC1-A8AFDE9CB282}"/>
              </a:ext>
            </a:extLst>
          </p:cNvPr>
          <p:cNvSpPr/>
          <p:nvPr/>
        </p:nvSpPr>
        <p:spPr>
          <a:xfrm>
            <a:off x="8597850" y="391507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OS-Present</a:t>
            </a:r>
            <a:br/>
            <a:r>
              <a:rPr lang="en-US" sz="1200" b="1" strike="noStrike" spc="-1">
                <a:solidFill>
                  <a:srgbClr val="FFFFFF"/>
                </a:solidFill>
                <a:latin typeface="Segoe UI"/>
                <a:ea typeface="DejaVu Sans"/>
              </a:rPr>
              <a:t>App</a:t>
            </a:r>
            <a:endParaRPr lang="en-US" sz="1200" b="0" strike="noStrike" spc="-1">
              <a:latin typeface="Arial"/>
            </a:endParaRPr>
          </a:p>
        </p:txBody>
      </p:sp>
      <p:sp>
        <p:nvSpPr>
          <p:cNvPr id="36" name="CustomShape 33">
            <a:extLst>
              <a:ext uri="{FF2B5EF4-FFF2-40B4-BE49-F238E27FC236}">
                <a16:creationId xmlns:a16="http://schemas.microsoft.com/office/drawing/2014/main" id="{2649D001-77C3-4AA2-AF04-018AB16EBC01}"/>
              </a:ext>
            </a:extLst>
          </p:cNvPr>
          <p:cNvSpPr/>
          <p:nvPr/>
        </p:nvSpPr>
        <p:spPr>
          <a:xfrm>
            <a:off x="6977130" y="193543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OS-Absent</a:t>
            </a:r>
            <a:br/>
            <a:r>
              <a:rPr lang="en-US" sz="1200" b="1" strike="noStrike" spc="-1">
                <a:solidFill>
                  <a:srgbClr val="3F3F3F"/>
                </a:solidFill>
                <a:latin typeface="Segoe UI"/>
                <a:ea typeface="DejaVu Sans"/>
              </a:rPr>
              <a:t>App</a:t>
            </a:r>
            <a:endParaRPr lang="en-US" sz="1200" b="0" strike="noStrike" spc="-1">
              <a:latin typeface="Arial"/>
            </a:endParaRPr>
          </a:p>
        </p:txBody>
      </p:sp>
      <p:sp>
        <p:nvSpPr>
          <p:cNvPr id="37" name="CustomShape 34">
            <a:extLst>
              <a:ext uri="{FF2B5EF4-FFF2-40B4-BE49-F238E27FC236}">
                <a16:creationId xmlns:a16="http://schemas.microsoft.com/office/drawing/2014/main" id="{EECBA03D-5F49-4FAD-9835-4D38587891B8}"/>
              </a:ext>
            </a:extLst>
          </p:cNvPr>
          <p:cNvSpPr/>
          <p:nvPr/>
        </p:nvSpPr>
        <p:spPr>
          <a:xfrm>
            <a:off x="6977130" y="2654710"/>
            <a:ext cx="1366200" cy="44856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Environment</a:t>
            </a:r>
            <a:endParaRPr lang="en-US" sz="1200" b="0" strike="noStrike" spc="-1">
              <a:latin typeface="Arial"/>
            </a:endParaRPr>
          </a:p>
        </p:txBody>
      </p:sp>
      <p:sp>
        <p:nvSpPr>
          <p:cNvPr id="38" name="CustomShape 35">
            <a:extLst>
              <a:ext uri="{FF2B5EF4-FFF2-40B4-BE49-F238E27FC236}">
                <a16:creationId xmlns:a16="http://schemas.microsoft.com/office/drawing/2014/main" id="{D0C29C27-FB6A-4632-A7DA-49794CA0B8CF}"/>
              </a:ext>
            </a:extLst>
          </p:cNvPr>
          <p:cNvSpPr/>
          <p:nvPr/>
        </p:nvSpPr>
        <p:spPr>
          <a:xfrm>
            <a:off x="6977130" y="337543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Boot Loader</a:t>
            </a:r>
            <a:endParaRPr lang="en-US" sz="1200" b="0" strike="noStrike" spc="-1">
              <a:latin typeface="Arial"/>
            </a:endParaRPr>
          </a:p>
        </p:txBody>
      </p:sp>
      <p:sp>
        <p:nvSpPr>
          <p:cNvPr id="39" name="CustomShape 36">
            <a:extLst>
              <a:ext uri="{FF2B5EF4-FFF2-40B4-BE49-F238E27FC236}">
                <a16:creationId xmlns:a16="http://schemas.microsoft.com/office/drawing/2014/main" id="{4A506768-D1BD-4A3D-BFED-CDE613FD5F41}"/>
              </a:ext>
            </a:extLst>
          </p:cNvPr>
          <p:cNvSpPr/>
          <p:nvPr/>
        </p:nvSpPr>
        <p:spPr>
          <a:xfrm rot="16200000">
            <a:off x="7561050" y="247723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0" name="CustomShape 37">
            <a:extLst>
              <a:ext uri="{FF2B5EF4-FFF2-40B4-BE49-F238E27FC236}">
                <a16:creationId xmlns:a16="http://schemas.microsoft.com/office/drawing/2014/main" id="{780E64F0-7866-4090-8BD9-3DCA51CBB80F}"/>
              </a:ext>
            </a:extLst>
          </p:cNvPr>
          <p:cNvSpPr/>
          <p:nvPr/>
        </p:nvSpPr>
        <p:spPr>
          <a:xfrm rot="5400000">
            <a:off x="7534770" y="247507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1" name="CustomShape 38">
            <a:extLst>
              <a:ext uri="{FF2B5EF4-FFF2-40B4-BE49-F238E27FC236}">
                <a16:creationId xmlns:a16="http://schemas.microsoft.com/office/drawing/2014/main" id="{E3EDC1E5-21BB-4D26-A9B8-6837AAE5D0F2}"/>
              </a:ext>
            </a:extLst>
          </p:cNvPr>
          <p:cNvSpPr/>
          <p:nvPr/>
        </p:nvSpPr>
        <p:spPr>
          <a:xfrm rot="16200000">
            <a:off x="7546650" y="319615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2" name="CustomShape 39">
            <a:extLst>
              <a:ext uri="{FF2B5EF4-FFF2-40B4-BE49-F238E27FC236}">
                <a16:creationId xmlns:a16="http://schemas.microsoft.com/office/drawing/2014/main" id="{C1B8FFE6-11CA-4D6D-8141-0888CBEB25D9}"/>
              </a:ext>
            </a:extLst>
          </p:cNvPr>
          <p:cNvSpPr/>
          <p:nvPr/>
        </p:nvSpPr>
        <p:spPr>
          <a:xfrm rot="5400000">
            <a:off x="7520370" y="319435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3" name="CustomShape 40">
            <a:extLst>
              <a:ext uri="{FF2B5EF4-FFF2-40B4-BE49-F238E27FC236}">
                <a16:creationId xmlns:a16="http://schemas.microsoft.com/office/drawing/2014/main" id="{198718CD-18FD-4EA7-BF55-51AD3A0B6BD7}"/>
              </a:ext>
            </a:extLst>
          </p:cNvPr>
          <p:cNvSpPr/>
          <p:nvPr/>
        </p:nvSpPr>
        <p:spPr>
          <a:xfrm rot="16200000">
            <a:off x="9173850" y="445687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4" name="CustomShape 41">
            <a:extLst>
              <a:ext uri="{FF2B5EF4-FFF2-40B4-BE49-F238E27FC236}">
                <a16:creationId xmlns:a16="http://schemas.microsoft.com/office/drawing/2014/main" id="{A82E32FA-C6DC-45F7-8FD8-66C6FD118E17}"/>
              </a:ext>
            </a:extLst>
          </p:cNvPr>
          <p:cNvSpPr/>
          <p:nvPr/>
        </p:nvSpPr>
        <p:spPr>
          <a:xfrm rot="5400000">
            <a:off x="9147570" y="445471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grpSp>
        <p:nvGrpSpPr>
          <p:cNvPr id="45" name="Group 42">
            <a:extLst>
              <a:ext uri="{FF2B5EF4-FFF2-40B4-BE49-F238E27FC236}">
                <a16:creationId xmlns:a16="http://schemas.microsoft.com/office/drawing/2014/main" id="{943318DD-0B3F-48F0-BA30-845F0BC37310}"/>
              </a:ext>
            </a:extLst>
          </p:cNvPr>
          <p:cNvGrpSpPr/>
          <p:nvPr/>
        </p:nvGrpSpPr>
        <p:grpSpPr>
          <a:xfrm>
            <a:off x="4589610" y="2421430"/>
            <a:ext cx="1032840" cy="1183680"/>
            <a:chOff x="2741760" y="2171880"/>
            <a:chExt cx="1032840" cy="1183680"/>
          </a:xfrm>
        </p:grpSpPr>
        <p:sp>
          <p:nvSpPr>
            <p:cNvPr id="46" name="CustomShape 43">
              <a:extLst>
                <a:ext uri="{FF2B5EF4-FFF2-40B4-BE49-F238E27FC236}">
                  <a16:creationId xmlns:a16="http://schemas.microsoft.com/office/drawing/2014/main" id="{FAED65C2-A877-472F-9518-F65A400E5274}"/>
                </a:ext>
              </a:extLst>
            </p:cNvPr>
            <p:cNvSpPr/>
            <p:nvPr/>
          </p:nvSpPr>
          <p:spPr>
            <a:xfrm>
              <a:off x="2967120" y="217188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47" name="CustomShape 44">
              <a:extLst>
                <a:ext uri="{FF2B5EF4-FFF2-40B4-BE49-F238E27FC236}">
                  <a16:creationId xmlns:a16="http://schemas.microsoft.com/office/drawing/2014/main" id="{4639683B-7941-466D-8313-9EFFE3D057FE}"/>
                </a:ext>
              </a:extLst>
            </p:cNvPr>
            <p:cNvSpPr/>
            <p:nvPr/>
          </p:nvSpPr>
          <p:spPr>
            <a:xfrm>
              <a:off x="2917800" y="2244600"/>
              <a:ext cx="80748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48" name="CustomShape 45">
              <a:extLst>
                <a:ext uri="{FF2B5EF4-FFF2-40B4-BE49-F238E27FC236}">
                  <a16:creationId xmlns:a16="http://schemas.microsoft.com/office/drawing/2014/main" id="{FE1F114C-2167-4E98-9309-0F29C2D526EA}"/>
                </a:ext>
              </a:extLst>
            </p:cNvPr>
            <p:cNvSpPr/>
            <p:nvPr/>
          </p:nvSpPr>
          <p:spPr>
            <a:xfrm>
              <a:off x="2863800" y="233532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49" name="CustomShape 46">
              <a:extLst>
                <a:ext uri="{FF2B5EF4-FFF2-40B4-BE49-F238E27FC236}">
                  <a16:creationId xmlns:a16="http://schemas.microsoft.com/office/drawing/2014/main" id="{F430026A-3F8B-4D83-A620-2B0335308A8C}"/>
                </a:ext>
              </a:extLst>
            </p:cNvPr>
            <p:cNvSpPr/>
            <p:nvPr/>
          </p:nvSpPr>
          <p:spPr>
            <a:xfrm>
              <a:off x="2805120" y="2422440"/>
              <a:ext cx="80892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0" name="CustomShape 47">
              <a:extLst>
                <a:ext uri="{FF2B5EF4-FFF2-40B4-BE49-F238E27FC236}">
                  <a16:creationId xmlns:a16="http://schemas.microsoft.com/office/drawing/2014/main" id="{DCD323B7-66BB-4F8B-B0F3-F842900A2952}"/>
                </a:ext>
              </a:extLst>
            </p:cNvPr>
            <p:cNvSpPr/>
            <p:nvPr/>
          </p:nvSpPr>
          <p:spPr>
            <a:xfrm>
              <a:off x="2741760" y="2513160"/>
              <a:ext cx="807480" cy="842400"/>
            </a:xfrm>
            <a:prstGeom prst="rect">
              <a:avLst/>
            </a:prstGeom>
            <a:solidFill>
              <a:srgbClr val="FFCC00"/>
            </a:solidFill>
            <a:ln w="12600">
              <a:solidFill>
                <a:schemeClr val="tx1"/>
              </a:solidFill>
              <a:miter/>
            </a:ln>
          </p:spPr>
          <p:style>
            <a:lnRef idx="0">
              <a:scrgbClr r="0" g="0" b="0"/>
            </a:lnRef>
            <a:fillRef idx="0">
              <a:scrgbClr r="0" g="0" b="0"/>
            </a:fillRef>
            <a:effectRef idx="0">
              <a:scrgbClr r="0" g="0" b="0"/>
            </a:effectRef>
            <a:fontRef idx="minor"/>
          </p:style>
          <p:txBody>
            <a:bodyPr lIns="46080" tIns="46080" rIns="46080" bIns="46080" anchor="ctr">
              <a:noAutofit/>
            </a:bodyPr>
            <a:lstStyle/>
            <a:p>
              <a:pPr algn="ctr">
                <a:lnSpc>
                  <a:spcPct val="100000"/>
                </a:lnSpc>
              </a:pPr>
              <a:r>
                <a:rPr lang="en-US" sz="1200" b="1" strike="noStrike" spc="-1">
                  <a:solidFill>
                    <a:srgbClr val="3F3F3F"/>
                  </a:solidFill>
                  <a:latin typeface="Segoe UI"/>
                  <a:ea typeface="DejaVu Sans"/>
                </a:rPr>
                <a:t>Device,  Bus, or Service  Driver</a:t>
              </a:r>
              <a:endParaRPr lang="en-US" sz="1200" b="0" strike="noStrike" spc="-1">
                <a:latin typeface="Arial"/>
              </a:endParaRPr>
            </a:p>
          </p:txBody>
        </p:sp>
      </p:grpSp>
      <p:sp>
        <p:nvSpPr>
          <p:cNvPr id="51" name="CustomShape 48">
            <a:extLst>
              <a:ext uri="{FF2B5EF4-FFF2-40B4-BE49-F238E27FC236}">
                <a16:creationId xmlns:a16="http://schemas.microsoft.com/office/drawing/2014/main" id="{E34A0476-9707-4C26-B764-7CF47FFCCCE9}"/>
              </a:ext>
            </a:extLst>
          </p:cNvPr>
          <p:cNvSpPr/>
          <p:nvPr/>
        </p:nvSpPr>
        <p:spPr>
          <a:xfrm rot="16200000">
            <a:off x="5108730" y="370303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2" name="CustomShape 49">
            <a:extLst>
              <a:ext uri="{FF2B5EF4-FFF2-40B4-BE49-F238E27FC236}">
                <a16:creationId xmlns:a16="http://schemas.microsoft.com/office/drawing/2014/main" id="{8CDD2315-B9D6-4D63-8134-CC26AD448340}"/>
              </a:ext>
            </a:extLst>
          </p:cNvPr>
          <p:cNvSpPr/>
          <p:nvPr/>
        </p:nvSpPr>
        <p:spPr>
          <a:xfrm rot="5400000">
            <a:off x="5068050" y="370087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3" name="CustomShape 50">
            <a:extLst>
              <a:ext uri="{FF2B5EF4-FFF2-40B4-BE49-F238E27FC236}">
                <a16:creationId xmlns:a16="http://schemas.microsoft.com/office/drawing/2014/main" id="{48E218F7-11DC-451F-B8C2-5E679601403B}"/>
              </a:ext>
            </a:extLst>
          </p:cNvPr>
          <p:cNvSpPr/>
          <p:nvPr/>
        </p:nvSpPr>
        <p:spPr>
          <a:xfrm>
            <a:off x="5718210" y="3915070"/>
            <a:ext cx="1437840" cy="537480"/>
          </a:xfrm>
          <a:prstGeom prst="ellipse">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Boot</a:t>
            </a:r>
            <a:br/>
            <a:r>
              <a:rPr lang="en-US" sz="1400" b="1" strike="noStrike" spc="-1">
                <a:solidFill>
                  <a:srgbClr val="FFFFFF"/>
                </a:solidFill>
                <a:latin typeface="Segoe UI"/>
                <a:ea typeface="DejaVu Sans"/>
              </a:rPr>
              <a:t>Manager</a:t>
            </a:r>
            <a:endParaRPr lang="en-US" sz="1400" b="0" strike="noStrike" spc="-1">
              <a:latin typeface="Arial"/>
            </a:endParaRPr>
          </a:p>
        </p:txBody>
      </p:sp>
      <p:sp>
        <p:nvSpPr>
          <p:cNvPr id="54" name="Line 51">
            <a:extLst>
              <a:ext uri="{FF2B5EF4-FFF2-40B4-BE49-F238E27FC236}">
                <a16:creationId xmlns:a16="http://schemas.microsoft.com/office/drawing/2014/main" id="{719EF0D9-D93F-4553-95EC-E78B80790687}"/>
              </a:ext>
            </a:extLst>
          </p:cNvPr>
          <p:cNvSpPr/>
          <p:nvPr/>
        </p:nvSpPr>
        <p:spPr>
          <a:xfrm flipH="1">
            <a:off x="5987850" y="2295790"/>
            <a:ext cx="17640" cy="107928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5" name="Line 52">
            <a:extLst>
              <a:ext uri="{FF2B5EF4-FFF2-40B4-BE49-F238E27FC236}">
                <a16:creationId xmlns:a16="http://schemas.microsoft.com/office/drawing/2014/main" id="{029D2D6C-346B-448A-BE8F-9CC2EF45A47E}"/>
              </a:ext>
            </a:extLst>
          </p:cNvPr>
          <p:cNvSpPr/>
          <p:nvPr/>
        </p:nvSpPr>
        <p:spPr>
          <a:xfrm flipH="1">
            <a:off x="5987850" y="4635790"/>
            <a:ext cx="17640" cy="53964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6" name="CustomShape 53">
            <a:extLst>
              <a:ext uri="{FF2B5EF4-FFF2-40B4-BE49-F238E27FC236}">
                <a16:creationId xmlns:a16="http://schemas.microsoft.com/office/drawing/2014/main" id="{B8086379-3C1C-4D72-8BB1-2B0353D34AFF}"/>
              </a:ext>
            </a:extLst>
          </p:cNvPr>
          <p:cNvSpPr/>
          <p:nvPr/>
        </p:nvSpPr>
        <p:spPr>
          <a:xfrm>
            <a:off x="5461170" y="4185070"/>
            <a:ext cx="2548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57" name="Line 54">
            <a:extLst>
              <a:ext uri="{FF2B5EF4-FFF2-40B4-BE49-F238E27FC236}">
                <a16:creationId xmlns:a16="http://schemas.microsoft.com/office/drawing/2014/main" id="{AFC8F864-C476-4C1E-BD63-4670AB41EFAA}"/>
              </a:ext>
            </a:extLst>
          </p:cNvPr>
          <p:cNvSpPr/>
          <p:nvPr/>
        </p:nvSpPr>
        <p:spPr>
          <a:xfrm flipH="1">
            <a:off x="4601850" y="4454710"/>
            <a:ext cx="5040" cy="181080"/>
          </a:xfrm>
          <a:prstGeom prst="line">
            <a:avLst/>
          </a:prstGeom>
          <a:ln w="63360">
            <a:solidFill>
              <a:srgbClr val="1218FA"/>
            </a:solidFill>
            <a:round/>
          </a:ln>
        </p:spPr>
        <p:style>
          <a:lnRef idx="1">
            <a:schemeClr val="accent1"/>
          </a:lnRef>
          <a:fillRef idx="0">
            <a:schemeClr val="accent1"/>
          </a:fillRef>
          <a:effectRef idx="0">
            <a:schemeClr val="accent1"/>
          </a:effectRef>
          <a:fontRef idx="minor"/>
        </p:style>
      </p:sp>
      <p:sp>
        <p:nvSpPr>
          <p:cNvPr id="58" name="CustomShape 55">
            <a:extLst>
              <a:ext uri="{FF2B5EF4-FFF2-40B4-BE49-F238E27FC236}">
                <a16:creationId xmlns:a16="http://schemas.microsoft.com/office/drawing/2014/main" id="{8CE604FC-71D4-4158-A26C-302D32D053B3}"/>
              </a:ext>
            </a:extLst>
          </p:cNvPr>
          <p:cNvSpPr/>
          <p:nvPr/>
        </p:nvSpPr>
        <p:spPr>
          <a:xfrm>
            <a:off x="8345490" y="4859710"/>
            <a:ext cx="25020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59" name="CustomShape 56">
            <a:extLst>
              <a:ext uri="{FF2B5EF4-FFF2-40B4-BE49-F238E27FC236}">
                <a16:creationId xmlns:a16="http://schemas.microsoft.com/office/drawing/2014/main" id="{182DEB76-73D2-48A4-9AAE-04AB82C6F8D7}"/>
              </a:ext>
            </a:extLst>
          </p:cNvPr>
          <p:cNvSpPr/>
          <p:nvPr/>
        </p:nvSpPr>
        <p:spPr>
          <a:xfrm rot="18180000">
            <a:off x="7072890" y="388411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0" name="CustomShape 57">
            <a:extLst>
              <a:ext uri="{FF2B5EF4-FFF2-40B4-BE49-F238E27FC236}">
                <a16:creationId xmlns:a16="http://schemas.microsoft.com/office/drawing/2014/main" id="{F1A9948A-DFCB-4D6C-BF83-4418EFC0FECF}"/>
              </a:ext>
            </a:extLst>
          </p:cNvPr>
          <p:cNvSpPr/>
          <p:nvPr/>
        </p:nvSpPr>
        <p:spPr>
          <a:xfrm rot="7380000">
            <a:off x="7044810" y="386179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1" name="CustomShape 58">
            <a:extLst>
              <a:ext uri="{FF2B5EF4-FFF2-40B4-BE49-F238E27FC236}">
                <a16:creationId xmlns:a16="http://schemas.microsoft.com/office/drawing/2014/main" id="{66486756-FB39-41B1-9BFA-396805D91596}"/>
              </a:ext>
            </a:extLst>
          </p:cNvPr>
          <p:cNvSpPr/>
          <p:nvPr/>
        </p:nvSpPr>
        <p:spPr>
          <a:xfrm>
            <a:off x="6946890" y="4375510"/>
            <a:ext cx="308880" cy="25344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2" name="CustomShape 59">
            <a:extLst>
              <a:ext uri="{FF2B5EF4-FFF2-40B4-BE49-F238E27FC236}">
                <a16:creationId xmlns:a16="http://schemas.microsoft.com/office/drawing/2014/main" id="{3292E8FE-60A3-468A-A8DC-3D80C8EDB892}"/>
              </a:ext>
            </a:extLst>
          </p:cNvPr>
          <p:cNvSpPr/>
          <p:nvPr/>
        </p:nvSpPr>
        <p:spPr>
          <a:xfrm>
            <a:off x="3071850" y="1800430"/>
            <a:ext cx="502560" cy="31212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3" name="CustomShape 60">
            <a:extLst>
              <a:ext uri="{FF2B5EF4-FFF2-40B4-BE49-F238E27FC236}">
                <a16:creationId xmlns:a16="http://schemas.microsoft.com/office/drawing/2014/main" id="{17D78415-3A06-44B5-907C-37010A11E61D}"/>
              </a:ext>
            </a:extLst>
          </p:cNvPr>
          <p:cNvSpPr/>
          <p:nvPr/>
        </p:nvSpPr>
        <p:spPr>
          <a:xfrm rot="5400000">
            <a:off x="6071730" y="2191750"/>
            <a:ext cx="348840" cy="41076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4" name="CustomShape 61">
            <a:extLst>
              <a:ext uri="{FF2B5EF4-FFF2-40B4-BE49-F238E27FC236}">
                <a16:creationId xmlns:a16="http://schemas.microsoft.com/office/drawing/2014/main" id="{4DFE5554-22EE-4566-B0A4-36FE383272CE}"/>
              </a:ext>
            </a:extLst>
          </p:cNvPr>
          <p:cNvSpPr/>
          <p:nvPr/>
        </p:nvSpPr>
        <p:spPr>
          <a:xfrm>
            <a:off x="3143130" y="1503790"/>
            <a:ext cx="671040" cy="301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Verify</a:t>
            </a:r>
            <a:endParaRPr lang="en-US" sz="1400" b="0" strike="noStrike" spc="-1">
              <a:latin typeface="Arial"/>
            </a:endParaRPr>
          </a:p>
        </p:txBody>
      </p:sp>
      <p:sp>
        <p:nvSpPr>
          <p:cNvPr id="65" name="CustomShape 62">
            <a:extLst>
              <a:ext uri="{FF2B5EF4-FFF2-40B4-BE49-F238E27FC236}">
                <a16:creationId xmlns:a16="http://schemas.microsoft.com/office/drawing/2014/main" id="{8485B171-3A62-4D4A-A7C2-18D41CCA901B}"/>
              </a:ext>
            </a:extLst>
          </p:cNvPr>
          <p:cNvSpPr/>
          <p:nvPr/>
        </p:nvSpPr>
        <p:spPr>
          <a:xfrm>
            <a:off x="5947530" y="1700350"/>
            <a:ext cx="1006920" cy="5148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EFI/UEFI</a:t>
            </a:r>
            <a:br/>
            <a:r>
              <a:rPr lang="en-US" sz="1400" b="1" strike="noStrike" spc="-1">
                <a:solidFill>
                  <a:srgbClr val="3F3F3F"/>
                </a:solidFill>
                <a:latin typeface="Segoe UI"/>
                <a:ea typeface="DejaVu Sans"/>
              </a:rPr>
              <a:t>Interfaces</a:t>
            </a:r>
            <a:endParaRPr lang="en-US" sz="1400" b="0" strike="noStrike" spc="-1">
              <a:latin typeface="Arial"/>
            </a:endParaRPr>
          </a:p>
        </p:txBody>
      </p:sp>
      <p:sp>
        <p:nvSpPr>
          <p:cNvPr id="66" name="CustomShape 63">
            <a:extLst>
              <a:ext uri="{FF2B5EF4-FFF2-40B4-BE49-F238E27FC236}">
                <a16:creationId xmlns:a16="http://schemas.microsoft.com/office/drawing/2014/main" id="{00AB55AD-A44B-4080-B918-8AB397AB5192}"/>
              </a:ext>
            </a:extLst>
          </p:cNvPr>
          <p:cNvSpPr/>
          <p:nvPr/>
        </p:nvSpPr>
        <p:spPr>
          <a:xfrm rot="8100000">
            <a:off x="3936210" y="373327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7" name="CustomShape 64">
            <a:extLst>
              <a:ext uri="{FF2B5EF4-FFF2-40B4-BE49-F238E27FC236}">
                <a16:creationId xmlns:a16="http://schemas.microsoft.com/office/drawing/2014/main" id="{B094B89A-B132-4674-9771-025222F725FA}"/>
              </a:ext>
            </a:extLst>
          </p:cNvPr>
          <p:cNvSpPr/>
          <p:nvPr/>
        </p:nvSpPr>
        <p:spPr>
          <a:xfrm rot="8100000">
            <a:off x="3936210" y="319183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8" name="CustomShape 65">
            <a:extLst>
              <a:ext uri="{FF2B5EF4-FFF2-40B4-BE49-F238E27FC236}">
                <a16:creationId xmlns:a16="http://schemas.microsoft.com/office/drawing/2014/main" id="{9B2C46D0-D807-4D8C-BBE0-B1BAB71D5EC8}"/>
              </a:ext>
            </a:extLst>
          </p:cNvPr>
          <p:cNvSpPr/>
          <p:nvPr/>
        </p:nvSpPr>
        <p:spPr>
          <a:xfrm rot="8100000">
            <a:off x="3936210" y="265219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9" name="CustomShape 66">
            <a:extLst>
              <a:ext uri="{FF2B5EF4-FFF2-40B4-BE49-F238E27FC236}">
                <a16:creationId xmlns:a16="http://schemas.microsoft.com/office/drawing/2014/main" id="{2E50EF7F-5847-4681-A556-FD7FF2286619}"/>
              </a:ext>
            </a:extLst>
          </p:cNvPr>
          <p:cNvSpPr/>
          <p:nvPr/>
        </p:nvSpPr>
        <p:spPr>
          <a:xfrm>
            <a:off x="4341930" y="1316230"/>
            <a:ext cx="1694880" cy="4822200"/>
          </a:xfrm>
          <a:prstGeom prst="rect">
            <a:avLst/>
          </a:prstGeom>
          <a:noFill/>
          <a:ln w="25560">
            <a:solidFill>
              <a:srgbClr val="FF0000"/>
            </a:solidFill>
            <a:miter/>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28637011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Overview</a:t>
            </a:r>
            <a:endParaRPr lang="en-US" dirty="0"/>
          </a:p>
        </p:txBody>
      </p:sp>
      <p:sp>
        <p:nvSpPr>
          <p:cNvPr id="6" name="CustomShape 2">
            <a:extLst>
              <a:ext uri="{FF2B5EF4-FFF2-40B4-BE49-F238E27FC236}">
                <a16:creationId xmlns:a16="http://schemas.microsoft.com/office/drawing/2014/main" id="{0F48B061-8ACF-4033-A0EA-803EA5C7DACD}"/>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1280" indent="-339120">
              <a:lnSpc>
                <a:spcPct val="98000"/>
              </a:lnSpc>
              <a:spcBef>
                <a:spcPts val="601"/>
              </a:spcBef>
            </a:pPr>
            <a:r>
              <a:rPr lang="en-US" sz="2800" b="0" strike="noStrike" spc="-1" dirty="0">
                <a:solidFill>
                  <a:srgbClr val="000000"/>
                </a:solidFill>
                <a:latin typeface="Segoe UI"/>
                <a:ea typeface="細明體"/>
              </a:rPr>
              <a:t>The DXE phase is the phase where most of the system initialization is performed. It is loaded and executed once the PEI phase has initialized system memory in the platform.</a:t>
            </a:r>
            <a:endParaRPr lang="en-US" sz="2800" b="0" strike="noStrike" spc="-1" dirty="0">
              <a:latin typeface="Arial"/>
            </a:endParaRPr>
          </a:p>
          <a:p>
            <a:pPr marL="741240" lvl="1" indent="-281880">
              <a:lnSpc>
                <a:spcPct val="98000"/>
              </a:lnSpc>
              <a:spcBef>
                <a:spcPts val="499"/>
              </a:spcBef>
              <a:buClr>
                <a:srgbClr val="000000"/>
              </a:buClr>
              <a:buFont typeface="Arial"/>
              <a:buChar char="•"/>
            </a:pPr>
            <a:r>
              <a:rPr lang="en-US" sz="2400" b="0" strike="noStrike" spc="-1" dirty="0">
                <a:solidFill>
                  <a:srgbClr val="000000"/>
                </a:solidFill>
                <a:latin typeface="Segoe UI"/>
                <a:ea typeface="細明體"/>
              </a:rPr>
              <a:t>Does all the setup procedures necessary for the OS Loader to boot the OS</a:t>
            </a:r>
            <a:endParaRPr lang="en-US" sz="2400" b="0" strike="noStrike" spc="-1" dirty="0">
              <a:latin typeface="Arial"/>
            </a:endParaRPr>
          </a:p>
          <a:p>
            <a:pPr marL="741240" lvl="1" indent="-281880">
              <a:lnSpc>
                <a:spcPct val="98000"/>
              </a:lnSpc>
              <a:spcBef>
                <a:spcPts val="499"/>
              </a:spcBef>
              <a:buClr>
                <a:srgbClr val="000000"/>
              </a:buClr>
              <a:buFont typeface="Arial"/>
              <a:buChar char="•"/>
            </a:pPr>
            <a:r>
              <a:rPr lang="en-US" sz="2400" b="0" strike="noStrike" spc="-1" dirty="0">
                <a:solidFill>
                  <a:srgbClr val="000000"/>
                </a:solidFill>
                <a:latin typeface="Segoe UI"/>
                <a:ea typeface="細明體"/>
              </a:rPr>
              <a:t>Sets up the EFI System Tables and passes control to the BDS phase for booting the OS</a:t>
            </a:r>
            <a:endParaRPr lang="en-US" sz="2400" b="0" strike="noStrike" spc="-1" dirty="0">
              <a:latin typeface="Arial"/>
            </a:endParaRPr>
          </a:p>
        </p:txBody>
      </p:sp>
      <p:sp>
        <p:nvSpPr>
          <p:cNvPr id="7" name="CustomShape 3">
            <a:extLst>
              <a:ext uri="{FF2B5EF4-FFF2-40B4-BE49-F238E27FC236}">
                <a16:creationId xmlns:a16="http://schemas.microsoft.com/office/drawing/2014/main" id="{DABFB2A7-D17B-4EB6-8FB6-214B4E36DAA1}"/>
              </a:ext>
            </a:extLst>
          </p:cNvPr>
          <p:cNvSpPr/>
          <p:nvPr/>
        </p:nvSpPr>
        <p:spPr>
          <a:xfrm>
            <a:off x="1703280" y="4667110"/>
            <a:ext cx="6890760" cy="137124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noAutofit/>
          </a:bodyPr>
          <a:lstStyle/>
          <a:p>
            <a:pPr>
              <a:lnSpc>
                <a:spcPct val="100000"/>
              </a:lnSpc>
            </a:pPr>
            <a:r>
              <a:rPr lang="en-US" sz="2800" b="1" strike="noStrike" spc="-1" dirty="0">
                <a:solidFill>
                  <a:srgbClr val="FF6600"/>
                </a:solidFill>
                <a:latin typeface="Arial"/>
                <a:ea typeface="新細明體"/>
              </a:rPr>
              <a:t>Essence of DXE:</a:t>
            </a:r>
            <a:r>
              <a:rPr lang="en-US" sz="2800" b="0" strike="noStrike" spc="-1" dirty="0">
                <a:solidFill>
                  <a:srgbClr val="333399"/>
                </a:solidFill>
                <a:latin typeface="Arial"/>
                <a:ea typeface="新細明體"/>
              </a:rPr>
              <a:t> </a:t>
            </a:r>
            <a:endParaRPr lang="en-US" sz="2800" b="0" strike="noStrike" spc="-1" dirty="0">
              <a:latin typeface="Arial"/>
            </a:endParaRPr>
          </a:p>
          <a:p>
            <a:pPr>
              <a:lnSpc>
                <a:spcPct val="100000"/>
              </a:lnSpc>
            </a:pPr>
            <a:r>
              <a:rPr lang="en-US" sz="2800" b="1" strike="noStrike" spc="-1" dirty="0">
                <a:solidFill>
                  <a:srgbClr val="333399"/>
                </a:solidFill>
                <a:latin typeface="Times New Roman"/>
                <a:ea typeface="新細明體"/>
              </a:rPr>
              <a:t>The DXE dispatcher dispatches DXE drivers in the right order.</a:t>
            </a:r>
            <a:endParaRPr lang="en-US" sz="2800" b="0" strike="noStrike" spc="-1" dirty="0">
              <a:latin typeface="Arial"/>
            </a:endParaRPr>
          </a:p>
        </p:txBody>
      </p:sp>
    </p:spTree>
    <p:extLst>
      <p:ext uri="{BB962C8B-B14F-4D97-AF65-F5344CB8AC3E}">
        <p14:creationId xmlns:p14="http://schemas.microsoft.com/office/powerpoint/2010/main" val="11385800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DXE Components</a:t>
            </a:r>
            <a:endParaRPr lang="en-US" dirty="0"/>
          </a:p>
        </p:txBody>
      </p:sp>
      <p:sp>
        <p:nvSpPr>
          <p:cNvPr id="6" name="CustomShape 2">
            <a:extLst>
              <a:ext uri="{FF2B5EF4-FFF2-40B4-BE49-F238E27FC236}">
                <a16:creationId xmlns:a16="http://schemas.microsoft.com/office/drawing/2014/main" id="{0F48B061-8ACF-4033-A0EA-803EA5C7DACD}"/>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DXE Foundation</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DXE Dispatcher</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DXE Drivers</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DXE Architectural Protocols</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UEFI System Table</a:t>
            </a:r>
            <a:endParaRPr lang="en-US" sz="2800" b="0" strike="noStrike" spc="-1" dirty="0">
              <a:latin typeface="Arial"/>
            </a:endParaRPr>
          </a:p>
        </p:txBody>
      </p:sp>
    </p:spTree>
    <p:extLst>
      <p:ext uri="{BB962C8B-B14F-4D97-AF65-F5344CB8AC3E}">
        <p14:creationId xmlns:p14="http://schemas.microsoft.com/office/powerpoint/2010/main" val="27376976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DXE Components</a:t>
            </a:r>
            <a:endParaRPr lang="en-US" dirty="0"/>
          </a:p>
        </p:txBody>
      </p:sp>
      <p:sp>
        <p:nvSpPr>
          <p:cNvPr id="6" name="CustomShape 2">
            <a:extLst>
              <a:ext uri="{FF2B5EF4-FFF2-40B4-BE49-F238E27FC236}">
                <a16:creationId xmlns:a16="http://schemas.microsoft.com/office/drawing/2014/main" id="{0F48B061-8ACF-4033-A0EA-803EA5C7DACD}"/>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DXE Foundation</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The DXE Foundation consumes a HOB list and the services of the DXE Architectural Protocols to produce the full complement of UEFI Boot Services, UEFI Runtime Services, and DXE Services. </a:t>
            </a:r>
            <a:endParaRPr lang="en-US" sz="2400" b="0" strike="noStrike" spc="-1" dirty="0">
              <a:latin typeface="Arial"/>
            </a:endParaRPr>
          </a:p>
        </p:txBody>
      </p:sp>
    </p:spTree>
    <p:extLst>
      <p:ext uri="{BB962C8B-B14F-4D97-AF65-F5344CB8AC3E}">
        <p14:creationId xmlns:p14="http://schemas.microsoft.com/office/powerpoint/2010/main" val="10671918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Driver Execution Environment</a:t>
            </a:r>
            <a:br>
              <a:rPr lang="en-US" dirty="0"/>
            </a:br>
            <a:r>
              <a:rPr lang="en-US" dirty="0"/>
              <a:t>PEI-to-DXE Entry</a:t>
            </a:r>
          </a:p>
        </p:txBody>
      </p:sp>
      <p:pic>
        <p:nvPicPr>
          <p:cNvPr id="4" name="Picture 2">
            <a:extLst>
              <a:ext uri="{FF2B5EF4-FFF2-40B4-BE49-F238E27FC236}">
                <a16:creationId xmlns:a16="http://schemas.microsoft.com/office/drawing/2014/main" id="{F115CFE9-54E8-44BF-B322-B21301D516D2}"/>
              </a:ext>
            </a:extLst>
          </p:cNvPr>
          <p:cNvPicPr/>
          <p:nvPr/>
        </p:nvPicPr>
        <p:blipFill>
          <a:blip r:embed="rId2"/>
          <a:stretch/>
        </p:blipFill>
        <p:spPr>
          <a:xfrm>
            <a:off x="1188930" y="3429000"/>
            <a:ext cx="6932160" cy="2131560"/>
          </a:xfrm>
          <a:prstGeom prst="rect">
            <a:avLst/>
          </a:prstGeom>
          <a:ln w="9360">
            <a:noFill/>
          </a:ln>
        </p:spPr>
      </p:pic>
      <p:grpSp>
        <p:nvGrpSpPr>
          <p:cNvPr id="5" name="Group 2">
            <a:extLst>
              <a:ext uri="{FF2B5EF4-FFF2-40B4-BE49-F238E27FC236}">
                <a16:creationId xmlns:a16="http://schemas.microsoft.com/office/drawing/2014/main" id="{5704E43D-F975-49F8-8969-ADAE421F1A6F}"/>
              </a:ext>
            </a:extLst>
          </p:cNvPr>
          <p:cNvGrpSpPr/>
          <p:nvPr/>
        </p:nvGrpSpPr>
        <p:grpSpPr>
          <a:xfrm>
            <a:off x="1951050" y="1684080"/>
            <a:ext cx="1294920" cy="1437840"/>
            <a:chOff x="1855800" y="1927080"/>
            <a:chExt cx="1294920" cy="1437840"/>
          </a:xfrm>
        </p:grpSpPr>
        <p:grpSp>
          <p:nvGrpSpPr>
            <p:cNvPr id="7" name="Group 3">
              <a:extLst>
                <a:ext uri="{FF2B5EF4-FFF2-40B4-BE49-F238E27FC236}">
                  <a16:creationId xmlns:a16="http://schemas.microsoft.com/office/drawing/2014/main" id="{0CFF0E3B-FB5D-4DF7-9CCB-98AA23DCDDBD}"/>
                </a:ext>
              </a:extLst>
            </p:cNvPr>
            <p:cNvGrpSpPr/>
            <p:nvPr/>
          </p:nvGrpSpPr>
          <p:grpSpPr>
            <a:xfrm>
              <a:off x="1855800" y="1927080"/>
              <a:ext cx="1294920" cy="1437840"/>
              <a:chOff x="1855800" y="1927080"/>
              <a:chExt cx="1294920" cy="1437840"/>
            </a:xfrm>
          </p:grpSpPr>
          <p:sp>
            <p:nvSpPr>
              <p:cNvPr id="9" name="CustomShape 4">
                <a:extLst>
                  <a:ext uri="{FF2B5EF4-FFF2-40B4-BE49-F238E27FC236}">
                    <a16:creationId xmlns:a16="http://schemas.microsoft.com/office/drawing/2014/main" id="{D8AA0D94-4AAB-4804-BCDB-D6B76213416A}"/>
                  </a:ext>
                </a:extLst>
              </p:cNvPr>
              <p:cNvSpPr/>
              <p:nvPr/>
            </p:nvSpPr>
            <p:spPr>
              <a:xfrm>
                <a:off x="1855800" y="192708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10" name="CustomShape 5">
                <a:extLst>
                  <a:ext uri="{FF2B5EF4-FFF2-40B4-BE49-F238E27FC236}">
                    <a16:creationId xmlns:a16="http://schemas.microsoft.com/office/drawing/2014/main" id="{D96E9617-7156-45DB-B19D-E2C2729D90BE}"/>
                  </a:ext>
                </a:extLst>
              </p:cNvPr>
              <p:cNvSpPr/>
              <p:nvPr/>
            </p:nvSpPr>
            <p:spPr>
              <a:xfrm>
                <a:off x="1928880" y="2935440"/>
                <a:ext cx="1077480" cy="286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Segoe UI"/>
                    <a:ea typeface="DejaVu Sans"/>
                  </a:rPr>
                  <a:t>PEIM</a:t>
                </a:r>
                <a:endParaRPr lang="en-US" sz="1800" b="0" strike="noStrike" spc="-1">
                  <a:latin typeface="Arial"/>
                </a:endParaRPr>
              </a:p>
            </p:txBody>
          </p:sp>
          <p:sp>
            <p:nvSpPr>
              <p:cNvPr id="11" name="CustomShape 6">
                <a:extLst>
                  <a:ext uri="{FF2B5EF4-FFF2-40B4-BE49-F238E27FC236}">
                    <a16:creationId xmlns:a16="http://schemas.microsoft.com/office/drawing/2014/main" id="{83217C17-2DA7-4E4D-8C01-1AE1E2D2FA55}"/>
                  </a:ext>
                </a:extLst>
              </p:cNvPr>
              <p:cNvSpPr/>
              <p:nvPr/>
            </p:nvSpPr>
            <p:spPr>
              <a:xfrm>
                <a:off x="2030400" y="1998720"/>
                <a:ext cx="967680" cy="358200"/>
              </a:xfrm>
              <a:prstGeom prst="rect">
                <a:avLst/>
              </a:prstGeom>
              <a:solidFill>
                <a:srgbClr val="FFFFF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Segoe UI"/>
                    <a:ea typeface="DejaVu Sans"/>
                  </a:rPr>
                  <a:t>Entry</a:t>
                </a:r>
                <a:endParaRPr lang="en-US" sz="1800" b="0" strike="noStrike" spc="-1">
                  <a:latin typeface="Arial"/>
                </a:endParaRPr>
              </a:p>
            </p:txBody>
          </p:sp>
        </p:grpSp>
        <p:sp>
          <p:nvSpPr>
            <p:cNvPr id="8" name="CustomShape 7">
              <a:extLst>
                <a:ext uri="{FF2B5EF4-FFF2-40B4-BE49-F238E27FC236}">
                  <a16:creationId xmlns:a16="http://schemas.microsoft.com/office/drawing/2014/main" id="{55FC69E5-E2E2-4BE7-9C0C-D9D326A179CD}"/>
                </a:ext>
              </a:extLst>
            </p:cNvPr>
            <p:cNvSpPr/>
            <p:nvPr/>
          </p:nvSpPr>
          <p:spPr>
            <a:xfrm>
              <a:off x="2038320" y="2432160"/>
              <a:ext cx="967680" cy="358200"/>
            </a:xfrm>
            <a:prstGeom prst="rect">
              <a:avLst/>
            </a:prstGeom>
            <a:solidFill>
              <a:srgbClr val="66FF33"/>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Segoe UI"/>
                  <a:ea typeface="DejaVu Sans"/>
                </a:rPr>
                <a:t>DXE IPL</a:t>
              </a:r>
              <a:endParaRPr lang="en-US" sz="1800" b="0" strike="noStrike" spc="-1">
                <a:latin typeface="Arial"/>
              </a:endParaRPr>
            </a:p>
          </p:txBody>
        </p:sp>
      </p:grpSp>
      <p:grpSp>
        <p:nvGrpSpPr>
          <p:cNvPr id="12" name="Group 8">
            <a:extLst>
              <a:ext uri="{FF2B5EF4-FFF2-40B4-BE49-F238E27FC236}">
                <a16:creationId xmlns:a16="http://schemas.microsoft.com/office/drawing/2014/main" id="{2D0895E8-E3A7-414B-9795-D2BD5918C664}"/>
              </a:ext>
            </a:extLst>
          </p:cNvPr>
          <p:cNvGrpSpPr/>
          <p:nvPr/>
        </p:nvGrpSpPr>
        <p:grpSpPr>
          <a:xfrm>
            <a:off x="4084770" y="1676160"/>
            <a:ext cx="1294920" cy="1437840"/>
            <a:chOff x="3989520" y="1919160"/>
            <a:chExt cx="1294920" cy="1437840"/>
          </a:xfrm>
        </p:grpSpPr>
        <p:sp>
          <p:nvSpPr>
            <p:cNvPr id="13" name="CustomShape 9">
              <a:extLst>
                <a:ext uri="{FF2B5EF4-FFF2-40B4-BE49-F238E27FC236}">
                  <a16:creationId xmlns:a16="http://schemas.microsoft.com/office/drawing/2014/main" id="{25B43F88-82C2-43E7-A6B5-DE1482823E90}"/>
                </a:ext>
              </a:extLst>
            </p:cNvPr>
            <p:cNvSpPr/>
            <p:nvPr/>
          </p:nvSpPr>
          <p:spPr>
            <a:xfrm>
              <a:off x="3989520" y="1919160"/>
              <a:ext cx="1294920" cy="143784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14" name="CustomShape 10">
              <a:extLst>
                <a:ext uri="{FF2B5EF4-FFF2-40B4-BE49-F238E27FC236}">
                  <a16:creationId xmlns:a16="http://schemas.microsoft.com/office/drawing/2014/main" id="{665B815C-396F-4AC1-82D1-AB7549ED9B8E}"/>
                </a:ext>
              </a:extLst>
            </p:cNvPr>
            <p:cNvSpPr/>
            <p:nvPr/>
          </p:nvSpPr>
          <p:spPr>
            <a:xfrm>
              <a:off x="4065480" y="2224080"/>
              <a:ext cx="1153440" cy="759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Segoe UI"/>
                  <a:ea typeface="DejaVu Sans"/>
                </a:rPr>
                <a:t>DXE</a:t>
              </a:r>
              <a:endParaRPr lang="en-US" sz="1800" b="0" strike="noStrike" spc="-1">
                <a:latin typeface="Arial"/>
              </a:endParaRPr>
            </a:p>
            <a:p>
              <a:pPr algn="ctr">
                <a:lnSpc>
                  <a:spcPct val="100000"/>
                </a:lnSpc>
              </a:pPr>
              <a:r>
                <a:rPr lang="en-US" sz="1800" b="1" strike="noStrike" spc="-1">
                  <a:solidFill>
                    <a:srgbClr val="FFFFFF"/>
                  </a:solidFill>
                  <a:latin typeface="Segoe UI"/>
                  <a:ea typeface="DejaVu Sans"/>
                </a:rPr>
                <a:t>Core</a:t>
              </a:r>
              <a:endParaRPr lang="en-US" sz="1800" b="0" strike="noStrike" spc="-1">
                <a:latin typeface="Arial"/>
              </a:endParaRPr>
            </a:p>
          </p:txBody>
        </p:sp>
      </p:grpSp>
      <p:sp>
        <p:nvSpPr>
          <p:cNvPr id="15" name="CustomShape 11">
            <a:extLst>
              <a:ext uri="{FF2B5EF4-FFF2-40B4-BE49-F238E27FC236}">
                <a16:creationId xmlns:a16="http://schemas.microsoft.com/office/drawing/2014/main" id="{A2CF8BA5-D8EB-47C7-B2F3-85451A66EA2E}"/>
              </a:ext>
            </a:extLst>
          </p:cNvPr>
          <p:cNvSpPr/>
          <p:nvPr/>
        </p:nvSpPr>
        <p:spPr>
          <a:xfrm>
            <a:off x="3170370" y="2209680"/>
            <a:ext cx="988560" cy="378720"/>
          </a:xfrm>
          <a:prstGeom prst="rightArrow">
            <a:avLst>
              <a:gd name="adj1" fmla="val 50000"/>
              <a:gd name="adj2" fmla="val 65000"/>
            </a:avLst>
          </a:prstGeom>
          <a:solidFill>
            <a:srgbClr val="FFFF00"/>
          </a:solidFill>
          <a:ln w="9360">
            <a:solidFill>
              <a:srgbClr val="000000"/>
            </a:solidFill>
            <a:miter/>
          </a:ln>
        </p:spPr>
        <p:style>
          <a:lnRef idx="0">
            <a:scrgbClr r="0" g="0" b="0"/>
          </a:lnRef>
          <a:fillRef idx="0">
            <a:scrgbClr r="0" g="0" b="0"/>
          </a:fillRef>
          <a:effectRef idx="0">
            <a:scrgbClr r="0" g="0" b="0"/>
          </a:effectRef>
          <a:fontRef idx="minor"/>
        </p:style>
      </p:sp>
      <p:sp>
        <p:nvSpPr>
          <p:cNvPr id="16" name="Line 12">
            <a:extLst>
              <a:ext uri="{FF2B5EF4-FFF2-40B4-BE49-F238E27FC236}">
                <a16:creationId xmlns:a16="http://schemas.microsoft.com/office/drawing/2014/main" id="{9A9C68DD-6B65-441F-BECE-2F01EDC892C1}"/>
              </a:ext>
            </a:extLst>
          </p:cNvPr>
          <p:cNvSpPr/>
          <p:nvPr/>
        </p:nvSpPr>
        <p:spPr>
          <a:xfrm flipH="1" flipV="1">
            <a:off x="5225970" y="2970000"/>
            <a:ext cx="612720" cy="76500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2260894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DXE Components</a:t>
            </a:r>
            <a:endParaRPr lang="en-US" dirty="0"/>
          </a:p>
        </p:txBody>
      </p:sp>
      <p:sp>
        <p:nvSpPr>
          <p:cNvPr id="17" name="CustomShape 2">
            <a:extLst>
              <a:ext uri="{FF2B5EF4-FFF2-40B4-BE49-F238E27FC236}">
                <a16:creationId xmlns:a16="http://schemas.microsoft.com/office/drawing/2014/main" id="{0024B2A2-DF4A-4D12-B66E-175C08B34634}"/>
              </a:ext>
            </a:extLst>
          </p:cNvPr>
          <p:cNvSpPr/>
          <p:nvPr/>
        </p:nvSpPr>
        <p:spPr>
          <a:xfrm>
            <a:off x="838200" y="131801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DXE Dispatcher</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The DXE Dispatcher is one component of the DXE Foundation.</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This component is required to discover DXE drivers stored in firmware volumes and execute them in the proper order.</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The proper order is determine by a combination of an a </a:t>
            </a:r>
            <a:r>
              <a:rPr lang="en-US" sz="2400" b="1" strike="noStrike" spc="-1" dirty="0">
                <a:solidFill>
                  <a:srgbClr val="3F3F3F"/>
                </a:solidFill>
                <a:latin typeface="Segoe UI"/>
                <a:ea typeface="DejaVu Sans"/>
              </a:rPr>
              <a:t>priori</a:t>
            </a:r>
            <a:r>
              <a:rPr lang="en-US" sz="2400" b="0" strike="noStrike" spc="-1" dirty="0">
                <a:solidFill>
                  <a:srgbClr val="3F3F3F"/>
                </a:solidFill>
                <a:latin typeface="Segoe UI"/>
                <a:ea typeface="DejaVu Sans"/>
              </a:rPr>
              <a:t> file that is </a:t>
            </a:r>
            <a:r>
              <a:rPr lang="en-US" sz="2400" b="1" strike="noStrike" spc="-1" dirty="0">
                <a:solidFill>
                  <a:srgbClr val="3F3F3F"/>
                </a:solidFill>
                <a:latin typeface="Segoe UI"/>
                <a:ea typeface="DejaVu Sans"/>
              </a:rPr>
              <a:t>optionally</a:t>
            </a:r>
            <a:r>
              <a:rPr lang="en-US" sz="2400" b="0" strike="noStrike" spc="-1" dirty="0">
                <a:solidFill>
                  <a:srgbClr val="3F3F3F"/>
                </a:solidFill>
                <a:latin typeface="Segoe UI"/>
                <a:ea typeface="DejaVu Sans"/>
              </a:rPr>
              <a:t> stored in the firmware volume and the </a:t>
            </a:r>
            <a:r>
              <a:rPr lang="en-US" sz="2400" b="1" strike="noStrike" spc="-1" dirty="0">
                <a:solidFill>
                  <a:srgbClr val="3F3F3F"/>
                </a:solidFill>
                <a:latin typeface="Segoe UI"/>
                <a:ea typeface="DejaVu Sans"/>
              </a:rPr>
              <a:t>dependency</a:t>
            </a:r>
            <a:r>
              <a:rPr lang="en-US" sz="2400" b="0" strike="noStrike" spc="-1" dirty="0">
                <a:solidFill>
                  <a:srgbClr val="3F3F3F"/>
                </a:solidFill>
                <a:latin typeface="Segoe UI"/>
                <a:ea typeface="DejaVu Sans"/>
              </a:rPr>
              <a:t> expressions that are part of the DXE drivers.</a:t>
            </a:r>
            <a:endParaRPr lang="en-US" sz="2400" b="0" strike="noStrike" spc="-1" dirty="0">
              <a:latin typeface="Arial"/>
            </a:endParaRPr>
          </a:p>
        </p:txBody>
      </p:sp>
    </p:spTree>
    <p:extLst>
      <p:ext uri="{BB962C8B-B14F-4D97-AF65-F5344CB8AC3E}">
        <p14:creationId xmlns:p14="http://schemas.microsoft.com/office/powerpoint/2010/main" val="35691122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Dispatching DXE Drivers</a:t>
            </a:r>
            <a:endParaRPr lang="en-US" dirty="0"/>
          </a:p>
        </p:txBody>
      </p:sp>
      <p:grpSp>
        <p:nvGrpSpPr>
          <p:cNvPr id="18" name="Group 2">
            <a:extLst>
              <a:ext uri="{FF2B5EF4-FFF2-40B4-BE49-F238E27FC236}">
                <a16:creationId xmlns:a16="http://schemas.microsoft.com/office/drawing/2014/main" id="{653CEF79-39AD-4088-9DE6-6E90E08B1694}"/>
              </a:ext>
            </a:extLst>
          </p:cNvPr>
          <p:cNvGrpSpPr/>
          <p:nvPr/>
        </p:nvGrpSpPr>
        <p:grpSpPr>
          <a:xfrm>
            <a:off x="4405230" y="1682910"/>
            <a:ext cx="2156760" cy="1580400"/>
            <a:chOff x="3205080" y="1625760"/>
            <a:chExt cx="2156760" cy="1580400"/>
          </a:xfrm>
        </p:grpSpPr>
        <p:sp>
          <p:nvSpPr>
            <p:cNvPr id="19" name="CustomShape 3">
              <a:extLst>
                <a:ext uri="{FF2B5EF4-FFF2-40B4-BE49-F238E27FC236}">
                  <a16:creationId xmlns:a16="http://schemas.microsoft.com/office/drawing/2014/main" id="{C2398372-C228-4940-85FA-775E16CD72C3}"/>
                </a:ext>
              </a:extLst>
            </p:cNvPr>
            <p:cNvSpPr/>
            <p:nvPr/>
          </p:nvSpPr>
          <p:spPr>
            <a:xfrm>
              <a:off x="3205080" y="1625760"/>
              <a:ext cx="2156760" cy="158040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20" name="CustomShape 4">
              <a:extLst>
                <a:ext uri="{FF2B5EF4-FFF2-40B4-BE49-F238E27FC236}">
                  <a16:creationId xmlns:a16="http://schemas.microsoft.com/office/drawing/2014/main" id="{89E57A88-019A-4309-98AE-6F1010D0C7E0}"/>
                </a:ext>
              </a:extLst>
            </p:cNvPr>
            <p:cNvSpPr/>
            <p:nvPr/>
          </p:nvSpPr>
          <p:spPr>
            <a:xfrm>
              <a:off x="3265560" y="1679400"/>
              <a:ext cx="1536120" cy="31860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FFFFFF"/>
                  </a:solidFill>
                  <a:latin typeface="Segoe UI"/>
                  <a:ea typeface="DejaVu Sans"/>
                </a:rPr>
                <a:t>       DXE Core</a:t>
              </a:r>
              <a:endParaRPr lang="en-US" sz="1800" b="0" strike="noStrike" spc="-1">
                <a:latin typeface="Arial"/>
              </a:endParaRPr>
            </a:p>
          </p:txBody>
        </p:sp>
        <p:sp>
          <p:nvSpPr>
            <p:cNvPr id="21" name="CustomShape 5">
              <a:extLst>
                <a:ext uri="{FF2B5EF4-FFF2-40B4-BE49-F238E27FC236}">
                  <a16:creationId xmlns:a16="http://schemas.microsoft.com/office/drawing/2014/main" id="{2076C298-4162-48E2-B97B-4D13B6813CB6}"/>
                </a:ext>
              </a:extLst>
            </p:cNvPr>
            <p:cNvSpPr/>
            <p:nvPr/>
          </p:nvSpPr>
          <p:spPr>
            <a:xfrm>
              <a:off x="3390840" y="2116080"/>
              <a:ext cx="1725120" cy="870840"/>
            </a:xfrm>
            <a:prstGeom prst="rect">
              <a:avLst/>
            </a:prstGeom>
            <a:solidFill>
              <a:srgbClr val="FFCC00"/>
            </a:solidFill>
            <a:ln w="9360">
              <a:solidFill>
                <a:srgbClr val="FFCC99"/>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Segoe UI"/>
                  <a:ea typeface="DejaVu Sans"/>
                </a:rPr>
                <a:t>DXE</a:t>
              </a:r>
              <a:endParaRPr lang="en-US" sz="1800" b="0" strike="noStrike" spc="-1">
                <a:latin typeface="Arial"/>
              </a:endParaRPr>
            </a:p>
            <a:p>
              <a:pPr algn="ctr">
                <a:lnSpc>
                  <a:spcPct val="100000"/>
                </a:lnSpc>
              </a:pPr>
              <a:r>
                <a:rPr lang="en-US" sz="1800" b="1" strike="noStrike" spc="-1">
                  <a:solidFill>
                    <a:srgbClr val="000000"/>
                  </a:solidFill>
                  <a:latin typeface="Segoe UI"/>
                  <a:ea typeface="DejaVu Sans"/>
                </a:rPr>
                <a:t>Dispatcher</a:t>
              </a:r>
              <a:endParaRPr lang="en-US" sz="1800" b="0" strike="noStrike" spc="-1">
                <a:latin typeface="Arial"/>
              </a:endParaRPr>
            </a:p>
          </p:txBody>
        </p:sp>
      </p:grpSp>
      <p:grpSp>
        <p:nvGrpSpPr>
          <p:cNvPr id="22" name="Group 6">
            <a:extLst>
              <a:ext uri="{FF2B5EF4-FFF2-40B4-BE49-F238E27FC236}">
                <a16:creationId xmlns:a16="http://schemas.microsoft.com/office/drawing/2014/main" id="{C6FE0DBE-80A0-4777-9E1E-B93B670FA915}"/>
              </a:ext>
            </a:extLst>
          </p:cNvPr>
          <p:cNvGrpSpPr/>
          <p:nvPr/>
        </p:nvGrpSpPr>
        <p:grpSpPr>
          <a:xfrm>
            <a:off x="1595430" y="4562550"/>
            <a:ext cx="1078920" cy="1015560"/>
            <a:chOff x="395280" y="4505400"/>
            <a:chExt cx="1078920" cy="1015560"/>
          </a:xfrm>
        </p:grpSpPr>
        <p:sp>
          <p:nvSpPr>
            <p:cNvPr id="23" name="CustomShape 7">
              <a:extLst>
                <a:ext uri="{FF2B5EF4-FFF2-40B4-BE49-F238E27FC236}">
                  <a16:creationId xmlns:a16="http://schemas.microsoft.com/office/drawing/2014/main" id="{D7B84E62-9F02-4204-8341-ACAF0D213B76}"/>
                </a:ext>
              </a:extLst>
            </p:cNvPr>
            <p:cNvSpPr/>
            <p:nvPr/>
          </p:nvSpPr>
          <p:spPr>
            <a:xfrm>
              <a:off x="395280" y="4505400"/>
              <a:ext cx="1066320" cy="101556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24" name="CustomShape 8">
              <a:extLst>
                <a:ext uri="{FF2B5EF4-FFF2-40B4-BE49-F238E27FC236}">
                  <a16:creationId xmlns:a16="http://schemas.microsoft.com/office/drawing/2014/main" id="{6341FDAC-895B-4D3B-A2F3-D476C9C601EC}"/>
                </a:ext>
              </a:extLst>
            </p:cNvPr>
            <p:cNvSpPr/>
            <p:nvPr/>
          </p:nvSpPr>
          <p:spPr>
            <a:xfrm>
              <a:off x="395280" y="4505400"/>
              <a:ext cx="1078920" cy="10058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pPr>
              <a:r>
                <a:rPr lang="en-US" sz="2000" b="1" strike="noStrike" spc="-1">
                  <a:solidFill>
                    <a:srgbClr val="FFFFFF"/>
                  </a:solidFill>
                  <a:latin typeface="Segoe UI"/>
                  <a:ea typeface="DejaVu Sans"/>
                </a:rPr>
                <a:t>a priori file</a:t>
              </a:r>
              <a:endParaRPr lang="en-US" sz="2000" b="0" strike="noStrike" spc="-1">
                <a:latin typeface="Arial"/>
              </a:endParaRPr>
            </a:p>
            <a:p>
              <a:pPr algn="ctr">
                <a:lnSpc>
                  <a:spcPct val="100000"/>
                </a:lnSpc>
              </a:pPr>
              <a:r>
                <a:rPr lang="en-US" sz="2000" b="1" strike="noStrike" spc="-1">
                  <a:solidFill>
                    <a:srgbClr val="FFFFFF"/>
                  </a:solidFill>
                  <a:latin typeface="Segoe UI"/>
                  <a:ea typeface="DejaVu Sans"/>
                </a:rPr>
                <a:t>A, B</a:t>
              </a:r>
              <a:endParaRPr lang="en-US" sz="2000" b="0" strike="noStrike" spc="-1">
                <a:latin typeface="Arial"/>
              </a:endParaRPr>
            </a:p>
          </p:txBody>
        </p:sp>
      </p:grpSp>
      <p:grpSp>
        <p:nvGrpSpPr>
          <p:cNvPr id="25" name="Group 9">
            <a:extLst>
              <a:ext uri="{FF2B5EF4-FFF2-40B4-BE49-F238E27FC236}">
                <a16:creationId xmlns:a16="http://schemas.microsoft.com/office/drawing/2014/main" id="{B89272C9-E45F-4E38-ABDC-03384D00281C}"/>
              </a:ext>
            </a:extLst>
          </p:cNvPr>
          <p:cNvGrpSpPr/>
          <p:nvPr/>
        </p:nvGrpSpPr>
        <p:grpSpPr>
          <a:xfrm>
            <a:off x="2963790" y="4562550"/>
            <a:ext cx="1078920" cy="1015560"/>
            <a:chOff x="1763640" y="4505400"/>
            <a:chExt cx="1078920" cy="1015560"/>
          </a:xfrm>
        </p:grpSpPr>
        <p:sp>
          <p:nvSpPr>
            <p:cNvPr id="26" name="CustomShape 10">
              <a:extLst>
                <a:ext uri="{FF2B5EF4-FFF2-40B4-BE49-F238E27FC236}">
                  <a16:creationId xmlns:a16="http://schemas.microsoft.com/office/drawing/2014/main" id="{1AF64FB5-DCC6-4102-B49F-48E80328AED2}"/>
                </a:ext>
              </a:extLst>
            </p:cNvPr>
            <p:cNvSpPr/>
            <p:nvPr/>
          </p:nvSpPr>
          <p:spPr>
            <a:xfrm>
              <a:off x="1763640" y="4505400"/>
              <a:ext cx="1066320" cy="101556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27" name="CustomShape 11">
              <a:extLst>
                <a:ext uri="{FF2B5EF4-FFF2-40B4-BE49-F238E27FC236}">
                  <a16:creationId xmlns:a16="http://schemas.microsoft.com/office/drawing/2014/main" id="{9180D33C-3826-4386-815F-BF9D534CF7F1}"/>
                </a:ext>
              </a:extLst>
            </p:cNvPr>
            <p:cNvSpPr/>
            <p:nvPr/>
          </p:nvSpPr>
          <p:spPr>
            <a:xfrm>
              <a:off x="1763640" y="4505400"/>
              <a:ext cx="1078920" cy="10058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pPr>
              <a:r>
                <a:rPr lang="en-US" sz="2000" b="1" strike="noStrike" spc="-1">
                  <a:solidFill>
                    <a:srgbClr val="FFFFFF"/>
                  </a:solidFill>
                  <a:latin typeface="Segoe UI"/>
                  <a:ea typeface="DejaVu Sans"/>
                </a:rPr>
                <a:t>Driver</a:t>
              </a:r>
              <a:endParaRPr lang="en-US" sz="2000" b="0" strike="noStrike" spc="-1">
                <a:latin typeface="Arial"/>
              </a:endParaRPr>
            </a:p>
            <a:p>
              <a:pPr algn="ctr">
                <a:lnSpc>
                  <a:spcPct val="100000"/>
                </a:lnSpc>
              </a:pPr>
              <a:r>
                <a:rPr lang="en-US" sz="2000" b="1" strike="noStrike" spc="-1">
                  <a:solidFill>
                    <a:srgbClr val="FFFFFF"/>
                  </a:solidFill>
                  <a:latin typeface="Segoe UI"/>
                  <a:ea typeface="DejaVu Sans"/>
                </a:rPr>
                <a:t>A</a:t>
              </a:r>
              <a:endParaRPr lang="en-US" sz="2000" b="0" strike="noStrike" spc="-1">
                <a:latin typeface="Arial"/>
              </a:endParaRPr>
            </a:p>
            <a:p>
              <a:pPr algn="ctr">
                <a:lnSpc>
                  <a:spcPct val="100000"/>
                </a:lnSpc>
              </a:pPr>
              <a:endParaRPr lang="en-US" sz="2000" b="0" strike="noStrike" spc="-1">
                <a:latin typeface="Arial"/>
              </a:endParaRPr>
            </a:p>
          </p:txBody>
        </p:sp>
      </p:grpSp>
      <p:grpSp>
        <p:nvGrpSpPr>
          <p:cNvPr id="28" name="Group 12">
            <a:extLst>
              <a:ext uri="{FF2B5EF4-FFF2-40B4-BE49-F238E27FC236}">
                <a16:creationId xmlns:a16="http://schemas.microsoft.com/office/drawing/2014/main" id="{DF166244-649E-430E-97D0-4D85EF4BE923}"/>
              </a:ext>
            </a:extLst>
          </p:cNvPr>
          <p:cNvGrpSpPr/>
          <p:nvPr/>
        </p:nvGrpSpPr>
        <p:grpSpPr>
          <a:xfrm>
            <a:off x="4332150" y="4562550"/>
            <a:ext cx="1078920" cy="1015560"/>
            <a:chOff x="3132000" y="4505400"/>
            <a:chExt cx="1078920" cy="1015560"/>
          </a:xfrm>
        </p:grpSpPr>
        <p:sp>
          <p:nvSpPr>
            <p:cNvPr id="29" name="CustomShape 13">
              <a:extLst>
                <a:ext uri="{FF2B5EF4-FFF2-40B4-BE49-F238E27FC236}">
                  <a16:creationId xmlns:a16="http://schemas.microsoft.com/office/drawing/2014/main" id="{4291D4B1-4F04-4029-8DA1-557ADECAEF3F}"/>
                </a:ext>
              </a:extLst>
            </p:cNvPr>
            <p:cNvSpPr/>
            <p:nvPr/>
          </p:nvSpPr>
          <p:spPr>
            <a:xfrm>
              <a:off x="3132000" y="4505400"/>
              <a:ext cx="1066320" cy="101556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30" name="CustomShape 14">
              <a:extLst>
                <a:ext uri="{FF2B5EF4-FFF2-40B4-BE49-F238E27FC236}">
                  <a16:creationId xmlns:a16="http://schemas.microsoft.com/office/drawing/2014/main" id="{6F7EA877-08DD-4849-A744-49FFD26E2097}"/>
                </a:ext>
              </a:extLst>
            </p:cNvPr>
            <p:cNvSpPr/>
            <p:nvPr/>
          </p:nvSpPr>
          <p:spPr>
            <a:xfrm>
              <a:off x="3132000" y="4505400"/>
              <a:ext cx="1078920" cy="10058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pPr>
              <a:r>
                <a:rPr lang="en-US" sz="2000" b="1" strike="noStrike" spc="-1">
                  <a:solidFill>
                    <a:srgbClr val="FFFFFF"/>
                  </a:solidFill>
                  <a:latin typeface="Segoe UI"/>
                  <a:ea typeface="DejaVu Sans"/>
                </a:rPr>
                <a:t>Driver</a:t>
              </a:r>
              <a:endParaRPr lang="en-US" sz="2000" b="0" strike="noStrike" spc="-1">
                <a:latin typeface="Arial"/>
              </a:endParaRPr>
            </a:p>
            <a:p>
              <a:pPr algn="ctr">
                <a:lnSpc>
                  <a:spcPct val="100000"/>
                </a:lnSpc>
              </a:pPr>
              <a:r>
                <a:rPr lang="en-US" sz="2000" b="1" strike="noStrike" spc="-1">
                  <a:solidFill>
                    <a:srgbClr val="FFFFFF"/>
                  </a:solidFill>
                  <a:latin typeface="Segoe UI"/>
                  <a:ea typeface="DejaVu Sans"/>
                </a:rPr>
                <a:t>B</a:t>
              </a:r>
              <a:endParaRPr lang="en-US" sz="2000" b="0" strike="noStrike" spc="-1">
                <a:latin typeface="Arial"/>
              </a:endParaRPr>
            </a:p>
            <a:p>
              <a:pPr algn="ctr">
                <a:lnSpc>
                  <a:spcPct val="100000"/>
                </a:lnSpc>
              </a:pPr>
              <a:endParaRPr lang="en-US" sz="2000" b="0" strike="noStrike" spc="-1">
                <a:latin typeface="Arial"/>
              </a:endParaRPr>
            </a:p>
          </p:txBody>
        </p:sp>
      </p:grpSp>
      <p:grpSp>
        <p:nvGrpSpPr>
          <p:cNvPr id="31" name="Group 15">
            <a:extLst>
              <a:ext uri="{FF2B5EF4-FFF2-40B4-BE49-F238E27FC236}">
                <a16:creationId xmlns:a16="http://schemas.microsoft.com/office/drawing/2014/main" id="{5CEDDF66-848F-4525-91F3-370E902EDED1}"/>
              </a:ext>
            </a:extLst>
          </p:cNvPr>
          <p:cNvGrpSpPr/>
          <p:nvPr/>
        </p:nvGrpSpPr>
        <p:grpSpPr>
          <a:xfrm>
            <a:off x="5700870" y="4562550"/>
            <a:ext cx="1078920" cy="1015560"/>
            <a:chOff x="4500720" y="4505400"/>
            <a:chExt cx="1078920" cy="1015560"/>
          </a:xfrm>
        </p:grpSpPr>
        <p:sp>
          <p:nvSpPr>
            <p:cNvPr id="32" name="CustomShape 16">
              <a:extLst>
                <a:ext uri="{FF2B5EF4-FFF2-40B4-BE49-F238E27FC236}">
                  <a16:creationId xmlns:a16="http://schemas.microsoft.com/office/drawing/2014/main" id="{4D9A0672-F322-45B2-BB0F-BC68C52B1107}"/>
                </a:ext>
              </a:extLst>
            </p:cNvPr>
            <p:cNvSpPr/>
            <p:nvPr/>
          </p:nvSpPr>
          <p:spPr>
            <a:xfrm>
              <a:off x="4500720" y="4505400"/>
              <a:ext cx="1066320" cy="101556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33" name="CustomShape 17">
              <a:extLst>
                <a:ext uri="{FF2B5EF4-FFF2-40B4-BE49-F238E27FC236}">
                  <a16:creationId xmlns:a16="http://schemas.microsoft.com/office/drawing/2014/main" id="{6030BE13-174A-4559-A6CF-6EB2998DA47A}"/>
                </a:ext>
              </a:extLst>
            </p:cNvPr>
            <p:cNvSpPr/>
            <p:nvPr/>
          </p:nvSpPr>
          <p:spPr>
            <a:xfrm>
              <a:off x="4500720" y="4505400"/>
              <a:ext cx="1078920" cy="10058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pPr>
              <a:r>
                <a:rPr lang="en-US" sz="2000" b="1" strike="noStrike" spc="-1">
                  <a:solidFill>
                    <a:srgbClr val="FFFFFF"/>
                  </a:solidFill>
                  <a:latin typeface="Segoe UI"/>
                  <a:ea typeface="DejaVu Sans"/>
                </a:rPr>
                <a:t>Driver</a:t>
              </a:r>
              <a:endParaRPr lang="en-US" sz="2000" b="0" strike="noStrike" spc="-1">
                <a:latin typeface="Arial"/>
              </a:endParaRPr>
            </a:p>
            <a:p>
              <a:pPr algn="ctr">
                <a:lnSpc>
                  <a:spcPct val="100000"/>
                </a:lnSpc>
              </a:pPr>
              <a:r>
                <a:rPr lang="en-US" sz="2000" b="1" strike="noStrike" spc="-1">
                  <a:solidFill>
                    <a:srgbClr val="FFFFFF"/>
                  </a:solidFill>
                  <a:latin typeface="Segoe UI"/>
                  <a:ea typeface="DejaVu Sans"/>
                </a:rPr>
                <a:t>C</a:t>
              </a:r>
              <a:endParaRPr lang="en-US" sz="2000" b="0" strike="noStrike" spc="-1">
                <a:latin typeface="Arial"/>
              </a:endParaRPr>
            </a:p>
            <a:p>
              <a:pPr algn="ctr">
                <a:lnSpc>
                  <a:spcPct val="100000"/>
                </a:lnSpc>
              </a:pPr>
              <a:endParaRPr lang="en-US" sz="2000" b="0" strike="noStrike" spc="-1">
                <a:latin typeface="Arial"/>
              </a:endParaRPr>
            </a:p>
          </p:txBody>
        </p:sp>
      </p:grpSp>
      <p:grpSp>
        <p:nvGrpSpPr>
          <p:cNvPr id="34" name="Group 18">
            <a:extLst>
              <a:ext uri="{FF2B5EF4-FFF2-40B4-BE49-F238E27FC236}">
                <a16:creationId xmlns:a16="http://schemas.microsoft.com/office/drawing/2014/main" id="{D30406B4-5E52-4C0A-A954-8F3A487B55B6}"/>
              </a:ext>
            </a:extLst>
          </p:cNvPr>
          <p:cNvGrpSpPr/>
          <p:nvPr/>
        </p:nvGrpSpPr>
        <p:grpSpPr>
          <a:xfrm>
            <a:off x="7067430" y="4562550"/>
            <a:ext cx="1078920" cy="1015560"/>
            <a:chOff x="5867280" y="4505400"/>
            <a:chExt cx="1078920" cy="1015560"/>
          </a:xfrm>
        </p:grpSpPr>
        <p:sp>
          <p:nvSpPr>
            <p:cNvPr id="35" name="CustomShape 19">
              <a:extLst>
                <a:ext uri="{FF2B5EF4-FFF2-40B4-BE49-F238E27FC236}">
                  <a16:creationId xmlns:a16="http://schemas.microsoft.com/office/drawing/2014/main" id="{A1AB1760-EA33-46DC-95B9-96963281D64A}"/>
                </a:ext>
              </a:extLst>
            </p:cNvPr>
            <p:cNvSpPr/>
            <p:nvPr/>
          </p:nvSpPr>
          <p:spPr>
            <a:xfrm>
              <a:off x="5867280" y="4505400"/>
              <a:ext cx="1066320" cy="101556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36" name="CustomShape 20">
              <a:extLst>
                <a:ext uri="{FF2B5EF4-FFF2-40B4-BE49-F238E27FC236}">
                  <a16:creationId xmlns:a16="http://schemas.microsoft.com/office/drawing/2014/main" id="{DB073442-1F79-428A-9682-C0E0BC4CF465}"/>
                </a:ext>
              </a:extLst>
            </p:cNvPr>
            <p:cNvSpPr/>
            <p:nvPr/>
          </p:nvSpPr>
          <p:spPr>
            <a:xfrm>
              <a:off x="5867280" y="4505400"/>
              <a:ext cx="1078920" cy="10058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pPr>
              <a:r>
                <a:rPr lang="en-US" sz="2000" b="1" strike="noStrike" spc="-1">
                  <a:solidFill>
                    <a:srgbClr val="FFFFFF"/>
                  </a:solidFill>
                  <a:latin typeface="Segoe UI"/>
                  <a:ea typeface="DejaVu Sans"/>
                </a:rPr>
                <a:t>Driver</a:t>
              </a:r>
              <a:endParaRPr lang="en-US" sz="2000" b="0" strike="noStrike" spc="-1">
                <a:latin typeface="Arial"/>
              </a:endParaRPr>
            </a:p>
            <a:p>
              <a:pPr algn="ctr">
                <a:lnSpc>
                  <a:spcPct val="100000"/>
                </a:lnSpc>
              </a:pPr>
              <a:r>
                <a:rPr lang="en-US" sz="2000" b="1" strike="noStrike" spc="-1">
                  <a:solidFill>
                    <a:srgbClr val="FFFFFF"/>
                  </a:solidFill>
                  <a:latin typeface="Segoe UI"/>
                  <a:ea typeface="DejaVu Sans"/>
                </a:rPr>
                <a:t>D</a:t>
              </a:r>
              <a:endParaRPr lang="en-US" sz="2000" b="0" strike="noStrike" spc="-1">
                <a:latin typeface="Arial"/>
              </a:endParaRPr>
            </a:p>
            <a:p>
              <a:pPr algn="ctr">
                <a:lnSpc>
                  <a:spcPct val="100000"/>
                </a:lnSpc>
              </a:pPr>
              <a:endParaRPr lang="en-US" sz="2000" b="0" strike="noStrike" spc="-1">
                <a:latin typeface="Arial"/>
              </a:endParaRPr>
            </a:p>
          </p:txBody>
        </p:sp>
      </p:grpSp>
      <p:grpSp>
        <p:nvGrpSpPr>
          <p:cNvPr id="37" name="Group 21">
            <a:extLst>
              <a:ext uri="{FF2B5EF4-FFF2-40B4-BE49-F238E27FC236}">
                <a16:creationId xmlns:a16="http://schemas.microsoft.com/office/drawing/2014/main" id="{F9690EAF-9B69-4E56-9CA5-5196C10C09F8}"/>
              </a:ext>
            </a:extLst>
          </p:cNvPr>
          <p:cNvGrpSpPr/>
          <p:nvPr/>
        </p:nvGrpSpPr>
        <p:grpSpPr>
          <a:xfrm>
            <a:off x="8436150" y="4562550"/>
            <a:ext cx="1078920" cy="1015560"/>
            <a:chOff x="7236000" y="4505400"/>
            <a:chExt cx="1078920" cy="1015560"/>
          </a:xfrm>
        </p:grpSpPr>
        <p:sp>
          <p:nvSpPr>
            <p:cNvPr id="38" name="CustomShape 22">
              <a:extLst>
                <a:ext uri="{FF2B5EF4-FFF2-40B4-BE49-F238E27FC236}">
                  <a16:creationId xmlns:a16="http://schemas.microsoft.com/office/drawing/2014/main" id="{98C17DB5-15F9-4F60-9EE6-6C12427CD34C}"/>
                </a:ext>
              </a:extLst>
            </p:cNvPr>
            <p:cNvSpPr/>
            <p:nvPr/>
          </p:nvSpPr>
          <p:spPr>
            <a:xfrm>
              <a:off x="7236000" y="4505400"/>
              <a:ext cx="1066320" cy="1015560"/>
            </a:xfrm>
            <a:prstGeom prst="rect">
              <a:avLst/>
            </a:prstGeom>
            <a:solidFill>
              <a:srgbClr val="3B6A4D"/>
            </a:solidFill>
            <a:ln w="9360">
              <a:solidFill>
                <a:srgbClr val="000000"/>
              </a:solidFill>
              <a:miter/>
            </a:ln>
          </p:spPr>
          <p:style>
            <a:lnRef idx="0">
              <a:scrgbClr r="0" g="0" b="0"/>
            </a:lnRef>
            <a:fillRef idx="0">
              <a:scrgbClr r="0" g="0" b="0"/>
            </a:fillRef>
            <a:effectRef idx="0">
              <a:scrgbClr r="0" g="0" b="0"/>
            </a:effectRef>
            <a:fontRef idx="minor"/>
          </p:style>
        </p:sp>
        <p:sp>
          <p:nvSpPr>
            <p:cNvPr id="39" name="CustomShape 23">
              <a:extLst>
                <a:ext uri="{FF2B5EF4-FFF2-40B4-BE49-F238E27FC236}">
                  <a16:creationId xmlns:a16="http://schemas.microsoft.com/office/drawing/2014/main" id="{9B59CD74-F396-413A-9842-47CE72A8FDF1}"/>
                </a:ext>
              </a:extLst>
            </p:cNvPr>
            <p:cNvSpPr/>
            <p:nvPr/>
          </p:nvSpPr>
          <p:spPr>
            <a:xfrm>
              <a:off x="7236000" y="4505400"/>
              <a:ext cx="1078920" cy="100584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pPr>
              <a:r>
                <a:rPr lang="en-US" sz="2000" b="1" strike="noStrike" spc="-1">
                  <a:solidFill>
                    <a:srgbClr val="FFFFFF"/>
                  </a:solidFill>
                  <a:latin typeface="Segoe UI"/>
                  <a:ea typeface="DejaVu Sans"/>
                </a:rPr>
                <a:t>Driver</a:t>
              </a:r>
              <a:endParaRPr lang="en-US" sz="2000" b="0" strike="noStrike" spc="-1">
                <a:latin typeface="Arial"/>
              </a:endParaRPr>
            </a:p>
            <a:p>
              <a:pPr algn="ctr">
                <a:lnSpc>
                  <a:spcPct val="100000"/>
                </a:lnSpc>
              </a:pPr>
              <a:r>
                <a:rPr lang="en-US" sz="2000" b="1" strike="noStrike" spc="-1">
                  <a:solidFill>
                    <a:srgbClr val="FFFFFF"/>
                  </a:solidFill>
                  <a:latin typeface="Segoe UI"/>
                  <a:ea typeface="DejaVu Sans"/>
                </a:rPr>
                <a:t>E</a:t>
              </a:r>
              <a:endParaRPr lang="en-US" sz="2000" b="0" strike="noStrike" spc="-1">
                <a:latin typeface="Arial"/>
              </a:endParaRPr>
            </a:p>
            <a:p>
              <a:pPr algn="ctr">
                <a:lnSpc>
                  <a:spcPct val="100000"/>
                </a:lnSpc>
              </a:pPr>
              <a:endParaRPr lang="en-US" sz="2000" b="0" strike="noStrike" spc="-1">
                <a:latin typeface="Arial"/>
              </a:endParaRPr>
            </a:p>
          </p:txBody>
        </p:sp>
      </p:grpSp>
      <p:sp>
        <p:nvSpPr>
          <p:cNvPr id="40" name="CustomShape 24">
            <a:extLst>
              <a:ext uri="{FF2B5EF4-FFF2-40B4-BE49-F238E27FC236}">
                <a16:creationId xmlns:a16="http://schemas.microsoft.com/office/drawing/2014/main" id="{6D996B1B-BE31-44A0-8B7E-83A8BAD8975F}"/>
              </a:ext>
            </a:extLst>
          </p:cNvPr>
          <p:cNvSpPr/>
          <p:nvPr/>
        </p:nvSpPr>
        <p:spPr>
          <a:xfrm>
            <a:off x="3363750" y="3194190"/>
            <a:ext cx="1255320" cy="1335960"/>
          </a:xfrm>
          <a:custGeom>
            <a:avLst/>
            <a:gdLst/>
            <a:ahLst/>
            <a:cxnLst/>
            <a:rect l="l" t="t" r="r" b="b"/>
            <a:pathLst>
              <a:path w="3494" h="3718">
                <a:moveTo>
                  <a:pt x="3493" y="0"/>
                </a:moveTo>
                <a:lnTo>
                  <a:pt x="0" y="3717"/>
                </a:lnTo>
              </a:path>
            </a:pathLst>
          </a:custGeom>
          <a:noFill/>
          <a:ln w="9360">
            <a:solidFill>
              <a:srgbClr val="FF0000"/>
            </a:solidFill>
            <a:miter/>
            <a:tailEnd type="triangle" w="med" len="med"/>
          </a:ln>
        </p:spPr>
        <p:style>
          <a:lnRef idx="0">
            <a:scrgbClr r="0" g="0" b="0"/>
          </a:lnRef>
          <a:fillRef idx="0">
            <a:scrgbClr r="0" g="0" b="0"/>
          </a:fillRef>
          <a:effectRef idx="0">
            <a:scrgbClr r="0" g="0" b="0"/>
          </a:effectRef>
          <a:fontRef idx="minor"/>
        </p:style>
      </p:sp>
      <p:sp>
        <p:nvSpPr>
          <p:cNvPr id="41" name="CustomShape 25">
            <a:extLst>
              <a:ext uri="{FF2B5EF4-FFF2-40B4-BE49-F238E27FC236}">
                <a16:creationId xmlns:a16="http://schemas.microsoft.com/office/drawing/2014/main" id="{EAB49A56-75FD-4758-80C9-BACF95148477}"/>
              </a:ext>
            </a:extLst>
          </p:cNvPr>
          <p:cNvSpPr/>
          <p:nvPr/>
        </p:nvSpPr>
        <p:spPr>
          <a:xfrm>
            <a:off x="4837230" y="3194190"/>
            <a:ext cx="360" cy="1366200"/>
          </a:xfrm>
          <a:custGeom>
            <a:avLst/>
            <a:gdLst/>
            <a:ahLst/>
            <a:cxnLst/>
            <a:rect l="l" t="t" r="r" b="b"/>
            <a:pathLst>
              <a:path w="1" h="3802">
                <a:moveTo>
                  <a:pt x="0" y="0"/>
                </a:moveTo>
                <a:lnTo>
                  <a:pt x="0" y="3801"/>
                </a:lnTo>
              </a:path>
            </a:pathLst>
          </a:custGeom>
          <a:noFill/>
          <a:ln w="9360">
            <a:solidFill>
              <a:srgbClr val="FF0000"/>
            </a:solidFill>
            <a:miter/>
            <a:tailEnd type="triangle" w="med" len="med"/>
          </a:ln>
        </p:spPr>
        <p:style>
          <a:lnRef idx="0">
            <a:scrgbClr r="0" g="0" b="0"/>
          </a:lnRef>
          <a:fillRef idx="0">
            <a:scrgbClr r="0" g="0" b="0"/>
          </a:fillRef>
          <a:effectRef idx="0">
            <a:scrgbClr r="0" g="0" b="0"/>
          </a:effectRef>
          <a:fontRef idx="minor"/>
        </p:style>
      </p:sp>
      <p:sp>
        <p:nvSpPr>
          <p:cNvPr id="42" name="CustomShape 26">
            <a:extLst>
              <a:ext uri="{FF2B5EF4-FFF2-40B4-BE49-F238E27FC236}">
                <a16:creationId xmlns:a16="http://schemas.microsoft.com/office/drawing/2014/main" id="{E9D69CCC-03D4-4C85-BF28-106EF0A107CD}"/>
              </a:ext>
            </a:extLst>
          </p:cNvPr>
          <p:cNvSpPr/>
          <p:nvPr/>
        </p:nvSpPr>
        <p:spPr>
          <a:xfrm>
            <a:off x="6205590" y="3194190"/>
            <a:ext cx="1366200" cy="1366200"/>
          </a:xfrm>
          <a:custGeom>
            <a:avLst/>
            <a:gdLst/>
            <a:ahLst/>
            <a:cxnLst/>
            <a:rect l="l" t="t" r="r" b="b"/>
            <a:pathLst>
              <a:path w="3802" h="3802">
                <a:moveTo>
                  <a:pt x="0" y="0"/>
                </a:moveTo>
                <a:lnTo>
                  <a:pt x="3801" y="3801"/>
                </a:lnTo>
              </a:path>
            </a:pathLst>
          </a:custGeom>
          <a:noFill/>
          <a:ln w="9360">
            <a:solidFill>
              <a:srgbClr val="FF0000"/>
            </a:solidFill>
            <a:miter/>
            <a:tailEnd type="triangle" w="med" len="med"/>
          </a:ln>
        </p:spPr>
        <p:style>
          <a:lnRef idx="0">
            <a:scrgbClr r="0" g="0" b="0"/>
          </a:lnRef>
          <a:fillRef idx="0">
            <a:scrgbClr r="0" g="0" b="0"/>
          </a:fillRef>
          <a:effectRef idx="0">
            <a:scrgbClr r="0" g="0" b="0"/>
          </a:effectRef>
          <a:fontRef idx="minor"/>
        </p:style>
      </p:sp>
      <p:sp>
        <p:nvSpPr>
          <p:cNvPr id="43" name="CustomShape 27">
            <a:extLst>
              <a:ext uri="{FF2B5EF4-FFF2-40B4-BE49-F238E27FC236}">
                <a16:creationId xmlns:a16="http://schemas.microsoft.com/office/drawing/2014/main" id="{F8F1B816-5250-4B30-8DF5-A400DBF692E4}"/>
              </a:ext>
            </a:extLst>
          </p:cNvPr>
          <p:cNvSpPr/>
          <p:nvPr/>
        </p:nvSpPr>
        <p:spPr>
          <a:xfrm>
            <a:off x="6492870" y="3049470"/>
            <a:ext cx="2302920" cy="1510560"/>
          </a:xfrm>
          <a:custGeom>
            <a:avLst/>
            <a:gdLst/>
            <a:ahLst/>
            <a:cxnLst/>
            <a:rect l="l" t="t" r="r" b="b"/>
            <a:pathLst>
              <a:path w="6404" h="4204">
                <a:moveTo>
                  <a:pt x="0" y="0"/>
                </a:moveTo>
                <a:lnTo>
                  <a:pt x="6403" y="4203"/>
                </a:lnTo>
              </a:path>
            </a:pathLst>
          </a:custGeom>
          <a:noFill/>
          <a:ln w="9360">
            <a:solidFill>
              <a:srgbClr val="FF0000"/>
            </a:solidFill>
            <a:miter/>
            <a:tailEnd type="triangle" w="med" len="med"/>
          </a:ln>
        </p:spPr>
        <p:style>
          <a:lnRef idx="0">
            <a:scrgbClr r="0" g="0" b="0"/>
          </a:lnRef>
          <a:fillRef idx="0">
            <a:scrgbClr r="0" g="0" b="0"/>
          </a:fillRef>
          <a:effectRef idx="0">
            <a:scrgbClr r="0" g="0" b="0"/>
          </a:effectRef>
          <a:fontRef idx="minor"/>
        </p:style>
      </p:sp>
      <p:sp>
        <p:nvSpPr>
          <p:cNvPr id="44" name="CustomShape 28">
            <a:extLst>
              <a:ext uri="{FF2B5EF4-FFF2-40B4-BE49-F238E27FC236}">
                <a16:creationId xmlns:a16="http://schemas.microsoft.com/office/drawing/2014/main" id="{4D6841B2-FC85-4250-BE2C-D0236B463346}"/>
              </a:ext>
            </a:extLst>
          </p:cNvPr>
          <p:cNvSpPr/>
          <p:nvPr/>
        </p:nvSpPr>
        <p:spPr>
          <a:xfrm>
            <a:off x="5773590" y="5210190"/>
            <a:ext cx="934560" cy="286920"/>
          </a:xfrm>
          <a:prstGeom prst="rect">
            <a:avLst/>
          </a:prstGeom>
          <a:solidFill>
            <a:srgbClr val="66FF33"/>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400" b="1" strike="noStrike" spc="-1">
                <a:solidFill>
                  <a:srgbClr val="000000"/>
                </a:solidFill>
                <a:latin typeface="Segoe UI"/>
                <a:ea typeface="DejaVu Sans"/>
              </a:rPr>
              <a:t>After P_1</a:t>
            </a:r>
            <a:endParaRPr lang="en-US" sz="1400" b="0" strike="noStrike" spc="-1">
              <a:latin typeface="Arial"/>
            </a:endParaRPr>
          </a:p>
        </p:txBody>
      </p:sp>
      <p:sp>
        <p:nvSpPr>
          <p:cNvPr id="45" name="CustomShape 29">
            <a:extLst>
              <a:ext uri="{FF2B5EF4-FFF2-40B4-BE49-F238E27FC236}">
                <a16:creationId xmlns:a16="http://schemas.microsoft.com/office/drawing/2014/main" id="{21A9EE9E-0C78-430F-998D-0EE1BB83984D}"/>
              </a:ext>
            </a:extLst>
          </p:cNvPr>
          <p:cNvSpPr/>
          <p:nvPr/>
        </p:nvSpPr>
        <p:spPr>
          <a:xfrm>
            <a:off x="7140510" y="5210190"/>
            <a:ext cx="934560" cy="286920"/>
          </a:xfrm>
          <a:prstGeom prst="rect">
            <a:avLst/>
          </a:prstGeom>
          <a:solidFill>
            <a:srgbClr val="66FF33"/>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400" b="1" strike="noStrike" spc="-1">
                <a:solidFill>
                  <a:srgbClr val="000000"/>
                </a:solidFill>
                <a:latin typeface="Segoe UI"/>
                <a:ea typeface="DejaVu Sans"/>
              </a:rPr>
              <a:t>True</a:t>
            </a:r>
            <a:endParaRPr lang="en-US" sz="1400" b="0" strike="noStrike" spc="-1">
              <a:latin typeface="Arial"/>
            </a:endParaRPr>
          </a:p>
        </p:txBody>
      </p:sp>
      <p:sp>
        <p:nvSpPr>
          <p:cNvPr id="46" name="CustomShape 30">
            <a:extLst>
              <a:ext uri="{FF2B5EF4-FFF2-40B4-BE49-F238E27FC236}">
                <a16:creationId xmlns:a16="http://schemas.microsoft.com/office/drawing/2014/main" id="{706E1063-337F-4419-94B1-5FC8110B8C8C}"/>
              </a:ext>
            </a:extLst>
          </p:cNvPr>
          <p:cNvSpPr/>
          <p:nvPr/>
        </p:nvSpPr>
        <p:spPr>
          <a:xfrm>
            <a:off x="8508870" y="5210190"/>
            <a:ext cx="934560" cy="286920"/>
          </a:xfrm>
          <a:prstGeom prst="rect">
            <a:avLst/>
          </a:prstGeom>
          <a:solidFill>
            <a:srgbClr val="66FF33"/>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400" b="1" strike="noStrike" spc="-1">
                <a:solidFill>
                  <a:srgbClr val="000000"/>
                </a:solidFill>
                <a:latin typeface="Segoe UI"/>
                <a:ea typeface="DejaVu Sans"/>
              </a:rPr>
              <a:t>After P_1</a:t>
            </a:r>
            <a:endParaRPr lang="en-US" sz="1400" b="0" strike="noStrike" spc="-1">
              <a:latin typeface="Arial"/>
            </a:endParaRPr>
          </a:p>
        </p:txBody>
      </p:sp>
      <p:grpSp>
        <p:nvGrpSpPr>
          <p:cNvPr id="47" name="Group 31">
            <a:extLst>
              <a:ext uri="{FF2B5EF4-FFF2-40B4-BE49-F238E27FC236}">
                <a16:creationId xmlns:a16="http://schemas.microsoft.com/office/drawing/2014/main" id="{521FE719-3864-4627-B4FC-1420D20A9011}"/>
              </a:ext>
            </a:extLst>
          </p:cNvPr>
          <p:cNvGrpSpPr/>
          <p:nvPr/>
        </p:nvGrpSpPr>
        <p:grpSpPr>
          <a:xfrm>
            <a:off x="6924510" y="4275270"/>
            <a:ext cx="1366200" cy="1884960"/>
            <a:chOff x="5724360" y="4218120"/>
            <a:chExt cx="1366200" cy="1884960"/>
          </a:xfrm>
        </p:grpSpPr>
        <p:sp>
          <p:nvSpPr>
            <p:cNvPr id="48" name="CustomShape 32">
              <a:extLst>
                <a:ext uri="{FF2B5EF4-FFF2-40B4-BE49-F238E27FC236}">
                  <a16:creationId xmlns:a16="http://schemas.microsoft.com/office/drawing/2014/main" id="{8DACF465-CC6C-4C74-B043-D924F06B4F50}"/>
                </a:ext>
              </a:extLst>
            </p:cNvPr>
            <p:cNvSpPr/>
            <p:nvPr/>
          </p:nvSpPr>
          <p:spPr>
            <a:xfrm>
              <a:off x="5797440" y="4218120"/>
              <a:ext cx="1221840" cy="1725120"/>
            </a:xfrm>
            <a:prstGeom prst="ellipse">
              <a:avLst/>
            </a:prstGeom>
            <a:noFill/>
            <a:ln w="9360">
              <a:solidFill>
                <a:srgbClr val="FFCC00"/>
              </a:solidFill>
              <a:miter/>
            </a:ln>
          </p:spPr>
          <p:style>
            <a:lnRef idx="0">
              <a:scrgbClr r="0" g="0" b="0"/>
            </a:lnRef>
            <a:fillRef idx="0">
              <a:scrgbClr r="0" g="0" b="0"/>
            </a:fillRef>
            <a:effectRef idx="0">
              <a:scrgbClr r="0" g="0" b="0"/>
            </a:effectRef>
            <a:fontRef idx="minor"/>
          </p:style>
        </p:sp>
        <p:sp>
          <p:nvSpPr>
            <p:cNvPr id="49" name="CustomShape 33">
              <a:extLst>
                <a:ext uri="{FF2B5EF4-FFF2-40B4-BE49-F238E27FC236}">
                  <a16:creationId xmlns:a16="http://schemas.microsoft.com/office/drawing/2014/main" id="{CE67A90A-B2E1-4ACB-8B39-990B01991CFD}"/>
                </a:ext>
              </a:extLst>
            </p:cNvPr>
            <p:cNvSpPr/>
            <p:nvPr/>
          </p:nvSpPr>
          <p:spPr>
            <a:xfrm>
              <a:off x="5724360" y="5584680"/>
              <a:ext cx="1366200" cy="51840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oAutofit/>
            </a:bodyPr>
            <a:lstStyle/>
            <a:p>
              <a:pPr algn="ctr">
                <a:lnSpc>
                  <a:spcPct val="100000"/>
                </a:lnSpc>
                <a:spcBef>
                  <a:spcPts val="876"/>
                </a:spcBef>
              </a:pPr>
              <a:r>
                <a:rPr lang="en-US" sz="1400" b="1" strike="noStrike" spc="-1">
                  <a:solidFill>
                    <a:srgbClr val="000000"/>
                  </a:solidFill>
                  <a:latin typeface="Segoe UI"/>
                  <a:ea typeface="新細明體"/>
                </a:rPr>
                <a:t>Produce Protocol P_1</a:t>
              </a:r>
              <a:endParaRPr lang="en-US" sz="1400" b="0" strike="noStrike" spc="-1">
                <a:latin typeface="Arial"/>
              </a:endParaRPr>
            </a:p>
          </p:txBody>
        </p:sp>
      </p:grpSp>
      <p:sp>
        <p:nvSpPr>
          <p:cNvPr id="50" name="Line 34">
            <a:extLst>
              <a:ext uri="{FF2B5EF4-FFF2-40B4-BE49-F238E27FC236}">
                <a16:creationId xmlns:a16="http://schemas.microsoft.com/office/drawing/2014/main" id="{F5A251B4-9707-458C-BADA-12B3634C5E40}"/>
              </a:ext>
            </a:extLst>
          </p:cNvPr>
          <p:cNvSpPr/>
          <p:nvPr/>
        </p:nvSpPr>
        <p:spPr>
          <a:xfrm flipV="1">
            <a:off x="4981230" y="5424390"/>
            <a:ext cx="863640" cy="507960"/>
          </a:xfrm>
          <a:prstGeom prst="line">
            <a:avLst/>
          </a:prstGeom>
          <a:ln w="9360">
            <a:solidFill>
              <a:srgbClr val="66FF33"/>
            </a:solidFill>
            <a:miter/>
            <a:tailEnd type="triangle" w="med" len="med"/>
          </a:ln>
        </p:spPr>
        <p:style>
          <a:lnRef idx="0">
            <a:scrgbClr r="0" g="0" b="0"/>
          </a:lnRef>
          <a:fillRef idx="0">
            <a:scrgbClr r="0" g="0" b="0"/>
          </a:fillRef>
          <a:effectRef idx="0">
            <a:scrgbClr r="0" g="0" b="0"/>
          </a:effectRef>
          <a:fontRef idx="minor"/>
        </p:style>
      </p:sp>
      <p:sp>
        <p:nvSpPr>
          <p:cNvPr id="51" name="CustomShape 35">
            <a:extLst>
              <a:ext uri="{FF2B5EF4-FFF2-40B4-BE49-F238E27FC236}">
                <a16:creationId xmlns:a16="http://schemas.microsoft.com/office/drawing/2014/main" id="{2247151B-FFC7-4132-B4CB-48C5ACF267CB}"/>
              </a:ext>
            </a:extLst>
          </p:cNvPr>
          <p:cNvSpPr/>
          <p:nvPr/>
        </p:nvSpPr>
        <p:spPr>
          <a:xfrm>
            <a:off x="4189590" y="5857830"/>
            <a:ext cx="1509120" cy="578880"/>
          </a:xfrm>
          <a:prstGeom prst="rect">
            <a:avLst/>
          </a:prstGeom>
          <a:noFill/>
          <a:ln w="9360">
            <a:noFill/>
          </a:ln>
        </p:spPr>
        <p:style>
          <a:lnRef idx="0">
            <a:scrgbClr r="0" g="0" b="0"/>
          </a:lnRef>
          <a:fillRef idx="0">
            <a:scrgbClr r="0" g="0" b="0"/>
          </a:fillRef>
          <a:effectRef idx="0">
            <a:scrgbClr r="0" g="0" b="0"/>
          </a:effectRef>
          <a:fontRef idx="minor"/>
        </p:style>
        <p:txBody>
          <a:bodyPr lIns="90000" tIns="46800" rIns="90000" bIns="46800">
            <a:noAutofit/>
          </a:bodyPr>
          <a:lstStyle/>
          <a:p>
            <a:pPr algn="ctr">
              <a:lnSpc>
                <a:spcPct val="100000"/>
              </a:lnSpc>
              <a:spcBef>
                <a:spcPts val="1001"/>
              </a:spcBef>
            </a:pPr>
            <a:r>
              <a:rPr lang="en-US" sz="1600" b="1" strike="noStrike" spc="-1">
                <a:solidFill>
                  <a:srgbClr val="000000"/>
                </a:solidFill>
                <a:latin typeface="Segoe UI"/>
                <a:ea typeface="新細明體"/>
              </a:rPr>
              <a:t>Dependency Expression</a:t>
            </a:r>
            <a:endParaRPr lang="en-US" sz="1600" b="0" strike="noStrike" spc="-1">
              <a:latin typeface="Arial"/>
            </a:endParaRPr>
          </a:p>
        </p:txBody>
      </p:sp>
      <p:sp>
        <p:nvSpPr>
          <p:cNvPr id="52" name="CustomShape 36">
            <a:extLst>
              <a:ext uri="{FF2B5EF4-FFF2-40B4-BE49-F238E27FC236}">
                <a16:creationId xmlns:a16="http://schemas.microsoft.com/office/drawing/2014/main" id="{1BAE2C01-CB40-4269-BD60-0F9B9FCD2946}"/>
              </a:ext>
            </a:extLst>
          </p:cNvPr>
          <p:cNvSpPr/>
          <p:nvPr/>
        </p:nvSpPr>
        <p:spPr>
          <a:xfrm>
            <a:off x="6203790" y="3198870"/>
            <a:ext cx="360" cy="1366200"/>
          </a:xfrm>
          <a:custGeom>
            <a:avLst/>
            <a:gdLst/>
            <a:ahLst/>
            <a:cxnLst/>
            <a:rect l="l" t="t" r="r" b="b"/>
            <a:pathLst>
              <a:path w="1" h="3802">
                <a:moveTo>
                  <a:pt x="0" y="0"/>
                </a:moveTo>
                <a:lnTo>
                  <a:pt x="0" y="3801"/>
                </a:lnTo>
              </a:path>
            </a:pathLst>
          </a:custGeom>
          <a:noFill/>
          <a:ln w="9360">
            <a:solidFill>
              <a:srgbClr val="FF0000"/>
            </a:solidFill>
            <a:miter/>
            <a:tailEnd type="triangle" w="med" len="med"/>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270395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DXE Components</a:t>
            </a:r>
            <a:endParaRPr lang="en-US" dirty="0"/>
          </a:p>
        </p:txBody>
      </p:sp>
      <p:sp>
        <p:nvSpPr>
          <p:cNvPr id="6" name="CustomShape 2">
            <a:extLst>
              <a:ext uri="{FF2B5EF4-FFF2-40B4-BE49-F238E27FC236}">
                <a16:creationId xmlns:a16="http://schemas.microsoft.com/office/drawing/2014/main" id="{0F48B061-8ACF-4033-A0EA-803EA5C7DACD}"/>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1" strike="noStrike" spc="-1" dirty="0">
                <a:solidFill>
                  <a:srgbClr val="3F3F3F"/>
                </a:solidFill>
                <a:latin typeface="Segoe UI"/>
                <a:ea typeface="DejaVu Sans"/>
              </a:rPr>
              <a:t>DXE Drivers</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The DXE drivers are responsible for initializing the processor, chipset, and platform components as well as providing software abstractions for system services, console devices, and boot devices.</a:t>
            </a:r>
            <a:endParaRPr lang="en-US" sz="2400" b="0" strike="noStrike" spc="-1" dirty="0">
              <a:latin typeface="Arial"/>
            </a:endParaRPr>
          </a:p>
        </p:txBody>
      </p:sp>
    </p:spTree>
    <p:extLst>
      <p:ext uri="{BB962C8B-B14F-4D97-AF65-F5344CB8AC3E}">
        <p14:creationId xmlns:p14="http://schemas.microsoft.com/office/powerpoint/2010/main" val="27687418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DXE Drivers</a:t>
            </a:r>
            <a:endParaRPr lang="en-US" dirty="0"/>
          </a:p>
        </p:txBody>
      </p:sp>
      <p:sp>
        <p:nvSpPr>
          <p:cNvPr id="6" name="CustomShape 2">
            <a:extLst>
              <a:ext uri="{FF2B5EF4-FFF2-40B4-BE49-F238E27FC236}">
                <a16:creationId xmlns:a16="http://schemas.microsoft.com/office/drawing/2014/main" id="{0F48B061-8ACF-4033-A0EA-803EA5C7DACD}"/>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Early DXE Drivers</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000" b="0" strike="noStrike" spc="-1" dirty="0">
                <a:solidFill>
                  <a:srgbClr val="3F3F3F"/>
                </a:solidFill>
                <a:latin typeface="Segoe UI"/>
                <a:ea typeface="DejaVu Sans"/>
              </a:rPr>
              <a:t>These early drivers will also typically produce the DXE Architectural Protocols that are required for the DXE Foundation to produces its full complement of UEFI Boot Services and UEFI Runtime Services.</a:t>
            </a:r>
            <a:endParaRPr lang="en-US" sz="20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DXE Drivers that follow the UEFI Driver Model</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000" b="0" strike="noStrike" spc="-1" dirty="0">
                <a:solidFill>
                  <a:srgbClr val="3F3F3F"/>
                </a:solidFill>
                <a:latin typeface="Segoe UI"/>
                <a:ea typeface="DejaVu Sans"/>
              </a:rPr>
              <a:t>These drivers do not touch any hardware resources when they initialize.</a:t>
            </a:r>
            <a:endParaRPr lang="en-US" sz="2000" b="0" strike="noStrike" spc="-1" dirty="0">
              <a:latin typeface="Arial"/>
            </a:endParaRPr>
          </a:p>
          <a:p>
            <a:pPr marL="685800" lvl="1" indent="-226440">
              <a:lnSpc>
                <a:spcPct val="90000"/>
              </a:lnSpc>
              <a:spcBef>
                <a:spcPts val="451"/>
              </a:spcBef>
              <a:buClr>
                <a:srgbClr val="3F3F3F"/>
              </a:buClr>
              <a:buFont typeface="Arial"/>
              <a:buChar char="•"/>
            </a:pPr>
            <a:r>
              <a:rPr lang="en-US" sz="2000" b="0" strike="noStrike" spc="-1" dirty="0">
                <a:solidFill>
                  <a:srgbClr val="3F3F3F"/>
                </a:solidFill>
                <a:latin typeface="Segoe UI"/>
                <a:ea typeface="DejaVu Sans"/>
              </a:rPr>
              <a:t>Instead, they register a Driver Binding Protocol interface in the handle database.</a:t>
            </a:r>
            <a:endParaRPr lang="en-US" sz="2000" b="0" strike="noStrike" spc="-1" dirty="0">
              <a:latin typeface="Arial"/>
            </a:endParaRPr>
          </a:p>
          <a:p>
            <a:pPr marL="685800" lvl="1" indent="-226440">
              <a:lnSpc>
                <a:spcPct val="90000"/>
              </a:lnSpc>
              <a:spcBef>
                <a:spcPts val="451"/>
              </a:spcBef>
              <a:buClr>
                <a:srgbClr val="3F3F3F"/>
              </a:buClr>
              <a:buFont typeface="Arial"/>
              <a:buChar char="•"/>
            </a:pPr>
            <a:r>
              <a:rPr lang="en-US" sz="2000" b="0" strike="noStrike" spc="-1" dirty="0">
                <a:solidFill>
                  <a:srgbClr val="3F3F3F"/>
                </a:solidFill>
                <a:latin typeface="Segoe UI"/>
                <a:ea typeface="DejaVu Sans"/>
              </a:rPr>
              <a:t>The set of Driver Binding Protocols are used by the Boot Device Selection (BDS) phase to connect the drivers to the devices that are required to establish consoles and provide access to boot devices.</a:t>
            </a:r>
            <a:endParaRPr lang="en-US" sz="2000" b="0" strike="noStrike" spc="-1" dirty="0">
              <a:latin typeface="Arial"/>
            </a:endParaRPr>
          </a:p>
        </p:txBody>
      </p:sp>
    </p:spTree>
    <p:extLst>
      <p:ext uri="{BB962C8B-B14F-4D97-AF65-F5344CB8AC3E}">
        <p14:creationId xmlns:p14="http://schemas.microsoft.com/office/powerpoint/2010/main" val="42122566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Two Kinds of DXE Drivers</a:t>
            </a:r>
            <a:endParaRPr lang="en-US" dirty="0"/>
          </a:p>
        </p:txBody>
      </p:sp>
      <p:sp>
        <p:nvSpPr>
          <p:cNvPr id="4" name="CustomShape 2">
            <a:extLst>
              <a:ext uri="{FF2B5EF4-FFF2-40B4-BE49-F238E27FC236}">
                <a16:creationId xmlns:a16="http://schemas.microsoft.com/office/drawing/2014/main" id="{3A3C7788-7F3E-43FC-83AE-14429EC1898F}"/>
              </a:ext>
            </a:extLst>
          </p:cNvPr>
          <p:cNvSpPr/>
          <p:nvPr/>
        </p:nvSpPr>
        <p:spPr>
          <a:xfrm>
            <a:off x="838200" y="1316230"/>
            <a:ext cx="412632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1280" indent="-339120">
              <a:lnSpc>
                <a:spcPct val="98000"/>
              </a:lnSpc>
              <a:spcBef>
                <a:spcPts val="601"/>
              </a:spcBef>
            </a:pPr>
            <a:r>
              <a:rPr lang="en-US" sz="2400" b="1" strike="noStrike" spc="-1" dirty="0">
                <a:solidFill>
                  <a:srgbClr val="000000"/>
                </a:solidFill>
                <a:latin typeface="Segoe UI"/>
                <a:ea typeface="細明體"/>
              </a:rPr>
              <a:t>Type 1 (Non-Driver Model)</a:t>
            </a:r>
            <a:endParaRPr lang="en-US" sz="2400" b="0" strike="noStrike" spc="-1" dirty="0">
              <a:latin typeface="Arial"/>
            </a:endParaRPr>
          </a:p>
          <a:p>
            <a:pPr marL="341280" indent="-339120">
              <a:lnSpc>
                <a:spcPct val="98000"/>
              </a:lnSpc>
              <a:spcBef>
                <a:spcPts val="1749"/>
              </a:spcBef>
              <a:buClr>
                <a:srgbClr val="660066"/>
              </a:buClr>
              <a:buSzPct val="120000"/>
              <a:buFont typeface="Arial"/>
              <a:buChar char="•"/>
            </a:pPr>
            <a:r>
              <a:rPr lang="en-US" sz="2400" b="0" strike="noStrike" spc="-1" dirty="0">
                <a:solidFill>
                  <a:srgbClr val="000000"/>
                </a:solidFill>
                <a:latin typeface="Segoe UI"/>
                <a:ea typeface="細明體"/>
              </a:rPr>
              <a:t>Not UEFI driver model</a:t>
            </a:r>
            <a:endParaRPr lang="en-US" sz="2400" b="0" strike="noStrike" spc="-1" dirty="0">
              <a:latin typeface="Arial"/>
            </a:endParaRPr>
          </a:p>
          <a:p>
            <a:pPr marL="341280" indent="-339120">
              <a:lnSpc>
                <a:spcPct val="98000"/>
              </a:lnSpc>
              <a:spcBef>
                <a:spcPts val="499"/>
              </a:spcBef>
              <a:buClr>
                <a:srgbClr val="660066"/>
              </a:buClr>
              <a:buSzPct val="120000"/>
              <a:buFont typeface="Arial"/>
              <a:buChar char="•"/>
            </a:pPr>
            <a:r>
              <a:rPr lang="en-US" sz="2400" b="0" strike="noStrike" spc="-1" dirty="0">
                <a:solidFill>
                  <a:srgbClr val="000000"/>
                </a:solidFill>
                <a:latin typeface="Segoe UI"/>
                <a:ea typeface="細明體"/>
              </a:rPr>
              <a:t>Runs early in the DXE phase</a:t>
            </a:r>
            <a:endParaRPr lang="en-US" sz="2400" b="0" strike="noStrike" spc="-1" dirty="0">
              <a:latin typeface="Arial"/>
            </a:endParaRPr>
          </a:p>
          <a:p>
            <a:pPr marL="341280" indent="-339120">
              <a:lnSpc>
                <a:spcPct val="98000"/>
              </a:lnSpc>
              <a:spcBef>
                <a:spcPts val="499"/>
              </a:spcBef>
              <a:buClr>
                <a:srgbClr val="660066"/>
              </a:buClr>
              <a:buSzPct val="120000"/>
              <a:buFont typeface="Arial"/>
              <a:buChar char="•"/>
            </a:pPr>
            <a:r>
              <a:rPr lang="en-US" sz="2400" b="0" strike="noStrike" spc="-1" dirty="0">
                <a:solidFill>
                  <a:srgbClr val="000000"/>
                </a:solidFill>
                <a:latin typeface="Segoe UI"/>
                <a:ea typeface="細明體"/>
              </a:rPr>
              <a:t>Performs initialization on the processor, chipset or platform</a:t>
            </a:r>
            <a:endParaRPr lang="en-US" sz="2400" b="0" strike="noStrike" spc="-1" dirty="0">
              <a:latin typeface="Arial"/>
            </a:endParaRPr>
          </a:p>
          <a:p>
            <a:pPr marL="341280" indent="-339120">
              <a:lnSpc>
                <a:spcPct val="98000"/>
              </a:lnSpc>
              <a:spcBef>
                <a:spcPts val="499"/>
              </a:spcBef>
              <a:buClr>
                <a:srgbClr val="660066"/>
              </a:buClr>
              <a:buSzPct val="120000"/>
              <a:buFont typeface="Arial"/>
              <a:buChar char="•"/>
            </a:pPr>
            <a:r>
              <a:rPr lang="en-US" sz="2400" b="0" strike="noStrike" spc="-1" dirty="0">
                <a:solidFill>
                  <a:srgbClr val="000000"/>
                </a:solidFill>
                <a:latin typeface="Segoe UI"/>
                <a:ea typeface="細明體"/>
              </a:rPr>
              <a:t>Produces the Architectural Protocols for the DXE Core to deliver services</a:t>
            </a:r>
            <a:endParaRPr lang="en-US" sz="2400" b="0" strike="noStrike" spc="-1" dirty="0">
              <a:latin typeface="Arial"/>
            </a:endParaRPr>
          </a:p>
        </p:txBody>
      </p:sp>
      <p:sp>
        <p:nvSpPr>
          <p:cNvPr id="5" name="CustomShape 3">
            <a:extLst>
              <a:ext uri="{FF2B5EF4-FFF2-40B4-BE49-F238E27FC236}">
                <a16:creationId xmlns:a16="http://schemas.microsoft.com/office/drawing/2014/main" id="{77A44F1B-C5D5-42FD-8FEC-2FA8EF45F55A}"/>
              </a:ext>
            </a:extLst>
          </p:cNvPr>
          <p:cNvSpPr/>
          <p:nvPr/>
        </p:nvSpPr>
        <p:spPr>
          <a:xfrm>
            <a:off x="5216520" y="1316230"/>
            <a:ext cx="4138200" cy="51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1280" indent="-339120">
              <a:lnSpc>
                <a:spcPct val="98000"/>
              </a:lnSpc>
              <a:spcBef>
                <a:spcPts val="601"/>
              </a:spcBef>
            </a:pPr>
            <a:r>
              <a:rPr lang="en-US" sz="2400" b="1" strike="noStrike" spc="-1">
                <a:solidFill>
                  <a:srgbClr val="000000"/>
                </a:solidFill>
                <a:latin typeface="Segoe UI"/>
                <a:ea typeface="細明體"/>
              </a:rPr>
              <a:t>Type 2 (Driver Model)</a:t>
            </a:r>
            <a:endParaRPr lang="en-US" sz="2400" b="0" strike="noStrike" spc="-1">
              <a:latin typeface="Arial"/>
            </a:endParaRPr>
          </a:p>
          <a:p>
            <a:pPr marL="341280" indent="-339120">
              <a:lnSpc>
                <a:spcPct val="98000"/>
              </a:lnSpc>
              <a:spcBef>
                <a:spcPts val="1749"/>
              </a:spcBef>
              <a:buClr>
                <a:srgbClr val="660066"/>
              </a:buClr>
              <a:buSzPct val="120000"/>
              <a:buFont typeface="Arial"/>
              <a:buChar char="•"/>
            </a:pPr>
            <a:r>
              <a:rPr lang="en-US" sz="2400" b="0" strike="noStrike" spc="-1">
                <a:solidFill>
                  <a:srgbClr val="000000"/>
                </a:solidFill>
                <a:latin typeface="Segoe UI"/>
                <a:ea typeface="細明體"/>
              </a:rPr>
              <a:t>Complies with UEFI Driver Model</a:t>
            </a:r>
            <a:endParaRPr lang="en-US" sz="2400" b="0" strike="noStrike" spc="-1">
              <a:latin typeface="Arial"/>
            </a:endParaRPr>
          </a:p>
          <a:p>
            <a:pPr marL="341280" indent="-339120">
              <a:lnSpc>
                <a:spcPct val="98000"/>
              </a:lnSpc>
              <a:spcBef>
                <a:spcPts val="499"/>
              </a:spcBef>
              <a:buClr>
                <a:srgbClr val="660066"/>
              </a:buClr>
              <a:buSzPct val="120000"/>
              <a:buFont typeface="Arial"/>
              <a:buChar char="•"/>
            </a:pPr>
            <a:r>
              <a:rPr lang="en-US" sz="2400" b="0" strike="noStrike" spc="-1">
                <a:solidFill>
                  <a:srgbClr val="000000"/>
                </a:solidFill>
                <a:latin typeface="Segoe UI"/>
                <a:ea typeface="細明體"/>
              </a:rPr>
              <a:t>Performs no hardware initialization</a:t>
            </a:r>
            <a:endParaRPr lang="en-US" sz="2400" b="0" strike="noStrike" spc="-1">
              <a:latin typeface="Arial"/>
            </a:endParaRPr>
          </a:p>
          <a:p>
            <a:pPr marL="341280" indent="-339120">
              <a:lnSpc>
                <a:spcPct val="98000"/>
              </a:lnSpc>
              <a:spcBef>
                <a:spcPts val="499"/>
              </a:spcBef>
              <a:buClr>
                <a:srgbClr val="660066"/>
              </a:buClr>
              <a:buSzPct val="120000"/>
              <a:buFont typeface="Arial"/>
              <a:buChar char="•"/>
            </a:pPr>
            <a:r>
              <a:rPr lang="en-US" sz="2400" b="0" strike="noStrike" spc="-1">
                <a:solidFill>
                  <a:srgbClr val="000000"/>
                </a:solidFill>
                <a:latin typeface="Segoe UI"/>
                <a:ea typeface="細明體"/>
              </a:rPr>
              <a:t>Register </a:t>
            </a:r>
            <a:r>
              <a:rPr lang="en-US" sz="2400" b="1" strike="noStrike" spc="-1">
                <a:solidFill>
                  <a:srgbClr val="000099"/>
                </a:solidFill>
                <a:latin typeface="Segoe UI"/>
                <a:ea typeface="細明體"/>
              </a:rPr>
              <a:t>Driver binding</a:t>
            </a:r>
            <a:r>
              <a:rPr lang="en-US" sz="2400" b="0" strike="noStrike" spc="-1">
                <a:solidFill>
                  <a:srgbClr val="000000"/>
                </a:solidFill>
                <a:latin typeface="Segoe UI"/>
                <a:ea typeface="細明體"/>
              </a:rPr>
              <a:t> the protocol in Handle Database</a:t>
            </a:r>
            <a:endParaRPr lang="en-US" sz="2400" b="0" strike="noStrike" spc="-1">
              <a:latin typeface="Arial"/>
            </a:endParaRPr>
          </a:p>
          <a:p>
            <a:pPr marL="341280" indent="-339120">
              <a:lnSpc>
                <a:spcPct val="98000"/>
              </a:lnSpc>
              <a:spcBef>
                <a:spcPts val="499"/>
              </a:spcBef>
              <a:buClr>
                <a:srgbClr val="660066"/>
              </a:buClr>
              <a:buSzPct val="120000"/>
              <a:buFont typeface="Arial"/>
              <a:buChar char="•"/>
            </a:pPr>
            <a:r>
              <a:rPr lang="en-US" sz="2400" b="1" strike="noStrike" spc="-1">
                <a:solidFill>
                  <a:srgbClr val="000099"/>
                </a:solidFill>
                <a:latin typeface="Segoe UI"/>
                <a:ea typeface="細明體"/>
              </a:rPr>
              <a:t>Connects in the BDS phase</a:t>
            </a:r>
            <a:endParaRPr lang="en-US" sz="2400" b="0" strike="noStrike" spc="-1">
              <a:latin typeface="Arial"/>
            </a:endParaRPr>
          </a:p>
        </p:txBody>
      </p:sp>
    </p:spTree>
    <p:extLst>
      <p:ext uri="{BB962C8B-B14F-4D97-AF65-F5344CB8AC3E}">
        <p14:creationId xmlns:p14="http://schemas.microsoft.com/office/powerpoint/2010/main" val="38101740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Two Kinds of DXE Drivers – Non-Driver Model Driver</a:t>
            </a:r>
            <a:endParaRPr lang="en-US" dirty="0"/>
          </a:p>
        </p:txBody>
      </p:sp>
      <p:sp>
        <p:nvSpPr>
          <p:cNvPr id="4" name="CustomShape 2">
            <a:extLst>
              <a:ext uri="{FF2B5EF4-FFF2-40B4-BE49-F238E27FC236}">
                <a16:creationId xmlns:a16="http://schemas.microsoft.com/office/drawing/2014/main" id="{3A3C7788-7F3E-43FC-83AE-14429EC1898F}"/>
              </a:ext>
            </a:extLst>
          </p:cNvPr>
          <p:cNvSpPr/>
          <p:nvPr/>
        </p:nvSpPr>
        <p:spPr>
          <a:xfrm>
            <a:off x="838200" y="1375160"/>
            <a:ext cx="723900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5000" lnSpcReduction="20000"/>
          </a:bodyPr>
          <a:lstStyle/>
          <a:p>
            <a:pPr marL="341280" indent="-339120">
              <a:lnSpc>
                <a:spcPct val="90000"/>
              </a:lnSpc>
              <a:spcBef>
                <a:spcPts val="1001"/>
              </a:spcBef>
            </a:pPr>
            <a:r>
              <a:rPr lang="en-US" sz="2800" b="1" strike="noStrike" spc="-1" dirty="0">
                <a:solidFill>
                  <a:srgbClr val="3F3F3F"/>
                </a:solidFill>
                <a:latin typeface="Segoe UI"/>
                <a:ea typeface="DejaVu Sans"/>
              </a:rPr>
              <a:t>Non-Driver Model Driver:</a:t>
            </a:r>
            <a:endParaRPr lang="en-US" sz="28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EFI_CPU_ARCH_PROTOCOL       </a:t>
            </a:r>
            <a:r>
              <a:rPr lang="en-US" sz="2400" b="1" strike="noStrike" spc="-1" dirty="0" err="1">
                <a:solidFill>
                  <a:srgbClr val="3F3F3F"/>
                </a:solidFill>
                <a:latin typeface="Calibri"/>
                <a:ea typeface="DejaVu Sans"/>
              </a:rPr>
              <a:t>gCpu</a:t>
            </a:r>
            <a:r>
              <a:rPr lang="en-US" sz="2400" b="1" strike="noStrike" spc="-1" dirty="0">
                <a:solidFill>
                  <a:srgbClr val="3F3F3F"/>
                </a:solidFill>
                <a:latin typeface="Calibri"/>
                <a:ea typeface="DejaVu Sans"/>
              </a:rPr>
              <a:t> = {</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r>
              <a:rPr lang="en-US" sz="2400" b="1" strike="noStrike" spc="-1" dirty="0" err="1">
                <a:solidFill>
                  <a:srgbClr val="3F3F3F"/>
                </a:solidFill>
                <a:latin typeface="Calibri"/>
                <a:ea typeface="DejaVu Sans"/>
              </a:rPr>
              <a:t>FlushCpuDataCache</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r>
              <a:rPr lang="en-US" sz="2400" b="1" strike="noStrike" spc="-1" dirty="0" err="1">
                <a:solidFill>
                  <a:srgbClr val="3F3F3F"/>
                </a:solidFill>
                <a:latin typeface="Calibri"/>
                <a:ea typeface="DejaVu Sans"/>
              </a:rPr>
              <a:t>EnableInterrupt</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r>
              <a:rPr lang="en-US" sz="2400" b="1" strike="noStrike" spc="-1" dirty="0" err="1">
                <a:solidFill>
                  <a:srgbClr val="3F3F3F"/>
                </a:solidFill>
                <a:latin typeface="Calibri"/>
                <a:ea typeface="DejaVu Sans"/>
              </a:rPr>
              <a:t>DisableInterrupt</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r>
              <a:rPr lang="en-US" sz="2400" b="1" strike="noStrike" spc="-1" dirty="0" err="1">
                <a:solidFill>
                  <a:srgbClr val="3F3F3F"/>
                </a:solidFill>
                <a:latin typeface="Calibri"/>
                <a:ea typeface="DejaVu Sans"/>
              </a:rPr>
              <a:t>GetInterruptState</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Init,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r>
              <a:rPr lang="en-US" sz="2400" b="1" strike="noStrike" spc="-1" dirty="0" err="1">
                <a:solidFill>
                  <a:srgbClr val="3F3F3F"/>
                </a:solidFill>
                <a:latin typeface="Calibri"/>
                <a:ea typeface="DejaVu Sans"/>
              </a:rPr>
              <a:t>RegisterInterruptHandler</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r>
              <a:rPr lang="en-US" sz="2400" b="1" strike="noStrike" spc="-1" dirty="0" err="1">
                <a:solidFill>
                  <a:srgbClr val="3F3F3F"/>
                </a:solidFill>
                <a:latin typeface="Calibri"/>
                <a:ea typeface="DejaVu Sans"/>
              </a:rPr>
              <a:t>GetTimerValue</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r>
              <a:rPr lang="en-US" sz="2400" b="1" strike="noStrike" spc="-1" dirty="0" err="1">
                <a:solidFill>
                  <a:srgbClr val="3F3F3F"/>
                </a:solidFill>
                <a:latin typeface="Calibri"/>
                <a:ea typeface="DejaVu Sans"/>
              </a:rPr>
              <a:t>SetMemoryAttributes</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1,  // </a:t>
            </a:r>
            <a:r>
              <a:rPr lang="en-US" sz="2400" b="1" strike="noStrike" spc="-1" dirty="0" err="1">
                <a:solidFill>
                  <a:srgbClr val="3F3F3F"/>
                </a:solidFill>
                <a:latin typeface="Calibri"/>
                <a:ea typeface="DejaVu Sans"/>
              </a:rPr>
              <a:t>NumberOfTimers</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4,  // </a:t>
            </a:r>
            <a:r>
              <a:rPr lang="en-US" sz="2400" b="1" strike="noStrike" spc="-1" dirty="0" err="1">
                <a:solidFill>
                  <a:srgbClr val="3F3F3F"/>
                </a:solidFill>
                <a:latin typeface="Calibri"/>
                <a:ea typeface="DejaVu Sans"/>
              </a:rPr>
              <a:t>DmaBufferAlignment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Status = </a:t>
            </a:r>
            <a:r>
              <a:rPr lang="en-US" sz="2400" b="1" strike="noStrike" spc="-1" dirty="0" err="1">
                <a:solidFill>
                  <a:srgbClr val="3F3F3F"/>
                </a:solidFill>
                <a:latin typeface="Calibri"/>
                <a:ea typeface="DejaVu Sans"/>
              </a:rPr>
              <a:t>gBS</a:t>
            </a:r>
            <a:r>
              <a:rPr lang="en-US" sz="2400" b="1" strike="noStrike" spc="-1" dirty="0">
                <a:solidFill>
                  <a:srgbClr val="3F3F3F"/>
                </a:solidFill>
                <a:latin typeface="Calibri"/>
                <a:ea typeface="DejaVu Sans"/>
              </a:rPr>
              <a:t>-&gt;</a:t>
            </a:r>
            <a:r>
              <a:rPr lang="en-US" sz="2400" b="1" strike="noStrike" spc="-1" dirty="0" err="1">
                <a:solidFill>
                  <a:srgbClr val="3F3F3F"/>
                </a:solidFill>
                <a:latin typeface="Calibri"/>
                <a:ea typeface="DejaVu Sans"/>
              </a:rPr>
              <a:t>InstallProtocolInterface</a:t>
            </a:r>
            <a:r>
              <a:rPr lang="en-US" sz="2400" b="1" strike="noStrike" spc="-1" dirty="0">
                <a:solidFill>
                  <a:srgbClr val="3F3F3F"/>
                </a:solidFill>
                <a:latin typeface="Calibri"/>
                <a:ea typeface="DejaVu Sans"/>
              </a:rPr>
              <a:t> (</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&amp;</a:t>
            </a:r>
            <a:r>
              <a:rPr lang="en-US" sz="2400" b="1" strike="noStrike" spc="-1" dirty="0" err="1">
                <a:solidFill>
                  <a:srgbClr val="3F3F3F"/>
                </a:solidFill>
                <a:latin typeface="Calibri"/>
                <a:ea typeface="DejaVu Sans"/>
              </a:rPr>
              <a:t>NewHandle</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&amp;</a:t>
            </a:r>
            <a:r>
              <a:rPr lang="en-US" sz="2400" b="1" strike="noStrike" spc="-1" dirty="0" err="1">
                <a:solidFill>
                  <a:srgbClr val="3F3F3F"/>
                </a:solidFill>
                <a:latin typeface="Calibri"/>
                <a:ea typeface="DejaVu Sans"/>
              </a:rPr>
              <a:t>gEfiCpuArchProtocolGuid</a:t>
            </a:r>
            <a:r>
              <a:rPr lang="en-US" sz="2400" b="1" strike="noStrike" spc="-1" dirty="0">
                <a:solidFill>
                  <a:srgbClr val="3F3F3F"/>
                </a:solidFill>
                <a:latin typeface="Calibri"/>
                <a:ea typeface="DejaVu Sans"/>
              </a:rPr>
              <a:t>,</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EFI_NATIVE_INTERFACE,</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&amp;</a:t>
            </a:r>
            <a:r>
              <a:rPr lang="en-US" sz="2400" b="1" strike="noStrike" spc="-1" dirty="0" err="1">
                <a:solidFill>
                  <a:srgbClr val="3F3F3F"/>
                </a:solidFill>
                <a:latin typeface="Calibri"/>
                <a:ea typeface="DejaVu Sans"/>
              </a:rPr>
              <a:t>gCpu</a:t>
            </a:r>
            <a:endParaRPr lang="en-US" sz="2400" b="0" strike="noStrike" spc="-1" dirty="0">
              <a:latin typeface="Arial"/>
            </a:endParaRPr>
          </a:p>
          <a:p>
            <a:pPr marL="341280" indent="-339120">
              <a:lnSpc>
                <a:spcPct val="90000"/>
              </a:lnSpc>
              <a:spcBef>
                <a:spcPts val="99"/>
              </a:spcBef>
            </a:pPr>
            <a:r>
              <a:rPr lang="en-US" sz="2400" b="1" strike="noStrike" spc="-1" dirty="0">
                <a:solidFill>
                  <a:srgbClr val="3F3F3F"/>
                </a:solidFill>
                <a:latin typeface="Calibri"/>
                <a:ea typeface="DejaVu Sans"/>
              </a:rPr>
              <a:t>                    );</a:t>
            </a:r>
            <a:endParaRPr lang="en-US" sz="2400" b="0" strike="noStrike" spc="-1" dirty="0">
              <a:latin typeface="Arial"/>
            </a:endParaRPr>
          </a:p>
        </p:txBody>
      </p:sp>
    </p:spTree>
    <p:extLst>
      <p:ext uri="{BB962C8B-B14F-4D97-AF65-F5344CB8AC3E}">
        <p14:creationId xmlns:p14="http://schemas.microsoft.com/office/powerpoint/2010/main" val="11299886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Two Kinds of DXE Drivers – Driver Model Driver</a:t>
            </a:r>
            <a:endParaRPr lang="en-US" dirty="0"/>
          </a:p>
        </p:txBody>
      </p:sp>
      <p:sp>
        <p:nvSpPr>
          <p:cNvPr id="4" name="CustomShape 2">
            <a:extLst>
              <a:ext uri="{FF2B5EF4-FFF2-40B4-BE49-F238E27FC236}">
                <a16:creationId xmlns:a16="http://schemas.microsoft.com/office/drawing/2014/main" id="{3A3C7788-7F3E-43FC-83AE-14429EC1898F}"/>
              </a:ext>
            </a:extLst>
          </p:cNvPr>
          <p:cNvSpPr/>
          <p:nvPr/>
        </p:nvSpPr>
        <p:spPr>
          <a:xfrm>
            <a:off x="838200" y="1375160"/>
            <a:ext cx="723900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5000" lnSpcReduction="20000"/>
          </a:bodyPr>
          <a:lstStyle/>
          <a:p>
            <a:pPr marL="341280" indent="-339120">
              <a:lnSpc>
                <a:spcPct val="90000"/>
              </a:lnSpc>
              <a:spcBef>
                <a:spcPts val="1001"/>
              </a:spcBef>
            </a:pPr>
            <a:r>
              <a:rPr lang="en-US" sz="3200" b="1" strike="noStrike" spc="-1" dirty="0">
                <a:solidFill>
                  <a:srgbClr val="3F3F3F"/>
                </a:solidFill>
                <a:latin typeface="Segoe UI"/>
                <a:ea typeface="DejaVu Sans"/>
              </a:rPr>
              <a:t>Driver Model Driver:</a:t>
            </a:r>
            <a:endParaRPr lang="en-US" sz="32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static EFI_DRIVER_BINDING_PROTOCOL </a:t>
            </a:r>
            <a:r>
              <a:rPr lang="en-US" sz="2800" b="1" strike="noStrike" spc="-1" dirty="0" err="1">
                <a:solidFill>
                  <a:srgbClr val="3F3F3F"/>
                </a:solidFill>
                <a:latin typeface="Calibri"/>
                <a:ea typeface="DejaVu Sans"/>
              </a:rPr>
              <a:t>mIsaAcpiDriver</a:t>
            </a:r>
            <a:r>
              <a:rPr lang="en-US" sz="2800" b="1" strike="noStrike" spc="-1" dirty="0">
                <a:solidFill>
                  <a:srgbClr val="3F3F3F"/>
                </a:solidFill>
                <a:latin typeface="Calibri"/>
                <a:ea typeface="DejaVu Sans"/>
              </a:rPr>
              <a:t> = {</a:t>
            </a:r>
            <a:endParaRPr lang="en-US" sz="28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	</a:t>
            </a:r>
            <a:r>
              <a:rPr lang="en-US" sz="2800" b="1" strike="noStrike" spc="-1" dirty="0" err="1">
                <a:solidFill>
                  <a:srgbClr val="3F3F3F"/>
                </a:solidFill>
                <a:latin typeface="Calibri"/>
                <a:ea typeface="DejaVu Sans"/>
              </a:rPr>
              <a:t>IsaAcpiDriver</a:t>
            </a:r>
            <a:r>
              <a:rPr lang="en-US" sz="2800" b="1" strike="noStrike" spc="-1" dirty="0" err="1">
                <a:solidFill>
                  <a:srgbClr val="FF0000"/>
                </a:solidFill>
                <a:latin typeface="Calibri"/>
                <a:ea typeface="DejaVu Sans"/>
              </a:rPr>
              <a:t>Supported</a:t>
            </a:r>
            <a:r>
              <a:rPr lang="en-US" sz="2800" b="1" strike="noStrike" spc="-1" dirty="0">
                <a:solidFill>
                  <a:srgbClr val="3F3F3F"/>
                </a:solidFill>
                <a:latin typeface="Calibri"/>
                <a:ea typeface="DejaVu Sans"/>
              </a:rPr>
              <a:t>,</a:t>
            </a:r>
            <a:endParaRPr lang="en-US" sz="28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	</a:t>
            </a:r>
            <a:r>
              <a:rPr lang="en-US" sz="2800" b="1" strike="noStrike" spc="-1" dirty="0" err="1">
                <a:solidFill>
                  <a:srgbClr val="3F3F3F"/>
                </a:solidFill>
                <a:latin typeface="Calibri"/>
                <a:ea typeface="DejaVu Sans"/>
              </a:rPr>
              <a:t>IsaAcpiDriver</a:t>
            </a:r>
            <a:r>
              <a:rPr lang="en-US" sz="2800" b="1" strike="noStrike" spc="-1" dirty="0" err="1">
                <a:solidFill>
                  <a:srgbClr val="FF0000"/>
                </a:solidFill>
                <a:latin typeface="Calibri"/>
                <a:ea typeface="DejaVu Sans"/>
              </a:rPr>
              <a:t>Start</a:t>
            </a:r>
            <a:r>
              <a:rPr lang="en-US" sz="2800" b="1" strike="noStrike" spc="-1" dirty="0">
                <a:solidFill>
                  <a:srgbClr val="3F3F3F"/>
                </a:solidFill>
                <a:latin typeface="Calibri"/>
                <a:ea typeface="DejaVu Sans"/>
              </a:rPr>
              <a:t>,</a:t>
            </a:r>
            <a:endParaRPr lang="en-US" sz="28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	</a:t>
            </a:r>
            <a:r>
              <a:rPr lang="en-US" sz="2800" b="1" strike="noStrike" spc="-1" dirty="0" err="1">
                <a:solidFill>
                  <a:srgbClr val="3F3F3F"/>
                </a:solidFill>
                <a:latin typeface="Calibri"/>
                <a:ea typeface="DejaVu Sans"/>
              </a:rPr>
              <a:t>IsaAcpiDriver</a:t>
            </a:r>
            <a:r>
              <a:rPr lang="en-US" sz="2800" b="1" strike="noStrike" spc="-1" dirty="0" err="1">
                <a:solidFill>
                  <a:srgbClr val="FF0000"/>
                </a:solidFill>
                <a:latin typeface="Calibri"/>
                <a:ea typeface="DejaVu Sans"/>
              </a:rPr>
              <a:t>Stop</a:t>
            </a:r>
            <a:r>
              <a:rPr lang="en-US" sz="2800" b="1" strike="noStrike" spc="-1" dirty="0">
                <a:solidFill>
                  <a:srgbClr val="3F3F3F"/>
                </a:solidFill>
                <a:latin typeface="Calibri"/>
                <a:ea typeface="DejaVu Sans"/>
              </a:rPr>
              <a:t>,</a:t>
            </a:r>
            <a:endParaRPr lang="en-US" sz="28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	1,</a:t>
            </a:r>
            <a:endParaRPr lang="en-US" sz="28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	NULL,</a:t>
            </a:r>
            <a:endParaRPr lang="en-US" sz="28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	NULL</a:t>
            </a:r>
            <a:endParaRPr lang="en-US" sz="28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a:t>
            </a:r>
            <a:endParaRPr lang="en-US" sz="2800" b="0" strike="noStrike" spc="-1" dirty="0">
              <a:latin typeface="Arial"/>
            </a:endParaRPr>
          </a:p>
          <a:p>
            <a:pPr marL="341280" indent="-339120">
              <a:lnSpc>
                <a:spcPct val="90000"/>
              </a:lnSpc>
              <a:spcBef>
                <a:spcPts val="1001"/>
              </a:spcBef>
            </a:pPr>
            <a:endParaRPr lang="en-US" sz="2800" b="0" strike="noStrike" spc="-1" dirty="0">
              <a:latin typeface="Arial"/>
            </a:endParaRPr>
          </a:p>
          <a:p>
            <a:pPr marL="341280" indent="-339120">
              <a:lnSpc>
                <a:spcPct val="90000"/>
              </a:lnSpc>
              <a:spcBef>
                <a:spcPts val="1001"/>
              </a:spcBef>
            </a:pPr>
            <a:r>
              <a:rPr lang="en-US" sz="2800" b="1" strike="noStrike" spc="-1" dirty="0">
                <a:solidFill>
                  <a:srgbClr val="3F3F3F"/>
                </a:solidFill>
                <a:latin typeface="Calibri"/>
                <a:ea typeface="DejaVu Sans"/>
              </a:rPr>
              <a:t>Status = </a:t>
            </a:r>
            <a:r>
              <a:rPr lang="en-US" sz="2800" b="1" strike="noStrike" spc="-1" dirty="0" err="1">
                <a:solidFill>
                  <a:srgbClr val="FF0000"/>
                </a:solidFill>
                <a:latin typeface="Calibri"/>
                <a:ea typeface="DejaVu Sans"/>
              </a:rPr>
              <a:t>EfiLibInstallDriverBinding</a:t>
            </a:r>
            <a:r>
              <a:rPr lang="en-US" sz="2800" b="1" strike="noStrike" spc="-1" dirty="0">
                <a:solidFill>
                  <a:srgbClr val="3F3F3F"/>
                </a:solidFill>
                <a:latin typeface="Calibri"/>
                <a:ea typeface="DejaVu Sans"/>
              </a:rPr>
              <a:t> (</a:t>
            </a:r>
            <a:r>
              <a:rPr lang="en-US" sz="2800" b="1" strike="noStrike" spc="-1" dirty="0" err="1">
                <a:solidFill>
                  <a:srgbClr val="3F3F3F"/>
                </a:solidFill>
                <a:latin typeface="Calibri"/>
                <a:ea typeface="DejaVu Sans"/>
              </a:rPr>
              <a:t>ImageHandle</a:t>
            </a:r>
            <a:r>
              <a:rPr lang="en-US" sz="2800" b="1" strike="noStrike" spc="-1" dirty="0">
                <a:solidFill>
                  <a:srgbClr val="3F3F3F"/>
                </a:solidFill>
                <a:latin typeface="Calibri"/>
                <a:ea typeface="DejaVu Sans"/>
              </a:rPr>
              <a:t>, </a:t>
            </a:r>
            <a:r>
              <a:rPr lang="en-US" sz="2800" b="1" strike="noStrike" spc="-1" dirty="0" err="1">
                <a:solidFill>
                  <a:srgbClr val="3F3F3F"/>
                </a:solidFill>
                <a:latin typeface="Calibri"/>
                <a:ea typeface="DejaVu Sans"/>
              </a:rPr>
              <a:t>SystemTable</a:t>
            </a:r>
            <a:r>
              <a:rPr lang="en-US" sz="2800" b="1" strike="noStrike" spc="-1" dirty="0">
                <a:solidFill>
                  <a:srgbClr val="3F3F3F"/>
                </a:solidFill>
                <a:latin typeface="Calibri"/>
                <a:ea typeface="DejaVu Sans"/>
              </a:rPr>
              <a:t>, &amp;</a:t>
            </a:r>
            <a:r>
              <a:rPr lang="en-US" sz="2800" b="1" strike="noStrike" spc="-1" dirty="0" err="1">
                <a:solidFill>
                  <a:srgbClr val="3F3F3F"/>
                </a:solidFill>
                <a:latin typeface="Calibri"/>
                <a:ea typeface="DejaVu Sans"/>
              </a:rPr>
              <a:t>mIsaAcpiDriver</a:t>
            </a:r>
            <a:r>
              <a:rPr lang="en-US" sz="2800" b="1" strike="noStrike" spc="-1" dirty="0">
                <a:solidFill>
                  <a:srgbClr val="3F3F3F"/>
                </a:solidFill>
                <a:latin typeface="Calibri"/>
                <a:ea typeface="DejaVu Sans"/>
              </a:rPr>
              <a:t>, </a:t>
            </a:r>
            <a:r>
              <a:rPr lang="en-US" sz="2800" b="1" strike="noStrike" spc="-1" dirty="0" err="1">
                <a:solidFill>
                  <a:srgbClr val="3F3F3F"/>
                </a:solidFill>
                <a:latin typeface="Calibri"/>
                <a:ea typeface="DejaVu Sans"/>
              </a:rPr>
              <a:t>ImageHandle</a:t>
            </a:r>
            <a:r>
              <a:rPr lang="en-US" sz="2800" b="1" strike="noStrike" spc="-1" dirty="0">
                <a:solidFill>
                  <a:srgbClr val="3F3F3F"/>
                </a:solidFill>
                <a:latin typeface="Calibri"/>
                <a:ea typeface="DejaVu Sans"/>
              </a:rPr>
              <a:t>);</a:t>
            </a:r>
            <a:endParaRPr lang="en-US" sz="2800" b="0" strike="noStrike" spc="-1" dirty="0">
              <a:latin typeface="Arial"/>
            </a:endParaRPr>
          </a:p>
          <a:p>
            <a:pPr marL="228600" indent="-226440">
              <a:lnSpc>
                <a:spcPct val="90000"/>
              </a:lnSpc>
              <a:spcBef>
                <a:spcPts val="1001"/>
              </a:spcBef>
            </a:pPr>
            <a:endParaRPr lang="en-US" sz="2800" b="0" strike="noStrike" spc="-1" dirty="0">
              <a:latin typeface="Arial"/>
            </a:endParaRPr>
          </a:p>
        </p:txBody>
      </p:sp>
    </p:spTree>
    <p:extLst>
      <p:ext uri="{BB962C8B-B14F-4D97-AF65-F5344CB8AC3E}">
        <p14:creationId xmlns:p14="http://schemas.microsoft.com/office/powerpoint/2010/main" val="36095729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DXE Architectural Protocols</a:t>
            </a:r>
            <a:endParaRPr lang="en-US" dirty="0"/>
          </a:p>
        </p:txBody>
      </p:sp>
      <p:sp>
        <p:nvSpPr>
          <p:cNvPr id="5" name="CustomShape 2">
            <a:extLst>
              <a:ext uri="{FF2B5EF4-FFF2-40B4-BE49-F238E27FC236}">
                <a16:creationId xmlns:a16="http://schemas.microsoft.com/office/drawing/2014/main" id="{4DDCD0E9-4828-4D37-BDEB-53A080398EC0}"/>
              </a:ext>
            </a:extLst>
          </p:cNvPr>
          <p:cNvSpPr/>
          <p:nvPr/>
        </p:nvSpPr>
        <p:spPr>
          <a:xfrm>
            <a:off x="838200" y="2775000"/>
            <a:ext cx="4030200" cy="2950560"/>
          </a:xfrm>
          <a:prstGeom prst="ellipse">
            <a:avLst/>
          </a:prstGeom>
          <a:noFill/>
          <a:ln w="38160" cap="rnd">
            <a:solidFill>
              <a:srgbClr val="FF9933"/>
            </a:solidFill>
            <a:custDash>
              <a:ds d="400000" sp="300000"/>
            </a:custDash>
            <a:miter/>
          </a:ln>
        </p:spPr>
        <p:style>
          <a:lnRef idx="0">
            <a:scrgbClr r="0" g="0" b="0"/>
          </a:lnRef>
          <a:fillRef idx="0">
            <a:scrgbClr r="0" g="0" b="0"/>
          </a:fillRef>
          <a:effectRef idx="0">
            <a:scrgbClr r="0" g="0" b="0"/>
          </a:effectRef>
          <a:fontRef idx="minor"/>
        </p:style>
      </p:sp>
      <p:sp>
        <p:nvSpPr>
          <p:cNvPr id="6" name="CustomShape 3">
            <a:extLst>
              <a:ext uri="{FF2B5EF4-FFF2-40B4-BE49-F238E27FC236}">
                <a16:creationId xmlns:a16="http://schemas.microsoft.com/office/drawing/2014/main" id="{0C322C99-FC96-4784-B1C9-388CBC24AA00}"/>
              </a:ext>
            </a:extLst>
          </p:cNvPr>
          <p:cNvSpPr/>
          <p:nvPr/>
        </p:nvSpPr>
        <p:spPr>
          <a:xfrm>
            <a:off x="2350920" y="2055720"/>
            <a:ext cx="501120" cy="645480"/>
          </a:xfrm>
          <a:prstGeom prst="upArrow">
            <a:avLst>
              <a:gd name="adj1" fmla="val 35787"/>
              <a:gd name="adj2" fmla="val 41323"/>
            </a:avLst>
          </a:prstGeom>
          <a:solidFill>
            <a:srgbClr val="FFFF00"/>
          </a:solidFill>
          <a:ln w="9360">
            <a:solidFill>
              <a:srgbClr val="FF9933"/>
            </a:solidFill>
            <a:miter/>
          </a:ln>
        </p:spPr>
        <p:style>
          <a:lnRef idx="0">
            <a:scrgbClr r="0" g="0" b="0"/>
          </a:lnRef>
          <a:fillRef idx="0">
            <a:scrgbClr r="0" g="0" b="0"/>
          </a:fillRef>
          <a:effectRef idx="0">
            <a:scrgbClr r="0" g="0" b="0"/>
          </a:effectRef>
          <a:fontRef idx="minor"/>
        </p:style>
      </p:sp>
      <p:grpSp>
        <p:nvGrpSpPr>
          <p:cNvPr id="7" name="Group 4">
            <a:extLst>
              <a:ext uri="{FF2B5EF4-FFF2-40B4-BE49-F238E27FC236}">
                <a16:creationId xmlns:a16="http://schemas.microsoft.com/office/drawing/2014/main" id="{EB960C8F-CFFE-4868-AAB5-605819A7E9CB}"/>
              </a:ext>
            </a:extLst>
          </p:cNvPr>
          <p:cNvGrpSpPr/>
          <p:nvPr/>
        </p:nvGrpSpPr>
        <p:grpSpPr>
          <a:xfrm>
            <a:off x="911280" y="1695360"/>
            <a:ext cx="3885480" cy="304560"/>
            <a:chOff x="324000" y="1771560"/>
            <a:chExt cx="3885480" cy="304560"/>
          </a:xfrm>
        </p:grpSpPr>
        <p:sp>
          <p:nvSpPr>
            <p:cNvPr id="8" name="CustomShape 5">
              <a:extLst>
                <a:ext uri="{FF2B5EF4-FFF2-40B4-BE49-F238E27FC236}">
                  <a16:creationId xmlns:a16="http://schemas.microsoft.com/office/drawing/2014/main" id="{210A61C1-016C-4BD8-A142-2A4D9980BF8E}"/>
                </a:ext>
              </a:extLst>
            </p:cNvPr>
            <p:cNvSpPr/>
            <p:nvPr/>
          </p:nvSpPr>
          <p:spPr>
            <a:xfrm>
              <a:off x="324000" y="1771560"/>
              <a:ext cx="2302920" cy="304560"/>
            </a:xfrm>
            <a:prstGeom prst="rect">
              <a:avLst/>
            </a:prstGeom>
            <a:solidFill>
              <a:srgbClr val="0066FF"/>
            </a:solidFill>
            <a:ln w="28440">
              <a:solidFill>
                <a:srgbClr val="000000"/>
              </a:solidFill>
              <a:miter/>
            </a:ln>
          </p:spPr>
          <p:style>
            <a:lnRef idx="0">
              <a:scrgbClr r="0" g="0" b="0"/>
            </a:lnRef>
            <a:fillRef idx="0">
              <a:scrgbClr r="0" g="0" b="0"/>
            </a:fillRef>
            <a:effectRef idx="0">
              <a:scrgbClr r="0" g="0" b="0"/>
            </a:effectRef>
            <a:fontRef idx="minor"/>
          </p:style>
          <p:txBody>
            <a:bodyPr lIns="90000" tIns="46800" rIns="90000" bIns="46800">
              <a:noAutofit/>
            </a:bodyPr>
            <a:lstStyle/>
            <a:p>
              <a:pPr algn="ctr">
                <a:lnSpc>
                  <a:spcPct val="100000"/>
                </a:lnSpc>
                <a:spcBef>
                  <a:spcPts val="876"/>
                </a:spcBef>
              </a:pPr>
              <a:r>
                <a:rPr lang="en-US" sz="1400" b="1" strike="noStrike" spc="-1">
                  <a:solidFill>
                    <a:srgbClr val="FFFFFF"/>
                  </a:solidFill>
                  <a:latin typeface="Segoe UI"/>
                  <a:ea typeface="DejaVu Sans"/>
                </a:rPr>
                <a:t>EFI Boot Service Table</a:t>
              </a:r>
              <a:endParaRPr lang="en-US" sz="1400" b="0" strike="noStrike" spc="-1">
                <a:latin typeface="Arial"/>
              </a:endParaRPr>
            </a:p>
          </p:txBody>
        </p:sp>
        <p:sp>
          <p:nvSpPr>
            <p:cNvPr id="9" name="CustomShape 6">
              <a:extLst>
                <a:ext uri="{FF2B5EF4-FFF2-40B4-BE49-F238E27FC236}">
                  <a16:creationId xmlns:a16="http://schemas.microsoft.com/office/drawing/2014/main" id="{80B1485D-9D6B-41B7-BA2F-3FD789B3521D}"/>
                </a:ext>
              </a:extLst>
            </p:cNvPr>
            <p:cNvSpPr/>
            <p:nvPr/>
          </p:nvSpPr>
          <p:spPr>
            <a:xfrm>
              <a:off x="2629080" y="1771560"/>
              <a:ext cx="1580400" cy="304560"/>
            </a:xfrm>
            <a:prstGeom prst="rect">
              <a:avLst/>
            </a:prstGeom>
            <a:solidFill>
              <a:srgbClr val="0066FF"/>
            </a:solidFill>
            <a:ln w="28440">
              <a:solidFill>
                <a:srgbClr val="000000"/>
              </a:solidFill>
              <a:miter/>
            </a:ln>
          </p:spPr>
          <p:style>
            <a:lnRef idx="0">
              <a:scrgbClr r="0" g="0" b="0"/>
            </a:lnRef>
            <a:fillRef idx="0">
              <a:scrgbClr r="0" g="0" b="0"/>
            </a:fillRef>
            <a:effectRef idx="0">
              <a:scrgbClr r="0" g="0" b="0"/>
            </a:effectRef>
            <a:fontRef idx="minor"/>
          </p:style>
          <p:txBody>
            <a:bodyPr lIns="90000" tIns="46800" rIns="90000" bIns="46800">
              <a:noAutofit/>
            </a:bodyPr>
            <a:lstStyle/>
            <a:p>
              <a:pPr algn="ctr">
                <a:lnSpc>
                  <a:spcPct val="100000"/>
                </a:lnSpc>
                <a:spcBef>
                  <a:spcPts val="876"/>
                </a:spcBef>
              </a:pPr>
              <a:r>
                <a:rPr lang="en-US" sz="1400" b="1" strike="noStrike" spc="-1">
                  <a:solidFill>
                    <a:srgbClr val="FFFFFF"/>
                  </a:solidFill>
                  <a:latin typeface="Segoe UI"/>
                  <a:ea typeface="DejaVu Sans"/>
                </a:rPr>
                <a:t>DXE Services</a:t>
              </a:r>
              <a:endParaRPr lang="en-US" sz="1400" b="0" strike="noStrike" spc="-1">
                <a:latin typeface="Arial"/>
              </a:endParaRPr>
            </a:p>
          </p:txBody>
        </p:sp>
      </p:grpSp>
      <p:grpSp>
        <p:nvGrpSpPr>
          <p:cNvPr id="10" name="Group 7">
            <a:extLst>
              <a:ext uri="{FF2B5EF4-FFF2-40B4-BE49-F238E27FC236}">
                <a16:creationId xmlns:a16="http://schemas.microsoft.com/office/drawing/2014/main" id="{33550DAD-9802-44AB-A5C4-2FCED45FDC38}"/>
              </a:ext>
            </a:extLst>
          </p:cNvPr>
          <p:cNvGrpSpPr/>
          <p:nvPr/>
        </p:nvGrpSpPr>
        <p:grpSpPr>
          <a:xfrm>
            <a:off x="4798920" y="1695360"/>
            <a:ext cx="4031640" cy="304560"/>
            <a:chOff x="4211640" y="1771560"/>
            <a:chExt cx="4031640" cy="304560"/>
          </a:xfrm>
        </p:grpSpPr>
        <p:sp>
          <p:nvSpPr>
            <p:cNvPr id="11" name="CustomShape 8">
              <a:extLst>
                <a:ext uri="{FF2B5EF4-FFF2-40B4-BE49-F238E27FC236}">
                  <a16:creationId xmlns:a16="http://schemas.microsoft.com/office/drawing/2014/main" id="{51656AF9-E953-42EC-BD17-17934CF2AB9D}"/>
                </a:ext>
              </a:extLst>
            </p:cNvPr>
            <p:cNvSpPr/>
            <p:nvPr/>
          </p:nvSpPr>
          <p:spPr>
            <a:xfrm>
              <a:off x="4211640" y="1771560"/>
              <a:ext cx="1582200" cy="304560"/>
            </a:xfrm>
            <a:prstGeom prst="rect">
              <a:avLst/>
            </a:prstGeom>
            <a:solidFill>
              <a:srgbClr val="800080"/>
            </a:solidFill>
            <a:ln w="28440">
              <a:solidFill>
                <a:srgbClr val="000000"/>
              </a:solidFill>
              <a:miter/>
            </a:ln>
          </p:spPr>
          <p:style>
            <a:lnRef idx="0">
              <a:scrgbClr r="0" g="0" b="0"/>
            </a:lnRef>
            <a:fillRef idx="0">
              <a:scrgbClr r="0" g="0" b="0"/>
            </a:fillRef>
            <a:effectRef idx="0">
              <a:scrgbClr r="0" g="0" b="0"/>
            </a:effectRef>
            <a:fontRef idx="minor"/>
          </p:style>
          <p:txBody>
            <a:bodyPr lIns="0" tIns="46800" rIns="0" bIns="46800">
              <a:noAutofit/>
            </a:bodyPr>
            <a:lstStyle/>
            <a:p>
              <a:pPr algn="ctr">
                <a:lnSpc>
                  <a:spcPct val="100000"/>
                </a:lnSpc>
                <a:spcBef>
                  <a:spcPts val="876"/>
                </a:spcBef>
              </a:pPr>
              <a:r>
                <a:rPr lang="en-US" sz="1400" b="1" strike="noStrike" spc="-1">
                  <a:solidFill>
                    <a:srgbClr val="FFFFFF"/>
                  </a:solidFill>
                  <a:latin typeface="Segoe UI"/>
                  <a:ea typeface="DejaVu Sans"/>
                </a:rPr>
                <a:t>EFI System Table</a:t>
              </a:r>
              <a:endParaRPr lang="en-US" sz="1400" b="0" strike="noStrike" spc="-1">
                <a:latin typeface="Arial"/>
              </a:endParaRPr>
            </a:p>
          </p:txBody>
        </p:sp>
        <p:sp>
          <p:nvSpPr>
            <p:cNvPr id="12" name="CustomShape 9">
              <a:extLst>
                <a:ext uri="{FF2B5EF4-FFF2-40B4-BE49-F238E27FC236}">
                  <a16:creationId xmlns:a16="http://schemas.microsoft.com/office/drawing/2014/main" id="{B383104C-34F0-4F83-9D30-CC57498B6320}"/>
                </a:ext>
              </a:extLst>
            </p:cNvPr>
            <p:cNvSpPr/>
            <p:nvPr/>
          </p:nvSpPr>
          <p:spPr>
            <a:xfrm>
              <a:off x="5796000" y="1771560"/>
              <a:ext cx="2447280" cy="304560"/>
            </a:xfrm>
            <a:prstGeom prst="rect">
              <a:avLst/>
            </a:prstGeom>
            <a:solidFill>
              <a:srgbClr val="800080"/>
            </a:solidFill>
            <a:ln w="28440">
              <a:solidFill>
                <a:srgbClr val="000000"/>
              </a:solidFill>
              <a:miter/>
            </a:ln>
          </p:spPr>
          <p:style>
            <a:lnRef idx="0">
              <a:scrgbClr r="0" g="0" b="0"/>
            </a:lnRef>
            <a:fillRef idx="0">
              <a:scrgbClr r="0" g="0" b="0"/>
            </a:fillRef>
            <a:effectRef idx="0">
              <a:scrgbClr r="0" g="0" b="0"/>
            </a:effectRef>
            <a:fontRef idx="minor"/>
          </p:style>
          <p:txBody>
            <a:bodyPr lIns="0" tIns="46800" rIns="0" bIns="46800">
              <a:noAutofit/>
            </a:bodyPr>
            <a:lstStyle/>
            <a:p>
              <a:pPr algn="ctr">
                <a:lnSpc>
                  <a:spcPct val="100000"/>
                </a:lnSpc>
                <a:spcBef>
                  <a:spcPts val="876"/>
                </a:spcBef>
              </a:pPr>
              <a:r>
                <a:rPr lang="en-US" sz="1400" b="1" strike="noStrike" spc="-1">
                  <a:solidFill>
                    <a:srgbClr val="FFFFFF"/>
                  </a:solidFill>
                  <a:latin typeface="Segoe UI"/>
                  <a:ea typeface="DejaVu Sans"/>
                </a:rPr>
                <a:t>EFI Runtime Service Table</a:t>
              </a:r>
              <a:endParaRPr lang="en-US" sz="1400" b="0" strike="noStrike" spc="-1">
                <a:latin typeface="Arial"/>
              </a:endParaRPr>
            </a:p>
          </p:txBody>
        </p:sp>
      </p:grpSp>
      <p:sp>
        <p:nvSpPr>
          <p:cNvPr id="13" name="CustomShape 10">
            <a:extLst>
              <a:ext uri="{FF2B5EF4-FFF2-40B4-BE49-F238E27FC236}">
                <a16:creationId xmlns:a16="http://schemas.microsoft.com/office/drawing/2014/main" id="{6662029A-3B8F-4D89-9BA6-7FD07F51799C}"/>
              </a:ext>
            </a:extLst>
          </p:cNvPr>
          <p:cNvSpPr/>
          <p:nvPr/>
        </p:nvSpPr>
        <p:spPr>
          <a:xfrm>
            <a:off x="5806920" y="2848080"/>
            <a:ext cx="3166560" cy="2733120"/>
          </a:xfrm>
          <a:prstGeom prst="ellipse">
            <a:avLst/>
          </a:prstGeom>
          <a:noFill/>
          <a:ln w="38160" cap="rnd">
            <a:solidFill>
              <a:srgbClr val="FF9933"/>
            </a:solidFill>
            <a:custDash>
              <a:ds d="400000" sp="300000"/>
            </a:custDash>
            <a:miter/>
          </a:ln>
        </p:spPr>
        <p:style>
          <a:lnRef idx="0">
            <a:scrgbClr r="0" g="0" b="0"/>
          </a:lnRef>
          <a:fillRef idx="0">
            <a:scrgbClr r="0" g="0" b="0"/>
          </a:fillRef>
          <a:effectRef idx="0">
            <a:scrgbClr r="0" g="0" b="0"/>
          </a:effectRef>
          <a:fontRef idx="minor"/>
        </p:style>
      </p:sp>
      <p:sp>
        <p:nvSpPr>
          <p:cNvPr id="14" name="CustomShape 11">
            <a:extLst>
              <a:ext uri="{FF2B5EF4-FFF2-40B4-BE49-F238E27FC236}">
                <a16:creationId xmlns:a16="http://schemas.microsoft.com/office/drawing/2014/main" id="{ADDAF744-FC0B-4EF0-929D-B5B6579E8BF5}"/>
              </a:ext>
            </a:extLst>
          </p:cNvPr>
          <p:cNvSpPr/>
          <p:nvPr/>
        </p:nvSpPr>
        <p:spPr>
          <a:xfrm>
            <a:off x="7104000" y="2055720"/>
            <a:ext cx="501120" cy="645480"/>
          </a:xfrm>
          <a:prstGeom prst="upArrow">
            <a:avLst>
              <a:gd name="adj1" fmla="val 35787"/>
              <a:gd name="adj2" fmla="val 41323"/>
            </a:avLst>
          </a:prstGeom>
          <a:solidFill>
            <a:srgbClr val="FFFF00"/>
          </a:solidFill>
          <a:ln w="9360">
            <a:solidFill>
              <a:srgbClr val="FF9933"/>
            </a:solidFill>
            <a:miter/>
          </a:ln>
        </p:spPr>
        <p:style>
          <a:lnRef idx="0">
            <a:scrgbClr r="0" g="0" b="0"/>
          </a:lnRef>
          <a:fillRef idx="0">
            <a:scrgbClr r="0" g="0" b="0"/>
          </a:fillRef>
          <a:effectRef idx="0">
            <a:scrgbClr r="0" g="0" b="0"/>
          </a:effectRef>
          <a:fontRef idx="minor"/>
        </p:style>
      </p:sp>
      <p:pic>
        <p:nvPicPr>
          <p:cNvPr id="15" name="圖片 14">
            <a:extLst>
              <a:ext uri="{FF2B5EF4-FFF2-40B4-BE49-F238E27FC236}">
                <a16:creationId xmlns:a16="http://schemas.microsoft.com/office/drawing/2014/main" id="{370B298F-65FE-4320-9FA8-374C3323113C}"/>
              </a:ext>
            </a:extLst>
          </p:cNvPr>
          <p:cNvPicPr/>
          <p:nvPr/>
        </p:nvPicPr>
        <p:blipFill>
          <a:blip r:embed="rId2"/>
          <a:stretch/>
        </p:blipFill>
        <p:spPr>
          <a:xfrm>
            <a:off x="904800" y="2438400"/>
            <a:ext cx="8011800" cy="3566880"/>
          </a:xfrm>
          <a:prstGeom prst="rect">
            <a:avLst/>
          </a:prstGeom>
          <a:ln>
            <a:noFill/>
          </a:ln>
        </p:spPr>
      </p:pic>
    </p:spTree>
    <p:extLst>
      <p:ext uri="{BB962C8B-B14F-4D97-AF65-F5344CB8AC3E}">
        <p14:creationId xmlns:p14="http://schemas.microsoft.com/office/powerpoint/2010/main" val="106243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0"/>
                            </p:stCondLst>
                            <p:childTnLst>
                              <p:par>
                                <p:cTn id="11" presetID="1" presetClass="entr"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par>
                          <p:cTn id="17" fill="hold">
                            <p:stCondLst>
                              <p:cond delay="0"/>
                            </p:stCondLst>
                            <p:childTnLst>
                              <p:par>
                                <p:cTn id="18" presetID="1" presetClass="entr"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par>
                          <p:cTn id="20" fill="hold">
                            <p:stCondLst>
                              <p:cond delay="0"/>
                            </p:stCondLst>
                            <p:childTnLst>
                              <p:par>
                                <p:cTn id="21" presetID="1" presetClass="entr"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UEFI System Table</a:t>
            </a:r>
            <a:endParaRPr lang="en-US" dirty="0"/>
          </a:p>
        </p:txBody>
      </p:sp>
      <p:grpSp>
        <p:nvGrpSpPr>
          <p:cNvPr id="16" name="Group 2">
            <a:extLst>
              <a:ext uri="{FF2B5EF4-FFF2-40B4-BE49-F238E27FC236}">
                <a16:creationId xmlns:a16="http://schemas.microsoft.com/office/drawing/2014/main" id="{8AFDCB97-4143-4246-B66E-5164E456BEE1}"/>
              </a:ext>
            </a:extLst>
          </p:cNvPr>
          <p:cNvGrpSpPr/>
          <p:nvPr/>
        </p:nvGrpSpPr>
        <p:grpSpPr>
          <a:xfrm>
            <a:off x="1982880" y="1316230"/>
            <a:ext cx="7413120" cy="4752720"/>
            <a:chOff x="611280" y="1341360"/>
            <a:chExt cx="7413120" cy="4752720"/>
          </a:xfrm>
        </p:grpSpPr>
        <p:sp>
          <p:nvSpPr>
            <p:cNvPr id="17" name="CustomShape 3">
              <a:extLst>
                <a:ext uri="{FF2B5EF4-FFF2-40B4-BE49-F238E27FC236}">
                  <a16:creationId xmlns:a16="http://schemas.microsoft.com/office/drawing/2014/main" id="{577A5E25-9364-4193-AA84-80727E9A7C47}"/>
                </a:ext>
              </a:extLst>
            </p:cNvPr>
            <p:cNvSpPr/>
            <p:nvPr/>
          </p:nvSpPr>
          <p:spPr>
            <a:xfrm>
              <a:off x="5621400" y="3814920"/>
              <a:ext cx="2202840" cy="269280"/>
            </a:xfrm>
            <a:prstGeom prst="rect">
              <a:avLst/>
            </a:prstGeom>
            <a:solidFill>
              <a:srgbClr val="FFFF99"/>
            </a:solidFill>
            <a:ln w="9360">
              <a:solidFill>
                <a:srgbClr val="000000"/>
              </a:solidFill>
              <a:miter/>
            </a:ln>
          </p:spPr>
          <p:style>
            <a:lnRef idx="0">
              <a:scrgbClr r="0" g="0" b="0"/>
            </a:lnRef>
            <a:fillRef idx="0">
              <a:scrgbClr r="0" g="0" b="0"/>
            </a:fillRef>
            <a:effectRef idx="0">
              <a:scrgbClr r="0" g="0" b="0"/>
            </a:effectRef>
            <a:fontRef idx="minor"/>
          </p:style>
        </p:sp>
        <p:sp>
          <p:nvSpPr>
            <p:cNvPr id="18" name="CustomShape 4">
              <a:extLst>
                <a:ext uri="{FF2B5EF4-FFF2-40B4-BE49-F238E27FC236}">
                  <a16:creationId xmlns:a16="http://schemas.microsoft.com/office/drawing/2014/main" id="{BDF49DCD-6661-4D9A-B5D6-A67AFD52DC47}"/>
                </a:ext>
              </a:extLst>
            </p:cNvPr>
            <p:cNvSpPr/>
            <p:nvPr/>
          </p:nvSpPr>
          <p:spPr>
            <a:xfrm>
              <a:off x="5739480" y="3848040"/>
              <a:ext cx="1971360" cy="1803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00"/>
                </a:spcBef>
              </a:pPr>
              <a:r>
                <a:rPr lang="en-US" sz="1200" b="1" strike="noStrike" spc="-1">
                  <a:solidFill>
                    <a:srgbClr val="000000"/>
                  </a:solidFill>
                  <a:latin typeface="Segoe UI"/>
                  <a:ea typeface="DejaVu Sans"/>
                </a:rPr>
                <a:t>System Configuration Table</a:t>
              </a:r>
              <a:endParaRPr lang="en-US" sz="1200" b="0" strike="noStrike" spc="-1">
                <a:latin typeface="Arial"/>
              </a:endParaRPr>
            </a:p>
          </p:txBody>
        </p:sp>
        <p:sp>
          <p:nvSpPr>
            <p:cNvPr id="19" name="CustomShape 5">
              <a:extLst>
                <a:ext uri="{FF2B5EF4-FFF2-40B4-BE49-F238E27FC236}">
                  <a16:creationId xmlns:a16="http://schemas.microsoft.com/office/drawing/2014/main" id="{F7D1AC52-B2FE-4398-AD70-24AAEA46E5F8}"/>
                </a:ext>
              </a:extLst>
            </p:cNvPr>
            <p:cNvSpPr/>
            <p:nvPr/>
          </p:nvSpPr>
          <p:spPr>
            <a:xfrm>
              <a:off x="5621400" y="4484520"/>
              <a:ext cx="2202840" cy="202680"/>
            </a:xfrm>
            <a:prstGeom prst="rect">
              <a:avLst/>
            </a:prstGeom>
            <a:solidFill>
              <a:srgbClr val="FFCC99"/>
            </a:solidFill>
            <a:ln w="11160">
              <a:solidFill>
                <a:srgbClr val="000000"/>
              </a:solidFill>
              <a:miter/>
            </a:ln>
          </p:spPr>
          <p:style>
            <a:lnRef idx="0">
              <a:scrgbClr r="0" g="0" b="0"/>
            </a:lnRef>
            <a:fillRef idx="0">
              <a:scrgbClr r="0" g="0" b="0"/>
            </a:fillRef>
            <a:effectRef idx="0">
              <a:scrgbClr r="0" g="0" b="0"/>
            </a:effectRef>
            <a:fontRef idx="minor"/>
          </p:style>
        </p:sp>
        <p:sp>
          <p:nvSpPr>
            <p:cNvPr id="20" name="CustomShape 6">
              <a:extLst>
                <a:ext uri="{FF2B5EF4-FFF2-40B4-BE49-F238E27FC236}">
                  <a16:creationId xmlns:a16="http://schemas.microsoft.com/office/drawing/2014/main" id="{190B539C-817F-4C2D-B27E-0BC6897B8776}"/>
                </a:ext>
              </a:extLst>
            </p:cNvPr>
            <p:cNvSpPr/>
            <p:nvPr/>
          </p:nvSpPr>
          <p:spPr>
            <a:xfrm>
              <a:off x="6425640" y="4502160"/>
              <a:ext cx="70020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ACPI Table</a:t>
              </a:r>
              <a:endParaRPr lang="en-US" sz="1100" b="0" strike="noStrike" spc="-1">
                <a:latin typeface="Arial"/>
              </a:endParaRPr>
            </a:p>
          </p:txBody>
        </p:sp>
        <p:sp>
          <p:nvSpPr>
            <p:cNvPr id="21" name="CustomShape 7">
              <a:extLst>
                <a:ext uri="{FF2B5EF4-FFF2-40B4-BE49-F238E27FC236}">
                  <a16:creationId xmlns:a16="http://schemas.microsoft.com/office/drawing/2014/main" id="{271B99BB-ABB8-41F8-ACF0-A0CFAB570169}"/>
                </a:ext>
              </a:extLst>
            </p:cNvPr>
            <p:cNvSpPr/>
            <p:nvPr/>
          </p:nvSpPr>
          <p:spPr>
            <a:xfrm>
              <a:off x="4552920" y="1407960"/>
              <a:ext cx="802800" cy="602640"/>
            </a:xfrm>
            <a:prstGeom prst="rect">
              <a:avLst/>
            </a:prstGeom>
            <a:solidFill>
              <a:srgbClr val="800080"/>
            </a:solidFill>
            <a:ln w="11160">
              <a:solidFill>
                <a:srgbClr val="000000"/>
              </a:solidFill>
              <a:miter/>
            </a:ln>
          </p:spPr>
          <p:style>
            <a:lnRef idx="0">
              <a:scrgbClr r="0" g="0" b="0"/>
            </a:lnRef>
            <a:fillRef idx="0">
              <a:scrgbClr r="0" g="0" b="0"/>
            </a:fillRef>
            <a:effectRef idx="0">
              <a:scrgbClr r="0" g="0" b="0"/>
            </a:effectRef>
            <a:fontRef idx="minor"/>
          </p:style>
        </p:sp>
        <p:sp>
          <p:nvSpPr>
            <p:cNvPr id="22" name="CustomShape 8">
              <a:extLst>
                <a:ext uri="{FF2B5EF4-FFF2-40B4-BE49-F238E27FC236}">
                  <a16:creationId xmlns:a16="http://schemas.microsoft.com/office/drawing/2014/main" id="{725B9758-10D5-425A-B4B4-F07969A23FA4}"/>
                </a:ext>
              </a:extLst>
            </p:cNvPr>
            <p:cNvSpPr/>
            <p:nvPr/>
          </p:nvSpPr>
          <p:spPr>
            <a:xfrm>
              <a:off x="4899960" y="1488960"/>
              <a:ext cx="2293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EFI </a:t>
              </a:r>
              <a:endParaRPr lang="en-US" sz="1100" b="0" strike="noStrike" spc="-1">
                <a:latin typeface="Arial"/>
              </a:endParaRPr>
            </a:p>
          </p:txBody>
        </p:sp>
        <p:sp>
          <p:nvSpPr>
            <p:cNvPr id="23" name="CustomShape 9">
              <a:extLst>
                <a:ext uri="{FF2B5EF4-FFF2-40B4-BE49-F238E27FC236}">
                  <a16:creationId xmlns:a16="http://schemas.microsoft.com/office/drawing/2014/main" id="{25FEAECF-F844-49A3-BAAA-DA3D4713901C}"/>
                </a:ext>
              </a:extLst>
            </p:cNvPr>
            <p:cNvSpPr/>
            <p:nvPr/>
          </p:nvSpPr>
          <p:spPr>
            <a:xfrm>
              <a:off x="4775400" y="1627200"/>
              <a:ext cx="50688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System </a:t>
              </a:r>
              <a:endParaRPr lang="en-US" sz="1100" b="0" strike="noStrike" spc="-1">
                <a:latin typeface="Arial"/>
              </a:endParaRPr>
            </a:p>
          </p:txBody>
        </p:sp>
        <p:sp>
          <p:nvSpPr>
            <p:cNvPr id="24" name="CustomShape 10">
              <a:extLst>
                <a:ext uri="{FF2B5EF4-FFF2-40B4-BE49-F238E27FC236}">
                  <a16:creationId xmlns:a16="http://schemas.microsoft.com/office/drawing/2014/main" id="{A8E61B7C-53D3-4503-926D-CF955BA15623}"/>
                </a:ext>
              </a:extLst>
            </p:cNvPr>
            <p:cNvSpPr/>
            <p:nvPr/>
          </p:nvSpPr>
          <p:spPr>
            <a:xfrm>
              <a:off x="4826880" y="1760400"/>
              <a:ext cx="3481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Table</a:t>
              </a:r>
              <a:endParaRPr lang="en-US" sz="1100" b="0" strike="noStrike" spc="-1">
                <a:latin typeface="Arial"/>
              </a:endParaRPr>
            </a:p>
          </p:txBody>
        </p:sp>
        <p:sp>
          <p:nvSpPr>
            <p:cNvPr id="25" name="CustomShape 11">
              <a:extLst>
                <a:ext uri="{FF2B5EF4-FFF2-40B4-BE49-F238E27FC236}">
                  <a16:creationId xmlns:a16="http://schemas.microsoft.com/office/drawing/2014/main" id="{E089469C-1E9B-4265-8E7A-B78B45810271}"/>
                </a:ext>
              </a:extLst>
            </p:cNvPr>
            <p:cNvSpPr/>
            <p:nvPr/>
          </p:nvSpPr>
          <p:spPr>
            <a:xfrm>
              <a:off x="1417680" y="2409840"/>
              <a:ext cx="2736360" cy="267840"/>
            </a:xfrm>
            <a:prstGeom prst="rect">
              <a:avLst/>
            </a:prstGeom>
            <a:solidFill>
              <a:srgbClr val="0000FF"/>
            </a:solidFill>
            <a:ln w="11160">
              <a:solidFill>
                <a:srgbClr val="000000"/>
              </a:solidFill>
              <a:miter/>
            </a:ln>
          </p:spPr>
          <p:style>
            <a:lnRef idx="0">
              <a:scrgbClr r="0" g="0" b="0"/>
            </a:lnRef>
            <a:fillRef idx="0">
              <a:scrgbClr r="0" g="0" b="0"/>
            </a:fillRef>
            <a:effectRef idx="0">
              <a:scrgbClr r="0" g="0" b="0"/>
            </a:effectRef>
            <a:fontRef idx="minor"/>
          </p:style>
        </p:sp>
        <p:sp>
          <p:nvSpPr>
            <p:cNvPr id="26" name="CustomShape 12">
              <a:extLst>
                <a:ext uri="{FF2B5EF4-FFF2-40B4-BE49-F238E27FC236}">
                  <a16:creationId xmlns:a16="http://schemas.microsoft.com/office/drawing/2014/main" id="{4454CD35-B89C-4517-A7BE-6D5940568774}"/>
                </a:ext>
              </a:extLst>
            </p:cNvPr>
            <p:cNvSpPr/>
            <p:nvPr/>
          </p:nvSpPr>
          <p:spPr>
            <a:xfrm>
              <a:off x="2060640" y="2462040"/>
              <a:ext cx="1639080" cy="1803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00"/>
                </a:spcBef>
              </a:pPr>
              <a:r>
                <a:rPr lang="en-US" sz="1200" b="1" strike="noStrike" spc="-1">
                  <a:solidFill>
                    <a:srgbClr val="FFFFFF"/>
                  </a:solidFill>
                  <a:latin typeface="Segoe UI"/>
                  <a:ea typeface="DejaVu Sans"/>
                </a:rPr>
                <a:t>EFI Boot Services Table</a:t>
              </a:r>
              <a:endParaRPr lang="en-US" sz="1200" b="0" strike="noStrike" spc="-1">
                <a:latin typeface="Arial"/>
              </a:endParaRPr>
            </a:p>
          </p:txBody>
        </p:sp>
        <p:sp>
          <p:nvSpPr>
            <p:cNvPr id="27" name="CustomShape 13">
              <a:extLst>
                <a:ext uri="{FF2B5EF4-FFF2-40B4-BE49-F238E27FC236}">
                  <a16:creationId xmlns:a16="http://schemas.microsoft.com/office/drawing/2014/main" id="{73FB9FE3-FF20-4F00-89DF-14E7AA96BB41}"/>
                </a:ext>
              </a:extLst>
            </p:cNvPr>
            <p:cNvSpPr/>
            <p:nvPr/>
          </p:nvSpPr>
          <p:spPr>
            <a:xfrm>
              <a:off x="5621400" y="1407960"/>
              <a:ext cx="2202840" cy="266040"/>
            </a:xfrm>
            <a:prstGeom prst="rect">
              <a:avLst/>
            </a:prstGeom>
            <a:solidFill>
              <a:srgbClr val="800080"/>
            </a:solidFill>
            <a:ln w="11160">
              <a:solidFill>
                <a:srgbClr val="000000"/>
              </a:solidFill>
              <a:miter/>
            </a:ln>
          </p:spPr>
          <p:style>
            <a:lnRef idx="0">
              <a:scrgbClr r="0" g="0" b="0"/>
            </a:lnRef>
            <a:fillRef idx="0">
              <a:scrgbClr r="0" g="0" b="0"/>
            </a:fillRef>
            <a:effectRef idx="0">
              <a:scrgbClr r="0" g="0" b="0"/>
            </a:effectRef>
            <a:fontRef idx="minor"/>
          </p:style>
        </p:sp>
        <p:sp>
          <p:nvSpPr>
            <p:cNvPr id="28" name="CustomShape 14">
              <a:extLst>
                <a:ext uri="{FF2B5EF4-FFF2-40B4-BE49-F238E27FC236}">
                  <a16:creationId xmlns:a16="http://schemas.microsoft.com/office/drawing/2014/main" id="{A4115698-6416-415D-9D77-C3F518C94551}"/>
                </a:ext>
              </a:extLst>
            </p:cNvPr>
            <p:cNvSpPr/>
            <p:nvPr/>
          </p:nvSpPr>
          <p:spPr>
            <a:xfrm>
              <a:off x="5764320" y="1459080"/>
              <a:ext cx="1902600" cy="1803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00"/>
                </a:spcBef>
              </a:pPr>
              <a:r>
                <a:rPr lang="en-US" sz="1200" b="1" strike="noStrike" spc="-1">
                  <a:solidFill>
                    <a:srgbClr val="FFFFFF"/>
                  </a:solidFill>
                  <a:latin typeface="Segoe UI"/>
                  <a:ea typeface="DejaVu Sans"/>
                </a:rPr>
                <a:t>EFI Runtime Services Table</a:t>
              </a:r>
              <a:endParaRPr lang="en-US" sz="1200" b="0" strike="noStrike" spc="-1">
                <a:latin typeface="Arial"/>
              </a:endParaRPr>
            </a:p>
          </p:txBody>
        </p:sp>
        <p:sp>
          <p:nvSpPr>
            <p:cNvPr id="29" name="CustomShape 15">
              <a:extLst>
                <a:ext uri="{FF2B5EF4-FFF2-40B4-BE49-F238E27FC236}">
                  <a16:creationId xmlns:a16="http://schemas.microsoft.com/office/drawing/2014/main" id="{851CE932-03A3-4A12-A8C2-790321293000}"/>
                </a:ext>
              </a:extLst>
            </p:cNvPr>
            <p:cNvSpPr/>
            <p:nvPr/>
          </p:nvSpPr>
          <p:spPr>
            <a:xfrm>
              <a:off x="5621400" y="1673280"/>
              <a:ext cx="2202840" cy="20268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sp>
        <p:sp>
          <p:nvSpPr>
            <p:cNvPr id="30" name="CustomShape 16">
              <a:extLst>
                <a:ext uri="{FF2B5EF4-FFF2-40B4-BE49-F238E27FC236}">
                  <a16:creationId xmlns:a16="http://schemas.microsoft.com/office/drawing/2014/main" id="{DC5B777A-7BCB-431D-A44B-93CF5A85C4CA}"/>
                </a:ext>
              </a:extLst>
            </p:cNvPr>
            <p:cNvSpPr/>
            <p:nvPr/>
          </p:nvSpPr>
          <p:spPr>
            <a:xfrm>
              <a:off x="6022080" y="1690560"/>
              <a:ext cx="16315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Real-Time Clock Services</a:t>
              </a:r>
              <a:endParaRPr lang="en-US" sz="1100" b="0" strike="noStrike" spc="-1">
                <a:latin typeface="Arial"/>
              </a:endParaRPr>
            </a:p>
          </p:txBody>
        </p:sp>
        <p:sp>
          <p:nvSpPr>
            <p:cNvPr id="31" name="CustomShape 17">
              <a:extLst>
                <a:ext uri="{FF2B5EF4-FFF2-40B4-BE49-F238E27FC236}">
                  <a16:creationId xmlns:a16="http://schemas.microsoft.com/office/drawing/2014/main" id="{166FF9F7-0206-4E30-B314-BDFF09E119EB}"/>
                </a:ext>
              </a:extLst>
            </p:cNvPr>
            <p:cNvSpPr/>
            <p:nvPr/>
          </p:nvSpPr>
          <p:spPr>
            <a:xfrm>
              <a:off x="5621400" y="1876320"/>
              <a:ext cx="2202840" cy="20268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sp>
        <p:sp>
          <p:nvSpPr>
            <p:cNvPr id="32" name="CustomShape 18">
              <a:extLst>
                <a:ext uri="{FF2B5EF4-FFF2-40B4-BE49-F238E27FC236}">
                  <a16:creationId xmlns:a16="http://schemas.microsoft.com/office/drawing/2014/main" id="{B570D88A-F8EF-4369-9276-0D60C639CD9A}"/>
                </a:ext>
              </a:extLst>
            </p:cNvPr>
            <p:cNvSpPr/>
            <p:nvPr/>
          </p:nvSpPr>
          <p:spPr>
            <a:xfrm>
              <a:off x="6013080" y="1892160"/>
              <a:ext cx="16207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Virtual Memory Services</a:t>
              </a:r>
              <a:endParaRPr lang="en-US" sz="1100" b="0" strike="noStrike" spc="-1">
                <a:latin typeface="Arial"/>
              </a:endParaRPr>
            </a:p>
          </p:txBody>
        </p:sp>
        <p:sp>
          <p:nvSpPr>
            <p:cNvPr id="33" name="CustomShape 19">
              <a:extLst>
                <a:ext uri="{FF2B5EF4-FFF2-40B4-BE49-F238E27FC236}">
                  <a16:creationId xmlns:a16="http://schemas.microsoft.com/office/drawing/2014/main" id="{26159B21-2632-4838-B264-612446A85C06}"/>
                </a:ext>
              </a:extLst>
            </p:cNvPr>
            <p:cNvSpPr/>
            <p:nvPr/>
          </p:nvSpPr>
          <p:spPr>
            <a:xfrm>
              <a:off x="5621400" y="2077920"/>
              <a:ext cx="2202840" cy="19944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sp>
        <p:sp>
          <p:nvSpPr>
            <p:cNvPr id="34" name="CustomShape 20">
              <a:extLst>
                <a:ext uri="{FF2B5EF4-FFF2-40B4-BE49-F238E27FC236}">
                  <a16:creationId xmlns:a16="http://schemas.microsoft.com/office/drawing/2014/main" id="{EC7B2C24-2922-48E3-8B37-0DC297A9FF4F}"/>
                </a:ext>
              </a:extLst>
            </p:cNvPr>
            <p:cNvSpPr/>
            <p:nvPr/>
          </p:nvSpPr>
          <p:spPr>
            <a:xfrm>
              <a:off x="6240240" y="2093760"/>
              <a:ext cx="11073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Variable Services</a:t>
              </a:r>
              <a:endParaRPr lang="en-US" sz="1100" b="0" strike="noStrike" spc="-1">
                <a:latin typeface="Arial"/>
              </a:endParaRPr>
            </a:p>
          </p:txBody>
        </p:sp>
        <p:sp>
          <p:nvSpPr>
            <p:cNvPr id="35" name="CustomShape 21">
              <a:extLst>
                <a:ext uri="{FF2B5EF4-FFF2-40B4-BE49-F238E27FC236}">
                  <a16:creationId xmlns:a16="http://schemas.microsoft.com/office/drawing/2014/main" id="{566C5D37-7A45-49B5-8D2F-AD5BE10AECA6}"/>
                </a:ext>
              </a:extLst>
            </p:cNvPr>
            <p:cNvSpPr/>
            <p:nvPr/>
          </p:nvSpPr>
          <p:spPr>
            <a:xfrm>
              <a:off x="5621400" y="2276640"/>
              <a:ext cx="2202840" cy="20268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sp>
        <p:sp>
          <p:nvSpPr>
            <p:cNvPr id="36" name="CustomShape 22">
              <a:extLst>
                <a:ext uri="{FF2B5EF4-FFF2-40B4-BE49-F238E27FC236}">
                  <a16:creationId xmlns:a16="http://schemas.microsoft.com/office/drawing/2014/main" id="{DFD62D01-D53A-4769-B67E-EE27CEFE9B8D}"/>
                </a:ext>
              </a:extLst>
            </p:cNvPr>
            <p:cNvSpPr/>
            <p:nvPr/>
          </p:nvSpPr>
          <p:spPr>
            <a:xfrm>
              <a:off x="6347160" y="2293920"/>
              <a:ext cx="93060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Reset Services</a:t>
              </a:r>
              <a:endParaRPr lang="en-US" sz="1100" b="0" strike="noStrike" spc="-1">
                <a:latin typeface="Arial"/>
              </a:endParaRPr>
            </a:p>
          </p:txBody>
        </p:sp>
        <p:sp>
          <p:nvSpPr>
            <p:cNvPr id="37" name="CustomShape 23">
              <a:extLst>
                <a:ext uri="{FF2B5EF4-FFF2-40B4-BE49-F238E27FC236}">
                  <a16:creationId xmlns:a16="http://schemas.microsoft.com/office/drawing/2014/main" id="{D52E20AE-08D5-43A0-BC63-726C2D5F6651}"/>
                </a:ext>
              </a:extLst>
            </p:cNvPr>
            <p:cNvSpPr/>
            <p:nvPr/>
          </p:nvSpPr>
          <p:spPr>
            <a:xfrm>
              <a:off x="5621400" y="2478240"/>
              <a:ext cx="2202840" cy="19944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sp>
        <p:sp>
          <p:nvSpPr>
            <p:cNvPr id="38" name="CustomShape 24">
              <a:extLst>
                <a:ext uri="{FF2B5EF4-FFF2-40B4-BE49-F238E27FC236}">
                  <a16:creationId xmlns:a16="http://schemas.microsoft.com/office/drawing/2014/main" id="{A0321436-01F8-475C-99F2-0E6727098D79}"/>
                </a:ext>
              </a:extLst>
            </p:cNvPr>
            <p:cNvSpPr/>
            <p:nvPr/>
          </p:nvSpPr>
          <p:spPr>
            <a:xfrm>
              <a:off x="6274440" y="2495520"/>
              <a:ext cx="10857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Capsule Services</a:t>
              </a:r>
              <a:endParaRPr lang="en-US" sz="1100" b="0" strike="noStrike" spc="-1">
                <a:latin typeface="Arial"/>
              </a:endParaRPr>
            </a:p>
          </p:txBody>
        </p:sp>
        <p:sp>
          <p:nvSpPr>
            <p:cNvPr id="39" name="CustomShape 25">
              <a:extLst>
                <a:ext uri="{FF2B5EF4-FFF2-40B4-BE49-F238E27FC236}">
                  <a16:creationId xmlns:a16="http://schemas.microsoft.com/office/drawing/2014/main" id="{D65F7BC2-1370-4844-8CF2-59A3156F8A50}"/>
                </a:ext>
              </a:extLst>
            </p:cNvPr>
            <p:cNvSpPr/>
            <p:nvPr/>
          </p:nvSpPr>
          <p:spPr>
            <a:xfrm>
              <a:off x="1417680" y="2678040"/>
              <a:ext cx="2736360" cy="20088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sp>
        <p:sp>
          <p:nvSpPr>
            <p:cNvPr id="40" name="CustomShape 26">
              <a:extLst>
                <a:ext uri="{FF2B5EF4-FFF2-40B4-BE49-F238E27FC236}">
                  <a16:creationId xmlns:a16="http://schemas.microsoft.com/office/drawing/2014/main" id="{0B07E4E6-D6BE-45D4-8588-F8DD50010E72}"/>
                </a:ext>
              </a:extLst>
            </p:cNvPr>
            <p:cNvSpPr/>
            <p:nvPr/>
          </p:nvSpPr>
          <p:spPr>
            <a:xfrm>
              <a:off x="2007000" y="2697120"/>
              <a:ext cx="176868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Task Priority Level Services</a:t>
              </a:r>
              <a:endParaRPr lang="en-US" sz="1100" b="0" strike="noStrike" spc="-1">
                <a:latin typeface="Arial"/>
              </a:endParaRPr>
            </a:p>
          </p:txBody>
        </p:sp>
        <p:sp>
          <p:nvSpPr>
            <p:cNvPr id="41" name="CustomShape 27">
              <a:extLst>
                <a:ext uri="{FF2B5EF4-FFF2-40B4-BE49-F238E27FC236}">
                  <a16:creationId xmlns:a16="http://schemas.microsoft.com/office/drawing/2014/main" id="{CBF0BF0C-8B9C-48C7-9F01-700AA730B0F8}"/>
                </a:ext>
              </a:extLst>
            </p:cNvPr>
            <p:cNvSpPr/>
            <p:nvPr/>
          </p:nvSpPr>
          <p:spPr>
            <a:xfrm>
              <a:off x="1417680" y="2879640"/>
              <a:ext cx="2736360" cy="20088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sp>
        <p:sp>
          <p:nvSpPr>
            <p:cNvPr id="42" name="CustomShape 28">
              <a:extLst>
                <a:ext uri="{FF2B5EF4-FFF2-40B4-BE49-F238E27FC236}">
                  <a16:creationId xmlns:a16="http://schemas.microsoft.com/office/drawing/2014/main" id="{806D352F-41E1-4051-912C-6E1667155965}"/>
                </a:ext>
              </a:extLst>
            </p:cNvPr>
            <p:cNvSpPr/>
            <p:nvPr/>
          </p:nvSpPr>
          <p:spPr>
            <a:xfrm>
              <a:off x="2295360" y="2897280"/>
              <a:ext cx="11347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Memory Services</a:t>
              </a:r>
              <a:endParaRPr lang="en-US" sz="1100" b="0" strike="noStrike" spc="-1">
                <a:latin typeface="Arial"/>
              </a:endParaRPr>
            </a:p>
          </p:txBody>
        </p:sp>
        <p:sp>
          <p:nvSpPr>
            <p:cNvPr id="43" name="CustomShape 29">
              <a:extLst>
                <a:ext uri="{FF2B5EF4-FFF2-40B4-BE49-F238E27FC236}">
                  <a16:creationId xmlns:a16="http://schemas.microsoft.com/office/drawing/2014/main" id="{4AD1B37B-D4DF-445D-83C4-03F38F87B8DE}"/>
                </a:ext>
              </a:extLst>
            </p:cNvPr>
            <p:cNvSpPr/>
            <p:nvPr/>
          </p:nvSpPr>
          <p:spPr>
            <a:xfrm>
              <a:off x="1417680" y="3079800"/>
              <a:ext cx="2736360" cy="19944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sp>
        <p:sp>
          <p:nvSpPr>
            <p:cNvPr id="44" name="CustomShape 30">
              <a:extLst>
                <a:ext uri="{FF2B5EF4-FFF2-40B4-BE49-F238E27FC236}">
                  <a16:creationId xmlns:a16="http://schemas.microsoft.com/office/drawing/2014/main" id="{E5DEDDAC-AA8D-4450-960A-8750E9B93786}"/>
                </a:ext>
              </a:extLst>
            </p:cNvPr>
            <p:cNvSpPr/>
            <p:nvPr/>
          </p:nvSpPr>
          <p:spPr>
            <a:xfrm>
              <a:off x="2062440" y="3098880"/>
              <a:ext cx="164664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Event and Timer Services</a:t>
              </a:r>
              <a:endParaRPr lang="en-US" sz="1100" b="0" strike="noStrike" spc="-1">
                <a:latin typeface="Arial"/>
              </a:endParaRPr>
            </a:p>
          </p:txBody>
        </p:sp>
        <p:sp>
          <p:nvSpPr>
            <p:cNvPr id="45" name="CustomShape 31">
              <a:extLst>
                <a:ext uri="{FF2B5EF4-FFF2-40B4-BE49-F238E27FC236}">
                  <a16:creationId xmlns:a16="http://schemas.microsoft.com/office/drawing/2014/main" id="{8F5D51B9-EEFD-497D-B0AE-C4F2897C5076}"/>
                </a:ext>
              </a:extLst>
            </p:cNvPr>
            <p:cNvSpPr/>
            <p:nvPr/>
          </p:nvSpPr>
          <p:spPr>
            <a:xfrm>
              <a:off x="1417680" y="3278160"/>
              <a:ext cx="2736360" cy="20268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sp>
        <p:sp>
          <p:nvSpPr>
            <p:cNvPr id="46" name="CustomShape 32">
              <a:extLst>
                <a:ext uri="{FF2B5EF4-FFF2-40B4-BE49-F238E27FC236}">
                  <a16:creationId xmlns:a16="http://schemas.microsoft.com/office/drawing/2014/main" id="{EAFF6326-72C1-4042-8842-900378109D0D}"/>
                </a:ext>
              </a:extLst>
            </p:cNvPr>
            <p:cNvSpPr/>
            <p:nvPr/>
          </p:nvSpPr>
          <p:spPr>
            <a:xfrm>
              <a:off x="2038680" y="3298680"/>
              <a:ext cx="169704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Protocol Handler Services</a:t>
              </a:r>
              <a:endParaRPr lang="en-US" sz="1100" b="0" strike="noStrike" spc="-1">
                <a:latin typeface="Arial"/>
              </a:endParaRPr>
            </a:p>
          </p:txBody>
        </p:sp>
        <p:sp>
          <p:nvSpPr>
            <p:cNvPr id="47" name="CustomShape 33">
              <a:extLst>
                <a:ext uri="{FF2B5EF4-FFF2-40B4-BE49-F238E27FC236}">
                  <a16:creationId xmlns:a16="http://schemas.microsoft.com/office/drawing/2014/main" id="{B1A5EA4B-1C9D-4DFE-AFC7-4128A303992F}"/>
                </a:ext>
              </a:extLst>
            </p:cNvPr>
            <p:cNvSpPr/>
            <p:nvPr/>
          </p:nvSpPr>
          <p:spPr>
            <a:xfrm>
              <a:off x="1417680" y="3481560"/>
              <a:ext cx="2736360" cy="20268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sp>
        <p:sp>
          <p:nvSpPr>
            <p:cNvPr id="48" name="CustomShape 34">
              <a:extLst>
                <a:ext uri="{FF2B5EF4-FFF2-40B4-BE49-F238E27FC236}">
                  <a16:creationId xmlns:a16="http://schemas.microsoft.com/office/drawing/2014/main" id="{A3FFC99E-9029-4C55-A8D5-06189CE2382A}"/>
                </a:ext>
              </a:extLst>
            </p:cNvPr>
            <p:cNvSpPr/>
            <p:nvPr/>
          </p:nvSpPr>
          <p:spPr>
            <a:xfrm>
              <a:off x="2365920" y="3497400"/>
              <a:ext cx="9853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Image Services</a:t>
              </a:r>
              <a:endParaRPr lang="en-US" sz="1100" b="0" strike="noStrike" spc="-1">
                <a:latin typeface="Arial"/>
              </a:endParaRPr>
            </a:p>
          </p:txBody>
        </p:sp>
        <p:sp>
          <p:nvSpPr>
            <p:cNvPr id="49" name="CustomShape 35">
              <a:extLst>
                <a:ext uri="{FF2B5EF4-FFF2-40B4-BE49-F238E27FC236}">
                  <a16:creationId xmlns:a16="http://schemas.microsoft.com/office/drawing/2014/main" id="{6D651C2E-286F-43A2-97B0-F054ABDBBCAF}"/>
                </a:ext>
              </a:extLst>
            </p:cNvPr>
            <p:cNvSpPr/>
            <p:nvPr/>
          </p:nvSpPr>
          <p:spPr>
            <a:xfrm>
              <a:off x="1417680" y="3683160"/>
              <a:ext cx="2736360" cy="19944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sp>
        <p:sp>
          <p:nvSpPr>
            <p:cNvPr id="50" name="CustomShape 36">
              <a:extLst>
                <a:ext uri="{FF2B5EF4-FFF2-40B4-BE49-F238E27FC236}">
                  <a16:creationId xmlns:a16="http://schemas.microsoft.com/office/drawing/2014/main" id="{5662AD15-49EE-4EFB-8767-13454EF58CAD}"/>
                </a:ext>
              </a:extLst>
            </p:cNvPr>
            <p:cNvSpPr/>
            <p:nvPr/>
          </p:nvSpPr>
          <p:spPr>
            <a:xfrm>
              <a:off x="2104200" y="3700440"/>
              <a:ext cx="155664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Driver Support Services</a:t>
              </a:r>
              <a:endParaRPr lang="en-US" sz="1100" b="0" strike="noStrike" spc="-1">
                <a:latin typeface="Arial"/>
              </a:endParaRPr>
            </a:p>
          </p:txBody>
        </p:sp>
        <p:sp>
          <p:nvSpPr>
            <p:cNvPr id="51" name="CustomShape 37">
              <a:extLst>
                <a:ext uri="{FF2B5EF4-FFF2-40B4-BE49-F238E27FC236}">
                  <a16:creationId xmlns:a16="http://schemas.microsoft.com/office/drawing/2014/main" id="{1F4E293F-F5E5-4759-A65A-95692F4C12BB}"/>
                </a:ext>
              </a:extLst>
            </p:cNvPr>
            <p:cNvSpPr/>
            <p:nvPr/>
          </p:nvSpPr>
          <p:spPr>
            <a:xfrm>
              <a:off x="1417680" y="4286160"/>
              <a:ext cx="2736360" cy="19944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sp>
        <p:sp>
          <p:nvSpPr>
            <p:cNvPr id="52" name="CustomShape 38">
              <a:extLst>
                <a:ext uri="{FF2B5EF4-FFF2-40B4-BE49-F238E27FC236}">
                  <a16:creationId xmlns:a16="http://schemas.microsoft.com/office/drawing/2014/main" id="{D467D102-5D3F-4D33-BD96-E61A02D43855}"/>
                </a:ext>
              </a:extLst>
            </p:cNvPr>
            <p:cNvSpPr/>
            <p:nvPr/>
          </p:nvSpPr>
          <p:spPr>
            <a:xfrm>
              <a:off x="1773360" y="4302000"/>
              <a:ext cx="228528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Global Coherency Domain Services</a:t>
              </a:r>
              <a:endParaRPr lang="en-US" sz="1100" b="0" strike="noStrike" spc="-1">
                <a:latin typeface="Arial"/>
              </a:endParaRPr>
            </a:p>
          </p:txBody>
        </p:sp>
        <p:sp>
          <p:nvSpPr>
            <p:cNvPr id="53" name="CustomShape 39">
              <a:extLst>
                <a:ext uri="{FF2B5EF4-FFF2-40B4-BE49-F238E27FC236}">
                  <a16:creationId xmlns:a16="http://schemas.microsoft.com/office/drawing/2014/main" id="{B632818A-5B0A-4317-B272-44711307E6E6}"/>
                </a:ext>
              </a:extLst>
            </p:cNvPr>
            <p:cNvSpPr/>
            <p:nvPr/>
          </p:nvSpPr>
          <p:spPr>
            <a:xfrm>
              <a:off x="5621400" y="4686480"/>
              <a:ext cx="2202840" cy="199440"/>
            </a:xfrm>
            <a:prstGeom prst="rect">
              <a:avLst/>
            </a:prstGeom>
            <a:solidFill>
              <a:srgbClr val="FFCC99"/>
            </a:solidFill>
            <a:ln w="11160">
              <a:solidFill>
                <a:srgbClr val="000000"/>
              </a:solidFill>
              <a:miter/>
            </a:ln>
          </p:spPr>
          <p:style>
            <a:lnRef idx="0">
              <a:scrgbClr r="0" g="0" b="0"/>
            </a:lnRef>
            <a:fillRef idx="0">
              <a:scrgbClr r="0" g="0" b="0"/>
            </a:fillRef>
            <a:effectRef idx="0">
              <a:scrgbClr r="0" g="0" b="0"/>
            </a:effectRef>
            <a:fontRef idx="minor"/>
          </p:style>
        </p:sp>
        <p:sp>
          <p:nvSpPr>
            <p:cNvPr id="54" name="CustomShape 40">
              <a:extLst>
                <a:ext uri="{FF2B5EF4-FFF2-40B4-BE49-F238E27FC236}">
                  <a16:creationId xmlns:a16="http://schemas.microsoft.com/office/drawing/2014/main" id="{DCC95927-4C18-4616-97A4-9DCB077052FA}"/>
                </a:ext>
              </a:extLst>
            </p:cNvPr>
            <p:cNvSpPr/>
            <p:nvPr/>
          </p:nvSpPr>
          <p:spPr>
            <a:xfrm>
              <a:off x="6329520" y="4703760"/>
              <a:ext cx="91980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SMBIOS Table</a:t>
              </a:r>
              <a:endParaRPr lang="en-US" sz="1100" b="0" strike="noStrike" spc="-1">
                <a:latin typeface="Arial"/>
              </a:endParaRPr>
            </a:p>
          </p:txBody>
        </p:sp>
        <p:sp>
          <p:nvSpPr>
            <p:cNvPr id="55" name="CustomShape 41">
              <a:extLst>
                <a:ext uri="{FF2B5EF4-FFF2-40B4-BE49-F238E27FC236}">
                  <a16:creationId xmlns:a16="http://schemas.microsoft.com/office/drawing/2014/main" id="{AD376436-A1B9-44DE-A12E-E5CC06244557}"/>
                </a:ext>
              </a:extLst>
            </p:cNvPr>
            <p:cNvSpPr/>
            <p:nvPr/>
          </p:nvSpPr>
          <p:spPr>
            <a:xfrm>
              <a:off x="5621400" y="4886280"/>
              <a:ext cx="2202840" cy="200880"/>
            </a:xfrm>
            <a:prstGeom prst="rect">
              <a:avLst/>
            </a:prstGeom>
            <a:solidFill>
              <a:srgbClr val="FFCC99"/>
            </a:solidFill>
            <a:ln w="11160">
              <a:solidFill>
                <a:srgbClr val="000000"/>
              </a:solidFill>
              <a:miter/>
            </a:ln>
          </p:spPr>
          <p:style>
            <a:lnRef idx="0">
              <a:scrgbClr r="0" g="0" b="0"/>
            </a:lnRef>
            <a:fillRef idx="0">
              <a:scrgbClr r="0" g="0" b="0"/>
            </a:fillRef>
            <a:effectRef idx="0">
              <a:scrgbClr r="0" g="0" b="0"/>
            </a:effectRef>
            <a:fontRef idx="minor"/>
          </p:style>
        </p:sp>
        <p:sp>
          <p:nvSpPr>
            <p:cNvPr id="56" name="CustomShape 42">
              <a:extLst>
                <a:ext uri="{FF2B5EF4-FFF2-40B4-BE49-F238E27FC236}">
                  <a16:creationId xmlns:a16="http://schemas.microsoft.com/office/drawing/2014/main" id="{11B14B87-7B03-46B2-81E4-712873134BDF}"/>
                </a:ext>
              </a:extLst>
            </p:cNvPr>
            <p:cNvSpPr/>
            <p:nvPr/>
          </p:nvSpPr>
          <p:spPr>
            <a:xfrm>
              <a:off x="6701760" y="4905360"/>
              <a:ext cx="1195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a:t>
              </a:r>
              <a:endParaRPr lang="en-US" sz="1100" b="0" strike="noStrike" spc="-1">
                <a:latin typeface="Arial"/>
              </a:endParaRPr>
            </a:p>
          </p:txBody>
        </p:sp>
        <p:sp>
          <p:nvSpPr>
            <p:cNvPr id="57" name="CustomShape 43">
              <a:extLst>
                <a:ext uri="{FF2B5EF4-FFF2-40B4-BE49-F238E27FC236}">
                  <a16:creationId xmlns:a16="http://schemas.microsoft.com/office/drawing/2014/main" id="{1555A005-DF51-455A-8644-15BCDA73F05B}"/>
                </a:ext>
              </a:extLst>
            </p:cNvPr>
            <p:cNvSpPr/>
            <p:nvPr/>
          </p:nvSpPr>
          <p:spPr>
            <a:xfrm>
              <a:off x="5621400" y="5087880"/>
              <a:ext cx="2202840" cy="200880"/>
            </a:xfrm>
            <a:prstGeom prst="rect">
              <a:avLst/>
            </a:prstGeom>
            <a:solidFill>
              <a:srgbClr val="FFCC99"/>
            </a:solidFill>
            <a:ln w="11160">
              <a:solidFill>
                <a:srgbClr val="000000"/>
              </a:solidFill>
              <a:miter/>
            </a:ln>
          </p:spPr>
          <p:style>
            <a:lnRef idx="0">
              <a:scrgbClr r="0" g="0" b="0"/>
            </a:lnRef>
            <a:fillRef idx="0">
              <a:scrgbClr r="0" g="0" b="0"/>
            </a:fillRef>
            <a:effectRef idx="0">
              <a:scrgbClr r="0" g="0" b="0"/>
            </a:effectRef>
            <a:fontRef idx="minor"/>
          </p:style>
        </p:sp>
        <p:sp>
          <p:nvSpPr>
            <p:cNvPr id="58" name="CustomShape 44">
              <a:extLst>
                <a:ext uri="{FF2B5EF4-FFF2-40B4-BE49-F238E27FC236}">
                  <a16:creationId xmlns:a16="http://schemas.microsoft.com/office/drawing/2014/main" id="{9FFFBAF6-2FBC-43D6-852E-E9A287BDB667}"/>
                </a:ext>
              </a:extLst>
            </p:cNvPr>
            <p:cNvSpPr/>
            <p:nvPr/>
          </p:nvSpPr>
          <p:spPr>
            <a:xfrm>
              <a:off x="6228720" y="5103720"/>
              <a:ext cx="11437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SAL System Table</a:t>
              </a:r>
              <a:endParaRPr lang="en-US" sz="1100" b="0" strike="noStrike" spc="-1">
                <a:latin typeface="Arial"/>
              </a:endParaRPr>
            </a:p>
          </p:txBody>
        </p:sp>
        <p:sp>
          <p:nvSpPr>
            <p:cNvPr id="59" name="CustomShape 45">
              <a:extLst>
                <a:ext uri="{FF2B5EF4-FFF2-40B4-BE49-F238E27FC236}">
                  <a16:creationId xmlns:a16="http://schemas.microsoft.com/office/drawing/2014/main" id="{A7F49BBB-AF2F-4C60-8C6A-A39E64A2139A}"/>
                </a:ext>
              </a:extLst>
            </p:cNvPr>
            <p:cNvSpPr/>
            <p:nvPr/>
          </p:nvSpPr>
          <p:spPr>
            <a:xfrm>
              <a:off x="1417680" y="1673280"/>
              <a:ext cx="2736360" cy="202680"/>
            </a:xfrm>
            <a:prstGeom prst="rect">
              <a:avLst/>
            </a:prstGeom>
            <a:solidFill>
              <a:srgbClr val="FFFF00"/>
            </a:solidFill>
            <a:ln w="11160">
              <a:solidFill>
                <a:srgbClr val="000000"/>
              </a:solidFill>
              <a:miter/>
            </a:ln>
          </p:spPr>
          <p:style>
            <a:lnRef idx="0">
              <a:scrgbClr r="0" g="0" b="0"/>
            </a:lnRef>
            <a:fillRef idx="0">
              <a:scrgbClr r="0" g="0" b="0"/>
            </a:fillRef>
            <a:effectRef idx="0">
              <a:scrgbClr r="0" g="0" b="0"/>
            </a:effectRef>
            <a:fontRef idx="minor"/>
          </p:style>
        </p:sp>
        <p:sp>
          <p:nvSpPr>
            <p:cNvPr id="60" name="CustomShape 46">
              <a:extLst>
                <a:ext uri="{FF2B5EF4-FFF2-40B4-BE49-F238E27FC236}">
                  <a16:creationId xmlns:a16="http://schemas.microsoft.com/office/drawing/2014/main" id="{65DAA567-2EC1-4F36-820D-C7B3329DE9F7}"/>
                </a:ext>
              </a:extLst>
            </p:cNvPr>
            <p:cNvSpPr/>
            <p:nvPr/>
          </p:nvSpPr>
          <p:spPr>
            <a:xfrm>
              <a:off x="2378880" y="1690560"/>
              <a:ext cx="95184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Input  Console</a:t>
              </a:r>
              <a:endParaRPr lang="en-US" sz="1100" b="0" strike="noStrike" spc="-1">
                <a:latin typeface="Arial"/>
              </a:endParaRPr>
            </a:p>
          </p:txBody>
        </p:sp>
        <p:sp>
          <p:nvSpPr>
            <p:cNvPr id="61" name="CustomShape 47">
              <a:extLst>
                <a:ext uri="{FF2B5EF4-FFF2-40B4-BE49-F238E27FC236}">
                  <a16:creationId xmlns:a16="http://schemas.microsoft.com/office/drawing/2014/main" id="{2476150A-5257-48E7-933C-7F63B7106716}"/>
                </a:ext>
              </a:extLst>
            </p:cNvPr>
            <p:cNvSpPr/>
            <p:nvPr/>
          </p:nvSpPr>
          <p:spPr>
            <a:xfrm>
              <a:off x="1417680" y="1407960"/>
              <a:ext cx="2736360" cy="266040"/>
            </a:xfrm>
            <a:prstGeom prst="rect">
              <a:avLst/>
            </a:prstGeom>
            <a:solidFill>
              <a:srgbClr val="FFCC00"/>
            </a:solidFill>
            <a:ln w="11160">
              <a:solidFill>
                <a:srgbClr val="000000"/>
              </a:solidFill>
              <a:miter/>
            </a:ln>
          </p:spPr>
          <p:style>
            <a:lnRef idx="0">
              <a:scrgbClr r="0" g="0" b="0"/>
            </a:lnRef>
            <a:fillRef idx="0">
              <a:scrgbClr r="0" g="0" b="0"/>
            </a:fillRef>
            <a:effectRef idx="0">
              <a:scrgbClr r="0" g="0" b="0"/>
            </a:effectRef>
            <a:fontRef idx="minor"/>
          </p:style>
        </p:sp>
        <p:sp>
          <p:nvSpPr>
            <p:cNvPr id="62" name="CustomShape 48">
              <a:extLst>
                <a:ext uri="{FF2B5EF4-FFF2-40B4-BE49-F238E27FC236}">
                  <a16:creationId xmlns:a16="http://schemas.microsoft.com/office/drawing/2014/main" id="{B7BBBE1E-01BB-47E4-8FD0-FBAF5BA3768F}"/>
                </a:ext>
              </a:extLst>
            </p:cNvPr>
            <p:cNvSpPr/>
            <p:nvPr/>
          </p:nvSpPr>
          <p:spPr>
            <a:xfrm>
              <a:off x="2300760" y="1459080"/>
              <a:ext cx="1117800" cy="1803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00"/>
                </a:spcBef>
              </a:pPr>
              <a:r>
                <a:rPr lang="en-US" sz="1200" b="1" strike="noStrike" spc="-1">
                  <a:solidFill>
                    <a:srgbClr val="000000"/>
                  </a:solidFill>
                  <a:latin typeface="Segoe UI"/>
                  <a:ea typeface="DejaVu Sans"/>
                </a:rPr>
                <a:t>Active Consoles</a:t>
              </a:r>
              <a:endParaRPr lang="en-US" sz="1200" b="0" strike="noStrike" spc="-1">
                <a:latin typeface="Arial"/>
              </a:endParaRPr>
            </a:p>
          </p:txBody>
        </p:sp>
        <p:sp>
          <p:nvSpPr>
            <p:cNvPr id="63" name="CustomShape 49">
              <a:extLst>
                <a:ext uri="{FF2B5EF4-FFF2-40B4-BE49-F238E27FC236}">
                  <a16:creationId xmlns:a16="http://schemas.microsoft.com/office/drawing/2014/main" id="{48D5F107-7428-4F9E-9433-BF7AAAF6F2B7}"/>
                </a:ext>
              </a:extLst>
            </p:cNvPr>
            <p:cNvSpPr/>
            <p:nvPr/>
          </p:nvSpPr>
          <p:spPr>
            <a:xfrm>
              <a:off x="1417680" y="1876320"/>
              <a:ext cx="2736360" cy="202680"/>
            </a:xfrm>
            <a:prstGeom prst="rect">
              <a:avLst/>
            </a:prstGeom>
            <a:solidFill>
              <a:srgbClr val="FFFF00"/>
            </a:solidFill>
            <a:ln w="11160">
              <a:solidFill>
                <a:srgbClr val="000000"/>
              </a:solidFill>
              <a:miter/>
            </a:ln>
          </p:spPr>
          <p:style>
            <a:lnRef idx="0">
              <a:scrgbClr r="0" g="0" b="0"/>
            </a:lnRef>
            <a:fillRef idx="0">
              <a:scrgbClr r="0" g="0" b="0"/>
            </a:fillRef>
            <a:effectRef idx="0">
              <a:scrgbClr r="0" g="0" b="0"/>
            </a:effectRef>
            <a:fontRef idx="minor"/>
          </p:style>
        </p:sp>
        <p:sp>
          <p:nvSpPr>
            <p:cNvPr id="64" name="CustomShape 50">
              <a:extLst>
                <a:ext uri="{FF2B5EF4-FFF2-40B4-BE49-F238E27FC236}">
                  <a16:creationId xmlns:a16="http://schemas.microsoft.com/office/drawing/2014/main" id="{8311D9AD-DA61-4F1B-B8F9-1B26DF3A4DCB}"/>
                </a:ext>
              </a:extLst>
            </p:cNvPr>
            <p:cNvSpPr/>
            <p:nvPr/>
          </p:nvSpPr>
          <p:spPr>
            <a:xfrm>
              <a:off x="2323440" y="1892160"/>
              <a:ext cx="106920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Output  Console</a:t>
              </a:r>
              <a:endParaRPr lang="en-US" sz="1100" b="0" strike="noStrike" spc="-1">
                <a:latin typeface="Arial"/>
              </a:endParaRPr>
            </a:p>
          </p:txBody>
        </p:sp>
        <p:sp>
          <p:nvSpPr>
            <p:cNvPr id="65" name="CustomShape 51">
              <a:extLst>
                <a:ext uri="{FF2B5EF4-FFF2-40B4-BE49-F238E27FC236}">
                  <a16:creationId xmlns:a16="http://schemas.microsoft.com/office/drawing/2014/main" id="{62ABF89C-FC31-4099-B8F7-F05A030FE4E5}"/>
                </a:ext>
              </a:extLst>
            </p:cNvPr>
            <p:cNvSpPr/>
            <p:nvPr/>
          </p:nvSpPr>
          <p:spPr>
            <a:xfrm>
              <a:off x="1417680" y="2077920"/>
              <a:ext cx="2736360" cy="199440"/>
            </a:xfrm>
            <a:prstGeom prst="rect">
              <a:avLst/>
            </a:prstGeom>
            <a:solidFill>
              <a:srgbClr val="FFFF00"/>
            </a:solidFill>
            <a:ln w="11160">
              <a:solidFill>
                <a:srgbClr val="000000"/>
              </a:solidFill>
              <a:miter/>
            </a:ln>
          </p:spPr>
          <p:style>
            <a:lnRef idx="0">
              <a:scrgbClr r="0" g="0" b="0"/>
            </a:lnRef>
            <a:fillRef idx="0">
              <a:scrgbClr r="0" g="0" b="0"/>
            </a:fillRef>
            <a:effectRef idx="0">
              <a:scrgbClr r="0" g="0" b="0"/>
            </a:effectRef>
            <a:fontRef idx="minor"/>
          </p:style>
        </p:sp>
        <p:sp>
          <p:nvSpPr>
            <p:cNvPr id="66" name="CustomShape 52">
              <a:extLst>
                <a:ext uri="{FF2B5EF4-FFF2-40B4-BE49-F238E27FC236}">
                  <a16:creationId xmlns:a16="http://schemas.microsoft.com/office/drawing/2014/main" id="{09BD9E1F-9095-41EE-BDE1-C4D127580B60}"/>
                </a:ext>
              </a:extLst>
            </p:cNvPr>
            <p:cNvSpPr/>
            <p:nvPr/>
          </p:nvSpPr>
          <p:spPr>
            <a:xfrm>
              <a:off x="2125440" y="2093760"/>
              <a:ext cx="151884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Standard Error Console</a:t>
              </a:r>
              <a:endParaRPr lang="en-US" sz="1100" b="0" strike="noStrike" spc="-1">
                <a:latin typeface="Arial"/>
              </a:endParaRPr>
            </a:p>
          </p:txBody>
        </p:sp>
        <p:sp>
          <p:nvSpPr>
            <p:cNvPr id="67" name="CustomShape 53">
              <a:extLst>
                <a:ext uri="{FF2B5EF4-FFF2-40B4-BE49-F238E27FC236}">
                  <a16:creationId xmlns:a16="http://schemas.microsoft.com/office/drawing/2014/main" id="{87126776-0FAA-4E41-A8C5-33F3CA682A7F}"/>
                </a:ext>
              </a:extLst>
            </p:cNvPr>
            <p:cNvSpPr/>
            <p:nvPr/>
          </p:nvSpPr>
          <p:spPr>
            <a:xfrm>
              <a:off x="5621400" y="2811600"/>
              <a:ext cx="2202840" cy="269280"/>
            </a:xfrm>
            <a:prstGeom prst="rect">
              <a:avLst/>
            </a:prstGeom>
            <a:solidFill>
              <a:srgbClr val="800000"/>
            </a:solidFill>
            <a:ln w="11160">
              <a:solidFill>
                <a:srgbClr val="000000"/>
              </a:solidFill>
              <a:miter/>
            </a:ln>
          </p:spPr>
          <p:style>
            <a:lnRef idx="0">
              <a:scrgbClr r="0" g="0" b="0"/>
            </a:lnRef>
            <a:fillRef idx="0">
              <a:scrgbClr r="0" g="0" b="0"/>
            </a:fillRef>
            <a:effectRef idx="0">
              <a:scrgbClr r="0" g="0" b="0"/>
            </a:effectRef>
            <a:fontRef idx="minor"/>
          </p:style>
        </p:sp>
        <p:sp>
          <p:nvSpPr>
            <p:cNvPr id="68" name="CustomShape 54">
              <a:extLst>
                <a:ext uri="{FF2B5EF4-FFF2-40B4-BE49-F238E27FC236}">
                  <a16:creationId xmlns:a16="http://schemas.microsoft.com/office/drawing/2014/main" id="{8449C49D-85DF-4273-BE61-F23D66196C29}"/>
                </a:ext>
              </a:extLst>
            </p:cNvPr>
            <p:cNvSpPr/>
            <p:nvPr/>
          </p:nvSpPr>
          <p:spPr>
            <a:xfrm>
              <a:off x="6144840" y="2862360"/>
              <a:ext cx="131904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Version Information</a:t>
              </a:r>
              <a:endParaRPr lang="en-US" sz="1100" b="0" strike="noStrike" spc="-1">
                <a:latin typeface="Arial"/>
              </a:endParaRPr>
            </a:p>
          </p:txBody>
        </p:sp>
        <p:sp>
          <p:nvSpPr>
            <p:cNvPr id="69" name="CustomShape 55">
              <a:extLst>
                <a:ext uri="{FF2B5EF4-FFF2-40B4-BE49-F238E27FC236}">
                  <a16:creationId xmlns:a16="http://schemas.microsoft.com/office/drawing/2014/main" id="{383D48BB-4E07-4557-B584-455A791D14FC}"/>
                </a:ext>
              </a:extLst>
            </p:cNvPr>
            <p:cNvSpPr/>
            <p:nvPr/>
          </p:nvSpPr>
          <p:spPr>
            <a:xfrm>
              <a:off x="5621400" y="3079800"/>
              <a:ext cx="2202840" cy="199440"/>
            </a:xfrm>
            <a:prstGeom prst="rect">
              <a:avLst/>
            </a:prstGeom>
            <a:solidFill>
              <a:srgbClr val="FF0033"/>
            </a:solidFill>
            <a:ln w="11160">
              <a:solidFill>
                <a:srgbClr val="000000"/>
              </a:solidFill>
              <a:miter/>
            </a:ln>
          </p:spPr>
          <p:style>
            <a:lnRef idx="0">
              <a:scrgbClr r="0" g="0" b="0"/>
            </a:lnRef>
            <a:fillRef idx="0">
              <a:scrgbClr r="0" g="0" b="0"/>
            </a:fillRef>
            <a:effectRef idx="0">
              <a:scrgbClr r="0" g="0" b="0"/>
            </a:effectRef>
            <a:fontRef idx="minor"/>
          </p:style>
        </p:sp>
        <p:sp>
          <p:nvSpPr>
            <p:cNvPr id="70" name="CustomShape 56">
              <a:extLst>
                <a:ext uri="{FF2B5EF4-FFF2-40B4-BE49-F238E27FC236}">
                  <a16:creationId xmlns:a16="http://schemas.microsoft.com/office/drawing/2014/main" id="{1DC9EA0F-47ED-4E7E-90DE-9567A9BAC529}"/>
                </a:ext>
              </a:extLst>
            </p:cNvPr>
            <p:cNvSpPr/>
            <p:nvPr/>
          </p:nvSpPr>
          <p:spPr>
            <a:xfrm>
              <a:off x="6013440" y="3098880"/>
              <a:ext cx="160560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EFI Specification Version</a:t>
              </a:r>
              <a:endParaRPr lang="en-US" sz="1100" b="0" strike="noStrike" spc="-1">
                <a:latin typeface="Arial"/>
              </a:endParaRPr>
            </a:p>
          </p:txBody>
        </p:sp>
        <p:sp>
          <p:nvSpPr>
            <p:cNvPr id="71" name="CustomShape 57">
              <a:extLst>
                <a:ext uri="{FF2B5EF4-FFF2-40B4-BE49-F238E27FC236}">
                  <a16:creationId xmlns:a16="http://schemas.microsoft.com/office/drawing/2014/main" id="{0DAB6813-C670-4807-97E3-8D6AE51966CD}"/>
                </a:ext>
              </a:extLst>
            </p:cNvPr>
            <p:cNvSpPr/>
            <p:nvPr/>
          </p:nvSpPr>
          <p:spPr>
            <a:xfrm>
              <a:off x="5621400" y="3278160"/>
              <a:ext cx="2202840" cy="202680"/>
            </a:xfrm>
            <a:prstGeom prst="rect">
              <a:avLst/>
            </a:prstGeom>
            <a:solidFill>
              <a:srgbClr val="FF0033"/>
            </a:solidFill>
            <a:ln w="11160">
              <a:solidFill>
                <a:srgbClr val="000000"/>
              </a:solidFill>
              <a:miter/>
            </a:ln>
          </p:spPr>
          <p:style>
            <a:lnRef idx="0">
              <a:scrgbClr r="0" g="0" b="0"/>
            </a:lnRef>
            <a:fillRef idx="0">
              <a:scrgbClr r="0" g="0" b="0"/>
            </a:fillRef>
            <a:effectRef idx="0">
              <a:scrgbClr r="0" g="0" b="0"/>
            </a:effectRef>
            <a:fontRef idx="minor"/>
          </p:style>
        </p:sp>
        <p:sp>
          <p:nvSpPr>
            <p:cNvPr id="72" name="CustomShape 58">
              <a:extLst>
                <a:ext uri="{FF2B5EF4-FFF2-40B4-BE49-F238E27FC236}">
                  <a16:creationId xmlns:a16="http://schemas.microsoft.com/office/drawing/2014/main" id="{43F74270-030E-4031-A46F-EC476AEBB912}"/>
                </a:ext>
              </a:extLst>
            </p:cNvPr>
            <p:cNvSpPr/>
            <p:nvPr/>
          </p:nvSpPr>
          <p:spPr>
            <a:xfrm>
              <a:off x="6234840" y="3298680"/>
              <a:ext cx="11271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Firmware Vendor</a:t>
              </a:r>
              <a:endParaRPr lang="en-US" sz="1100" b="0" strike="noStrike" spc="-1">
                <a:latin typeface="Arial"/>
              </a:endParaRPr>
            </a:p>
          </p:txBody>
        </p:sp>
        <p:sp>
          <p:nvSpPr>
            <p:cNvPr id="73" name="CustomShape 59">
              <a:extLst>
                <a:ext uri="{FF2B5EF4-FFF2-40B4-BE49-F238E27FC236}">
                  <a16:creationId xmlns:a16="http://schemas.microsoft.com/office/drawing/2014/main" id="{B5F99888-D46C-42C5-AB01-EE2E2C703CC6}"/>
                </a:ext>
              </a:extLst>
            </p:cNvPr>
            <p:cNvSpPr/>
            <p:nvPr/>
          </p:nvSpPr>
          <p:spPr>
            <a:xfrm>
              <a:off x="5621400" y="3481560"/>
              <a:ext cx="2202840" cy="202680"/>
            </a:xfrm>
            <a:prstGeom prst="rect">
              <a:avLst/>
            </a:prstGeom>
            <a:solidFill>
              <a:srgbClr val="FF0033"/>
            </a:solidFill>
            <a:ln w="11160">
              <a:solidFill>
                <a:srgbClr val="000000"/>
              </a:solidFill>
              <a:miter/>
            </a:ln>
          </p:spPr>
          <p:style>
            <a:lnRef idx="0">
              <a:scrgbClr r="0" g="0" b="0"/>
            </a:lnRef>
            <a:fillRef idx="0">
              <a:scrgbClr r="0" g="0" b="0"/>
            </a:fillRef>
            <a:effectRef idx="0">
              <a:scrgbClr r="0" g="0" b="0"/>
            </a:effectRef>
            <a:fontRef idx="minor"/>
          </p:style>
        </p:sp>
        <p:sp>
          <p:nvSpPr>
            <p:cNvPr id="74" name="CustomShape 60">
              <a:extLst>
                <a:ext uri="{FF2B5EF4-FFF2-40B4-BE49-F238E27FC236}">
                  <a16:creationId xmlns:a16="http://schemas.microsoft.com/office/drawing/2014/main" id="{30844972-46EA-4EED-B223-E99C25117B14}"/>
                </a:ext>
              </a:extLst>
            </p:cNvPr>
            <p:cNvSpPr/>
            <p:nvPr/>
          </p:nvSpPr>
          <p:spPr>
            <a:xfrm>
              <a:off x="6202080" y="3497400"/>
              <a:ext cx="12049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Firmware Revision</a:t>
              </a:r>
              <a:endParaRPr lang="en-US" sz="1100" b="0" strike="noStrike" spc="-1">
                <a:latin typeface="Arial"/>
              </a:endParaRPr>
            </a:p>
          </p:txBody>
        </p:sp>
        <p:sp>
          <p:nvSpPr>
            <p:cNvPr id="75" name="CustomShape 61">
              <a:extLst>
                <a:ext uri="{FF2B5EF4-FFF2-40B4-BE49-F238E27FC236}">
                  <a16:creationId xmlns:a16="http://schemas.microsoft.com/office/drawing/2014/main" id="{8222EA91-5082-416B-AF07-BD0881ACBED9}"/>
                </a:ext>
              </a:extLst>
            </p:cNvPr>
            <p:cNvSpPr/>
            <p:nvPr/>
          </p:nvSpPr>
          <p:spPr>
            <a:xfrm>
              <a:off x="750960" y="4819680"/>
              <a:ext cx="1466280" cy="401040"/>
            </a:xfrm>
            <a:prstGeom prst="rect">
              <a:avLst/>
            </a:prstGeom>
            <a:solidFill>
              <a:srgbClr val="FFCC00"/>
            </a:solidFill>
            <a:ln w="11160">
              <a:solidFill>
                <a:srgbClr val="000000"/>
              </a:solidFill>
              <a:miter/>
            </a:ln>
          </p:spPr>
          <p:style>
            <a:lnRef idx="0">
              <a:scrgbClr r="0" g="0" b="0"/>
            </a:lnRef>
            <a:fillRef idx="0">
              <a:scrgbClr r="0" g="0" b="0"/>
            </a:fillRef>
            <a:effectRef idx="0">
              <a:scrgbClr r="0" g="0" b="0"/>
            </a:effectRef>
            <a:fontRef idx="minor"/>
          </p:style>
        </p:sp>
        <p:sp>
          <p:nvSpPr>
            <p:cNvPr id="76" name="CustomShape 62">
              <a:extLst>
                <a:ext uri="{FF2B5EF4-FFF2-40B4-BE49-F238E27FC236}">
                  <a16:creationId xmlns:a16="http://schemas.microsoft.com/office/drawing/2014/main" id="{12F0B831-AF09-4B5E-BF20-28A4BB7E0AB7}"/>
                </a:ext>
              </a:extLst>
            </p:cNvPr>
            <p:cNvSpPr/>
            <p:nvPr/>
          </p:nvSpPr>
          <p:spPr>
            <a:xfrm>
              <a:off x="1006200" y="4938840"/>
              <a:ext cx="111780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Handle Database</a:t>
              </a:r>
              <a:endParaRPr lang="en-US" sz="1100" b="0" strike="noStrike" spc="-1">
                <a:latin typeface="Arial"/>
              </a:endParaRPr>
            </a:p>
          </p:txBody>
        </p:sp>
        <p:sp>
          <p:nvSpPr>
            <p:cNvPr id="77" name="CustomShape 63">
              <a:extLst>
                <a:ext uri="{FF2B5EF4-FFF2-40B4-BE49-F238E27FC236}">
                  <a16:creationId xmlns:a16="http://schemas.microsoft.com/office/drawing/2014/main" id="{E7B52F12-06EB-488F-BD38-2C8801F7BD2F}"/>
                </a:ext>
              </a:extLst>
            </p:cNvPr>
            <p:cNvSpPr/>
            <p:nvPr/>
          </p:nvSpPr>
          <p:spPr>
            <a:xfrm>
              <a:off x="2687760" y="4819680"/>
              <a:ext cx="1466280" cy="334440"/>
            </a:xfrm>
            <a:prstGeom prst="rect">
              <a:avLst/>
            </a:prstGeom>
            <a:solidFill>
              <a:srgbClr val="808080"/>
            </a:solidFill>
            <a:ln w="11160">
              <a:solidFill>
                <a:srgbClr val="000000"/>
              </a:solidFill>
              <a:miter/>
            </a:ln>
          </p:spPr>
          <p:style>
            <a:lnRef idx="0">
              <a:scrgbClr r="0" g="0" b="0"/>
            </a:lnRef>
            <a:fillRef idx="0">
              <a:scrgbClr r="0" g="0" b="0"/>
            </a:fillRef>
            <a:effectRef idx="0">
              <a:scrgbClr r="0" g="0" b="0"/>
            </a:effectRef>
            <a:fontRef idx="minor"/>
          </p:style>
        </p:sp>
        <p:sp>
          <p:nvSpPr>
            <p:cNvPr id="78" name="CustomShape 64">
              <a:extLst>
                <a:ext uri="{FF2B5EF4-FFF2-40B4-BE49-F238E27FC236}">
                  <a16:creationId xmlns:a16="http://schemas.microsoft.com/office/drawing/2014/main" id="{07EF5337-B8B8-47F1-9642-1E2A75D4981C}"/>
                </a:ext>
              </a:extLst>
            </p:cNvPr>
            <p:cNvSpPr/>
            <p:nvPr/>
          </p:nvSpPr>
          <p:spPr>
            <a:xfrm>
              <a:off x="2901240" y="4905360"/>
              <a:ext cx="11865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Protocol Interface</a:t>
              </a:r>
              <a:endParaRPr lang="en-US" sz="1100" b="0" strike="noStrike" spc="-1">
                <a:latin typeface="Arial"/>
              </a:endParaRPr>
            </a:p>
          </p:txBody>
        </p:sp>
        <p:sp>
          <p:nvSpPr>
            <p:cNvPr id="79" name="CustomShape 65">
              <a:extLst>
                <a:ext uri="{FF2B5EF4-FFF2-40B4-BE49-F238E27FC236}">
                  <a16:creationId xmlns:a16="http://schemas.microsoft.com/office/drawing/2014/main" id="{D69CD369-7B9A-4E71-B2E3-F82FC1E8995D}"/>
                </a:ext>
              </a:extLst>
            </p:cNvPr>
            <p:cNvSpPr/>
            <p:nvPr/>
          </p:nvSpPr>
          <p:spPr>
            <a:xfrm>
              <a:off x="2620800" y="4886280"/>
              <a:ext cx="1466280" cy="335880"/>
            </a:xfrm>
            <a:prstGeom prst="rect">
              <a:avLst/>
            </a:prstGeom>
            <a:solidFill>
              <a:srgbClr val="808080"/>
            </a:solidFill>
            <a:ln w="11160">
              <a:solidFill>
                <a:srgbClr val="000000"/>
              </a:solidFill>
              <a:miter/>
            </a:ln>
          </p:spPr>
          <p:style>
            <a:lnRef idx="0">
              <a:scrgbClr r="0" g="0" b="0"/>
            </a:lnRef>
            <a:fillRef idx="0">
              <a:scrgbClr r="0" g="0" b="0"/>
            </a:fillRef>
            <a:effectRef idx="0">
              <a:scrgbClr r="0" g="0" b="0"/>
            </a:effectRef>
            <a:fontRef idx="minor"/>
          </p:style>
        </p:sp>
        <p:sp>
          <p:nvSpPr>
            <p:cNvPr id="80" name="CustomShape 66">
              <a:extLst>
                <a:ext uri="{FF2B5EF4-FFF2-40B4-BE49-F238E27FC236}">
                  <a16:creationId xmlns:a16="http://schemas.microsoft.com/office/drawing/2014/main" id="{2F549E20-1930-40FC-8BC0-8B95A10EE7A4}"/>
                </a:ext>
              </a:extLst>
            </p:cNvPr>
            <p:cNvSpPr/>
            <p:nvPr/>
          </p:nvSpPr>
          <p:spPr>
            <a:xfrm>
              <a:off x="2836080" y="4968720"/>
              <a:ext cx="11865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Protocol Interface</a:t>
              </a:r>
              <a:endParaRPr lang="en-US" sz="1100" b="0" strike="noStrike" spc="-1">
                <a:latin typeface="Arial"/>
              </a:endParaRPr>
            </a:p>
          </p:txBody>
        </p:sp>
        <p:sp>
          <p:nvSpPr>
            <p:cNvPr id="81" name="CustomShape 67">
              <a:extLst>
                <a:ext uri="{FF2B5EF4-FFF2-40B4-BE49-F238E27FC236}">
                  <a16:creationId xmlns:a16="http://schemas.microsoft.com/office/drawing/2014/main" id="{75F941AC-7CBB-497B-8EA7-82DFCE8BBEFC}"/>
                </a:ext>
              </a:extLst>
            </p:cNvPr>
            <p:cNvSpPr/>
            <p:nvPr/>
          </p:nvSpPr>
          <p:spPr>
            <a:xfrm>
              <a:off x="2552760" y="4952880"/>
              <a:ext cx="1467720" cy="335880"/>
            </a:xfrm>
            <a:prstGeom prst="rect">
              <a:avLst/>
            </a:prstGeom>
            <a:solidFill>
              <a:srgbClr val="808080"/>
            </a:solidFill>
            <a:ln w="11160">
              <a:solidFill>
                <a:srgbClr val="000000"/>
              </a:solidFill>
              <a:miter/>
            </a:ln>
          </p:spPr>
          <p:style>
            <a:lnRef idx="0">
              <a:scrgbClr r="0" g="0" b="0"/>
            </a:lnRef>
            <a:fillRef idx="0">
              <a:scrgbClr r="0" g="0" b="0"/>
            </a:fillRef>
            <a:effectRef idx="0">
              <a:scrgbClr r="0" g="0" b="0"/>
            </a:effectRef>
            <a:fontRef idx="minor"/>
          </p:style>
        </p:sp>
        <p:sp>
          <p:nvSpPr>
            <p:cNvPr id="82" name="CustomShape 68">
              <a:extLst>
                <a:ext uri="{FF2B5EF4-FFF2-40B4-BE49-F238E27FC236}">
                  <a16:creationId xmlns:a16="http://schemas.microsoft.com/office/drawing/2014/main" id="{059F1C23-20B5-4B37-8409-D533FFC9B1BC}"/>
                </a:ext>
              </a:extLst>
            </p:cNvPr>
            <p:cNvSpPr/>
            <p:nvPr/>
          </p:nvSpPr>
          <p:spPr>
            <a:xfrm>
              <a:off x="2769480" y="5035680"/>
              <a:ext cx="11865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Protocol Interface</a:t>
              </a:r>
              <a:endParaRPr lang="en-US" sz="1100" b="0" strike="noStrike" spc="-1">
                <a:latin typeface="Arial"/>
              </a:endParaRPr>
            </a:p>
          </p:txBody>
        </p:sp>
        <p:sp>
          <p:nvSpPr>
            <p:cNvPr id="83" name="CustomShape 69">
              <a:extLst>
                <a:ext uri="{FF2B5EF4-FFF2-40B4-BE49-F238E27FC236}">
                  <a16:creationId xmlns:a16="http://schemas.microsoft.com/office/drawing/2014/main" id="{AAD6BFED-FB31-4DEF-BAB3-972B6B3D7F42}"/>
                </a:ext>
              </a:extLst>
            </p:cNvPr>
            <p:cNvSpPr/>
            <p:nvPr/>
          </p:nvSpPr>
          <p:spPr>
            <a:xfrm>
              <a:off x="2486160" y="5019840"/>
              <a:ext cx="1467720" cy="335880"/>
            </a:xfrm>
            <a:prstGeom prst="rect">
              <a:avLst/>
            </a:prstGeom>
            <a:solidFill>
              <a:srgbClr val="808080"/>
            </a:solidFill>
            <a:ln w="11160">
              <a:solidFill>
                <a:srgbClr val="000000"/>
              </a:solidFill>
              <a:miter/>
            </a:ln>
          </p:spPr>
          <p:style>
            <a:lnRef idx="0">
              <a:scrgbClr r="0" g="0" b="0"/>
            </a:lnRef>
            <a:fillRef idx="0">
              <a:scrgbClr r="0" g="0" b="0"/>
            </a:fillRef>
            <a:effectRef idx="0">
              <a:scrgbClr r="0" g="0" b="0"/>
            </a:effectRef>
            <a:fontRef idx="minor"/>
          </p:style>
        </p:sp>
        <p:sp>
          <p:nvSpPr>
            <p:cNvPr id="84" name="CustomShape 70">
              <a:extLst>
                <a:ext uri="{FF2B5EF4-FFF2-40B4-BE49-F238E27FC236}">
                  <a16:creationId xmlns:a16="http://schemas.microsoft.com/office/drawing/2014/main" id="{035A1125-A04C-48AD-890E-D8875A96EBC8}"/>
                </a:ext>
              </a:extLst>
            </p:cNvPr>
            <p:cNvSpPr/>
            <p:nvPr/>
          </p:nvSpPr>
          <p:spPr>
            <a:xfrm>
              <a:off x="2699640" y="5103720"/>
              <a:ext cx="11865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Protocol Interface</a:t>
              </a:r>
              <a:endParaRPr lang="en-US" sz="1100" b="0" strike="noStrike" spc="-1">
                <a:latin typeface="Arial"/>
              </a:endParaRPr>
            </a:p>
          </p:txBody>
        </p:sp>
        <p:sp>
          <p:nvSpPr>
            <p:cNvPr id="85" name="CustomShape 71">
              <a:extLst>
                <a:ext uri="{FF2B5EF4-FFF2-40B4-BE49-F238E27FC236}">
                  <a16:creationId xmlns:a16="http://schemas.microsoft.com/office/drawing/2014/main" id="{48AE411C-946D-469C-9064-05615261FCEE}"/>
                </a:ext>
              </a:extLst>
            </p:cNvPr>
            <p:cNvSpPr/>
            <p:nvPr/>
          </p:nvSpPr>
          <p:spPr>
            <a:xfrm>
              <a:off x="2419200" y="5087880"/>
              <a:ext cx="1466280" cy="332640"/>
            </a:xfrm>
            <a:prstGeom prst="rect">
              <a:avLst/>
            </a:prstGeom>
            <a:solidFill>
              <a:srgbClr val="808080"/>
            </a:solidFill>
            <a:ln w="11160">
              <a:solidFill>
                <a:srgbClr val="000000"/>
              </a:solidFill>
              <a:miter/>
            </a:ln>
          </p:spPr>
          <p:style>
            <a:lnRef idx="0">
              <a:scrgbClr r="0" g="0" b="0"/>
            </a:lnRef>
            <a:fillRef idx="0">
              <a:scrgbClr r="0" g="0" b="0"/>
            </a:fillRef>
            <a:effectRef idx="0">
              <a:scrgbClr r="0" g="0" b="0"/>
            </a:effectRef>
            <a:fontRef idx="minor"/>
          </p:style>
        </p:sp>
        <p:sp>
          <p:nvSpPr>
            <p:cNvPr id="86" name="CustomShape 72">
              <a:extLst>
                <a:ext uri="{FF2B5EF4-FFF2-40B4-BE49-F238E27FC236}">
                  <a16:creationId xmlns:a16="http://schemas.microsoft.com/office/drawing/2014/main" id="{D3A6CD6E-36B4-4B16-9172-B929968E9B3C}"/>
                </a:ext>
              </a:extLst>
            </p:cNvPr>
            <p:cNvSpPr/>
            <p:nvPr/>
          </p:nvSpPr>
          <p:spPr>
            <a:xfrm>
              <a:off x="2633040" y="5170320"/>
              <a:ext cx="11865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Protocol Interface</a:t>
              </a:r>
              <a:endParaRPr lang="en-US" sz="1100" b="0" strike="noStrike" spc="-1">
                <a:latin typeface="Arial"/>
              </a:endParaRPr>
            </a:p>
          </p:txBody>
        </p:sp>
        <p:sp>
          <p:nvSpPr>
            <p:cNvPr id="87" name="CustomShape 73">
              <a:extLst>
                <a:ext uri="{FF2B5EF4-FFF2-40B4-BE49-F238E27FC236}">
                  <a16:creationId xmlns:a16="http://schemas.microsoft.com/office/drawing/2014/main" id="{92F1E72A-D240-48DA-86AA-620F173ED0A9}"/>
                </a:ext>
              </a:extLst>
            </p:cNvPr>
            <p:cNvSpPr/>
            <p:nvPr/>
          </p:nvSpPr>
          <p:spPr>
            <a:xfrm>
              <a:off x="2352600" y="5154480"/>
              <a:ext cx="1466280" cy="332640"/>
            </a:xfrm>
            <a:prstGeom prst="rect">
              <a:avLst/>
            </a:prstGeom>
            <a:solidFill>
              <a:srgbClr val="C0C0C0"/>
            </a:solidFill>
            <a:ln w="11160">
              <a:solidFill>
                <a:srgbClr val="000000"/>
              </a:solidFill>
              <a:miter/>
            </a:ln>
          </p:spPr>
          <p:style>
            <a:lnRef idx="0">
              <a:scrgbClr r="0" g="0" b="0"/>
            </a:lnRef>
            <a:fillRef idx="0">
              <a:scrgbClr r="0" g="0" b="0"/>
            </a:fillRef>
            <a:effectRef idx="0">
              <a:scrgbClr r="0" g="0" b="0"/>
            </a:effectRef>
            <a:fontRef idx="minor"/>
          </p:style>
        </p:sp>
        <p:sp>
          <p:nvSpPr>
            <p:cNvPr id="88" name="CustomShape 74">
              <a:extLst>
                <a:ext uri="{FF2B5EF4-FFF2-40B4-BE49-F238E27FC236}">
                  <a16:creationId xmlns:a16="http://schemas.microsoft.com/office/drawing/2014/main" id="{5F0083E8-E564-4844-A92D-4471FAD2D2D8}"/>
                </a:ext>
              </a:extLst>
            </p:cNvPr>
            <p:cNvSpPr/>
            <p:nvPr/>
          </p:nvSpPr>
          <p:spPr>
            <a:xfrm>
              <a:off x="2569680" y="5238720"/>
              <a:ext cx="11865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Protocol Interface</a:t>
              </a:r>
              <a:endParaRPr lang="en-US" sz="1100" b="0" strike="noStrike" spc="-1">
                <a:latin typeface="Arial"/>
              </a:endParaRPr>
            </a:p>
          </p:txBody>
        </p:sp>
        <p:grpSp>
          <p:nvGrpSpPr>
            <p:cNvPr id="89" name="Group 75">
              <a:extLst>
                <a:ext uri="{FF2B5EF4-FFF2-40B4-BE49-F238E27FC236}">
                  <a16:creationId xmlns:a16="http://schemas.microsoft.com/office/drawing/2014/main" id="{41F2DEC0-5EE2-4D57-8223-D02E091F3D2E}"/>
                </a:ext>
              </a:extLst>
            </p:cNvPr>
            <p:cNvGrpSpPr/>
            <p:nvPr/>
          </p:nvGrpSpPr>
          <p:grpSpPr>
            <a:xfrm>
              <a:off x="5352120" y="1514520"/>
              <a:ext cx="267120" cy="56520"/>
              <a:chOff x="5352120" y="1514520"/>
              <a:chExt cx="267120" cy="56520"/>
            </a:xfrm>
          </p:grpSpPr>
          <p:sp>
            <p:nvSpPr>
              <p:cNvPr id="314" name="Line 76">
                <a:extLst>
                  <a:ext uri="{FF2B5EF4-FFF2-40B4-BE49-F238E27FC236}">
                    <a16:creationId xmlns:a16="http://schemas.microsoft.com/office/drawing/2014/main" id="{02284C20-8AD9-44B6-BE88-CF92564C1CFA}"/>
                  </a:ext>
                </a:extLst>
              </p:cNvPr>
              <p:cNvSpPr/>
              <p:nvPr/>
            </p:nvSpPr>
            <p:spPr>
              <a:xfrm>
                <a:off x="5352120" y="1542600"/>
                <a:ext cx="182520" cy="144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315" name="CustomShape 77">
                <a:extLst>
                  <a:ext uri="{FF2B5EF4-FFF2-40B4-BE49-F238E27FC236}">
                    <a16:creationId xmlns:a16="http://schemas.microsoft.com/office/drawing/2014/main" id="{878826F8-4C85-41C8-A34A-289DA5A6078F}"/>
                  </a:ext>
                </a:extLst>
              </p:cNvPr>
              <p:cNvSpPr/>
              <p:nvPr/>
            </p:nvSpPr>
            <p:spPr>
              <a:xfrm>
                <a:off x="5529240" y="1514520"/>
                <a:ext cx="90000" cy="56520"/>
              </a:xfrm>
              <a:custGeom>
                <a:avLst/>
                <a:gdLst/>
                <a:ahLst/>
                <a:cxnLst/>
                <a:rect l="l" t="t" r="r" b="b"/>
                <a:pathLst>
                  <a:path w="61" h="39">
                    <a:moveTo>
                      <a:pt x="0" y="39"/>
                    </a:moveTo>
                    <a:lnTo>
                      <a:pt x="61" y="20"/>
                    </a:lnTo>
                    <a:lnTo>
                      <a:pt x="0" y="0"/>
                    </a:lnTo>
                    <a:lnTo>
                      <a:pt x="0" y="39"/>
                    </a:lnTo>
                    <a:close/>
                  </a:path>
                </a:pathLst>
              </a:custGeom>
              <a:solidFill>
                <a:srgbClr val="000000"/>
              </a:solidFill>
              <a:ln w="9360">
                <a:noFill/>
              </a:ln>
            </p:spPr>
            <p:style>
              <a:lnRef idx="0">
                <a:scrgbClr r="0" g="0" b="0"/>
              </a:lnRef>
              <a:fillRef idx="0">
                <a:scrgbClr r="0" g="0" b="0"/>
              </a:fillRef>
              <a:effectRef idx="0">
                <a:scrgbClr r="0" g="0" b="0"/>
              </a:effectRef>
              <a:fontRef idx="minor"/>
            </p:style>
          </p:sp>
        </p:grpSp>
        <p:grpSp>
          <p:nvGrpSpPr>
            <p:cNvPr id="90" name="Group 78">
              <a:extLst>
                <a:ext uri="{FF2B5EF4-FFF2-40B4-BE49-F238E27FC236}">
                  <a16:creationId xmlns:a16="http://schemas.microsoft.com/office/drawing/2014/main" id="{F0FED843-4688-41CB-8164-D4E7A451F507}"/>
                </a:ext>
              </a:extLst>
            </p:cNvPr>
            <p:cNvGrpSpPr/>
            <p:nvPr/>
          </p:nvGrpSpPr>
          <p:grpSpPr>
            <a:xfrm>
              <a:off x="4156200" y="1514520"/>
              <a:ext cx="397800" cy="56520"/>
              <a:chOff x="4156200" y="1514520"/>
              <a:chExt cx="397800" cy="56520"/>
            </a:xfrm>
          </p:grpSpPr>
          <p:sp>
            <p:nvSpPr>
              <p:cNvPr id="312" name="Line 79">
                <a:extLst>
                  <a:ext uri="{FF2B5EF4-FFF2-40B4-BE49-F238E27FC236}">
                    <a16:creationId xmlns:a16="http://schemas.microsoft.com/office/drawing/2014/main" id="{0B020911-1E01-42FA-8F40-8F2C2A9AEE36}"/>
                  </a:ext>
                </a:extLst>
              </p:cNvPr>
              <p:cNvSpPr/>
              <p:nvPr/>
            </p:nvSpPr>
            <p:spPr>
              <a:xfrm flipH="1">
                <a:off x="4237920" y="1542600"/>
                <a:ext cx="316080" cy="144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313" name="CustomShape 80">
                <a:extLst>
                  <a:ext uri="{FF2B5EF4-FFF2-40B4-BE49-F238E27FC236}">
                    <a16:creationId xmlns:a16="http://schemas.microsoft.com/office/drawing/2014/main" id="{A2098CC5-8F8C-43AF-A620-0FC1C7206CC6}"/>
                  </a:ext>
                </a:extLst>
              </p:cNvPr>
              <p:cNvSpPr/>
              <p:nvPr/>
            </p:nvSpPr>
            <p:spPr>
              <a:xfrm>
                <a:off x="4156200" y="1514520"/>
                <a:ext cx="90000" cy="56520"/>
              </a:xfrm>
              <a:custGeom>
                <a:avLst/>
                <a:gdLst/>
                <a:ahLst/>
                <a:cxnLst/>
                <a:rect l="l" t="t" r="r" b="b"/>
                <a:pathLst>
                  <a:path w="61" h="39">
                    <a:moveTo>
                      <a:pt x="61" y="0"/>
                    </a:moveTo>
                    <a:lnTo>
                      <a:pt x="0" y="20"/>
                    </a:lnTo>
                    <a:lnTo>
                      <a:pt x="61" y="39"/>
                    </a:lnTo>
                    <a:lnTo>
                      <a:pt x="61" y="0"/>
                    </a:lnTo>
                    <a:close/>
                  </a:path>
                </a:pathLst>
              </a:custGeom>
              <a:solidFill>
                <a:srgbClr val="000000"/>
              </a:solidFill>
              <a:ln w="9360">
                <a:noFill/>
              </a:ln>
            </p:spPr>
            <p:style>
              <a:lnRef idx="0">
                <a:scrgbClr r="0" g="0" b="0"/>
              </a:lnRef>
              <a:fillRef idx="0">
                <a:scrgbClr r="0" g="0" b="0"/>
              </a:fillRef>
              <a:effectRef idx="0">
                <a:scrgbClr r="0" g="0" b="0"/>
              </a:effectRef>
              <a:fontRef idx="minor"/>
            </p:style>
          </p:sp>
        </p:grpSp>
        <p:grpSp>
          <p:nvGrpSpPr>
            <p:cNvPr id="91" name="Group 81">
              <a:extLst>
                <a:ext uri="{FF2B5EF4-FFF2-40B4-BE49-F238E27FC236}">
                  <a16:creationId xmlns:a16="http://schemas.microsoft.com/office/drawing/2014/main" id="{CF0E8C0A-497D-4E00-9595-2A75C2246FC4}"/>
                </a:ext>
              </a:extLst>
            </p:cNvPr>
            <p:cNvGrpSpPr/>
            <p:nvPr/>
          </p:nvGrpSpPr>
          <p:grpSpPr>
            <a:xfrm>
              <a:off x="5220720" y="2011320"/>
              <a:ext cx="398520" cy="796320"/>
              <a:chOff x="5220720" y="2011320"/>
              <a:chExt cx="398520" cy="796320"/>
            </a:xfrm>
          </p:grpSpPr>
          <p:sp>
            <p:nvSpPr>
              <p:cNvPr id="310" name="Line 82">
                <a:extLst>
                  <a:ext uri="{FF2B5EF4-FFF2-40B4-BE49-F238E27FC236}">
                    <a16:creationId xmlns:a16="http://schemas.microsoft.com/office/drawing/2014/main" id="{887D15F1-9C68-49CE-9C3F-45A130598FA4}"/>
                  </a:ext>
                </a:extLst>
              </p:cNvPr>
              <p:cNvSpPr/>
              <p:nvPr/>
            </p:nvSpPr>
            <p:spPr>
              <a:xfrm>
                <a:off x="5220720" y="2011320"/>
                <a:ext cx="357120" cy="72216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311" name="CustomShape 83">
                <a:extLst>
                  <a:ext uri="{FF2B5EF4-FFF2-40B4-BE49-F238E27FC236}">
                    <a16:creationId xmlns:a16="http://schemas.microsoft.com/office/drawing/2014/main" id="{4AF53344-5236-4961-86BE-866F22432EE3}"/>
                  </a:ext>
                </a:extLst>
              </p:cNvPr>
              <p:cNvSpPr/>
              <p:nvPr/>
            </p:nvSpPr>
            <p:spPr>
              <a:xfrm>
                <a:off x="5554800" y="2712960"/>
                <a:ext cx="64440" cy="94680"/>
              </a:xfrm>
              <a:custGeom>
                <a:avLst/>
                <a:gdLst/>
                <a:ahLst/>
                <a:cxnLst/>
                <a:rect l="l" t="t" r="r" b="b"/>
                <a:pathLst>
                  <a:path w="44" h="64">
                    <a:moveTo>
                      <a:pt x="0" y="18"/>
                    </a:moveTo>
                    <a:lnTo>
                      <a:pt x="44" y="64"/>
                    </a:lnTo>
                    <a:lnTo>
                      <a:pt x="35" y="0"/>
                    </a:lnTo>
                    <a:lnTo>
                      <a:pt x="0" y="18"/>
                    </a:lnTo>
                    <a:close/>
                  </a:path>
                </a:pathLst>
              </a:custGeom>
              <a:solidFill>
                <a:srgbClr val="000000"/>
              </a:solidFill>
              <a:ln w="9360">
                <a:noFill/>
              </a:ln>
            </p:spPr>
            <p:style>
              <a:lnRef idx="0">
                <a:scrgbClr r="0" g="0" b="0"/>
              </a:lnRef>
              <a:fillRef idx="0">
                <a:scrgbClr r="0" g="0" b="0"/>
              </a:fillRef>
              <a:effectRef idx="0">
                <a:scrgbClr r="0" g="0" b="0"/>
              </a:effectRef>
              <a:fontRef idx="minor"/>
            </p:style>
          </p:sp>
        </p:grpSp>
        <p:grpSp>
          <p:nvGrpSpPr>
            <p:cNvPr id="92" name="Group 84">
              <a:extLst>
                <a:ext uri="{FF2B5EF4-FFF2-40B4-BE49-F238E27FC236}">
                  <a16:creationId xmlns:a16="http://schemas.microsoft.com/office/drawing/2014/main" id="{BEBA872B-92BD-45AE-9A0D-D51513C230AD}"/>
                </a:ext>
              </a:extLst>
            </p:cNvPr>
            <p:cNvGrpSpPr/>
            <p:nvPr/>
          </p:nvGrpSpPr>
          <p:grpSpPr>
            <a:xfrm>
              <a:off x="4953960" y="2011320"/>
              <a:ext cx="665280" cy="1801080"/>
              <a:chOff x="4953960" y="2011320"/>
              <a:chExt cx="665280" cy="1801080"/>
            </a:xfrm>
          </p:grpSpPr>
          <p:sp>
            <p:nvSpPr>
              <p:cNvPr id="308" name="Line 85">
                <a:extLst>
                  <a:ext uri="{FF2B5EF4-FFF2-40B4-BE49-F238E27FC236}">
                    <a16:creationId xmlns:a16="http://schemas.microsoft.com/office/drawing/2014/main" id="{FD74C4F5-0021-4506-A370-390554ABCB88}"/>
                  </a:ext>
                </a:extLst>
              </p:cNvPr>
              <p:cNvSpPr/>
              <p:nvPr/>
            </p:nvSpPr>
            <p:spPr>
              <a:xfrm>
                <a:off x="4953960" y="2011320"/>
                <a:ext cx="636840" cy="172224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309" name="CustomShape 86">
                <a:extLst>
                  <a:ext uri="{FF2B5EF4-FFF2-40B4-BE49-F238E27FC236}">
                    <a16:creationId xmlns:a16="http://schemas.microsoft.com/office/drawing/2014/main" id="{80184A85-6A5B-4393-8F29-608BA9A447C0}"/>
                  </a:ext>
                </a:extLst>
              </p:cNvPr>
              <p:cNvSpPr/>
              <p:nvPr/>
            </p:nvSpPr>
            <p:spPr>
              <a:xfrm>
                <a:off x="5562720" y="3716280"/>
                <a:ext cx="56520" cy="96120"/>
              </a:xfrm>
              <a:custGeom>
                <a:avLst/>
                <a:gdLst/>
                <a:ahLst/>
                <a:cxnLst/>
                <a:rect l="l" t="t" r="r" b="b"/>
                <a:pathLst>
                  <a:path w="39" h="65">
                    <a:moveTo>
                      <a:pt x="0" y="13"/>
                    </a:moveTo>
                    <a:lnTo>
                      <a:pt x="39" y="65"/>
                    </a:lnTo>
                    <a:lnTo>
                      <a:pt x="39" y="0"/>
                    </a:lnTo>
                    <a:lnTo>
                      <a:pt x="0" y="13"/>
                    </a:lnTo>
                    <a:close/>
                  </a:path>
                </a:pathLst>
              </a:custGeom>
              <a:solidFill>
                <a:srgbClr val="000000"/>
              </a:solidFill>
              <a:ln w="9360">
                <a:noFill/>
              </a:ln>
            </p:spPr>
            <p:style>
              <a:lnRef idx="0">
                <a:scrgbClr r="0" g="0" b="0"/>
              </a:lnRef>
              <a:fillRef idx="0">
                <a:scrgbClr r="0" g="0" b="0"/>
              </a:fillRef>
              <a:effectRef idx="0">
                <a:scrgbClr r="0" g="0" b="0"/>
              </a:effectRef>
              <a:fontRef idx="minor"/>
            </p:style>
          </p:sp>
        </p:grpSp>
        <p:grpSp>
          <p:nvGrpSpPr>
            <p:cNvPr id="93" name="Group 87">
              <a:extLst>
                <a:ext uri="{FF2B5EF4-FFF2-40B4-BE49-F238E27FC236}">
                  <a16:creationId xmlns:a16="http://schemas.microsoft.com/office/drawing/2014/main" id="{73419982-FC39-4CDC-B29E-9DC7A8E6C209}"/>
                </a:ext>
              </a:extLst>
            </p:cNvPr>
            <p:cNvGrpSpPr/>
            <p:nvPr/>
          </p:nvGrpSpPr>
          <p:grpSpPr>
            <a:xfrm>
              <a:off x="4156200" y="2011320"/>
              <a:ext cx="531360" cy="399240"/>
              <a:chOff x="4156200" y="2011320"/>
              <a:chExt cx="531360" cy="399240"/>
            </a:xfrm>
          </p:grpSpPr>
          <p:sp>
            <p:nvSpPr>
              <p:cNvPr id="306" name="Line 88">
                <a:extLst>
                  <a:ext uri="{FF2B5EF4-FFF2-40B4-BE49-F238E27FC236}">
                    <a16:creationId xmlns:a16="http://schemas.microsoft.com/office/drawing/2014/main" id="{E0C65679-026D-4293-A2C4-F9A24F0D44AE}"/>
                  </a:ext>
                </a:extLst>
              </p:cNvPr>
              <p:cNvSpPr/>
              <p:nvPr/>
            </p:nvSpPr>
            <p:spPr>
              <a:xfrm flipH="1">
                <a:off x="4219560" y="2011320"/>
                <a:ext cx="468000" cy="34920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307" name="CustomShape 89">
                <a:extLst>
                  <a:ext uri="{FF2B5EF4-FFF2-40B4-BE49-F238E27FC236}">
                    <a16:creationId xmlns:a16="http://schemas.microsoft.com/office/drawing/2014/main" id="{F2578AFA-0DA9-47B4-A175-8BBEA8E27C30}"/>
                  </a:ext>
                </a:extLst>
              </p:cNvPr>
              <p:cNvSpPr/>
              <p:nvPr/>
            </p:nvSpPr>
            <p:spPr>
              <a:xfrm>
                <a:off x="4156200" y="2330280"/>
                <a:ext cx="90000" cy="80280"/>
              </a:xfrm>
              <a:custGeom>
                <a:avLst/>
                <a:gdLst/>
                <a:ahLst/>
                <a:cxnLst/>
                <a:rect l="l" t="t" r="r" b="b"/>
                <a:pathLst>
                  <a:path w="61" h="55">
                    <a:moveTo>
                      <a:pt x="37" y="0"/>
                    </a:moveTo>
                    <a:lnTo>
                      <a:pt x="0" y="55"/>
                    </a:lnTo>
                    <a:lnTo>
                      <a:pt x="61" y="33"/>
                    </a:lnTo>
                    <a:lnTo>
                      <a:pt x="37" y="0"/>
                    </a:lnTo>
                    <a:close/>
                  </a:path>
                </a:pathLst>
              </a:custGeom>
              <a:solidFill>
                <a:srgbClr val="000000"/>
              </a:solidFill>
              <a:ln w="9360">
                <a:noFill/>
              </a:ln>
            </p:spPr>
            <p:style>
              <a:lnRef idx="0">
                <a:scrgbClr r="0" g="0" b="0"/>
              </a:lnRef>
              <a:fillRef idx="0">
                <a:scrgbClr r="0" g="0" b="0"/>
              </a:fillRef>
              <a:effectRef idx="0">
                <a:scrgbClr r="0" g="0" b="0"/>
              </a:effectRef>
              <a:fontRef idx="minor"/>
            </p:style>
          </p:sp>
        </p:grpSp>
        <p:sp>
          <p:nvSpPr>
            <p:cNvPr id="94" name="CustomShape 90">
              <a:extLst>
                <a:ext uri="{FF2B5EF4-FFF2-40B4-BE49-F238E27FC236}">
                  <a16:creationId xmlns:a16="http://schemas.microsoft.com/office/drawing/2014/main" id="{83EEE486-5EE8-437D-A8D8-1DB9A7665BF2}"/>
                </a:ext>
              </a:extLst>
            </p:cNvPr>
            <p:cNvSpPr/>
            <p:nvPr/>
          </p:nvSpPr>
          <p:spPr>
            <a:xfrm>
              <a:off x="1071720" y="5718240"/>
              <a:ext cx="159840" cy="240840"/>
            </a:xfrm>
            <a:prstGeom prst="rect">
              <a:avLst/>
            </a:prstGeom>
            <a:noFill/>
            <a:ln w="9360">
              <a:noFill/>
            </a:ln>
          </p:spPr>
          <p:style>
            <a:lnRef idx="0">
              <a:scrgbClr r="0" g="0" b="0"/>
            </a:lnRef>
            <a:fillRef idx="0">
              <a:scrgbClr r="0" g="0" b="0"/>
            </a:fillRef>
            <a:effectRef idx="0">
              <a:scrgbClr r="0" g="0" b="0"/>
            </a:effectRef>
            <a:fontRef idx="minor"/>
          </p:style>
        </p:sp>
        <p:sp>
          <p:nvSpPr>
            <p:cNvPr id="95" name="CustomShape 91">
              <a:extLst>
                <a:ext uri="{FF2B5EF4-FFF2-40B4-BE49-F238E27FC236}">
                  <a16:creationId xmlns:a16="http://schemas.microsoft.com/office/drawing/2014/main" id="{D5997CAE-58EE-4FA0-A257-565ACF998169}"/>
                </a:ext>
              </a:extLst>
            </p:cNvPr>
            <p:cNvSpPr/>
            <p:nvPr/>
          </p:nvSpPr>
          <p:spPr>
            <a:xfrm>
              <a:off x="615960" y="5621400"/>
              <a:ext cx="3736440" cy="467640"/>
            </a:xfrm>
            <a:prstGeom prst="rect">
              <a:avLst/>
            </a:prstGeom>
            <a:solidFill>
              <a:srgbClr val="FFFF99"/>
            </a:solidFill>
            <a:ln w="11160">
              <a:solidFill>
                <a:srgbClr val="000000"/>
              </a:solidFill>
              <a:miter/>
            </a:ln>
          </p:spPr>
          <p:style>
            <a:lnRef idx="0">
              <a:scrgbClr r="0" g="0" b="0"/>
            </a:lnRef>
            <a:fillRef idx="0">
              <a:scrgbClr r="0" g="0" b="0"/>
            </a:fillRef>
            <a:effectRef idx="0">
              <a:scrgbClr r="0" g="0" b="0"/>
            </a:effectRef>
            <a:fontRef idx="minor"/>
          </p:style>
        </p:sp>
        <p:sp>
          <p:nvSpPr>
            <p:cNvPr id="96" name="CustomShape 92">
              <a:extLst>
                <a:ext uri="{FF2B5EF4-FFF2-40B4-BE49-F238E27FC236}">
                  <a16:creationId xmlns:a16="http://schemas.microsoft.com/office/drawing/2014/main" id="{8D9A74A1-6C96-4880-A023-346624FA74C9}"/>
                </a:ext>
              </a:extLst>
            </p:cNvPr>
            <p:cNvSpPr/>
            <p:nvPr/>
          </p:nvSpPr>
          <p:spPr>
            <a:xfrm>
              <a:off x="1405440" y="5664240"/>
              <a:ext cx="2396520" cy="210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49"/>
                </a:spcBef>
              </a:pPr>
              <a:r>
                <a:rPr lang="en-US" sz="1400" b="1" strike="noStrike" spc="-1">
                  <a:solidFill>
                    <a:srgbClr val="000000"/>
                  </a:solidFill>
                  <a:latin typeface="Segoe UI"/>
                  <a:ea typeface="DejaVu Sans"/>
                </a:rPr>
                <a:t>Boot Services and Structures</a:t>
              </a:r>
              <a:endParaRPr lang="en-US" sz="1400" b="0" strike="noStrike" spc="-1">
                <a:latin typeface="Arial"/>
              </a:endParaRPr>
            </a:p>
          </p:txBody>
        </p:sp>
        <p:sp>
          <p:nvSpPr>
            <p:cNvPr id="97" name="CustomShape 93">
              <a:extLst>
                <a:ext uri="{FF2B5EF4-FFF2-40B4-BE49-F238E27FC236}">
                  <a16:creationId xmlns:a16="http://schemas.microsoft.com/office/drawing/2014/main" id="{672BF103-EDF2-40C5-A1CB-97E465125C02}"/>
                </a:ext>
              </a:extLst>
            </p:cNvPr>
            <p:cNvSpPr/>
            <p:nvPr/>
          </p:nvSpPr>
          <p:spPr>
            <a:xfrm>
              <a:off x="1026000" y="5883120"/>
              <a:ext cx="3151080" cy="210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49"/>
                </a:spcBef>
              </a:pPr>
              <a:r>
                <a:rPr lang="en-US" sz="1400" b="1" strike="noStrike" spc="-1">
                  <a:solidFill>
                    <a:srgbClr val="000000"/>
                  </a:solidFill>
                  <a:latin typeface="Segoe UI"/>
                  <a:ea typeface="DejaVu Sans"/>
                </a:rPr>
                <a:t>Only available  before the OS runtime</a:t>
              </a:r>
              <a:endParaRPr lang="en-US" sz="1400" b="0" strike="noStrike" spc="-1">
                <a:latin typeface="Arial"/>
              </a:endParaRPr>
            </a:p>
          </p:txBody>
        </p:sp>
        <p:sp>
          <p:nvSpPr>
            <p:cNvPr id="98" name="CustomShape 94">
              <a:extLst>
                <a:ext uri="{FF2B5EF4-FFF2-40B4-BE49-F238E27FC236}">
                  <a16:creationId xmlns:a16="http://schemas.microsoft.com/office/drawing/2014/main" id="{86D5D701-D2AD-4378-9E0F-794F67ECA8EE}"/>
                </a:ext>
              </a:extLst>
            </p:cNvPr>
            <p:cNvSpPr/>
            <p:nvPr/>
          </p:nvSpPr>
          <p:spPr>
            <a:xfrm>
              <a:off x="4351320" y="5621400"/>
              <a:ext cx="3673080" cy="467640"/>
            </a:xfrm>
            <a:prstGeom prst="rect">
              <a:avLst/>
            </a:prstGeom>
            <a:solidFill>
              <a:srgbClr val="FFFF99"/>
            </a:solidFill>
            <a:ln w="11160">
              <a:solidFill>
                <a:srgbClr val="000000"/>
              </a:solidFill>
              <a:miter/>
            </a:ln>
          </p:spPr>
          <p:style>
            <a:lnRef idx="0">
              <a:scrgbClr r="0" g="0" b="0"/>
            </a:lnRef>
            <a:fillRef idx="0">
              <a:scrgbClr r="0" g="0" b="0"/>
            </a:fillRef>
            <a:effectRef idx="0">
              <a:scrgbClr r="0" g="0" b="0"/>
            </a:effectRef>
            <a:fontRef idx="minor"/>
          </p:style>
        </p:sp>
        <p:sp>
          <p:nvSpPr>
            <p:cNvPr id="99" name="CustomShape 95">
              <a:extLst>
                <a:ext uri="{FF2B5EF4-FFF2-40B4-BE49-F238E27FC236}">
                  <a16:creationId xmlns:a16="http://schemas.microsoft.com/office/drawing/2014/main" id="{C0FCA5BD-DD1A-4502-9E78-B3FC4CD00C1B}"/>
                </a:ext>
              </a:extLst>
            </p:cNvPr>
            <p:cNvSpPr/>
            <p:nvPr/>
          </p:nvSpPr>
          <p:spPr>
            <a:xfrm>
              <a:off x="4960440" y="5664240"/>
              <a:ext cx="2704320" cy="210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49"/>
                </a:spcBef>
              </a:pPr>
              <a:r>
                <a:rPr lang="en-US" sz="1400" b="1" strike="noStrike" spc="-1">
                  <a:solidFill>
                    <a:srgbClr val="000000"/>
                  </a:solidFill>
                  <a:latin typeface="Segoe UI"/>
                  <a:ea typeface="DejaVu Sans"/>
                </a:rPr>
                <a:t>Runtime Services and Structures</a:t>
              </a:r>
              <a:endParaRPr lang="en-US" sz="1400" b="0" strike="noStrike" spc="-1">
                <a:latin typeface="Arial"/>
              </a:endParaRPr>
            </a:p>
          </p:txBody>
        </p:sp>
        <p:sp>
          <p:nvSpPr>
            <p:cNvPr id="100" name="CustomShape 96">
              <a:extLst>
                <a:ext uri="{FF2B5EF4-FFF2-40B4-BE49-F238E27FC236}">
                  <a16:creationId xmlns:a16="http://schemas.microsoft.com/office/drawing/2014/main" id="{18FA97B9-D052-4DBC-87E3-41250ADA1DD0}"/>
                </a:ext>
              </a:extLst>
            </p:cNvPr>
            <p:cNvSpPr/>
            <p:nvPr/>
          </p:nvSpPr>
          <p:spPr>
            <a:xfrm>
              <a:off x="4651920" y="5883120"/>
              <a:ext cx="3336840" cy="210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49"/>
                </a:spcBef>
              </a:pPr>
              <a:r>
                <a:rPr lang="en-US" sz="1400" b="1" strike="noStrike" spc="-1">
                  <a:solidFill>
                    <a:srgbClr val="000000"/>
                  </a:solidFill>
                  <a:latin typeface="Segoe UI"/>
                  <a:ea typeface="DejaVu Sans"/>
                </a:rPr>
                <a:t>Available before and during OS runtime</a:t>
              </a:r>
              <a:endParaRPr lang="en-US" sz="1400" b="0" strike="noStrike" spc="-1">
                <a:latin typeface="Arial"/>
              </a:endParaRPr>
            </a:p>
          </p:txBody>
        </p:sp>
        <p:grpSp>
          <p:nvGrpSpPr>
            <p:cNvPr id="101" name="Group 97">
              <a:extLst>
                <a:ext uri="{FF2B5EF4-FFF2-40B4-BE49-F238E27FC236}">
                  <a16:creationId xmlns:a16="http://schemas.microsoft.com/office/drawing/2014/main" id="{DA96DE98-5B07-495E-B92C-4EA524E49F55}"/>
                </a:ext>
              </a:extLst>
            </p:cNvPr>
            <p:cNvGrpSpPr/>
            <p:nvPr/>
          </p:nvGrpSpPr>
          <p:grpSpPr>
            <a:xfrm>
              <a:off x="4348080" y="1341360"/>
              <a:ext cx="9000" cy="4745880"/>
              <a:chOff x="4348080" y="1341360"/>
              <a:chExt cx="9000" cy="4745880"/>
            </a:xfrm>
          </p:grpSpPr>
          <p:sp>
            <p:nvSpPr>
              <p:cNvPr id="245" name="CustomShape 98">
                <a:extLst>
                  <a:ext uri="{FF2B5EF4-FFF2-40B4-BE49-F238E27FC236}">
                    <a16:creationId xmlns:a16="http://schemas.microsoft.com/office/drawing/2014/main" id="{2C6D176C-DE3A-4477-B213-AD791CBE3569}"/>
                  </a:ext>
                </a:extLst>
              </p:cNvPr>
              <p:cNvSpPr/>
              <p:nvPr/>
            </p:nvSpPr>
            <p:spPr>
              <a:xfrm>
                <a:off x="4348080" y="60451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6" name="CustomShape 99">
                <a:extLst>
                  <a:ext uri="{FF2B5EF4-FFF2-40B4-BE49-F238E27FC236}">
                    <a16:creationId xmlns:a16="http://schemas.microsoft.com/office/drawing/2014/main" id="{EB7FAA35-4F5D-4076-8046-4F4C19BB9F77}"/>
                  </a:ext>
                </a:extLst>
              </p:cNvPr>
              <p:cNvSpPr/>
              <p:nvPr/>
            </p:nvSpPr>
            <p:spPr>
              <a:xfrm>
                <a:off x="4348080" y="59673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7" name="CustomShape 100">
                <a:extLst>
                  <a:ext uri="{FF2B5EF4-FFF2-40B4-BE49-F238E27FC236}">
                    <a16:creationId xmlns:a16="http://schemas.microsoft.com/office/drawing/2014/main" id="{B7F04F85-91E6-4451-BEF3-9067EB3B772D}"/>
                  </a:ext>
                </a:extLst>
              </p:cNvPr>
              <p:cNvSpPr/>
              <p:nvPr/>
            </p:nvSpPr>
            <p:spPr>
              <a:xfrm>
                <a:off x="4348080" y="58881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8" name="CustomShape 101">
                <a:extLst>
                  <a:ext uri="{FF2B5EF4-FFF2-40B4-BE49-F238E27FC236}">
                    <a16:creationId xmlns:a16="http://schemas.microsoft.com/office/drawing/2014/main" id="{9BA4E400-2DA9-4E7D-9C64-52FDC0D1051D}"/>
                  </a:ext>
                </a:extLst>
              </p:cNvPr>
              <p:cNvSpPr/>
              <p:nvPr/>
            </p:nvSpPr>
            <p:spPr>
              <a:xfrm>
                <a:off x="4348080" y="58104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9" name="CustomShape 102">
                <a:extLst>
                  <a:ext uri="{FF2B5EF4-FFF2-40B4-BE49-F238E27FC236}">
                    <a16:creationId xmlns:a16="http://schemas.microsoft.com/office/drawing/2014/main" id="{6D4AA65B-1B8F-45A6-A0D2-57C1009D3B1A}"/>
                  </a:ext>
                </a:extLst>
              </p:cNvPr>
              <p:cNvSpPr/>
              <p:nvPr/>
            </p:nvSpPr>
            <p:spPr>
              <a:xfrm>
                <a:off x="4348080" y="57308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0" name="CustomShape 103">
                <a:extLst>
                  <a:ext uri="{FF2B5EF4-FFF2-40B4-BE49-F238E27FC236}">
                    <a16:creationId xmlns:a16="http://schemas.microsoft.com/office/drawing/2014/main" id="{53DA7F4A-1D12-42D3-8BAE-610FEC77A10A}"/>
                  </a:ext>
                </a:extLst>
              </p:cNvPr>
              <p:cNvSpPr/>
              <p:nvPr/>
            </p:nvSpPr>
            <p:spPr>
              <a:xfrm>
                <a:off x="4348080" y="56530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1" name="CustomShape 104">
                <a:extLst>
                  <a:ext uri="{FF2B5EF4-FFF2-40B4-BE49-F238E27FC236}">
                    <a16:creationId xmlns:a16="http://schemas.microsoft.com/office/drawing/2014/main" id="{9CC91410-C22C-46B6-830B-10422DF79891}"/>
                  </a:ext>
                </a:extLst>
              </p:cNvPr>
              <p:cNvSpPr/>
              <p:nvPr/>
            </p:nvSpPr>
            <p:spPr>
              <a:xfrm>
                <a:off x="4348080" y="55753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2" name="CustomShape 105">
                <a:extLst>
                  <a:ext uri="{FF2B5EF4-FFF2-40B4-BE49-F238E27FC236}">
                    <a16:creationId xmlns:a16="http://schemas.microsoft.com/office/drawing/2014/main" id="{89D94E9F-7162-4328-A8C7-D68CBCB452C2}"/>
                  </a:ext>
                </a:extLst>
              </p:cNvPr>
              <p:cNvSpPr/>
              <p:nvPr/>
            </p:nvSpPr>
            <p:spPr>
              <a:xfrm>
                <a:off x="4348080" y="54957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3" name="CustomShape 106">
                <a:extLst>
                  <a:ext uri="{FF2B5EF4-FFF2-40B4-BE49-F238E27FC236}">
                    <a16:creationId xmlns:a16="http://schemas.microsoft.com/office/drawing/2014/main" id="{FD7FD75A-8253-4759-9FEE-007714C069BB}"/>
                  </a:ext>
                </a:extLst>
              </p:cNvPr>
              <p:cNvSpPr/>
              <p:nvPr/>
            </p:nvSpPr>
            <p:spPr>
              <a:xfrm>
                <a:off x="4348080" y="54165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4" name="CustomShape 107">
                <a:extLst>
                  <a:ext uri="{FF2B5EF4-FFF2-40B4-BE49-F238E27FC236}">
                    <a16:creationId xmlns:a16="http://schemas.microsoft.com/office/drawing/2014/main" id="{FC8393C4-E15B-45A5-831D-9BD6BE63F929}"/>
                  </a:ext>
                </a:extLst>
              </p:cNvPr>
              <p:cNvSpPr/>
              <p:nvPr/>
            </p:nvSpPr>
            <p:spPr>
              <a:xfrm>
                <a:off x="4348080" y="53388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5" name="CustomShape 108">
                <a:extLst>
                  <a:ext uri="{FF2B5EF4-FFF2-40B4-BE49-F238E27FC236}">
                    <a16:creationId xmlns:a16="http://schemas.microsoft.com/office/drawing/2014/main" id="{09CB2FE7-0510-4A18-B2B6-B967ABBF5709}"/>
                  </a:ext>
                </a:extLst>
              </p:cNvPr>
              <p:cNvSpPr/>
              <p:nvPr/>
            </p:nvSpPr>
            <p:spPr>
              <a:xfrm>
                <a:off x="4348080" y="52610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6" name="CustomShape 109">
                <a:extLst>
                  <a:ext uri="{FF2B5EF4-FFF2-40B4-BE49-F238E27FC236}">
                    <a16:creationId xmlns:a16="http://schemas.microsoft.com/office/drawing/2014/main" id="{68B627A9-0C37-486E-977A-A3164A170377}"/>
                  </a:ext>
                </a:extLst>
              </p:cNvPr>
              <p:cNvSpPr/>
              <p:nvPr/>
            </p:nvSpPr>
            <p:spPr>
              <a:xfrm>
                <a:off x="4348080" y="51814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7" name="CustomShape 110">
                <a:extLst>
                  <a:ext uri="{FF2B5EF4-FFF2-40B4-BE49-F238E27FC236}">
                    <a16:creationId xmlns:a16="http://schemas.microsoft.com/office/drawing/2014/main" id="{D3E4388F-CFD9-44E6-983A-CF7AD2F6990E}"/>
                  </a:ext>
                </a:extLst>
              </p:cNvPr>
              <p:cNvSpPr/>
              <p:nvPr/>
            </p:nvSpPr>
            <p:spPr>
              <a:xfrm>
                <a:off x="4348080" y="51037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8" name="CustomShape 111">
                <a:extLst>
                  <a:ext uri="{FF2B5EF4-FFF2-40B4-BE49-F238E27FC236}">
                    <a16:creationId xmlns:a16="http://schemas.microsoft.com/office/drawing/2014/main" id="{EAFE39BD-88FE-417A-80A6-BD456D9206AA}"/>
                  </a:ext>
                </a:extLst>
              </p:cNvPr>
              <p:cNvSpPr/>
              <p:nvPr/>
            </p:nvSpPr>
            <p:spPr>
              <a:xfrm>
                <a:off x="4348080" y="50259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59" name="CustomShape 112">
                <a:extLst>
                  <a:ext uri="{FF2B5EF4-FFF2-40B4-BE49-F238E27FC236}">
                    <a16:creationId xmlns:a16="http://schemas.microsoft.com/office/drawing/2014/main" id="{8D07316C-28BC-48C8-AB31-0688A6904D15}"/>
                  </a:ext>
                </a:extLst>
              </p:cNvPr>
              <p:cNvSpPr/>
              <p:nvPr/>
            </p:nvSpPr>
            <p:spPr>
              <a:xfrm>
                <a:off x="4348080" y="49467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0" name="CustomShape 113">
                <a:extLst>
                  <a:ext uri="{FF2B5EF4-FFF2-40B4-BE49-F238E27FC236}">
                    <a16:creationId xmlns:a16="http://schemas.microsoft.com/office/drawing/2014/main" id="{2C2A8FCE-7AB2-4D8C-83F7-C27F2DCEDA48}"/>
                  </a:ext>
                </a:extLst>
              </p:cNvPr>
              <p:cNvSpPr/>
              <p:nvPr/>
            </p:nvSpPr>
            <p:spPr>
              <a:xfrm>
                <a:off x="4348080" y="48690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1" name="CustomShape 114">
                <a:extLst>
                  <a:ext uri="{FF2B5EF4-FFF2-40B4-BE49-F238E27FC236}">
                    <a16:creationId xmlns:a16="http://schemas.microsoft.com/office/drawing/2014/main" id="{179C69AB-9894-4AF0-AABB-AD5DA00A9E28}"/>
                  </a:ext>
                </a:extLst>
              </p:cNvPr>
              <p:cNvSpPr/>
              <p:nvPr/>
            </p:nvSpPr>
            <p:spPr>
              <a:xfrm>
                <a:off x="4348080" y="47894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2" name="CustomShape 115">
                <a:extLst>
                  <a:ext uri="{FF2B5EF4-FFF2-40B4-BE49-F238E27FC236}">
                    <a16:creationId xmlns:a16="http://schemas.microsoft.com/office/drawing/2014/main" id="{E5B23854-A2A2-4E8F-9238-B68FE1541092}"/>
                  </a:ext>
                </a:extLst>
              </p:cNvPr>
              <p:cNvSpPr/>
              <p:nvPr/>
            </p:nvSpPr>
            <p:spPr>
              <a:xfrm>
                <a:off x="4348080" y="4710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3" name="CustomShape 116">
                <a:extLst>
                  <a:ext uri="{FF2B5EF4-FFF2-40B4-BE49-F238E27FC236}">
                    <a16:creationId xmlns:a16="http://schemas.microsoft.com/office/drawing/2014/main" id="{AA422C06-E3CB-4978-A2A9-9BC4989A3BE2}"/>
                  </a:ext>
                </a:extLst>
              </p:cNvPr>
              <p:cNvSpPr/>
              <p:nvPr/>
            </p:nvSpPr>
            <p:spPr>
              <a:xfrm>
                <a:off x="4348080" y="46339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4" name="CustomShape 117">
                <a:extLst>
                  <a:ext uri="{FF2B5EF4-FFF2-40B4-BE49-F238E27FC236}">
                    <a16:creationId xmlns:a16="http://schemas.microsoft.com/office/drawing/2014/main" id="{809E132B-7EA2-4C10-A433-34F8E8E48767}"/>
                  </a:ext>
                </a:extLst>
              </p:cNvPr>
              <p:cNvSpPr/>
              <p:nvPr/>
            </p:nvSpPr>
            <p:spPr>
              <a:xfrm>
                <a:off x="4348080" y="45543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5" name="CustomShape 118">
                <a:extLst>
                  <a:ext uri="{FF2B5EF4-FFF2-40B4-BE49-F238E27FC236}">
                    <a16:creationId xmlns:a16="http://schemas.microsoft.com/office/drawing/2014/main" id="{722A26C3-89CA-452C-ABA7-906AA1DA8EEC}"/>
                  </a:ext>
                </a:extLst>
              </p:cNvPr>
              <p:cNvSpPr/>
              <p:nvPr/>
            </p:nvSpPr>
            <p:spPr>
              <a:xfrm>
                <a:off x="4348080" y="44751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6" name="CustomShape 119">
                <a:extLst>
                  <a:ext uri="{FF2B5EF4-FFF2-40B4-BE49-F238E27FC236}">
                    <a16:creationId xmlns:a16="http://schemas.microsoft.com/office/drawing/2014/main" id="{4FE54289-26A1-4256-845E-6C44E6C9BA7E}"/>
                  </a:ext>
                </a:extLst>
              </p:cNvPr>
              <p:cNvSpPr/>
              <p:nvPr/>
            </p:nvSpPr>
            <p:spPr>
              <a:xfrm>
                <a:off x="4348080" y="43974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7" name="CustomShape 120">
                <a:extLst>
                  <a:ext uri="{FF2B5EF4-FFF2-40B4-BE49-F238E27FC236}">
                    <a16:creationId xmlns:a16="http://schemas.microsoft.com/office/drawing/2014/main" id="{AC20C631-9372-42B3-B8A7-01380BB4A72B}"/>
                  </a:ext>
                </a:extLst>
              </p:cNvPr>
              <p:cNvSpPr/>
              <p:nvPr/>
            </p:nvSpPr>
            <p:spPr>
              <a:xfrm>
                <a:off x="4348080" y="431964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8" name="CustomShape 121">
                <a:extLst>
                  <a:ext uri="{FF2B5EF4-FFF2-40B4-BE49-F238E27FC236}">
                    <a16:creationId xmlns:a16="http://schemas.microsoft.com/office/drawing/2014/main" id="{653FC74D-F370-44C6-B0CC-C8B7268D6514}"/>
                  </a:ext>
                </a:extLst>
              </p:cNvPr>
              <p:cNvSpPr/>
              <p:nvPr/>
            </p:nvSpPr>
            <p:spPr>
              <a:xfrm>
                <a:off x="4348080" y="42400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69" name="CustomShape 122">
                <a:extLst>
                  <a:ext uri="{FF2B5EF4-FFF2-40B4-BE49-F238E27FC236}">
                    <a16:creationId xmlns:a16="http://schemas.microsoft.com/office/drawing/2014/main" id="{F9A86DEA-0020-4F11-84BF-89D8520B40FC}"/>
                  </a:ext>
                </a:extLst>
              </p:cNvPr>
              <p:cNvSpPr/>
              <p:nvPr/>
            </p:nvSpPr>
            <p:spPr>
              <a:xfrm>
                <a:off x="4348080" y="41623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0" name="CustomShape 123">
                <a:extLst>
                  <a:ext uri="{FF2B5EF4-FFF2-40B4-BE49-F238E27FC236}">
                    <a16:creationId xmlns:a16="http://schemas.microsoft.com/office/drawing/2014/main" id="{05916DD7-610D-421A-B3FF-C5FCA4D6EF15}"/>
                  </a:ext>
                </a:extLst>
              </p:cNvPr>
              <p:cNvSpPr/>
              <p:nvPr/>
            </p:nvSpPr>
            <p:spPr>
              <a:xfrm>
                <a:off x="4348080" y="40831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1" name="CustomShape 124">
                <a:extLst>
                  <a:ext uri="{FF2B5EF4-FFF2-40B4-BE49-F238E27FC236}">
                    <a16:creationId xmlns:a16="http://schemas.microsoft.com/office/drawing/2014/main" id="{3289D9D2-5E5D-4E2C-A748-ABFAE8D644AE}"/>
                  </a:ext>
                </a:extLst>
              </p:cNvPr>
              <p:cNvSpPr/>
              <p:nvPr/>
            </p:nvSpPr>
            <p:spPr>
              <a:xfrm>
                <a:off x="4348080" y="40053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2" name="CustomShape 125">
                <a:extLst>
                  <a:ext uri="{FF2B5EF4-FFF2-40B4-BE49-F238E27FC236}">
                    <a16:creationId xmlns:a16="http://schemas.microsoft.com/office/drawing/2014/main" id="{0BDF3F51-EE28-46DE-BBBC-7483A0123E4D}"/>
                  </a:ext>
                </a:extLst>
              </p:cNvPr>
              <p:cNvSpPr/>
              <p:nvPr/>
            </p:nvSpPr>
            <p:spPr>
              <a:xfrm>
                <a:off x="4348080" y="39276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3" name="CustomShape 126">
                <a:extLst>
                  <a:ext uri="{FF2B5EF4-FFF2-40B4-BE49-F238E27FC236}">
                    <a16:creationId xmlns:a16="http://schemas.microsoft.com/office/drawing/2014/main" id="{1C1C3A40-37CA-4106-B481-B570443EDFCD}"/>
                  </a:ext>
                </a:extLst>
              </p:cNvPr>
              <p:cNvSpPr/>
              <p:nvPr/>
            </p:nvSpPr>
            <p:spPr>
              <a:xfrm>
                <a:off x="4348080" y="38480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4" name="CustomShape 127">
                <a:extLst>
                  <a:ext uri="{FF2B5EF4-FFF2-40B4-BE49-F238E27FC236}">
                    <a16:creationId xmlns:a16="http://schemas.microsoft.com/office/drawing/2014/main" id="{2E778683-CBC4-4382-9C52-5278DBF60845}"/>
                  </a:ext>
                </a:extLst>
              </p:cNvPr>
              <p:cNvSpPr/>
              <p:nvPr/>
            </p:nvSpPr>
            <p:spPr>
              <a:xfrm>
                <a:off x="4348080" y="37688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5" name="CustomShape 128">
                <a:extLst>
                  <a:ext uri="{FF2B5EF4-FFF2-40B4-BE49-F238E27FC236}">
                    <a16:creationId xmlns:a16="http://schemas.microsoft.com/office/drawing/2014/main" id="{520871D3-BF84-4BC4-B3C7-0DCE94B2450E}"/>
                  </a:ext>
                </a:extLst>
              </p:cNvPr>
              <p:cNvSpPr/>
              <p:nvPr/>
            </p:nvSpPr>
            <p:spPr>
              <a:xfrm>
                <a:off x="4348080" y="36925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6" name="CustomShape 129">
                <a:extLst>
                  <a:ext uri="{FF2B5EF4-FFF2-40B4-BE49-F238E27FC236}">
                    <a16:creationId xmlns:a16="http://schemas.microsoft.com/office/drawing/2014/main" id="{189A52D9-00C5-4DCB-BCDD-83D431E5C0DE}"/>
                  </a:ext>
                </a:extLst>
              </p:cNvPr>
              <p:cNvSpPr/>
              <p:nvPr/>
            </p:nvSpPr>
            <p:spPr>
              <a:xfrm>
                <a:off x="4348080" y="36133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7" name="CustomShape 130">
                <a:extLst>
                  <a:ext uri="{FF2B5EF4-FFF2-40B4-BE49-F238E27FC236}">
                    <a16:creationId xmlns:a16="http://schemas.microsoft.com/office/drawing/2014/main" id="{D9E34E12-3F2E-4468-A2CF-8B7C15322B73}"/>
                  </a:ext>
                </a:extLst>
              </p:cNvPr>
              <p:cNvSpPr/>
              <p:nvPr/>
            </p:nvSpPr>
            <p:spPr>
              <a:xfrm>
                <a:off x="4348080" y="35337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8" name="CustomShape 131">
                <a:extLst>
                  <a:ext uri="{FF2B5EF4-FFF2-40B4-BE49-F238E27FC236}">
                    <a16:creationId xmlns:a16="http://schemas.microsoft.com/office/drawing/2014/main" id="{83377302-55E3-4224-AACF-B5851261CBDC}"/>
                  </a:ext>
                </a:extLst>
              </p:cNvPr>
              <p:cNvSpPr/>
              <p:nvPr/>
            </p:nvSpPr>
            <p:spPr>
              <a:xfrm>
                <a:off x="4348080" y="34560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79" name="CustomShape 132">
                <a:extLst>
                  <a:ext uri="{FF2B5EF4-FFF2-40B4-BE49-F238E27FC236}">
                    <a16:creationId xmlns:a16="http://schemas.microsoft.com/office/drawing/2014/main" id="{D50CC9D9-698F-4292-AFCA-2DB3DF0C5D59}"/>
                  </a:ext>
                </a:extLst>
              </p:cNvPr>
              <p:cNvSpPr/>
              <p:nvPr/>
            </p:nvSpPr>
            <p:spPr>
              <a:xfrm>
                <a:off x="4348080" y="3378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0" name="CustomShape 133">
                <a:extLst>
                  <a:ext uri="{FF2B5EF4-FFF2-40B4-BE49-F238E27FC236}">
                    <a16:creationId xmlns:a16="http://schemas.microsoft.com/office/drawing/2014/main" id="{4E8B66B0-B5CC-447C-8569-52CC7A088959}"/>
                  </a:ext>
                </a:extLst>
              </p:cNvPr>
              <p:cNvSpPr/>
              <p:nvPr/>
            </p:nvSpPr>
            <p:spPr>
              <a:xfrm>
                <a:off x="4348080" y="32986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1" name="CustomShape 134">
                <a:extLst>
                  <a:ext uri="{FF2B5EF4-FFF2-40B4-BE49-F238E27FC236}">
                    <a16:creationId xmlns:a16="http://schemas.microsoft.com/office/drawing/2014/main" id="{A88ABF81-5A0C-4BE1-BECB-C35AB011F741}"/>
                  </a:ext>
                </a:extLst>
              </p:cNvPr>
              <p:cNvSpPr/>
              <p:nvPr/>
            </p:nvSpPr>
            <p:spPr>
              <a:xfrm>
                <a:off x="4348080" y="32209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2" name="CustomShape 135">
                <a:extLst>
                  <a:ext uri="{FF2B5EF4-FFF2-40B4-BE49-F238E27FC236}">
                    <a16:creationId xmlns:a16="http://schemas.microsoft.com/office/drawing/2014/main" id="{9DDF3663-1185-4FCE-9FD9-405CA93F7237}"/>
                  </a:ext>
                </a:extLst>
              </p:cNvPr>
              <p:cNvSpPr/>
              <p:nvPr/>
            </p:nvSpPr>
            <p:spPr>
              <a:xfrm>
                <a:off x="4348080" y="31417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3" name="CustomShape 136">
                <a:extLst>
                  <a:ext uri="{FF2B5EF4-FFF2-40B4-BE49-F238E27FC236}">
                    <a16:creationId xmlns:a16="http://schemas.microsoft.com/office/drawing/2014/main" id="{5FAD3211-35A5-4EEF-9871-C825202B9754}"/>
                  </a:ext>
                </a:extLst>
              </p:cNvPr>
              <p:cNvSpPr/>
              <p:nvPr/>
            </p:nvSpPr>
            <p:spPr>
              <a:xfrm>
                <a:off x="4348080" y="30639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4" name="CustomShape 137">
                <a:extLst>
                  <a:ext uri="{FF2B5EF4-FFF2-40B4-BE49-F238E27FC236}">
                    <a16:creationId xmlns:a16="http://schemas.microsoft.com/office/drawing/2014/main" id="{F60C1D30-A486-4301-B197-0B82D227DE49}"/>
                  </a:ext>
                </a:extLst>
              </p:cNvPr>
              <p:cNvSpPr/>
              <p:nvPr/>
            </p:nvSpPr>
            <p:spPr>
              <a:xfrm>
                <a:off x="4348080" y="29862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5" name="CustomShape 138">
                <a:extLst>
                  <a:ext uri="{FF2B5EF4-FFF2-40B4-BE49-F238E27FC236}">
                    <a16:creationId xmlns:a16="http://schemas.microsoft.com/office/drawing/2014/main" id="{6B213E3D-5A4D-4463-8BD2-C8B1EF11EF5A}"/>
                  </a:ext>
                </a:extLst>
              </p:cNvPr>
              <p:cNvSpPr/>
              <p:nvPr/>
            </p:nvSpPr>
            <p:spPr>
              <a:xfrm>
                <a:off x="4348080" y="29066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6" name="CustomShape 139">
                <a:extLst>
                  <a:ext uri="{FF2B5EF4-FFF2-40B4-BE49-F238E27FC236}">
                    <a16:creationId xmlns:a16="http://schemas.microsoft.com/office/drawing/2014/main" id="{27CFC2DD-5B29-4064-B258-1EBA60054A9E}"/>
                  </a:ext>
                </a:extLst>
              </p:cNvPr>
              <p:cNvSpPr/>
              <p:nvPr/>
            </p:nvSpPr>
            <p:spPr>
              <a:xfrm>
                <a:off x="4348080" y="28274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7" name="CustomShape 140">
                <a:extLst>
                  <a:ext uri="{FF2B5EF4-FFF2-40B4-BE49-F238E27FC236}">
                    <a16:creationId xmlns:a16="http://schemas.microsoft.com/office/drawing/2014/main" id="{C685C8F2-D345-4EAD-8260-090189479114}"/>
                  </a:ext>
                </a:extLst>
              </p:cNvPr>
              <p:cNvSpPr/>
              <p:nvPr/>
            </p:nvSpPr>
            <p:spPr>
              <a:xfrm>
                <a:off x="4348080" y="27511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8" name="CustomShape 141">
                <a:extLst>
                  <a:ext uri="{FF2B5EF4-FFF2-40B4-BE49-F238E27FC236}">
                    <a16:creationId xmlns:a16="http://schemas.microsoft.com/office/drawing/2014/main" id="{EB807E31-CDA2-409E-9C67-4AD0035628FE}"/>
                  </a:ext>
                </a:extLst>
              </p:cNvPr>
              <p:cNvSpPr/>
              <p:nvPr/>
            </p:nvSpPr>
            <p:spPr>
              <a:xfrm>
                <a:off x="4348080" y="26719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89" name="CustomShape 142">
                <a:extLst>
                  <a:ext uri="{FF2B5EF4-FFF2-40B4-BE49-F238E27FC236}">
                    <a16:creationId xmlns:a16="http://schemas.microsoft.com/office/drawing/2014/main" id="{527697D7-2D60-4B51-8897-B727769C8203}"/>
                  </a:ext>
                </a:extLst>
              </p:cNvPr>
              <p:cNvSpPr/>
              <p:nvPr/>
            </p:nvSpPr>
            <p:spPr>
              <a:xfrm>
                <a:off x="4348080" y="25923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0" name="CustomShape 143">
                <a:extLst>
                  <a:ext uri="{FF2B5EF4-FFF2-40B4-BE49-F238E27FC236}">
                    <a16:creationId xmlns:a16="http://schemas.microsoft.com/office/drawing/2014/main" id="{7C0DD0A2-E160-4744-BBDE-84DA3708BE06}"/>
                  </a:ext>
                </a:extLst>
              </p:cNvPr>
              <p:cNvSpPr/>
              <p:nvPr/>
            </p:nvSpPr>
            <p:spPr>
              <a:xfrm>
                <a:off x="4348080" y="25146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1" name="CustomShape 144">
                <a:extLst>
                  <a:ext uri="{FF2B5EF4-FFF2-40B4-BE49-F238E27FC236}">
                    <a16:creationId xmlns:a16="http://schemas.microsoft.com/office/drawing/2014/main" id="{E0981F73-BA96-459A-B16D-48DE96CAC313}"/>
                  </a:ext>
                </a:extLst>
              </p:cNvPr>
              <p:cNvSpPr/>
              <p:nvPr/>
            </p:nvSpPr>
            <p:spPr>
              <a:xfrm>
                <a:off x="4348080" y="243540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2" name="CustomShape 145">
                <a:extLst>
                  <a:ext uri="{FF2B5EF4-FFF2-40B4-BE49-F238E27FC236}">
                    <a16:creationId xmlns:a16="http://schemas.microsoft.com/office/drawing/2014/main" id="{E99F9C48-67D1-462E-8BD4-AADE372F301B}"/>
                  </a:ext>
                </a:extLst>
              </p:cNvPr>
              <p:cNvSpPr/>
              <p:nvPr/>
            </p:nvSpPr>
            <p:spPr>
              <a:xfrm>
                <a:off x="4348080" y="23572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3" name="CustomShape 146">
                <a:extLst>
                  <a:ext uri="{FF2B5EF4-FFF2-40B4-BE49-F238E27FC236}">
                    <a16:creationId xmlns:a16="http://schemas.microsoft.com/office/drawing/2014/main" id="{3DDE7723-115C-4BCD-B4A7-41DC6FEBBD58}"/>
                  </a:ext>
                </a:extLst>
              </p:cNvPr>
              <p:cNvSpPr/>
              <p:nvPr/>
            </p:nvSpPr>
            <p:spPr>
              <a:xfrm>
                <a:off x="4348080" y="22795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4" name="CustomShape 147">
                <a:extLst>
                  <a:ext uri="{FF2B5EF4-FFF2-40B4-BE49-F238E27FC236}">
                    <a16:creationId xmlns:a16="http://schemas.microsoft.com/office/drawing/2014/main" id="{C0C5CB57-78B2-47BF-B116-93E4380FF458}"/>
                  </a:ext>
                </a:extLst>
              </p:cNvPr>
              <p:cNvSpPr/>
              <p:nvPr/>
            </p:nvSpPr>
            <p:spPr>
              <a:xfrm>
                <a:off x="4348080" y="22003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5" name="CustomShape 148">
                <a:extLst>
                  <a:ext uri="{FF2B5EF4-FFF2-40B4-BE49-F238E27FC236}">
                    <a16:creationId xmlns:a16="http://schemas.microsoft.com/office/drawing/2014/main" id="{95B4F959-117B-4544-BA40-E358050ACA57}"/>
                  </a:ext>
                </a:extLst>
              </p:cNvPr>
              <p:cNvSpPr/>
              <p:nvPr/>
            </p:nvSpPr>
            <p:spPr>
              <a:xfrm>
                <a:off x="4348080" y="21225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6" name="CustomShape 149">
                <a:extLst>
                  <a:ext uri="{FF2B5EF4-FFF2-40B4-BE49-F238E27FC236}">
                    <a16:creationId xmlns:a16="http://schemas.microsoft.com/office/drawing/2014/main" id="{7765D46F-0A51-4185-ABF5-C3A5605757E2}"/>
                  </a:ext>
                </a:extLst>
              </p:cNvPr>
              <p:cNvSpPr/>
              <p:nvPr/>
            </p:nvSpPr>
            <p:spPr>
              <a:xfrm>
                <a:off x="4348080" y="20448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7" name="CustomShape 150">
                <a:extLst>
                  <a:ext uri="{FF2B5EF4-FFF2-40B4-BE49-F238E27FC236}">
                    <a16:creationId xmlns:a16="http://schemas.microsoft.com/office/drawing/2014/main" id="{60CF3942-684B-4B28-A939-4C49B866632B}"/>
                  </a:ext>
                </a:extLst>
              </p:cNvPr>
              <p:cNvSpPr/>
              <p:nvPr/>
            </p:nvSpPr>
            <p:spPr>
              <a:xfrm>
                <a:off x="4348080" y="1965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8" name="CustomShape 151">
                <a:extLst>
                  <a:ext uri="{FF2B5EF4-FFF2-40B4-BE49-F238E27FC236}">
                    <a16:creationId xmlns:a16="http://schemas.microsoft.com/office/drawing/2014/main" id="{7240FA36-75CA-4CFE-ADDB-910D684426B1}"/>
                  </a:ext>
                </a:extLst>
              </p:cNvPr>
              <p:cNvSpPr/>
              <p:nvPr/>
            </p:nvSpPr>
            <p:spPr>
              <a:xfrm>
                <a:off x="4348080" y="18860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99" name="CustomShape 152">
                <a:extLst>
                  <a:ext uri="{FF2B5EF4-FFF2-40B4-BE49-F238E27FC236}">
                    <a16:creationId xmlns:a16="http://schemas.microsoft.com/office/drawing/2014/main" id="{8EFC880F-3B48-4F5A-82B9-9E94F22C07DF}"/>
                  </a:ext>
                </a:extLst>
              </p:cNvPr>
              <p:cNvSpPr/>
              <p:nvPr/>
            </p:nvSpPr>
            <p:spPr>
              <a:xfrm>
                <a:off x="4348080" y="18097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300" name="CustomShape 153">
                <a:extLst>
                  <a:ext uri="{FF2B5EF4-FFF2-40B4-BE49-F238E27FC236}">
                    <a16:creationId xmlns:a16="http://schemas.microsoft.com/office/drawing/2014/main" id="{1A0291FE-818F-4FDA-BB4F-07DA8BBA9429}"/>
                  </a:ext>
                </a:extLst>
              </p:cNvPr>
              <p:cNvSpPr/>
              <p:nvPr/>
            </p:nvSpPr>
            <p:spPr>
              <a:xfrm>
                <a:off x="4348080" y="17305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301" name="CustomShape 154">
                <a:extLst>
                  <a:ext uri="{FF2B5EF4-FFF2-40B4-BE49-F238E27FC236}">
                    <a16:creationId xmlns:a16="http://schemas.microsoft.com/office/drawing/2014/main" id="{C30CFB67-0A77-482A-B216-032B60E5C329}"/>
                  </a:ext>
                </a:extLst>
              </p:cNvPr>
              <p:cNvSpPr/>
              <p:nvPr/>
            </p:nvSpPr>
            <p:spPr>
              <a:xfrm>
                <a:off x="4348080" y="16509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302" name="CustomShape 155">
                <a:extLst>
                  <a:ext uri="{FF2B5EF4-FFF2-40B4-BE49-F238E27FC236}">
                    <a16:creationId xmlns:a16="http://schemas.microsoft.com/office/drawing/2014/main" id="{F0962FA2-5382-4264-8339-5E72D1B2E51A}"/>
                  </a:ext>
                </a:extLst>
              </p:cNvPr>
              <p:cNvSpPr/>
              <p:nvPr/>
            </p:nvSpPr>
            <p:spPr>
              <a:xfrm>
                <a:off x="4348080" y="15732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303" name="CustomShape 156">
                <a:extLst>
                  <a:ext uri="{FF2B5EF4-FFF2-40B4-BE49-F238E27FC236}">
                    <a16:creationId xmlns:a16="http://schemas.microsoft.com/office/drawing/2014/main" id="{046C6118-A30F-410C-B831-FF6C20A67D16}"/>
                  </a:ext>
                </a:extLst>
              </p:cNvPr>
              <p:cNvSpPr/>
              <p:nvPr/>
            </p:nvSpPr>
            <p:spPr>
              <a:xfrm>
                <a:off x="4348080" y="149400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304" name="CustomShape 157">
                <a:extLst>
                  <a:ext uri="{FF2B5EF4-FFF2-40B4-BE49-F238E27FC236}">
                    <a16:creationId xmlns:a16="http://schemas.microsoft.com/office/drawing/2014/main" id="{71DF1D19-4D5C-42E6-A211-EBD6E21C49A8}"/>
                  </a:ext>
                </a:extLst>
              </p:cNvPr>
              <p:cNvSpPr/>
              <p:nvPr/>
            </p:nvSpPr>
            <p:spPr>
              <a:xfrm>
                <a:off x="4348080" y="141768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305" name="CustomShape 158">
                <a:extLst>
                  <a:ext uri="{FF2B5EF4-FFF2-40B4-BE49-F238E27FC236}">
                    <a16:creationId xmlns:a16="http://schemas.microsoft.com/office/drawing/2014/main" id="{04F7D92D-71BA-47BB-B1C5-7AB9EEB1120B}"/>
                  </a:ext>
                </a:extLst>
              </p:cNvPr>
              <p:cNvSpPr/>
              <p:nvPr/>
            </p:nvSpPr>
            <p:spPr>
              <a:xfrm>
                <a:off x="4348080" y="1341360"/>
                <a:ext cx="9000" cy="39240"/>
              </a:xfrm>
              <a:prstGeom prst="rect">
                <a:avLst/>
              </a:prstGeom>
              <a:solidFill>
                <a:srgbClr val="000000"/>
              </a:solidFill>
              <a:ln w="9360">
                <a:noFill/>
              </a:ln>
            </p:spPr>
            <p:style>
              <a:lnRef idx="0">
                <a:scrgbClr r="0" g="0" b="0"/>
              </a:lnRef>
              <a:fillRef idx="0">
                <a:scrgbClr r="0" g="0" b="0"/>
              </a:fillRef>
              <a:effectRef idx="0">
                <a:scrgbClr r="0" g="0" b="0"/>
              </a:effectRef>
              <a:fontRef idx="minor"/>
            </p:style>
          </p:sp>
        </p:grpSp>
        <p:grpSp>
          <p:nvGrpSpPr>
            <p:cNvPr id="102" name="Group 159">
              <a:extLst>
                <a:ext uri="{FF2B5EF4-FFF2-40B4-BE49-F238E27FC236}">
                  <a16:creationId xmlns:a16="http://schemas.microsoft.com/office/drawing/2014/main" id="{AAEFEAA7-F32E-41D5-85DD-E4CB4B8496C9}"/>
                </a:ext>
              </a:extLst>
            </p:cNvPr>
            <p:cNvGrpSpPr/>
            <p:nvPr/>
          </p:nvGrpSpPr>
          <p:grpSpPr>
            <a:xfrm>
              <a:off x="611280" y="1341360"/>
              <a:ext cx="9000" cy="4745880"/>
              <a:chOff x="611280" y="1341360"/>
              <a:chExt cx="9000" cy="4745880"/>
            </a:xfrm>
          </p:grpSpPr>
          <p:sp>
            <p:nvSpPr>
              <p:cNvPr id="184" name="CustomShape 160">
                <a:extLst>
                  <a:ext uri="{FF2B5EF4-FFF2-40B4-BE49-F238E27FC236}">
                    <a16:creationId xmlns:a16="http://schemas.microsoft.com/office/drawing/2014/main" id="{AC9D1348-FFAB-4399-AF85-45384FBC4EFF}"/>
                  </a:ext>
                </a:extLst>
              </p:cNvPr>
              <p:cNvSpPr/>
              <p:nvPr/>
            </p:nvSpPr>
            <p:spPr>
              <a:xfrm>
                <a:off x="611280" y="60451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5" name="CustomShape 161">
                <a:extLst>
                  <a:ext uri="{FF2B5EF4-FFF2-40B4-BE49-F238E27FC236}">
                    <a16:creationId xmlns:a16="http://schemas.microsoft.com/office/drawing/2014/main" id="{88447552-6439-407E-86AD-C5B89A66CD9E}"/>
                  </a:ext>
                </a:extLst>
              </p:cNvPr>
              <p:cNvSpPr/>
              <p:nvPr/>
            </p:nvSpPr>
            <p:spPr>
              <a:xfrm>
                <a:off x="611280" y="59673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6" name="CustomShape 162">
                <a:extLst>
                  <a:ext uri="{FF2B5EF4-FFF2-40B4-BE49-F238E27FC236}">
                    <a16:creationId xmlns:a16="http://schemas.microsoft.com/office/drawing/2014/main" id="{0AD7FB2E-75BF-4514-819B-371A801062BF}"/>
                  </a:ext>
                </a:extLst>
              </p:cNvPr>
              <p:cNvSpPr/>
              <p:nvPr/>
            </p:nvSpPr>
            <p:spPr>
              <a:xfrm>
                <a:off x="611280" y="58881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7" name="CustomShape 163">
                <a:extLst>
                  <a:ext uri="{FF2B5EF4-FFF2-40B4-BE49-F238E27FC236}">
                    <a16:creationId xmlns:a16="http://schemas.microsoft.com/office/drawing/2014/main" id="{434D372A-B2A8-428A-8D9C-E867183B2417}"/>
                  </a:ext>
                </a:extLst>
              </p:cNvPr>
              <p:cNvSpPr/>
              <p:nvPr/>
            </p:nvSpPr>
            <p:spPr>
              <a:xfrm>
                <a:off x="611280" y="58104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8" name="CustomShape 164">
                <a:extLst>
                  <a:ext uri="{FF2B5EF4-FFF2-40B4-BE49-F238E27FC236}">
                    <a16:creationId xmlns:a16="http://schemas.microsoft.com/office/drawing/2014/main" id="{9FB906B6-ED3B-47E4-A91B-EC1E4CC6344F}"/>
                  </a:ext>
                </a:extLst>
              </p:cNvPr>
              <p:cNvSpPr/>
              <p:nvPr/>
            </p:nvSpPr>
            <p:spPr>
              <a:xfrm>
                <a:off x="611280" y="57308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9" name="CustomShape 165">
                <a:extLst>
                  <a:ext uri="{FF2B5EF4-FFF2-40B4-BE49-F238E27FC236}">
                    <a16:creationId xmlns:a16="http://schemas.microsoft.com/office/drawing/2014/main" id="{4E3ABF63-295E-48E9-B970-27E3C21EDC06}"/>
                  </a:ext>
                </a:extLst>
              </p:cNvPr>
              <p:cNvSpPr/>
              <p:nvPr/>
            </p:nvSpPr>
            <p:spPr>
              <a:xfrm>
                <a:off x="611280" y="56530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0" name="CustomShape 166">
                <a:extLst>
                  <a:ext uri="{FF2B5EF4-FFF2-40B4-BE49-F238E27FC236}">
                    <a16:creationId xmlns:a16="http://schemas.microsoft.com/office/drawing/2014/main" id="{05B3E56D-ABFF-43A4-B0C0-F756692929FB}"/>
                  </a:ext>
                </a:extLst>
              </p:cNvPr>
              <p:cNvSpPr/>
              <p:nvPr/>
            </p:nvSpPr>
            <p:spPr>
              <a:xfrm>
                <a:off x="611280" y="55753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1" name="CustomShape 167">
                <a:extLst>
                  <a:ext uri="{FF2B5EF4-FFF2-40B4-BE49-F238E27FC236}">
                    <a16:creationId xmlns:a16="http://schemas.microsoft.com/office/drawing/2014/main" id="{537AA263-8BED-4FFC-ACD2-21A3CA39298A}"/>
                  </a:ext>
                </a:extLst>
              </p:cNvPr>
              <p:cNvSpPr/>
              <p:nvPr/>
            </p:nvSpPr>
            <p:spPr>
              <a:xfrm>
                <a:off x="611280" y="54957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2" name="CustomShape 168">
                <a:extLst>
                  <a:ext uri="{FF2B5EF4-FFF2-40B4-BE49-F238E27FC236}">
                    <a16:creationId xmlns:a16="http://schemas.microsoft.com/office/drawing/2014/main" id="{1CB41ACD-C599-4757-BDE1-E91F37BB64C9}"/>
                  </a:ext>
                </a:extLst>
              </p:cNvPr>
              <p:cNvSpPr/>
              <p:nvPr/>
            </p:nvSpPr>
            <p:spPr>
              <a:xfrm>
                <a:off x="611280" y="54165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3" name="CustomShape 169">
                <a:extLst>
                  <a:ext uri="{FF2B5EF4-FFF2-40B4-BE49-F238E27FC236}">
                    <a16:creationId xmlns:a16="http://schemas.microsoft.com/office/drawing/2014/main" id="{3396F1B2-A175-42AF-AFA1-6B559EF90F7D}"/>
                  </a:ext>
                </a:extLst>
              </p:cNvPr>
              <p:cNvSpPr/>
              <p:nvPr/>
            </p:nvSpPr>
            <p:spPr>
              <a:xfrm>
                <a:off x="611280" y="53388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4" name="CustomShape 170">
                <a:extLst>
                  <a:ext uri="{FF2B5EF4-FFF2-40B4-BE49-F238E27FC236}">
                    <a16:creationId xmlns:a16="http://schemas.microsoft.com/office/drawing/2014/main" id="{9B97D218-5075-494A-A7CD-A5CA4814D0E4}"/>
                  </a:ext>
                </a:extLst>
              </p:cNvPr>
              <p:cNvSpPr/>
              <p:nvPr/>
            </p:nvSpPr>
            <p:spPr>
              <a:xfrm>
                <a:off x="611280" y="52610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5" name="CustomShape 171">
                <a:extLst>
                  <a:ext uri="{FF2B5EF4-FFF2-40B4-BE49-F238E27FC236}">
                    <a16:creationId xmlns:a16="http://schemas.microsoft.com/office/drawing/2014/main" id="{B4E6C99A-C48A-4362-826D-A24270BA2B60}"/>
                  </a:ext>
                </a:extLst>
              </p:cNvPr>
              <p:cNvSpPr/>
              <p:nvPr/>
            </p:nvSpPr>
            <p:spPr>
              <a:xfrm>
                <a:off x="611280" y="51814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6" name="CustomShape 172">
                <a:extLst>
                  <a:ext uri="{FF2B5EF4-FFF2-40B4-BE49-F238E27FC236}">
                    <a16:creationId xmlns:a16="http://schemas.microsoft.com/office/drawing/2014/main" id="{27C6F435-5279-47B1-9ADF-45BD197F7A0C}"/>
                  </a:ext>
                </a:extLst>
              </p:cNvPr>
              <p:cNvSpPr/>
              <p:nvPr/>
            </p:nvSpPr>
            <p:spPr>
              <a:xfrm>
                <a:off x="611280" y="51037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7" name="CustomShape 173">
                <a:extLst>
                  <a:ext uri="{FF2B5EF4-FFF2-40B4-BE49-F238E27FC236}">
                    <a16:creationId xmlns:a16="http://schemas.microsoft.com/office/drawing/2014/main" id="{394B4FB6-632F-4E34-83E1-969EF24D3A8D}"/>
                  </a:ext>
                </a:extLst>
              </p:cNvPr>
              <p:cNvSpPr/>
              <p:nvPr/>
            </p:nvSpPr>
            <p:spPr>
              <a:xfrm>
                <a:off x="611280" y="50259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8" name="CustomShape 174">
                <a:extLst>
                  <a:ext uri="{FF2B5EF4-FFF2-40B4-BE49-F238E27FC236}">
                    <a16:creationId xmlns:a16="http://schemas.microsoft.com/office/drawing/2014/main" id="{5C062696-043E-4276-A65F-865AA48F3E1B}"/>
                  </a:ext>
                </a:extLst>
              </p:cNvPr>
              <p:cNvSpPr/>
              <p:nvPr/>
            </p:nvSpPr>
            <p:spPr>
              <a:xfrm>
                <a:off x="611280" y="49467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99" name="CustomShape 175">
                <a:extLst>
                  <a:ext uri="{FF2B5EF4-FFF2-40B4-BE49-F238E27FC236}">
                    <a16:creationId xmlns:a16="http://schemas.microsoft.com/office/drawing/2014/main" id="{BD9010E3-12EC-493F-807B-D3D4A6FDE73A}"/>
                  </a:ext>
                </a:extLst>
              </p:cNvPr>
              <p:cNvSpPr/>
              <p:nvPr/>
            </p:nvSpPr>
            <p:spPr>
              <a:xfrm>
                <a:off x="611280" y="48690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0" name="CustomShape 176">
                <a:extLst>
                  <a:ext uri="{FF2B5EF4-FFF2-40B4-BE49-F238E27FC236}">
                    <a16:creationId xmlns:a16="http://schemas.microsoft.com/office/drawing/2014/main" id="{886532BA-1DDF-42AD-BE72-EE22F5C0DDB8}"/>
                  </a:ext>
                </a:extLst>
              </p:cNvPr>
              <p:cNvSpPr/>
              <p:nvPr/>
            </p:nvSpPr>
            <p:spPr>
              <a:xfrm>
                <a:off x="611280" y="47894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1" name="CustomShape 177">
                <a:extLst>
                  <a:ext uri="{FF2B5EF4-FFF2-40B4-BE49-F238E27FC236}">
                    <a16:creationId xmlns:a16="http://schemas.microsoft.com/office/drawing/2014/main" id="{1FF87EE1-534E-4872-8144-F6E599D922F5}"/>
                  </a:ext>
                </a:extLst>
              </p:cNvPr>
              <p:cNvSpPr/>
              <p:nvPr/>
            </p:nvSpPr>
            <p:spPr>
              <a:xfrm>
                <a:off x="611280" y="4710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2" name="CustomShape 178">
                <a:extLst>
                  <a:ext uri="{FF2B5EF4-FFF2-40B4-BE49-F238E27FC236}">
                    <a16:creationId xmlns:a16="http://schemas.microsoft.com/office/drawing/2014/main" id="{62806AEF-7E7E-417E-BC4D-0D2789E1F62A}"/>
                  </a:ext>
                </a:extLst>
              </p:cNvPr>
              <p:cNvSpPr/>
              <p:nvPr/>
            </p:nvSpPr>
            <p:spPr>
              <a:xfrm>
                <a:off x="611280" y="46339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3" name="CustomShape 179">
                <a:extLst>
                  <a:ext uri="{FF2B5EF4-FFF2-40B4-BE49-F238E27FC236}">
                    <a16:creationId xmlns:a16="http://schemas.microsoft.com/office/drawing/2014/main" id="{84F778B9-7FAA-4B8D-AEC0-72FFF7544F91}"/>
                  </a:ext>
                </a:extLst>
              </p:cNvPr>
              <p:cNvSpPr/>
              <p:nvPr/>
            </p:nvSpPr>
            <p:spPr>
              <a:xfrm>
                <a:off x="611280" y="45543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4" name="CustomShape 180">
                <a:extLst>
                  <a:ext uri="{FF2B5EF4-FFF2-40B4-BE49-F238E27FC236}">
                    <a16:creationId xmlns:a16="http://schemas.microsoft.com/office/drawing/2014/main" id="{E253EB0E-1941-455F-B577-F89F5494374F}"/>
                  </a:ext>
                </a:extLst>
              </p:cNvPr>
              <p:cNvSpPr/>
              <p:nvPr/>
            </p:nvSpPr>
            <p:spPr>
              <a:xfrm>
                <a:off x="611280" y="44751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5" name="CustomShape 181">
                <a:extLst>
                  <a:ext uri="{FF2B5EF4-FFF2-40B4-BE49-F238E27FC236}">
                    <a16:creationId xmlns:a16="http://schemas.microsoft.com/office/drawing/2014/main" id="{03BAFB83-E972-495C-86FF-E6B0E38615EB}"/>
                  </a:ext>
                </a:extLst>
              </p:cNvPr>
              <p:cNvSpPr/>
              <p:nvPr/>
            </p:nvSpPr>
            <p:spPr>
              <a:xfrm>
                <a:off x="611280" y="43974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6" name="CustomShape 182">
                <a:extLst>
                  <a:ext uri="{FF2B5EF4-FFF2-40B4-BE49-F238E27FC236}">
                    <a16:creationId xmlns:a16="http://schemas.microsoft.com/office/drawing/2014/main" id="{FE033ECC-978A-4EA5-B0AC-D2F90FFC4197}"/>
                  </a:ext>
                </a:extLst>
              </p:cNvPr>
              <p:cNvSpPr/>
              <p:nvPr/>
            </p:nvSpPr>
            <p:spPr>
              <a:xfrm>
                <a:off x="611280" y="431964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7" name="CustomShape 183">
                <a:extLst>
                  <a:ext uri="{FF2B5EF4-FFF2-40B4-BE49-F238E27FC236}">
                    <a16:creationId xmlns:a16="http://schemas.microsoft.com/office/drawing/2014/main" id="{29A9BBAC-B4CD-496C-B3EC-F2D156424D54}"/>
                  </a:ext>
                </a:extLst>
              </p:cNvPr>
              <p:cNvSpPr/>
              <p:nvPr/>
            </p:nvSpPr>
            <p:spPr>
              <a:xfrm>
                <a:off x="611280" y="42400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8" name="CustomShape 184">
                <a:extLst>
                  <a:ext uri="{FF2B5EF4-FFF2-40B4-BE49-F238E27FC236}">
                    <a16:creationId xmlns:a16="http://schemas.microsoft.com/office/drawing/2014/main" id="{5713A077-6DB0-4C4D-ACFA-A13E9FC23F23}"/>
                  </a:ext>
                </a:extLst>
              </p:cNvPr>
              <p:cNvSpPr/>
              <p:nvPr/>
            </p:nvSpPr>
            <p:spPr>
              <a:xfrm>
                <a:off x="611280" y="41623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09" name="CustomShape 185">
                <a:extLst>
                  <a:ext uri="{FF2B5EF4-FFF2-40B4-BE49-F238E27FC236}">
                    <a16:creationId xmlns:a16="http://schemas.microsoft.com/office/drawing/2014/main" id="{0B23AD0B-4585-4E92-8E67-0528E4185307}"/>
                  </a:ext>
                </a:extLst>
              </p:cNvPr>
              <p:cNvSpPr/>
              <p:nvPr/>
            </p:nvSpPr>
            <p:spPr>
              <a:xfrm>
                <a:off x="611280" y="40831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0" name="CustomShape 186">
                <a:extLst>
                  <a:ext uri="{FF2B5EF4-FFF2-40B4-BE49-F238E27FC236}">
                    <a16:creationId xmlns:a16="http://schemas.microsoft.com/office/drawing/2014/main" id="{A8BE9B10-B184-4347-BF7D-E3D0EFF1FED4}"/>
                  </a:ext>
                </a:extLst>
              </p:cNvPr>
              <p:cNvSpPr/>
              <p:nvPr/>
            </p:nvSpPr>
            <p:spPr>
              <a:xfrm>
                <a:off x="611280" y="40053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1" name="CustomShape 187">
                <a:extLst>
                  <a:ext uri="{FF2B5EF4-FFF2-40B4-BE49-F238E27FC236}">
                    <a16:creationId xmlns:a16="http://schemas.microsoft.com/office/drawing/2014/main" id="{1BF4179D-9FDD-4C10-A4D0-2BB99EFA4389}"/>
                  </a:ext>
                </a:extLst>
              </p:cNvPr>
              <p:cNvSpPr/>
              <p:nvPr/>
            </p:nvSpPr>
            <p:spPr>
              <a:xfrm>
                <a:off x="611280" y="39276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2" name="CustomShape 188">
                <a:extLst>
                  <a:ext uri="{FF2B5EF4-FFF2-40B4-BE49-F238E27FC236}">
                    <a16:creationId xmlns:a16="http://schemas.microsoft.com/office/drawing/2014/main" id="{6B839F46-3E6A-483A-ACCC-882FA91FEC8F}"/>
                  </a:ext>
                </a:extLst>
              </p:cNvPr>
              <p:cNvSpPr/>
              <p:nvPr/>
            </p:nvSpPr>
            <p:spPr>
              <a:xfrm>
                <a:off x="611280" y="38480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3" name="CustomShape 189">
                <a:extLst>
                  <a:ext uri="{FF2B5EF4-FFF2-40B4-BE49-F238E27FC236}">
                    <a16:creationId xmlns:a16="http://schemas.microsoft.com/office/drawing/2014/main" id="{2C180324-1E4F-4EA3-B0ED-7CED4671ABE5}"/>
                  </a:ext>
                </a:extLst>
              </p:cNvPr>
              <p:cNvSpPr/>
              <p:nvPr/>
            </p:nvSpPr>
            <p:spPr>
              <a:xfrm>
                <a:off x="611280" y="37688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4" name="CustomShape 190">
                <a:extLst>
                  <a:ext uri="{FF2B5EF4-FFF2-40B4-BE49-F238E27FC236}">
                    <a16:creationId xmlns:a16="http://schemas.microsoft.com/office/drawing/2014/main" id="{1B5B86B0-1622-4C4C-8608-E3ECF151A600}"/>
                  </a:ext>
                </a:extLst>
              </p:cNvPr>
              <p:cNvSpPr/>
              <p:nvPr/>
            </p:nvSpPr>
            <p:spPr>
              <a:xfrm>
                <a:off x="611280" y="36925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5" name="CustomShape 191">
                <a:extLst>
                  <a:ext uri="{FF2B5EF4-FFF2-40B4-BE49-F238E27FC236}">
                    <a16:creationId xmlns:a16="http://schemas.microsoft.com/office/drawing/2014/main" id="{20945F7D-E18E-4538-9DFC-A3268DAC087A}"/>
                  </a:ext>
                </a:extLst>
              </p:cNvPr>
              <p:cNvSpPr/>
              <p:nvPr/>
            </p:nvSpPr>
            <p:spPr>
              <a:xfrm>
                <a:off x="611280" y="36133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6" name="CustomShape 192">
                <a:extLst>
                  <a:ext uri="{FF2B5EF4-FFF2-40B4-BE49-F238E27FC236}">
                    <a16:creationId xmlns:a16="http://schemas.microsoft.com/office/drawing/2014/main" id="{1EFCA40B-4DF2-4B68-8966-C5EAF05A1204}"/>
                  </a:ext>
                </a:extLst>
              </p:cNvPr>
              <p:cNvSpPr/>
              <p:nvPr/>
            </p:nvSpPr>
            <p:spPr>
              <a:xfrm>
                <a:off x="611280" y="35337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7" name="CustomShape 193">
                <a:extLst>
                  <a:ext uri="{FF2B5EF4-FFF2-40B4-BE49-F238E27FC236}">
                    <a16:creationId xmlns:a16="http://schemas.microsoft.com/office/drawing/2014/main" id="{7B7D4BB8-1FB4-44F5-9A1F-FBA229B67600}"/>
                  </a:ext>
                </a:extLst>
              </p:cNvPr>
              <p:cNvSpPr/>
              <p:nvPr/>
            </p:nvSpPr>
            <p:spPr>
              <a:xfrm>
                <a:off x="611280" y="34560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8" name="CustomShape 194">
                <a:extLst>
                  <a:ext uri="{FF2B5EF4-FFF2-40B4-BE49-F238E27FC236}">
                    <a16:creationId xmlns:a16="http://schemas.microsoft.com/office/drawing/2014/main" id="{4D5FC64B-C9F1-4ADC-9544-E995EFD0FCB1}"/>
                  </a:ext>
                </a:extLst>
              </p:cNvPr>
              <p:cNvSpPr/>
              <p:nvPr/>
            </p:nvSpPr>
            <p:spPr>
              <a:xfrm>
                <a:off x="611280" y="3378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19" name="CustomShape 195">
                <a:extLst>
                  <a:ext uri="{FF2B5EF4-FFF2-40B4-BE49-F238E27FC236}">
                    <a16:creationId xmlns:a16="http://schemas.microsoft.com/office/drawing/2014/main" id="{BE4F2DED-6C0E-4B89-906B-4631972BE1F5}"/>
                  </a:ext>
                </a:extLst>
              </p:cNvPr>
              <p:cNvSpPr/>
              <p:nvPr/>
            </p:nvSpPr>
            <p:spPr>
              <a:xfrm>
                <a:off x="611280" y="32986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0" name="CustomShape 196">
                <a:extLst>
                  <a:ext uri="{FF2B5EF4-FFF2-40B4-BE49-F238E27FC236}">
                    <a16:creationId xmlns:a16="http://schemas.microsoft.com/office/drawing/2014/main" id="{446850FB-DD11-485A-A3F7-7FF8AEAAF1E1}"/>
                  </a:ext>
                </a:extLst>
              </p:cNvPr>
              <p:cNvSpPr/>
              <p:nvPr/>
            </p:nvSpPr>
            <p:spPr>
              <a:xfrm>
                <a:off x="611280" y="32209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1" name="CustomShape 197">
                <a:extLst>
                  <a:ext uri="{FF2B5EF4-FFF2-40B4-BE49-F238E27FC236}">
                    <a16:creationId xmlns:a16="http://schemas.microsoft.com/office/drawing/2014/main" id="{12A8E6FE-B2E5-4D38-860D-A1E89BC8C1B5}"/>
                  </a:ext>
                </a:extLst>
              </p:cNvPr>
              <p:cNvSpPr/>
              <p:nvPr/>
            </p:nvSpPr>
            <p:spPr>
              <a:xfrm>
                <a:off x="611280" y="31417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2" name="CustomShape 198">
                <a:extLst>
                  <a:ext uri="{FF2B5EF4-FFF2-40B4-BE49-F238E27FC236}">
                    <a16:creationId xmlns:a16="http://schemas.microsoft.com/office/drawing/2014/main" id="{850D090A-B9F2-4629-B0AF-95EDC0CDBF64}"/>
                  </a:ext>
                </a:extLst>
              </p:cNvPr>
              <p:cNvSpPr/>
              <p:nvPr/>
            </p:nvSpPr>
            <p:spPr>
              <a:xfrm>
                <a:off x="611280" y="30639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3" name="CustomShape 199">
                <a:extLst>
                  <a:ext uri="{FF2B5EF4-FFF2-40B4-BE49-F238E27FC236}">
                    <a16:creationId xmlns:a16="http://schemas.microsoft.com/office/drawing/2014/main" id="{C7B4ED0A-C3B9-4E2C-B539-9E3EF559A753}"/>
                  </a:ext>
                </a:extLst>
              </p:cNvPr>
              <p:cNvSpPr/>
              <p:nvPr/>
            </p:nvSpPr>
            <p:spPr>
              <a:xfrm>
                <a:off x="611280" y="29862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4" name="CustomShape 200">
                <a:extLst>
                  <a:ext uri="{FF2B5EF4-FFF2-40B4-BE49-F238E27FC236}">
                    <a16:creationId xmlns:a16="http://schemas.microsoft.com/office/drawing/2014/main" id="{ED42659B-9F9E-49B8-BB3B-09E17E31FAB6}"/>
                  </a:ext>
                </a:extLst>
              </p:cNvPr>
              <p:cNvSpPr/>
              <p:nvPr/>
            </p:nvSpPr>
            <p:spPr>
              <a:xfrm>
                <a:off x="611280" y="29066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5" name="CustomShape 201">
                <a:extLst>
                  <a:ext uri="{FF2B5EF4-FFF2-40B4-BE49-F238E27FC236}">
                    <a16:creationId xmlns:a16="http://schemas.microsoft.com/office/drawing/2014/main" id="{CBEBD846-1811-4FAE-BBB2-5E733016E467}"/>
                  </a:ext>
                </a:extLst>
              </p:cNvPr>
              <p:cNvSpPr/>
              <p:nvPr/>
            </p:nvSpPr>
            <p:spPr>
              <a:xfrm>
                <a:off x="611280" y="28274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6" name="CustomShape 202">
                <a:extLst>
                  <a:ext uri="{FF2B5EF4-FFF2-40B4-BE49-F238E27FC236}">
                    <a16:creationId xmlns:a16="http://schemas.microsoft.com/office/drawing/2014/main" id="{D9C42802-517C-4ECC-BFF7-68D3031BD53D}"/>
                  </a:ext>
                </a:extLst>
              </p:cNvPr>
              <p:cNvSpPr/>
              <p:nvPr/>
            </p:nvSpPr>
            <p:spPr>
              <a:xfrm>
                <a:off x="611280" y="27511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7" name="CustomShape 203">
                <a:extLst>
                  <a:ext uri="{FF2B5EF4-FFF2-40B4-BE49-F238E27FC236}">
                    <a16:creationId xmlns:a16="http://schemas.microsoft.com/office/drawing/2014/main" id="{EBCBBF6E-40DD-44D6-B9E6-B6A83345D3CF}"/>
                  </a:ext>
                </a:extLst>
              </p:cNvPr>
              <p:cNvSpPr/>
              <p:nvPr/>
            </p:nvSpPr>
            <p:spPr>
              <a:xfrm>
                <a:off x="611280" y="26719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8" name="CustomShape 204">
                <a:extLst>
                  <a:ext uri="{FF2B5EF4-FFF2-40B4-BE49-F238E27FC236}">
                    <a16:creationId xmlns:a16="http://schemas.microsoft.com/office/drawing/2014/main" id="{95A678E1-BC35-4069-BA6B-D01091FFB147}"/>
                  </a:ext>
                </a:extLst>
              </p:cNvPr>
              <p:cNvSpPr/>
              <p:nvPr/>
            </p:nvSpPr>
            <p:spPr>
              <a:xfrm>
                <a:off x="611280" y="25923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29" name="CustomShape 205">
                <a:extLst>
                  <a:ext uri="{FF2B5EF4-FFF2-40B4-BE49-F238E27FC236}">
                    <a16:creationId xmlns:a16="http://schemas.microsoft.com/office/drawing/2014/main" id="{E70286CE-020F-498D-81A4-FA2544D1A20C}"/>
                  </a:ext>
                </a:extLst>
              </p:cNvPr>
              <p:cNvSpPr/>
              <p:nvPr/>
            </p:nvSpPr>
            <p:spPr>
              <a:xfrm>
                <a:off x="611280" y="25146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0" name="CustomShape 206">
                <a:extLst>
                  <a:ext uri="{FF2B5EF4-FFF2-40B4-BE49-F238E27FC236}">
                    <a16:creationId xmlns:a16="http://schemas.microsoft.com/office/drawing/2014/main" id="{AADBAE55-9E0E-419E-8558-AAF5214AFA1A}"/>
                  </a:ext>
                </a:extLst>
              </p:cNvPr>
              <p:cNvSpPr/>
              <p:nvPr/>
            </p:nvSpPr>
            <p:spPr>
              <a:xfrm>
                <a:off x="611280" y="243540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1" name="CustomShape 207">
                <a:extLst>
                  <a:ext uri="{FF2B5EF4-FFF2-40B4-BE49-F238E27FC236}">
                    <a16:creationId xmlns:a16="http://schemas.microsoft.com/office/drawing/2014/main" id="{6BA89123-5958-48FD-A82D-B51728DA1DCE}"/>
                  </a:ext>
                </a:extLst>
              </p:cNvPr>
              <p:cNvSpPr/>
              <p:nvPr/>
            </p:nvSpPr>
            <p:spPr>
              <a:xfrm>
                <a:off x="611280" y="23572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2" name="CustomShape 208">
                <a:extLst>
                  <a:ext uri="{FF2B5EF4-FFF2-40B4-BE49-F238E27FC236}">
                    <a16:creationId xmlns:a16="http://schemas.microsoft.com/office/drawing/2014/main" id="{B2CCF1FB-C3C4-4171-AA74-7EF2C8CA47D2}"/>
                  </a:ext>
                </a:extLst>
              </p:cNvPr>
              <p:cNvSpPr/>
              <p:nvPr/>
            </p:nvSpPr>
            <p:spPr>
              <a:xfrm>
                <a:off x="611280" y="22795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3" name="CustomShape 209">
                <a:extLst>
                  <a:ext uri="{FF2B5EF4-FFF2-40B4-BE49-F238E27FC236}">
                    <a16:creationId xmlns:a16="http://schemas.microsoft.com/office/drawing/2014/main" id="{C0689E21-5F45-406C-B87A-DF802BA29ED1}"/>
                  </a:ext>
                </a:extLst>
              </p:cNvPr>
              <p:cNvSpPr/>
              <p:nvPr/>
            </p:nvSpPr>
            <p:spPr>
              <a:xfrm>
                <a:off x="611280" y="22003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4" name="CustomShape 210">
                <a:extLst>
                  <a:ext uri="{FF2B5EF4-FFF2-40B4-BE49-F238E27FC236}">
                    <a16:creationId xmlns:a16="http://schemas.microsoft.com/office/drawing/2014/main" id="{FA81768A-AD45-4B8B-901E-0EF7794FF71D}"/>
                  </a:ext>
                </a:extLst>
              </p:cNvPr>
              <p:cNvSpPr/>
              <p:nvPr/>
            </p:nvSpPr>
            <p:spPr>
              <a:xfrm>
                <a:off x="611280" y="21225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5" name="CustomShape 211">
                <a:extLst>
                  <a:ext uri="{FF2B5EF4-FFF2-40B4-BE49-F238E27FC236}">
                    <a16:creationId xmlns:a16="http://schemas.microsoft.com/office/drawing/2014/main" id="{7516DF8A-0DBD-440A-B10F-D36AE550655C}"/>
                  </a:ext>
                </a:extLst>
              </p:cNvPr>
              <p:cNvSpPr/>
              <p:nvPr/>
            </p:nvSpPr>
            <p:spPr>
              <a:xfrm>
                <a:off x="611280" y="20448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6" name="CustomShape 212">
                <a:extLst>
                  <a:ext uri="{FF2B5EF4-FFF2-40B4-BE49-F238E27FC236}">
                    <a16:creationId xmlns:a16="http://schemas.microsoft.com/office/drawing/2014/main" id="{7F76CB2E-6F23-42AC-8CC0-EBD396578735}"/>
                  </a:ext>
                </a:extLst>
              </p:cNvPr>
              <p:cNvSpPr/>
              <p:nvPr/>
            </p:nvSpPr>
            <p:spPr>
              <a:xfrm>
                <a:off x="611280" y="1965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7" name="CustomShape 213">
                <a:extLst>
                  <a:ext uri="{FF2B5EF4-FFF2-40B4-BE49-F238E27FC236}">
                    <a16:creationId xmlns:a16="http://schemas.microsoft.com/office/drawing/2014/main" id="{D5F5C431-5331-4917-BC6E-7EF7CFF396B0}"/>
                  </a:ext>
                </a:extLst>
              </p:cNvPr>
              <p:cNvSpPr/>
              <p:nvPr/>
            </p:nvSpPr>
            <p:spPr>
              <a:xfrm>
                <a:off x="611280" y="18860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8" name="CustomShape 214">
                <a:extLst>
                  <a:ext uri="{FF2B5EF4-FFF2-40B4-BE49-F238E27FC236}">
                    <a16:creationId xmlns:a16="http://schemas.microsoft.com/office/drawing/2014/main" id="{DC41FF18-6454-410D-A7E0-1312E7600C29}"/>
                  </a:ext>
                </a:extLst>
              </p:cNvPr>
              <p:cNvSpPr/>
              <p:nvPr/>
            </p:nvSpPr>
            <p:spPr>
              <a:xfrm>
                <a:off x="611280" y="18097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39" name="CustomShape 215">
                <a:extLst>
                  <a:ext uri="{FF2B5EF4-FFF2-40B4-BE49-F238E27FC236}">
                    <a16:creationId xmlns:a16="http://schemas.microsoft.com/office/drawing/2014/main" id="{9CB11DC3-C1D1-463D-9E66-18711D46E9F7}"/>
                  </a:ext>
                </a:extLst>
              </p:cNvPr>
              <p:cNvSpPr/>
              <p:nvPr/>
            </p:nvSpPr>
            <p:spPr>
              <a:xfrm>
                <a:off x="611280" y="17305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0" name="CustomShape 216">
                <a:extLst>
                  <a:ext uri="{FF2B5EF4-FFF2-40B4-BE49-F238E27FC236}">
                    <a16:creationId xmlns:a16="http://schemas.microsoft.com/office/drawing/2014/main" id="{2CA5675C-BE4F-4B8D-9329-AAADA1C6CEB7}"/>
                  </a:ext>
                </a:extLst>
              </p:cNvPr>
              <p:cNvSpPr/>
              <p:nvPr/>
            </p:nvSpPr>
            <p:spPr>
              <a:xfrm>
                <a:off x="611280" y="16509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1" name="CustomShape 217">
                <a:extLst>
                  <a:ext uri="{FF2B5EF4-FFF2-40B4-BE49-F238E27FC236}">
                    <a16:creationId xmlns:a16="http://schemas.microsoft.com/office/drawing/2014/main" id="{19A7D732-18F3-488A-9BE8-48101FE2187A}"/>
                  </a:ext>
                </a:extLst>
              </p:cNvPr>
              <p:cNvSpPr/>
              <p:nvPr/>
            </p:nvSpPr>
            <p:spPr>
              <a:xfrm>
                <a:off x="611280" y="15732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2" name="CustomShape 218">
                <a:extLst>
                  <a:ext uri="{FF2B5EF4-FFF2-40B4-BE49-F238E27FC236}">
                    <a16:creationId xmlns:a16="http://schemas.microsoft.com/office/drawing/2014/main" id="{F0309B78-C8A1-46E9-B06E-27E373093E69}"/>
                  </a:ext>
                </a:extLst>
              </p:cNvPr>
              <p:cNvSpPr/>
              <p:nvPr/>
            </p:nvSpPr>
            <p:spPr>
              <a:xfrm>
                <a:off x="611280" y="149400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3" name="CustomShape 219">
                <a:extLst>
                  <a:ext uri="{FF2B5EF4-FFF2-40B4-BE49-F238E27FC236}">
                    <a16:creationId xmlns:a16="http://schemas.microsoft.com/office/drawing/2014/main" id="{44FD518B-D557-4B32-A078-70240959EEAD}"/>
                  </a:ext>
                </a:extLst>
              </p:cNvPr>
              <p:cNvSpPr/>
              <p:nvPr/>
            </p:nvSpPr>
            <p:spPr>
              <a:xfrm>
                <a:off x="611280" y="141768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244" name="CustomShape 220">
                <a:extLst>
                  <a:ext uri="{FF2B5EF4-FFF2-40B4-BE49-F238E27FC236}">
                    <a16:creationId xmlns:a16="http://schemas.microsoft.com/office/drawing/2014/main" id="{56CEF741-F032-46D2-B662-1A1F15D7B226}"/>
                  </a:ext>
                </a:extLst>
              </p:cNvPr>
              <p:cNvSpPr/>
              <p:nvPr/>
            </p:nvSpPr>
            <p:spPr>
              <a:xfrm>
                <a:off x="611280" y="1341360"/>
                <a:ext cx="9000" cy="39240"/>
              </a:xfrm>
              <a:prstGeom prst="rect">
                <a:avLst/>
              </a:prstGeom>
              <a:solidFill>
                <a:srgbClr val="000000"/>
              </a:solidFill>
              <a:ln w="9360">
                <a:noFill/>
              </a:ln>
            </p:spPr>
            <p:style>
              <a:lnRef idx="0">
                <a:scrgbClr r="0" g="0" b="0"/>
              </a:lnRef>
              <a:fillRef idx="0">
                <a:scrgbClr r="0" g="0" b="0"/>
              </a:fillRef>
              <a:effectRef idx="0">
                <a:scrgbClr r="0" g="0" b="0"/>
              </a:effectRef>
              <a:fontRef idx="minor"/>
            </p:style>
          </p:sp>
        </p:grpSp>
        <p:grpSp>
          <p:nvGrpSpPr>
            <p:cNvPr id="103" name="Group 221">
              <a:extLst>
                <a:ext uri="{FF2B5EF4-FFF2-40B4-BE49-F238E27FC236}">
                  <a16:creationId xmlns:a16="http://schemas.microsoft.com/office/drawing/2014/main" id="{C6F3C18E-85A3-4A8B-9C58-7E6BBEBE7353}"/>
                </a:ext>
              </a:extLst>
            </p:cNvPr>
            <p:cNvGrpSpPr/>
            <p:nvPr/>
          </p:nvGrpSpPr>
          <p:grpSpPr>
            <a:xfrm>
              <a:off x="8015400" y="1341360"/>
              <a:ext cx="9000" cy="4745880"/>
              <a:chOff x="8015400" y="1341360"/>
              <a:chExt cx="9000" cy="4745880"/>
            </a:xfrm>
          </p:grpSpPr>
          <p:sp>
            <p:nvSpPr>
              <p:cNvPr id="123" name="CustomShape 222">
                <a:extLst>
                  <a:ext uri="{FF2B5EF4-FFF2-40B4-BE49-F238E27FC236}">
                    <a16:creationId xmlns:a16="http://schemas.microsoft.com/office/drawing/2014/main" id="{9243F996-3012-4B80-9908-DE1D14A0AACC}"/>
                  </a:ext>
                </a:extLst>
              </p:cNvPr>
              <p:cNvSpPr/>
              <p:nvPr/>
            </p:nvSpPr>
            <p:spPr>
              <a:xfrm>
                <a:off x="8015400" y="60451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24" name="CustomShape 223">
                <a:extLst>
                  <a:ext uri="{FF2B5EF4-FFF2-40B4-BE49-F238E27FC236}">
                    <a16:creationId xmlns:a16="http://schemas.microsoft.com/office/drawing/2014/main" id="{B833520D-E720-4B78-9980-ED117E0540B8}"/>
                  </a:ext>
                </a:extLst>
              </p:cNvPr>
              <p:cNvSpPr/>
              <p:nvPr/>
            </p:nvSpPr>
            <p:spPr>
              <a:xfrm>
                <a:off x="8015400" y="59673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25" name="CustomShape 224">
                <a:extLst>
                  <a:ext uri="{FF2B5EF4-FFF2-40B4-BE49-F238E27FC236}">
                    <a16:creationId xmlns:a16="http://schemas.microsoft.com/office/drawing/2014/main" id="{E007E087-0AFB-4C3E-8EFE-252FFCBC72C5}"/>
                  </a:ext>
                </a:extLst>
              </p:cNvPr>
              <p:cNvSpPr/>
              <p:nvPr/>
            </p:nvSpPr>
            <p:spPr>
              <a:xfrm>
                <a:off x="8015400" y="58881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26" name="CustomShape 225">
                <a:extLst>
                  <a:ext uri="{FF2B5EF4-FFF2-40B4-BE49-F238E27FC236}">
                    <a16:creationId xmlns:a16="http://schemas.microsoft.com/office/drawing/2014/main" id="{F5E3E5BD-FCD5-4F7B-9FFE-E60E19CC859A}"/>
                  </a:ext>
                </a:extLst>
              </p:cNvPr>
              <p:cNvSpPr/>
              <p:nvPr/>
            </p:nvSpPr>
            <p:spPr>
              <a:xfrm>
                <a:off x="8015400" y="58104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27" name="CustomShape 226">
                <a:extLst>
                  <a:ext uri="{FF2B5EF4-FFF2-40B4-BE49-F238E27FC236}">
                    <a16:creationId xmlns:a16="http://schemas.microsoft.com/office/drawing/2014/main" id="{C6949901-5891-47BE-9F0F-D4E877D24BC7}"/>
                  </a:ext>
                </a:extLst>
              </p:cNvPr>
              <p:cNvSpPr/>
              <p:nvPr/>
            </p:nvSpPr>
            <p:spPr>
              <a:xfrm>
                <a:off x="8015400" y="57308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28" name="CustomShape 227">
                <a:extLst>
                  <a:ext uri="{FF2B5EF4-FFF2-40B4-BE49-F238E27FC236}">
                    <a16:creationId xmlns:a16="http://schemas.microsoft.com/office/drawing/2014/main" id="{643B4190-6F05-4148-A701-010DB6BB303F}"/>
                  </a:ext>
                </a:extLst>
              </p:cNvPr>
              <p:cNvSpPr/>
              <p:nvPr/>
            </p:nvSpPr>
            <p:spPr>
              <a:xfrm>
                <a:off x="8015400" y="56530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29" name="CustomShape 228">
                <a:extLst>
                  <a:ext uri="{FF2B5EF4-FFF2-40B4-BE49-F238E27FC236}">
                    <a16:creationId xmlns:a16="http://schemas.microsoft.com/office/drawing/2014/main" id="{53CCEF63-AA52-4CCF-9EC2-51356441A810}"/>
                  </a:ext>
                </a:extLst>
              </p:cNvPr>
              <p:cNvSpPr/>
              <p:nvPr/>
            </p:nvSpPr>
            <p:spPr>
              <a:xfrm>
                <a:off x="8015400" y="55753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0" name="CustomShape 229">
                <a:extLst>
                  <a:ext uri="{FF2B5EF4-FFF2-40B4-BE49-F238E27FC236}">
                    <a16:creationId xmlns:a16="http://schemas.microsoft.com/office/drawing/2014/main" id="{5E7561C7-45A6-47A5-91FB-7B1F3C4FB3A3}"/>
                  </a:ext>
                </a:extLst>
              </p:cNvPr>
              <p:cNvSpPr/>
              <p:nvPr/>
            </p:nvSpPr>
            <p:spPr>
              <a:xfrm>
                <a:off x="8015400" y="54957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1" name="CustomShape 230">
                <a:extLst>
                  <a:ext uri="{FF2B5EF4-FFF2-40B4-BE49-F238E27FC236}">
                    <a16:creationId xmlns:a16="http://schemas.microsoft.com/office/drawing/2014/main" id="{BA8FC3D1-D7CD-48E5-90FF-EF372F0F040A}"/>
                  </a:ext>
                </a:extLst>
              </p:cNvPr>
              <p:cNvSpPr/>
              <p:nvPr/>
            </p:nvSpPr>
            <p:spPr>
              <a:xfrm>
                <a:off x="8015400" y="54165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2" name="CustomShape 231">
                <a:extLst>
                  <a:ext uri="{FF2B5EF4-FFF2-40B4-BE49-F238E27FC236}">
                    <a16:creationId xmlns:a16="http://schemas.microsoft.com/office/drawing/2014/main" id="{E4E9FB7D-8124-4442-A72C-1D4B05D74F5A}"/>
                  </a:ext>
                </a:extLst>
              </p:cNvPr>
              <p:cNvSpPr/>
              <p:nvPr/>
            </p:nvSpPr>
            <p:spPr>
              <a:xfrm>
                <a:off x="8015400" y="53388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3" name="CustomShape 232">
                <a:extLst>
                  <a:ext uri="{FF2B5EF4-FFF2-40B4-BE49-F238E27FC236}">
                    <a16:creationId xmlns:a16="http://schemas.microsoft.com/office/drawing/2014/main" id="{C97FF622-4189-4E62-8959-B85A6352047D}"/>
                  </a:ext>
                </a:extLst>
              </p:cNvPr>
              <p:cNvSpPr/>
              <p:nvPr/>
            </p:nvSpPr>
            <p:spPr>
              <a:xfrm>
                <a:off x="8015400" y="52610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4" name="CustomShape 233">
                <a:extLst>
                  <a:ext uri="{FF2B5EF4-FFF2-40B4-BE49-F238E27FC236}">
                    <a16:creationId xmlns:a16="http://schemas.microsoft.com/office/drawing/2014/main" id="{B2FB8BD1-F29B-4D1D-ABF6-4F2DE115AF67}"/>
                  </a:ext>
                </a:extLst>
              </p:cNvPr>
              <p:cNvSpPr/>
              <p:nvPr/>
            </p:nvSpPr>
            <p:spPr>
              <a:xfrm>
                <a:off x="8015400" y="51814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5" name="CustomShape 234">
                <a:extLst>
                  <a:ext uri="{FF2B5EF4-FFF2-40B4-BE49-F238E27FC236}">
                    <a16:creationId xmlns:a16="http://schemas.microsoft.com/office/drawing/2014/main" id="{0D7150E2-A247-4099-B776-09D16461F3AD}"/>
                  </a:ext>
                </a:extLst>
              </p:cNvPr>
              <p:cNvSpPr/>
              <p:nvPr/>
            </p:nvSpPr>
            <p:spPr>
              <a:xfrm>
                <a:off x="8015400" y="51037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6" name="CustomShape 235">
                <a:extLst>
                  <a:ext uri="{FF2B5EF4-FFF2-40B4-BE49-F238E27FC236}">
                    <a16:creationId xmlns:a16="http://schemas.microsoft.com/office/drawing/2014/main" id="{EE058A11-BC49-418B-ACAD-A6270955ACB0}"/>
                  </a:ext>
                </a:extLst>
              </p:cNvPr>
              <p:cNvSpPr/>
              <p:nvPr/>
            </p:nvSpPr>
            <p:spPr>
              <a:xfrm>
                <a:off x="8015400" y="50259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7" name="CustomShape 236">
                <a:extLst>
                  <a:ext uri="{FF2B5EF4-FFF2-40B4-BE49-F238E27FC236}">
                    <a16:creationId xmlns:a16="http://schemas.microsoft.com/office/drawing/2014/main" id="{8A7914F6-963B-42B3-850C-6594E014CFB4}"/>
                  </a:ext>
                </a:extLst>
              </p:cNvPr>
              <p:cNvSpPr/>
              <p:nvPr/>
            </p:nvSpPr>
            <p:spPr>
              <a:xfrm>
                <a:off x="8015400" y="49467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8" name="CustomShape 237">
                <a:extLst>
                  <a:ext uri="{FF2B5EF4-FFF2-40B4-BE49-F238E27FC236}">
                    <a16:creationId xmlns:a16="http://schemas.microsoft.com/office/drawing/2014/main" id="{7E87C0EE-C510-491B-B763-5518893A592D}"/>
                  </a:ext>
                </a:extLst>
              </p:cNvPr>
              <p:cNvSpPr/>
              <p:nvPr/>
            </p:nvSpPr>
            <p:spPr>
              <a:xfrm>
                <a:off x="8015400" y="48690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39" name="CustomShape 238">
                <a:extLst>
                  <a:ext uri="{FF2B5EF4-FFF2-40B4-BE49-F238E27FC236}">
                    <a16:creationId xmlns:a16="http://schemas.microsoft.com/office/drawing/2014/main" id="{5B3ED15C-D4E2-4012-AE37-43FD245866D3}"/>
                  </a:ext>
                </a:extLst>
              </p:cNvPr>
              <p:cNvSpPr/>
              <p:nvPr/>
            </p:nvSpPr>
            <p:spPr>
              <a:xfrm>
                <a:off x="8015400" y="478944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0" name="CustomShape 239">
                <a:extLst>
                  <a:ext uri="{FF2B5EF4-FFF2-40B4-BE49-F238E27FC236}">
                    <a16:creationId xmlns:a16="http://schemas.microsoft.com/office/drawing/2014/main" id="{59100B64-7B48-4105-98AB-0F6FAE7BDE7D}"/>
                  </a:ext>
                </a:extLst>
              </p:cNvPr>
              <p:cNvSpPr/>
              <p:nvPr/>
            </p:nvSpPr>
            <p:spPr>
              <a:xfrm>
                <a:off x="8015400" y="4710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1" name="CustomShape 240">
                <a:extLst>
                  <a:ext uri="{FF2B5EF4-FFF2-40B4-BE49-F238E27FC236}">
                    <a16:creationId xmlns:a16="http://schemas.microsoft.com/office/drawing/2014/main" id="{2EE48B9F-AF39-4866-8C17-2C1557AF16B5}"/>
                  </a:ext>
                </a:extLst>
              </p:cNvPr>
              <p:cNvSpPr/>
              <p:nvPr/>
            </p:nvSpPr>
            <p:spPr>
              <a:xfrm>
                <a:off x="8015400" y="46339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2" name="CustomShape 241">
                <a:extLst>
                  <a:ext uri="{FF2B5EF4-FFF2-40B4-BE49-F238E27FC236}">
                    <a16:creationId xmlns:a16="http://schemas.microsoft.com/office/drawing/2014/main" id="{CFCB2A4F-0A41-4095-A4DC-9F9974F66DD5}"/>
                  </a:ext>
                </a:extLst>
              </p:cNvPr>
              <p:cNvSpPr/>
              <p:nvPr/>
            </p:nvSpPr>
            <p:spPr>
              <a:xfrm>
                <a:off x="8015400" y="455436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3" name="CustomShape 242">
                <a:extLst>
                  <a:ext uri="{FF2B5EF4-FFF2-40B4-BE49-F238E27FC236}">
                    <a16:creationId xmlns:a16="http://schemas.microsoft.com/office/drawing/2014/main" id="{0392CAB8-981F-4431-9ED3-D4EE84D0FBC6}"/>
                  </a:ext>
                </a:extLst>
              </p:cNvPr>
              <p:cNvSpPr/>
              <p:nvPr/>
            </p:nvSpPr>
            <p:spPr>
              <a:xfrm>
                <a:off x="8015400" y="44751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4" name="CustomShape 243">
                <a:extLst>
                  <a:ext uri="{FF2B5EF4-FFF2-40B4-BE49-F238E27FC236}">
                    <a16:creationId xmlns:a16="http://schemas.microsoft.com/office/drawing/2014/main" id="{08790526-DBC4-4183-9169-6423CE131937}"/>
                  </a:ext>
                </a:extLst>
              </p:cNvPr>
              <p:cNvSpPr/>
              <p:nvPr/>
            </p:nvSpPr>
            <p:spPr>
              <a:xfrm>
                <a:off x="8015400" y="43974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5" name="CustomShape 244">
                <a:extLst>
                  <a:ext uri="{FF2B5EF4-FFF2-40B4-BE49-F238E27FC236}">
                    <a16:creationId xmlns:a16="http://schemas.microsoft.com/office/drawing/2014/main" id="{160948D5-6A4D-4A46-80CC-5301FE11A0DA}"/>
                  </a:ext>
                </a:extLst>
              </p:cNvPr>
              <p:cNvSpPr/>
              <p:nvPr/>
            </p:nvSpPr>
            <p:spPr>
              <a:xfrm>
                <a:off x="8015400" y="431964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6" name="CustomShape 245">
                <a:extLst>
                  <a:ext uri="{FF2B5EF4-FFF2-40B4-BE49-F238E27FC236}">
                    <a16:creationId xmlns:a16="http://schemas.microsoft.com/office/drawing/2014/main" id="{5E60E4A6-3B5B-46FE-B173-D18AE6D92EE3}"/>
                  </a:ext>
                </a:extLst>
              </p:cNvPr>
              <p:cNvSpPr/>
              <p:nvPr/>
            </p:nvSpPr>
            <p:spPr>
              <a:xfrm>
                <a:off x="8015400" y="42400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7" name="CustomShape 246">
                <a:extLst>
                  <a:ext uri="{FF2B5EF4-FFF2-40B4-BE49-F238E27FC236}">
                    <a16:creationId xmlns:a16="http://schemas.microsoft.com/office/drawing/2014/main" id="{446CE2BE-E315-4934-A26B-D0649DD42856}"/>
                  </a:ext>
                </a:extLst>
              </p:cNvPr>
              <p:cNvSpPr/>
              <p:nvPr/>
            </p:nvSpPr>
            <p:spPr>
              <a:xfrm>
                <a:off x="8015400" y="41623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8" name="CustomShape 247">
                <a:extLst>
                  <a:ext uri="{FF2B5EF4-FFF2-40B4-BE49-F238E27FC236}">
                    <a16:creationId xmlns:a16="http://schemas.microsoft.com/office/drawing/2014/main" id="{37A01B85-011B-49C9-90FC-A46B5A217B15}"/>
                  </a:ext>
                </a:extLst>
              </p:cNvPr>
              <p:cNvSpPr/>
              <p:nvPr/>
            </p:nvSpPr>
            <p:spPr>
              <a:xfrm>
                <a:off x="8015400" y="40831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49" name="CustomShape 248">
                <a:extLst>
                  <a:ext uri="{FF2B5EF4-FFF2-40B4-BE49-F238E27FC236}">
                    <a16:creationId xmlns:a16="http://schemas.microsoft.com/office/drawing/2014/main" id="{AAA6179F-6EC2-4458-96DE-DDB57CB5F2DE}"/>
                  </a:ext>
                </a:extLst>
              </p:cNvPr>
              <p:cNvSpPr/>
              <p:nvPr/>
            </p:nvSpPr>
            <p:spPr>
              <a:xfrm>
                <a:off x="8015400" y="40053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0" name="CustomShape 249">
                <a:extLst>
                  <a:ext uri="{FF2B5EF4-FFF2-40B4-BE49-F238E27FC236}">
                    <a16:creationId xmlns:a16="http://schemas.microsoft.com/office/drawing/2014/main" id="{299F3267-B798-4C8C-A365-D7835E056439}"/>
                  </a:ext>
                </a:extLst>
              </p:cNvPr>
              <p:cNvSpPr/>
              <p:nvPr/>
            </p:nvSpPr>
            <p:spPr>
              <a:xfrm>
                <a:off x="8015400" y="39276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1" name="CustomShape 250">
                <a:extLst>
                  <a:ext uri="{FF2B5EF4-FFF2-40B4-BE49-F238E27FC236}">
                    <a16:creationId xmlns:a16="http://schemas.microsoft.com/office/drawing/2014/main" id="{C863905B-BFD0-4586-A993-8A3985E3C47B}"/>
                  </a:ext>
                </a:extLst>
              </p:cNvPr>
              <p:cNvSpPr/>
              <p:nvPr/>
            </p:nvSpPr>
            <p:spPr>
              <a:xfrm>
                <a:off x="8015400" y="38480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2" name="CustomShape 251">
                <a:extLst>
                  <a:ext uri="{FF2B5EF4-FFF2-40B4-BE49-F238E27FC236}">
                    <a16:creationId xmlns:a16="http://schemas.microsoft.com/office/drawing/2014/main" id="{DD045B1F-0780-44D6-A729-A287B6D1009F}"/>
                  </a:ext>
                </a:extLst>
              </p:cNvPr>
              <p:cNvSpPr/>
              <p:nvPr/>
            </p:nvSpPr>
            <p:spPr>
              <a:xfrm>
                <a:off x="8015400" y="37688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3" name="CustomShape 252">
                <a:extLst>
                  <a:ext uri="{FF2B5EF4-FFF2-40B4-BE49-F238E27FC236}">
                    <a16:creationId xmlns:a16="http://schemas.microsoft.com/office/drawing/2014/main" id="{3D63D86E-9F47-484A-B2CB-12C633A2E666}"/>
                  </a:ext>
                </a:extLst>
              </p:cNvPr>
              <p:cNvSpPr/>
              <p:nvPr/>
            </p:nvSpPr>
            <p:spPr>
              <a:xfrm>
                <a:off x="8015400" y="36925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4" name="CustomShape 253">
                <a:extLst>
                  <a:ext uri="{FF2B5EF4-FFF2-40B4-BE49-F238E27FC236}">
                    <a16:creationId xmlns:a16="http://schemas.microsoft.com/office/drawing/2014/main" id="{A39512FF-2ECD-4F5B-96AA-735ACD894A2D}"/>
                  </a:ext>
                </a:extLst>
              </p:cNvPr>
              <p:cNvSpPr/>
              <p:nvPr/>
            </p:nvSpPr>
            <p:spPr>
              <a:xfrm>
                <a:off x="8015400" y="36133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5" name="CustomShape 254">
                <a:extLst>
                  <a:ext uri="{FF2B5EF4-FFF2-40B4-BE49-F238E27FC236}">
                    <a16:creationId xmlns:a16="http://schemas.microsoft.com/office/drawing/2014/main" id="{208574DF-5E0F-44E4-B2A9-BB4D1868B500}"/>
                  </a:ext>
                </a:extLst>
              </p:cNvPr>
              <p:cNvSpPr/>
              <p:nvPr/>
            </p:nvSpPr>
            <p:spPr>
              <a:xfrm>
                <a:off x="8015400" y="35337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6" name="CustomShape 255">
                <a:extLst>
                  <a:ext uri="{FF2B5EF4-FFF2-40B4-BE49-F238E27FC236}">
                    <a16:creationId xmlns:a16="http://schemas.microsoft.com/office/drawing/2014/main" id="{80C78315-F4A1-481E-AA0A-263341B1BEA4}"/>
                  </a:ext>
                </a:extLst>
              </p:cNvPr>
              <p:cNvSpPr/>
              <p:nvPr/>
            </p:nvSpPr>
            <p:spPr>
              <a:xfrm>
                <a:off x="8015400" y="34560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7" name="CustomShape 256">
                <a:extLst>
                  <a:ext uri="{FF2B5EF4-FFF2-40B4-BE49-F238E27FC236}">
                    <a16:creationId xmlns:a16="http://schemas.microsoft.com/office/drawing/2014/main" id="{3A80FEDB-E2E8-4389-826D-A60711D7E4A6}"/>
                  </a:ext>
                </a:extLst>
              </p:cNvPr>
              <p:cNvSpPr/>
              <p:nvPr/>
            </p:nvSpPr>
            <p:spPr>
              <a:xfrm>
                <a:off x="8015400" y="3378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8" name="CustomShape 257">
                <a:extLst>
                  <a:ext uri="{FF2B5EF4-FFF2-40B4-BE49-F238E27FC236}">
                    <a16:creationId xmlns:a16="http://schemas.microsoft.com/office/drawing/2014/main" id="{37512846-A70C-4D6C-A386-9DC25CEF2A72}"/>
                  </a:ext>
                </a:extLst>
              </p:cNvPr>
              <p:cNvSpPr/>
              <p:nvPr/>
            </p:nvSpPr>
            <p:spPr>
              <a:xfrm>
                <a:off x="8015400" y="32986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59" name="CustomShape 258">
                <a:extLst>
                  <a:ext uri="{FF2B5EF4-FFF2-40B4-BE49-F238E27FC236}">
                    <a16:creationId xmlns:a16="http://schemas.microsoft.com/office/drawing/2014/main" id="{7DE66C13-1FBB-47F2-A4D0-A20A1D5CC0F1}"/>
                  </a:ext>
                </a:extLst>
              </p:cNvPr>
              <p:cNvSpPr/>
              <p:nvPr/>
            </p:nvSpPr>
            <p:spPr>
              <a:xfrm>
                <a:off x="8015400" y="32209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0" name="CustomShape 259">
                <a:extLst>
                  <a:ext uri="{FF2B5EF4-FFF2-40B4-BE49-F238E27FC236}">
                    <a16:creationId xmlns:a16="http://schemas.microsoft.com/office/drawing/2014/main" id="{F715DE4A-03A1-4062-B2BD-D662AEB63355}"/>
                  </a:ext>
                </a:extLst>
              </p:cNvPr>
              <p:cNvSpPr/>
              <p:nvPr/>
            </p:nvSpPr>
            <p:spPr>
              <a:xfrm>
                <a:off x="8015400" y="31417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1" name="CustomShape 260">
                <a:extLst>
                  <a:ext uri="{FF2B5EF4-FFF2-40B4-BE49-F238E27FC236}">
                    <a16:creationId xmlns:a16="http://schemas.microsoft.com/office/drawing/2014/main" id="{63B36D4E-1E06-4D9F-9967-0B6037E0814E}"/>
                  </a:ext>
                </a:extLst>
              </p:cNvPr>
              <p:cNvSpPr/>
              <p:nvPr/>
            </p:nvSpPr>
            <p:spPr>
              <a:xfrm>
                <a:off x="8015400" y="30639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2" name="CustomShape 261">
                <a:extLst>
                  <a:ext uri="{FF2B5EF4-FFF2-40B4-BE49-F238E27FC236}">
                    <a16:creationId xmlns:a16="http://schemas.microsoft.com/office/drawing/2014/main" id="{1ADFC008-7361-450C-802D-7CE31EEC2B2D}"/>
                  </a:ext>
                </a:extLst>
              </p:cNvPr>
              <p:cNvSpPr/>
              <p:nvPr/>
            </p:nvSpPr>
            <p:spPr>
              <a:xfrm>
                <a:off x="8015400" y="29862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3" name="CustomShape 262">
                <a:extLst>
                  <a:ext uri="{FF2B5EF4-FFF2-40B4-BE49-F238E27FC236}">
                    <a16:creationId xmlns:a16="http://schemas.microsoft.com/office/drawing/2014/main" id="{EB35B778-B5D8-4602-8757-B03044A2B165}"/>
                  </a:ext>
                </a:extLst>
              </p:cNvPr>
              <p:cNvSpPr/>
              <p:nvPr/>
            </p:nvSpPr>
            <p:spPr>
              <a:xfrm>
                <a:off x="8015400" y="29066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4" name="CustomShape 263">
                <a:extLst>
                  <a:ext uri="{FF2B5EF4-FFF2-40B4-BE49-F238E27FC236}">
                    <a16:creationId xmlns:a16="http://schemas.microsoft.com/office/drawing/2014/main" id="{6C4C6233-B07F-4F36-87B1-E3F3103D27D6}"/>
                  </a:ext>
                </a:extLst>
              </p:cNvPr>
              <p:cNvSpPr/>
              <p:nvPr/>
            </p:nvSpPr>
            <p:spPr>
              <a:xfrm>
                <a:off x="8015400" y="28274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5" name="CustomShape 264">
                <a:extLst>
                  <a:ext uri="{FF2B5EF4-FFF2-40B4-BE49-F238E27FC236}">
                    <a16:creationId xmlns:a16="http://schemas.microsoft.com/office/drawing/2014/main" id="{DD258D6F-3F3E-43EB-BF0E-300525701908}"/>
                  </a:ext>
                </a:extLst>
              </p:cNvPr>
              <p:cNvSpPr/>
              <p:nvPr/>
            </p:nvSpPr>
            <p:spPr>
              <a:xfrm>
                <a:off x="8015400" y="27511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6" name="CustomShape 265">
                <a:extLst>
                  <a:ext uri="{FF2B5EF4-FFF2-40B4-BE49-F238E27FC236}">
                    <a16:creationId xmlns:a16="http://schemas.microsoft.com/office/drawing/2014/main" id="{FF321193-502E-4BB0-8E5B-F5D215431FA6}"/>
                  </a:ext>
                </a:extLst>
              </p:cNvPr>
              <p:cNvSpPr/>
              <p:nvPr/>
            </p:nvSpPr>
            <p:spPr>
              <a:xfrm>
                <a:off x="8015400" y="26719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7" name="CustomShape 266">
                <a:extLst>
                  <a:ext uri="{FF2B5EF4-FFF2-40B4-BE49-F238E27FC236}">
                    <a16:creationId xmlns:a16="http://schemas.microsoft.com/office/drawing/2014/main" id="{1B76F24D-D460-4E6E-AB5B-159FEC9B64C2}"/>
                  </a:ext>
                </a:extLst>
              </p:cNvPr>
              <p:cNvSpPr/>
              <p:nvPr/>
            </p:nvSpPr>
            <p:spPr>
              <a:xfrm>
                <a:off x="8015400" y="25923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8" name="CustomShape 267">
                <a:extLst>
                  <a:ext uri="{FF2B5EF4-FFF2-40B4-BE49-F238E27FC236}">
                    <a16:creationId xmlns:a16="http://schemas.microsoft.com/office/drawing/2014/main" id="{591337D4-94B3-45AB-AF82-0033C9EA8384}"/>
                  </a:ext>
                </a:extLst>
              </p:cNvPr>
              <p:cNvSpPr/>
              <p:nvPr/>
            </p:nvSpPr>
            <p:spPr>
              <a:xfrm>
                <a:off x="8015400" y="25146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69" name="CustomShape 268">
                <a:extLst>
                  <a:ext uri="{FF2B5EF4-FFF2-40B4-BE49-F238E27FC236}">
                    <a16:creationId xmlns:a16="http://schemas.microsoft.com/office/drawing/2014/main" id="{6550F000-E14E-4DA0-B436-F1E688B7E577}"/>
                  </a:ext>
                </a:extLst>
              </p:cNvPr>
              <p:cNvSpPr/>
              <p:nvPr/>
            </p:nvSpPr>
            <p:spPr>
              <a:xfrm>
                <a:off x="8015400" y="243540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0" name="CustomShape 269">
                <a:extLst>
                  <a:ext uri="{FF2B5EF4-FFF2-40B4-BE49-F238E27FC236}">
                    <a16:creationId xmlns:a16="http://schemas.microsoft.com/office/drawing/2014/main" id="{BEDB7FA6-56FD-429B-9996-F091E0E07795}"/>
                  </a:ext>
                </a:extLst>
              </p:cNvPr>
              <p:cNvSpPr/>
              <p:nvPr/>
            </p:nvSpPr>
            <p:spPr>
              <a:xfrm>
                <a:off x="8015400" y="235728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1" name="CustomShape 270">
                <a:extLst>
                  <a:ext uri="{FF2B5EF4-FFF2-40B4-BE49-F238E27FC236}">
                    <a16:creationId xmlns:a16="http://schemas.microsoft.com/office/drawing/2014/main" id="{FADCF2D6-62E1-4861-A0EA-D5C1D70E90E6}"/>
                  </a:ext>
                </a:extLst>
              </p:cNvPr>
              <p:cNvSpPr/>
              <p:nvPr/>
            </p:nvSpPr>
            <p:spPr>
              <a:xfrm>
                <a:off x="8015400" y="22795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2" name="CustomShape 271">
                <a:extLst>
                  <a:ext uri="{FF2B5EF4-FFF2-40B4-BE49-F238E27FC236}">
                    <a16:creationId xmlns:a16="http://schemas.microsoft.com/office/drawing/2014/main" id="{38FC9338-EAE9-4370-84D2-F995FE618DB0}"/>
                  </a:ext>
                </a:extLst>
              </p:cNvPr>
              <p:cNvSpPr/>
              <p:nvPr/>
            </p:nvSpPr>
            <p:spPr>
              <a:xfrm>
                <a:off x="8015400" y="22003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3" name="CustomShape 272">
                <a:extLst>
                  <a:ext uri="{FF2B5EF4-FFF2-40B4-BE49-F238E27FC236}">
                    <a16:creationId xmlns:a16="http://schemas.microsoft.com/office/drawing/2014/main" id="{2FD5DB35-A44E-47B3-BA48-FA4E6968700A}"/>
                  </a:ext>
                </a:extLst>
              </p:cNvPr>
              <p:cNvSpPr/>
              <p:nvPr/>
            </p:nvSpPr>
            <p:spPr>
              <a:xfrm>
                <a:off x="8015400" y="21225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4" name="CustomShape 273">
                <a:extLst>
                  <a:ext uri="{FF2B5EF4-FFF2-40B4-BE49-F238E27FC236}">
                    <a16:creationId xmlns:a16="http://schemas.microsoft.com/office/drawing/2014/main" id="{C9B8803F-5871-40F0-A68E-A8C2BC020541}"/>
                  </a:ext>
                </a:extLst>
              </p:cNvPr>
              <p:cNvSpPr/>
              <p:nvPr/>
            </p:nvSpPr>
            <p:spPr>
              <a:xfrm>
                <a:off x="8015400" y="20448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5" name="CustomShape 274">
                <a:extLst>
                  <a:ext uri="{FF2B5EF4-FFF2-40B4-BE49-F238E27FC236}">
                    <a16:creationId xmlns:a16="http://schemas.microsoft.com/office/drawing/2014/main" id="{5445941D-A20F-4B01-81CD-E3619DBCD0E7}"/>
                  </a:ext>
                </a:extLst>
              </p:cNvPr>
              <p:cNvSpPr/>
              <p:nvPr/>
            </p:nvSpPr>
            <p:spPr>
              <a:xfrm>
                <a:off x="8015400" y="19652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6" name="CustomShape 275">
                <a:extLst>
                  <a:ext uri="{FF2B5EF4-FFF2-40B4-BE49-F238E27FC236}">
                    <a16:creationId xmlns:a16="http://schemas.microsoft.com/office/drawing/2014/main" id="{3FEDF843-D055-473A-9A09-F4E4C1336E46}"/>
                  </a:ext>
                </a:extLst>
              </p:cNvPr>
              <p:cNvSpPr/>
              <p:nvPr/>
            </p:nvSpPr>
            <p:spPr>
              <a:xfrm>
                <a:off x="8015400" y="188604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7" name="CustomShape 276">
                <a:extLst>
                  <a:ext uri="{FF2B5EF4-FFF2-40B4-BE49-F238E27FC236}">
                    <a16:creationId xmlns:a16="http://schemas.microsoft.com/office/drawing/2014/main" id="{8A433FD8-E754-4C88-B8DA-D66B13FB3CE4}"/>
                  </a:ext>
                </a:extLst>
              </p:cNvPr>
              <p:cNvSpPr/>
              <p:nvPr/>
            </p:nvSpPr>
            <p:spPr>
              <a:xfrm>
                <a:off x="8015400" y="180972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8" name="CustomShape 277">
                <a:extLst>
                  <a:ext uri="{FF2B5EF4-FFF2-40B4-BE49-F238E27FC236}">
                    <a16:creationId xmlns:a16="http://schemas.microsoft.com/office/drawing/2014/main" id="{6A466EB8-523F-47CD-A46A-D1268260A234}"/>
                  </a:ext>
                </a:extLst>
              </p:cNvPr>
              <p:cNvSpPr/>
              <p:nvPr/>
            </p:nvSpPr>
            <p:spPr>
              <a:xfrm>
                <a:off x="8015400" y="173052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79" name="CustomShape 278">
                <a:extLst>
                  <a:ext uri="{FF2B5EF4-FFF2-40B4-BE49-F238E27FC236}">
                    <a16:creationId xmlns:a16="http://schemas.microsoft.com/office/drawing/2014/main" id="{A16C3C74-0753-49D4-A906-19C19C64D54F}"/>
                  </a:ext>
                </a:extLst>
              </p:cNvPr>
              <p:cNvSpPr/>
              <p:nvPr/>
            </p:nvSpPr>
            <p:spPr>
              <a:xfrm>
                <a:off x="8015400" y="165096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0" name="CustomShape 279">
                <a:extLst>
                  <a:ext uri="{FF2B5EF4-FFF2-40B4-BE49-F238E27FC236}">
                    <a16:creationId xmlns:a16="http://schemas.microsoft.com/office/drawing/2014/main" id="{34EAE539-05EC-4283-8E47-D8710084DC2A}"/>
                  </a:ext>
                </a:extLst>
              </p:cNvPr>
              <p:cNvSpPr/>
              <p:nvPr/>
            </p:nvSpPr>
            <p:spPr>
              <a:xfrm>
                <a:off x="8015400" y="1573200"/>
                <a:ext cx="9000" cy="421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1" name="CustomShape 280">
                <a:extLst>
                  <a:ext uri="{FF2B5EF4-FFF2-40B4-BE49-F238E27FC236}">
                    <a16:creationId xmlns:a16="http://schemas.microsoft.com/office/drawing/2014/main" id="{CDD380A5-E9D7-49A4-BF36-9923AE301E69}"/>
                  </a:ext>
                </a:extLst>
              </p:cNvPr>
              <p:cNvSpPr/>
              <p:nvPr/>
            </p:nvSpPr>
            <p:spPr>
              <a:xfrm>
                <a:off x="8015400" y="1494000"/>
                <a:ext cx="9000" cy="4392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2" name="CustomShape 281">
                <a:extLst>
                  <a:ext uri="{FF2B5EF4-FFF2-40B4-BE49-F238E27FC236}">
                    <a16:creationId xmlns:a16="http://schemas.microsoft.com/office/drawing/2014/main" id="{B941B44F-3977-4466-9E52-116814EDDF08}"/>
                  </a:ext>
                </a:extLst>
              </p:cNvPr>
              <p:cNvSpPr/>
              <p:nvPr/>
            </p:nvSpPr>
            <p:spPr>
              <a:xfrm>
                <a:off x="8015400" y="1417680"/>
                <a:ext cx="9000" cy="40680"/>
              </a:xfrm>
              <a:prstGeom prst="rect">
                <a:avLst/>
              </a:prstGeom>
              <a:solidFill>
                <a:srgbClr val="000000"/>
              </a:solidFill>
              <a:ln w="9360">
                <a:noFill/>
              </a:ln>
            </p:spPr>
            <p:style>
              <a:lnRef idx="0">
                <a:scrgbClr r="0" g="0" b="0"/>
              </a:lnRef>
              <a:fillRef idx="0">
                <a:scrgbClr r="0" g="0" b="0"/>
              </a:fillRef>
              <a:effectRef idx="0">
                <a:scrgbClr r="0" g="0" b="0"/>
              </a:effectRef>
              <a:fontRef idx="minor"/>
            </p:style>
          </p:sp>
          <p:sp>
            <p:nvSpPr>
              <p:cNvPr id="183" name="CustomShape 282">
                <a:extLst>
                  <a:ext uri="{FF2B5EF4-FFF2-40B4-BE49-F238E27FC236}">
                    <a16:creationId xmlns:a16="http://schemas.microsoft.com/office/drawing/2014/main" id="{454719C5-D247-423B-81DF-282E34B79F54}"/>
                  </a:ext>
                </a:extLst>
              </p:cNvPr>
              <p:cNvSpPr/>
              <p:nvPr/>
            </p:nvSpPr>
            <p:spPr>
              <a:xfrm>
                <a:off x="8015400" y="1341360"/>
                <a:ext cx="9000" cy="39240"/>
              </a:xfrm>
              <a:prstGeom prst="rect">
                <a:avLst/>
              </a:prstGeom>
              <a:solidFill>
                <a:srgbClr val="000000"/>
              </a:solidFill>
              <a:ln w="9360">
                <a:noFill/>
              </a:ln>
            </p:spPr>
            <p:style>
              <a:lnRef idx="0">
                <a:scrgbClr r="0" g="0" b="0"/>
              </a:lnRef>
              <a:fillRef idx="0">
                <a:scrgbClr r="0" g="0" b="0"/>
              </a:fillRef>
              <a:effectRef idx="0">
                <a:scrgbClr r="0" g="0" b="0"/>
              </a:effectRef>
              <a:fontRef idx="minor"/>
            </p:style>
          </p:sp>
        </p:grpSp>
        <p:grpSp>
          <p:nvGrpSpPr>
            <p:cNvPr id="104" name="Group 283">
              <a:extLst>
                <a:ext uri="{FF2B5EF4-FFF2-40B4-BE49-F238E27FC236}">
                  <a16:creationId xmlns:a16="http://schemas.microsoft.com/office/drawing/2014/main" id="{B90766E0-5B7C-4AFD-B8D6-C7CBB2D3D2AD}"/>
                </a:ext>
              </a:extLst>
            </p:cNvPr>
            <p:cNvGrpSpPr/>
            <p:nvPr/>
          </p:nvGrpSpPr>
          <p:grpSpPr>
            <a:xfrm>
              <a:off x="1063800" y="3139920"/>
              <a:ext cx="351720" cy="1680480"/>
              <a:chOff x="1063800" y="3139920"/>
              <a:chExt cx="351720" cy="1680480"/>
            </a:xfrm>
          </p:grpSpPr>
          <p:sp>
            <p:nvSpPr>
              <p:cNvPr id="120" name="CustomShape 284">
                <a:extLst>
                  <a:ext uri="{FF2B5EF4-FFF2-40B4-BE49-F238E27FC236}">
                    <a16:creationId xmlns:a16="http://schemas.microsoft.com/office/drawing/2014/main" id="{1EFDA28B-B200-4725-AFE5-ACA5555A7B45}"/>
                  </a:ext>
                </a:extLst>
              </p:cNvPr>
              <p:cNvSpPr/>
              <p:nvPr/>
            </p:nvSpPr>
            <p:spPr>
              <a:xfrm>
                <a:off x="1092240" y="3168720"/>
                <a:ext cx="234360" cy="1551960"/>
              </a:xfrm>
              <a:custGeom>
                <a:avLst/>
                <a:gdLst/>
                <a:ahLst/>
                <a:cxnLst/>
                <a:rect l="l" t="t" r="r" b="b"/>
                <a:pathLst>
                  <a:path w="156" h="1024">
                    <a:moveTo>
                      <a:pt x="156" y="0"/>
                    </a:moveTo>
                    <a:lnTo>
                      <a:pt x="138" y="7"/>
                    </a:lnTo>
                    <a:lnTo>
                      <a:pt x="121" y="18"/>
                    </a:lnTo>
                    <a:lnTo>
                      <a:pt x="105" y="33"/>
                    </a:lnTo>
                    <a:lnTo>
                      <a:pt x="90" y="53"/>
                    </a:lnTo>
                    <a:lnTo>
                      <a:pt x="75" y="79"/>
                    </a:lnTo>
                    <a:lnTo>
                      <a:pt x="60" y="110"/>
                    </a:lnTo>
                    <a:lnTo>
                      <a:pt x="55" y="127"/>
                    </a:lnTo>
                    <a:lnTo>
                      <a:pt x="49" y="147"/>
                    </a:lnTo>
                    <a:lnTo>
                      <a:pt x="44" y="169"/>
                    </a:lnTo>
                    <a:lnTo>
                      <a:pt x="38" y="193"/>
                    </a:lnTo>
                    <a:lnTo>
                      <a:pt x="33" y="227"/>
                    </a:lnTo>
                    <a:lnTo>
                      <a:pt x="27" y="267"/>
                    </a:lnTo>
                    <a:lnTo>
                      <a:pt x="24" y="313"/>
                    </a:lnTo>
                    <a:lnTo>
                      <a:pt x="20" y="363"/>
                    </a:lnTo>
                    <a:lnTo>
                      <a:pt x="18" y="417"/>
                    </a:lnTo>
                    <a:lnTo>
                      <a:pt x="14" y="474"/>
                    </a:lnTo>
                    <a:lnTo>
                      <a:pt x="13" y="533"/>
                    </a:lnTo>
                    <a:lnTo>
                      <a:pt x="11" y="592"/>
                    </a:lnTo>
                    <a:lnTo>
                      <a:pt x="9" y="714"/>
                    </a:lnTo>
                    <a:lnTo>
                      <a:pt x="7" y="773"/>
                    </a:lnTo>
                    <a:lnTo>
                      <a:pt x="7" y="830"/>
                    </a:lnTo>
                    <a:lnTo>
                      <a:pt x="5" y="885"/>
                    </a:lnTo>
                    <a:lnTo>
                      <a:pt x="3" y="935"/>
                    </a:lnTo>
                    <a:lnTo>
                      <a:pt x="1" y="983"/>
                    </a:lnTo>
                    <a:lnTo>
                      <a:pt x="0" y="1024"/>
                    </a:lnTo>
                  </a:path>
                </a:pathLst>
              </a:custGeom>
              <a:noFill/>
              <a:ln w="11160">
                <a:solidFill>
                  <a:srgbClr val="000000"/>
                </a:solidFill>
                <a:round/>
              </a:ln>
            </p:spPr>
            <p:style>
              <a:lnRef idx="0">
                <a:scrgbClr r="0" g="0" b="0"/>
              </a:lnRef>
              <a:fillRef idx="0">
                <a:scrgbClr r="0" g="0" b="0"/>
              </a:fillRef>
              <a:effectRef idx="0">
                <a:scrgbClr r="0" g="0" b="0"/>
              </a:effectRef>
              <a:fontRef idx="minor"/>
            </p:style>
          </p:sp>
          <p:sp>
            <p:nvSpPr>
              <p:cNvPr id="121" name="CustomShape 285">
                <a:extLst>
                  <a:ext uri="{FF2B5EF4-FFF2-40B4-BE49-F238E27FC236}">
                    <a16:creationId xmlns:a16="http://schemas.microsoft.com/office/drawing/2014/main" id="{A9C5C20F-B42B-4D3A-B0FD-069C72F2A597}"/>
                  </a:ext>
                </a:extLst>
              </p:cNvPr>
              <p:cNvSpPr/>
              <p:nvPr/>
            </p:nvSpPr>
            <p:spPr>
              <a:xfrm>
                <a:off x="1320840" y="3139920"/>
                <a:ext cx="94680" cy="56520"/>
              </a:xfrm>
              <a:custGeom>
                <a:avLst/>
                <a:gdLst/>
                <a:ahLst/>
                <a:cxnLst/>
                <a:rect l="l" t="t" r="r" b="b"/>
                <a:pathLst>
                  <a:path w="64" h="39">
                    <a:moveTo>
                      <a:pt x="9" y="39"/>
                    </a:moveTo>
                    <a:lnTo>
                      <a:pt x="64" y="6"/>
                    </a:lnTo>
                    <a:lnTo>
                      <a:pt x="0" y="0"/>
                    </a:lnTo>
                    <a:lnTo>
                      <a:pt x="9" y="39"/>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122" name="CustomShape 286">
                <a:extLst>
                  <a:ext uri="{FF2B5EF4-FFF2-40B4-BE49-F238E27FC236}">
                    <a16:creationId xmlns:a16="http://schemas.microsoft.com/office/drawing/2014/main" id="{414C84ED-906D-49A2-A72B-BF086CF948CF}"/>
                  </a:ext>
                </a:extLst>
              </p:cNvPr>
              <p:cNvSpPr/>
              <p:nvPr/>
            </p:nvSpPr>
            <p:spPr>
              <a:xfrm>
                <a:off x="1063800" y="4724280"/>
                <a:ext cx="56520" cy="96120"/>
              </a:xfrm>
              <a:custGeom>
                <a:avLst/>
                <a:gdLst/>
                <a:ahLst/>
                <a:cxnLst/>
                <a:rect l="l" t="t" r="r" b="b"/>
                <a:pathLst>
                  <a:path w="39" h="65">
                    <a:moveTo>
                      <a:pt x="0" y="0"/>
                    </a:moveTo>
                    <a:lnTo>
                      <a:pt x="13" y="65"/>
                    </a:lnTo>
                    <a:lnTo>
                      <a:pt x="39" y="4"/>
                    </a:lnTo>
                    <a:lnTo>
                      <a:pt x="0" y="0"/>
                    </a:lnTo>
                    <a:close/>
                  </a:path>
                </a:pathLst>
              </a:custGeom>
              <a:solidFill>
                <a:srgbClr val="000000"/>
              </a:solidFill>
              <a:ln w="9360">
                <a:noFill/>
              </a:ln>
            </p:spPr>
            <p:style>
              <a:lnRef idx="0">
                <a:scrgbClr r="0" g="0" b="0"/>
              </a:lnRef>
              <a:fillRef idx="0">
                <a:scrgbClr r="0" g="0" b="0"/>
              </a:fillRef>
              <a:effectRef idx="0">
                <a:scrgbClr r="0" g="0" b="0"/>
              </a:effectRef>
              <a:fontRef idx="minor"/>
            </p:style>
          </p:sp>
        </p:grpSp>
        <p:grpSp>
          <p:nvGrpSpPr>
            <p:cNvPr id="105" name="Group 287">
              <a:extLst>
                <a:ext uri="{FF2B5EF4-FFF2-40B4-BE49-F238E27FC236}">
                  <a16:creationId xmlns:a16="http://schemas.microsoft.com/office/drawing/2014/main" id="{32845273-BFEA-4F57-8460-AE3BA9FB229E}"/>
                </a:ext>
              </a:extLst>
            </p:cNvPr>
            <p:cNvGrpSpPr/>
            <p:nvPr/>
          </p:nvGrpSpPr>
          <p:grpSpPr>
            <a:xfrm>
              <a:off x="1552680" y="5221440"/>
              <a:ext cx="796320" cy="221400"/>
              <a:chOff x="1552680" y="5221440"/>
              <a:chExt cx="796320" cy="221400"/>
            </a:xfrm>
          </p:grpSpPr>
          <p:sp>
            <p:nvSpPr>
              <p:cNvPr id="117" name="CustomShape 288">
                <a:extLst>
                  <a:ext uri="{FF2B5EF4-FFF2-40B4-BE49-F238E27FC236}">
                    <a16:creationId xmlns:a16="http://schemas.microsoft.com/office/drawing/2014/main" id="{0EFFAD3E-7844-4DF3-986B-7540AA1AEDE9}"/>
                  </a:ext>
                </a:extLst>
              </p:cNvPr>
              <p:cNvSpPr/>
              <p:nvPr/>
            </p:nvSpPr>
            <p:spPr>
              <a:xfrm>
                <a:off x="1622520" y="5283360"/>
                <a:ext cx="634320" cy="126360"/>
              </a:xfrm>
              <a:custGeom>
                <a:avLst/>
                <a:gdLst/>
                <a:ahLst/>
                <a:cxnLst/>
                <a:rect l="l" t="t" r="r" b="b"/>
                <a:pathLst>
                  <a:path w="420" h="85">
                    <a:moveTo>
                      <a:pt x="0" y="0"/>
                    </a:moveTo>
                    <a:lnTo>
                      <a:pt x="20" y="14"/>
                    </a:lnTo>
                    <a:lnTo>
                      <a:pt x="46" y="27"/>
                    </a:lnTo>
                    <a:lnTo>
                      <a:pt x="75" y="40"/>
                    </a:lnTo>
                    <a:lnTo>
                      <a:pt x="94" y="46"/>
                    </a:lnTo>
                    <a:lnTo>
                      <a:pt x="112" y="51"/>
                    </a:lnTo>
                    <a:lnTo>
                      <a:pt x="125" y="55"/>
                    </a:lnTo>
                    <a:lnTo>
                      <a:pt x="140" y="57"/>
                    </a:lnTo>
                    <a:lnTo>
                      <a:pt x="175" y="62"/>
                    </a:lnTo>
                    <a:lnTo>
                      <a:pt x="215" y="68"/>
                    </a:lnTo>
                    <a:lnTo>
                      <a:pt x="256" y="72"/>
                    </a:lnTo>
                    <a:lnTo>
                      <a:pt x="300" y="75"/>
                    </a:lnTo>
                    <a:lnTo>
                      <a:pt x="343" y="79"/>
                    </a:lnTo>
                    <a:lnTo>
                      <a:pt x="383" y="83"/>
                    </a:lnTo>
                    <a:lnTo>
                      <a:pt x="420" y="85"/>
                    </a:lnTo>
                  </a:path>
                </a:pathLst>
              </a:custGeom>
              <a:noFill/>
              <a:ln w="11160">
                <a:solidFill>
                  <a:srgbClr val="000000"/>
                </a:solidFill>
                <a:round/>
              </a:ln>
            </p:spPr>
            <p:style>
              <a:lnRef idx="0">
                <a:scrgbClr r="0" g="0" b="0"/>
              </a:lnRef>
              <a:fillRef idx="0">
                <a:scrgbClr r="0" g="0" b="0"/>
              </a:fillRef>
              <a:effectRef idx="0">
                <a:scrgbClr r="0" g="0" b="0"/>
              </a:effectRef>
              <a:fontRef idx="minor"/>
            </p:style>
          </p:sp>
          <p:sp>
            <p:nvSpPr>
              <p:cNvPr id="118" name="CustomShape 289">
                <a:extLst>
                  <a:ext uri="{FF2B5EF4-FFF2-40B4-BE49-F238E27FC236}">
                    <a16:creationId xmlns:a16="http://schemas.microsoft.com/office/drawing/2014/main" id="{32616909-084D-4544-B7D4-DDEC657A2DD6}"/>
                  </a:ext>
                </a:extLst>
              </p:cNvPr>
              <p:cNvSpPr/>
              <p:nvPr/>
            </p:nvSpPr>
            <p:spPr>
              <a:xfrm>
                <a:off x="1552680" y="5221440"/>
                <a:ext cx="90000" cy="83520"/>
              </a:xfrm>
              <a:custGeom>
                <a:avLst/>
                <a:gdLst/>
                <a:ahLst/>
                <a:cxnLst/>
                <a:rect l="l" t="t" r="r" b="b"/>
                <a:pathLst>
                  <a:path w="61" h="57">
                    <a:moveTo>
                      <a:pt x="61" y="28"/>
                    </a:moveTo>
                    <a:lnTo>
                      <a:pt x="0" y="0"/>
                    </a:lnTo>
                    <a:lnTo>
                      <a:pt x="33" y="57"/>
                    </a:lnTo>
                    <a:lnTo>
                      <a:pt x="61" y="28"/>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119" name="CustomShape 290">
                <a:extLst>
                  <a:ext uri="{FF2B5EF4-FFF2-40B4-BE49-F238E27FC236}">
                    <a16:creationId xmlns:a16="http://schemas.microsoft.com/office/drawing/2014/main" id="{D90CC319-E602-4E34-8D48-465A2ABD4876}"/>
                  </a:ext>
                </a:extLst>
              </p:cNvPr>
              <p:cNvSpPr/>
              <p:nvPr/>
            </p:nvSpPr>
            <p:spPr>
              <a:xfrm>
                <a:off x="2255760" y="5383080"/>
                <a:ext cx="93240" cy="59760"/>
              </a:xfrm>
              <a:custGeom>
                <a:avLst/>
                <a:gdLst/>
                <a:ahLst/>
                <a:cxnLst/>
                <a:rect l="l" t="t" r="r" b="b"/>
                <a:pathLst>
                  <a:path w="63" h="41">
                    <a:moveTo>
                      <a:pt x="0" y="41"/>
                    </a:moveTo>
                    <a:lnTo>
                      <a:pt x="63" y="26"/>
                    </a:lnTo>
                    <a:lnTo>
                      <a:pt x="2" y="0"/>
                    </a:lnTo>
                    <a:lnTo>
                      <a:pt x="0" y="41"/>
                    </a:lnTo>
                    <a:close/>
                  </a:path>
                </a:pathLst>
              </a:custGeom>
              <a:solidFill>
                <a:srgbClr val="000000"/>
              </a:solidFill>
              <a:ln w="9360">
                <a:noFill/>
              </a:ln>
            </p:spPr>
            <p:style>
              <a:lnRef idx="0">
                <a:scrgbClr r="0" g="0" b="0"/>
              </a:lnRef>
              <a:fillRef idx="0">
                <a:scrgbClr r="0" g="0" b="0"/>
              </a:fillRef>
              <a:effectRef idx="0">
                <a:scrgbClr r="0" g="0" b="0"/>
              </a:effectRef>
              <a:fontRef idx="minor"/>
            </p:style>
          </p:sp>
        </p:grpSp>
        <p:sp>
          <p:nvSpPr>
            <p:cNvPr id="106" name="CustomShape 291">
              <a:extLst>
                <a:ext uri="{FF2B5EF4-FFF2-40B4-BE49-F238E27FC236}">
                  <a16:creationId xmlns:a16="http://schemas.microsoft.com/office/drawing/2014/main" id="{8045888D-BA06-4FCA-AA4F-D973D11AE45F}"/>
                </a:ext>
              </a:extLst>
            </p:cNvPr>
            <p:cNvSpPr/>
            <p:nvPr/>
          </p:nvSpPr>
          <p:spPr>
            <a:xfrm>
              <a:off x="1417680" y="4016520"/>
              <a:ext cx="2736360" cy="269280"/>
            </a:xfrm>
            <a:prstGeom prst="rect">
              <a:avLst/>
            </a:prstGeom>
            <a:solidFill>
              <a:srgbClr val="0000FF"/>
            </a:solidFill>
            <a:ln w="11160">
              <a:solidFill>
                <a:srgbClr val="000000"/>
              </a:solidFill>
              <a:miter/>
            </a:ln>
          </p:spPr>
          <p:style>
            <a:lnRef idx="0">
              <a:scrgbClr r="0" g="0" b="0"/>
            </a:lnRef>
            <a:fillRef idx="0">
              <a:scrgbClr r="0" g="0" b="0"/>
            </a:fillRef>
            <a:effectRef idx="0">
              <a:scrgbClr r="0" g="0" b="0"/>
            </a:effectRef>
            <a:fontRef idx="minor"/>
          </p:style>
        </p:sp>
        <p:sp>
          <p:nvSpPr>
            <p:cNvPr id="107" name="CustomShape 292">
              <a:extLst>
                <a:ext uri="{FF2B5EF4-FFF2-40B4-BE49-F238E27FC236}">
                  <a16:creationId xmlns:a16="http://schemas.microsoft.com/office/drawing/2014/main" id="{046302E7-4BFB-4774-BA46-9CF1C9EC2DA2}"/>
                </a:ext>
              </a:extLst>
            </p:cNvPr>
            <p:cNvSpPr/>
            <p:nvPr/>
          </p:nvSpPr>
          <p:spPr>
            <a:xfrm>
              <a:off x="2204280" y="4067280"/>
              <a:ext cx="1334160" cy="1803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300"/>
                </a:spcBef>
              </a:pPr>
              <a:r>
                <a:rPr lang="en-US" sz="1200" b="1" strike="noStrike" spc="-1">
                  <a:solidFill>
                    <a:srgbClr val="FFFFFF"/>
                  </a:solidFill>
                  <a:latin typeface="Segoe UI"/>
                  <a:ea typeface="DejaVu Sans"/>
                </a:rPr>
                <a:t>DXE Services Table</a:t>
              </a:r>
              <a:endParaRPr lang="en-US" sz="1200" b="0" strike="noStrike" spc="-1">
                <a:latin typeface="Arial"/>
              </a:endParaRPr>
            </a:p>
          </p:txBody>
        </p:sp>
        <p:sp>
          <p:nvSpPr>
            <p:cNvPr id="108" name="CustomShape 293">
              <a:extLst>
                <a:ext uri="{FF2B5EF4-FFF2-40B4-BE49-F238E27FC236}">
                  <a16:creationId xmlns:a16="http://schemas.microsoft.com/office/drawing/2014/main" id="{CF99C4F2-878B-4F8D-B870-FA3BE87105B1}"/>
                </a:ext>
              </a:extLst>
            </p:cNvPr>
            <p:cNvSpPr/>
            <p:nvPr/>
          </p:nvSpPr>
          <p:spPr>
            <a:xfrm>
              <a:off x="1417680" y="4484520"/>
              <a:ext cx="2736360" cy="20268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sp>
        <p:sp>
          <p:nvSpPr>
            <p:cNvPr id="109" name="CustomShape 294">
              <a:extLst>
                <a:ext uri="{FF2B5EF4-FFF2-40B4-BE49-F238E27FC236}">
                  <a16:creationId xmlns:a16="http://schemas.microsoft.com/office/drawing/2014/main" id="{06C34511-DD30-4A70-BDEB-56996A6E7878}"/>
                </a:ext>
              </a:extLst>
            </p:cNvPr>
            <p:cNvSpPr/>
            <p:nvPr/>
          </p:nvSpPr>
          <p:spPr>
            <a:xfrm>
              <a:off x="2233080" y="4502160"/>
              <a:ext cx="12765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FFFFFF"/>
                  </a:solidFill>
                  <a:latin typeface="Segoe UI"/>
                  <a:ea typeface="DejaVu Sans"/>
                </a:rPr>
                <a:t>Dispatcher Services</a:t>
              </a:r>
              <a:endParaRPr lang="en-US" sz="1100" b="0" strike="noStrike" spc="-1">
                <a:latin typeface="Arial"/>
              </a:endParaRPr>
            </a:p>
          </p:txBody>
        </p:sp>
        <p:sp>
          <p:nvSpPr>
            <p:cNvPr id="110" name="CustomShape 295">
              <a:extLst>
                <a:ext uri="{FF2B5EF4-FFF2-40B4-BE49-F238E27FC236}">
                  <a16:creationId xmlns:a16="http://schemas.microsoft.com/office/drawing/2014/main" id="{B6BAD525-4E5A-4440-BCF7-CE9D9E684B89}"/>
                </a:ext>
              </a:extLst>
            </p:cNvPr>
            <p:cNvSpPr/>
            <p:nvPr/>
          </p:nvSpPr>
          <p:spPr>
            <a:xfrm>
              <a:off x="5621400" y="4083120"/>
              <a:ext cx="2202840" cy="202680"/>
            </a:xfrm>
            <a:prstGeom prst="rect">
              <a:avLst/>
            </a:prstGeom>
            <a:solidFill>
              <a:srgbClr val="FFCC99"/>
            </a:solidFill>
            <a:ln w="11160">
              <a:solidFill>
                <a:srgbClr val="000000"/>
              </a:solidFill>
              <a:miter/>
            </a:ln>
          </p:spPr>
          <p:style>
            <a:lnRef idx="0">
              <a:scrgbClr r="0" g="0" b="0"/>
            </a:lnRef>
            <a:fillRef idx="0">
              <a:scrgbClr r="0" g="0" b="0"/>
            </a:fillRef>
            <a:effectRef idx="0">
              <a:scrgbClr r="0" g="0" b="0"/>
            </a:effectRef>
            <a:fontRef idx="minor"/>
          </p:style>
        </p:sp>
        <p:sp>
          <p:nvSpPr>
            <p:cNvPr id="111" name="CustomShape 296">
              <a:extLst>
                <a:ext uri="{FF2B5EF4-FFF2-40B4-BE49-F238E27FC236}">
                  <a16:creationId xmlns:a16="http://schemas.microsoft.com/office/drawing/2014/main" id="{C406095E-BA8E-41E4-B7D5-DC2D7DEE6D94}"/>
                </a:ext>
              </a:extLst>
            </p:cNvPr>
            <p:cNvSpPr/>
            <p:nvPr/>
          </p:nvSpPr>
          <p:spPr>
            <a:xfrm>
              <a:off x="6192720" y="4100400"/>
              <a:ext cx="122616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DXE Services Table</a:t>
              </a:r>
              <a:endParaRPr lang="en-US" sz="1100" b="0" strike="noStrike" spc="-1">
                <a:latin typeface="Arial"/>
              </a:endParaRPr>
            </a:p>
          </p:txBody>
        </p:sp>
        <p:grpSp>
          <p:nvGrpSpPr>
            <p:cNvPr id="112" name="Group 297">
              <a:extLst>
                <a:ext uri="{FF2B5EF4-FFF2-40B4-BE49-F238E27FC236}">
                  <a16:creationId xmlns:a16="http://schemas.microsoft.com/office/drawing/2014/main" id="{C961B1F3-E3BF-465B-978D-FE7C96557EC2}"/>
                </a:ext>
              </a:extLst>
            </p:cNvPr>
            <p:cNvGrpSpPr/>
            <p:nvPr/>
          </p:nvGrpSpPr>
          <p:grpSpPr>
            <a:xfrm>
              <a:off x="4156200" y="4122720"/>
              <a:ext cx="1465920" cy="56520"/>
              <a:chOff x="4156200" y="4122720"/>
              <a:chExt cx="1465920" cy="56520"/>
            </a:xfrm>
          </p:grpSpPr>
          <p:sp>
            <p:nvSpPr>
              <p:cNvPr id="115" name="Line 298">
                <a:extLst>
                  <a:ext uri="{FF2B5EF4-FFF2-40B4-BE49-F238E27FC236}">
                    <a16:creationId xmlns:a16="http://schemas.microsoft.com/office/drawing/2014/main" id="{02B8C612-C1BC-4866-BA5B-414AA699355D}"/>
                  </a:ext>
                </a:extLst>
              </p:cNvPr>
              <p:cNvSpPr/>
              <p:nvPr/>
            </p:nvSpPr>
            <p:spPr>
              <a:xfrm flipH="1">
                <a:off x="4239360" y="4149720"/>
                <a:ext cx="1382760" cy="144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116" name="CustomShape 299">
                <a:extLst>
                  <a:ext uri="{FF2B5EF4-FFF2-40B4-BE49-F238E27FC236}">
                    <a16:creationId xmlns:a16="http://schemas.microsoft.com/office/drawing/2014/main" id="{3285E78C-0DBF-478B-828B-40B1170DE3A0}"/>
                  </a:ext>
                </a:extLst>
              </p:cNvPr>
              <p:cNvSpPr/>
              <p:nvPr/>
            </p:nvSpPr>
            <p:spPr>
              <a:xfrm>
                <a:off x="4156200" y="4122720"/>
                <a:ext cx="90000" cy="56520"/>
              </a:xfrm>
              <a:custGeom>
                <a:avLst/>
                <a:gdLst/>
                <a:ahLst/>
                <a:cxnLst/>
                <a:rect l="l" t="t" r="r" b="b"/>
                <a:pathLst>
                  <a:path w="61" h="39">
                    <a:moveTo>
                      <a:pt x="61" y="0"/>
                    </a:moveTo>
                    <a:lnTo>
                      <a:pt x="0" y="18"/>
                    </a:lnTo>
                    <a:lnTo>
                      <a:pt x="61" y="39"/>
                    </a:lnTo>
                    <a:lnTo>
                      <a:pt x="61" y="0"/>
                    </a:lnTo>
                    <a:close/>
                  </a:path>
                </a:pathLst>
              </a:custGeom>
              <a:solidFill>
                <a:srgbClr val="000000"/>
              </a:solidFill>
              <a:ln w="9360">
                <a:noFill/>
              </a:ln>
            </p:spPr>
            <p:style>
              <a:lnRef idx="0">
                <a:scrgbClr r="0" g="0" b="0"/>
              </a:lnRef>
              <a:fillRef idx="0">
                <a:scrgbClr r="0" g="0" b="0"/>
              </a:fillRef>
              <a:effectRef idx="0">
                <a:scrgbClr r="0" g="0" b="0"/>
              </a:effectRef>
              <a:fontRef idx="minor"/>
            </p:style>
          </p:sp>
        </p:grpSp>
        <p:sp>
          <p:nvSpPr>
            <p:cNvPr id="113" name="CustomShape 300">
              <a:extLst>
                <a:ext uri="{FF2B5EF4-FFF2-40B4-BE49-F238E27FC236}">
                  <a16:creationId xmlns:a16="http://schemas.microsoft.com/office/drawing/2014/main" id="{E2F788CB-BA54-440F-AB36-BE9363DEF64A}"/>
                </a:ext>
              </a:extLst>
            </p:cNvPr>
            <p:cNvSpPr/>
            <p:nvPr/>
          </p:nvSpPr>
          <p:spPr>
            <a:xfrm>
              <a:off x="5621400" y="4286160"/>
              <a:ext cx="2202840" cy="199440"/>
            </a:xfrm>
            <a:prstGeom prst="rect">
              <a:avLst/>
            </a:prstGeom>
            <a:solidFill>
              <a:srgbClr val="FFCC99"/>
            </a:solidFill>
            <a:ln w="11160">
              <a:solidFill>
                <a:srgbClr val="000000"/>
              </a:solidFill>
              <a:miter/>
            </a:ln>
          </p:spPr>
          <p:style>
            <a:lnRef idx="0">
              <a:scrgbClr r="0" g="0" b="0"/>
            </a:lnRef>
            <a:fillRef idx="0">
              <a:scrgbClr r="0" g="0" b="0"/>
            </a:fillRef>
            <a:effectRef idx="0">
              <a:scrgbClr r="0" g="0" b="0"/>
            </a:effectRef>
            <a:fontRef idx="minor"/>
          </p:style>
        </p:sp>
        <p:sp>
          <p:nvSpPr>
            <p:cNvPr id="114" name="CustomShape 301">
              <a:extLst>
                <a:ext uri="{FF2B5EF4-FFF2-40B4-BE49-F238E27FC236}">
                  <a16:creationId xmlns:a16="http://schemas.microsoft.com/office/drawing/2014/main" id="{FEBBF0F2-C01B-47A2-A984-252F9831BC43}"/>
                </a:ext>
              </a:extLst>
            </p:cNvPr>
            <p:cNvSpPr/>
            <p:nvPr/>
          </p:nvSpPr>
          <p:spPr>
            <a:xfrm>
              <a:off x="6489720" y="4302000"/>
              <a:ext cx="567720" cy="1659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noAutofit/>
            </a:bodyPr>
            <a:lstStyle/>
            <a:p>
              <a:pPr algn="ctr">
                <a:lnSpc>
                  <a:spcPct val="100000"/>
                </a:lnSpc>
                <a:spcBef>
                  <a:spcPts val="275"/>
                </a:spcBef>
              </a:pPr>
              <a:r>
                <a:rPr lang="en-US" sz="1100" b="1" strike="noStrike" spc="-1">
                  <a:solidFill>
                    <a:srgbClr val="000000"/>
                  </a:solidFill>
                  <a:latin typeface="Segoe UI"/>
                  <a:ea typeface="DejaVu Sans"/>
                </a:rPr>
                <a:t>HOB List</a:t>
              </a:r>
              <a:endParaRPr lang="en-US" sz="1100" b="0" strike="noStrike" spc="-1">
                <a:latin typeface="Arial"/>
              </a:endParaRPr>
            </a:p>
          </p:txBody>
        </p:sp>
      </p:grpSp>
    </p:spTree>
    <p:extLst>
      <p:ext uri="{BB962C8B-B14F-4D97-AF65-F5344CB8AC3E}">
        <p14:creationId xmlns:p14="http://schemas.microsoft.com/office/powerpoint/2010/main" val="4955029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UEFI System Table – EFI_SYSTEM_TABLE</a:t>
            </a:r>
            <a:endParaRPr lang="en-US" dirty="0"/>
          </a:p>
        </p:txBody>
      </p:sp>
      <p:sp>
        <p:nvSpPr>
          <p:cNvPr id="316" name="CustomShape 2">
            <a:extLst>
              <a:ext uri="{FF2B5EF4-FFF2-40B4-BE49-F238E27FC236}">
                <a16:creationId xmlns:a16="http://schemas.microsoft.com/office/drawing/2014/main" id="{830D96E5-9BF3-4AC1-B8AE-199B99CA80A7}"/>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9500" lnSpcReduction="20000"/>
          </a:bodyPr>
          <a:lstStyle/>
          <a:p>
            <a:pPr marL="228600" indent="-226440">
              <a:lnSpc>
                <a:spcPct val="90000"/>
              </a:lnSpc>
              <a:spcBef>
                <a:spcPts val="1001"/>
              </a:spcBef>
            </a:pPr>
            <a:r>
              <a:rPr lang="en-US" sz="1900" b="1" strike="noStrike" spc="-1">
                <a:solidFill>
                  <a:srgbClr val="262626"/>
                </a:solidFill>
                <a:latin typeface="Calibri"/>
                <a:ea typeface="Tahoma"/>
              </a:rPr>
              <a:t>typedef struct {</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EFI_TABLE_HEADER			Hdr;</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CHAR16				*FirmwareVendor;</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UINT32				FirmwareRevision;</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EFI_HANDLE			ConsoleInHandle;</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EFI_SIMPLE_TEXT_INPUT_PROTOCOL	*ConIn;</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EFI_HANDLE			ConsoleOutHandle;</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EFI_SIMPLE_TEXT_OUTPUT_PROTOCOL	*ConOut;</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EFI_HANDLE			StandardErrorHandle;</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EFI_SIMPLE_TEXT_OUTPUT_PROTOCOL	*StdErr;</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EFI_RUNTIME_SERVICES		*RuntimeServices;</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EFI_BOOT_SERVICES			*BootServices;</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UINTN				NumberOfTableEntries;</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EFI_CONFIGURATION_TABLE 		*ConfigurationTable;</a:t>
            </a:r>
            <a:endParaRPr lang="en-US" sz="1900" b="0" strike="noStrike" spc="-1">
              <a:latin typeface="Arial"/>
            </a:endParaRPr>
          </a:p>
          <a:p>
            <a:pPr marL="228600" indent="-226440">
              <a:lnSpc>
                <a:spcPct val="90000"/>
              </a:lnSpc>
              <a:spcBef>
                <a:spcPts val="1001"/>
              </a:spcBef>
            </a:pPr>
            <a:r>
              <a:rPr lang="en-US" sz="1900" b="1" strike="noStrike" spc="-1">
                <a:solidFill>
                  <a:srgbClr val="262626"/>
                </a:solidFill>
                <a:latin typeface="Calibri"/>
                <a:ea typeface="Tahoma"/>
              </a:rPr>
              <a:t>} EFI_SYSTEM_TABLE;</a:t>
            </a:r>
            <a:endParaRPr lang="en-US" sz="1900" b="0" strike="noStrike" spc="-1">
              <a:latin typeface="Arial"/>
            </a:endParaRPr>
          </a:p>
          <a:p>
            <a:pPr marL="228600" indent="-226440">
              <a:lnSpc>
                <a:spcPct val="90000"/>
              </a:lnSpc>
              <a:spcBef>
                <a:spcPts val="1001"/>
              </a:spcBef>
            </a:pPr>
            <a:endParaRPr lang="en-US" sz="1900" b="0" strike="noStrike" spc="-1">
              <a:latin typeface="Arial"/>
            </a:endParaRPr>
          </a:p>
          <a:p>
            <a:pPr marL="228600" indent="-226440">
              <a:lnSpc>
                <a:spcPct val="90000"/>
              </a:lnSpc>
              <a:spcBef>
                <a:spcPts val="1001"/>
              </a:spcBef>
            </a:pPr>
            <a:r>
              <a:rPr lang="en-US" sz="2800" b="0" strike="noStrike" spc="-1">
                <a:solidFill>
                  <a:srgbClr val="262626"/>
                </a:solidFill>
                <a:latin typeface="Segoe UI"/>
                <a:ea typeface="新細明體"/>
              </a:rPr>
              <a:t>		</a:t>
            </a:r>
            <a:endParaRPr lang="en-US" sz="2800" b="0" strike="noStrike" spc="-1">
              <a:latin typeface="Arial"/>
            </a:endParaRPr>
          </a:p>
        </p:txBody>
      </p:sp>
      <p:sp>
        <p:nvSpPr>
          <p:cNvPr id="317" name="CustomShape 3">
            <a:extLst>
              <a:ext uri="{FF2B5EF4-FFF2-40B4-BE49-F238E27FC236}">
                <a16:creationId xmlns:a16="http://schemas.microsoft.com/office/drawing/2014/main" id="{810A82D0-A73E-41DB-9037-EBDF58471274}"/>
              </a:ext>
            </a:extLst>
          </p:cNvPr>
          <p:cNvSpPr/>
          <p:nvPr/>
        </p:nvSpPr>
        <p:spPr>
          <a:xfrm>
            <a:off x="996600" y="2422510"/>
            <a:ext cx="6855840" cy="1674360"/>
          </a:xfrm>
          <a:prstGeom prst="roundRect">
            <a:avLst>
              <a:gd name="adj" fmla="val 16667"/>
            </a:avLst>
          </a:prstGeom>
          <a:ln>
            <a:round/>
          </a:ln>
        </p:spPr>
        <p:style>
          <a:lnRef idx="2">
            <a:schemeClr val="accent1">
              <a:shade val="50000"/>
            </a:schemeClr>
          </a:lnRef>
          <a:fillRef idx="1">
            <a:schemeClr val="accent1"/>
          </a:fillRef>
          <a:effectRef idx="0">
            <a:schemeClr val="accent1"/>
          </a:effectRef>
          <a:fontRef idx="minor"/>
        </p:style>
      </p:sp>
      <p:sp>
        <p:nvSpPr>
          <p:cNvPr id="318" name="CustomShape 4">
            <a:extLst>
              <a:ext uri="{FF2B5EF4-FFF2-40B4-BE49-F238E27FC236}">
                <a16:creationId xmlns:a16="http://schemas.microsoft.com/office/drawing/2014/main" id="{CBC655B3-9483-425A-A5A1-1C3C2466BB8E}"/>
              </a:ext>
            </a:extLst>
          </p:cNvPr>
          <p:cNvSpPr/>
          <p:nvPr/>
        </p:nvSpPr>
        <p:spPr>
          <a:xfrm>
            <a:off x="996600" y="4432390"/>
            <a:ext cx="6855840" cy="302760"/>
          </a:xfrm>
          <a:prstGeom prst="roundRect">
            <a:avLst>
              <a:gd name="adj" fmla="val 16667"/>
            </a:avLst>
          </a:prstGeom>
          <a:ln>
            <a:round/>
          </a:ln>
        </p:spPr>
        <p:style>
          <a:lnRef idx="2">
            <a:schemeClr val="accent1">
              <a:shade val="50000"/>
            </a:schemeClr>
          </a:lnRef>
          <a:fillRef idx="1">
            <a:schemeClr val="accent1"/>
          </a:fillRef>
          <a:effectRef idx="0">
            <a:schemeClr val="accent1"/>
          </a:effectRef>
          <a:fontRef idx="minor"/>
        </p:style>
      </p:sp>
    </p:spTree>
    <p:extLst>
      <p:ext uri="{BB962C8B-B14F-4D97-AF65-F5344CB8AC3E}">
        <p14:creationId xmlns:p14="http://schemas.microsoft.com/office/powerpoint/2010/main" val="792381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6">
                                            <p:txEl>
                                              <p:pRg st="16" end="16"/>
                                            </p:txEl>
                                          </p:spTgt>
                                        </p:tgtEl>
                                        <p:attrNameLst>
                                          <p:attrName>style.visibility</p:attrName>
                                        </p:attrNameLst>
                                      </p:cBhvr>
                                      <p:to>
                                        <p:strVal val="visible"/>
                                      </p:to>
                                    </p:set>
                                    <p:anim calcmode="lin" valueType="num">
                                      <p:cBhvr additive="repl">
                                        <p:cTn id="7" dur="500" fill="hold"/>
                                        <p:tgtEl>
                                          <p:spTgt spid="316">
                                            <p:txEl>
                                              <p:pRg st="16" end="16"/>
                                            </p:txEl>
                                          </p:spTgt>
                                        </p:tgtEl>
                                        <p:attrNameLst>
                                          <p:attrName>ppt_x</p:attrName>
                                        </p:attrNameLst>
                                      </p:cBhvr>
                                      <p:tavLst>
                                        <p:tav tm="0">
                                          <p:val>
                                            <p:strVal val="#ppt_x"/>
                                          </p:val>
                                        </p:tav>
                                        <p:tav tm="100000">
                                          <p:val>
                                            <p:strVal val="#ppt_x"/>
                                          </p:val>
                                        </p:tav>
                                      </p:tavLst>
                                    </p:anim>
                                    <p:anim calcmode="lin" valueType="num">
                                      <p:cBhvr additive="repl">
                                        <p:cTn id="8" dur="500" fill="hold"/>
                                        <p:tgtEl>
                                          <p:spTgt spid="316">
                                            <p:txEl>
                                              <p:pRg st="16" end="16"/>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317"/>
                                        </p:tgtEl>
                                        <p:attrNameLst>
                                          <p:attrName>style.visibility</p:attrName>
                                        </p:attrNameLst>
                                      </p:cBhvr>
                                      <p:to>
                                        <p:strVal val="visible"/>
                                      </p:to>
                                    </p:set>
                                    <p:anim calcmode="lin" valueType="num">
                                      <p:cBhvr additive="repl">
                                        <p:cTn id="12" dur="500" fill="hold"/>
                                        <p:tgtEl>
                                          <p:spTgt spid="317"/>
                                        </p:tgtEl>
                                        <p:attrNameLst>
                                          <p:attrName>ppt_x</p:attrName>
                                        </p:attrNameLst>
                                      </p:cBhvr>
                                      <p:tavLst>
                                        <p:tav tm="0">
                                          <p:val>
                                            <p:strVal val="1+#ppt_w/2"/>
                                          </p:val>
                                        </p:tav>
                                        <p:tav tm="100000">
                                          <p:val>
                                            <p:strVal val="#ppt_x"/>
                                          </p:val>
                                        </p:tav>
                                      </p:tavLst>
                                    </p:anim>
                                    <p:anim calcmode="lin" valueType="num">
                                      <p:cBhvr additive="repl">
                                        <p:cTn id="13" dur="500" fill="hold"/>
                                        <p:tgtEl>
                                          <p:spTgt spid="317"/>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318"/>
                                        </p:tgtEl>
                                        <p:attrNameLst>
                                          <p:attrName>style.visibility</p:attrName>
                                        </p:attrNameLst>
                                      </p:cBhvr>
                                      <p:to>
                                        <p:strVal val="visible"/>
                                      </p:to>
                                    </p:set>
                                    <p:anim calcmode="lin" valueType="num">
                                      <p:cBhvr additive="repl">
                                        <p:cTn id="16" dur="500" fill="hold"/>
                                        <p:tgtEl>
                                          <p:spTgt spid="318"/>
                                        </p:tgtEl>
                                        <p:attrNameLst>
                                          <p:attrName>ppt_x</p:attrName>
                                        </p:attrNameLst>
                                      </p:cBhvr>
                                      <p:tavLst>
                                        <p:tav tm="0">
                                          <p:val>
                                            <p:strVal val="1+#ppt_w/2"/>
                                          </p:val>
                                        </p:tav>
                                        <p:tav tm="100000">
                                          <p:val>
                                            <p:strVal val="#ppt_x"/>
                                          </p:val>
                                        </p:tav>
                                      </p:tavLst>
                                    </p:anim>
                                    <p:anim calcmode="lin" valueType="num">
                                      <p:cBhvr additive="repl">
                                        <p:cTn id="17" dur="500" fill="hold"/>
                                        <p:tgtEl>
                                          <p:spTgt spid="3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UEFI System Table – EFI Boot Services</a:t>
            </a:r>
            <a:endParaRPr lang="en-US" dirty="0"/>
          </a:p>
        </p:txBody>
      </p:sp>
      <p:sp>
        <p:nvSpPr>
          <p:cNvPr id="6" name="CustomShape 1">
            <a:extLst>
              <a:ext uri="{FF2B5EF4-FFF2-40B4-BE49-F238E27FC236}">
                <a16:creationId xmlns:a16="http://schemas.microsoft.com/office/drawing/2014/main" id="{29344C32-DEB8-48C3-B997-7AB996779E32}"/>
              </a:ext>
            </a:extLst>
          </p:cNvPr>
          <p:cNvSpPr/>
          <p:nvPr/>
        </p:nvSpPr>
        <p:spPr>
          <a:xfrm>
            <a:off x="5495880" y="1692050"/>
            <a:ext cx="3598200" cy="358200"/>
          </a:xfrm>
          <a:prstGeom prst="rect">
            <a:avLst/>
          </a:prstGeom>
          <a:solidFill>
            <a:srgbClr val="0000FF"/>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Segoe UI"/>
                <a:ea typeface="DejaVu Sans"/>
              </a:rPr>
              <a:t>EFI Boot Services Table</a:t>
            </a:r>
            <a:endParaRPr lang="en-US" sz="1800" b="0" strike="noStrike" spc="-1">
              <a:latin typeface="Arial"/>
            </a:endParaRPr>
          </a:p>
        </p:txBody>
      </p:sp>
      <p:sp>
        <p:nvSpPr>
          <p:cNvPr id="7" name="CustomShape 2">
            <a:extLst>
              <a:ext uri="{FF2B5EF4-FFF2-40B4-BE49-F238E27FC236}">
                <a16:creationId xmlns:a16="http://schemas.microsoft.com/office/drawing/2014/main" id="{2230C26F-7503-4434-8253-D0B5AE02CB16}"/>
              </a:ext>
            </a:extLst>
          </p:cNvPr>
          <p:cNvSpPr/>
          <p:nvPr/>
        </p:nvSpPr>
        <p:spPr>
          <a:xfrm>
            <a:off x="5495880" y="2052410"/>
            <a:ext cx="3598200" cy="35820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Task Priority Level Services</a:t>
            </a:r>
            <a:endParaRPr lang="en-US" sz="1800" b="0" strike="noStrike" spc="-1">
              <a:latin typeface="Arial"/>
            </a:endParaRPr>
          </a:p>
        </p:txBody>
      </p:sp>
      <p:sp>
        <p:nvSpPr>
          <p:cNvPr id="8" name="CustomShape 3">
            <a:extLst>
              <a:ext uri="{FF2B5EF4-FFF2-40B4-BE49-F238E27FC236}">
                <a16:creationId xmlns:a16="http://schemas.microsoft.com/office/drawing/2014/main" id="{815CD2A0-C0BC-4244-95A8-2887710FCC53}"/>
              </a:ext>
            </a:extLst>
          </p:cNvPr>
          <p:cNvSpPr/>
          <p:nvPr/>
        </p:nvSpPr>
        <p:spPr>
          <a:xfrm>
            <a:off x="5495880" y="2412770"/>
            <a:ext cx="3598200" cy="35676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Memory Services</a:t>
            </a:r>
            <a:endParaRPr lang="en-US" sz="1800" b="0" strike="noStrike" spc="-1">
              <a:latin typeface="Arial"/>
            </a:endParaRPr>
          </a:p>
        </p:txBody>
      </p:sp>
      <p:sp>
        <p:nvSpPr>
          <p:cNvPr id="9" name="CustomShape 4">
            <a:extLst>
              <a:ext uri="{FF2B5EF4-FFF2-40B4-BE49-F238E27FC236}">
                <a16:creationId xmlns:a16="http://schemas.microsoft.com/office/drawing/2014/main" id="{3D24C33B-7BD1-46AC-9289-21BE24ED5096}"/>
              </a:ext>
            </a:extLst>
          </p:cNvPr>
          <p:cNvSpPr/>
          <p:nvPr/>
        </p:nvSpPr>
        <p:spPr>
          <a:xfrm>
            <a:off x="5495880" y="3132050"/>
            <a:ext cx="3598200" cy="35820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Protocol Handler Services</a:t>
            </a:r>
            <a:endParaRPr lang="en-US" sz="1800" b="0" strike="noStrike" spc="-1">
              <a:latin typeface="Arial"/>
            </a:endParaRPr>
          </a:p>
        </p:txBody>
      </p:sp>
      <p:sp>
        <p:nvSpPr>
          <p:cNvPr id="10" name="CustomShape 5">
            <a:extLst>
              <a:ext uri="{FF2B5EF4-FFF2-40B4-BE49-F238E27FC236}">
                <a16:creationId xmlns:a16="http://schemas.microsoft.com/office/drawing/2014/main" id="{A17D5EFB-2F71-40BB-82BD-5FB8DE388E57}"/>
              </a:ext>
            </a:extLst>
          </p:cNvPr>
          <p:cNvSpPr/>
          <p:nvPr/>
        </p:nvSpPr>
        <p:spPr>
          <a:xfrm>
            <a:off x="5495880" y="3492410"/>
            <a:ext cx="3598200" cy="35820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Image Services</a:t>
            </a:r>
            <a:endParaRPr lang="en-US" sz="1800" b="0" strike="noStrike" spc="-1">
              <a:latin typeface="Arial"/>
            </a:endParaRPr>
          </a:p>
        </p:txBody>
      </p:sp>
      <p:sp>
        <p:nvSpPr>
          <p:cNvPr id="11" name="CustomShape 6">
            <a:extLst>
              <a:ext uri="{FF2B5EF4-FFF2-40B4-BE49-F238E27FC236}">
                <a16:creationId xmlns:a16="http://schemas.microsoft.com/office/drawing/2014/main" id="{CB634DF4-D21A-4C72-B21F-D0CC99CE51F6}"/>
              </a:ext>
            </a:extLst>
          </p:cNvPr>
          <p:cNvSpPr/>
          <p:nvPr/>
        </p:nvSpPr>
        <p:spPr>
          <a:xfrm>
            <a:off x="5495880" y="3852770"/>
            <a:ext cx="3598200" cy="35676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Driver Support Services</a:t>
            </a:r>
            <a:endParaRPr lang="en-US" sz="1800" b="0" strike="noStrike" spc="-1">
              <a:latin typeface="Arial"/>
            </a:endParaRPr>
          </a:p>
        </p:txBody>
      </p:sp>
      <p:sp>
        <p:nvSpPr>
          <p:cNvPr id="12" name="CustomShape 7">
            <a:extLst>
              <a:ext uri="{FF2B5EF4-FFF2-40B4-BE49-F238E27FC236}">
                <a16:creationId xmlns:a16="http://schemas.microsoft.com/office/drawing/2014/main" id="{80EA265A-3794-4B65-B061-E7DA27450715}"/>
              </a:ext>
            </a:extLst>
          </p:cNvPr>
          <p:cNvSpPr/>
          <p:nvPr/>
        </p:nvSpPr>
        <p:spPr>
          <a:xfrm>
            <a:off x="5495880" y="2771690"/>
            <a:ext cx="3598200" cy="358200"/>
          </a:xfrm>
          <a:prstGeom prst="rect">
            <a:avLst/>
          </a:prstGeom>
          <a:solidFill>
            <a:srgbClr val="3366FF"/>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Event &amp; Timer Services</a:t>
            </a:r>
            <a:endParaRPr lang="en-US" sz="1800" b="0" strike="noStrike" spc="-1">
              <a:latin typeface="Arial"/>
            </a:endParaRPr>
          </a:p>
        </p:txBody>
      </p:sp>
      <p:sp>
        <p:nvSpPr>
          <p:cNvPr id="13" name="CustomShape 9">
            <a:extLst>
              <a:ext uri="{FF2B5EF4-FFF2-40B4-BE49-F238E27FC236}">
                <a16:creationId xmlns:a16="http://schemas.microsoft.com/office/drawing/2014/main" id="{F27E0A36-ED7C-44C2-A9A9-EBF3D25B2BD7}"/>
              </a:ext>
            </a:extLst>
          </p:cNvPr>
          <p:cNvSpPr/>
          <p:nvPr/>
        </p:nvSpPr>
        <p:spPr>
          <a:xfrm>
            <a:off x="838200" y="1318010"/>
            <a:ext cx="465552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262626"/>
              </a:buClr>
              <a:buFont typeface="Arial"/>
              <a:buChar char="•"/>
            </a:pPr>
            <a:r>
              <a:rPr lang="en-US" sz="2800" b="0" strike="noStrike" spc="-1">
                <a:solidFill>
                  <a:srgbClr val="262626"/>
                </a:solidFill>
                <a:latin typeface="Segoe UI"/>
                <a:ea typeface="新細明體"/>
              </a:rPr>
              <a:t>Event, Timer, Task Priority Services</a:t>
            </a:r>
            <a:endParaRPr lang="en-US" sz="2800" b="0" strike="noStrike" spc="-1">
              <a:latin typeface="Arial"/>
            </a:endParaRPr>
          </a:p>
          <a:p>
            <a:pPr marL="228600" indent="-226440">
              <a:lnSpc>
                <a:spcPct val="90000"/>
              </a:lnSpc>
              <a:spcBef>
                <a:spcPts val="1001"/>
              </a:spcBef>
              <a:buClr>
                <a:srgbClr val="262626"/>
              </a:buClr>
              <a:buFont typeface="Arial"/>
              <a:buChar char="•"/>
            </a:pPr>
            <a:r>
              <a:rPr lang="en-US" sz="2800" b="0" strike="noStrike" spc="-1">
                <a:solidFill>
                  <a:srgbClr val="262626"/>
                </a:solidFill>
                <a:latin typeface="Segoe UI"/>
                <a:ea typeface="新細明體"/>
              </a:rPr>
              <a:t>Memory Allocation Services</a:t>
            </a:r>
            <a:endParaRPr lang="en-US" sz="2800" b="0" strike="noStrike" spc="-1">
              <a:latin typeface="Arial"/>
            </a:endParaRPr>
          </a:p>
          <a:p>
            <a:pPr marL="228600" indent="-226440">
              <a:lnSpc>
                <a:spcPct val="90000"/>
              </a:lnSpc>
              <a:spcBef>
                <a:spcPts val="1001"/>
              </a:spcBef>
              <a:buClr>
                <a:srgbClr val="262626"/>
              </a:buClr>
              <a:buFont typeface="Arial"/>
              <a:buChar char="•"/>
            </a:pPr>
            <a:r>
              <a:rPr lang="en-US" sz="2800" b="0" strike="noStrike" spc="-1">
                <a:solidFill>
                  <a:srgbClr val="262626"/>
                </a:solidFill>
                <a:latin typeface="Segoe UI"/>
                <a:ea typeface="新細明體"/>
              </a:rPr>
              <a:t>Protocol Handler Services</a:t>
            </a:r>
            <a:endParaRPr lang="en-US" sz="2800" b="0" strike="noStrike" spc="-1">
              <a:latin typeface="Arial"/>
            </a:endParaRPr>
          </a:p>
          <a:p>
            <a:pPr marL="228600" indent="-226440">
              <a:lnSpc>
                <a:spcPct val="90000"/>
              </a:lnSpc>
              <a:spcBef>
                <a:spcPts val="1001"/>
              </a:spcBef>
              <a:buClr>
                <a:srgbClr val="262626"/>
              </a:buClr>
              <a:buFont typeface="Arial"/>
              <a:buChar char="•"/>
            </a:pPr>
            <a:r>
              <a:rPr lang="en-US" sz="2800" b="0" strike="noStrike" spc="-1">
                <a:solidFill>
                  <a:srgbClr val="262626"/>
                </a:solidFill>
                <a:latin typeface="Segoe UI"/>
                <a:ea typeface="新細明體"/>
              </a:rPr>
              <a:t>Image Services</a:t>
            </a:r>
            <a:endParaRPr lang="en-US" sz="2800" b="0" strike="noStrike" spc="-1">
              <a:latin typeface="Arial"/>
            </a:endParaRPr>
          </a:p>
          <a:p>
            <a:pPr marL="228600" indent="-226440">
              <a:lnSpc>
                <a:spcPct val="90000"/>
              </a:lnSpc>
              <a:spcBef>
                <a:spcPts val="1001"/>
              </a:spcBef>
              <a:buClr>
                <a:srgbClr val="262626"/>
              </a:buClr>
              <a:buFont typeface="Arial"/>
              <a:buChar char="•"/>
            </a:pPr>
            <a:r>
              <a:rPr lang="en-US" sz="2800" b="0" strike="noStrike" spc="-1">
                <a:solidFill>
                  <a:srgbClr val="262626"/>
                </a:solidFill>
                <a:latin typeface="Segoe UI"/>
                <a:ea typeface="新細明體"/>
              </a:rPr>
              <a:t>Miscellaneous Services</a:t>
            </a:r>
            <a:endParaRPr lang="en-US" sz="2800" b="0" strike="noStrike" spc="-1">
              <a:latin typeface="Arial"/>
            </a:endParaRPr>
          </a:p>
        </p:txBody>
      </p:sp>
      <p:sp>
        <p:nvSpPr>
          <p:cNvPr id="14" name="CustomShape 10">
            <a:extLst>
              <a:ext uri="{FF2B5EF4-FFF2-40B4-BE49-F238E27FC236}">
                <a16:creationId xmlns:a16="http://schemas.microsoft.com/office/drawing/2014/main" id="{B7E6F1CF-D658-425D-B504-DED96CD5C999}"/>
              </a:ext>
            </a:extLst>
          </p:cNvPr>
          <p:cNvSpPr/>
          <p:nvPr/>
        </p:nvSpPr>
        <p:spPr>
          <a:xfrm>
            <a:off x="6395880" y="2232050"/>
            <a:ext cx="1798200" cy="1798200"/>
          </a:xfrm>
          <a:prstGeom prst="noSmoking">
            <a:avLst>
              <a:gd name="adj" fmla="val 18750"/>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1" strike="noStrike" spc="-1">
                <a:solidFill>
                  <a:srgbClr val="3F3F3F"/>
                </a:solidFill>
                <a:latin typeface="Segoe UI"/>
                <a:ea typeface="DejaVu Sans"/>
              </a:rPr>
              <a:t>Not Valid</a:t>
            </a:r>
            <a:endParaRPr lang="en-US" sz="1800" b="0" strike="noStrike" spc="-1">
              <a:latin typeface="Arial"/>
            </a:endParaRPr>
          </a:p>
        </p:txBody>
      </p:sp>
      <p:sp>
        <p:nvSpPr>
          <p:cNvPr id="15" name="CustomShape 11">
            <a:extLst>
              <a:ext uri="{FF2B5EF4-FFF2-40B4-BE49-F238E27FC236}">
                <a16:creationId xmlns:a16="http://schemas.microsoft.com/office/drawing/2014/main" id="{15F36981-00AA-421D-B56F-663C1AE456D9}"/>
              </a:ext>
            </a:extLst>
          </p:cNvPr>
          <p:cNvSpPr/>
          <p:nvPr/>
        </p:nvSpPr>
        <p:spPr>
          <a:xfrm>
            <a:off x="6031200" y="5049770"/>
            <a:ext cx="2791440" cy="45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2400" b="1" strike="noStrike" spc="-1">
                <a:solidFill>
                  <a:srgbClr val="FF0000"/>
                </a:solidFill>
                <a:latin typeface="Segoe UI"/>
                <a:ea typeface="DejaVu Sans"/>
              </a:rPr>
              <a:t>ExitBootServices()</a:t>
            </a:r>
            <a:endParaRPr lang="en-US" sz="2400" b="0" strike="noStrike" spc="-1">
              <a:latin typeface="Arial"/>
            </a:endParaRPr>
          </a:p>
        </p:txBody>
      </p:sp>
    </p:spTree>
    <p:extLst>
      <p:ext uri="{BB962C8B-B14F-4D97-AF65-F5344CB8AC3E}">
        <p14:creationId xmlns:p14="http://schemas.microsoft.com/office/powerpoint/2010/main" val="198557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repl">
                                        <p:cTn id="7" dur="500" fill="hold"/>
                                        <p:tgtEl>
                                          <p:spTgt spid="15"/>
                                        </p:tgtEl>
                                        <p:attrNameLst>
                                          <p:attrName>ppt_x</p:attrName>
                                        </p:attrNameLst>
                                      </p:cBhvr>
                                      <p:tavLst>
                                        <p:tav tm="0">
                                          <p:val>
                                            <p:strVal val="#ppt_x"/>
                                          </p:val>
                                        </p:tav>
                                        <p:tav tm="100000">
                                          <p:val>
                                            <p:strVal val="#ppt_x"/>
                                          </p:val>
                                        </p:tav>
                                      </p:tavLst>
                                    </p:anim>
                                    <p:anim calcmode="lin" valueType="num">
                                      <p:cBhvr additive="repl">
                                        <p:cTn id="8" dur="500" fill="hold"/>
                                        <p:tgtEl>
                                          <p:spTgt spid="1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repl">
                                        <p:cTn id="12" dur="500" fill="hold"/>
                                        <p:tgtEl>
                                          <p:spTgt spid="14"/>
                                        </p:tgtEl>
                                        <p:attrNameLst>
                                          <p:attrName>ppt_x</p:attrName>
                                        </p:attrNameLst>
                                      </p:cBhvr>
                                      <p:tavLst>
                                        <p:tav tm="0">
                                          <p:val>
                                            <p:strVal val="#ppt_x"/>
                                          </p:val>
                                        </p:tav>
                                        <p:tav tm="100000">
                                          <p:val>
                                            <p:strVal val="#ppt_x"/>
                                          </p:val>
                                        </p:tav>
                                      </p:tavLst>
                                    </p:anim>
                                    <p:anim calcmode="lin" valueType="num">
                                      <p:cBhvr additive="repl">
                                        <p:cTn id="13" dur="500" fill="hold"/>
                                        <p:tgtEl>
                                          <p:spTgt spid="1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0" presetClass="emph" fill="hold" nodeType="afterEffect">
                                  <p:stCondLst>
                                    <p:cond delay="0"/>
                                  </p:stCondLst>
                                  <p:childTnLst>
                                    <p:animClr clrSpc="rgb" dir="cw">
                                      <p:cBhvr>
                                        <p:cTn id="16" dur="500" fill="hold"/>
                                        <p:tgtEl>
                                          <p:spTgt spid="6"/>
                                        </p:tgtEl>
                                        <p:attrNameLst>
                                          <p:attrName>style.color</p:attrName>
                                        </p:attrNameLst>
                                      </p:cBhvr>
                                    </p:animClr>
                                    <p:animClr clrSpc="rgb" dir="cw">
                                      <p:cBhvr>
                                        <p:cTn id="17" dur="500" fill="hold"/>
                                        <p:tgtEl>
                                          <p:spTgt spid="6"/>
                                        </p:tgtEl>
                                        <p:attrNameLst>
                                          <p:attrName>fillcolor</p:attrName>
                                        </p:attrNameLst>
                                      </p:cBhvr>
                                    </p:animClr>
                                    <p:animClr clrSpc="rgb" dir="cw">
                                      <p:cBhvr>
                                        <p:cTn id="18" dur="500" fill="hold"/>
                                        <p:tgtEl>
                                          <p:spTgt spid="6"/>
                                        </p:tgtEl>
                                      </p:cBhvr>
                                    </p:animClr>
                                    <p:set>
                                      <p:cBhvr>
                                        <p:cTn id="19" dur="500" fill="hold"/>
                                        <p:tgtEl>
                                          <p:spTgt spid="6"/>
                                        </p:tgtEl>
                                        <p:attrNameLst>
                                          <p:attrName>fill.type</p:attrName>
                                        </p:attrNameLst>
                                      </p:cBhvr>
                                      <p:to>
                                        <p:strVal val="solid"/>
                                      </p:to>
                                    </p:set>
                                  </p:childTnLst>
                                </p:cTn>
                              </p:par>
                              <p:par>
                                <p:cTn id="20" presetID="30" presetClass="emph" fill="hold" nodeType="withEffect">
                                  <p:stCondLst>
                                    <p:cond delay="0"/>
                                  </p:stCondLst>
                                  <p:childTnLst>
                                    <p:animClr clrSpc="rgb" dir="cw">
                                      <p:cBhvr>
                                        <p:cTn id="21" dur="500" fill="hold"/>
                                        <p:tgtEl>
                                          <p:spTgt spid="7"/>
                                        </p:tgtEl>
                                        <p:attrNameLst>
                                          <p:attrName>style.color</p:attrName>
                                        </p:attrNameLst>
                                      </p:cBhvr>
                                    </p:animClr>
                                    <p:animClr clrSpc="rgb" dir="cw">
                                      <p:cBhvr>
                                        <p:cTn id="22" dur="500" fill="hold"/>
                                        <p:tgtEl>
                                          <p:spTgt spid="7"/>
                                        </p:tgtEl>
                                        <p:attrNameLst>
                                          <p:attrName>fillcolor</p:attrName>
                                        </p:attrNameLst>
                                      </p:cBhvr>
                                    </p:animClr>
                                    <p:animClr clrSpc="rgb" dir="cw">
                                      <p:cBhvr>
                                        <p:cTn id="23" dur="500" fill="hold"/>
                                        <p:tgtEl>
                                          <p:spTgt spid="7"/>
                                        </p:tgtEl>
                                      </p:cBhvr>
                                    </p:animClr>
                                    <p:set>
                                      <p:cBhvr>
                                        <p:cTn id="24" dur="500" fill="hold"/>
                                        <p:tgtEl>
                                          <p:spTgt spid="7"/>
                                        </p:tgtEl>
                                        <p:attrNameLst>
                                          <p:attrName>fill.type</p:attrName>
                                        </p:attrNameLst>
                                      </p:cBhvr>
                                      <p:to>
                                        <p:strVal val="solid"/>
                                      </p:to>
                                    </p:set>
                                  </p:childTnLst>
                                </p:cTn>
                              </p:par>
                              <p:par>
                                <p:cTn id="25" presetID="30" presetClass="emph" fill="hold" nodeType="withEffect">
                                  <p:stCondLst>
                                    <p:cond delay="0"/>
                                  </p:stCondLst>
                                  <p:childTnLst>
                                    <p:animClr clrSpc="rgb" dir="cw">
                                      <p:cBhvr>
                                        <p:cTn id="26" dur="500" fill="hold"/>
                                        <p:tgtEl>
                                          <p:spTgt spid="8"/>
                                        </p:tgtEl>
                                        <p:attrNameLst>
                                          <p:attrName>style.color</p:attrName>
                                        </p:attrNameLst>
                                      </p:cBhvr>
                                    </p:animClr>
                                    <p:animClr clrSpc="rgb" dir="cw">
                                      <p:cBhvr>
                                        <p:cTn id="27" dur="500" fill="hold"/>
                                        <p:tgtEl>
                                          <p:spTgt spid="8"/>
                                        </p:tgtEl>
                                        <p:attrNameLst>
                                          <p:attrName>fillcolor</p:attrName>
                                        </p:attrNameLst>
                                      </p:cBhvr>
                                    </p:animClr>
                                    <p:animClr clrSpc="rgb" dir="cw">
                                      <p:cBhvr>
                                        <p:cTn id="28" dur="500" fill="hold"/>
                                        <p:tgtEl>
                                          <p:spTgt spid="8"/>
                                        </p:tgtEl>
                                      </p:cBhvr>
                                    </p:animClr>
                                    <p:set>
                                      <p:cBhvr>
                                        <p:cTn id="29" dur="500" fill="hold"/>
                                        <p:tgtEl>
                                          <p:spTgt spid="8"/>
                                        </p:tgtEl>
                                        <p:attrNameLst>
                                          <p:attrName>fill.type</p:attrName>
                                        </p:attrNameLst>
                                      </p:cBhvr>
                                      <p:to>
                                        <p:strVal val="solid"/>
                                      </p:to>
                                    </p:set>
                                  </p:childTnLst>
                                </p:cTn>
                              </p:par>
                              <p:par>
                                <p:cTn id="30" presetID="30" presetClass="emph" fill="hold" nodeType="withEffect">
                                  <p:stCondLst>
                                    <p:cond delay="0"/>
                                  </p:stCondLst>
                                  <p:childTnLst>
                                    <p:animClr clrSpc="rgb" dir="cw">
                                      <p:cBhvr>
                                        <p:cTn id="31" dur="500" fill="hold"/>
                                        <p:tgtEl>
                                          <p:spTgt spid="9"/>
                                        </p:tgtEl>
                                        <p:attrNameLst>
                                          <p:attrName>style.color</p:attrName>
                                        </p:attrNameLst>
                                      </p:cBhvr>
                                    </p:animClr>
                                    <p:animClr clrSpc="rgb" dir="cw">
                                      <p:cBhvr>
                                        <p:cTn id="32" dur="500" fill="hold"/>
                                        <p:tgtEl>
                                          <p:spTgt spid="9"/>
                                        </p:tgtEl>
                                        <p:attrNameLst>
                                          <p:attrName>fillcolor</p:attrName>
                                        </p:attrNameLst>
                                      </p:cBhvr>
                                    </p:animClr>
                                    <p:animClr clrSpc="rgb" dir="cw">
                                      <p:cBhvr>
                                        <p:cTn id="33" dur="500" fill="hold"/>
                                        <p:tgtEl>
                                          <p:spTgt spid="9"/>
                                        </p:tgtEl>
                                      </p:cBhvr>
                                    </p:animClr>
                                    <p:set>
                                      <p:cBhvr>
                                        <p:cTn id="34" dur="500" fill="hold"/>
                                        <p:tgtEl>
                                          <p:spTgt spid="9"/>
                                        </p:tgtEl>
                                        <p:attrNameLst>
                                          <p:attrName>fill.type</p:attrName>
                                        </p:attrNameLst>
                                      </p:cBhvr>
                                      <p:to>
                                        <p:strVal val="solid"/>
                                      </p:to>
                                    </p:set>
                                  </p:childTnLst>
                                </p:cTn>
                              </p:par>
                              <p:par>
                                <p:cTn id="35" presetID="30" presetClass="emph" fill="hold" nodeType="withEffect">
                                  <p:stCondLst>
                                    <p:cond delay="0"/>
                                  </p:stCondLst>
                                  <p:childTnLst>
                                    <p:animClr clrSpc="rgb" dir="cw">
                                      <p:cBhvr>
                                        <p:cTn id="36" dur="500" fill="hold"/>
                                        <p:tgtEl>
                                          <p:spTgt spid="10"/>
                                        </p:tgtEl>
                                        <p:attrNameLst>
                                          <p:attrName>style.color</p:attrName>
                                        </p:attrNameLst>
                                      </p:cBhvr>
                                    </p:animClr>
                                    <p:animClr clrSpc="rgb" dir="cw">
                                      <p:cBhvr>
                                        <p:cTn id="37" dur="500" fill="hold"/>
                                        <p:tgtEl>
                                          <p:spTgt spid="10"/>
                                        </p:tgtEl>
                                        <p:attrNameLst>
                                          <p:attrName>fillcolor</p:attrName>
                                        </p:attrNameLst>
                                      </p:cBhvr>
                                    </p:animClr>
                                    <p:animClr clrSpc="rgb" dir="cw">
                                      <p:cBhvr>
                                        <p:cTn id="38" dur="500" fill="hold"/>
                                        <p:tgtEl>
                                          <p:spTgt spid="10"/>
                                        </p:tgtEl>
                                      </p:cBhvr>
                                    </p:animClr>
                                    <p:set>
                                      <p:cBhvr>
                                        <p:cTn id="39" dur="500" fill="hold"/>
                                        <p:tgtEl>
                                          <p:spTgt spid="10"/>
                                        </p:tgtEl>
                                        <p:attrNameLst>
                                          <p:attrName>fill.type</p:attrName>
                                        </p:attrNameLst>
                                      </p:cBhvr>
                                      <p:to>
                                        <p:strVal val="solid"/>
                                      </p:to>
                                    </p:set>
                                  </p:childTnLst>
                                </p:cTn>
                              </p:par>
                              <p:par>
                                <p:cTn id="40" presetID="30" presetClass="emph" fill="hold" nodeType="withEffect">
                                  <p:stCondLst>
                                    <p:cond delay="0"/>
                                  </p:stCondLst>
                                  <p:childTnLst>
                                    <p:animClr clrSpc="rgb" dir="cw">
                                      <p:cBhvr>
                                        <p:cTn id="41" dur="500" fill="hold"/>
                                        <p:tgtEl>
                                          <p:spTgt spid="11"/>
                                        </p:tgtEl>
                                        <p:attrNameLst>
                                          <p:attrName>style.color</p:attrName>
                                        </p:attrNameLst>
                                      </p:cBhvr>
                                    </p:animClr>
                                    <p:animClr clrSpc="rgb" dir="cw">
                                      <p:cBhvr>
                                        <p:cTn id="42" dur="500" fill="hold"/>
                                        <p:tgtEl>
                                          <p:spTgt spid="11"/>
                                        </p:tgtEl>
                                        <p:attrNameLst>
                                          <p:attrName>fillcolor</p:attrName>
                                        </p:attrNameLst>
                                      </p:cBhvr>
                                    </p:animClr>
                                    <p:animClr clrSpc="rgb" dir="cw">
                                      <p:cBhvr>
                                        <p:cTn id="43" dur="500" fill="hold"/>
                                        <p:tgtEl>
                                          <p:spTgt spid="11"/>
                                        </p:tgtEl>
                                      </p:cBhvr>
                                    </p:animClr>
                                    <p:set>
                                      <p:cBhvr>
                                        <p:cTn id="44" dur="500" fill="hold"/>
                                        <p:tgtEl>
                                          <p:spTgt spid="11"/>
                                        </p:tgtEl>
                                        <p:attrNameLst>
                                          <p:attrName>fill.type</p:attrName>
                                        </p:attrNameLst>
                                      </p:cBhvr>
                                      <p:to>
                                        <p:strVal val="solid"/>
                                      </p:to>
                                    </p:set>
                                  </p:childTnLst>
                                </p:cTn>
                              </p:par>
                              <p:par>
                                <p:cTn id="45" presetID="30" presetClass="emph" fill="hold" nodeType="withEffect">
                                  <p:stCondLst>
                                    <p:cond delay="0"/>
                                  </p:stCondLst>
                                  <p:childTnLst>
                                    <p:animClr clrSpc="rgb" dir="cw">
                                      <p:cBhvr>
                                        <p:cTn id="46" dur="500" fill="hold"/>
                                        <p:tgtEl>
                                          <p:spTgt spid="12"/>
                                        </p:tgtEl>
                                        <p:attrNameLst>
                                          <p:attrName>style.color</p:attrName>
                                        </p:attrNameLst>
                                      </p:cBhvr>
                                    </p:animClr>
                                    <p:animClr clrSpc="rgb" dir="cw">
                                      <p:cBhvr>
                                        <p:cTn id="47" dur="500" fill="hold"/>
                                        <p:tgtEl>
                                          <p:spTgt spid="12"/>
                                        </p:tgtEl>
                                        <p:attrNameLst>
                                          <p:attrName>fillcolor</p:attrName>
                                        </p:attrNameLst>
                                      </p:cBhvr>
                                    </p:animClr>
                                    <p:animClr clrSpc="rgb" dir="cw">
                                      <p:cBhvr>
                                        <p:cTn id="48" dur="500" fill="hold"/>
                                        <p:tgtEl>
                                          <p:spTgt spid="12"/>
                                        </p:tgtEl>
                                      </p:cBhvr>
                                    </p:animClr>
                                    <p:set>
                                      <p:cBhvr>
                                        <p:cTn id="49" dur="50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UEFI System Table – EFI Runtime Services</a:t>
            </a:r>
            <a:endParaRPr lang="en-US" dirty="0"/>
          </a:p>
        </p:txBody>
      </p:sp>
      <p:sp>
        <p:nvSpPr>
          <p:cNvPr id="16" name="CustomShape 2">
            <a:extLst>
              <a:ext uri="{FF2B5EF4-FFF2-40B4-BE49-F238E27FC236}">
                <a16:creationId xmlns:a16="http://schemas.microsoft.com/office/drawing/2014/main" id="{8BDAEC30-7BCD-4451-82A4-94DFD466BB44}"/>
              </a:ext>
            </a:extLst>
          </p:cNvPr>
          <p:cNvSpPr/>
          <p:nvPr/>
        </p:nvSpPr>
        <p:spPr>
          <a:xfrm>
            <a:off x="838200" y="1316230"/>
            <a:ext cx="46558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262626"/>
              </a:buClr>
              <a:buFont typeface="Arial"/>
              <a:buChar char="•"/>
            </a:pPr>
            <a:r>
              <a:rPr lang="en-US" sz="2800" b="0" strike="noStrike" spc="-1" dirty="0">
                <a:solidFill>
                  <a:srgbClr val="262626"/>
                </a:solidFill>
                <a:latin typeface="Segoe UI"/>
                <a:ea typeface="新細明體"/>
              </a:rPr>
              <a:t>Time Services</a:t>
            </a:r>
            <a:endParaRPr lang="en-US" sz="2800" b="0" strike="noStrike" spc="-1" dirty="0">
              <a:latin typeface="Arial"/>
            </a:endParaRPr>
          </a:p>
          <a:p>
            <a:pPr marL="228600" indent="-226440">
              <a:lnSpc>
                <a:spcPct val="90000"/>
              </a:lnSpc>
              <a:spcBef>
                <a:spcPts val="1001"/>
              </a:spcBef>
              <a:buClr>
                <a:srgbClr val="262626"/>
              </a:buClr>
              <a:buFont typeface="Arial"/>
              <a:buChar char="•"/>
            </a:pPr>
            <a:r>
              <a:rPr lang="en-US" sz="2800" b="0" strike="noStrike" spc="-1" dirty="0">
                <a:solidFill>
                  <a:srgbClr val="262626"/>
                </a:solidFill>
                <a:latin typeface="Segoe UI"/>
                <a:ea typeface="新細明體"/>
              </a:rPr>
              <a:t>Virtual Memory Services</a:t>
            </a:r>
            <a:endParaRPr lang="en-US" sz="2800" b="0" strike="noStrike" spc="-1" dirty="0">
              <a:latin typeface="Arial"/>
            </a:endParaRPr>
          </a:p>
          <a:p>
            <a:pPr marL="228600" indent="-226440">
              <a:lnSpc>
                <a:spcPct val="90000"/>
              </a:lnSpc>
              <a:spcBef>
                <a:spcPts val="1001"/>
              </a:spcBef>
              <a:buClr>
                <a:srgbClr val="262626"/>
              </a:buClr>
              <a:buFont typeface="Arial"/>
              <a:buChar char="•"/>
            </a:pPr>
            <a:r>
              <a:rPr lang="en-US" sz="2800" b="0" strike="noStrike" spc="-1" dirty="0">
                <a:solidFill>
                  <a:srgbClr val="262626"/>
                </a:solidFill>
                <a:latin typeface="Segoe UI"/>
                <a:ea typeface="新細明體"/>
              </a:rPr>
              <a:t>Variable Services</a:t>
            </a:r>
            <a:endParaRPr lang="en-US" sz="2800" b="0" strike="noStrike" spc="-1" dirty="0">
              <a:latin typeface="Arial"/>
            </a:endParaRPr>
          </a:p>
          <a:p>
            <a:pPr marL="228600" indent="-226440">
              <a:lnSpc>
                <a:spcPct val="90000"/>
              </a:lnSpc>
              <a:spcBef>
                <a:spcPts val="1001"/>
              </a:spcBef>
              <a:buClr>
                <a:srgbClr val="262626"/>
              </a:buClr>
              <a:buFont typeface="Arial"/>
              <a:buChar char="•"/>
            </a:pPr>
            <a:r>
              <a:rPr lang="en-US" sz="2800" b="0" strike="noStrike" spc="-1" dirty="0">
                <a:solidFill>
                  <a:srgbClr val="262626"/>
                </a:solidFill>
                <a:latin typeface="Segoe UI"/>
                <a:ea typeface="新細明體"/>
              </a:rPr>
              <a:t>Miscellaneous Services</a:t>
            </a:r>
            <a:endParaRPr lang="en-US" sz="2800" b="0" strike="noStrike" spc="-1" dirty="0">
              <a:latin typeface="Arial"/>
            </a:endParaRPr>
          </a:p>
          <a:p>
            <a:pPr marL="228600" indent="-226440">
              <a:lnSpc>
                <a:spcPct val="90000"/>
              </a:lnSpc>
              <a:spcBef>
                <a:spcPts val="1001"/>
              </a:spcBef>
              <a:buClr>
                <a:srgbClr val="262626"/>
              </a:buClr>
              <a:buFont typeface="Arial"/>
              <a:buChar char="•"/>
            </a:pPr>
            <a:r>
              <a:rPr lang="en-US" sz="2800" b="0" strike="noStrike" spc="-1" dirty="0">
                <a:solidFill>
                  <a:srgbClr val="262626"/>
                </a:solidFill>
                <a:latin typeface="Segoe UI"/>
                <a:ea typeface="新細明體"/>
              </a:rPr>
              <a:t>Capsule Services</a:t>
            </a:r>
            <a:endParaRPr lang="en-US" sz="2800" b="0" strike="noStrike" spc="-1" dirty="0">
              <a:latin typeface="Arial"/>
            </a:endParaRPr>
          </a:p>
        </p:txBody>
      </p:sp>
      <p:sp>
        <p:nvSpPr>
          <p:cNvPr id="17" name="CustomShape 3">
            <a:extLst>
              <a:ext uri="{FF2B5EF4-FFF2-40B4-BE49-F238E27FC236}">
                <a16:creationId xmlns:a16="http://schemas.microsoft.com/office/drawing/2014/main" id="{E3907B21-6370-4588-BB6A-48549DCB4FC2}"/>
              </a:ext>
            </a:extLst>
          </p:cNvPr>
          <p:cNvSpPr/>
          <p:nvPr/>
        </p:nvSpPr>
        <p:spPr>
          <a:xfrm>
            <a:off x="5495880" y="1426750"/>
            <a:ext cx="3598200" cy="358200"/>
          </a:xfrm>
          <a:prstGeom prst="rect">
            <a:avLst/>
          </a:prstGeom>
          <a:solidFill>
            <a:srgbClr val="800080"/>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Segoe UI"/>
                <a:ea typeface="DejaVu Sans"/>
              </a:rPr>
              <a:t>EFI Runtime Services Table</a:t>
            </a:r>
            <a:endParaRPr lang="en-US" sz="1800" b="0" strike="noStrike" spc="-1">
              <a:latin typeface="Arial"/>
            </a:endParaRPr>
          </a:p>
        </p:txBody>
      </p:sp>
      <p:sp>
        <p:nvSpPr>
          <p:cNvPr id="18" name="CustomShape 4">
            <a:extLst>
              <a:ext uri="{FF2B5EF4-FFF2-40B4-BE49-F238E27FC236}">
                <a16:creationId xmlns:a16="http://schemas.microsoft.com/office/drawing/2014/main" id="{2BB1CB07-3C93-4C06-A0E9-66A1C481AF1F}"/>
              </a:ext>
            </a:extLst>
          </p:cNvPr>
          <p:cNvSpPr/>
          <p:nvPr/>
        </p:nvSpPr>
        <p:spPr>
          <a:xfrm>
            <a:off x="5495880" y="1819150"/>
            <a:ext cx="3598200" cy="35820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Segoe UI"/>
                <a:ea typeface="DejaVu Sans"/>
              </a:rPr>
              <a:t>Real-Time Clock Services</a:t>
            </a:r>
            <a:endParaRPr lang="en-US" sz="1800" b="0" strike="noStrike" spc="-1">
              <a:latin typeface="Arial"/>
            </a:endParaRPr>
          </a:p>
        </p:txBody>
      </p:sp>
      <p:sp>
        <p:nvSpPr>
          <p:cNvPr id="19" name="CustomShape 5">
            <a:extLst>
              <a:ext uri="{FF2B5EF4-FFF2-40B4-BE49-F238E27FC236}">
                <a16:creationId xmlns:a16="http://schemas.microsoft.com/office/drawing/2014/main" id="{D4971994-F278-49C3-9AFB-5C9923C86AB9}"/>
              </a:ext>
            </a:extLst>
          </p:cNvPr>
          <p:cNvSpPr/>
          <p:nvPr/>
        </p:nvSpPr>
        <p:spPr>
          <a:xfrm>
            <a:off x="5495880" y="2179510"/>
            <a:ext cx="3598200" cy="35676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Virtual Memory Services</a:t>
            </a:r>
            <a:endParaRPr lang="en-US" sz="1800" b="0" strike="noStrike" spc="-1">
              <a:latin typeface="Arial"/>
            </a:endParaRPr>
          </a:p>
        </p:txBody>
      </p:sp>
      <p:sp>
        <p:nvSpPr>
          <p:cNvPr id="20" name="CustomShape 6">
            <a:extLst>
              <a:ext uri="{FF2B5EF4-FFF2-40B4-BE49-F238E27FC236}">
                <a16:creationId xmlns:a16="http://schemas.microsoft.com/office/drawing/2014/main" id="{F89DFC69-6801-444B-AB22-A31745D9895C}"/>
              </a:ext>
            </a:extLst>
          </p:cNvPr>
          <p:cNvSpPr/>
          <p:nvPr/>
        </p:nvSpPr>
        <p:spPr>
          <a:xfrm>
            <a:off x="5495880" y="2538070"/>
            <a:ext cx="3598200" cy="35820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Segoe UI"/>
                <a:ea typeface="DejaVu Sans"/>
              </a:rPr>
              <a:t> Variable Services</a:t>
            </a:r>
            <a:endParaRPr lang="en-US" sz="1800" b="0" strike="noStrike" spc="-1">
              <a:latin typeface="Arial"/>
            </a:endParaRPr>
          </a:p>
        </p:txBody>
      </p:sp>
      <p:sp>
        <p:nvSpPr>
          <p:cNvPr id="21" name="CustomShape 7">
            <a:extLst>
              <a:ext uri="{FF2B5EF4-FFF2-40B4-BE49-F238E27FC236}">
                <a16:creationId xmlns:a16="http://schemas.microsoft.com/office/drawing/2014/main" id="{4C04198F-9911-4F40-A46C-2ED782A4E765}"/>
              </a:ext>
            </a:extLst>
          </p:cNvPr>
          <p:cNvSpPr/>
          <p:nvPr/>
        </p:nvSpPr>
        <p:spPr>
          <a:xfrm>
            <a:off x="5495880" y="2898430"/>
            <a:ext cx="3598200" cy="35820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Reset Services</a:t>
            </a:r>
            <a:endParaRPr lang="en-US" sz="1800" b="0" strike="noStrike" spc="-1">
              <a:latin typeface="Arial"/>
            </a:endParaRPr>
          </a:p>
        </p:txBody>
      </p:sp>
      <p:sp>
        <p:nvSpPr>
          <p:cNvPr id="22" name="CustomShape 8">
            <a:extLst>
              <a:ext uri="{FF2B5EF4-FFF2-40B4-BE49-F238E27FC236}">
                <a16:creationId xmlns:a16="http://schemas.microsoft.com/office/drawing/2014/main" id="{4BA494C0-7E1F-42FC-A722-791A3D078BBC}"/>
              </a:ext>
            </a:extLst>
          </p:cNvPr>
          <p:cNvSpPr/>
          <p:nvPr/>
        </p:nvSpPr>
        <p:spPr>
          <a:xfrm>
            <a:off x="5495880" y="3258790"/>
            <a:ext cx="3598200" cy="358200"/>
          </a:xfrm>
          <a:prstGeom prst="rect">
            <a:avLst/>
          </a:prstGeom>
          <a:solidFill>
            <a:srgbClr val="993366"/>
          </a:solidFill>
          <a:ln w="1116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1" strike="noStrike" spc="-1">
                <a:solidFill>
                  <a:srgbClr val="FFFFFF"/>
                </a:solidFill>
                <a:latin typeface="Arial"/>
                <a:ea typeface="DejaVu Sans"/>
              </a:rPr>
              <a:t>Capsule Services</a:t>
            </a:r>
            <a:endParaRPr lang="en-US" sz="1800" b="0" strike="noStrike" spc="-1">
              <a:latin typeface="Arial"/>
            </a:endParaRPr>
          </a:p>
        </p:txBody>
      </p:sp>
      <p:sp>
        <p:nvSpPr>
          <p:cNvPr id="23" name="CustomShape 9">
            <a:extLst>
              <a:ext uri="{FF2B5EF4-FFF2-40B4-BE49-F238E27FC236}">
                <a16:creationId xmlns:a16="http://schemas.microsoft.com/office/drawing/2014/main" id="{6D2A941A-E0F5-4E77-B9B2-3B76B3CFFB22}"/>
              </a:ext>
            </a:extLst>
          </p:cNvPr>
          <p:cNvSpPr/>
          <p:nvPr/>
        </p:nvSpPr>
        <p:spPr>
          <a:xfrm>
            <a:off x="5569680" y="5047990"/>
            <a:ext cx="3623400" cy="45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2400" b="1" strike="noStrike" spc="-1">
                <a:solidFill>
                  <a:srgbClr val="FF0000"/>
                </a:solidFill>
                <a:latin typeface="Segoe UI"/>
                <a:ea typeface="DejaVu Sans"/>
              </a:rPr>
              <a:t>SetVirtualAddressMap()</a:t>
            </a:r>
            <a:endParaRPr lang="en-US" sz="2400" b="0" strike="noStrike" spc="-1">
              <a:latin typeface="Arial"/>
            </a:endParaRPr>
          </a:p>
        </p:txBody>
      </p:sp>
    </p:spTree>
    <p:extLst>
      <p:ext uri="{BB962C8B-B14F-4D97-AF65-F5344CB8AC3E}">
        <p14:creationId xmlns:p14="http://schemas.microsoft.com/office/powerpoint/2010/main" val="386930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repl">
                                        <p:cTn id="7" dur="500" fill="hold"/>
                                        <p:tgtEl>
                                          <p:spTgt spid="23"/>
                                        </p:tgtEl>
                                        <p:attrNameLst>
                                          <p:attrName>ppt_x</p:attrName>
                                        </p:attrNameLst>
                                      </p:cBhvr>
                                      <p:tavLst>
                                        <p:tav tm="0">
                                          <p:val>
                                            <p:strVal val="#ppt_x"/>
                                          </p:val>
                                        </p:tav>
                                        <p:tav tm="100000">
                                          <p:val>
                                            <p:strVal val="#ppt_x"/>
                                          </p:val>
                                        </p:tav>
                                      </p:tavLst>
                                    </p:anim>
                                    <p:anim calcmode="lin" valueType="num">
                                      <p:cBhvr additive="repl">
                                        <p:cTn id="8" dur="500" fill="hold"/>
                                        <p:tgtEl>
                                          <p:spTgt spid="2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8" presetClass="emph" fill="hold" nodeType="afterEffect">
                                  <p:stCondLst>
                                    <p:cond delay="0"/>
                                  </p:stCondLst>
                                  <p:childTnLst>
                                    <p:set>
                                      <p:cBhvr>
                                        <p:cTn id="11" dur="500" fill="hold"/>
                                        <p:tgtEl>
                                          <p:spTgt spid="17"/>
                                        </p:tgtEl>
                                      </p:cBhvr>
                                    </p:set>
                                  </p:childTnLst>
                                </p:cTn>
                              </p:par>
                            </p:childTnLst>
                          </p:cTn>
                        </p:par>
                        <p:par>
                          <p:cTn id="12" fill="hold">
                            <p:stCondLst>
                              <p:cond delay="1000"/>
                            </p:stCondLst>
                            <p:childTnLst>
                              <p:par>
                                <p:cTn id="13" presetID="23" presetClass="emph" fill="hold" nodeType="afterEffect">
                                  <p:stCondLst>
                                    <p:cond delay="0"/>
                                  </p:stCondLst>
                                  <p:childTnLst>
                                    <p:animClr clrSpc="rgb" dir="cw">
                                      <p:cBhvr>
                                        <p:cTn id="14" dur="500" fill="hold"/>
                                        <p:tgtEl>
                                          <p:spTgt spid="17"/>
                                        </p:tgtEl>
                                        <p:attrNameLst>
                                          <p:attrName>style.color</p:attrName>
                                        </p:attrNameLst>
                                      </p:cBhvr>
                                    </p:animClr>
                                    <p:animClr clrSpc="rgb" dir="cw">
                                      <p:cBhvr>
                                        <p:cTn id="15" dur="500" fill="hold"/>
                                        <p:tgtEl>
                                          <p:spTgt spid="17"/>
                                        </p:tgtEl>
                                        <p:attrNameLst>
                                          <p:attrName>fillcolor</p:attrName>
                                        </p:attrNameLst>
                                      </p:cBhvr>
                                    </p:animClr>
                                    <p:animClr clrSpc="rgb" dir="cw">
                                      <p:cBhvr>
                                        <p:cTn id="16" dur="500" fill="hold"/>
                                        <p:tgtEl>
                                          <p:spTgt spid="17"/>
                                        </p:tgtEl>
                                      </p:cBhvr>
                                    </p:animClr>
                                    <p:set>
                                      <p:cBhvr>
                                        <p:cTn id="17" dur="500" fill="hold"/>
                                        <p:tgtEl>
                                          <p:spTgt spid="17"/>
                                        </p:tgtEl>
                                        <p:attrNameLst>
                                          <p:attrName>fill.type</p:attrName>
                                        </p:attrNameLst>
                                      </p:cBhvr>
                                      <p:to>
                                        <p:strVal val="solid"/>
                                      </p:to>
                                    </p:set>
                                  </p:childTnLst>
                                </p:cTn>
                              </p:par>
                              <p:par>
                                <p:cTn id="18" presetID="18" presetClass="emph" fill="hold" nodeType="withEffect">
                                  <p:stCondLst>
                                    <p:cond delay="0"/>
                                  </p:stCondLst>
                                  <p:childTnLst>
                                    <p:set>
                                      <p:cBhvr>
                                        <p:cTn id="19" dur="500" fill="hold"/>
                                        <p:tgtEl>
                                          <p:spTgt spid="18"/>
                                        </p:tgtEl>
                                      </p:cBhvr>
                                    </p:set>
                                  </p:childTnLst>
                                </p:cTn>
                              </p:par>
                            </p:childTnLst>
                          </p:cTn>
                        </p:par>
                        <p:par>
                          <p:cTn id="20" fill="hold">
                            <p:stCondLst>
                              <p:cond delay="1500"/>
                            </p:stCondLst>
                            <p:childTnLst>
                              <p:par>
                                <p:cTn id="21" presetID="23" presetClass="emph" fill="hold" nodeType="afterEffect">
                                  <p:stCondLst>
                                    <p:cond delay="0"/>
                                  </p:stCondLst>
                                  <p:childTnLst>
                                    <p:animClr clrSpc="rgb" dir="cw">
                                      <p:cBhvr>
                                        <p:cTn id="22" dur="500" fill="hold"/>
                                        <p:tgtEl>
                                          <p:spTgt spid="18"/>
                                        </p:tgtEl>
                                        <p:attrNameLst>
                                          <p:attrName>style.color</p:attrName>
                                        </p:attrNameLst>
                                      </p:cBhvr>
                                    </p:animClr>
                                    <p:animClr clrSpc="rgb" dir="cw">
                                      <p:cBhvr>
                                        <p:cTn id="23" dur="500" fill="hold"/>
                                        <p:tgtEl>
                                          <p:spTgt spid="18"/>
                                        </p:tgtEl>
                                        <p:attrNameLst>
                                          <p:attrName>fillcolor</p:attrName>
                                        </p:attrNameLst>
                                      </p:cBhvr>
                                    </p:animClr>
                                    <p:animClr clrSpc="rgb" dir="cw">
                                      <p:cBhvr>
                                        <p:cTn id="24" dur="500" fill="hold"/>
                                        <p:tgtEl>
                                          <p:spTgt spid="18"/>
                                        </p:tgtEl>
                                      </p:cBhvr>
                                    </p:animClr>
                                    <p:set>
                                      <p:cBhvr>
                                        <p:cTn id="25" dur="500" fill="hold"/>
                                        <p:tgtEl>
                                          <p:spTgt spid="18"/>
                                        </p:tgtEl>
                                        <p:attrNameLst>
                                          <p:attrName>fill.type</p:attrName>
                                        </p:attrNameLst>
                                      </p:cBhvr>
                                      <p:to>
                                        <p:strVal val="solid"/>
                                      </p:to>
                                    </p:set>
                                  </p:childTnLst>
                                </p:cTn>
                              </p:par>
                              <p:par>
                                <p:cTn id="26" presetID="18" presetClass="emph" fill="hold" nodeType="withEffect">
                                  <p:stCondLst>
                                    <p:cond delay="0"/>
                                  </p:stCondLst>
                                  <p:childTnLst>
                                    <p:set>
                                      <p:cBhvr>
                                        <p:cTn id="27" dur="500" fill="hold"/>
                                        <p:tgtEl>
                                          <p:spTgt spid="19"/>
                                        </p:tgtEl>
                                      </p:cBhvr>
                                    </p:set>
                                  </p:childTnLst>
                                </p:cTn>
                              </p:par>
                            </p:childTnLst>
                          </p:cTn>
                        </p:par>
                        <p:par>
                          <p:cTn id="28" fill="hold">
                            <p:stCondLst>
                              <p:cond delay="2000"/>
                            </p:stCondLst>
                            <p:childTnLst>
                              <p:par>
                                <p:cTn id="29" presetID="23" presetClass="emph" fill="hold" nodeType="afterEffect">
                                  <p:stCondLst>
                                    <p:cond delay="0"/>
                                  </p:stCondLst>
                                  <p:childTnLst>
                                    <p:animClr clrSpc="rgb" dir="cw">
                                      <p:cBhvr>
                                        <p:cTn id="30" dur="500" fill="hold"/>
                                        <p:tgtEl>
                                          <p:spTgt spid="19"/>
                                        </p:tgtEl>
                                        <p:attrNameLst>
                                          <p:attrName>style.color</p:attrName>
                                        </p:attrNameLst>
                                      </p:cBhvr>
                                    </p:animClr>
                                    <p:animClr clrSpc="rgb" dir="cw">
                                      <p:cBhvr>
                                        <p:cTn id="31" dur="500" fill="hold"/>
                                        <p:tgtEl>
                                          <p:spTgt spid="19"/>
                                        </p:tgtEl>
                                        <p:attrNameLst>
                                          <p:attrName>fillcolor</p:attrName>
                                        </p:attrNameLst>
                                      </p:cBhvr>
                                    </p:animClr>
                                    <p:animClr clrSpc="rgb" dir="cw">
                                      <p:cBhvr>
                                        <p:cTn id="32" dur="500" fill="hold"/>
                                        <p:tgtEl>
                                          <p:spTgt spid="19"/>
                                        </p:tgtEl>
                                      </p:cBhvr>
                                    </p:animClr>
                                    <p:set>
                                      <p:cBhvr>
                                        <p:cTn id="33" dur="500" fill="hold"/>
                                        <p:tgtEl>
                                          <p:spTgt spid="19"/>
                                        </p:tgtEl>
                                        <p:attrNameLst>
                                          <p:attrName>fill.type</p:attrName>
                                        </p:attrNameLst>
                                      </p:cBhvr>
                                      <p:to>
                                        <p:strVal val="solid"/>
                                      </p:to>
                                    </p:set>
                                  </p:childTnLst>
                                </p:cTn>
                              </p:par>
                              <p:par>
                                <p:cTn id="34" presetID="18" presetClass="emph" fill="hold" nodeType="withEffect">
                                  <p:stCondLst>
                                    <p:cond delay="0"/>
                                  </p:stCondLst>
                                  <p:childTnLst>
                                    <p:set>
                                      <p:cBhvr>
                                        <p:cTn id="35" dur="500" fill="hold"/>
                                        <p:tgtEl>
                                          <p:spTgt spid="20"/>
                                        </p:tgtEl>
                                      </p:cBhvr>
                                    </p:set>
                                  </p:childTnLst>
                                </p:cTn>
                              </p:par>
                            </p:childTnLst>
                          </p:cTn>
                        </p:par>
                        <p:par>
                          <p:cTn id="36" fill="hold">
                            <p:stCondLst>
                              <p:cond delay="2500"/>
                            </p:stCondLst>
                            <p:childTnLst>
                              <p:par>
                                <p:cTn id="37" presetID="23" presetClass="emph" fill="hold" nodeType="afterEffect">
                                  <p:stCondLst>
                                    <p:cond delay="0"/>
                                  </p:stCondLst>
                                  <p:childTnLst>
                                    <p:animClr clrSpc="rgb" dir="cw">
                                      <p:cBhvr>
                                        <p:cTn id="38" dur="500" fill="hold"/>
                                        <p:tgtEl>
                                          <p:spTgt spid="20"/>
                                        </p:tgtEl>
                                        <p:attrNameLst>
                                          <p:attrName>style.color</p:attrName>
                                        </p:attrNameLst>
                                      </p:cBhvr>
                                    </p:animClr>
                                    <p:animClr clrSpc="rgb" dir="cw">
                                      <p:cBhvr>
                                        <p:cTn id="39" dur="500" fill="hold"/>
                                        <p:tgtEl>
                                          <p:spTgt spid="20"/>
                                        </p:tgtEl>
                                        <p:attrNameLst>
                                          <p:attrName>fillcolor</p:attrName>
                                        </p:attrNameLst>
                                      </p:cBhvr>
                                    </p:animClr>
                                    <p:animClr clrSpc="rgb" dir="cw">
                                      <p:cBhvr>
                                        <p:cTn id="40" dur="500" fill="hold"/>
                                        <p:tgtEl>
                                          <p:spTgt spid="20"/>
                                        </p:tgtEl>
                                      </p:cBhvr>
                                    </p:animClr>
                                    <p:set>
                                      <p:cBhvr>
                                        <p:cTn id="41" dur="500" fill="hold"/>
                                        <p:tgtEl>
                                          <p:spTgt spid="20"/>
                                        </p:tgtEl>
                                        <p:attrNameLst>
                                          <p:attrName>fill.type</p:attrName>
                                        </p:attrNameLst>
                                      </p:cBhvr>
                                      <p:to>
                                        <p:strVal val="solid"/>
                                      </p:to>
                                    </p:set>
                                  </p:childTnLst>
                                </p:cTn>
                              </p:par>
                              <p:par>
                                <p:cTn id="42" presetID="18" presetClass="emph" fill="hold" nodeType="withEffect">
                                  <p:stCondLst>
                                    <p:cond delay="0"/>
                                  </p:stCondLst>
                                  <p:childTnLst>
                                    <p:set>
                                      <p:cBhvr>
                                        <p:cTn id="43" dur="500" fill="hold"/>
                                        <p:tgtEl>
                                          <p:spTgt spid="21"/>
                                        </p:tgtEl>
                                      </p:cBhvr>
                                    </p:set>
                                  </p:childTnLst>
                                </p:cTn>
                              </p:par>
                            </p:childTnLst>
                          </p:cTn>
                        </p:par>
                        <p:par>
                          <p:cTn id="44" fill="hold">
                            <p:stCondLst>
                              <p:cond delay="3000"/>
                            </p:stCondLst>
                            <p:childTnLst>
                              <p:par>
                                <p:cTn id="45" presetID="23" presetClass="emph" fill="hold" nodeType="afterEffect">
                                  <p:stCondLst>
                                    <p:cond delay="0"/>
                                  </p:stCondLst>
                                  <p:childTnLst>
                                    <p:animClr clrSpc="rgb" dir="cw">
                                      <p:cBhvr>
                                        <p:cTn id="46" dur="500" fill="hold"/>
                                        <p:tgtEl>
                                          <p:spTgt spid="21"/>
                                        </p:tgtEl>
                                        <p:attrNameLst>
                                          <p:attrName>style.color</p:attrName>
                                        </p:attrNameLst>
                                      </p:cBhvr>
                                    </p:animClr>
                                    <p:animClr clrSpc="rgb" dir="cw">
                                      <p:cBhvr>
                                        <p:cTn id="47" dur="500" fill="hold"/>
                                        <p:tgtEl>
                                          <p:spTgt spid="21"/>
                                        </p:tgtEl>
                                        <p:attrNameLst>
                                          <p:attrName>fillcolor</p:attrName>
                                        </p:attrNameLst>
                                      </p:cBhvr>
                                    </p:animClr>
                                    <p:animClr clrSpc="rgb" dir="cw">
                                      <p:cBhvr>
                                        <p:cTn id="48" dur="500" fill="hold"/>
                                        <p:tgtEl>
                                          <p:spTgt spid="21"/>
                                        </p:tgtEl>
                                      </p:cBhvr>
                                    </p:animClr>
                                    <p:set>
                                      <p:cBhvr>
                                        <p:cTn id="49" dur="500" fill="hold"/>
                                        <p:tgtEl>
                                          <p:spTgt spid="21"/>
                                        </p:tgtEl>
                                        <p:attrNameLst>
                                          <p:attrName>fill.type</p:attrName>
                                        </p:attrNameLst>
                                      </p:cBhvr>
                                      <p:to>
                                        <p:strVal val="solid"/>
                                      </p:to>
                                    </p:set>
                                  </p:childTnLst>
                                </p:cTn>
                              </p:par>
                              <p:par>
                                <p:cTn id="50" presetID="18" presetClass="emph" fill="hold" nodeType="withEffect">
                                  <p:stCondLst>
                                    <p:cond delay="0"/>
                                  </p:stCondLst>
                                  <p:childTnLst>
                                    <p:set>
                                      <p:cBhvr>
                                        <p:cTn id="51" dur="500" fill="hold"/>
                                        <p:tgtEl>
                                          <p:spTgt spid="22"/>
                                        </p:tgtEl>
                                      </p:cBhvr>
                                    </p:set>
                                  </p:childTnLst>
                                </p:cTn>
                              </p:par>
                            </p:childTnLst>
                          </p:cTn>
                        </p:par>
                        <p:par>
                          <p:cTn id="52" fill="hold">
                            <p:stCondLst>
                              <p:cond delay="3500"/>
                            </p:stCondLst>
                            <p:childTnLst>
                              <p:par>
                                <p:cTn id="53" presetID="23" presetClass="emph" fill="hold" nodeType="afterEffect">
                                  <p:stCondLst>
                                    <p:cond delay="0"/>
                                  </p:stCondLst>
                                  <p:childTnLst>
                                    <p:animClr clrSpc="rgb" dir="cw">
                                      <p:cBhvr>
                                        <p:cTn id="54" dur="500" fill="hold"/>
                                        <p:tgtEl>
                                          <p:spTgt spid="22"/>
                                        </p:tgtEl>
                                        <p:attrNameLst>
                                          <p:attrName>style.color</p:attrName>
                                        </p:attrNameLst>
                                      </p:cBhvr>
                                    </p:animClr>
                                    <p:animClr clrSpc="rgb" dir="cw">
                                      <p:cBhvr>
                                        <p:cTn id="55" dur="500" fill="hold"/>
                                        <p:tgtEl>
                                          <p:spTgt spid="22"/>
                                        </p:tgtEl>
                                        <p:attrNameLst>
                                          <p:attrName>fillcolor</p:attrName>
                                        </p:attrNameLst>
                                      </p:cBhvr>
                                    </p:animClr>
                                    <p:animClr clrSpc="rgb" dir="cw">
                                      <p:cBhvr>
                                        <p:cTn id="56" dur="500" fill="hold"/>
                                        <p:tgtEl>
                                          <p:spTgt spid="22"/>
                                        </p:tgtEl>
                                      </p:cBhvr>
                                    </p:animClr>
                                    <p:set>
                                      <p:cBhvr>
                                        <p:cTn id="57" dur="500" fill="hold"/>
                                        <p:tgtEl>
                                          <p:spTgt spid="2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Handle Database</a:t>
            </a:r>
            <a:endParaRPr lang="en-US" dirty="0"/>
          </a:p>
        </p:txBody>
      </p:sp>
      <p:sp>
        <p:nvSpPr>
          <p:cNvPr id="11" name="CustomShape 2">
            <a:extLst>
              <a:ext uri="{FF2B5EF4-FFF2-40B4-BE49-F238E27FC236}">
                <a16:creationId xmlns:a16="http://schemas.microsoft.com/office/drawing/2014/main" id="{4C069422-BD10-452B-B594-B4FE8171BE4E}"/>
              </a:ext>
            </a:extLst>
          </p:cNvPr>
          <p:cNvSpPr/>
          <p:nvPr/>
        </p:nvSpPr>
        <p:spPr>
          <a:xfrm>
            <a:off x="1968600" y="2392440"/>
            <a:ext cx="1750320" cy="1521720"/>
          </a:xfrm>
          <a:prstGeom prst="rect">
            <a:avLst/>
          </a:prstGeom>
          <a:solidFill>
            <a:srgbClr val="FFFFFF"/>
          </a:solidFill>
          <a:ln w="12600">
            <a:solidFill>
              <a:srgbClr val="000000"/>
            </a:solidFill>
            <a:miter/>
          </a:ln>
        </p:spPr>
        <p:style>
          <a:lnRef idx="0">
            <a:scrgbClr r="0" g="0" b="0"/>
          </a:lnRef>
          <a:fillRef idx="0">
            <a:scrgbClr r="0" g="0" b="0"/>
          </a:fillRef>
          <a:effectRef idx="0">
            <a:scrgbClr r="0" g="0" b="0"/>
          </a:effectRef>
          <a:fontRef idx="minor"/>
        </p:style>
      </p:sp>
      <p:sp>
        <p:nvSpPr>
          <p:cNvPr id="12" name="CustomShape 3">
            <a:extLst>
              <a:ext uri="{FF2B5EF4-FFF2-40B4-BE49-F238E27FC236}">
                <a16:creationId xmlns:a16="http://schemas.microsoft.com/office/drawing/2014/main" id="{DDC3D23F-143F-461E-A1C7-570CB1313F8D}"/>
              </a:ext>
            </a:extLst>
          </p:cNvPr>
          <p:cNvSpPr/>
          <p:nvPr/>
        </p:nvSpPr>
        <p:spPr>
          <a:xfrm>
            <a:off x="2094240" y="2239800"/>
            <a:ext cx="1750320" cy="1521720"/>
          </a:xfrm>
          <a:prstGeom prst="rect">
            <a:avLst/>
          </a:prstGeom>
          <a:solidFill>
            <a:srgbClr val="FFFFFF"/>
          </a:solidFill>
          <a:ln w="12600">
            <a:solidFill>
              <a:srgbClr val="000000"/>
            </a:solidFill>
            <a:miter/>
          </a:ln>
        </p:spPr>
        <p:style>
          <a:lnRef idx="0">
            <a:scrgbClr r="0" g="0" b="0"/>
          </a:lnRef>
          <a:fillRef idx="0">
            <a:scrgbClr r="0" g="0" b="0"/>
          </a:fillRef>
          <a:effectRef idx="0">
            <a:scrgbClr r="0" g="0" b="0"/>
          </a:effectRef>
          <a:fontRef idx="minor"/>
        </p:style>
      </p:sp>
      <p:sp>
        <p:nvSpPr>
          <p:cNvPr id="13" name="CustomShape 4">
            <a:extLst>
              <a:ext uri="{FF2B5EF4-FFF2-40B4-BE49-F238E27FC236}">
                <a16:creationId xmlns:a16="http://schemas.microsoft.com/office/drawing/2014/main" id="{C7B1E0F2-3B06-4587-8A25-84A11B56ECC3}"/>
              </a:ext>
            </a:extLst>
          </p:cNvPr>
          <p:cNvSpPr/>
          <p:nvPr/>
        </p:nvSpPr>
        <p:spPr>
          <a:xfrm>
            <a:off x="2219520" y="2087520"/>
            <a:ext cx="1750320" cy="1521720"/>
          </a:xfrm>
          <a:prstGeom prst="rect">
            <a:avLst/>
          </a:prstGeom>
          <a:solidFill>
            <a:srgbClr val="FFFFFF"/>
          </a:solidFill>
          <a:ln w="12600">
            <a:solidFill>
              <a:srgbClr val="000000"/>
            </a:solidFill>
            <a:miter/>
          </a:ln>
        </p:spPr>
        <p:style>
          <a:lnRef idx="0">
            <a:scrgbClr r="0" g="0" b="0"/>
          </a:lnRef>
          <a:fillRef idx="0">
            <a:scrgbClr r="0" g="0" b="0"/>
          </a:fillRef>
          <a:effectRef idx="0">
            <a:scrgbClr r="0" g="0" b="0"/>
          </a:effectRef>
          <a:fontRef idx="minor"/>
        </p:style>
      </p:sp>
      <p:sp>
        <p:nvSpPr>
          <p:cNvPr id="14" name="CustomShape 5">
            <a:extLst>
              <a:ext uri="{FF2B5EF4-FFF2-40B4-BE49-F238E27FC236}">
                <a16:creationId xmlns:a16="http://schemas.microsoft.com/office/drawing/2014/main" id="{2DB14C52-C3CE-42C3-8493-3538CD1D88C4}"/>
              </a:ext>
            </a:extLst>
          </p:cNvPr>
          <p:cNvSpPr/>
          <p:nvPr/>
        </p:nvSpPr>
        <p:spPr>
          <a:xfrm>
            <a:off x="2254080" y="2187600"/>
            <a:ext cx="939960" cy="36576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1" strike="noStrike" spc="-1">
                <a:solidFill>
                  <a:srgbClr val="000000"/>
                </a:solidFill>
                <a:latin typeface="Arial"/>
                <a:ea typeface="新細明體"/>
              </a:rPr>
              <a:t>Handle</a:t>
            </a:r>
            <a:endParaRPr lang="en-US" sz="1800" b="0" strike="noStrike" spc="-1">
              <a:latin typeface="Arial"/>
            </a:endParaRPr>
          </a:p>
        </p:txBody>
      </p:sp>
      <p:sp>
        <p:nvSpPr>
          <p:cNvPr id="15" name="CustomShape 6">
            <a:extLst>
              <a:ext uri="{FF2B5EF4-FFF2-40B4-BE49-F238E27FC236}">
                <a16:creationId xmlns:a16="http://schemas.microsoft.com/office/drawing/2014/main" id="{3EAF051E-7165-4BA4-B75E-0BA826555BCE}"/>
              </a:ext>
            </a:extLst>
          </p:cNvPr>
          <p:cNvSpPr/>
          <p:nvPr/>
        </p:nvSpPr>
        <p:spPr>
          <a:xfrm>
            <a:off x="2295840" y="2544720"/>
            <a:ext cx="683640" cy="302760"/>
          </a:xfrm>
          <a:prstGeom prst="rect">
            <a:avLst/>
          </a:prstGeom>
          <a:solidFill>
            <a:srgbClr val="CC0000"/>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GUID</a:t>
            </a:r>
            <a:endParaRPr lang="en-US" sz="1800" b="0" strike="noStrike" spc="-1">
              <a:latin typeface="Arial"/>
            </a:endParaRPr>
          </a:p>
        </p:txBody>
      </p:sp>
      <p:sp>
        <p:nvSpPr>
          <p:cNvPr id="24" name="CustomShape 7">
            <a:extLst>
              <a:ext uri="{FF2B5EF4-FFF2-40B4-BE49-F238E27FC236}">
                <a16:creationId xmlns:a16="http://schemas.microsoft.com/office/drawing/2014/main" id="{8BD644E1-A1AB-4BDD-876B-AB58D41D447E}"/>
              </a:ext>
            </a:extLst>
          </p:cNvPr>
          <p:cNvSpPr/>
          <p:nvPr/>
        </p:nvSpPr>
        <p:spPr>
          <a:xfrm>
            <a:off x="2981640" y="2544720"/>
            <a:ext cx="912240" cy="302760"/>
          </a:xfrm>
          <a:prstGeom prst="rect">
            <a:avLst/>
          </a:prstGeom>
          <a:solidFill>
            <a:srgbClr val="9933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Interface</a:t>
            </a:r>
            <a:endParaRPr lang="en-US" sz="1800" b="0" strike="noStrike" spc="-1">
              <a:latin typeface="Arial"/>
            </a:endParaRPr>
          </a:p>
        </p:txBody>
      </p:sp>
      <p:sp>
        <p:nvSpPr>
          <p:cNvPr id="25" name="CustomShape 8">
            <a:extLst>
              <a:ext uri="{FF2B5EF4-FFF2-40B4-BE49-F238E27FC236}">
                <a16:creationId xmlns:a16="http://schemas.microsoft.com/office/drawing/2014/main" id="{9BAE40E1-397C-449C-A6BC-971C9905288F}"/>
              </a:ext>
            </a:extLst>
          </p:cNvPr>
          <p:cNvSpPr/>
          <p:nvPr/>
        </p:nvSpPr>
        <p:spPr>
          <a:xfrm>
            <a:off x="2295840" y="2849640"/>
            <a:ext cx="683640" cy="302760"/>
          </a:xfrm>
          <a:prstGeom prst="rect">
            <a:avLst/>
          </a:prstGeom>
          <a:solidFill>
            <a:srgbClr val="CC0000"/>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GUID</a:t>
            </a:r>
            <a:endParaRPr lang="en-US" sz="1800" b="0" strike="noStrike" spc="-1">
              <a:latin typeface="Arial"/>
            </a:endParaRPr>
          </a:p>
        </p:txBody>
      </p:sp>
      <p:sp>
        <p:nvSpPr>
          <p:cNvPr id="26" name="CustomShape 9">
            <a:extLst>
              <a:ext uri="{FF2B5EF4-FFF2-40B4-BE49-F238E27FC236}">
                <a16:creationId xmlns:a16="http://schemas.microsoft.com/office/drawing/2014/main" id="{93C0020B-A72E-4F6F-A157-5B10400A5BEB}"/>
              </a:ext>
            </a:extLst>
          </p:cNvPr>
          <p:cNvSpPr/>
          <p:nvPr/>
        </p:nvSpPr>
        <p:spPr>
          <a:xfrm>
            <a:off x="2981640" y="2849640"/>
            <a:ext cx="912240" cy="302760"/>
          </a:xfrm>
          <a:prstGeom prst="rect">
            <a:avLst/>
          </a:prstGeom>
          <a:solidFill>
            <a:srgbClr val="9933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Interface</a:t>
            </a:r>
            <a:endParaRPr lang="en-US" sz="1800" b="0" strike="noStrike" spc="-1">
              <a:latin typeface="Arial"/>
            </a:endParaRPr>
          </a:p>
        </p:txBody>
      </p:sp>
      <p:sp>
        <p:nvSpPr>
          <p:cNvPr id="27" name="CustomShape 10">
            <a:extLst>
              <a:ext uri="{FF2B5EF4-FFF2-40B4-BE49-F238E27FC236}">
                <a16:creationId xmlns:a16="http://schemas.microsoft.com/office/drawing/2014/main" id="{8E13AA9C-0501-4797-91FC-493D8EC6EA05}"/>
              </a:ext>
            </a:extLst>
          </p:cNvPr>
          <p:cNvSpPr/>
          <p:nvPr/>
        </p:nvSpPr>
        <p:spPr>
          <a:xfrm>
            <a:off x="2295840" y="3154200"/>
            <a:ext cx="683640" cy="302760"/>
          </a:xfrm>
          <a:prstGeom prst="rect">
            <a:avLst/>
          </a:prstGeom>
          <a:solidFill>
            <a:srgbClr val="CC0000"/>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a:t>
            </a:r>
            <a:endParaRPr lang="en-US" sz="1800" b="0" strike="noStrike" spc="-1">
              <a:latin typeface="Arial"/>
            </a:endParaRPr>
          </a:p>
        </p:txBody>
      </p:sp>
      <p:sp>
        <p:nvSpPr>
          <p:cNvPr id="28" name="CustomShape 11">
            <a:extLst>
              <a:ext uri="{FF2B5EF4-FFF2-40B4-BE49-F238E27FC236}">
                <a16:creationId xmlns:a16="http://schemas.microsoft.com/office/drawing/2014/main" id="{D842A4F3-6E29-4F0F-BA78-A533AFACD886}"/>
              </a:ext>
            </a:extLst>
          </p:cNvPr>
          <p:cNvSpPr/>
          <p:nvPr/>
        </p:nvSpPr>
        <p:spPr>
          <a:xfrm>
            <a:off x="2981640" y="3154200"/>
            <a:ext cx="912240" cy="302760"/>
          </a:xfrm>
          <a:prstGeom prst="rect">
            <a:avLst/>
          </a:prstGeom>
          <a:solidFill>
            <a:srgbClr val="9933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1" strike="noStrike" spc="-1">
                <a:solidFill>
                  <a:srgbClr val="000000"/>
                </a:solidFill>
                <a:latin typeface="Arial"/>
                <a:ea typeface="新細明體"/>
              </a:rPr>
              <a:t>...</a:t>
            </a:r>
            <a:endParaRPr lang="en-US" sz="1800" b="0" strike="noStrike" spc="-1">
              <a:latin typeface="Arial"/>
            </a:endParaRPr>
          </a:p>
        </p:txBody>
      </p:sp>
      <p:sp>
        <p:nvSpPr>
          <p:cNvPr id="29" name="Line 12">
            <a:extLst>
              <a:ext uri="{FF2B5EF4-FFF2-40B4-BE49-F238E27FC236}">
                <a16:creationId xmlns:a16="http://schemas.microsoft.com/office/drawing/2014/main" id="{8C8A92BB-5F0B-41B4-93B2-78A4D8F4B20F}"/>
              </a:ext>
            </a:extLst>
          </p:cNvPr>
          <p:cNvSpPr/>
          <p:nvPr/>
        </p:nvSpPr>
        <p:spPr>
          <a:xfrm>
            <a:off x="3895680" y="2697000"/>
            <a:ext cx="1066680" cy="144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30" name="CustomShape 13">
            <a:extLst>
              <a:ext uri="{FF2B5EF4-FFF2-40B4-BE49-F238E27FC236}">
                <a16:creationId xmlns:a16="http://schemas.microsoft.com/office/drawing/2014/main" id="{A7A87481-03FE-4C29-B211-E03BA8AFEC00}"/>
              </a:ext>
            </a:extLst>
          </p:cNvPr>
          <p:cNvSpPr/>
          <p:nvPr/>
        </p:nvSpPr>
        <p:spPr>
          <a:xfrm>
            <a:off x="4353240" y="3230520"/>
            <a:ext cx="1750320" cy="1064520"/>
          </a:xfrm>
          <a:prstGeom prst="rect">
            <a:avLst/>
          </a:prstGeom>
          <a:solidFill>
            <a:srgbClr val="9966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oAutofit/>
          </a:bodyPr>
          <a:lstStyle/>
          <a:p>
            <a:pPr algn="ctr">
              <a:lnSpc>
                <a:spcPct val="100000"/>
              </a:lnSpc>
            </a:pPr>
            <a:r>
              <a:rPr lang="en-US" sz="1800" b="0" strike="noStrike" spc="-1">
                <a:solidFill>
                  <a:srgbClr val="000000"/>
                </a:solidFill>
                <a:latin typeface="Arial"/>
                <a:ea typeface="新細明體"/>
              </a:rPr>
              <a:t>Protocol Interface</a:t>
            </a:r>
            <a:endParaRPr lang="en-US" sz="1800" b="0" strike="noStrike" spc="-1">
              <a:latin typeface="Arial"/>
            </a:endParaRPr>
          </a:p>
        </p:txBody>
      </p:sp>
      <p:sp>
        <p:nvSpPr>
          <p:cNvPr id="31" name="CustomShape 14">
            <a:extLst>
              <a:ext uri="{FF2B5EF4-FFF2-40B4-BE49-F238E27FC236}">
                <a16:creationId xmlns:a16="http://schemas.microsoft.com/office/drawing/2014/main" id="{5CC57A37-2F2D-4188-8946-2FA17DE4175C}"/>
              </a:ext>
            </a:extLst>
          </p:cNvPr>
          <p:cNvSpPr/>
          <p:nvPr/>
        </p:nvSpPr>
        <p:spPr>
          <a:xfrm>
            <a:off x="4429200" y="3535440"/>
            <a:ext cx="1598040" cy="226440"/>
          </a:xfrm>
          <a:prstGeom prst="rect">
            <a:avLst/>
          </a:prstGeom>
          <a:solidFill>
            <a:srgbClr val="FFFF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0" strike="noStrike" spc="-1">
                <a:solidFill>
                  <a:srgbClr val="000000"/>
                </a:solidFill>
                <a:latin typeface="Arial"/>
                <a:ea typeface="新細明體"/>
              </a:rPr>
              <a:t>Function Pointer</a:t>
            </a:r>
            <a:endParaRPr lang="en-US" sz="1800" b="0" strike="noStrike" spc="-1">
              <a:latin typeface="Arial"/>
            </a:endParaRPr>
          </a:p>
        </p:txBody>
      </p:sp>
      <p:sp>
        <p:nvSpPr>
          <p:cNvPr id="32" name="CustomShape 15">
            <a:extLst>
              <a:ext uri="{FF2B5EF4-FFF2-40B4-BE49-F238E27FC236}">
                <a16:creationId xmlns:a16="http://schemas.microsoft.com/office/drawing/2014/main" id="{696B4D9B-B395-4ADB-915E-E8ADCA94527B}"/>
              </a:ext>
            </a:extLst>
          </p:cNvPr>
          <p:cNvSpPr/>
          <p:nvPr/>
        </p:nvSpPr>
        <p:spPr>
          <a:xfrm>
            <a:off x="4353240" y="4297200"/>
            <a:ext cx="1750320" cy="835920"/>
          </a:xfrm>
          <a:prstGeom prst="rect">
            <a:avLst/>
          </a:prstGeom>
          <a:solidFill>
            <a:srgbClr val="CCCC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oAutofit/>
          </a:bodyPr>
          <a:lstStyle/>
          <a:p>
            <a:pPr algn="ctr">
              <a:lnSpc>
                <a:spcPct val="100000"/>
              </a:lnSpc>
            </a:pPr>
            <a:r>
              <a:rPr lang="en-US" sz="1800" b="0" strike="noStrike" spc="-1">
                <a:solidFill>
                  <a:srgbClr val="000000"/>
                </a:solidFill>
                <a:latin typeface="Arial"/>
                <a:ea typeface="新細明體"/>
              </a:rPr>
              <a:t>Device-Specific</a:t>
            </a:r>
            <a:endParaRPr lang="en-US" sz="1800" b="0" strike="noStrike" spc="-1">
              <a:latin typeface="Arial"/>
            </a:endParaRPr>
          </a:p>
          <a:p>
            <a:pPr algn="ctr">
              <a:lnSpc>
                <a:spcPct val="100000"/>
              </a:lnSpc>
            </a:pPr>
            <a:r>
              <a:rPr lang="en-US" sz="1800" b="0" strike="noStrike" spc="-1">
                <a:solidFill>
                  <a:srgbClr val="000000"/>
                </a:solidFill>
                <a:latin typeface="Arial"/>
                <a:ea typeface="新細明體"/>
              </a:rPr>
              <a:t>Context</a:t>
            </a:r>
            <a:endParaRPr lang="en-US" sz="1800" b="0" strike="noStrike" spc="-1">
              <a:latin typeface="Arial"/>
            </a:endParaRPr>
          </a:p>
        </p:txBody>
      </p:sp>
      <p:sp>
        <p:nvSpPr>
          <p:cNvPr id="33" name="CustomShape 16">
            <a:extLst>
              <a:ext uri="{FF2B5EF4-FFF2-40B4-BE49-F238E27FC236}">
                <a16:creationId xmlns:a16="http://schemas.microsoft.com/office/drawing/2014/main" id="{215C0B4D-41B3-4979-8BC6-F73BE97A929B}"/>
              </a:ext>
            </a:extLst>
          </p:cNvPr>
          <p:cNvSpPr/>
          <p:nvPr/>
        </p:nvSpPr>
        <p:spPr>
          <a:xfrm>
            <a:off x="4429200" y="3764040"/>
            <a:ext cx="1598040" cy="226440"/>
          </a:xfrm>
          <a:prstGeom prst="rect">
            <a:avLst/>
          </a:prstGeom>
          <a:solidFill>
            <a:srgbClr val="FFFF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0" strike="noStrike" spc="-1">
                <a:solidFill>
                  <a:srgbClr val="000000"/>
                </a:solidFill>
                <a:latin typeface="Arial"/>
                <a:ea typeface="新細明體"/>
              </a:rPr>
              <a:t>Function Pointer</a:t>
            </a:r>
            <a:endParaRPr lang="en-US" sz="1800" b="0" strike="noStrike" spc="-1">
              <a:latin typeface="Arial"/>
            </a:endParaRPr>
          </a:p>
        </p:txBody>
      </p:sp>
      <p:sp>
        <p:nvSpPr>
          <p:cNvPr id="34" name="CustomShape 17">
            <a:extLst>
              <a:ext uri="{FF2B5EF4-FFF2-40B4-BE49-F238E27FC236}">
                <a16:creationId xmlns:a16="http://schemas.microsoft.com/office/drawing/2014/main" id="{0760626A-6706-4B39-8666-241B36514B62}"/>
              </a:ext>
            </a:extLst>
          </p:cNvPr>
          <p:cNvSpPr/>
          <p:nvPr/>
        </p:nvSpPr>
        <p:spPr>
          <a:xfrm>
            <a:off x="4429200" y="3992640"/>
            <a:ext cx="1598040" cy="226440"/>
          </a:xfrm>
          <a:prstGeom prst="rect">
            <a:avLst/>
          </a:prstGeom>
          <a:solidFill>
            <a:srgbClr val="FFFF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800" b="0" strike="noStrike" spc="-1">
                <a:solidFill>
                  <a:srgbClr val="000000"/>
                </a:solidFill>
                <a:latin typeface="Arial"/>
                <a:ea typeface="新細明體"/>
              </a:rPr>
              <a:t>...</a:t>
            </a:r>
            <a:endParaRPr lang="en-US" sz="1800" b="0" strike="noStrike" spc="-1">
              <a:latin typeface="Arial"/>
            </a:endParaRPr>
          </a:p>
        </p:txBody>
      </p:sp>
      <p:sp>
        <p:nvSpPr>
          <p:cNvPr id="35" name="Line 18">
            <a:extLst>
              <a:ext uri="{FF2B5EF4-FFF2-40B4-BE49-F238E27FC236}">
                <a16:creationId xmlns:a16="http://schemas.microsoft.com/office/drawing/2014/main" id="{1F091446-B057-499A-9B27-CAE0FD16FE3C}"/>
              </a:ext>
            </a:extLst>
          </p:cNvPr>
          <p:cNvSpPr/>
          <p:nvPr/>
        </p:nvSpPr>
        <p:spPr>
          <a:xfrm>
            <a:off x="4962360" y="2697000"/>
            <a:ext cx="1800" cy="533520"/>
          </a:xfrm>
          <a:prstGeom prst="line">
            <a:avLst/>
          </a:prstGeom>
          <a:ln w="12600">
            <a:solidFill>
              <a:srgbClr val="000000"/>
            </a:solidFill>
            <a:miter/>
            <a:tailEnd type="triangle" w="med" len="med"/>
          </a:ln>
        </p:spPr>
        <p:style>
          <a:lnRef idx="0">
            <a:scrgbClr r="0" g="0" b="0"/>
          </a:lnRef>
          <a:fillRef idx="0">
            <a:scrgbClr r="0" g="0" b="0"/>
          </a:fillRef>
          <a:effectRef idx="0">
            <a:scrgbClr r="0" g="0" b="0"/>
          </a:effectRef>
          <a:fontRef idx="minor"/>
        </p:style>
      </p:sp>
      <p:sp>
        <p:nvSpPr>
          <p:cNvPr id="36" name="Line 19">
            <a:extLst>
              <a:ext uri="{FF2B5EF4-FFF2-40B4-BE49-F238E27FC236}">
                <a16:creationId xmlns:a16="http://schemas.microsoft.com/office/drawing/2014/main" id="{67633B81-D030-48C5-A82F-519BA1849A4B}"/>
              </a:ext>
            </a:extLst>
          </p:cNvPr>
          <p:cNvSpPr/>
          <p:nvPr/>
        </p:nvSpPr>
        <p:spPr>
          <a:xfrm flipV="1">
            <a:off x="3937080" y="3914520"/>
            <a:ext cx="415800" cy="309600"/>
          </a:xfrm>
          <a:prstGeom prst="line">
            <a:avLst/>
          </a:prstGeom>
          <a:ln w="12600">
            <a:solidFill>
              <a:srgbClr val="000000"/>
            </a:solidFill>
            <a:miter/>
            <a:tailEnd type="triangle" w="med" len="med"/>
          </a:ln>
        </p:spPr>
        <p:style>
          <a:lnRef idx="0">
            <a:scrgbClr r="0" g="0" b="0"/>
          </a:lnRef>
          <a:fillRef idx="0">
            <a:scrgbClr r="0" g="0" b="0"/>
          </a:fillRef>
          <a:effectRef idx="0">
            <a:scrgbClr r="0" g="0" b="0"/>
          </a:effectRef>
          <a:fontRef idx="minor"/>
        </p:style>
      </p:sp>
      <p:sp>
        <p:nvSpPr>
          <p:cNvPr id="37" name="Line 20">
            <a:extLst>
              <a:ext uri="{FF2B5EF4-FFF2-40B4-BE49-F238E27FC236}">
                <a16:creationId xmlns:a16="http://schemas.microsoft.com/office/drawing/2014/main" id="{685C697F-A3EE-48CD-B424-90C85A651899}"/>
              </a:ext>
            </a:extLst>
          </p:cNvPr>
          <p:cNvSpPr/>
          <p:nvPr/>
        </p:nvSpPr>
        <p:spPr>
          <a:xfrm>
            <a:off x="6105360" y="3916320"/>
            <a:ext cx="762120" cy="1440"/>
          </a:xfrm>
          <a:prstGeom prst="line">
            <a:avLst/>
          </a:prstGeom>
          <a:ln w="12600">
            <a:solidFill>
              <a:srgbClr val="000000"/>
            </a:solidFill>
            <a:miter/>
            <a:tailEnd type="triangle" w="med" len="med"/>
          </a:ln>
        </p:spPr>
        <p:style>
          <a:lnRef idx="0">
            <a:scrgbClr r="0" g="0" b="0"/>
          </a:lnRef>
          <a:fillRef idx="0">
            <a:scrgbClr r="0" g="0" b="0"/>
          </a:fillRef>
          <a:effectRef idx="0">
            <a:scrgbClr r="0" g="0" b="0"/>
          </a:effectRef>
          <a:fontRef idx="minor"/>
        </p:style>
      </p:sp>
      <p:sp>
        <p:nvSpPr>
          <p:cNvPr id="38" name="CustomShape 21">
            <a:extLst>
              <a:ext uri="{FF2B5EF4-FFF2-40B4-BE49-F238E27FC236}">
                <a16:creationId xmlns:a16="http://schemas.microsoft.com/office/drawing/2014/main" id="{FC67EEBE-4B65-4683-9DA0-BADA3DD1F943}"/>
              </a:ext>
            </a:extLst>
          </p:cNvPr>
          <p:cNvSpPr/>
          <p:nvPr/>
        </p:nvSpPr>
        <p:spPr>
          <a:xfrm>
            <a:off x="6867840" y="2925600"/>
            <a:ext cx="1598040" cy="1521720"/>
          </a:xfrm>
          <a:prstGeom prst="rect">
            <a:avLst/>
          </a:prstGeom>
          <a:noFill/>
          <a:ln w="12600">
            <a:solidFill>
              <a:srgbClr val="000000"/>
            </a:solidFill>
            <a:miter/>
          </a:ln>
        </p:spPr>
        <p:style>
          <a:lnRef idx="0">
            <a:scrgbClr r="0" g="0" b="0"/>
          </a:lnRef>
          <a:fillRef idx="0">
            <a:scrgbClr r="0" g="0" b="0"/>
          </a:fillRef>
          <a:effectRef idx="0">
            <a:scrgbClr r="0" g="0" b="0"/>
          </a:effectRef>
          <a:fontRef idx="minor"/>
        </p:style>
      </p:sp>
      <p:sp>
        <p:nvSpPr>
          <p:cNvPr id="39" name="Line 22">
            <a:extLst>
              <a:ext uri="{FF2B5EF4-FFF2-40B4-BE49-F238E27FC236}">
                <a16:creationId xmlns:a16="http://schemas.microsoft.com/office/drawing/2014/main" id="{1B811E97-AD85-4852-9BDB-D3A13553FC61}"/>
              </a:ext>
            </a:extLst>
          </p:cNvPr>
          <p:cNvSpPr/>
          <p:nvPr/>
        </p:nvSpPr>
        <p:spPr>
          <a:xfrm flipV="1">
            <a:off x="6105360" y="4219440"/>
            <a:ext cx="762120" cy="536400"/>
          </a:xfrm>
          <a:prstGeom prst="line">
            <a:avLst/>
          </a:prstGeom>
          <a:ln w="12600">
            <a:solidFill>
              <a:srgbClr val="000000"/>
            </a:solidFill>
            <a:miter/>
            <a:headEnd type="triangle" w="med" len="med"/>
            <a:tailEnd type="triangle" w="med" len="med"/>
          </a:ln>
        </p:spPr>
        <p:style>
          <a:lnRef idx="0">
            <a:scrgbClr r="0" g="0" b="0"/>
          </a:lnRef>
          <a:fillRef idx="0">
            <a:scrgbClr r="0" g="0" b="0"/>
          </a:fillRef>
          <a:effectRef idx="0">
            <a:scrgbClr r="0" g="0" b="0"/>
          </a:effectRef>
          <a:fontRef idx="minor"/>
        </p:style>
      </p:sp>
      <p:sp>
        <p:nvSpPr>
          <p:cNvPr id="40" name="CustomShape 23">
            <a:extLst>
              <a:ext uri="{FF2B5EF4-FFF2-40B4-BE49-F238E27FC236}">
                <a16:creationId xmlns:a16="http://schemas.microsoft.com/office/drawing/2014/main" id="{A0315EAA-E10E-42BC-9261-2DF1FDAFA197}"/>
              </a:ext>
            </a:extLst>
          </p:cNvPr>
          <p:cNvSpPr/>
          <p:nvPr/>
        </p:nvSpPr>
        <p:spPr>
          <a:xfrm>
            <a:off x="927120" y="1706640"/>
            <a:ext cx="1953720" cy="3661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1" strike="noStrike" spc="-1">
                <a:solidFill>
                  <a:srgbClr val="000000"/>
                </a:solidFill>
                <a:latin typeface="Arial"/>
                <a:ea typeface="新細明體"/>
              </a:rPr>
              <a:t>HandleDatabase</a:t>
            </a:r>
            <a:endParaRPr lang="en-US" sz="1800" b="0" strike="noStrike" spc="-1">
              <a:latin typeface="Arial"/>
            </a:endParaRPr>
          </a:p>
        </p:txBody>
      </p:sp>
      <p:sp>
        <p:nvSpPr>
          <p:cNvPr id="41" name="CustomShape 24">
            <a:extLst>
              <a:ext uri="{FF2B5EF4-FFF2-40B4-BE49-F238E27FC236}">
                <a16:creationId xmlns:a16="http://schemas.microsoft.com/office/drawing/2014/main" id="{187B3855-2CFF-4BAA-AEB6-2755337BD6B3}"/>
              </a:ext>
            </a:extLst>
          </p:cNvPr>
          <p:cNvSpPr/>
          <p:nvPr/>
        </p:nvSpPr>
        <p:spPr>
          <a:xfrm>
            <a:off x="838200" y="4116480"/>
            <a:ext cx="3322080" cy="3661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1" strike="noStrike" spc="-1">
                <a:solidFill>
                  <a:srgbClr val="000000"/>
                </a:solidFill>
                <a:latin typeface="Arial"/>
                <a:ea typeface="新細明體"/>
              </a:rPr>
              <a:t>BlkIo-&gt;ReadBlocks(BlkIo, …)</a:t>
            </a:r>
            <a:endParaRPr lang="en-US" sz="1800" b="0" strike="noStrike" spc="-1">
              <a:latin typeface="Arial"/>
            </a:endParaRPr>
          </a:p>
        </p:txBody>
      </p:sp>
      <p:sp>
        <p:nvSpPr>
          <p:cNvPr id="42" name="CustomShape 25">
            <a:extLst>
              <a:ext uri="{FF2B5EF4-FFF2-40B4-BE49-F238E27FC236}">
                <a16:creationId xmlns:a16="http://schemas.microsoft.com/office/drawing/2014/main" id="{DBDB9A34-E233-40EF-BA51-9C6D653BBD58}"/>
              </a:ext>
            </a:extLst>
          </p:cNvPr>
          <p:cNvSpPr/>
          <p:nvPr/>
        </p:nvSpPr>
        <p:spPr>
          <a:xfrm>
            <a:off x="7023360" y="2544720"/>
            <a:ext cx="1369440" cy="36612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1" strike="noStrike" spc="-1">
                <a:solidFill>
                  <a:srgbClr val="000000"/>
                </a:solidFill>
                <a:latin typeface="Arial"/>
                <a:ea typeface="新細明體"/>
              </a:rPr>
              <a:t>DXE Driver</a:t>
            </a:r>
            <a:endParaRPr lang="en-US" sz="1800" b="0" strike="noStrike" spc="-1">
              <a:latin typeface="Arial"/>
            </a:endParaRPr>
          </a:p>
        </p:txBody>
      </p:sp>
    </p:spTree>
    <p:extLst>
      <p:ext uri="{BB962C8B-B14F-4D97-AF65-F5344CB8AC3E}">
        <p14:creationId xmlns:p14="http://schemas.microsoft.com/office/powerpoint/2010/main" val="11056370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DXE Phase Flow</a:t>
            </a:r>
            <a:endParaRPr lang="en-US" dirty="0"/>
          </a:p>
        </p:txBody>
      </p:sp>
      <p:graphicFrame>
        <p:nvGraphicFramePr>
          <p:cNvPr id="32" name="Object 2">
            <a:extLst>
              <a:ext uri="{FF2B5EF4-FFF2-40B4-BE49-F238E27FC236}">
                <a16:creationId xmlns:a16="http://schemas.microsoft.com/office/drawing/2014/main" id="{C1462044-E0B7-4F57-8B7B-18958CA1CF5E}"/>
              </a:ext>
            </a:extLst>
          </p:cNvPr>
          <p:cNvGraphicFramePr>
            <a:graphicFrameLocks noChangeAspect="1"/>
          </p:cNvGraphicFramePr>
          <p:nvPr>
            <p:extLst>
              <p:ext uri="{D42A27DB-BD31-4B8C-83A1-F6EECF244321}">
                <p14:modId xmlns:p14="http://schemas.microsoft.com/office/powerpoint/2010/main" val="3426332807"/>
              </p:ext>
            </p:extLst>
          </p:nvPr>
        </p:nvGraphicFramePr>
        <p:xfrm>
          <a:off x="3808413" y="1316230"/>
          <a:ext cx="6096000" cy="2720975"/>
        </p:xfrm>
        <a:graphic>
          <a:graphicData uri="http://schemas.openxmlformats.org/presentationml/2006/ole">
            <mc:AlternateContent xmlns:mc="http://schemas.openxmlformats.org/markup-compatibility/2006">
              <mc:Choice xmlns:v="urn:schemas-microsoft-com:vml" Requires="v">
                <p:oleObj name="點陣圖影像" r:id="rId2" imgW="6830378" imgH="3048426" progId="Paint.Picture">
                  <p:embed/>
                </p:oleObj>
              </mc:Choice>
              <mc:Fallback>
                <p:oleObj name="點陣圖影像" r:id="rId2" imgW="6830378" imgH="3048426" progId="Paint.Picture">
                  <p:embed/>
                  <p:pic>
                    <p:nvPicPr>
                      <p:cNvPr id="48130" name="Object 2">
                        <a:extLst>
                          <a:ext uri="{FF2B5EF4-FFF2-40B4-BE49-F238E27FC236}">
                            <a16:creationId xmlns:a16="http://schemas.microsoft.com/office/drawing/2014/main" id="{7FF98A9E-893F-4589-86C7-DEAEBA40B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8413" y="1316230"/>
                        <a:ext cx="6096000" cy="272097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3" name="Group 3">
            <a:extLst>
              <a:ext uri="{FF2B5EF4-FFF2-40B4-BE49-F238E27FC236}">
                <a16:creationId xmlns:a16="http://schemas.microsoft.com/office/drawing/2014/main" id="{DE29A7DD-97C6-40B4-8568-670370A6FB5A}"/>
              </a:ext>
            </a:extLst>
          </p:cNvPr>
          <p:cNvGrpSpPr>
            <a:grpSpLocks/>
          </p:cNvGrpSpPr>
          <p:nvPr/>
        </p:nvGrpSpPr>
        <p:grpSpPr bwMode="auto">
          <a:xfrm>
            <a:off x="6469063" y="5226243"/>
            <a:ext cx="1066800" cy="1016000"/>
            <a:chOff x="2071" y="3235"/>
            <a:chExt cx="672" cy="640"/>
          </a:xfrm>
        </p:grpSpPr>
        <p:sp>
          <p:nvSpPr>
            <p:cNvPr id="34" name="Rectangle 4">
              <a:extLst>
                <a:ext uri="{FF2B5EF4-FFF2-40B4-BE49-F238E27FC236}">
                  <a16:creationId xmlns:a16="http://schemas.microsoft.com/office/drawing/2014/main" id="{A9F0DB88-95CF-4CF4-B523-5CBCD8A3FC77}"/>
                </a:ext>
              </a:extLst>
            </p:cNvPr>
            <p:cNvSpPr>
              <a:spLocks noChangeArrowheads="1"/>
            </p:cNvSpPr>
            <p:nvPr/>
          </p:nvSpPr>
          <p:spPr bwMode="auto">
            <a:xfrm>
              <a:off x="2071" y="3235"/>
              <a:ext cx="673" cy="641"/>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Rectangle 5">
              <a:extLst>
                <a:ext uri="{FF2B5EF4-FFF2-40B4-BE49-F238E27FC236}">
                  <a16:creationId xmlns:a16="http://schemas.microsoft.com/office/drawing/2014/main" id="{DE7195A2-5CD4-433D-A8A9-75BF354E91ED}"/>
                </a:ext>
              </a:extLst>
            </p:cNvPr>
            <p:cNvSpPr>
              <a:spLocks noChangeArrowheads="1"/>
            </p:cNvSpPr>
            <p:nvPr/>
          </p:nvSpPr>
          <p:spPr bwMode="auto">
            <a:xfrm>
              <a:off x="2111" y="3371"/>
              <a:ext cx="599"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9pPr>
            </a:lstStyle>
            <a:p>
              <a:pPr algn="ctr"/>
              <a:r>
                <a:rPr lang="en-US" altLang="en-US" b="1">
                  <a:solidFill>
                    <a:srgbClr val="FFFFFF"/>
                  </a:solidFill>
                </a:rPr>
                <a:t>DXE</a:t>
              </a:r>
            </a:p>
            <a:p>
              <a:pPr algn="ctr"/>
              <a:r>
                <a:rPr lang="en-US" altLang="en-US" b="1">
                  <a:solidFill>
                    <a:srgbClr val="FFFFFF"/>
                  </a:solidFill>
                </a:rPr>
                <a:t>Driver</a:t>
              </a:r>
            </a:p>
          </p:txBody>
        </p:sp>
      </p:grpSp>
      <p:sp>
        <p:nvSpPr>
          <p:cNvPr id="36" name="Rectangle 6">
            <a:extLst>
              <a:ext uri="{FF2B5EF4-FFF2-40B4-BE49-F238E27FC236}">
                <a16:creationId xmlns:a16="http://schemas.microsoft.com/office/drawing/2014/main" id="{63A6EFDE-B69D-48D1-A438-EF8FE22E462B}"/>
              </a:ext>
            </a:extLst>
          </p:cNvPr>
          <p:cNvSpPr>
            <a:spLocks noChangeArrowheads="1"/>
          </p:cNvSpPr>
          <p:nvPr/>
        </p:nvSpPr>
        <p:spPr bwMode="auto">
          <a:xfrm>
            <a:off x="10274300" y="2787843"/>
            <a:ext cx="1079500" cy="2808287"/>
          </a:xfrm>
          <a:prstGeom prst="rect">
            <a:avLst/>
          </a:prstGeom>
          <a:solidFill>
            <a:srgbClr val="FFFFCC"/>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37" name="Group 7">
            <a:extLst>
              <a:ext uri="{FF2B5EF4-FFF2-40B4-BE49-F238E27FC236}">
                <a16:creationId xmlns:a16="http://schemas.microsoft.com/office/drawing/2014/main" id="{CE070C2B-9AB7-45DF-B495-3B2CC2EB88BD}"/>
              </a:ext>
            </a:extLst>
          </p:cNvPr>
          <p:cNvGrpSpPr>
            <a:grpSpLocks/>
          </p:cNvGrpSpPr>
          <p:nvPr/>
        </p:nvGrpSpPr>
        <p:grpSpPr bwMode="auto">
          <a:xfrm>
            <a:off x="4729163" y="5235768"/>
            <a:ext cx="1066800" cy="1016000"/>
            <a:chOff x="975" y="3241"/>
            <a:chExt cx="672" cy="640"/>
          </a:xfrm>
        </p:grpSpPr>
        <p:sp>
          <p:nvSpPr>
            <p:cNvPr id="38" name="Rectangle 8">
              <a:extLst>
                <a:ext uri="{FF2B5EF4-FFF2-40B4-BE49-F238E27FC236}">
                  <a16:creationId xmlns:a16="http://schemas.microsoft.com/office/drawing/2014/main" id="{82859DCE-6693-4A5B-A7B3-725FF0D13A7D}"/>
                </a:ext>
              </a:extLst>
            </p:cNvPr>
            <p:cNvSpPr>
              <a:spLocks noChangeArrowheads="1"/>
            </p:cNvSpPr>
            <p:nvPr/>
          </p:nvSpPr>
          <p:spPr bwMode="auto">
            <a:xfrm>
              <a:off x="975" y="3241"/>
              <a:ext cx="673" cy="641"/>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Rectangle 9">
              <a:extLst>
                <a:ext uri="{FF2B5EF4-FFF2-40B4-BE49-F238E27FC236}">
                  <a16:creationId xmlns:a16="http://schemas.microsoft.com/office/drawing/2014/main" id="{CE4680BD-A137-4EE4-935C-F36C07F99FF7}"/>
                </a:ext>
              </a:extLst>
            </p:cNvPr>
            <p:cNvSpPr>
              <a:spLocks noChangeArrowheads="1"/>
            </p:cNvSpPr>
            <p:nvPr/>
          </p:nvSpPr>
          <p:spPr bwMode="auto">
            <a:xfrm>
              <a:off x="1014" y="3377"/>
              <a:ext cx="600"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9pPr>
            </a:lstStyle>
            <a:p>
              <a:pPr algn="ctr"/>
              <a:r>
                <a:rPr lang="en-US" altLang="en-US" sz="2000" b="1">
                  <a:solidFill>
                    <a:srgbClr val="FFFFFF"/>
                  </a:solidFill>
                </a:rPr>
                <a:t>a priori file</a:t>
              </a:r>
            </a:p>
          </p:txBody>
        </p:sp>
      </p:grpSp>
      <p:grpSp>
        <p:nvGrpSpPr>
          <p:cNvPr id="40" name="Group 10">
            <a:extLst>
              <a:ext uri="{FF2B5EF4-FFF2-40B4-BE49-F238E27FC236}">
                <a16:creationId xmlns:a16="http://schemas.microsoft.com/office/drawing/2014/main" id="{EC9895BE-3DE0-4959-82A9-C1F59791C585}"/>
              </a:ext>
            </a:extLst>
          </p:cNvPr>
          <p:cNvGrpSpPr>
            <a:grpSpLocks/>
          </p:cNvGrpSpPr>
          <p:nvPr/>
        </p:nvGrpSpPr>
        <p:grpSpPr bwMode="auto">
          <a:xfrm>
            <a:off x="8197850" y="5238943"/>
            <a:ext cx="1066800" cy="1016000"/>
            <a:chOff x="3160" y="3243"/>
            <a:chExt cx="672" cy="640"/>
          </a:xfrm>
        </p:grpSpPr>
        <p:sp>
          <p:nvSpPr>
            <p:cNvPr id="41" name="Rectangle 11">
              <a:extLst>
                <a:ext uri="{FF2B5EF4-FFF2-40B4-BE49-F238E27FC236}">
                  <a16:creationId xmlns:a16="http://schemas.microsoft.com/office/drawing/2014/main" id="{2157340C-7C7E-4BD3-8E50-744834082153}"/>
                </a:ext>
              </a:extLst>
            </p:cNvPr>
            <p:cNvSpPr>
              <a:spLocks noChangeArrowheads="1"/>
            </p:cNvSpPr>
            <p:nvPr/>
          </p:nvSpPr>
          <p:spPr bwMode="auto">
            <a:xfrm>
              <a:off x="3160" y="3243"/>
              <a:ext cx="673" cy="641"/>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Rectangle 12">
              <a:extLst>
                <a:ext uri="{FF2B5EF4-FFF2-40B4-BE49-F238E27FC236}">
                  <a16:creationId xmlns:a16="http://schemas.microsoft.com/office/drawing/2014/main" id="{ABA019A5-DAFC-46C5-B6FC-50C1C61FF6A5}"/>
                </a:ext>
              </a:extLst>
            </p:cNvPr>
            <p:cNvSpPr>
              <a:spLocks noChangeArrowheads="1"/>
            </p:cNvSpPr>
            <p:nvPr/>
          </p:nvSpPr>
          <p:spPr bwMode="auto">
            <a:xfrm>
              <a:off x="3200" y="3379"/>
              <a:ext cx="599"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9pPr>
            </a:lstStyle>
            <a:p>
              <a:pPr algn="ctr"/>
              <a:r>
                <a:rPr lang="en-US" altLang="en-US" b="1">
                  <a:solidFill>
                    <a:srgbClr val="FFFFFF"/>
                  </a:solidFill>
                </a:rPr>
                <a:t>DXE</a:t>
              </a:r>
            </a:p>
            <a:p>
              <a:pPr algn="ctr"/>
              <a:r>
                <a:rPr lang="en-US" altLang="en-US" b="1">
                  <a:solidFill>
                    <a:srgbClr val="FFFFFF"/>
                  </a:solidFill>
                </a:rPr>
                <a:t>Driver</a:t>
              </a:r>
            </a:p>
          </p:txBody>
        </p:sp>
      </p:grpSp>
      <p:sp>
        <p:nvSpPr>
          <p:cNvPr id="43" name="Text Box 13">
            <a:extLst>
              <a:ext uri="{FF2B5EF4-FFF2-40B4-BE49-F238E27FC236}">
                <a16:creationId xmlns:a16="http://schemas.microsoft.com/office/drawing/2014/main" id="{7624623D-73A2-40A4-8127-12854E61B9D6}"/>
              </a:ext>
            </a:extLst>
          </p:cNvPr>
          <p:cNvSpPr txBox="1">
            <a:spLocks noChangeArrowheads="1"/>
          </p:cNvSpPr>
          <p:nvPr/>
        </p:nvSpPr>
        <p:spPr bwMode="auto">
          <a:xfrm>
            <a:off x="10274300" y="4659505"/>
            <a:ext cx="10795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9pPr>
          </a:lstStyle>
          <a:p>
            <a:pPr algn="ctr">
              <a:spcBef>
                <a:spcPts val="1000"/>
              </a:spcBef>
            </a:pPr>
            <a:r>
              <a:rPr lang="en-US" altLang="en-US" sz="1600" b="1"/>
              <a:t>System Memory</a:t>
            </a:r>
          </a:p>
        </p:txBody>
      </p:sp>
      <p:sp>
        <p:nvSpPr>
          <p:cNvPr id="44" name="Rectangle 14">
            <a:extLst>
              <a:ext uri="{FF2B5EF4-FFF2-40B4-BE49-F238E27FC236}">
                <a16:creationId xmlns:a16="http://schemas.microsoft.com/office/drawing/2014/main" id="{46A35F9D-6A33-420C-818D-D5CEADAA8B2D}"/>
              </a:ext>
            </a:extLst>
          </p:cNvPr>
          <p:cNvSpPr>
            <a:spLocks noChangeArrowheads="1"/>
          </p:cNvSpPr>
          <p:nvPr/>
        </p:nvSpPr>
        <p:spPr bwMode="auto">
          <a:xfrm>
            <a:off x="6170613" y="4156268"/>
            <a:ext cx="1295400" cy="576262"/>
          </a:xfrm>
          <a:prstGeom prst="rect">
            <a:avLst/>
          </a:prstGeom>
          <a:solidFill>
            <a:srgbClr val="FFCC00"/>
          </a:solidFill>
          <a:ln w="9360">
            <a:solidFill>
              <a:srgbClr val="000000"/>
            </a:solidFill>
            <a:miter lim="800000"/>
            <a:headEnd/>
            <a:tailEnd/>
          </a:ln>
          <a:effectLst>
            <a:outerShdw dist="107933" dir="2700000" algn="ctr" rotWithShape="0">
              <a:srgbClr val="808080">
                <a:alpha val="50027"/>
              </a:srgbClr>
            </a:outerShdw>
          </a:effectLst>
        </p:spPr>
        <p:txBody>
          <a:bodyPr lIns="0" tIns="0" rIns="0" bIns="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9pPr>
          </a:lstStyle>
          <a:p>
            <a:pPr algn="ctr"/>
            <a:r>
              <a:rPr lang="en-US" altLang="en-US" sz="1600" b="1"/>
              <a:t>Firmware Volumes</a:t>
            </a:r>
          </a:p>
        </p:txBody>
      </p:sp>
      <p:sp>
        <p:nvSpPr>
          <p:cNvPr id="45" name="Freeform 15">
            <a:extLst>
              <a:ext uri="{FF2B5EF4-FFF2-40B4-BE49-F238E27FC236}">
                <a16:creationId xmlns:a16="http://schemas.microsoft.com/office/drawing/2014/main" id="{CB8C5AA8-3572-40A9-8975-7847D345854B}"/>
              </a:ext>
            </a:extLst>
          </p:cNvPr>
          <p:cNvSpPr>
            <a:spLocks/>
          </p:cNvSpPr>
          <p:nvPr/>
        </p:nvSpPr>
        <p:spPr bwMode="auto">
          <a:xfrm>
            <a:off x="7466013" y="3780030"/>
            <a:ext cx="647700" cy="520700"/>
          </a:xfrm>
          <a:custGeom>
            <a:avLst/>
            <a:gdLst>
              <a:gd name="T0" fmla="*/ 0 w 1800"/>
              <a:gd name="T1" fmla="*/ 1447 h 1448"/>
              <a:gd name="T2" fmla="*/ 1799 w 1800"/>
              <a:gd name="T3" fmla="*/ 0 h 1448"/>
            </a:gdLst>
            <a:ahLst/>
            <a:cxnLst>
              <a:cxn ang="0">
                <a:pos x="T0" y="T1"/>
              </a:cxn>
              <a:cxn ang="0">
                <a:pos x="T2" y="T3"/>
              </a:cxn>
            </a:cxnLst>
            <a:rect l="0" t="0" r="r" b="b"/>
            <a:pathLst>
              <a:path w="1800" h="1448">
                <a:moveTo>
                  <a:pt x="0" y="1447"/>
                </a:moveTo>
                <a:lnTo>
                  <a:pt x="1799" y="0"/>
                </a:lnTo>
              </a:path>
            </a:pathLst>
          </a:custGeom>
          <a:noFill/>
          <a:ln w="9360">
            <a:solidFill>
              <a:srgbClr val="FF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 name="AutoShape 16">
            <a:extLst>
              <a:ext uri="{FF2B5EF4-FFF2-40B4-BE49-F238E27FC236}">
                <a16:creationId xmlns:a16="http://schemas.microsoft.com/office/drawing/2014/main" id="{ACFD0A05-E040-49AE-AE25-E6BD9B0F2E24}"/>
              </a:ext>
            </a:extLst>
          </p:cNvPr>
          <p:cNvSpPr>
            <a:spLocks noChangeArrowheads="1"/>
          </p:cNvSpPr>
          <p:nvPr/>
        </p:nvSpPr>
        <p:spPr bwMode="auto">
          <a:xfrm>
            <a:off x="4265613" y="3732405"/>
            <a:ext cx="381000" cy="990600"/>
          </a:xfrm>
          <a:prstGeom prst="upArrow">
            <a:avLst>
              <a:gd name="adj1" fmla="val 50000"/>
              <a:gd name="adj2" fmla="val 65000"/>
            </a:avLst>
          </a:prstGeom>
          <a:solidFill>
            <a:srgbClr val="FFFF00"/>
          </a:solidFill>
          <a:ln w="9360">
            <a:solidFill>
              <a:srgbClr val="CC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7">
            <a:extLst>
              <a:ext uri="{FF2B5EF4-FFF2-40B4-BE49-F238E27FC236}">
                <a16:creationId xmlns:a16="http://schemas.microsoft.com/office/drawing/2014/main" id="{71258BD4-6B30-4448-8AD4-3DD52034112E}"/>
              </a:ext>
            </a:extLst>
          </p:cNvPr>
          <p:cNvSpPr>
            <a:spLocks/>
          </p:cNvSpPr>
          <p:nvPr/>
        </p:nvSpPr>
        <p:spPr bwMode="auto">
          <a:xfrm>
            <a:off x="5233988" y="4443605"/>
            <a:ext cx="936625" cy="792163"/>
          </a:xfrm>
          <a:custGeom>
            <a:avLst/>
            <a:gdLst>
              <a:gd name="T0" fmla="*/ 2602 w 2603"/>
              <a:gd name="T1" fmla="*/ 0 h 2202"/>
              <a:gd name="T2" fmla="*/ 0 w 2603"/>
              <a:gd name="T3" fmla="*/ 2201 h 2202"/>
            </a:gdLst>
            <a:ahLst/>
            <a:cxnLst>
              <a:cxn ang="0">
                <a:pos x="T0" y="T1"/>
              </a:cxn>
              <a:cxn ang="0">
                <a:pos x="T2" y="T3"/>
              </a:cxn>
            </a:cxnLst>
            <a:rect l="0" t="0" r="r" b="b"/>
            <a:pathLst>
              <a:path w="2603" h="2202">
                <a:moveTo>
                  <a:pt x="2602" y="0"/>
                </a:moveTo>
                <a:lnTo>
                  <a:pt x="0" y="2201"/>
                </a:lnTo>
              </a:path>
            </a:pathLst>
          </a:custGeom>
          <a:noFill/>
          <a:ln w="9360">
            <a:solidFill>
              <a:srgbClr val="FF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 name="Freeform 18">
            <a:extLst>
              <a:ext uri="{FF2B5EF4-FFF2-40B4-BE49-F238E27FC236}">
                <a16:creationId xmlns:a16="http://schemas.microsoft.com/office/drawing/2014/main" id="{83628788-399D-4E73-814D-3925CC5AC42A}"/>
              </a:ext>
            </a:extLst>
          </p:cNvPr>
          <p:cNvSpPr>
            <a:spLocks/>
          </p:cNvSpPr>
          <p:nvPr/>
        </p:nvSpPr>
        <p:spPr bwMode="auto">
          <a:xfrm>
            <a:off x="6678613" y="4732530"/>
            <a:ext cx="282575" cy="503238"/>
          </a:xfrm>
          <a:custGeom>
            <a:avLst/>
            <a:gdLst>
              <a:gd name="T0" fmla="*/ 0 w 786"/>
              <a:gd name="T1" fmla="*/ 0 h 1399"/>
              <a:gd name="T2" fmla="*/ 785 w 786"/>
              <a:gd name="T3" fmla="*/ 1398 h 1399"/>
            </a:gdLst>
            <a:ahLst/>
            <a:cxnLst>
              <a:cxn ang="0">
                <a:pos x="T0" y="T1"/>
              </a:cxn>
              <a:cxn ang="0">
                <a:pos x="T2" y="T3"/>
              </a:cxn>
            </a:cxnLst>
            <a:rect l="0" t="0" r="r" b="b"/>
            <a:pathLst>
              <a:path w="786" h="1399">
                <a:moveTo>
                  <a:pt x="0" y="0"/>
                </a:moveTo>
                <a:lnTo>
                  <a:pt x="785" y="1398"/>
                </a:lnTo>
              </a:path>
            </a:pathLst>
          </a:custGeom>
          <a:noFill/>
          <a:ln w="9360">
            <a:solidFill>
              <a:srgbClr val="FF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9" name="Freeform 19">
            <a:extLst>
              <a:ext uri="{FF2B5EF4-FFF2-40B4-BE49-F238E27FC236}">
                <a16:creationId xmlns:a16="http://schemas.microsoft.com/office/drawing/2014/main" id="{7052FB5A-7CB5-4F6E-AD15-B22859A05E3E}"/>
              </a:ext>
            </a:extLst>
          </p:cNvPr>
          <p:cNvSpPr>
            <a:spLocks/>
          </p:cNvSpPr>
          <p:nvPr/>
        </p:nvSpPr>
        <p:spPr bwMode="auto">
          <a:xfrm>
            <a:off x="7466013" y="4588068"/>
            <a:ext cx="1295400" cy="647700"/>
          </a:xfrm>
          <a:custGeom>
            <a:avLst/>
            <a:gdLst>
              <a:gd name="T0" fmla="*/ 0 w 3599"/>
              <a:gd name="T1" fmla="*/ 0 h 1800"/>
              <a:gd name="T2" fmla="*/ 3598 w 3599"/>
              <a:gd name="T3" fmla="*/ 1799 h 1800"/>
            </a:gdLst>
            <a:ahLst/>
            <a:cxnLst>
              <a:cxn ang="0">
                <a:pos x="T0" y="T1"/>
              </a:cxn>
              <a:cxn ang="0">
                <a:pos x="T2" y="T3"/>
              </a:cxn>
            </a:cxnLst>
            <a:rect l="0" t="0" r="r" b="b"/>
            <a:pathLst>
              <a:path w="3599" h="1800">
                <a:moveTo>
                  <a:pt x="0" y="0"/>
                </a:moveTo>
                <a:lnTo>
                  <a:pt x="3598" y="1799"/>
                </a:lnTo>
              </a:path>
            </a:pathLst>
          </a:custGeom>
          <a:noFill/>
          <a:ln w="9360">
            <a:solidFill>
              <a:srgbClr val="FF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 name="AutoShape 20">
            <a:extLst>
              <a:ext uri="{FF2B5EF4-FFF2-40B4-BE49-F238E27FC236}">
                <a16:creationId xmlns:a16="http://schemas.microsoft.com/office/drawing/2014/main" id="{AD1BDA5C-5B0A-4D9A-874B-1D299B8D659C}"/>
              </a:ext>
            </a:extLst>
          </p:cNvPr>
          <p:cNvSpPr>
            <a:spLocks noChangeArrowheads="1"/>
          </p:cNvSpPr>
          <p:nvPr/>
        </p:nvSpPr>
        <p:spPr bwMode="auto">
          <a:xfrm>
            <a:off x="6361113" y="1241618"/>
            <a:ext cx="457200" cy="609600"/>
          </a:xfrm>
          <a:prstGeom prst="downArrow">
            <a:avLst>
              <a:gd name="adj1" fmla="val 50000"/>
              <a:gd name="adj2" fmla="val 33333"/>
            </a:avLst>
          </a:prstGeom>
          <a:solidFill>
            <a:srgbClr val="FFFF00"/>
          </a:solidFill>
          <a:ln w="9360">
            <a:solidFill>
              <a:srgbClr val="CC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 name="Freeform 21">
            <a:extLst>
              <a:ext uri="{FF2B5EF4-FFF2-40B4-BE49-F238E27FC236}">
                <a16:creationId xmlns:a16="http://schemas.microsoft.com/office/drawing/2014/main" id="{8C0AB6A4-9777-4BCD-828B-6DA08C318476}"/>
              </a:ext>
            </a:extLst>
          </p:cNvPr>
          <p:cNvSpPr>
            <a:spLocks/>
          </p:cNvSpPr>
          <p:nvPr/>
        </p:nvSpPr>
        <p:spPr bwMode="auto">
          <a:xfrm>
            <a:off x="9066213" y="4011805"/>
            <a:ext cx="1208087" cy="1168400"/>
          </a:xfrm>
          <a:custGeom>
            <a:avLst/>
            <a:gdLst>
              <a:gd name="T0" fmla="*/ 0 w 3357"/>
              <a:gd name="T1" fmla="*/ 3246 h 3247"/>
              <a:gd name="T2" fmla="*/ 3356 w 3357"/>
              <a:gd name="T3" fmla="*/ 0 h 3247"/>
            </a:gdLst>
            <a:ahLst/>
            <a:cxnLst>
              <a:cxn ang="0">
                <a:pos x="T0" y="T1"/>
              </a:cxn>
              <a:cxn ang="0">
                <a:pos x="T2" y="T3"/>
              </a:cxn>
            </a:cxnLst>
            <a:rect l="0" t="0" r="r" b="b"/>
            <a:pathLst>
              <a:path w="3357" h="3247">
                <a:moveTo>
                  <a:pt x="0" y="3246"/>
                </a:moveTo>
                <a:lnTo>
                  <a:pt x="3356" y="0"/>
                </a:lnTo>
              </a:path>
            </a:pathLst>
          </a:custGeom>
          <a:noFill/>
          <a:ln w="9360">
            <a:solidFill>
              <a:srgbClr val="FF0000"/>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52" name="Group 22">
            <a:extLst>
              <a:ext uri="{FF2B5EF4-FFF2-40B4-BE49-F238E27FC236}">
                <a16:creationId xmlns:a16="http://schemas.microsoft.com/office/drawing/2014/main" id="{475DCBB1-AB3E-4A0C-A8D2-CF747D4E62B8}"/>
              </a:ext>
            </a:extLst>
          </p:cNvPr>
          <p:cNvGrpSpPr>
            <a:grpSpLocks/>
          </p:cNvGrpSpPr>
          <p:nvPr/>
        </p:nvGrpSpPr>
        <p:grpSpPr bwMode="auto">
          <a:xfrm>
            <a:off x="10274300" y="2787843"/>
            <a:ext cx="1066800" cy="1016000"/>
            <a:chOff x="4468" y="1699"/>
            <a:chExt cx="672" cy="640"/>
          </a:xfrm>
        </p:grpSpPr>
        <p:sp>
          <p:nvSpPr>
            <p:cNvPr id="53" name="Rectangle 23">
              <a:extLst>
                <a:ext uri="{FF2B5EF4-FFF2-40B4-BE49-F238E27FC236}">
                  <a16:creationId xmlns:a16="http://schemas.microsoft.com/office/drawing/2014/main" id="{77617648-F441-4882-A753-D09CE1036EBD}"/>
                </a:ext>
              </a:extLst>
            </p:cNvPr>
            <p:cNvSpPr>
              <a:spLocks noChangeArrowheads="1"/>
            </p:cNvSpPr>
            <p:nvPr/>
          </p:nvSpPr>
          <p:spPr bwMode="auto">
            <a:xfrm>
              <a:off x="4468" y="1699"/>
              <a:ext cx="673" cy="641"/>
            </a:xfrm>
            <a:prstGeom prst="rect">
              <a:avLst/>
            </a:prstGeom>
            <a:solidFill>
              <a:srgbClr val="3B6A4D"/>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 name="Rectangle 24">
              <a:extLst>
                <a:ext uri="{FF2B5EF4-FFF2-40B4-BE49-F238E27FC236}">
                  <a16:creationId xmlns:a16="http://schemas.microsoft.com/office/drawing/2014/main" id="{C92AC00D-D26E-405A-8862-461989E7A2B3}"/>
                </a:ext>
              </a:extLst>
            </p:cNvPr>
            <p:cNvSpPr>
              <a:spLocks noChangeArrowheads="1"/>
            </p:cNvSpPr>
            <p:nvPr/>
          </p:nvSpPr>
          <p:spPr bwMode="auto">
            <a:xfrm>
              <a:off x="4508" y="1835"/>
              <a:ext cx="599"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ea typeface="新細明體" panose="02020500000000000000" pitchFamily="18" charset="-120"/>
                </a:defRPr>
              </a:lvl9pPr>
            </a:lstStyle>
            <a:p>
              <a:pPr algn="ctr"/>
              <a:r>
                <a:rPr lang="en-US" altLang="en-US" b="1">
                  <a:solidFill>
                    <a:srgbClr val="FFFFFF"/>
                  </a:solidFill>
                </a:rPr>
                <a:t>DXE</a:t>
              </a:r>
            </a:p>
            <a:p>
              <a:pPr algn="ctr"/>
              <a:r>
                <a:rPr lang="en-US" altLang="en-US" b="1">
                  <a:solidFill>
                    <a:srgbClr val="FFFFFF"/>
                  </a:solidFill>
                </a:rPr>
                <a:t>Driver</a:t>
              </a:r>
            </a:p>
          </p:txBody>
        </p:sp>
      </p:grpSp>
    </p:spTree>
    <p:extLst>
      <p:ext uri="{BB962C8B-B14F-4D97-AF65-F5344CB8AC3E}">
        <p14:creationId xmlns:p14="http://schemas.microsoft.com/office/powerpoint/2010/main" val="139025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46"/>
                                        </p:tgtEl>
                                        <p:attrNameLst>
                                          <p:attrName>style.visibility</p:attrName>
                                        </p:attrNameLst>
                                      </p:cBhvr>
                                      <p:to>
                                        <p:strVal val="visible"/>
                                      </p:to>
                                    </p:se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additive="repl">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additive="repl">
                                        <p:cTn id="22" dur="1" fill="hold">
                                          <p:stCondLst>
                                            <p:cond delay="0"/>
                                          </p:stCondLst>
                                        </p:cTn>
                                        <p:tgtEl>
                                          <p:spTgt spid="47"/>
                                        </p:tgtEl>
                                        <p:attrNameLst>
                                          <p:attrName>style.visibility</p:attrName>
                                        </p:attrNameLst>
                                      </p:cBhvr>
                                      <p:to>
                                        <p:strVal val="visible"/>
                                      </p:to>
                                    </p:set>
                                  </p:childTnLst>
                                  <p:subTnLst>
                                    <p:set>
                                      <p:cBhvr override="childStyle">
                                        <p:cTn dur="1" fill="hold" display="0" masterRel="nextClick" afterEffect="1"/>
                                        <p:tgtEl>
                                          <p:spTgt spid="4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additive="repl">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additive="repl">
                                        <p:cTn id="30" dur="1" fill="hold">
                                          <p:stCondLst>
                                            <p:cond delay="0"/>
                                          </p:stCondLst>
                                        </p:cTn>
                                        <p:tgtEl>
                                          <p:spTgt spid="48"/>
                                        </p:tgtEl>
                                        <p:attrNameLst>
                                          <p:attrName>style.visibility</p:attrName>
                                        </p:attrNameLst>
                                      </p:cBhvr>
                                      <p:to>
                                        <p:strVal val="visible"/>
                                      </p:to>
                                    </p:set>
                                  </p:childTnLst>
                                  <p:subTnLst>
                                    <p:set>
                                      <p:cBhvr override="childStyle">
                                        <p:cTn dur="1" fill="hold" display="0" masterRel="nextClick" afterEffect="1"/>
                                        <p:tgtEl>
                                          <p:spTgt spid="48"/>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additive="repl">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additive="repl">
                                        <p:cTn id="38" dur="1" fill="hold">
                                          <p:stCondLst>
                                            <p:cond delay="0"/>
                                          </p:stCondLst>
                                        </p:cTn>
                                        <p:tgtEl>
                                          <p:spTgt spid="49"/>
                                        </p:tgtEl>
                                        <p:attrNameLst>
                                          <p:attrName>style.visibility</p:attrName>
                                        </p:attrNameLst>
                                      </p:cBhvr>
                                      <p:to>
                                        <p:strVal val="visible"/>
                                      </p:to>
                                    </p:set>
                                  </p:childTnLst>
                                  <p:subTnLst>
                                    <p:set>
                                      <p:cBhvr override="childStyle">
                                        <p:cTn dur="1" fill="hold" display="0" masterRel="nextClick" afterEffect="1"/>
                                        <p:tgtEl>
                                          <p:spTgt spid="49"/>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additive="repl">
                                        <p:cTn id="42" dur="1" fill="hold">
                                          <p:stCondLst>
                                            <p:cond delay="0"/>
                                          </p:stCondLst>
                                        </p:cTn>
                                        <p:tgtEl>
                                          <p:spTgt spid="50"/>
                                        </p:tgtEl>
                                        <p:attrNameLst>
                                          <p:attrName>style.visibility</p:attrName>
                                        </p:attrNameLst>
                                      </p:cBhvr>
                                      <p:to>
                                        <p:strVal val="visible"/>
                                      </p:to>
                                    </p:set>
                                  </p:childTnLst>
                                  <p:subTnLst>
                                    <p:set>
                                      <p:cBhvr override="childStyle">
                                        <p:cTn dur="1" fill="hold" display="0" masterRel="nextClick" afterEffect="1"/>
                                        <p:tgtEl>
                                          <p:spTgt spid="50"/>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additive="repl">
                                        <p:cTn id="46" dur="1" fill="hold">
                                          <p:stCondLst>
                                            <p:cond delay="0"/>
                                          </p:stCondLst>
                                        </p:cTn>
                                        <p:tgtEl>
                                          <p:spTgt spid="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fill="hold" nodeType="clickEffect">
                                  <p:stCondLst>
                                    <p:cond delay="0"/>
                                  </p:stCondLst>
                                  <p:childTnLst>
                                    <p:set>
                                      <p:cBhvr additive="repl">
                                        <p:cTn id="5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Driver Execution Environment</a:t>
            </a:r>
            <a:br>
              <a:rPr lang="en-US" dirty="0"/>
            </a:br>
            <a:r>
              <a:rPr lang="en-US" sz="3100" dirty="0"/>
              <a:t>End of the Dispatcher</a:t>
            </a:r>
            <a:endParaRPr lang="en-US" dirty="0"/>
          </a:p>
        </p:txBody>
      </p:sp>
      <p:sp>
        <p:nvSpPr>
          <p:cNvPr id="28" name="CustomShape 2">
            <a:extLst>
              <a:ext uri="{FF2B5EF4-FFF2-40B4-BE49-F238E27FC236}">
                <a16:creationId xmlns:a16="http://schemas.microsoft.com/office/drawing/2014/main" id="{64F6976B-C52A-408F-8C44-0B5B100FB673}"/>
              </a:ext>
            </a:extLst>
          </p:cNvPr>
          <p:cNvSpPr/>
          <p:nvPr/>
        </p:nvSpPr>
        <p:spPr>
          <a:xfrm>
            <a:off x="838200" y="129896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1280" indent="-339120">
              <a:lnSpc>
                <a:spcPct val="98000"/>
              </a:lnSpc>
              <a:spcBef>
                <a:spcPts val="601"/>
              </a:spcBef>
              <a:buClr>
                <a:srgbClr val="000000"/>
              </a:buClr>
              <a:buFont typeface="Arial"/>
              <a:buChar char="•"/>
            </a:pPr>
            <a:r>
              <a:rPr lang="en-US" sz="2800" b="0" strike="noStrike" spc="-1" dirty="0">
                <a:solidFill>
                  <a:srgbClr val="000000"/>
                </a:solidFill>
                <a:latin typeface="Segoe UI"/>
                <a:ea typeface="細明體"/>
              </a:rPr>
              <a:t>The dispatcher ends when there is no more driver to be dispatched</a:t>
            </a:r>
            <a:endParaRPr lang="en-US" sz="2800" b="0" strike="noStrike" spc="-1" dirty="0">
              <a:latin typeface="Arial"/>
            </a:endParaRPr>
          </a:p>
          <a:p>
            <a:pPr marL="341280" indent="-339120">
              <a:lnSpc>
                <a:spcPct val="98000"/>
              </a:lnSpc>
              <a:spcBef>
                <a:spcPts val="601"/>
              </a:spcBef>
              <a:buClr>
                <a:srgbClr val="000000"/>
              </a:buClr>
              <a:buFont typeface="Arial"/>
              <a:buChar char="•"/>
            </a:pPr>
            <a:r>
              <a:rPr lang="en-US" sz="2800" b="0" strike="noStrike" spc="-1" dirty="0">
                <a:solidFill>
                  <a:srgbClr val="000000"/>
                </a:solidFill>
                <a:latin typeface="Segoe UI"/>
                <a:ea typeface="細明體"/>
              </a:rPr>
              <a:t>BDS begins execution</a:t>
            </a:r>
            <a:endParaRPr lang="en-US" sz="2800" b="0" strike="noStrike" spc="-1" dirty="0">
              <a:latin typeface="Arial"/>
            </a:endParaRPr>
          </a:p>
          <a:p>
            <a:pPr>
              <a:lnSpc>
                <a:spcPct val="90000"/>
              </a:lnSpc>
              <a:spcBef>
                <a:spcPts val="1001"/>
              </a:spcBef>
            </a:pPr>
            <a:endParaRPr lang="en-US" sz="2800" b="0" strike="noStrike" spc="-1" dirty="0">
              <a:latin typeface="Arial"/>
            </a:endParaRPr>
          </a:p>
        </p:txBody>
      </p:sp>
      <p:sp>
        <p:nvSpPr>
          <p:cNvPr id="29" name="CustomShape 3">
            <a:extLst>
              <a:ext uri="{FF2B5EF4-FFF2-40B4-BE49-F238E27FC236}">
                <a16:creationId xmlns:a16="http://schemas.microsoft.com/office/drawing/2014/main" id="{92736336-A727-49DB-9947-590F6D713450}"/>
              </a:ext>
            </a:extLst>
          </p:cNvPr>
          <p:cNvSpPr/>
          <p:nvPr/>
        </p:nvSpPr>
        <p:spPr>
          <a:xfrm>
            <a:off x="3125640" y="3814640"/>
            <a:ext cx="1144080" cy="273960"/>
          </a:xfrm>
          <a:prstGeom prst="rect">
            <a:avLst/>
          </a:prstGeom>
          <a:noFill/>
          <a:ln>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200" b="1" strike="noStrike" spc="-1">
                <a:solidFill>
                  <a:srgbClr val="000000"/>
                </a:solidFill>
                <a:latin typeface="Arial"/>
                <a:ea typeface="新細明體"/>
              </a:rPr>
              <a:t>List of GUIDs</a:t>
            </a:r>
            <a:endParaRPr lang="en-US" sz="1200" b="0" strike="noStrike" spc="-1">
              <a:latin typeface="Arial"/>
            </a:endParaRPr>
          </a:p>
        </p:txBody>
      </p:sp>
      <p:sp>
        <p:nvSpPr>
          <p:cNvPr id="30" name="CustomShape 4">
            <a:extLst>
              <a:ext uri="{FF2B5EF4-FFF2-40B4-BE49-F238E27FC236}">
                <a16:creationId xmlns:a16="http://schemas.microsoft.com/office/drawing/2014/main" id="{21F1303F-5C32-4E33-8874-B5515B3291FC}"/>
              </a:ext>
            </a:extLst>
          </p:cNvPr>
          <p:cNvSpPr/>
          <p:nvPr/>
        </p:nvSpPr>
        <p:spPr>
          <a:xfrm>
            <a:off x="2057520" y="3776480"/>
            <a:ext cx="1123200" cy="1051920"/>
          </a:xfrm>
          <a:prstGeom prst="rect">
            <a:avLst/>
          </a:prstGeom>
          <a:solidFill>
            <a:srgbClr val="00CC99"/>
          </a:solidFill>
          <a:ln w="5724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400" b="0" strike="noStrike" spc="-1">
                <a:solidFill>
                  <a:srgbClr val="FFFFFF"/>
                </a:solidFill>
                <a:latin typeface="Arial"/>
                <a:ea typeface="新細明體"/>
              </a:rPr>
              <a:t>DXE</a:t>
            </a:r>
            <a:endParaRPr lang="en-US" sz="2400" b="0" strike="noStrike" spc="-1">
              <a:latin typeface="Arial"/>
            </a:endParaRPr>
          </a:p>
          <a:p>
            <a:pPr algn="ctr">
              <a:lnSpc>
                <a:spcPct val="100000"/>
              </a:lnSpc>
            </a:pPr>
            <a:r>
              <a:rPr lang="en-US" sz="2400" b="0" strike="noStrike" spc="-1">
                <a:solidFill>
                  <a:srgbClr val="FFFFFF"/>
                </a:solidFill>
                <a:latin typeface="Arial"/>
                <a:ea typeface="新細明體"/>
              </a:rPr>
              <a:t>Core</a:t>
            </a:r>
            <a:endParaRPr lang="en-US" sz="2400" b="0" strike="noStrike" spc="-1">
              <a:latin typeface="Arial"/>
            </a:endParaRPr>
          </a:p>
        </p:txBody>
      </p:sp>
      <p:sp>
        <p:nvSpPr>
          <p:cNvPr id="31" name="CustomShape 5">
            <a:extLst>
              <a:ext uri="{FF2B5EF4-FFF2-40B4-BE49-F238E27FC236}">
                <a16:creationId xmlns:a16="http://schemas.microsoft.com/office/drawing/2014/main" id="{D42BBD6D-A5BD-42B9-A18E-490045151EA4}"/>
              </a:ext>
            </a:extLst>
          </p:cNvPr>
          <p:cNvSpPr/>
          <p:nvPr/>
        </p:nvSpPr>
        <p:spPr>
          <a:xfrm>
            <a:off x="4027440" y="3474800"/>
            <a:ext cx="1779120" cy="1648800"/>
          </a:xfrm>
          <a:prstGeom prst="diamond">
            <a:avLst/>
          </a:prstGeom>
          <a:solidFill>
            <a:srgbClr val="00CC99"/>
          </a:solidFill>
          <a:ln w="57240">
            <a:solidFill>
              <a:srgbClr val="000000"/>
            </a:solidFill>
            <a:miter/>
          </a:ln>
        </p:spPr>
        <p:style>
          <a:lnRef idx="0">
            <a:scrgbClr r="0" g="0" b="0"/>
          </a:lnRef>
          <a:fillRef idx="0">
            <a:scrgbClr r="0" g="0" b="0"/>
          </a:fillRef>
          <a:effectRef idx="0">
            <a:scrgbClr r="0" g="0" b="0"/>
          </a:effectRef>
          <a:fontRef idx="minor"/>
        </p:style>
        <p:txBody>
          <a:bodyPr wrap="none" lIns="90000" tIns="10800" rIns="90000" bIns="262800" anchor="ctr">
            <a:noAutofit/>
          </a:bodyPr>
          <a:lstStyle/>
          <a:p>
            <a:pPr algn="ctr">
              <a:lnSpc>
                <a:spcPct val="100000"/>
              </a:lnSpc>
            </a:pPr>
            <a:r>
              <a:rPr lang="en-US" sz="2400" b="0" strike="noStrike" spc="-1">
                <a:solidFill>
                  <a:srgbClr val="FFFFFF"/>
                </a:solidFill>
                <a:latin typeface="Arial"/>
                <a:ea typeface="新細明體"/>
              </a:rPr>
              <a:t>DXE</a:t>
            </a:r>
            <a:endParaRPr lang="en-US" sz="2400" b="0" strike="noStrike" spc="-1">
              <a:latin typeface="Arial"/>
            </a:endParaRPr>
          </a:p>
          <a:p>
            <a:pPr algn="ctr">
              <a:lnSpc>
                <a:spcPct val="100000"/>
              </a:lnSpc>
            </a:pPr>
            <a:r>
              <a:rPr lang="en-US" sz="2400" b="0" strike="noStrike" spc="-1">
                <a:solidFill>
                  <a:srgbClr val="FFFFFF"/>
                </a:solidFill>
                <a:latin typeface="Arial"/>
                <a:ea typeface="新細明體"/>
              </a:rPr>
              <a:t>Dispatcher</a:t>
            </a:r>
            <a:endParaRPr lang="en-US" sz="2400" b="0" strike="noStrike" spc="-1">
              <a:latin typeface="Arial"/>
            </a:endParaRPr>
          </a:p>
        </p:txBody>
      </p:sp>
      <p:sp>
        <p:nvSpPr>
          <p:cNvPr id="32" name="CustomShape 6">
            <a:extLst>
              <a:ext uri="{FF2B5EF4-FFF2-40B4-BE49-F238E27FC236}">
                <a16:creationId xmlns:a16="http://schemas.microsoft.com/office/drawing/2014/main" id="{6E214D84-6CD7-467F-96DE-D366853E74D8}"/>
              </a:ext>
            </a:extLst>
          </p:cNvPr>
          <p:cNvSpPr/>
          <p:nvPr/>
        </p:nvSpPr>
        <p:spPr>
          <a:xfrm flipV="1">
            <a:off x="3197280" y="4293080"/>
            <a:ext cx="855000" cy="1080"/>
          </a:xfrm>
          <a:custGeom>
            <a:avLst/>
            <a:gdLst/>
            <a:ahLst/>
            <a:cxnLst/>
            <a:rect l="l" t="t" r="r" b="b"/>
            <a:pathLst>
              <a:path w="21600" h="21600">
                <a:moveTo>
                  <a:pt x="0" y="0"/>
                </a:moveTo>
                <a:lnTo>
                  <a:pt x="21600" y="21600"/>
                </a:lnTo>
              </a:path>
            </a:pathLst>
          </a:custGeom>
          <a:noFill/>
          <a:ln w="57240">
            <a:solidFill>
              <a:srgbClr val="000000"/>
            </a:solidFill>
            <a:miter/>
            <a:tailEnd type="triangle" w="med" len="med"/>
          </a:ln>
        </p:spPr>
        <p:style>
          <a:lnRef idx="0">
            <a:scrgbClr r="0" g="0" b="0"/>
          </a:lnRef>
          <a:fillRef idx="0">
            <a:scrgbClr r="0" g="0" b="0"/>
          </a:fillRef>
          <a:effectRef idx="0">
            <a:scrgbClr r="0" g="0" b="0"/>
          </a:effectRef>
          <a:fontRef idx="minor"/>
        </p:style>
      </p:sp>
      <p:sp>
        <p:nvSpPr>
          <p:cNvPr id="33" name="CustomShape 7">
            <a:extLst>
              <a:ext uri="{FF2B5EF4-FFF2-40B4-BE49-F238E27FC236}">
                <a16:creationId xmlns:a16="http://schemas.microsoft.com/office/drawing/2014/main" id="{91782532-85B2-40B2-8742-0C24EA6BE58A}"/>
              </a:ext>
            </a:extLst>
          </p:cNvPr>
          <p:cNvSpPr/>
          <p:nvPr/>
        </p:nvSpPr>
        <p:spPr>
          <a:xfrm>
            <a:off x="6912120" y="4030640"/>
            <a:ext cx="1404360" cy="531360"/>
          </a:xfrm>
          <a:prstGeom prst="rect">
            <a:avLst/>
          </a:prstGeom>
          <a:solidFill>
            <a:srgbClr val="00CC99"/>
          </a:solidFill>
          <a:ln w="5724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2400" b="0" strike="noStrike" spc="-1">
                <a:solidFill>
                  <a:srgbClr val="FFFFFF"/>
                </a:solidFill>
                <a:latin typeface="Arial"/>
                <a:ea typeface="新細明體"/>
              </a:rPr>
              <a:t>BDS.Entry</a:t>
            </a:r>
            <a:endParaRPr lang="en-US" sz="2400" b="0" strike="noStrike" spc="-1">
              <a:latin typeface="Arial"/>
            </a:endParaRPr>
          </a:p>
        </p:txBody>
      </p:sp>
      <p:sp>
        <p:nvSpPr>
          <p:cNvPr id="34" name="CustomShape 8">
            <a:extLst>
              <a:ext uri="{FF2B5EF4-FFF2-40B4-BE49-F238E27FC236}">
                <a16:creationId xmlns:a16="http://schemas.microsoft.com/office/drawing/2014/main" id="{14980B77-1A5B-4DB5-A5F1-B7AAF7C935A0}"/>
              </a:ext>
            </a:extLst>
          </p:cNvPr>
          <p:cNvSpPr/>
          <p:nvPr/>
        </p:nvSpPr>
        <p:spPr>
          <a:xfrm flipV="1">
            <a:off x="5789640" y="4289840"/>
            <a:ext cx="1134360" cy="1080"/>
          </a:xfrm>
          <a:custGeom>
            <a:avLst/>
            <a:gdLst/>
            <a:ahLst/>
            <a:cxnLst/>
            <a:rect l="l" t="t" r="r" b="b"/>
            <a:pathLst>
              <a:path w="21600" h="21600">
                <a:moveTo>
                  <a:pt x="0" y="0"/>
                </a:moveTo>
                <a:lnTo>
                  <a:pt x="21600" y="21600"/>
                </a:lnTo>
              </a:path>
            </a:pathLst>
          </a:custGeom>
          <a:noFill/>
          <a:ln w="57240">
            <a:solidFill>
              <a:srgbClr val="000000"/>
            </a:solidFill>
            <a:miter/>
            <a:tailEnd type="triangle" w="med" len="med"/>
          </a:ln>
        </p:spPr>
        <p:style>
          <a:lnRef idx="0">
            <a:scrgbClr r="0" g="0" b="0"/>
          </a:lnRef>
          <a:fillRef idx="0">
            <a:scrgbClr r="0" g="0" b="0"/>
          </a:fillRef>
          <a:effectRef idx="0">
            <a:scrgbClr r="0" g="0" b="0"/>
          </a:effectRef>
          <a:fontRef idx="minor"/>
        </p:style>
      </p:sp>
      <p:sp>
        <p:nvSpPr>
          <p:cNvPr id="35" name="CustomShape 9">
            <a:extLst>
              <a:ext uri="{FF2B5EF4-FFF2-40B4-BE49-F238E27FC236}">
                <a16:creationId xmlns:a16="http://schemas.microsoft.com/office/drawing/2014/main" id="{E671CB2B-BB3B-4A1F-9B79-56F22E5C1B6B}"/>
              </a:ext>
            </a:extLst>
          </p:cNvPr>
          <p:cNvSpPr/>
          <p:nvPr/>
        </p:nvSpPr>
        <p:spPr>
          <a:xfrm>
            <a:off x="5626200" y="3741560"/>
            <a:ext cx="1193400" cy="54864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noAutofit/>
          </a:bodyPr>
          <a:lstStyle/>
          <a:p>
            <a:pPr algn="ctr">
              <a:lnSpc>
                <a:spcPct val="100000"/>
              </a:lnSpc>
            </a:pPr>
            <a:r>
              <a:rPr lang="en-US" sz="1000" b="1" strike="noStrike" spc="-1">
                <a:solidFill>
                  <a:srgbClr val="000000"/>
                </a:solidFill>
                <a:latin typeface="Arial"/>
                <a:ea typeface="新細明體"/>
              </a:rPr>
              <a:t>Completed </a:t>
            </a:r>
            <a:endParaRPr lang="en-US" sz="1000" b="0" strike="noStrike" spc="-1">
              <a:latin typeface="Arial"/>
            </a:endParaRPr>
          </a:p>
          <a:p>
            <a:pPr algn="ctr">
              <a:lnSpc>
                <a:spcPct val="100000"/>
              </a:lnSpc>
            </a:pPr>
            <a:r>
              <a:rPr lang="en-US" sz="1000" b="1" strike="noStrike" spc="-1">
                <a:solidFill>
                  <a:srgbClr val="000000"/>
                </a:solidFill>
                <a:latin typeface="Arial"/>
                <a:ea typeface="新細明體"/>
              </a:rPr>
              <a:t>Dispatching Drivers</a:t>
            </a:r>
            <a:endParaRPr lang="en-US" sz="1000" b="0" strike="noStrike" spc="-1">
              <a:latin typeface="Arial"/>
            </a:endParaRPr>
          </a:p>
        </p:txBody>
      </p:sp>
      <p:sp>
        <p:nvSpPr>
          <p:cNvPr id="3" name="TextBox 2">
            <a:extLst>
              <a:ext uri="{FF2B5EF4-FFF2-40B4-BE49-F238E27FC236}">
                <a16:creationId xmlns:a16="http://schemas.microsoft.com/office/drawing/2014/main" id="{829886AD-1F31-4D9C-AFD9-6868367DF798}"/>
              </a:ext>
            </a:extLst>
          </p:cNvPr>
          <p:cNvSpPr txBox="1"/>
          <p:nvPr/>
        </p:nvSpPr>
        <p:spPr>
          <a:xfrm>
            <a:off x="5789640" y="4655174"/>
            <a:ext cx="4458272" cy="2031325"/>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b="0" dirty="0" err="1">
                <a:solidFill>
                  <a:srgbClr val="D4D4D4"/>
                </a:solidFill>
                <a:effectLst/>
                <a:latin typeface="Fira Code" panose="020B0509050000020004" pitchFamily="49" charset="0"/>
              </a:rPr>
              <a:t>gEfiBdsArchProtocolGuid</a:t>
            </a:r>
            <a:endParaRPr lang="en-US" b="0" dirty="0">
              <a:solidFill>
                <a:srgbClr val="D4D4D4"/>
              </a:solidFill>
              <a:effectLst/>
              <a:latin typeface="Fira Code" panose="020B0509050000020004" pitchFamily="49" charset="0"/>
            </a:endParaRPr>
          </a:p>
          <a:p>
            <a:endParaRPr lang="en-US" dirty="0">
              <a:solidFill>
                <a:srgbClr val="D4D4D4"/>
              </a:solidFill>
              <a:latin typeface="Fira Code" panose="020B0509050000020004" pitchFamily="49" charset="0"/>
            </a:endParaRPr>
          </a:p>
          <a:p>
            <a:r>
              <a:rPr lang="en-US" b="0" dirty="0">
                <a:solidFill>
                  <a:srgbClr val="569CD6"/>
                </a:solidFill>
                <a:effectLst/>
                <a:latin typeface="Fira Code" panose="020B0509050000020004" pitchFamily="49" charset="0"/>
              </a:rPr>
              <a:t>struct</a:t>
            </a:r>
            <a:r>
              <a:rPr lang="en-US" b="0" dirty="0">
                <a:solidFill>
                  <a:srgbClr val="D4D4D4"/>
                </a:solidFill>
                <a:effectLst/>
                <a:latin typeface="Fira Code" panose="020B0509050000020004" pitchFamily="49" charset="0"/>
              </a:rPr>
              <a:t> </a:t>
            </a:r>
            <a:r>
              <a:rPr lang="en-US" b="0" dirty="0">
                <a:solidFill>
                  <a:srgbClr val="4EC9B0"/>
                </a:solidFill>
                <a:effectLst/>
                <a:latin typeface="Fira Code" panose="020B0509050000020004" pitchFamily="49" charset="0"/>
              </a:rPr>
              <a:t>_EFI_BDS_ARCH_PROTOCOL</a:t>
            </a:r>
            <a:r>
              <a:rPr lang="en-US" b="0" dirty="0">
                <a:solidFill>
                  <a:srgbClr val="D4D4D4"/>
                </a:solidFill>
                <a:effectLst/>
                <a:latin typeface="Fira Code" panose="020B0509050000020004" pitchFamily="49" charset="0"/>
              </a:rPr>
              <a:t> {</a:t>
            </a:r>
          </a:p>
          <a:p>
            <a:r>
              <a:rPr lang="en-US" b="0" dirty="0">
                <a:solidFill>
                  <a:srgbClr val="D4D4D4"/>
                </a:solidFill>
                <a:effectLst/>
                <a:latin typeface="Fira Code" panose="020B0509050000020004" pitchFamily="49" charset="0"/>
              </a:rPr>
              <a:t>  </a:t>
            </a:r>
            <a:r>
              <a:rPr lang="en-US" b="0" dirty="0">
                <a:solidFill>
                  <a:srgbClr val="4EC9B0"/>
                </a:solidFill>
                <a:effectLst/>
                <a:latin typeface="Fira Code" panose="020B0509050000020004" pitchFamily="49" charset="0"/>
              </a:rPr>
              <a:t>EFI_BDS_ENTRY</a:t>
            </a:r>
            <a:r>
              <a:rPr lang="en-US" b="0" dirty="0">
                <a:solidFill>
                  <a:srgbClr val="D4D4D4"/>
                </a:solidFill>
                <a:effectLst/>
                <a:latin typeface="Fira Code" panose="020B0509050000020004" pitchFamily="49" charset="0"/>
              </a:rPr>
              <a:t> </a:t>
            </a:r>
            <a:r>
              <a:rPr lang="en-US" b="0" dirty="0">
                <a:solidFill>
                  <a:srgbClr val="9CDCFE"/>
                </a:solidFill>
                <a:effectLst/>
                <a:latin typeface="Fira Code" panose="020B0509050000020004" pitchFamily="49" charset="0"/>
              </a:rPr>
              <a:t>Entry</a:t>
            </a:r>
            <a:r>
              <a:rPr lang="en-US" b="0" dirty="0">
                <a:solidFill>
                  <a:srgbClr val="D4D4D4"/>
                </a:solidFill>
                <a:effectLst/>
                <a:latin typeface="Fira Code" panose="020B0509050000020004" pitchFamily="49" charset="0"/>
              </a:rPr>
              <a:t>;</a:t>
            </a:r>
          </a:p>
          <a:p>
            <a:r>
              <a:rPr lang="en-US" b="0" dirty="0">
                <a:solidFill>
                  <a:srgbClr val="D4D4D4"/>
                </a:solidFill>
                <a:effectLst/>
                <a:latin typeface="Fira Code" panose="020B0509050000020004" pitchFamily="49" charset="0"/>
              </a:rPr>
              <a:t>};</a:t>
            </a:r>
          </a:p>
          <a:p>
            <a:endParaRPr lang="en-US" b="0" dirty="0">
              <a:solidFill>
                <a:srgbClr val="D4D4D4"/>
              </a:solidFill>
              <a:effectLst/>
              <a:latin typeface="Fira Code" panose="020B0509050000020004" pitchFamily="49" charset="0"/>
            </a:endParaRPr>
          </a:p>
          <a:p>
            <a:endParaRPr lang="en-US" dirty="0"/>
          </a:p>
        </p:txBody>
      </p:sp>
    </p:spTree>
    <p:extLst>
      <p:ext uri="{BB962C8B-B14F-4D97-AF65-F5344CB8AC3E}">
        <p14:creationId xmlns:p14="http://schemas.microsoft.com/office/powerpoint/2010/main" val="7483740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69</a:t>
            </a:fld>
            <a:endParaRPr lang="en-US" dirty="0"/>
          </a:p>
        </p:txBody>
      </p:sp>
      <p:sp>
        <p:nvSpPr>
          <p:cNvPr id="2" name="Title 1"/>
          <p:cNvSpPr>
            <a:spLocks noGrp="1"/>
          </p:cNvSpPr>
          <p:nvPr>
            <p:ph type="title"/>
          </p:nvPr>
        </p:nvSpPr>
        <p:spPr/>
        <p:txBody>
          <a:bodyPr/>
          <a:lstStyle/>
          <a:p>
            <a:r>
              <a:rPr lang="en-US" dirty="0"/>
              <a:t>Boot Device Selection (BDS)</a:t>
            </a:r>
          </a:p>
        </p:txBody>
      </p:sp>
    </p:spTree>
    <p:extLst>
      <p:ext uri="{BB962C8B-B14F-4D97-AF65-F5344CB8AC3E}">
        <p14:creationId xmlns:p14="http://schemas.microsoft.com/office/powerpoint/2010/main" val="40675789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Boot Device Selection (BDS) Phase</a:t>
            </a:r>
            <a:br>
              <a:rPr lang="en-US" dirty="0"/>
            </a:br>
            <a:r>
              <a:rPr lang="en-US" sz="3100" dirty="0"/>
              <a:t>Platform Boot Flow</a:t>
            </a:r>
            <a:endParaRPr lang="en-US" dirty="0"/>
          </a:p>
        </p:txBody>
      </p:sp>
      <p:sp>
        <p:nvSpPr>
          <p:cNvPr id="6" name="CustomShape 1">
            <a:extLst>
              <a:ext uri="{FF2B5EF4-FFF2-40B4-BE49-F238E27FC236}">
                <a16:creationId xmlns:a16="http://schemas.microsoft.com/office/drawing/2014/main" id="{3F1ADC4B-D0F1-47EE-84FB-05006F687586}"/>
              </a:ext>
            </a:extLst>
          </p:cNvPr>
          <p:cNvSpPr/>
          <p:nvPr/>
        </p:nvSpPr>
        <p:spPr>
          <a:xfrm>
            <a:off x="2611200" y="2315340"/>
            <a:ext cx="235800" cy="1298160"/>
          </a:xfrm>
          <a:prstGeom prst="bentConnector2">
            <a:avLst/>
          </a:prstGeom>
          <a:noFill/>
          <a:ln w="25560">
            <a:solidFill>
              <a:schemeClr val="tx1"/>
            </a:solidFill>
            <a:round/>
          </a:ln>
        </p:spPr>
        <p:style>
          <a:lnRef idx="1">
            <a:schemeClr val="accent1"/>
          </a:lnRef>
          <a:fillRef idx="0">
            <a:schemeClr val="accent1"/>
          </a:fillRef>
          <a:effectRef idx="0">
            <a:schemeClr val="accent1"/>
          </a:effectRef>
          <a:fontRef idx="minor"/>
        </p:style>
      </p:sp>
      <p:sp>
        <p:nvSpPr>
          <p:cNvPr id="7" name="Line 2">
            <a:extLst>
              <a:ext uri="{FF2B5EF4-FFF2-40B4-BE49-F238E27FC236}">
                <a16:creationId xmlns:a16="http://schemas.microsoft.com/office/drawing/2014/main" id="{067D6280-5DDA-4148-BCD1-2698F5716727}"/>
              </a:ext>
            </a:extLst>
          </p:cNvPr>
          <p:cNvSpPr/>
          <p:nvPr/>
        </p:nvSpPr>
        <p:spPr>
          <a:xfrm flipH="1">
            <a:off x="3044640" y="162954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8" name="CustomShape 3">
            <a:extLst>
              <a:ext uri="{FF2B5EF4-FFF2-40B4-BE49-F238E27FC236}">
                <a16:creationId xmlns:a16="http://schemas.microsoft.com/office/drawing/2014/main" id="{289383D6-8CE1-4165-B1A3-559E533CF9D1}"/>
              </a:ext>
            </a:extLst>
          </p:cNvPr>
          <p:cNvSpPr/>
          <p:nvPr/>
        </p:nvSpPr>
        <p:spPr>
          <a:xfrm>
            <a:off x="2428680" y="3879180"/>
            <a:ext cx="1707480" cy="537480"/>
          </a:xfrm>
          <a:prstGeom prst="ellipse">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 Driver</a:t>
            </a:r>
            <a:br/>
            <a:r>
              <a:rPr lang="en-US" sz="1400" b="1" strike="noStrike" spc="-1">
                <a:solidFill>
                  <a:srgbClr val="FFFFFF"/>
                </a:solidFill>
                <a:latin typeface="Segoe UI"/>
                <a:ea typeface="DejaVu Sans"/>
              </a:rPr>
              <a:t>Dispatcher</a:t>
            </a:r>
            <a:endParaRPr lang="en-US" sz="1400" b="0" strike="noStrike" spc="-1">
              <a:latin typeface="Arial"/>
            </a:endParaRPr>
          </a:p>
        </p:txBody>
      </p:sp>
      <p:sp>
        <p:nvSpPr>
          <p:cNvPr id="9" name="CustomShape 5">
            <a:extLst>
              <a:ext uri="{FF2B5EF4-FFF2-40B4-BE49-F238E27FC236}">
                <a16:creationId xmlns:a16="http://schemas.microsoft.com/office/drawing/2014/main" id="{B49CF7E1-6CFD-4922-BC77-CDC4C2DC1FE9}"/>
              </a:ext>
            </a:extLst>
          </p:cNvPr>
          <p:cNvSpPr/>
          <p:nvPr/>
        </p:nvSpPr>
        <p:spPr>
          <a:xfrm>
            <a:off x="885720" y="531918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Security</a:t>
            </a:r>
            <a:br/>
            <a:r>
              <a:rPr lang="en-US" sz="1200" b="1" strike="noStrike" spc="-1">
                <a:solidFill>
                  <a:srgbClr val="3F3F3F"/>
                </a:solidFill>
                <a:latin typeface="Segoe UI"/>
                <a:ea typeface="DejaVu Sans"/>
              </a:rPr>
              <a:t> (SEC)</a:t>
            </a:r>
            <a:endParaRPr lang="en-US" sz="1200" b="0" strike="noStrike" spc="-1">
              <a:latin typeface="Arial"/>
            </a:endParaRPr>
          </a:p>
        </p:txBody>
      </p:sp>
      <p:sp>
        <p:nvSpPr>
          <p:cNvPr id="10" name="CustomShape 6">
            <a:extLst>
              <a:ext uri="{FF2B5EF4-FFF2-40B4-BE49-F238E27FC236}">
                <a16:creationId xmlns:a16="http://schemas.microsoft.com/office/drawing/2014/main" id="{BF565BAF-3129-470F-B2D7-B43C40134053}"/>
              </a:ext>
            </a:extLst>
          </p:cNvPr>
          <p:cNvSpPr/>
          <p:nvPr/>
        </p:nvSpPr>
        <p:spPr>
          <a:xfrm>
            <a:off x="838200" y="6039900"/>
            <a:ext cx="99324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Power On</a:t>
            </a:r>
            <a:endParaRPr lang="en-US" sz="1400" b="0" strike="noStrike" spc="-1">
              <a:latin typeface="Arial"/>
            </a:endParaRPr>
          </a:p>
        </p:txBody>
      </p:sp>
      <p:sp>
        <p:nvSpPr>
          <p:cNvPr id="11" name="CustomShape 7">
            <a:extLst>
              <a:ext uri="{FF2B5EF4-FFF2-40B4-BE49-F238E27FC236}">
                <a16:creationId xmlns:a16="http://schemas.microsoft.com/office/drawing/2014/main" id="{B85C7DA3-813B-4921-A814-2EBB62C0D0D5}"/>
              </a:ext>
            </a:extLst>
          </p:cNvPr>
          <p:cNvSpPr/>
          <p:nvPr/>
        </p:nvSpPr>
        <p:spPr>
          <a:xfrm>
            <a:off x="8018400" y="6039900"/>
            <a:ext cx="10314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Shutdown</a:t>
            </a:r>
            <a:endParaRPr lang="en-US" sz="1400" b="0" strike="noStrike" spc="-1">
              <a:latin typeface="Arial"/>
            </a:endParaRPr>
          </a:p>
        </p:txBody>
      </p:sp>
      <p:sp>
        <p:nvSpPr>
          <p:cNvPr id="12" name="CustomShape 8">
            <a:extLst>
              <a:ext uri="{FF2B5EF4-FFF2-40B4-BE49-F238E27FC236}">
                <a16:creationId xmlns:a16="http://schemas.microsoft.com/office/drawing/2014/main" id="{35434E7C-1675-4CE6-BE99-097C6BD4F9AC}"/>
              </a:ext>
            </a:extLst>
          </p:cNvPr>
          <p:cNvSpPr/>
          <p:nvPr/>
        </p:nvSpPr>
        <p:spPr>
          <a:xfrm>
            <a:off x="2683200" y="6039900"/>
            <a:ext cx="234360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[..Platform Initialization..]</a:t>
            </a:r>
            <a:endParaRPr lang="en-US" sz="1400" b="0" strike="noStrike" spc="-1">
              <a:latin typeface="Arial"/>
            </a:endParaRPr>
          </a:p>
        </p:txBody>
      </p:sp>
      <p:sp>
        <p:nvSpPr>
          <p:cNvPr id="13" name="CustomShape 9">
            <a:extLst>
              <a:ext uri="{FF2B5EF4-FFF2-40B4-BE49-F238E27FC236}">
                <a16:creationId xmlns:a16="http://schemas.microsoft.com/office/drawing/2014/main" id="{93E179E7-C570-4E9F-8C85-B4B3FE67D259}"/>
              </a:ext>
            </a:extLst>
          </p:cNvPr>
          <p:cNvSpPr/>
          <p:nvPr/>
        </p:nvSpPr>
        <p:spPr>
          <a:xfrm>
            <a:off x="5777040" y="6039900"/>
            <a:ext cx="1194120" cy="300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[..OS Boot..]</a:t>
            </a:r>
            <a:endParaRPr lang="en-US" sz="1400" b="0" strike="noStrike" spc="-1">
              <a:latin typeface="Arial"/>
            </a:endParaRPr>
          </a:p>
        </p:txBody>
      </p:sp>
      <p:sp>
        <p:nvSpPr>
          <p:cNvPr id="14" name="CustomShape 10">
            <a:extLst>
              <a:ext uri="{FF2B5EF4-FFF2-40B4-BE49-F238E27FC236}">
                <a16:creationId xmlns:a16="http://schemas.microsoft.com/office/drawing/2014/main" id="{023B398B-57F2-4CBC-8DF6-0F20FE44869A}"/>
              </a:ext>
            </a:extLst>
          </p:cNvPr>
          <p:cNvSpPr/>
          <p:nvPr/>
        </p:nvSpPr>
        <p:spPr>
          <a:xfrm>
            <a:off x="1785720" y="6174900"/>
            <a:ext cx="89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5" name="CustomShape 11">
            <a:extLst>
              <a:ext uri="{FF2B5EF4-FFF2-40B4-BE49-F238E27FC236}">
                <a16:creationId xmlns:a16="http://schemas.microsoft.com/office/drawing/2014/main" id="{3F3C6CEA-8AFE-4435-A01E-34BE02706C18}"/>
              </a:ext>
            </a:extLst>
          </p:cNvPr>
          <p:cNvSpPr/>
          <p:nvPr/>
        </p:nvSpPr>
        <p:spPr>
          <a:xfrm>
            <a:off x="5026080" y="6174900"/>
            <a:ext cx="71712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6" name="CustomShape 12">
            <a:extLst>
              <a:ext uri="{FF2B5EF4-FFF2-40B4-BE49-F238E27FC236}">
                <a16:creationId xmlns:a16="http://schemas.microsoft.com/office/drawing/2014/main" id="{A332003B-2CCE-4C4D-A10D-AAB24E2F7A69}"/>
              </a:ext>
            </a:extLst>
          </p:cNvPr>
          <p:cNvSpPr/>
          <p:nvPr/>
        </p:nvSpPr>
        <p:spPr>
          <a:xfrm>
            <a:off x="7005360" y="6174900"/>
            <a:ext cx="10774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17" name="CustomShape 13">
            <a:extLst>
              <a:ext uri="{FF2B5EF4-FFF2-40B4-BE49-F238E27FC236}">
                <a16:creationId xmlns:a16="http://schemas.microsoft.com/office/drawing/2014/main" id="{5A8A7400-F98C-4D32-BE0F-5664B84E153C}"/>
              </a:ext>
            </a:extLst>
          </p:cNvPr>
          <p:cNvSpPr/>
          <p:nvPr/>
        </p:nvSpPr>
        <p:spPr>
          <a:xfrm>
            <a:off x="1785720" y="5319180"/>
            <a:ext cx="12567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Pre EFI</a:t>
            </a:r>
            <a:br/>
            <a:r>
              <a:rPr lang="en-US" sz="1200" b="1" strike="noStrike" spc="-1">
                <a:solidFill>
                  <a:srgbClr val="3F3F3F"/>
                </a:solidFill>
                <a:latin typeface="Segoe UI"/>
                <a:ea typeface="DejaVu Sans"/>
              </a:rPr>
              <a:t>Initialization</a:t>
            </a:r>
            <a:endParaRPr lang="en-US" sz="1200" b="0" strike="noStrike" spc="-1">
              <a:latin typeface="Arial"/>
            </a:endParaRPr>
          </a:p>
          <a:p>
            <a:pPr algn="ctr">
              <a:lnSpc>
                <a:spcPct val="100000"/>
              </a:lnSpc>
            </a:pPr>
            <a:r>
              <a:rPr lang="en-US" sz="1200" b="1" strike="noStrike" spc="-1">
                <a:solidFill>
                  <a:srgbClr val="3F3F3F"/>
                </a:solidFill>
                <a:latin typeface="Segoe UI"/>
                <a:ea typeface="DejaVu Sans"/>
              </a:rPr>
              <a:t>(PEI)</a:t>
            </a:r>
            <a:endParaRPr lang="en-US" sz="1200" b="0" strike="noStrike" spc="-1">
              <a:latin typeface="Arial"/>
            </a:endParaRPr>
          </a:p>
        </p:txBody>
      </p:sp>
      <p:sp>
        <p:nvSpPr>
          <p:cNvPr id="18" name="CustomShape 14">
            <a:extLst>
              <a:ext uri="{FF2B5EF4-FFF2-40B4-BE49-F238E27FC236}">
                <a16:creationId xmlns:a16="http://schemas.microsoft.com/office/drawing/2014/main" id="{1FB690AC-61BE-43FD-AA21-5E1D7CD69DDC}"/>
              </a:ext>
            </a:extLst>
          </p:cNvPr>
          <p:cNvSpPr/>
          <p:nvPr/>
        </p:nvSpPr>
        <p:spPr>
          <a:xfrm>
            <a:off x="3044640" y="531918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Driver Execution</a:t>
            </a:r>
            <a:br/>
            <a:r>
              <a:rPr lang="en-US" sz="1200" b="1" strike="noStrike" spc="-1">
                <a:solidFill>
                  <a:srgbClr val="3F3F3F"/>
                </a:solidFill>
                <a:latin typeface="Segoe UI"/>
                <a:ea typeface="DejaVu Sans"/>
              </a:rPr>
              <a:t>Environment</a:t>
            </a:r>
            <a:br/>
            <a:r>
              <a:rPr lang="en-US" sz="1200" b="1" strike="noStrike" spc="-1">
                <a:solidFill>
                  <a:srgbClr val="3F3F3F"/>
                </a:solidFill>
                <a:latin typeface="Segoe UI"/>
                <a:ea typeface="DejaVu Sans"/>
              </a:rPr>
              <a:t>(DXE)</a:t>
            </a:r>
            <a:endParaRPr lang="en-US" sz="1200" b="0" strike="noStrike" spc="-1">
              <a:latin typeface="Arial"/>
            </a:endParaRPr>
          </a:p>
        </p:txBody>
      </p:sp>
      <p:sp>
        <p:nvSpPr>
          <p:cNvPr id="19" name="CustomShape 15">
            <a:extLst>
              <a:ext uri="{FF2B5EF4-FFF2-40B4-BE49-F238E27FC236}">
                <a16:creationId xmlns:a16="http://schemas.microsoft.com/office/drawing/2014/main" id="{50960A11-8303-4C34-9322-F5EF47A52AC3}"/>
              </a:ext>
            </a:extLst>
          </p:cNvPr>
          <p:cNvSpPr/>
          <p:nvPr/>
        </p:nvSpPr>
        <p:spPr>
          <a:xfrm>
            <a:off x="4665720" y="5319180"/>
            <a:ext cx="89784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Boot Dev</a:t>
            </a:r>
            <a:br/>
            <a:r>
              <a:rPr lang="en-US" sz="1200" b="1" strike="noStrike" spc="-1">
                <a:solidFill>
                  <a:srgbClr val="3F3F3F"/>
                </a:solidFill>
                <a:latin typeface="Segoe UI"/>
                <a:ea typeface="DejaVu Sans"/>
              </a:rPr>
              <a:t>Select</a:t>
            </a:r>
            <a:br/>
            <a:r>
              <a:rPr lang="en-US" sz="1200" b="1" strike="noStrike" spc="-1">
                <a:solidFill>
                  <a:srgbClr val="3F3F3F"/>
                </a:solidFill>
                <a:latin typeface="Segoe UI"/>
                <a:ea typeface="DejaVu Sans"/>
              </a:rPr>
              <a:t>(BDS)</a:t>
            </a:r>
            <a:endParaRPr lang="en-US" sz="1200" b="0" strike="noStrike" spc="-1">
              <a:latin typeface="Arial"/>
            </a:endParaRPr>
          </a:p>
        </p:txBody>
      </p:sp>
      <p:sp>
        <p:nvSpPr>
          <p:cNvPr id="20" name="CustomShape 16">
            <a:extLst>
              <a:ext uri="{FF2B5EF4-FFF2-40B4-BE49-F238E27FC236}">
                <a16:creationId xmlns:a16="http://schemas.microsoft.com/office/drawing/2014/main" id="{4CCE3AED-57A8-4C88-A273-8FEF52D92D8F}"/>
              </a:ext>
            </a:extLst>
          </p:cNvPr>
          <p:cNvSpPr/>
          <p:nvPr/>
        </p:nvSpPr>
        <p:spPr>
          <a:xfrm>
            <a:off x="5565720" y="5319180"/>
            <a:ext cx="161712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UEFI &amp; OS</a:t>
            </a:r>
            <a:br/>
            <a:r>
              <a:rPr lang="en-US" sz="1200" b="1" strike="noStrike" spc="-1">
                <a:solidFill>
                  <a:srgbClr val="3F3F3F"/>
                </a:solidFill>
                <a:latin typeface="Segoe UI"/>
                <a:ea typeface="DejaVu Sans"/>
              </a:rPr>
              <a:t>Loader</a:t>
            </a:r>
            <a:br/>
            <a:r>
              <a:rPr lang="en-US" sz="1200" b="1" strike="noStrike" spc="-1">
                <a:solidFill>
                  <a:srgbClr val="3F3F3F"/>
                </a:solidFill>
                <a:latin typeface="Segoe UI"/>
                <a:ea typeface="DejaVu Sans"/>
              </a:rPr>
              <a:t>Handshake</a:t>
            </a:r>
            <a:endParaRPr lang="en-US" sz="1200" b="0" strike="noStrike" spc="-1">
              <a:latin typeface="Arial"/>
            </a:endParaRPr>
          </a:p>
        </p:txBody>
      </p:sp>
      <p:sp>
        <p:nvSpPr>
          <p:cNvPr id="21" name="CustomShape 17">
            <a:extLst>
              <a:ext uri="{FF2B5EF4-FFF2-40B4-BE49-F238E27FC236}">
                <a16:creationId xmlns:a16="http://schemas.microsoft.com/office/drawing/2014/main" id="{F500DD65-30AE-4E18-9DF5-4CC4AD936DCA}"/>
              </a:ext>
            </a:extLst>
          </p:cNvPr>
          <p:cNvSpPr/>
          <p:nvPr/>
        </p:nvSpPr>
        <p:spPr>
          <a:xfrm>
            <a:off x="7185000" y="5319180"/>
            <a:ext cx="1618560" cy="718560"/>
          </a:xfrm>
          <a:prstGeom prst="rect">
            <a:avLst/>
          </a:prstGeom>
          <a:solidFill>
            <a:srgbClr val="FFC00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Runtime</a:t>
            </a:r>
            <a:br/>
            <a:r>
              <a:rPr lang="en-US" sz="1200" b="1" strike="noStrike" spc="-1">
                <a:solidFill>
                  <a:srgbClr val="3F3F3F"/>
                </a:solidFill>
                <a:latin typeface="Segoe UI"/>
                <a:ea typeface="DejaVu Sans"/>
              </a:rPr>
              <a:t>(RT)</a:t>
            </a:r>
            <a:endParaRPr lang="en-US" sz="1200" b="0" strike="noStrike" spc="-1">
              <a:latin typeface="Arial"/>
            </a:endParaRPr>
          </a:p>
        </p:txBody>
      </p:sp>
      <p:sp>
        <p:nvSpPr>
          <p:cNvPr id="22" name="Line 18">
            <a:extLst>
              <a:ext uri="{FF2B5EF4-FFF2-40B4-BE49-F238E27FC236}">
                <a16:creationId xmlns:a16="http://schemas.microsoft.com/office/drawing/2014/main" id="{9CF2CBE5-3AF7-49FB-BF23-D0C0DDF82132}"/>
              </a:ext>
            </a:extLst>
          </p:cNvPr>
          <p:cNvSpPr/>
          <p:nvPr/>
        </p:nvSpPr>
        <p:spPr>
          <a:xfrm flipH="1">
            <a:off x="885720" y="162954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3" name="Line 19">
            <a:extLst>
              <a:ext uri="{FF2B5EF4-FFF2-40B4-BE49-F238E27FC236}">
                <a16:creationId xmlns:a16="http://schemas.microsoft.com/office/drawing/2014/main" id="{8EFDECB5-1B8A-4D07-9790-E5B54E8BA008}"/>
              </a:ext>
            </a:extLst>
          </p:cNvPr>
          <p:cNvSpPr/>
          <p:nvPr/>
        </p:nvSpPr>
        <p:spPr>
          <a:xfrm flipH="1">
            <a:off x="1785720" y="162954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4" name="Line 20">
            <a:extLst>
              <a:ext uri="{FF2B5EF4-FFF2-40B4-BE49-F238E27FC236}">
                <a16:creationId xmlns:a16="http://schemas.microsoft.com/office/drawing/2014/main" id="{3781BF74-A66D-4B9C-AE5C-B01EDCD031AA}"/>
              </a:ext>
            </a:extLst>
          </p:cNvPr>
          <p:cNvSpPr/>
          <p:nvPr/>
        </p:nvSpPr>
        <p:spPr>
          <a:xfrm flipH="1">
            <a:off x="4665360" y="162954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5" name="Line 21">
            <a:extLst>
              <a:ext uri="{FF2B5EF4-FFF2-40B4-BE49-F238E27FC236}">
                <a16:creationId xmlns:a16="http://schemas.microsoft.com/office/drawing/2014/main" id="{656B7783-C073-47E9-B330-27D4E02411AF}"/>
              </a:ext>
            </a:extLst>
          </p:cNvPr>
          <p:cNvSpPr/>
          <p:nvPr/>
        </p:nvSpPr>
        <p:spPr>
          <a:xfrm flipH="1">
            <a:off x="5565360" y="1629540"/>
            <a:ext cx="1764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6" name="Line 22">
            <a:extLst>
              <a:ext uri="{FF2B5EF4-FFF2-40B4-BE49-F238E27FC236}">
                <a16:creationId xmlns:a16="http://schemas.microsoft.com/office/drawing/2014/main" id="{5C9DACC2-25D7-4DCC-8F98-EEB22BC2AA7B}"/>
              </a:ext>
            </a:extLst>
          </p:cNvPr>
          <p:cNvSpPr/>
          <p:nvPr/>
        </p:nvSpPr>
        <p:spPr>
          <a:xfrm flipH="1">
            <a:off x="7184640" y="1629540"/>
            <a:ext cx="190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7" name="Line 23">
            <a:extLst>
              <a:ext uri="{FF2B5EF4-FFF2-40B4-BE49-F238E27FC236}">
                <a16:creationId xmlns:a16="http://schemas.microsoft.com/office/drawing/2014/main" id="{DB47DFB9-6E28-4C5E-9BA3-670511D5F4E9}"/>
              </a:ext>
            </a:extLst>
          </p:cNvPr>
          <p:cNvSpPr/>
          <p:nvPr/>
        </p:nvSpPr>
        <p:spPr>
          <a:xfrm flipH="1">
            <a:off x="8805720" y="1629540"/>
            <a:ext cx="17280" cy="3598920"/>
          </a:xfrm>
          <a:prstGeom prst="line">
            <a:avLst/>
          </a:prstGeom>
          <a:ln w="38160">
            <a:solidFill>
              <a:schemeClr val="tx1"/>
            </a:solidFill>
            <a:custDash>
              <a:ds d="400000" sp="300000"/>
            </a:custDash>
            <a:round/>
          </a:ln>
        </p:spPr>
        <p:style>
          <a:lnRef idx="1">
            <a:schemeClr val="accent1"/>
          </a:lnRef>
          <a:fillRef idx="0">
            <a:schemeClr val="accent1"/>
          </a:fillRef>
          <a:effectRef idx="0">
            <a:schemeClr val="accent1"/>
          </a:effectRef>
          <a:fontRef idx="minor"/>
        </p:style>
      </p:sp>
      <p:sp>
        <p:nvSpPr>
          <p:cNvPr id="28" name="CustomShape 24">
            <a:extLst>
              <a:ext uri="{FF2B5EF4-FFF2-40B4-BE49-F238E27FC236}">
                <a16:creationId xmlns:a16="http://schemas.microsoft.com/office/drawing/2014/main" id="{99113496-D1D8-4C36-B488-508732E0C7E2}"/>
              </a:ext>
            </a:extLst>
          </p:cNvPr>
          <p:cNvSpPr/>
          <p:nvPr/>
        </p:nvSpPr>
        <p:spPr>
          <a:xfrm>
            <a:off x="957000" y="1539180"/>
            <a:ext cx="78984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Pre</a:t>
            </a:r>
            <a:br/>
            <a:r>
              <a:rPr lang="en-US" sz="1200" b="1" strike="noStrike" spc="-1">
                <a:solidFill>
                  <a:srgbClr val="FFFFFF"/>
                </a:solidFill>
                <a:latin typeface="Segoe UI"/>
                <a:ea typeface="DejaVu Sans"/>
              </a:rPr>
              <a:t>Verifier</a:t>
            </a:r>
            <a:endParaRPr lang="en-US" sz="1200" b="0" strike="noStrike" spc="-1">
              <a:latin typeface="Arial"/>
            </a:endParaRPr>
          </a:p>
        </p:txBody>
      </p:sp>
      <p:sp>
        <p:nvSpPr>
          <p:cNvPr id="29" name="CustomShape 25">
            <a:extLst>
              <a:ext uri="{FF2B5EF4-FFF2-40B4-BE49-F238E27FC236}">
                <a16:creationId xmlns:a16="http://schemas.microsoft.com/office/drawing/2014/main" id="{5A420F3D-0498-4259-BFDE-BF9EE6FFAA10}"/>
              </a:ext>
            </a:extLst>
          </p:cNvPr>
          <p:cNvSpPr/>
          <p:nvPr/>
        </p:nvSpPr>
        <p:spPr>
          <a:xfrm>
            <a:off x="2595360" y="4599900"/>
            <a:ext cx="1366200" cy="44712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Architectural</a:t>
            </a:r>
            <a:br/>
            <a:r>
              <a:rPr lang="en-US" sz="1200" b="1" strike="noStrike" spc="-1">
                <a:solidFill>
                  <a:srgbClr val="FFFFFF"/>
                </a:solidFill>
                <a:latin typeface="Segoe UI"/>
                <a:ea typeface="DejaVu Sans"/>
              </a:rPr>
              <a:t>Protocols</a:t>
            </a:r>
            <a:endParaRPr lang="en-US" sz="1200" b="0" strike="noStrike" spc="-1">
              <a:latin typeface="Arial"/>
            </a:endParaRPr>
          </a:p>
        </p:txBody>
      </p:sp>
      <p:sp>
        <p:nvSpPr>
          <p:cNvPr id="30" name="CustomShape 26">
            <a:extLst>
              <a:ext uri="{FF2B5EF4-FFF2-40B4-BE49-F238E27FC236}">
                <a16:creationId xmlns:a16="http://schemas.microsoft.com/office/drawing/2014/main" id="{9F50AE64-39E9-4231-B473-1295C276D1BE}"/>
              </a:ext>
            </a:extLst>
          </p:cNvPr>
          <p:cNvSpPr/>
          <p:nvPr/>
        </p:nvSpPr>
        <p:spPr>
          <a:xfrm>
            <a:off x="5654640" y="459990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Boot Loader</a:t>
            </a:r>
            <a:endParaRPr lang="en-US" sz="1200" b="0" strike="noStrike" spc="-1">
              <a:latin typeface="Arial"/>
            </a:endParaRPr>
          </a:p>
        </p:txBody>
      </p:sp>
      <p:sp>
        <p:nvSpPr>
          <p:cNvPr id="31" name="CustomShape 27">
            <a:extLst>
              <a:ext uri="{FF2B5EF4-FFF2-40B4-BE49-F238E27FC236}">
                <a16:creationId xmlns:a16="http://schemas.microsoft.com/office/drawing/2014/main" id="{B3EBF334-9AE6-441E-8EFC-7C361EBEA895}"/>
              </a:ext>
            </a:extLst>
          </p:cNvPr>
          <p:cNvSpPr/>
          <p:nvPr/>
        </p:nvSpPr>
        <p:spPr>
          <a:xfrm>
            <a:off x="7275360" y="459990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Final OS</a:t>
            </a:r>
            <a:br/>
            <a:r>
              <a:rPr lang="en-US" sz="1200" b="1" strike="noStrike" spc="-1">
                <a:solidFill>
                  <a:srgbClr val="FFFFFF"/>
                </a:solidFill>
                <a:latin typeface="Segoe UI"/>
                <a:ea typeface="DejaVu Sans"/>
              </a:rPr>
              <a:t>Environment</a:t>
            </a:r>
            <a:endParaRPr lang="en-US" sz="1200" b="0" strike="noStrike" spc="-1">
              <a:latin typeface="Arial"/>
            </a:endParaRPr>
          </a:p>
        </p:txBody>
      </p:sp>
      <p:sp>
        <p:nvSpPr>
          <p:cNvPr id="32" name="CustomShape 28">
            <a:extLst>
              <a:ext uri="{FF2B5EF4-FFF2-40B4-BE49-F238E27FC236}">
                <a16:creationId xmlns:a16="http://schemas.microsoft.com/office/drawing/2014/main" id="{79E61785-6BF7-424D-A145-FEF34D2B7752}"/>
              </a:ext>
            </a:extLst>
          </p:cNvPr>
          <p:cNvSpPr/>
          <p:nvPr/>
        </p:nvSpPr>
        <p:spPr>
          <a:xfrm>
            <a:off x="1857360" y="261882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CPU</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3" name="CustomShape 29">
            <a:extLst>
              <a:ext uri="{FF2B5EF4-FFF2-40B4-BE49-F238E27FC236}">
                <a16:creationId xmlns:a16="http://schemas.microsoft.com/office/drawing/2014/main" id="{C135FB1F-CFB2-4CFF-88DB-66456E21A9DA}"/>
              </a:ext>
            </a:extLst>
          </p:cNvPr>
          <p:cNvSpPr/>
          <p:nvPr/>
        </p:nvSpPr>
        <p:spPr>
          <a:xfrm>
            <a:off x="1857360" y="315846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Chipset</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4" name="CustomShape 30">
            <a:extLst>
              <a:ext uri="{FF2B5EF4-FFF2-40B4-BE49-F238E27FC236}">
                <a16:creationId xmlns:a16="http://schemas.microsoft.com/office/drawing/2014/main" id="{5361F1B3-0862-42F9-B3B5-4E60B6098A8F}"/>
              </a:ext>
            </a:extLst>
          </p:cNvPr>
          <p:cNvSpPr/>
          <p:nvPr/>
        </p:nvSpPr>
        <p:spPr>
          <a:xfrm>
            <a:off x="1857360" y="3699900"/>
            <a:ext cx="789840" cy="447120"/>
          </a:xfrm>
          <a:prstGeom prst="rect">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Board</a:t>
            </a:r>
            <a:br/>
            <a:r>
              <a:rPr lang="en-US" sz="1200" b="1" strike="noStrike" spc="-1">
                <a:solidFill>
                  <a:srgbClr val="FFFFFF"/>
                </a:solidFill>
                <a:latin typeface="Segoe UI"/>
                <a:ea typeface="DejaVu Sans"/>
              </a:rPr>
              <a:t>Init</a:t>
            </a:r>
            <a:endParaRPr lang="en-US" sz="1200" b="0" strike="noStrike" spc="-1">
              <a:latin typeface="Arial"/>
            </a:endParaRPr>
          </a:p>
        </p:txBody>
      </p:sp>
      <p:sp>
        <p:nvSpPr>
          <p:cNvPr id="35" name="CustomShape 31">
            <a:extLst>
              <a:ext uri="{FF2B5EF4-FFF2-40B4-BE49-F238E27FC236}">
                <a16:creationId xmlns:a16="http://schemas.microsoft.com/office/drawing/2014/main" id="{54969C9F-A50A-43B9-ADBB-353BFAC323D7}"/>
              </a:ext>
            </a:extLst>
          </p:cNvPr>
          <p:cNvSpPr/>
          <p:nvPr/>
        </p:nvSpPr>
        <p:spPr>
          <a:xfrm>
            <a:off x="1857360" y="2078820"/>
            <a:ext cx="789840" cy="448560"/>
          </a:xfrm>
          <a:prstGeom prst="rect">
            <a:avLst/>
          </a:prstGeom>
          <a:solidFill>
            <a:srgbClr val="1218FA"/>
          </a:solidFill>
          <a:ln>
            <a:solidFill>
              <a:srgbClr val="1218FA"/>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PEI</a:t>
            </a:r>
            <a:br/>
            <a:r>
              <a:rPr lang="en-US" sz="1200" b="1" strike="noStrike" spc="-1">
                <a:solidFill>
                  <a:srgbClr val="FFFFFF"/>
                </a:solidFill>
                <a:latin typeface="Segoe UI"/>
                <a:ea typeface="DejaVu Sans"/>
              </a:rPr>
              <a:t>Core</a:t>
            </a:r>
            <a:endParaRPr lang="en-US" sz="1200" b="0" strike="noStrike" spc="-1">
              <a:latin typeface="Arial"/>
            </a:endParaRPr>
          </a:p>
        </p:txBody>
      </p:sp>
      <p:sp>
        <p:nvSpPr>
          <p:cNvPr id="36" name="CustomShape 32">
            <a:extLst>
              <a:ext uri="{FF2B5EF4-FFF2-40B4-BE49-F238E27FC236}">
                <a16:creationId xmlns:a16="http://schemas.microsoft.com/office/drawing/2014/main" id="{15C3FA51-C230-4E3A-A5F5-ED483210423F}"/>
              </a:ext>
            </a:extLst>
          </p:cNvPr>
          <p:cNvSpPr/>
          <p:nvPr/>
        </p:nvSpPr>
        <p:spPr>
          <a:xfrm>
            <a:off x="7275360" y="3879180"/>
            <a:ext cx="1366200" cy="44712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FFFFFF"/>
                </a:solidFill>
                <a:latin typeface="Segoe UI"/>
                <a:ea typeface="DejaVu Sans"/>
              </a:rPr>
              <a:t>OS-Present</a:t>
            </a:r>
            <a:br/>
            <a:r>
              <a:rPr lang="en-US" sz="1200" b="1" strike="noStrike" spc="-1">
                <a:solidFill>
                  <a:srgbClr val="FFFFFF"/>
                </a:solidFill>
                <a:latin typeface="Segoe UI"/>
                <a:ea typeface="DejaVu Sans"/>
              </a:rPr>
              <a:t>App</a:t>
            </a:r>
            <a:endParaRPr lang="en-US" sz="1200" b="0" strike="noStrike" spc="-1">
              <a:latin typeface="Arial"/>
            </a:endParaRPr>
          </a:p>
        </p:txBody>
      </p:sp>
      <p:sp>
        <p:nvSpPr>
          <p:cNvPr id="37" name="CustomShape 33">
            <a:extLst>
              <a:ext uri="{FF2B5EF4-FFF2-40B4-BE49-F238E27FC236}">
                <a16:creationId xmlns:a16="http://schemas.microsoft.com/office/drawing/2014/main" id="{30A2D5FA-4358-48D5-8439-6BD29A55B2A1}"/>
              </a:ext>
            </a:extLst>
          </p:cNvPr>
          <p:cNvSpPr/>
          <p:nvPr/>
        </p:nvSpPr>
        <p:spPr>
          <a:xfrm>
            <a:off x="5654640" y="189954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OS-Absent</a:t>
            </a:r>
            <a:br/>
            <a:r>
              <a:rPr lang="en-US" sz="1200" b="1" strike="noStrike" spc="-1">
                <a:solidFill>
                  <a:srgbClr val="3F3F3F"/>
                </a:solidFill>
                <a:latin typeface="Segoe UI"/>
                <a:ea typeface="DejaVu Sans"/>
              </a:rPr>
              <a:t>App</a:t>
            </a:r>
            <a:endParaRPr lang="en-US" sz="1200" b="0" strike="noStrike" spc="-1">
              <a:latin typeface="Arial"/>
            </a:endParaRPr>
          </a:p>
        </p:txBody>
      </p:sp>
      <p:sp>
        <p:nvSpPr>
          <p:cNvPr id="38" name="CustomShape 34">
            <a:extLst>
              <a:ext uri="{FF2B5EF4-FFF2-40B4-BE49-F238E27FC236}">
                <a16:creationId xmlns:a16="http://schemas.microsoft.com/office/drawing/2014/main" id="{B28A0EAA-8D28-4A9C-8567-B9589A21CAC4}"/>
              </a:ext>
            </a:extLst>
          </p:cNvPr>
          <p:cNvSpPr/>
          <p:nvPr/>
        </p:nvSpPr>
        <p:spPr>
          <a:xfrm>
            <a:off x="5654640" y="2618820"/>
            <a:ext cx="1366200" cy="44856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Environment</a:t>
            </a:r>
            <a:endParaRPr lang="en-US" sz="1200" b="0" strike="noStrike" spc="-1">
              <a:latin typeface="Arial"/>
            </a:endParaRPr>
          </a:p>
        </p:txBody>
      </p:sp>
      <p:sp>
        <p:nvSpPr>
          <p:cNvPr id="39" name="CustomShape 35">
            <a:extLst>
              <a:ext uri="{FF2B5EF4-FFF2-40B4-BE49-F238E27FC236}">
                <a16:creationId xmlns:a16="http://schemas.microsoft.com/office/drawing/2014/main" id="{4EA7045F-8699-4E2A-8951-63E5C5ADC5B5}"/>
              </a:ext>
            </a:extLst>
          </p:cNvPr>
          <p:cNvSpPr/>
          <p:nvPr/>
        </p:nvSpPr>
        <p:spPr>
          <a:xfrm>
            <a:off x="5654640" y="3339540"/>
            <a:ext cx="1366200" cy="447120"/>
          </a:xfrm>
          <a:prstGeom prst="rect">
            <a:avLst/>
          </a:prstGeom>
          <a:solidFill>
            <a:schemeClr val="accent6">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200" b="1" strike="noStrike" spc="-1">
                <a:solidFill>
                  <a:srgbClr val="3F3F3F"/>
                </a:solidFill>
                <a:latin typeface="Segoe UI"/>
                <a:ea typeface="DejaVu Sans"/>
              </a:rPr>
              <a:t>Transient OS</a:t>
            </a:r>
            <a:br/>
            <a:r>
              <a:rPr lang="en-US" sz="1200" b="1" strike="noStrike" spc="-1">
                <a:solidFill>
                  <a:srgbClr val="3F3F3F"/>
                </a:solidFill>
                <a:latin typeface="Segoe UI"/>
                <a:ea typeface="DejaVu Sans"/>
              </a:rPr>
              <a:t>Boot Loader</a:t>
            </a:r>
            <a:endParaRPr lang="en-US" sz="1200" b="0" strike="noStrike" spc="-1">
              <a:latin typeface="Arial"/>
            </a:endParaRPr>
          </a:p>
        </p:txBody>
      </p:sp>
      <p:sp>
        <p:nvSpPr>
          <p:cNvPr id="40" name="CustomShape 36">
            <a:extLst>
              <a:ext uri="{FF2B5EF4-FFF2-40B4-BE49-F238E27FC236}">
                <a16:creationId xmlns:a16="http://schemas.microsoft.com/office/drawing/2014/main" id="{44649E54-431D-4F42-9984-BDB3140CC68E}"/>
              </a:ext>
            </a:extLst>
          </p:cNvPr>
          <p:cNvSpPr/>
          <p:nvPr/>
        </p:nvSpPr>
        <p:spPr>
          <a:xfrm rot="16200000">
            <a:off x="6238560" y="244134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1" name="CustomShape 37">
            <a:extLst>
              <a:ext uri="{FF2B5EF4-FFF2-40B4-BE49-F238E27FC236}">
                <a16:creationId xmlns:a16="http://schemas.microsoft.com/office/drawing/2014/main" id="{3BB177BF-CE22-4C0E-9445-0F42885BBDD8}"/>
              </a:ext>
            </a:extLst>
          </p:cNvPr>
          <p:cNvSpPr/>
          <p:nvPr/>
        </p:nvSpPr>
        <p:spPr>
          <a:xfrm rot="5400000">
            <a:off x="6212280" y="243918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2" name="CustomShape 38">
            <a:extLst>
              <a:ext uri="{FF2B5EF4-FFF2-40B4-BE49-F238E27FC236}">
                <a16:creationId xmlns:a16="http://schemas.microsoft.com/office/drawing/2014/main" id="{B04D2D6A-C47A-43CE-93F9-C55EE14C87F3}"/>
              </a:ext>
            </a:extLst>
          </p:cNvPr>
          <p:cNvSpPr/>
          <p:nvPr/>
        </p:nvSpPr>
        <p:spPr>
          <a:xfrm rot="16200000">
            <a:off x="6224160" y="316026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3" name="CustomShape 39">
            <a:extLst>
              <a:ext uri="{FF2B5EF4-FFF2-40B4-BE49-F238E27FC236}">
                <a16:creationId xmlns:a16="http://schemas.microsoft.com/office/drawing/2014/main" id="{A2AD2B63-C68A-4779-B13C-B7E02F8D99AD}"/>
              </a:ext>
            </a:extLst>
          </p:cNvPr>
          <p:cNvSpPr/>
          <p:nvPr/>
        </p:nvSpPr>
        <p:spPr>
          <a:xfrm rot="5400000">
            <a:off x="6197880" y="315846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4" name="CustomShape 40">
            <a:extLst>
              <a:ext uri="{FF2B5EF4-FFF2-40B4-BE49-F238E27FC236}">
                <a16:creationId xmlns:a16="http://schemas.microsoft.com/office/drawing/2014/main" id="{C7091690-3FCC-437B-B0D8-FE2B7D7D27D6}"/>
              </a:ext>
            </a:extLst>
          </p:cNvPr>
          <p:cNvSpPr/>
          <p:nvPr/>
        </p:nvSpPr>
        <p:spPr>
          <a:xfrm rot="16200000">
            <a:off x="7851360" y="442098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45" name="CustomShape 41">
            <a:extLst>
              <a:ext uri="{FF2B5EF4-FFF2-40B4-BE49-F238E27FC236}">
                <a16:creationId xmlns:a16="http://schemas.microsoft.com/office/drawing/2014/main" id="{870B975A-F81C-4204-88E1-1DF50AA6F5A2}"/>
              </a:ext>
            </a:extLst>
          </p:cNvPr>
          <p:cNvSpPr/>
          <p:nvPr/>
        </p:nvSpPr>
        <p:spPr>
          <a:xfrm rot="5400000">
            <a:off x="7825080" y="4418820"/>
            <a:ext cx="210600" cy="121680"/>
          </a:xfrm>
          <a:custGeom>
            <a:avLst/>
            <a:gdLst/>
            <a:ahLst/>
            <a:cxnLst/>
            <a:rect l="l" t="t" r="r" b="b"/>
            <a:pathLst>
              <a:path w="36690" h="21600">
                <a:moveTo>
                  <a:pt x="36690" y="12023"/>
                </a:moveTo>
                <a:cubicBezTo>
                  <a:pt x="32680" y="18008"/>
                  <a:pt x="25950" y="21599"/>
                  <a:pt x="18746" y="21600"/>
                </a:cubicBezTo>
                <a:cubicBezTo>
                  <a:pt x="11000" y="21600"/>
                  <a:pt x="3848" y="17452"/>
                  <a:pt x="0" y="10730"/>
                </a:cubicBezTo>
                <a:moveTo>
                  <a:pt x="36690" y="12023"/>
                </a:moveTo>
                <a:cubicBezTo>
                  <a:pt x="32680" y="18008"/>
                  <a:pt x="25950" y="21599"/>
                  <a:pt x="18746" y="21600"/>
                </a:cubicBezTo>
                <a:cubicBezTo>
                  <a:pt x="11000" y="21600"/>
                  <a:pt x="3848" y="17452"/>
                  <a:pt x="0" y="10730"/>
                </a:cubicBezTo>
                <a:lnTo>
                  <a:pt x="1874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grpSp>
        <p:nvGrpSpPr>
          <p:cNvPr id="46" name="Group 42">
            <a:extLst>
              <a:ext uri="{FF2B5EF4-FFF2-40B4-BE49-F238E27FC236}">
                <a16:creationId xmlns:a16="http://schemas.microsoft.com/office/drawing/2014/main" id="{F8F0DE3A-170A-4C35-AE64-7990507F4394}"/>
              </a:ext>
            </a:extLst>
          </p:cNvPr>
          <p:cNvGrpSpPr/>
          <p:nvPr/>
        </p:nvGrpSpPr>
        <p:grpSpPr>
          <a:xfrm>
            <a:off x="3267120" y="2385540"/>
            <a:ext cx="1032840" cy="1183680"/>
            <a:chOff x="2741760" y="2171880"/>
            <a:chExt cx="1032840" cy="1183680"/>
          </a:xfrm>
        </p:grpSpPr>
        <p:sp>
          <p:nvSpPr>
            <p:cNvPr id="47" name="CustomShape 43">
              <a:extLst>
                <a:ext uri="{FF2B5EF4-FFF2-40B4-BE49-F238E27FC236}">
                  <a16:creationId xmlns:a16="http://schemas.microsoft.com/office/drawing/2014/main" id="{19F9629C-F67F-45C4-9349-2EEFB43EC0AC}"/>
                </a:ext>
              </a:extLst>
            </p:cNvPr>
            <p:cNvSpPr/>
            <p:nvPr/>
          </p:nvSpPr>
          <p:spPr>
            <a:xfrm>
              <a:off x="2967120" y="217188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48" name="CustomShape 44">
              <a:extLst>
                <a:ext uri="{FF2B5EF4-FFF2-40B4-BE49-F238E27FC236}">
                  <a16:creationId xmlns:a16="http://schemas.microsoft.com/office/drawing/2014/main" id="{A1F9F2F4-2ED1-4DF8-8265-C28EFE201085}"/>
                </a:ext>
              </a:extLst>
            </p:cNvPr>
            <p:cNvSpPr/>
            <p:nvPr/>
          </p:nvSpPr>
          <p:spPr>
            <a:xfrm>
              <a:off x="2917800" y="2244600"/>
              <a:ext cx="80748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49" name="CustomShape 45">
              <a:extLst>
                <a:ext uri="{FF2B5EF4-FFF2-40B4-BE49-F238E27FC236}">
                  <a16:creationId xmlns:a16="http://schemas.microsoft.com/office/drawing/2014/main" id="{4FB8868B-369F-465E-BFDC-E0519D031494}"/>
                </a:ext>
              </a:extLst>
            </p:cNvPr>
            <p:cNvSpPr/>
            <p:nvPr/>
          </p:nvSpPr>
          <p:spPr>
            <a:xfrm>
              <a:off x="2863800" y="2335320"/>
              <a:ext cx="807480" cy="842400"/>
            </a:xfrm>
            <a:prstGeom prst="rect">
              <a:avLst/>
            </a:prstGeom>
            <a:solidFill>
              <a:schemeClr val="folHlink"/>
            </a:solidFill>
            <a:ln w="12600">
              <a:solidFill>
                <a:schemeClr val="tx1"/>
              </a:solidFill>
              <a:miter/>
            </a:ln>
          </p:spPr>
          <p:style>
            <a:lnRef idx="0">
              <a:scrgbClr r="0" g="0" b="0"/>
            </a:lnRef>
            <a:fillRef idx="0">
              <a:scrgbClr r="0" g="0" b="0"/>
            </a:fillRef>
            <a:effectRef idx="0">
              <a:scrgbClr r="0" g="0" b="0"/>
            </a:effectRef>
            <a:fontRef idx="minor"/>
          </p:style>
        </p:sp>
        <p:sp>
          <p:nvSpPr>
            <p:cNvPr id="50" name="CustomShape 46">
              <a:extLst>
                <a:ext uri="{FF2B5EF4-FFF2-40B4-BE49-F238E27FC236}">
                  <a16:creationId xmlns:a16="http://schemas.microsoft.com/office/drawing/2014/main" id="{4D170198-F2E4-4B80-BB3B-06228AD5EE99}"/>
                </a:ext>
              </a:extLst>
            </p:cNvPr>
            <p:cNvSpPr/>
            <p:nvPr/>
          </p:nvSpPr>
          <p:spPr>
            <a:xfrm>
              <a:off x="2805120" y="2422440"/>
              <a:ext cx="808920" cy="840960"/>
            </a:xfrm>
            <a:prstGeom prst="rect">
              <a:avLst/>
            </a:prstGeom>
            <a:solidFill>
              <a:schemeClr val="bg2"/>
            </a:solidFill>
            <a:ln w="12600">
              <a:solidFill>
                <a:schemeClr val="tx1"/>
              </a:solidFill>
              <a:miter/>
            </a:ln>
          </p:spPr>
          <p:style>
            <a:lnRef idx="0">
              <a:scrgbClr r="0" g="0" b="0"/>
            </a:lnRef>
            <a:fillRef idx="0">
              <a:scrgbClr r="0" g="0" b="0"/>
            </a:fillRef>
            <a:effectRef idx="0">
              <a:scrgbClr r="0" g="0" b="0"/>
            </a:effectRef>
            <a:fontRef idx="minor"/>
          </p:style>
        </p:sp>
        <p:sp>
          <p:nvSpPr>
            <p:cNvPr id="51" name="CustomShape 47">
              <a:extLst>
                <a:ext uri="{FF2B5EF4-FFF2-40B4-BE49-F238E27FC236}">
                  <a16:creationId xmlns:a16="http://schemas.microsoft.com/office/drawing/2014/main" id="{67572687-CEBF-4049-99BA-1121DE249B69}"/>
                </a:ext>
              </a:extLst>
            </p:cNvPr>
            <p:cNvSpPr/>
            <p:nvPr/>
          </p:nvSpPr>
          <p:spPr>
            <a:xfrm>
              <a:off x="2741760" y="2513160"/>
              <a:ext cx="807480" cy="842400"/>
            </a:xfrm>
            <a:prstGeom prst="rect">
              <a:avLst/>
            </a:prstGeom>
            <a:solidFill>
              <a:srgbClr val="FFCC00"/>
            </a:solidFill>
            <a:ln w="12600">
              <a:solidFill>
                <a:schemeClr val="tx1"/>
              </a:solidFill>
              <a:miter/>
            </a:ln>
          </p:spPr>
          <p:style>
            <a:lnRef idx="0">
              <a:scrgbClr r="0" g="0" b="0"/>
            </a:lnRef>
            <a:fillRef idx="0">
              <a:scrgbClr r="0" g="0" b="0"/>
            </a:fillRef>
            <a:effectRef idx="0">
              <a:scrgbClr r="0" g="0" b="0"/>
            </a:effectRef>
            <a:fontRef idx="minor"/>
          </p:style>
          <p:txBody>
            <a:bodyPr lIns="46080" tIns="46080" rIns="46080" bIns="46080" anchor="ctr">
              <a:noAutofit/>
            </a:bodyPr>
            <a:lstStyle/>
            <a:p>
              <a:pPr algn="ctr">
                <a:lnSpc>
                  <a:spcPct val="100000"/>
                </a:lnSpc>
              </a:pPr>
              <a:r>
                <a:rPr lang="en-US" sz="1200" b="1" strike="noStrike" spc="-1">
                  <a:solidFill>
                    <a:srgbClr val="3F3F3F"/>
                  </a:solidFill>
                  <a:latin typeface="Segoe UI"/>
                  <a:ea typeface="DejaVu Sans"/>
                </a:rPr>
                <a:t>Device,  Bus, or Service  Driver</a:t>
              </a:r>
              <a:endParaRPr lang="en-US" sz="1200" b="0" strike="noStrike" spc="-1">
                <a:latin typeface="Arial"/>
              </a:endParaRPr>
            </a:p>
          </p:txBody>
        </p:sp>
      </p:grpSp>
      <p:sp>
        <p:nvSpPr>
          <p:cNvPr id="52" name="CustomShape 48">
            <a:extLst>
              <a:ext uri="{FF2B5EF4-FFF2-40B4-BE49-F238E27FC236}">
                <a16:creationId xmlns:a16="http://schemas.microsoft.com/office/drawing/2014/main" id="{6804EB33-5AE0-4EFA-ACB8-D6B2984BF616}"/>
              </a:ext>
            </a:extLst>
          </p:cNvPr>
          <p:cNvSpPr/>
          <p:nvPr/>
        </p:nvSpPr>
        <p:spPr>
          <a:xfrm rot="16200000">
            <a:off x="3786240" y="366714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3" name="CustomShape 49">
            <a:extLst>
              <a:ext uri="{FF2B5EF4-FFF2-40B4-BE49-F238E27FC236}">
                <a16:creationId xmlns:a16="http://schemas.microsoft.com/office/drawing/2014/main" id="{3871BDAA-411F-46FA-A97B-47C8B8D40D23}"/>
              </a:ext>
            </a:extLst>
          </p:cNvPr>
          <p:cNvSpPr/>
          <p:nvPr/>
        </p:nvSpPr>
        <p:spPr>
          <a:xfrm rot="5400000">
            <a:off x="3745560" y="3664980"/>
            <a:ext cx="304200" cy="180360"/>
          </a:xfrm>
          <a:custGeom>
            <a:avLst/>
            <a:gdLst/>
            <a:ahLst/>
            <a:cxnLst/>
            <a:rect l="l" t="t" r="r" b="b"/>
            <a:pathLst>
              <a:path w="36935" h="21600">
                <a:moveTo>
                  <a:pt x="36935" y="11660"/>
                </a:moveTo>
                <a:cubicBezTo>
                  <a:pt x="32963" y="17854"/>
                  <a:pt x="26111" y="21599"/>
                  <a:pt x="18753" y="21600"/>
                </a:cubicBezTo>
                <a:cubicBezTo>
                  <a:pt x="11002" y="21600"/>
                  <a:pt x="3845" y="17447"/>
                  <a:pt x="-1" y="10718"/>
                </a:cubicBezTo>
                <a:moveTo>
                  <a:pt x="36935" y="11660"/>
                </a:moveTo>
                <a:cubicBezTo>
                  <a:pt x="32963" y="17854"/>
                  <a:pt x="26111" y="21599"/>
                  <a:pt x="18753" y="21600"/>
                </a:cubicBezTo>
                <a:cubicBezTo>
                  <a:pt x="11002" y="21600"/>
                  <a:pt x="3845" y="17447"/>
                  <a:pt x="-1" y="10718"/>
                </a:cubicBezTo>
                <a:lnTo>
                  <a:pt x="18753"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54" name="CustomShape 50">
            <a:extLst>
              <a:ext uri="{FF2B5EF4-FFF2-40B4-BE49-F238E27FC236}">
                <a16:creationId xmlns:a16="http://schemas.microsoft.com/office/drawing/2014/main" id="{2FA944FF-07D1-4DCA-A79C-0B159F9AA37F}"/>
              </a:ext>
            </a:extLst>
          </p:cNvPr>
          <p:cNvSpPr/>
          <p:nvPr/>
        </p:nvSpPr>
        <p:spPr>
          <a:xfrm>
            <a:off x="4395720" y="3879180"/>
            <a:ext cx="1437840" cy="537480"/>
          </a:xfrm>
          <a:prstGeom prst="ellipse">
            <a:avLst/>
          </a:prstGeom>
          <a:solidFill>
            <a:srgbClr val="34B3D6"/>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Boot</a:t>
            </a:r>
            <a:br/>
            <a:r>
              <a:rPr lang="en-US" sz="1400" b="1" strike="noStrike" spc="-1">
                <a:solidFill>
                  <a:srgbClr val="FFFFFF"/>
                </a:solidFill>
                <a:latin typeface="Segoe UI"/>
                <a:ea typeface="DejaVu Sans"/>
              </a:rPr>
              <a:t>Manager</a:t>
            </a:r>
            <a:endParaRPr lang="en-US" sz="1400" b="0" strike="noStrike" spc="-1">
              <a:latin typeface="Arial"/>
            </a:endParaRPr>
          </a:p>
        </p:txBody>
      </p:sp>
      <p:sp>
        <p:nvSpPr>
          <p:cNvPr id="55" name="Line 51">
            <a:extLst>
              <a:ext uri="{FF2B5EF4-FFF2-40B4-BE49-F238E27FC236}">
                <a16:creationId xmlns:a16="http://schemas.microsoft.com/office/drawing/2014/main" id="{B291258A-BEE1-4F39-8505-4C2456004538}"/>
              </a:ext>
            </a:extLst>
          </p:cNvPr>
          <p:cNvSpPr/>
          <p:nvPr/>
        </p:nvSpPr>
        <p:spPr>
          <a:xfrm flipH="1">
            <a:off x="4665360" y="2259900"/>
            <a:ext cx="17640" cy="107928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6" name="Line 52">
            <a:extLst>
              <a:ext uri="{FF2B5EF4-FFF2-40B4-BE49-F238E27FC236}">
                <a16:creationId xmlns:a16="http://schemas.microsoft.com/office/drawing/2014/main" id="{2CD85011-BF76-45D5-9B60-9DBB4D43D113}"/>
              </a:ext>
            </a:extLst>
          </p:cNvPr>
          <p:cNvSpPr/>
          <p:nvPr/>
        </p:nvSpPr>
        <p:spPr>
          <a:xfrm flipH="1">
            <a:off x="4665360" y="4599900"/>
            <a:ext cx="17640" cy="539640"/>
          </a:xfrm>
          <a:prstGeom prst="line">
            <a:avLst/>
          </a:prstGeom>
          <a:ln w="63360">
            <a:solidFill>
              <a:schemeClr val="bg1">
                <a:lumMod val="50000"/>
              </a:schemeClr>
            </a:solidFill>
            <a:round/>
          </a:ln>
        </p:spPr>
        <p:style>
          <a:lnRef idx="1">
            <a:schemeClr val="accent1"/>
          </a:lnRef>
          <a:fillRef idx="0">
            <a:schemeClr val="accent1"/>
          </a:fillRef>
          <a:effectRef idx="0">
            <a:schemeClr val="accent1"/>
          </a:effectRef>
          <a:fontRef idx="minor"/>
        </p:style>
      </p:sp>
      <p:sp>
        <p:nvSpPr>
          <p:cNvPr id="57" name="CustomShape 53">
            <a:extLst>
              <a:ext uri="{FF2B5EF4-FFF2-40B4-BE49-F238E27FC236}">
                <a16:creationId xmlns:a16="http://schemas.microsoft.com/office/drawing/2014/main" id="{3D53C74B-C434-4A8D-B6C7-A79EDF860A58}"/>
              </a:ext>
            </a:extLst>
          </p:cNvPr>
          <p:cNvSpPr/>
          <p:nvPr/>
        </p:nvSpPr>
        <p:spPr>
          <a:xfrm>
            <a:off x="4138680" y="4149180"/>
            <a:ext cx="25488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58" name="Line 54">
            <a:extLst>
              <a:ext uri="{FF2B5EF4-FFF2-40B4-BE49-F238E27FC236}">
                <a16:creationId xmlns:a16="http://schemas.microsoft.com/office/drawing/2014/main" id="{17332995-3518-44B5-9625-902E3ABC3FD3}"/>
              </a:ext>
            </a:extLst>
          </p:cNvPr>
          <p:cNvSpPr/>
          <p:nvPr/>
        </p:nvSpPr>
        <p:spPr>
          <a:xfrm flipH="1">
            <a:off x="3279360" y="4418820"/>
            <a:ext cx="5040" cy="181080"/>
          </a:xfrm>
          <a:prstGeom prst="line">
            <a:avLst/>
          </a:prstGeom>
          <a:ln w="63360">
            <a:solidFill>
              <a:srgbClr val="1218FA"/>
            </a:solidFill>
            <a:round/>
          </a:ln>
        </p:spPr>
        <p:style>
          <a:lnRef idx="1">
            <a:schemeClr val="accent1"/>
          </a:lnRef>
          <a:fillRef idx="0">
            <a:schemeClr val="accent1"/>
          </a:fillRef>
          <a:effectRef idx="0">
            <a:schemeClr val="accent1"/>
          </a:effectRef>
          <a:fontRef idx="minor"/>
        </p:style>
      </p:sp>
      <p:sp>
        <p:nvSpPr>
          <p:cNvPr id="59" name="CustomShape 55">
            <a:extLst>
              <a:ext uri="{FF2B5EF4-FFF2-40B4-BE49-F238E27FC236}">
                <a16:creationId xmlns:a16="http://schemas.microsoft.com/office/drawing/2014/main" id="{1A8A0036-F67E-403F-B27C-B1CCE498CB0F}"/>
              </a:ext>
            </a:extLst>
          </p:cNvPr>
          <p:cNvSpPr/>
          <p:nvPr/>
        </p:nvSpPr>
        <p:spPr>
          <a:xfrm>
            <a:off x="7023000" y="4823820"/>
            <a:ext cx="25020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0" name="CustomShape 56">
            <a:extLst>
              <a:ext uri="{FF2B5EF4-FFF2-40B4-BE49-F238E27FC236}">
                <a16:creationId xmlns:a16="http://schemas.microsoft.com/office/drawing/2014/main" id="{7F9A6B15-8CF3-4DC5-8061-82AF2165AFD4}"/>
              </a:ext>
            </a:extLst>
          </p:cNvPr>
          <p:cNvSpPr/>
          <p:nvPr/>
        </p:nvSpPr>
        <p:spPr>
          <a:xfrm rot="18180000">
            <a:off x="5750400" y="384822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1" name="CustomShape 57">
            <a:extLst>
              <a:ext uri="{FF2B5EF4-FFF2-40B4-BE49-F238E27FC236}">
                <a16:creationId xmlns:a16="http://schemas.microsoft.com/office/drawing/2014/main" id="{9A887873-8DCE-48CB-9239-5DE9087135EC}"/>
              </a:ext>
            </a:extLst>
          </p:cNvPr>
          <p:cNvSpPr/>
          <p:nvPr/>
        </p:nvSpPr>
        <p:spPr>
          <a:xfrm rot="7380000">
            <a:off x="5722320" y="3825900"/>
            <a:ext cx="258120" cy="171000"/>
          </a:xfrm>
          <a:custGeom>
            <a:avLst/>
            <a:gdLst/>
            <a:ahLst/>
            <a:cxnLst/>
            <a:rect l="l" t="t" r="r" b="b"/>
            <a:pathLst>
              <a:path w="36819" h="21600">
                <a:moveTo>
                  <a:pt x="36819" y="11905"/>
                </a:moveTo>
                <a:cubicBezTo>
                  <a:pt x="32820" y="17958"/>
                  <a:pt x="26050" y="21599"/>
                  <a:pt x="18796" y="21600"/>
                </a:cubicBezTo>
                <a:cubicBezTo>
                  <a:pt x="11014" y="21600"/>
                  <a:pt x="3833" y="17414"/>
                  <a:pt x="-1" y="10642"/>
                </a:cubicBezTo>
                <a:moveTo>
                  <a:pt x="36819" y="11905"/>
                </a:moveTo>
                <a:cubicBezTo>
                  <a:pt x="32820" y="17958"/>
                  <a:pt x="26050" y="21599"/>
                  <a:pt x="18796" y="21600"/>
                </a:cubicBezTo>
                <a:cubicBezTo>
                  <a:pt x="11014" y="21600"/>
                  <a:pt x="3833" y="17414"/>
                  <a:pt x="-1" y="10642"/>
                </a:cubicBezTo>
                <a:lnTo>
                  <a:pt x="18796" y="0"/>
                </a:lnTo>
                <a:close/>
              </a:path>
            </a:pathLst>
          </a:custGeom>
          <a:noFill/>
          <a:ln w="12600">
            <a:solidFill>
              <a:schemeClr val="tx1"/>
            </a:solidFill>
            <a:round/>
            <a:tailEnd type="stealth" w="med" len="med"/>
          </a:ln>
        </p:spPr>
        <p:style>
          <a:lnRef idx="0">
            <a:scrgbClr r="0" g="0" b="0"/>
          </a:lnRef>
          <a:fillRef idx="0">
            <a:scrgbClr r="0" g="0" b="0"/>
          </a:fillRef>
          <a:effectRef idx="0">
            <a:scrgbClr r="0" g="0" b="0"/>
          </a:effectRef>
          <a:fontRef idx="minor"/>
        </p:style>
      </p:sp>
      <p:sp>
        <p:nvSpPr>
          <p:cNvPr id="62" name="CustomShape 58">
            <a:extLst>
              <a:ext uri="{FF2B5EF4-FFF2-40B4-BE49-F238E27FC236}">
                <a16:creationId xmlns:a16="http://schemas.microsoft.com/office/drawing/2014/main" id="{2EEBF9C3-D3B9-419F-80D4-272B58FB6465}"/>
              </a:ext>
            </a:extLst>
          </p:cNvPr>
          <p:cNvSpPr/>
          <p:nvPr/>
        </p:nvSpPr>
        <p:spPr>
          <a:xfrm>
            <a:off x="5624400" y="4339620"/>
            <a:ext cx="308880" cy="25344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3" name="CustomShape 59">
            <a:extLst>
              <a:ext uri="{FF2B5EF4-FFF2-40B4-BE49-F238E27FC236}">
                <a16:creationId xmlns:a16="http://schemas.microsoft.com/office/drawing/2014/main" id="{D6AF6950-5FB9-411C-AD7A-4DF845283E94}"/>
              </a:ext>
            </a:extLst>
          </p:cNvPr>
          <p:cNvSpPr/>
          <p:nvPr/>
        </p:nvSpPr>
        <p:spPr>
          <a:xfrm>
            <a:off x="1749360" y="1764540"/>
            <a:ext cx="502560" cy="31212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4" name="CustomShape 60">
            <a:extLst>
              <a:ext uri="{FF2B5EF4-FFF2-40B4-BE49-F238E27FC236}">
                <a16:creationId xmlns:a16="http://schemas.microsoft.com/office/drawing/2014/main" id="{E4B0EE5B-23FD-4433-8B1A-3B092F58024E}"/>
              </a:ext>
            </a:extLst>
          </p:cNvPr>
          <p:cNvSpPr/>
          <p:nvPr/>
        </p:nvSpPr>
        <p:spPr>
          <a:xfrm rot="5400000">
            <a:off x="4749240" y="2155860"/>
            <a:ext cx="348840" cy="410760"/>
          </a:xfrm>
          <a:prstGeom prst="bentConnector2">
            <a:avLst/>
          </a:prstGeom>
          <a:noFill/>
          <a:ln w="25560">
            <a:solidFill>
              <a:schemeClr val="tx1"/>
            </a:solidFill>
            <a:round/>
            <a:tailEnd type="triangle" w="med" len="med"/>
          </a:ln>
        </p:spPr>
        <p:style>
          <a:lnRef idx="1">
            <a:schemeClr val="accent1"/>
          </a:lnRef>
          <a:fillRef idx="0">
            <a:schemeClr val="accent1"/>
          </a:fillRef>
          <a:effectRef idx="0">
            <a:schemeClr val="accent1"/>
          </a:effectRef>
          <a:fontRef idx="minor"/>
        </p:style>
      </p:sp>
      <p:sp>
        <p:nvSpPr>
          <p:cNvPr id="65" name="CustomShape 61">
            <a:extLst>
              <a:ext uri="{FF2B5EF4-FFF2-40B4-BE49-F238E27FC236}">
                <a16:creationId xmlns:a16="http://schemas.microsoft.com/office/drawing/2014/main" id="{7835DD1B-91C1-436B-AE5E-00107D86B11D}"/>
              </a:ext>
            </a:extLst>
          </p:cNvPr>
          <p:cNvSpPr/>
          <p:nvPr/>
        </p:nvSpPr>
        <p:spPr>
          <a:xfrm>
            <a:off x="1820640" y="1467900"/>
            <a:ext cx="671040" cy="301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Verify</a:t>
            </a:r>
            <a:endParaRPr lang="en-US" sz="1400" b="0" strike="noStrike" spc="-1">
              <a:latin typeface="Arial"/>
            </a:endParaRPr>
          </a:p>
        </p:txBody>
      </p:sp>
      <p:sp>
        <p:nvSpPr>
          <p:cNvPr id="66" name="CustomShape 62">
            <a:extLst>
              <a:ext uri="{FF2B5EF4-FFF2-40B4-BE49-F238E27FC236}">
                <a16:creationId xmlns:a16="http://schemas.microsoft.com/office/drawing/2014/main" id="{713C0081-4CF2-4D68-A479-C7834F521337}"/>
              </a:ext>
            </a:extLst>
          </p:cNvPr>
          <p:cNvSpPr/>
          <p:nvPr/>
        </p:nvSpPr>
        <p:spPr>
          <a:xfrm>
            <a:off x="4625040" y="1664460"/>
            <a:ext cx="1006920" cy="5148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400" b="1" strike="noStrike" spc="-1">
                <a:solidFill>
                  <a:srgbClr val="3F3F3F"/>
                </a:solidFill>
                <a:latin typeface="Segoe UI"/>
                <a:ea typeface="DejaVu Sans"/>
              </a:rPr>
              <a:t>EFI/UEFI</a:t>
            </a:r>
            <a:br/>
            <a:r>
              <a:rPr lang="en-US" sz="1400" b="1" strike="noStrike" spc="-1">
                <a:solidFill>
                  <a:srgbClr val="3F3F3F"/>
                </a:solidFill>
                <a:latin typeface="Segoe UI"/>
                <a:ea typeface="DejaVu Sans"/>
              </a:rPr>
              <a:t>Interfaces</a:t>
            </a:r>
            <a:endParaRPr lang="en-US" sz="1400" b="0" strike="noStrike" spc="-1">
              <a:latin typeface="Arial"/>
            </a:endParaRPr>
          </a:p>
        </p:txBody>
      </p:sp>
      <p:sp>
        <p:nvSpPr>
          <p:cNvPr id="67" name="CustomShape 63">
            <a:extLst>
              <a:ext uri="{FF2B5EF4-FFF2-40B4-BE49-F238E27FC236}">
                <a16:creationId xmlns:a16="http://schemas.microsoft.com/office/drawing/2014/main" id="{F6785824-136B-4D2B-8FA4-E98E315B42FB}"/>
              </a:ext>
            </a:extLst>
          </p:cNvPr>
          <p:cNvSpPr/>
          <p:nvPr/>
        </p:nvSpPr>
        <p:spPr>
          <a:xfrm rot="8100000">
            <a:off x="2613720" y="369738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8" name="CustomShape 64">
            <a:extLst>
              <a:ext uri="{FF2B5EF4-FFF2-40B4-BE49-F238E27FC236}">
                <a16:creationId xmlns:a16="http://schemas.microsoft.com/office/drawing/2014/main" id="{00F261DB-7CED-4707-A399-4607111A7D6E}"/>
              </a:ext>
            </a:extLst>
          </p:cNvPr>
          <p:cNvSpPr/>
          <p:nvPr/>
        </p:nvSpPr>
        <p:spPr>
          <a:xfrm rot="8100000">
            <a:off x="2613720" y="315594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9" name="CustomShape 65">
            <a:extLst>
              <a:ext uri="{FF2B5EF4-FFF2-40B4-BE49-F238E27FC236}">
                <a16:creationId xmlns:a16="http://schemas.microsoft.com/office/drawing/2014/main" id="{8BC77685-4D9A-4F9C-B8F5-8E30131C062B}"/>
              </a:ext>
            </a:extLst>
          </p:cNvPr>
          <p:cNvSpPr/>
          <p:nvPr/>
        </p:nvSpPr>
        <p:spPr>
          <a:xfrm rot="8100000">
            <a:off x="2613720" y="2616300"/>
            <a:ext cx="267840" cy="360"/>
          </a:xfrm>
          <a:custGeom>
            <a:avLst/>
            <a:gdLst/>
            <a:ahLst/>
            <a:cxnLst/>
            <a:rect l="l" t="t" r="r" b="b"/>
            <a:pathLst>
              <a:path w="21600" h="21600">
                <a:moveTo>
                  <a:pt x="0" y="0"/>
                </a:moveTo>
                <a:lnTo>
                  <a:pt x="21600" y="21600"/>
                </a:lnTo>
              </a:path>
            </a:pathLst>
          </a:custGeom>
          <a:noFill/>
          <a:ln w="2556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0" name="CustomShape 66">
            <a:extLst>
              <a:ext uri="{FF2B5EF4-FFF2-40B4-BE49-F238E27FC236}">
                <a16:creationId xmlns:a16="http://schemas.microsoft.com/office/drawing/2014/main" id="{18971A0E-F7E4-47A1-B38D-133D2F3D26D5}"/>
              </a:ext>
            </a:extLst>
          </p:cNvPr>
          <p:cNvSpPr/>
          <p:nvPr/>
        </p:nvSpPr>
        <p:spPr>
          <a:xfrm>
            <a:off x="4619640" y="1280340"/>
            <a:ext cx="1009080" cy="4822200"/>
          </a:xfrm>
          <a:prstGeom prst="rect">
            <a:avLst/>
          </a:prstGeom>
          <a:noFill/>
          <a:ln w="25560">
            <a:solidFill>
              <a:srgbClr val="FF0000"/>
            </a:solidFill>
            <a:miter/>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8067510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Boot Device Selection (BDS) Phase</a:t>
            </a:r>
            <a:br>
              <a:rPr lang="en-US" dirty="0"/>
            </a:br>
            <a:r>
              <a:rPr lang="en-US" sz="3100" dirty="0"/>
              <a:t>Overview</a:t>
            </a:r>
            <a:endParaRPr lang="en-US" dirty="0"/>
          </a:p>
        </p:txBody>
      </p:sp>
      <p:sp>
        <p:nvSpPr>
          <p:cNvPr id="71" name="CustomShape 2">
            <a:extLst>
              <a:ext uri="{FF2B5EF4-FFF2-40B4-BE49-F238E27FC236}">
                <a16:creationId xmlns:a16="http://schemas.microsoft.com/office/drawing/2014/main" id="{9406515B-C313-4E57-997D-CA783B352F45}"/>
              </a:ext>
            </a:extLst>
          </p:cNvPr>
          <p:cNvSpPr/>
          <p:nvPr/>
        </p:nvSpPr>
        <p:spPr>
          <a:xfrm>
            <a:off x="838200" y="1316230"/>
            <a:ext cx="1019175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The BDS phase is responsible for implementing the platform boot policy.</a:t>
            </a:r>
            <a:endParaRPr lang="en-US" sz="2800" b="0" strike="noStrike" spc="-1" dirty="0">
              <a:latin typeface="Arial"/>
            </a:endParaRPr>
          </a:p>
          <a:p>
            <a:pPr>
              <a:lnSpc>
                <a:spcPct val="90000"/>
              </a:lnSpc>
              <a:spcBef>
                <a:spcPts val="1001"/>
              </a:spcBef>
            </a:pP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The BDS phase is responsible for the following:</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Initializing console devices</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Loading device drivers</a:t>
            </a:r>
            <a:endParaRPr lang="en-US" sz="2400" b="0" strike="noStrike" spc="-1" dirty="0">
              <a:latin typeface="Arial"/>
            </a:endParaRPr>
          </a:p>
          <a:p>
            <a:pPr marL="685800" lvl="1" indent="-226440">
              <a:lnSpc>
                <a:spcPct val="90000"/>
              </a:lnSpc>
              <a:spcBef>
                <a:spcPts val="451"/>
              </a:spcBef>
              <a:buClr>
                <a:srgbClr val="3F3F3F"/>
              </a:buClr>
              <a:buFont typeface="Arial"/>
              <a:buChar char="•"/>
            </a:pPr>
            <a:r>
              <a:rPr lang="en-US" sz="2400" b="0" strike="noStrike" spc="-1" dirty="0">
                <a:solidFill>
                  <a:srgbClr val="3F3F3F"/>
                </a:solidFill>
                <a:latin typeface="Segoe UI"/>
                <a:ea typeface="DejaVu Sans"/>
              </a:rPr>
              <a:t>Attempting to load and execute boot selections </a:t>
            </a:r>
            <a:endParaRPr lang="en-US" sz="2400" b="0" strike="noStrike" spc="-1" dirty="0">
              <a:latin typeface="Arial"/>
            </a:endParaRPr>
          </a:p>
          <a:p>
            <a:pPr>
              <a:lnSpc>
                <a:spcPct val="90000"/>
              </a:lnSpc>
              <a:spcBef>
                <a:spcPts val="1001"/>
              </a:spcBef>
            </a:pPr>
            <a:endParaRPr lang="en-US" sz="24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The BDS phase is implemented as part of the </a:t>
            </a:r>
            <a:r>
              <a:rPr lang="en-US" sz="2800" b="1" strike="noStrike" spc="-1" dirty="0">
                <a:solidFill>
                  <a:srgbClr val="3F3F3F"/>
                </a:solidFill>
                <a:latin typeface="Segoe UI"/>
                <a:ea typeface="DejaVu Sans"/>
              </a:rPr>
              <a:t>BDS Architectural Protocol</a:t>
            </a:r>
            <a:r>
              <a:rPr lang="en-US" sz="2800" b="0" strike="noStrike" spc="-1" dirty="0">
                <a:solidFill>
                  <a:srgbClr val="3F3F3F"/>
                </a:solidFill>
                <a:latin typeface="Segoe UI"/>
                <a:ea typeface="DejaVu Sans"/>
              </a:rPr>
              <a:t>.</a:t>
            </a:r>
            <a:endParaRPr lang="en-US" sz="2800" b="0" strike="noStrike" spc="-1" dirty="0">
              <a:latin typeface="Arial"/>
            </a:endParaRPr>
          </a:p>
        </p:txBody>
      </p:sp>
    </p:spTree>
    <p:extLst>
      <p:ext uri="{BB962C8B-B14F-4D97-AF65-F5344CB8AC3E}">
        <p14:creationId xmlns:p14="http://schemas.microsoft.com/office/powerpoint/2010/main" val="6377029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Boot Device Selection (BDS) Phase</a:t>
            </a:r>
            <a:br>
              <a:rPr lang="en-US" dirty="0"/>
            </a:br>
            <a:r>
              <a:rPr lang="en-US" sz="3100" dirty="0"/>
              <a:t>Overview</a:t>
            </a:r>
            <a:endParaRPr lang="en-US" dirty="0"/>
          </a:p>
        </p:txBody>
      </p:sp>
      <p:sp>
        <p:nvSpPr>
          <p:cNvPr id="71" name="CustomShape 2">
            <a:extLst>
              <a:ext uri="{FF2B5EF4-FFF2-40B4-BE49-F238E27FC236}">
                <a16:creationId xmlns:a16="http://schemas.microsoft.com/office/drawing/2014/main" id="{9406515B-C313-4E57-997D-CA783B352F45}"/>
              </a:ext>
            </a:extLst>
          </p:cNvPr>
          <p:cNvSpPr/>
          <p:nvPr/>
        </p:nvSpPr>
        <p:spPr>
          <a:xfrm>
            <a:off x="838200" y="1316230"/>
            <a:ext cx="1019175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The DXE Foundation will hand control to the BDS Architectural Protocol after all of the DXE drivers whose dependencies have been satisfied have been loaded and executed by the DXE Dispatcher. </a:t>
            </a:r>
            <a:endParaRPr lang="en-US" sz="2800" b="0" strike="noStrike" spc="-1" dirty="0">
              <a:latin typeface="Arial"/>
            </a:endParaRPr>
          </a:p>
        </p:txBody>
      </p:sp>
    </p:spTree>
    <p:extLst>
      <p:ext uri="{BB962C8B-B14F-4D97-AF65-F5344CB8AC3E}">
        <p14:creationId xmlns:p14="http://schemas.microsoft.com/office/powerpoint/2010/main" val="14555672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Boot Device Selection (BDS) Phase</a:t>
            </a:r>
            <a:br>
              <a:rPr lang="en-US" dirty="0"/>
            </a:br>
            <a:r>
              <a:rPr lang="en-US" sz="3100" dirty="0"/>
              <a:t>Overview</a:t>
            </a:r>
            <a:endParaRPr lang="en-US" dirty="0"/>
          </a:p>
        </p:txBody>
      </p:sp>
      <p:sp>
        <p:nvSpPr>
          <p:cNvPr id="71" name="CustomShape 2">
            <a:extLst>
              <a:ext uri="{FF2B5EF4-FFF2-40B4-BE49-F238E27FC236}">
                <a16:creationId xmlns:a16="http://schemas.microsoft.com/office/drawing/2014/main" id="{9406515B-C313-4E57-997D-CA783B352F45}"/>
              </a:ext>
            </a:extLst>
          </p:cNvPr>
          <p:cNvSpPr/>
          <p:nvPr/>
        </p:nvSpPr>
        <p:spPr>
          <a:xfrm>
            <a:off x="838200" y="1316230"/>
            <a:ext cx="1019175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1280" indent="-33912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Connect PCI Bus driver for PCI resource assignment and install PCI IO protocol to each of PCI device’s Handle.</a:t>
            </a:r>
            <a:endParaRPr lang="en-US" sz="2800" b="0" strike="noStrike" spc="-1" dirty="0">
              <a:latin typeface="Arial"/>
            </a:endParaRPr>
          </a:p>
          <a:p>
            <a:pPr marL="341280" indent="-33912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Connect default console In and console Out device.</a:t>
            </a:r>
            <a:endParaRPr lang="en-US" sz="2800" b="0" strike="noStrike" spc="-1" dirty="0">
              <a:latin typeface="Arial"/>
            </a:endParaRPr>
          </a:p>
          <a:p>
            <a:pPr marL="341280" indent="-33912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Display splash logo or system information on screen</a:t>
            </a:r>
            <a:endParaRPr lang="en-US" sz="2800" b="0" strike="noStrike" spc="-1" dirty="0">
              <a:latin typeface="Arial"/>
            </a:endParaRPr>
          </a:p>
          <a:p>
            <a:pPr marL="341280" indent="-33912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Connect all devices and drivers</a:t>
            </a:r>
            <a:endParaRPr lang="en-US" sz="2800" b="0" strike="noStrike" spc="-1" dirty="0">
              <a:latin typeface="Arial"/>
            </a:endParaRPr>
          </a:p>
          <a:p>
            <a:pPr marL="341280" indent="-33912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Enumerate all boot option device</a:t>
            </a:r>
            <a:endParaRPr lang="en-US" sz="2800" b="0" strike="noStrike" spc="-1" dirty="0">
              <a:latin typeface="Arial"/>
            </a:endParaRPr>
          </a:p>
          <a:p>
            <a:pPr marL="341280" indent="-33912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Boot to OS</a:t>
            </a:r>
            <a:endParaRPr lang="en-US" sz="2800" b="0" strike="noStrike" spc="-1" dirty="0">
              <a:latin typeface="Arial"/>
            </a:endParaRPr>
          </a:p>
        </p:txBody>
      </p:sp>
    </p:spTree>
    <p:extLst>
      <p:ext uri="{BB962C8B-B14F-4D97-AF65-F5344CB8AC3E}">
        <p14:creationId xmlns:p14="http://schemas.microsoft.com/office/powerpoint/2010/main" val="11102073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Boot Device Selection (BDS) Phase</a:t>
            </a:r>
            <a:br>
              <a:rPr lang="en-US" dirty="0"/>
            </a:br>
            <a:r>
              <a:rPr lang="en-US" sz="3100" dirty="0"/>
              <a:t>EFI_BDS_ARCH_PROTOCOL</a:t>
            </a:r>
            <a:endParaRPr lang="en-US" dirty="0"/>
          </a:p>
        </p:txBody>
      </p:sp>
      <p:sp>
        <p:nvSpPr>
          <p:cNvPr id="71" name="CustomShape 2">
            <a:extLst>
              <a:ext uri="{FF2B5EF4-FFF2-40B4-BE49-F238E27FC236}">
                <a16:creationId xmlns:a16="http://schemas.microsoft.com/office/drawing/2014/main" id="{9406515B-C313-4E57-997D-CA783B352F45}"/>
              </a:ext>
            </a:extLst>
          </p:cNvPr>
          <p:cNvSpPr/>
          <p:nvPr/>
        </p:nvSpPr>
        <p:spPr>
          <a:xfrm>
            <a:off x="838200" y="1316230"/>
            <a:ext cx="1019175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Transfers control from the DXE phase to an operating system or system utility.</a:t>
            </a:r>
            <a:endParaRPr lang="en-US" sz="2800" b="0" strike="noStrike" spc="-1" dirty="0">
              <a:latin typeface="Arial"/>
            </a:endParaRPr>
          </a:p>
          <a:p>
            <a:pPr marL="228600" indent="-226440">
              <a:lnSpc>
                <a:spcPct val="90000"/>
              </a:lnSpc>
              <a:spcBef>
                <a:spcPts val="1001"/>
              </a:spcBef>
            </a:pPr>
            <a:endParaRPr lang="en-US" sz="2800" b="0" strike="noStrike" spc="-1" dirty="0">
              <a:latin typeface="Arial"/>
            </a:endParaRPr>
          </a:p>
          <a:p>
            <a:pPr marL="228600" indent="-226440">
              <a:lnSpc>
                <a:spcPct val="90000"/>
              </a:lnSpc>
              <a:spcBef>
                <a:spcPts val="1001"/>
              </a:spcBef>
            </a:pPr>
            <a:r>
              <a:rPr lang="en-US" sz="1600" b="1" strike="noStrike" spc="-1" dirty="0">
                <a:solidFill>
                  <a:srgbClr val="3F3F3F"/>
                </a:solidFill>
                <a:latin typeface="Segoe UI"/>
                <a:ea typeface="DejaVu Sans"/>
              </a:rPr>
              <a:t>typedef struct {</a:t>
            </a:r>
            <a:endParaRPr lang="en-US" sz="1600" b="0" strike="noStrike" spc="-1" dirty="0">
              <a:latin typeface="Arial"/>
            </a:endParaRPr>
          </a:p>
          <a:p>
            <a:pPr marL="228600" indent="-226440">
              <a:lnSpc>
                <a:spcPct val="90000"/>
              </a:lnSpc>
              <a:spcBef>
                <a:spcPts val="1001"/>
              </a:spcBef>
            </a:pPr>
            <a:r>
              <a:rPr lang="en-US" sz="1600" b="1" strike="noStrike" spc="-1" dirty="0">
                <a:solidFill>
                  <a:srgbClr val="3F3F3F"/>
                </a:solidFill>
                <a:latin typeface="Segoe UI"/>
                <a:ea typeface="DejaVu Sans"/>
              </a:rPr>
              <a:t>  EFI_BDS_ENTRY Entry;</a:t>
            </a:r>
            <a:endParaRPr lang="en-US" sz="1600" b="0" strike="noStrike" spc="-1" dirty="0">
              <a:latin typeface="Arial"/>
            </a:endParaRPr>
          </a:p>
          <a:p>
            <a:pPr marL="228600" indent="-226440">
              <a:lnSpc>
                <a:spcPct val="90000"/>
              </a:lnSpc>
              <a:spcBef>
                <a:spcPts val="1001"/>
              </a:spcBef>
            </a:pPr>
            <a:r>
              <a:rPr lang="en-US" sz="1600" b="1" strike="noStrike" spc="-1" dirty="0">
                <a:solidFill>
                  <a:srgbClr val="3F3F3F"/>
                </a:solidFill>
                <a:latin typeface="Segoe UI"/>
                <a:ea typeface="DejaVu Sans"/>
              </a:rPr>
              <a:t>  } EFI_BDS_ARCH_PROTOCOL;</a:t>
            </a:r>
            <a:endParaRPr lang="en-US" sz="1600" b="0" strike="noStrike" spc="-1" dirty="0">
              <a:latin typeface="Arial"/>
            </a:endParaRPr>
          </a:p>
        </p:txBody>
      </p:sp>
    </p:spTree>
    <p:extLst>
      <p:ext uri="{BB962C8B-B14F-4D97-AF65-F5344CB8AC3E}">
        <p14:creationId xmlns:p14="http://schemas.microsoft.com/office/powerpoint/2010/main" val="26852132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Boot Device Selection (BDS) Phase</a:t>
            </a:r>
            <a:br>
              <a:rPr lang="en-US" dirty="0"/>
            </a:br>
            <a:r>
              <a:rPr lang="en-US" sz="3100" dirty="0"/>
              <a:t>Booting Sequence</a:t>
            </a:r>
            <a:endParaRPr lang="en-US" dirty="0"/>
          </a:p>
        </p:txBody>
      </p:sp>
      <p:sp>
        <p:nvSpPr>
          <p:cNvPr id="4" name="CustomShape 1">
            <a:extLst>
              <a:ext uri="{FF2B5EF4-FFF2-40B4-BE49-F238E27FC236}">
                <a16:creationId xmlns:a16="http://schemas.microsoft.com/office/drawing/2014/main" id="{E92A57D5-BBA9-4A96-A47E-498AF8906AA9}"/>
              </a:ext>
            </a:extLst>
          </p:cNvPr>
          <p:cNvSpPr/>
          <p:nvPr/>
        </p:nvSpPr>
        <p:spPr>
          <a:xfrm rot="4500000" flipH="1" flipV="1">
            <a:off x="5516040" y="2663550"/>
            <a:ext cx="537480" cy="718200"/>
          </a:xfrm>
          <a:custGeom>
            <a:avLst/>
            <a:gdLst/>
            <a:ahLst/>
            <a:cxnLst/>
            <a:rect l="l" t="t" r="r" b="b"/>
            <a:pathLst>
              <a:path w="21600" h="21600">
                <a:moveTo>
                  <a:pt x="0" y="0"/>
                </a:moveTo>
                <a:lnTo>
                  <a:pt x="21600" y="21600"/>
                </a:lnTo>
              </a:path>
            </a:pathLst>
          </a:custGeom>
          <a:noFill/>
          <a:ln w="34920">
            <a:solidFill>
              <a:schemeClr val="tx1"/>
            </a:solidFill>
            <a:round/>
            <a:headEnd type="triangle" w="lg" len="lg"/>
          </a:ln>
        </p:spPr>
        <p:style>
          <a:lnRef idx="1">
            <a:schemeClr val="accent1"/>
          </a:lnRef>
          <a:fillRef idx="0">
            <a:schemeClr val="accent1"/>
          </a:fillRef>
          <a:effectRef idx="0">
            <a:schemeClr val="accent1"/>
          </a:effectRef>
          <a:fontRef idx="minor"/>
        </p:style>
      </p:sp>
      <p:sp>
        <p:nvSpPr>
          <p:cNvPr id="5" name="CustomShape 2">
            <a:extLst>
              <a:ext uri="{FF2B5EF4-FFF2-40B4-BE49-F238E27FC236}">
                <a16:creationId xmlns:a16="http://schemas.microsoft.com/office/drawing/2014/main" id="{1BAD6DDA-C9FB-47B8-B9A1-8695FAFF89F9}"/>
              </a:ext>
            </a:extLst>
          </p:cNvPr>
          <p:cNvSpPr/>
          <p:nvPr/>
        </p:nvSpPr>
        <p:spPr>
          <a:xfrm rot="4500000" flipH="1" flipV="1">
            <a:off x="5156760" y="2756070"/>
            <a:ext cx="537480" cy="717120"/>
          </a:xfrm>
          <a:custGeom>
            <a:avLst/>
            <a:gdLst/>
            <a:ahLst/>
            <a:cxnLst/>
            <a:rect l="l" t="t" r="r" b="b"/>
            <a:pathLst>
              <a:path w="21600" h="21600">
                <a:moveTo>
                  <a:pt x="0" y="0"/>
                </a:moveTo>
                <a:lnTo>
                  <a:pt x="21600" y="21600"/>
                </a:lnTo>
              </a:path>
            </a:pathLst>
          </a:custGeom>
          <a:noFill/>
          <a:ln w="3492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6" name="CustomShape 3">
            <a:extLst>
              <a:ext uri="{FF2B5EF4-FFF2-40B4-BE49-F238E27FC236}">
                <a16:creationId xmlns:a16="http://schemas.microsoft.com/office/drawing/2014/main" id="{E0280D80-90F2-4DC5-B40B-52331DCFF5DF}"/>
              </a:ext>
            </a:extLst>
          </p:cNvPr>
          <p:cNvSpPr/>
          <p:nvPr/>
        </p:nvSpPr>
        <p:spPr>
          <a:xfrm rot="4500000" flipH="1" flipV="1">
            <a:off x="3716760" y="2756070"/>
            <a:ext cx="537480" cy="717120"/>
          </a:xfrm>
          <a:custGeom>
            <a:avLst/>
            <a:gdLst/>
            <a:ahLst/>
            <a:cxnLst/>
            <a:rect l="l" t="t" r="r" b="b"/>
            <a:pathLst>
              <a:path w="21600" h="21600">
                <a:moveTo>
                  <a:pt x="0" y="0"/>
                </a:moveTo>
                <a:lnTo>
                  <a:pt x="21600" y="21600"/>
                </a:lnTo>
              </a:path>
            </a:pathLst>
          </a:custGeom>
          <a:noFill/>
          <a:ln w="3492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7" name="CustomShape 4">
            <a:extLst>
              <a:ext uri="{FF2B5EF4-FFF2-40B4-BE49-F238E27FC236}">
                <a16:creationId xmlns:a16="http://schemas.microsoft.com/office/drawing/2014/main" id="{BC651824-2B24-4106-A01A-886474D9414E}"/>
              </a:ext>
            </a:extLst>
          </p:cNvPr>
          <p:cNvSpPr/>
          <p:nvPr/>
        </p:nvSpPr>
        <p:spPr>
          <a:xfrm flipH="1" flipV="1">
            <a:off x="6597120" y="2755350"/>
            <a:ext cx="537480" cy="718560"/>
          </a:xfrm>
          <a:custGeom>
            <a:avLst/>
            <a:gdLst/>
            <a:ahLst/>
            <a:cxnLst/>
            <a:rect l="l" t="t" r="r" b="b"/>
            <a:pathLst>
              <a:path w="21600" h="21600">
                <a:moveTo>
                  <a:pt x="0" y="0"/>
                </a:moveTo>
                <a:lnTo>
                  <a:pt x="21600" y="21600"/>
                </a:lnTo>
              </a:path>
            </a:pathLst>
          </a:custGeom>
          <a:noFill/>
          <a:ln w="3492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8" name="CustomShape 5">
            <a:extLst>
              <a:ext uri="{FF2B5EF4-FFF2-40B4-BE49-F238E27FC236}">
                <a16:creationId xmlns:a16="http://schemas.microsoft.com/office/drawing/2014/main" id="{8022CC46-142C-4C62-8A24-B7B5F940F451}"/>
              </a:ext>
            </a:extLst>
          </p:cNvPr>
          <p:cNvSpPr/>
          <p:nvPr/>
        </p:nvSpPr>
        <p:spPr>
          <a:xfrm flipH="1" flipV="1">
            <a:off x="2457120" y="2755350"/>
            <a:ext cx="537480" cy="718560"/>
          </a:xfrm>
          <a:custGeom>
            <a:avLst/>
            <a:gdLst/>
            <a:ahLst/>
            <a:cxnLst/>
            <a:rect l="l" t="t" r="r" b="b"/>
            <a:pathLst>
              <a:path w="21600" h="21600">
                <a:moveTo>
                  <a:pt x="0" y="0"/>
                </a:moveTo>
                <a:lnTo>
                  <a:pt x="21600" y="21600"/>
                </a:lnTo>
              </a:path>
            </a:pathLst>
          </a:custGeom>
          <a:noFill/>
          <a:ln w="34920">
            <a:solidFill>
              <a:schemeClr val="tx1"/>
            </a:solidFill>
            <a:round/>
            <a:tailEnd type="triangle" w="lg" len="lg"/>
          </a:ln>
        </p:spPr>
        <p:style>
          <a:lnRef idx="1">
            <a:schemeClr val="accent1"/>
          </a:lnRef>
          <a:fillRef idx="0">
            <a:schemeClr val="accent1"/>
          </a:fillRef>
          <a:effectRef idx="0">
            <a:schemeClr val="accent1"/>
          </a:effectRef>
          <a:fontRef idx="minor"/>
        </p:style>
      </p:sp>
      <p:sp>
        <p:nvSpPr>
          <p:cNvPr id="9" name="CustomShape 6">
            <a:extLst>
              <a:ext uri="{FF2B5EF4-FFF2-40B4-BE49-F238E27FC236}">
                <a16:creationId xmlns:a16="http://schemas.microsoft.com/office/drawing/2014/main" id="{5E91EEDC-D7AA-4460-8A7F-87610F5BDA53}"/>
              </a:ext>
            </a:extLst>
          </p:cNvPr>
          <p:cNvSpPr/>
          <p:nvPr/>
        </p:nvSpPr>
        <p:spPr>
          <a:xfrm flipH="1" flipV="1">
            <a:off x="2726760" y="2666430"/>
            <a:ext cx="537480" cy="717120"/>
          </a:xfrm>
          <a:custGeom>
            <a:avLst/>
            <a:gdLst/>
            <a:ahLst/>
            <a:cxnLst/>
            <a:rect l="l" t="t" r="r" b="b"/>
            <a:pathLst>
              <a:path w="21600" h="21600">
                <a:moveTo>
                  <a:pt x="0" y="0"/>
                </a:moveTo>
                <a:lnTo>
                  <a:pt x="21600" y="21600"/>
                </a:lnTo>
              </a:path>
            </a:pathLst>
          </a:custGeom>
          <a:noFill/>
          <a:ln w="34920">
            <a:solidFill>
              <a:schemeClr val="tx1"/>
            </a:solidFill>
            <a:round/>
            <a:headEnd type="triangle" w="lg" len="lg"/>
          </a:ln>
        </p:spPr>
        <p:style>
          <a:lnRef idx="1">
            <a:schemeClr val="accent1"/>
          </a:lnRef>
          <a:fillRef idx="0">
            <a:schemeClr val="accent1"/>
          </a:fillRef>
          <a:effectRef idx="0">
            <a:schemeClr val="accent1"/>
          </a:effectRef>
          <a:fontRef idx="minor"/>
        </p:style>
      </p:sp>
      <p:sp>
        <p:nvSpPr>
          <p:cNvPr id="10" name="CustomShape 7">
            <a:extLst>
              <a:ext uri="{FF2B5EF4-FFF2-40B4-BE49-F238E27FC236}">
                <a16:creationId xmlns:a16="http://schemas.microsoft.com/office/drawing/2014/main" id="{863AF77B-8C2A-47B1-BE7D-573B5C31EF15}"/>
              </a:ext>
            </a:extLst>
          </p:cNvPr>
          <p:cNvSpPr/>
          <p:nvPr/>
        </p:nvSpPr>
        <p:spPr>
          <a:xfrm flipH="1" flipV="1">
            <a:off x="6236760" y="2666430"/>
            <a:ext cx="537480" cy="717120"/>
          </a:xfrm>
          <a:custGeom>
            <a:avLst/>
            <a:gdLst/>
            <a:ahLst/>
            <a:cxnLst/>
            <a:rect l="l" t="t" r="r" b="b"/>
            <a:pathLst>
              <a:path w="21600" h="21600">
                <a:moveTo>
                  <a:pt x="0" y="0"/>
                </a:moveTo>
                <a:lnTo>
                  <a:pt x="21600" y="21600"/>
                </a:lnTo>
              </a:path>
            </a:pathLst>
          </a:custGeom>
          <a:noFill/>
          <a:ln w="34920">
            <a:solidFill>
              <a:schemeClr val="tx1"/>
            </a:solidFill>
            <a:round/>
            <a:headEnd type="triangle" w="lg" len="lg"/>
          </a:ln>
        </p:spPr>
        <p:style>
          <a:lnRef idx="1">
            <a:schemeClr val="accent1"/>
          </a:lnRef>
          <a:fillRef idx="0">
            <a:schemeClr val="accent1"/>
          </a:fillRef>
          <a:effectRef idx="0">
            <a:schemeClr val="accent1"/>
          </a:effectRef>
          <a:fontRef idx="minor"/>
        </p:style>
      </p:sp>
      <p:sp>
        <p:nvSpPr>
          <p:cNvPr id="11" name="CustomShape 8">
            <a:extLst>
              <a:ext uri="{FF2B5EF4-FFF2-40B4-BE49-F238E27FC236}">
                <a16:creationId xmlns:a16="http://schemas.microsoft.com/office/drawing/2014/main" id="{4FA0135D-4BBA-4898-92A3-FAAFECC0A75A}"/>
              </a:ext>
            </a:extLst>
          </p:cNvPr>
          <p:cNvSpPr/>
          <p:nvPr/>
        </p:nvSpPr>
        <p:spPr>
          <a:xfrm rot="4500000" flipH="1" flipV="1">
            <a:off x="4076040" y="2663550"/>
            <a:ext cx="537480" cy="718200"/>
          </a:xfrm>
          <a:custGeom>
            <a:avLst/>
            <a:gdLst/>
            <a:ahLst/>
            <a:cxnLst/>
            <a:rect l="l" t="t" r="r" b="b"/>
            <a:pathLst>
              <a:path w="21600" h="21600">
                <a:moveTo>
                  <a:pt x="0" y="0"/>
                </a:moveTo>
                <a:lnTo>
                  <a:pt x="21600" y="21600"/>
                </a:lnTo>
              </a:path>
            </a:pathLst>
          </a:custGeom>
          <a:noFill/>
          <a:ln w="34920">
            <a:solidFill>
              <a:schemeClr val="tx1"/>
            </a:solidFill>
            <a:round/>
            <a:headEnd type="triangle" w="lg" len="lg"/>
          </a:ln>
        </p:spPr>
        <p:style>
          <a:lnRef idx="1">
            <a:schemeClr val="accent1"/>
          </a:lnRef>
          <a:fillRef idx="0">
            <a:schemeClr val="accent1"/>
          </a:fillRef>
          <a:effectRef idx="0">
            <a:schemeClr val="accent1"/>
          </a:effectRef>
          <a:fontRef idx="minor"/>
        </p:style>
      </p:sp>
      <p:sp>
        <p:nvSpPr>
          <p:cNvPr id="12" name="CustomShape 10">
            <a:extLst>
              <a:ext uri="{FF2B5EF4-FFF2-40B4-BE49-F238E27FC236}">
                <a16:creationId xmlns:a16="http://schemas.microsoft.com/office/drawing/2014/main" id="{031124E1-BC08-4E23-A101-43563045E7C1}"/>
              </a:ext>
            </a:extLst>
          </p:cNvPr>
          <p:cNvSpPr/>
          <p:nvPr/>
        </p:nvSpPr>
        <p:spPr>
          <a:xfrm>
            <a:off x="2098920" y="1947870"/>
            <a:ext cx="1258200" cy="718560"/>
          </a:xfrm>
          <a:prstGeom prst="roundRect">
            <a:avLst>
              <a:gd name="adj" fmla="val 16667"/>
            </a:avLst>
          </a:prstGeom>
          <a:solidFill>
            <a:srgbClr val="7030A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a:t>
            </a:r>
            <a:br/>
            <a:r>
              <a:rPr lang="en-US" sz="1400" b="1" strike="noStrike" spc="-1">
                <a:solidFill>
                  <a:srgbClr val="FFFFFF"/>
                </a:solidFill>
                <a:latin typeface="Segoe UI"/>
                <a:ea typeface="DejaVu Sans"/>
              </a:rPr>
              <a:t>Driver</a:t>
            </a:r>
            <a:endParaRPr lang="en-US" sz="1400" b="0" strike="noStrike" spc="-1">
              <a:latin typeface="Arial"/>
            </a:endParaRPr>
          </a:p>
        </p:txBody>
      </p:sp>
      <p:sp>
        <p:nvSpPr>
          <p:cNvPr id="13" name="CustomShape 11">
            <a:extLst>
              <a:ext uri="{FF2B5EF4-FFF2-40B4-BE49-F238E27FC236}">
                <a16:creationId xmlns:a16="http://schemas.microsoft.com/office/drawing/2014/main" id="{D16ACEC9-CC12-427E-B564-327CD44C4FEE}"/>
              </a:ext>
            </a:extLst>
          </p:cNvPr>
          <p:cNvSpPr/>
          <p:nvPr/>
        </p:nvSpPr>
        <p:spPr>
          <a:xfrm>
            <a:off x="3718200" y="1947870"/>
            <a:ext cx="1258200" cy="718560"/>
          </a:xfrm>
          <a:prstGeom prst="roundRect">
            <a:avLst>
              <a:gd name="adj" fmla="val 16667"/>
            </a:avLst>
          </a:prstGeom>
          <a:solidFill>
            <a:srgbClr val="7030A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a:t>
            </a:r>
            <a:br/>
            <a:r>
              <a:rPr lang="en-US" sz="1400" b="1" strike="noStrike" spc="-1">
                <a:solidFill>
                  <a:srgbClr val="FFFFFF"/>
                </a:solidFill>
                <a:latin typeface="Segoe UI"/>
                <a:ea typeface="DejaVu Sans"/>
              </a:rPr>
              <a:t>Application</a:t>
            </a:r>
            <a:endParaRPr lang="en-US" sz="1400" b="0" strike="noStrike" spc="-1">
              <a:latin typeface="Arial"/>
            </a:endParaRPr>
          </a:p>
        </p:txBody>
      </p:sp>
      <p:sp>
        <p:nvSpPr>
          <p:cNvPr id="14" name="CustomShape 12">
            <a:extLst>
              <a:ext uri="{FF2B5EF4-FFF2-40B4-BE49-F238E27FC236}">
                <a16:creationId xmlns:a16="http://schemas.microsoft.com/office/drawing/2014/main" id="{8B300F91-A679-4C03-9EB5-CEE9C478228D}"/>
              </a:ext>
            </a:extLst>
          </p:cNvPr>
          <p:cNvSpPr/>
          <p:nvPr/>
        </p:nvSpPr>
        <p:spPr>
          <a:xfrm>
            <a:off x="5518200" y="1947870"/>
            <a:ext cx="1258200" cy="718560"/>
          </a:xfrm>
          <a:prstGeom prst="roundRect">
            <a:avLst>
              <a:gd name="adj" fmla="val 16667"/>
            </a:avLst>
          </a:prstGeom>
          <a:solidFill>
            <a:srgbClr val="7030A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EFI</a:t>
            </a:r>
            <a:br/>
            <a:r>
              <a:rPr lang="en-US" sz="1400" b="1" strike="noStrike" spc="-1">
                <a:solidFill>
                  <a:srgbClr val="FFFFFF"/>
                </a:solidFill>
                <a:latin typeface="Segoe UI"/>
                <a:ea typeface="DejaVu Sans"/>
              </a:rPr>
              <a:t>Bootcode</a:t>
            </a:r>
            <a:endParaRPr lang="en-US" sz="1400" b="0" strike="noStrike" spc="-1">
              <a:latin typeface="Arial"/>
            </a:endParaRPr>
          </a:p>
        </p:txBody>
      </p:sp>
      <p:sp>
        <p:nvSpPr>
          <p:cNvPr id="15" name="CustomShape 13">
            <a:extLst>
              <a:ext uri="{FF2B5EF4-FFF2-40B4-BE49-F238E27FC236}">
                <a16:creationId xmlns:a16="http://schemas.microsoft.com/office/drawing/2014/main" id="{F7D1CAEF-0E55-4CB3-9924-353B8932D6B9}"/>
              </a:ext>
            </a:extLst>
          </p:cNvPr>
          <p:cNvSpPr/>
          <p:nvPr/>
        </p:nvSpPr>
        <p:spPr>
          <a:xfrm>
            <a:off x="7318560" y="1947870"/>
            <a:ext cx="1258200" cy="718560"/>
          </a:xfrm>
          <a:prstGeom prst="roundRect">
            <a:avLst>
              <a:gd name="adj" fmla="val 16667"/>
            </a:avLst>
          </a:prstGeom>
          <a:solidFill>
            <a:srgbClr val="7030A0"/>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FFFFFF"/>
                </a:solidFill>
                <a:latin typeface="Segoe UI"/>
                <a:ea typeface="DejaVu Sans"/>
              </a:rPr>
              <a:t>OS Loader</a:t>
            </a:r>
            <a:endParaRPr lang="en-US" sz="1400" b="0" strike="noStrike" spc="-1">
              <a:latin typeface="Arial"/>
            </a:endParaRPr>
          </a:p>
        </p:txBody>
      </p:sp>
      <p:sp>
        <p:nvSpPr>
          <p:cNvPr id="16" name="CustomShape 14">
            <a:extLst>
              <a:ext uri="{FF2B5EF4-FFF2-40B4-BE49-F238E27FC236}">
                <a16:creationId xmlns:a16="http://schemas.microsoft.com/office/drawing/2014/main" id="{0B5477F5-77B3-42C5-A138-D65EFE6CA0EA}"/>
              </a:ext>
            </a:extLst>
          </p:cNvPr>
          <p:cNvSpPr/>
          <p:nvPr/>
        </p:nvSpPr>
        <p:spPr>
          <a:xfrm>
            <a:off x="838200" y="3387870"/>
            <a:ext cx="1618560" cy="1078920"/>
          </a:xfrm>
          <a:prstGeom prst="ellipse">
            <a:avLst/>
          </a:prstGeom>
          <a:solidFill>
            <a:schemeClr val="accent4">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3F3F3F"/>
                </a:solidFill>
                <a:latin typeface="Segoe UI"/>
                <a:ea typeface="DejaVu Sans"/>
              </a:rPr>
              <a:t>Platform</a:t>
            </a:r>
            <a:br/>
            <a:r>
              <a:rPr lang="en-US" sz="1400" b="1" strike="noStrike" spc="-1">
                <a:solidFill>
                  <a:srgbClr val="3F3F3F"/>
                </a:solidFill>
                <a:latin typeface="Segoe UI"/>
                <a:ea typeface="DejaVu Sans"/>
              </a:rPr>
              <a:t>Init</a:t>
            </a:r>
            <a:endParaRPr lang="en-US" sz="1400" b="0" strike="noStrike" spc="-1">
              <a:latin typeface="Arial"/>
            </a:endParaRPr>
          </a:p>
        </p:txBody>
      </p:sp>
      <p:sp>
        <p:nvSpPr>
          <p:cNvPr id="17" name="CustomShape 15">
            <a:extLst>
              <a:ext uri="{FF2B5EF4-FFF2-40B4-BE49-F238E27FC236}">
                <a16:creationId xmlns:a16="http://schemas.microsoft.com/office/drawing/2014/main" id="{1806CAB5-270C-4F7B-9948-9085D9205BCA}"/>
              </a:ext>
            </a:extLst>
          </p:cNvPr>
          <p:cNvSpPr/>
          <p:nvPr/>
        </p:nvSpPr>
        <p:spPr>
          <a:xfrm>
            <a:off x="2638560" y="3387870"/>
            <a:ext cx="1617120" cy="1078920"/>
          </a:xfrm>
          <a:prstGeom prst="ellipse">
            <a:avLst/>
          </a:prstGeom>
          <a:solidFill>
            <a:schemeClr val="accent4">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3F3F3F"/>
                </a:solidFill>
                <a:latin typeface="Segoe UI"/>
                <a:ea typeface="DejaVu Sans"/>
              </a:rPr>
              <a:t>EFI Image</a:t>
            </a:r>
            <a:br/>
            <a:r>
              <a:rPr lang="en-US" sz="1400" b="1" strike="noStrike" spc="-1">
                <a:solidFill>
                  <a:srgbClr val="3F3F3F"/>
                </a:solidFill>
                <a:latin typeface="Segoe UI"/>
                <a:ea typeface="DejaVu Sans"/>
              </a:rPr>
              <a:t>Load</a:t>
            </a:r>
            <a:endParaRPr lang="en-US" sz="1400" b="0" strike="noStrike" spc="-1">
              <a:latin typeface="Arial"/>
            </a:endParaRPr>
          </a:p>
        </p:txBody>
      </p:sp>
      <p:sp>
        <p:nvSpPr>
          <p:cNvPr id="18" name="CustomShape 16">
            <a:extLst>
              <a:ext uri="{FF2B5EF4-FFF2-40B4-BE49-F238E27FC236}">
                <a16:creationId xmlns:a16="http://schemas.microsoft.com/office/drawing/2014/main" id="{F49F3899-6CC4-4B23-B456-83C2ADF0D3DC}"/>
              </a:ext>
            </a:extLst>
          </p:cNvPr>
          <p:cNvSpPr/>
          <p:nvPr/>
        </p:nvSpPr>
        <p:spPr>
          <a:xfrm>
            <a:off x="4438920" y="3387870"/>
            <a:ext cx="1617120" cy="1078920"/>
          </a:xfrm>
          <a:prstGeom prst="ellipse">
            <a:avLst/>
          </a:prstGeom>
          <a:solidFill>
            <a:schemeClr val="accent4">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3F3F3F"/>
                </a:solidFill>
                <a:latin typeface="Segoe UI"/>
                <a:ea typeface="DejaVu Sans"/>
              </a:rPr>
              <a:t>EFI</a:t>
            </a:r>
            <a:br/>
            <a:r>
              <a:rPr lang="en-US" sz="1400" b="1" strike="noStrike" spc="-1">
                <a:solidFill>
                  <a:srgbClr val="3F3F3F"/>
                </a:solidFill>
                <a:latin typeface="Segoe UI"/>
                <a:ea typeface="DejaVu Sans"/>
              </a:rPr>
              <a:t>OS Loader</a:t>
            </a:r>
            <a:br/>
            <a:r>
              <a:rPr lang="en-US" sz="1400" b="1" strike="noStrike" spc="-1">
                <a:solidFill>
                  <a:srgbClr val="3F3F3F"/>
                </a:solidFill>
                <a:latin typeface="Segoe UI"/>
                <a:ea typeface="DejaVu Sans"/>
              </a:rPr>
              <a:t>Load</a:t>
            </a:r>
            <a:endParaRPr lang="en-US" sz="1400" b="0" strike="noStrike" spc="-1">
              <a:latin typeface="Arial"/>
            </a:endParaRPr>
          </a:p>
        </p:txBody>
      </p:sp>
      <p:sp>
        <p:nvSpPr>
          <p:cNvPr id="19" name="CustomShape 17">
            <a:extLst>
              <a:ext uri="{FF2B5EF4-FFF2-40B4-BE49-F238E27FC236}">
                <a16:creationId xmlns:a16="http://schemas.microsoft.com/office/drawing/2014/main" id="{440F78B3-E413-4083-AE47-A4C8F64251EB}"/>
              </a:ext>
            </a:extLst>
          </p:cNvPr>
          <p:cNvSpPr/>
          <p:nvPr/>
        </p:nvSpPr>
        <p:spPr>
          <a:xfrm>
            <a:off x="6238920" y="3387870"/>
            <a:ext cx="1617120" cy="1078920"/>
          </a:xfrm>
          <a:prstGeom prst="ellipse">
            <a:avLst/>
          </a:prstGeom>
          <a:solidFill>
            <a:schemeClr val="accent4">
              <a:lumMod val="60000"/>
              <a:lumOff val="40000"/>
            </a:schemeClr>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400" b="1" strike="noStrike" spc="-1">
                <a:solidFill>
                  <a:srgbClr val="3F3F3F"/>
                </a:solidFill>
                <a:latin typeface="Segoe UI"/>
                <a:ea typeface="DejaVu Sans"/>
              </a:rPr>
              <a:t>Boot</a:t>
            </a:r>
            <a:br/>
            <a:r>
              <a:rPr lang="en-US" sz="1400" b="1" strike="noStrike" spc="-1">
                <a:solidFill>
                  <a:srgbClr val="3F3F3F"/>
                </a:solidFill>
                <a:latin typeface="Segoe UI"/>
                <a:ea typeface="DejaVu Sans"/>
              </a:rPr>
              <a:t>Services</a:t>
            </a:r>
            <a:br/>
            <a:r>
              <a:rPr lang="en-US" sz="1400" b="1" strike="noStrike" spc="-1">
                <a:solidFill>
                  <a:srgbClr val="3F3F3F"/>
                </a:solidFill>
                <a:latin typeface="Segoe UI"/>
                <a:ea typeface="DejaVu Sans"/>
              </a:rPr>
              <a:t>Terminate</a:t>
            </a:r>
            <a:endParaRPr lang="en-US" sz="1400" b="0" strike="noStrike" spc="-1">
              <a:latin typeface="Arial"/>
            </a:endParaRPr>
          </a:p>
        </p:txBody>
      </p:sp>
      <p:sp>
        <p:nvSpPr>
          <p:cNvPr id="20" name="CustomShape 18">
            <a:extLst>
              <a:ext uri="{FF2B5EF4-FFF2-40B4-BE49-F238E27FC236}">
                <a16:creationId xmlns:a16="http://schemas.microsoft.com/office/drawing/2014/main" id="{30748BEB-A6AA-438B-97CF-3FD6E9061EC7}"/>
              </a:ext>
            </a:extLst>
          </p:cNvPr>
          <p:cNvSpPr/>
          <p:nvPr/>
        </p:nvSpPr>
        <p:spPr>
          <a:xfrm>
            <a:off x="842880" y="4648230"/>
            <a:ext cx="1608840" cy="118584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800" b="1" strike="noStrike" spc="-1">
                <a:solidFill>
                  <a:srgbClr val="3F3F3F"/>
                </a:solidFill>
                <a:latin typeface="Tahoma"/>
                <a:ea typeface="DejaVu Sans"/>
              </a:rPr>
              <a:t>Standard</a:t>
            </a:r>
            <a:br/>
            <a:r>
              <a:rPr lang="en-US" sz="1800" b="1" strike="noStrike" spc="-1">
                <a:solidFill>
                  <a:srgbClr val="3F3F3F"/>
                </a:solidFill>
                <a:latin typeface="Tahoma"/>
                <a:ea typeface="DejaVu Sans"/>
              </a:rPr>
              <a:t>firmware</a:t>
            </a:r>
            <a:br/>
            <a:r>
              <a:rPr lang="en-US" sz="1800" b="1" strike="noStrike" spc="-1">
                <a:solidFill>
                  <a:srgbClr val="3F3F3F"/>
                </a:solidFill>
                <a:latin typeface="Tahoma"/>
                <a:ea typeface="DejaVu Sans"/>
              </a:rPr>
              <a:t>platform</a:t>
            </a:r>
            <a:br/>
            <a:r>
              <a:rPr lang="en-US" sz="1800" b="1" strike="noStrike" spc="-1">
                <a:solidFill>
                  <a:srgbClr val="3F3F3F"/>
                </a:solidFill>
                <a:latin typeface="Tahoma"/>
                <a:ea typeface="DejaVu Sans"/>
              </a:rPr>
              <a:t>initialization</a:t>
            </a:r>
            <a:endParaRPr lang="en-US" sz="1800" b="0" strike="noStrike" spc="-1">
              <a:latin typeface="Arial"/>
            </a:endParaRPr>
          </a:p>
        </p:txBody>
      </p:sp>
      <p:sp>
        <p:nvSpPr>
          <p:cNvPr id="21" name="CustomShape 19">
            <a:extLst>
              <a:ext uri="{FF2B5EF4-FFF2-40B4-BE49-F238E27FC236}">
                <a16:creationId xmlns:a16="http://schemas.microsoft.com/office/drawing/2014/main" id="{F0A06CFC-09FE-4312-9C96-479668AAA1A1}"/>
              </a:ext>
            </a:extLst>
          </p:cNvPr>
          <p:cNvSpPr/>
          <p:nvPr/>
        </p:nvSpPr>
        <p:spPr>
          <a:xfrm>
            <a:off x="2664120" y="4648230"/>
            <a:ext cx="1566000" cy="118584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800" b="1" strike="noStrike" spc="-1">
                <a:solidFill>
                  <a:srgbClr val="3F3F3F"/>
                </a:solidFill>
                <a:latin typeface="Tahoma"/>
                <a:ea typeface="DejaVu Sans"/>
              </a:rPr>
              <a:t>Drivers and</a:t>
            </a:r>
            <a:br/>
            <a:r>
              <a:rPr lang="en-US" sz="1800" b="1" strike="noStrike" spc="-1">
                <a:solidFill>
                  <a:srgbClr val="3F3F3F"/>
                </a:solidFill>
                <a:latin typeface="Tahoma"/>
                <a:ea typeface="DejaVu Sans"/>
              </a:rPr>
              <a:t>applications</a:t>
            </a:r>
            <a:br/>
            <a:r>
              <a:rPr lang="en-US" sz="1800" b="1" strike="noStrike" spc="-1">
                <a:solidFill>
                  <a:srgbClr val="3F3F3F"/>
                </a:solidFill>
                <a:latin typeface="Tahoma"/>
                <a:ea typeface="DejaVu Sans"/>
              </a:rPr>
              <a:t>loaded</a:t>
            </a:r>
            <a:br/>
            <a:r>
              <a:rPr lang="en-US" sz="1800" b="1" strike="noStrike" spc="-1">
                <a:solidFill>
                  <a:srgbClr val="3F3F3F"/>
                </a:solidFill>
                <a:latin typeface="Tahoma"/>
                <a:ea typeface="DejaVu Sans"/>
              </a:rPr>
              <a:t>iteratively</a:t>
            </a:r>
            <a:endParaRPr lang="en-US" sz="1800" b="0" strike="noStrike" spc="-1">
              <a:latin typeface="Arial"/>
            </a:endParaRPr>
          </a:p>
        </p:txBody>
      </p:sp>
      <p:sp>
        <p:nvSpPr>
          <p:cNvPr id="22" name="CustomShape 20">
            <a:extLst>
              <a:ext uri="{FF2B5EF4-FFF2-40B4-BE49-F238E27FC236}">
                <a16:creationId xmlns:a16="http://schemas.microsoft.com/office/drawing/2014/main" id="{780D2A2D-3A05-4C54-AB9A-C5175EEB15A9}"/>
              </a:ext>
            </a:extLst>
          </p:cNvPr>
          <p:cNvSpPr/>
          <p:nvPr/>
        </p:nvSpPr>
        <p:spPr>
          <a:xfrm>
            <a:off x="4500840" y="4648230"/>
            <a:ext cx="1492920" cy="118584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800" b="1" strike="noStrike" spc="-1">
                <a:solidFill>
                  <a:srgbClr val="3F3F3F"/>
                </a:solidFill>
                <a:latin typeface="Tahoma"/>
                <a:ea typeface="DejaVu Sans"/>
              </a:rPr>
              <a:t>Boot from</a:t>
            </a:r>
            <a:br/>
            <a:r>
              <a:rPr lang="en-US" sz="1800" b="1" strike="noStrike" spc="-1">
                <a:solidFill>
                  <a:srgbClr val="3F3F3F"/>
                </a:solidFill>
                <a:latin typeface="Tahoma"/>
                <a:ea typeface="DejaVu Sans"/>
              </a:rPr>
              <a:t>ordered list</a:t>
            </a:r>
            <a:br/>
            <a:r>
              <a:rPr lang="en-US" sz="1800" b="1" strike="noStrike" spc="-1">
                <a:solidFill>
                  <a:srgbClr val="3F3F3F"/>
                </a:solidFill>
                <a:latin typeface="Tahoma"/>
                <a:ea typeface="DejaVu Sans"/>
              </a:rPr>
              <a:t>of EFI OS</a:t>
            </a:r>
            <a:br/>
            <a:r>
              <a:rPr lang="en-US" sz="1800" b="1" strike="noStrike" spc="-1">
                <a:solidFill>
                  <a:srgbClr val="3F3F3F"/>
                </a:solidFill>
                <a:latin typeface="Tahoma"/>
                <a:ea typeface="DejaVu Sans"/>
              </a:rPr>
              <a:t>loaders</a:t>
            </a:r>
            <a:endParaRPr lang="en-US" sz="1800" b="0" strike="noStrike" spc="-1">
              <a:latin typeface="Arial"/>
            </a:endParaRPr>
          </a:p>
        </p:txBody>
      </p:sp>
      <p:sp>
        <p:nvSpPr>
          <p:cNvPr id="23" name="CustomShape 21">
            <a:extLst>
              <a:ext uri="{FF2B5EF4-FFF2-40B4-BE49-F238E27FC236}">
                <a16:creationId xmlns:a16="http://schemas.microsoft.com/office/drawing/2014/main" id="{305B6C51-2267-400E-96B6-145A1641F4C9}"/>
              </a:ext>
            </a:extLst>
          </p:cNvPr>
          <p:cNvSpPr/>
          <p:nvPr/>
        </p:nvSpPr>
        <p:spPr>
          <a:xfrm>
            <a:off x="6249000" y="4648230"/>
            <a:ext cx="1596600" cy="911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1800" b="1" strike="noStrike" spc="-1">
                <a:solidFill>
                  <a:srgbClr val="3F3F3F"/>
                </a:solidFill>
                <a:latin typeface="Tahoma"/>
                <a:ea typeface="DejaVu Sans"/>
              </a:rPr>
              <a:t>Operation</a:t>
            </a:r>
            <a:br/>
            <a:r>
              <a:rPr lang="en-US" sz="1800" b="1" strike="noStrike" spc="-1">
                <a:solidFill>
                  <a:srgbClr val="3F3F3F"/>
                </a:solidFill>
                <a:latin typeface="Tahoma"/>
                <a:ea typeface="DejaVu Sans"/>
              </a:rPr>
              <a:t>handed off</a:t>
            </a:r>
            <a:br/>
            <a:r>
              <a:rPr lang="en-US" sz="1800" b="1" strike="noStrike" spc="-1">
                <a:solidFill>
                  <a:srgbClr val="3F3F3F"/>
                </a:solidFill>
                <a:latin typeface="Tahoma"/>
                <a:ea typeface="DejaVu Sans"/>
              </a:rPr>
              <a:t>to OS loader</a:t>
            </a:r>
            <a:endParaRPr lang="en-US" sz="1800" b="0" strike="noStrike" spc="-1">
              <a:latin typeface="Arial"/>
            </a:endParaRPr>
          </a:p>
        </p:txBody>
      </p:sp>
      <p:sp>
        <p:nvSpPr>
          <p:cNvPr id="24" name="CustomShape 22">
            <a:extLst>
              <a:ext uri="{FF2B5EF4-FFF2-40B4-BE49-F238E27FC236}">
                <a16:creationId xmlns:a16="http://schemas.microsoft.com/office/drawing/2014/main" id="{14FB831D-DD86-4FD7-BF56-CCDCF7C9F0E4}"/>
              </a:ext>
            </a:extLst>
          </p:cNvPr>
          <p:cNvSpPr/>
          <p:nvPr/>
        </p:nvSpPr>
        <p:spPr>
          <a:xfrm>
            <a:off x="6778560" y="2308230"/>
            <a:ext cx="537480" cy="360"/>
          </a:xfrm>
          <a:custGeom>
            <a:avLst/>
            <a:gdLst/>
            <a:ahLst/>
            <a:cxnLst/>
            <a:rect l="l" t="t" r="r" b="b"/>
            <a:pathLst>
              <a:path w="21600" h="21600">
                <a:moveTo>
                  <a:pt x="0" y="0"/>
                </a:moveTo>
                <a:lnTo>
                  <a:pt x="21600" y="21600"/>
                </a:lnTo>
              </a:path>
            </a:pathLst>
          </a:custGeom>
          <a:noFill/>
          <a:ln w="38160">
            <a:solidFill>
              <a:schemeClr val="tx1"/>
            </a:solidFill>
            <a:custDash>
              <a:ds d="300000" sp="100000"/>
            </a:custDash>
            <a:round/>
            <a:tailEnd type="triangle" w="lg" len="lg"/>
          </a:ln>
        </p:spPr>
        <p:style>
          <a:lnRef idx="1">
            <a:schemeClr val="accent1"/>
          </a:lnRef>
          <a:fillRef idx="0">
            <a:schemeClr val="accent1"/>
          </a:fillRef>
          <a:effectRef idx="0">
            <a:schemeClr val="accent1"/>
          </a:effectRef>
          <a:fontRef idx="minor"/>
        </p:style>
      </p:sp>
      <p:sp>
        <p:nvSpPr>
          <p:cNvPr id="25" name="CustomShape 23">
            <a:extLst>
              <a:ext uri="{FF2B5EF4-FFF2-40B4-BE49-F238E27FC236}">
                <a16:creationId xmlns:a16="http://schemas.microsoft.com/office/drawing/2014/main" id="{5C0F85EC-6E9A-4FD0-A6C1-41141F1ABE6A}"/>
              </a:ext>
            </a:extLst>
          </p:cNvPr>
          <p:cNvSpPr/>
          <p:nvPr/>
        </p:nvSpPr>
        <p:spPr>
          <a:xfrm>
            <a:off x="4723680" y="2724030"/>
            <a:ext cx="805680" cy="362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1" strike="noStrike" spc="-1">
                <a:solidFill>
                  <a:srgbClr val="3F3F3F"/>
                </a:solidFill>
                <a:latin typeface="Tahoma"/>
                <a:ea typeface="DejaVu Sans"/>
              </a:rPr>
              <a:t>Retry</a:t>
            </a:r>
            <a:endParaRPr lang="en-US" sz="1800" b="0" strike="noStrike" spc="-1">
              <a:latin typeface="Arial"/>
            </a:endParaRPr>
          </a:p>
        </p:txBody>
      </p:sp>
      <p:sp>
        <p:nvSpPr>
          <p:cNvPr id="26" name="CustomShape 24">
            <a:extLst>
              <a:ext uri="{FF2B5EF4-FFF2-40B4-BE49-F238E27FC236}">
                <a16:creationId xmlns:a16="http://schemas.microsoft.com/office/drawing/2014/main" id="{B18B4E9C-3531-4156-A47F-D55CFE532889}"/>
              </a:ext>
            </a:extLst>
          </p:cNvPr>
          <p:cNvSpPr/>
          <p:nvPr/>
        </p:nvSpPr>
        <p:spPr>
          <a:xfrm>
            <a:off x="5485080" y="2876670"/>
            <a:ext cx="967320" cy="362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1" strike="noStrike" spc="-1">
                <a:solidFill>
                  <a:srgbClr val="FF0000"/>
                </a:solidFill>
                <a:latin typeface="Tahoma"/>
                <a:ea typeface="DejaVu Sans"/>
              </a:rPr>
              <a:t>Failure</a:t>
            </a:r>
            <a:endParaRPr lang="en-US" sz="1800" b="0" strike="noStrike" spc="-1">
              <a:latin typeface="Arial"/>
            </a:endParaRPr>
          </a:p>
        </p:txBody>
      </p:sp>
    </p:spTree>
    <p:extLst>
      <p:ext uri="{BB962C8B-B14F-4D97-AF65-F5344CB8AC3E}">
        <p14:creationId xmlns:p14="http://schemas.microsoft.com/office/powerpoint/2010/main" val="1304036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repl">
                                        <p:cTn id="7" dur="500" fill="hold"/>
                                        <p:tgtEl>
                                          <p:spTgt spid="16"/>
                                        </p:tgtEl>
                                        <p:attrNameLst>
                                          <p:attrName>ppt_x</p:attrName>
                                        </p:attrNameLst>
                                      </p:cBhvr>
                                      <p:tavLst>
                                        <p:tav tm="0">
                                          <p:val>
                                            <p:strVal val="0-#ppt_w/2"/>
                                          </p:val>
                                        </p:tav>
                                        <p:tav tm="100000">
                                          <p:val>
                                            <p:strVal val="#ppt_x"/>
                                          </p:val>
                                        </p:tav>
                                      </p:tavLst>
                                    </p:anim>
                                    <p:anim calcmode="lin" valueType="num">
                                      <p:cBhvr additive="repl">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repl">
                                        <p:cTn id="11" dur="500" fill="hold"/>
                                        <p:tgtEl>
                                          <p:spTgt spid="20"/>
                                        </p:tgtEl>
                                        <p:attrNameLst>
                                          <p:attrName>ppt_x</p:attrName>
                                        </p:attrNameLst>
                                      </p:cBhvr>
                                      <p:tavLst>
                                        <p:tav tm="0">
                                          <p:val>
                                            <p:strVal val="0-#ppt_w/2"/>
                                          </p:val>
                                        </p:tav>
                                        <p:tav tm="100000">
                                          <p:val>
                                            <p:strVal val="#ppt_x"/>
                                          </p:val>
                                        </p:tav>
                                      </p:tavLst>
                                    </p:anim>
                                    <p:anim calcmode="lin" valueType="num">
                                      <p:cBhvr additive="repl">
                                        <p:cTn id="1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repl">
                                        <p:cTn id="17" dur="500" fill="hold"/>
                                        <p:tgtEl>
                                          <p:spTgt spid="17"/>
                                        </p:tgtEl>
                                        <p:attrNameLst>
                                          <p:attrName>ppt_x</p:attrName>
                                        </p:attrNameLst>
                                      </p:cBhvr>
                                      <p:tavLst>
                                        <p:tav tm="0">
                                          <p:val>
                                            <p:strVal val="0-#ppt_w/2"/>
                                          </p:val>
                                        </p:tav>
                                        <p:tav tm="100000">
                                          <p:val>
                                            <p:strVal val="#ppt_x"/>
                                          </p:val>
                                        </p:tav>
                                      </p:tavLst>
                                    </p:anim>
                                    <p:anim calcmode="lin" valueType="num">
                                      <p:cBhvr additive="repl">
                                        <p:cTn id="18" dur="500" fill="hold"/>
                                        <p:tgtEl>
                                          <p:spTgt spid="17"/>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repl">
                                        <p:cTn id="21" dur="500" fill="hold"/>
                                        <p:tgtEl>
                                          <p:spTgt spid="21"/>
                                        </p:tgtEl>
                                        <p:attrNameLst>
                                          <p:attrName>ppt_x</p:attrName>
                                        </p:attrNameLst>
                                      </p:cBhvr>
                                      <p:tavLst>
                                        <p:tav tm="0">
                                          <p:val>
                                            <p:strVal val="0-#ppt_w/2"/>
                                          </p:val>
                                        </p:tav>
                                        <p:tav tm="100000">
                                          <p:val>
                                            <p:strVal val="#ppt_x"/>
                                          </p:val>
                                        </p:tav>
                                      </p:tavLst>
                                    </p:anim>
                                    <p:anim calcmode="lin" valueType="num">
                                      <p:cBhvr additive="repl">
                                        <p:cTn id="22"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additive="repl">
                                        <p:cTn id="27" dur="500"/>
                                        <p:tgtEl>
                                          <p:spTgt spid="8"/>
                                        </p:tgtEl>
                                      </p:cBhvr>
                                    </p:animEffect>
                                  </p:childTnLst>
                                </p:cTn>
                              </p:par>
                            </p:childTnLst>
                          </p:cTn>
                        </p:par>
                        <p:par>
                          <p:cTn id="28" fill="hold">
                            <p:stCondLst>
                              <p:cond delay="500"/>
                            </p:stCondLst>
                            <p:childTnLst>
                              <p:par>
                                <p:cTn id="29" presetID="3" presetClass="entr" presetSubtype="1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additive="repl">
                                        <p:cTn id="31" dur="500"/>
                                        <p:tgtEl>
                                          <p:spTgt spid="12"/>
                                        </p:tgtEl>
                                      </p:cBhvr>
                                    </p:animEffect>
                                  </p:childTnLst>
                                </p:cTn>
                              </p:par>
                            </p:childTnLst>
                          </p:cTn>
                        </p:par>
                        <p:par>
                          <p:cTn id="32" fill="hold">
                            <p:stCondLst>
                              <p:cond delay="1000"/>
                            </p:stCondLst>
                            <p:childTnLst>
                              <p:par>
                                <p:cTn id="33" presetID="3" presetClass="entr" presetSubtype="1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linds(horizontal)">
                                      <p:cBhvr additive="repl">
                                        <p:cTn id="35" dur="500"/>
                                        <p:tgtEl>
                                          <p:spTgt spid="9"/>
                                        </p:tgtEl>
                                      </p:cBhvr>
                                    </p:animEffect>
                                  </p:childTnLst>
                                </p:cTn>
                              </p:par>
                            </p:childTnLst>
                          </p:cTn>
                        </p:par>
                        <p:par>
                          <p:cTn id="36" fill="hold">
                            <p:stCondLst>
                              <p:cond delay="1500"/>
                            </p:stCondLst>
                            <p:childTnLst>
                              <p:par>
                                <p:cTn id="37" presetID="3" presetClass="entr" presetSubtype="1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blinds(horizontal)">
                                      <p:cBhvr additive="repl">
                                        <p:cTn id="39" dur="500"/>
                                        <p:tgtEl>
                                          <p:spTgt spid="8"/>
                                        </p:tgtEl>
                                      </p:cBhvr>
                                    </p:animEffect>
                                  </p:childTnLst>
                                </p:cTn>
                              </p:par>
                            </p:childTnLst>
                          </p:cTn>
                        </p:par>
                        <p:par>
                          <p:cTn id="40" fill="hold">
                            <p:stCondLst>
                              <p:cond delay="2000"/>
                            </p:stCondLst>
                            <p:childTnLst>
                              <p:par>
                                <p:cTn id="41" presetID="3" presetClass="entr" presetSubtype="10"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additive="repl">
                                        <p:cTn id="43" dur="500"/>
                                        <p:tgtEl>
                                          <p:spTgt spid="12"/>
                                        </p:tgtEl>
                                      </p:cBhvr>
                                    </p:animEffect>
                                  </p:childTnLst>
                                </p:cTn>
                              </p:par>
                            </p:childTnLst>
                          </p:cTn>
                        </p:par>
                        <p:par>
                          <p:cTn id="44" fill="hold">
                            <p:stCondLst>
                              <p:cond delay="2500"/>
                            </p:stCondLst>
                            <p:childTnLst>
                              <p:par>
                                <p:cTn id="45" presetID="3" presetClass="entr" presetSubtype="10"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linds(horizontal)">
                                      <p:cBhvr additive="repl">
                                        <p:cTn id="47" dur="500"/>
                                        <p:tgtEl>
                                          <p:spTgt spid="9"/>
                                        </p:tgtEl>
                                      </p:cBhvr>
                                    </p:animEffect>
                                  </p:childTnLst>
                                </p:cTn>
                              </p:par>
                            </p:childTnLst>
                          </p:cTn>
                        </p:par>
                        <p:par>
                          <p:cTn id="48" fill="hold">
                            <p:stCondLst>
                              <p:cond delay="3000"/>
                            </p:stCondLst>
                            <p:childTnLst>
                              <p:par>
                                <p:cTn id="49" presetID="3" presetClass="entr" presetSubtype="10" fill="hold" nodeType="after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blinds(horizontal)">
                                      <p:cBhvr additive="repl">
                                        <p:cTn id="51" dur="500"/>
                                        <p:tgtEl>
                                          <p:spTgt spid="6"/>
                                        </p:tgtEl>
                                      </p:cBhvr>
                                    </p:animEffect>
                                  </p:childTnLst>
                                </p:cTn>
                              </p:par>
                            </p:childTnLst>
                          </p:cTn>
                        </p:par>
                        <p:par>
                          <p:cTn id="52" fill="hold">
                            <p:stCondLst>
                              <p:cond delay="3500"/>
                            </p:stCondLst>
                            <p:childTnLst>
                              <p:par>
                                <p:cTn id="53" presetID="3" presetClass="entr" presetSubtype="10" fill="hold"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blinds(horizontal)">
                                      <p:cBhvr additive="repl">
                                        <p:cTn id="55" dur="500"/>
                                        <p:tgtEl>
                                          <p:spTgt spid="13"/>
                                        </p:tgtEl>
                                      </p:cBhvr>
                                    </p:animEffect>
                                  </p:childTnLst>
                                </p:cTn>
                              </p:par>
                            </p:childTnLst>
                          </p:cTn>
                        </p:par>
                        <p:par>
                          <p:cTn id="56" fill="hold">
                            <p:stCondLst>
                              <p:cond delay="4000"/>
                            </p:stCondLst>
                            <p:childTnLst>
                              <p:par>
                                <p:cTn id="57" presetID="3" presetClass="entr" presetSubtype="10" fill="hold" nodeType="after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blinds(horizontal)">
                                      <p:cBhvr additive="repl">
                                        <p:cTn id="59" dur="5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repl">
                                        <p:cTn id="64" dur="500" fill="hold"/>
                                        <p:tgtEl>
                                          <p:spTgt spid="18"/>
                                        </p:tgtEl>
                                        <p:attrNameLst>
                                          <p:attrName>ppt_x</p:attrName>
                                        </p:attrNameLst>
                                      </p:cBhvr>
                                      <p:tavLst>
                                        <p:tav tm="0">
                                          <p:val>
                                            <p:strVal val="0-#ppt_w/2"/>
                                          </p:val>
                                        </p:tav>
                                        <p:tav tm="100000">
                                          <p:val>
                                            <p:strVal val="#ppt_x"/>
                                          </p:val>
                                        </p:tav>
                                      </p:tavLst>
                                    </p:anim>
                                    <p:anim calcmode="lin" valueType="num">
                                      <p:cBhvr additive="repl">
                                        <p:cTn id="65" dur="500" fill="hold"/>
                                        <p:tgtEl>
                                          <p:spTgt spid="18"/>
                                        </p:tgtEl>
                                        <p:attrNameLst>
                                          <p:attrName>ppt_y</p:attrName>
                                        </p:attrNameLst>
                                      </p:cBhvr>
                                      <p:tavLst>
                                        <p:tav tm="0">
                                          <p:val>
                                            <p:strVal val="#ppt_y"/>
                                          </p:val>
                                        </p:tav>
                                        <p:tav tm="100000">
                                          <p:val>
                                            <p:strVal val="#ppt_y"/>
                                          </p:val>
                                        </p:tav>
                                      </p:tavLst>
                                    </p:anim>
                                  </p:childTnLst>
                                </p:cTn>
                              </p:par>
                              <p:par>
                                <p:cTn id="66" presetID="2" presetClass="entr" presetSubtype="8"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additive="repl">
                                        <p:cTn id="68" dur="500" fill="hold"/>
                                        <p:tgtEl>
                                          <p:spTgt spid="22"/>
                                        </p:tgtEl>
                                        <p:attrNameLst>
                                          <p:attrName>ppt_x</p:attrName>
                                        </p:attrNameLst>
                                      </p:cBhvr>
                                      <p:tavLst>
                                        <p:tav tm="0">
                                          <p:val>
                                            <p:strVal val="0-#ppt_w/2"/>
                                          </p:val>
                                        </p:tav>
                                        <p:tav tm="100000">
                                          <p:val>
                                            <p:strVal val="#ppt_x"/>
                                          </p:val>
                                        </p:tav>
                                      </p:tavLst>
                                    </p:anim>
                                    <p:anim calcmode="lin" valueType="num">
                                      <p:cBhvr additive="repl">
                                        <p:cTn id="69"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blinds(horizontal)">
                                      <p:cBhvr additive="repl">
                                        <p:cTn id="74" dur="500"/>
                                        <p:tgtEl>
                                          <p:spTgt spid="5"/>
                                        </p:tgtEl>
                                      </p:cBhvr>
                                    </p:animEffect>
                                  </p:childTnLst>
                                </p:cTn>
                              </p:par>
                            </p:childTnLst>
                          </p:cTn>
                        </p:par>
                        <p:par>
                          <p:cTn id="75" fill="hold">
                            <p:stCondLst>
                              <p:cond delay="500"/>
                            </p:stCondLst>
                            <p:childTnLst>
                              <p:par>
                                <p:cTn id="76" presetID="3" presetClass="entr" presetSubtype="10" fill="hold" nodeType="after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blinds(horizontal)">
                                      <p:cBhvr additive="repl">
                                        <p:cTn id="78" dur="500"/>
                                        <p:tgtEl>
                                          <p:spTgt spid="14"/>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4"/>
                                        </p:tgtEl>
                                        <p:attrNameLst>
                                          <p:attrName>style.visibility</p:attrName>
                                        </p:attrNameLst>
                                      </p:cBhvr>
                                      <p:to>
                                        <p:strVal val="visible"/>
                                      </p:to>
                                    </p:set>
                                    <p:animEffect transition="in" filter="blinds(horizontal)">
                                      <p:cBhvr additive="repl">
                                        <p:cTn id="83" dur="500"/>
                                        <p:tgtEl>
                                          <p:spTgt spid="4"/>
                                        </p:tgtEl>
                                      </p:cBhvr>
                                    </p:animEffect>
                                  </p:childTnLst>
                                </p:cTn>
                              </p:par>
                              <p:par>
                                <p:cTn id="84" presetID="3" presetClass="entr" presetSubtype="10" fill="hold"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blinds(horizontal)">
                                      <p:cBhvr additive="repl">
                                        <p:cTn id="86" dur="500"/>
                                        <p:tgtEl>
                                          <p:spTgt spid="26"/>
                                        </p:tgtEl>
                                      </p:cBhvr>
                                    </p:animEffect>
                                  </p:childTnLst>
                                </p:cTn>
                              </p:par>
                            </p:childTnLst>
                          </p:cTn>
                        </p:par>
                        <p:par>
                          <p:cTn id="87" fill="hold">
                            <p:stCondLst>
                              <p:cond delay="500"/>
                            </p:stCondLst>
                            <p:childTnLst>
                              <p:par>
                                <p:cTn id="88" presetID="3" presetClass="entr" presetSubtype="10" fill="hold" nodeType="afterEffect">
                                  <p:stCondLst>
                                    <p:cond delay="0"/>
                                  </p:stCondLst>
                                  <p:childTnLst>
                                    <p:set>
                                      <p:cBhvr>
                                        <p:cTn id="89" dur="1" fill="hold">
                                          <p:stCondLst>
                                            <p:cond delay="0"/>
                                          </p:stCondLst>
                                        </p:cTn>
                                        <p:tgtEl>
                                          <p:spTgt spid="5"/>
                                        </p:tgtEl>
                                        <p:attrNameLst>
                                          <p:attrName>style.visibility</p:attrName>
                                        </p:attrNameLst>
                                      </p:cBhvr>
                                      <p:to>
                                        <p:strVal val="visible"/>
                                      </p:to>
                                    </p:set>
                                    <p:animEffect transition="in" filter="blinds(horizontal)">
                                      <p:cBhvr additive="repl">
                                        <p:cTn id="90" dur="500"/>
                                        <p:tgtEl>
                                          <p:spTgt spid="5"/>
                                        </p:tgtEl>
                                      </p:cBhvr>
                                    </p:animEffect>
                                  </p:childTnLst>
                                </p:cTn>
                              </p:par>
                              <p:par>
                                <p:cTn id="91" presetID="3" presetClass="entr" presetSubtype="10" fill="hold" nodeType="with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blinds(horizontal)">
                                      <p:cBhvr additive="repl">
                                        <p:cTn id="93" dur="500"/>
                                        <p:tgtEl>
                                          <p:spTgt spid="25"/>
                                        </p:tgtEl>
                                      </p:cBhvr>
                                    </p:animEffect>
                                  </p:childTnLst>
                                </p:cTn>
                              </p:par>
                            </p:childTnLst>
                          </p:cTn>
                        </p:par>
                        <p:par>
                          <p:cTn id="94" fill="hold">
                            <p:stCondLst>
                              <p:cond delay="1000"/>
                            </p:stCondLst>
                            <p:childTnLst>
                              <p:par>
                                <p:cTn id="95" presetID="3" presetClass="entr" presetSubtype="10" fill="hold" nodeType="after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blinds(horizontal)">
                                      <p:cBhvr additive="repl">
                                        <p:cTn id="97" dur="500"/>
                                        <p:tgtEl>
                                          <p:spTgt spid="14"/>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10"/>
                                        </p:tgtEl>
                                        <p:attrNameLst>
                                          <p:attrName>style.visibility</p:attrName>
                                        </p:attrNameLst>
                                      </p:cBhvr>
                                      <p:to>
                                        <p:strVal val="visible"/>
                                      </p:to>
                                    </p:set>
                                    <p:animEffect transition="in" filter="blinds(horizontal)">
                                      <p:cBhvr additive="repl">
                                        <p:cTn id="102" dur="500"/>
                                        <p:tgtEl>
                                          <p:spTgt spid="10"/>
                                        </p:tgtEl>
                                      </p:cBhvr>
                                    </p:animEffect>
                                  </p:childTnLst>
                                </p:cTn>
                              </p:par>
                            </p:childTnLst>
                          </p:cTn>
                        </p:par>
                        <p:par>
                          <p:cTn id="103" fill="hold">
                            <p:stCondLst>
                              <p:cond delay="500"/>
                            </p:stCondLst>
                            <p:childTnLst>
                              <p:par>
                                <p:cTn id="104" presetID="2" presetClass="entr" presetSubtype="8" fill="hold" nodeType="afterEffect">
                                  <p:stCondLst>
                                    <p:cond delay="0"/>
                                  </p:stCondLst>
                                  <p:childTnLst>
                                    <p:set>
                                      <p:cBhvr>
                                        <p:cTn id="105" dur="1" fill="hold">
                                          <p:stCondLst>
                                            <p:cond delay="0"/>
                                          </p:stCondLst>
                                        </p:cTn>
                                        <p:tgtEl>
                                          <p:spTgt spid="19"/>
                                        </p:tgtEl>
                                        <p:attrNameLst>
                                          <p:attrName>style.visibility</p:attrName>
                                        </p:attrNameLst>
                                      </p:cBhvr>
                                      <p:to>
                                        <p:strVal val="visible"/>
                                      </p:to>
                                    </p:set>
                                    <p:anim calcmode="lin" valueType="num">
                                      <p:cBhvr additive="repl">
                                        <p:cTn id="106" dur="500" fill="hold"/>
                                        <p:tgtEl>
                                          <p:spTgt spid="19"/>
                                        </p:tgtEl>
                                        <p:attrNameLst>
                                          <p:attrName>ppt_x</p:attrName>
                                        </p:attrNameLst>
                                      </p:cBhvr>
                                      <p:tavLst>
                                        <p:tav tm="0">
                                          <p:val>
                                            <p:strVal val="0-#ppt_w/2"/>
                                          </p:val>
                                        </p:tav>
                                        <p:tav tm="100000">
                                          <p:val>
                                            <p:strVal val="#ppt_x"/>
                                          </p:val>
                                        </p:tav>
                                      </p:tavLst>
                                    </p:anim>
                                    <p:anim calcmode="lin" valueType="num">
                                      <p:cBhvr additive="repl">
                                        <p:cTn id="107" dur="500" fill="hold"/>
                                        <p:tgtEl>
                                          <p:spTgt spid="19"/>
                                        </p:tgtEl>
                                        <p:attrNameLst>
                                          <p:attrName>ppt_y</p:attrName>
                                        </p:attrNameLst>
                                      </p:cBhvr>
                                      <p:tavLst>
                                        <p:tav tm="0">
                                          <p:val>
                                            <p:strVal val="#ppt_y"/>
                                          </p:val>
                                        </p:tav>
                                        <p:tav tm="100000">
                                          <p:val>
                                            <p:strVal val="#ppt_y"/>
                                          </p:val>
                                        </p:tav>
                                      </p:tavLst>
                                    </p:anim>
                                  </p:childTnLst>
                                </p:cTn>
                              </p:par>
                              <p:par>
                                <p:cTn id="108" presetID="2" presetClass="entr" presetSubtype="8" fill="hold" nodeType="withEffect">
                                  <p:stCondLst>
                                    <p:cond delay="0"/>
                                  </p:stCondLst>
                                  <p:childTnLst>
                                    <p:set>
                                      <p:cBhvr>
                                        <p:cTn id="109" dur="1" fill="hold">
                                          <p:stCondLst>
                                            <p:cond delay="0"/>
                                          </p:stCondLst>
                                        </p:cTn>
                                        <p:tgtEl>
                                          <p:spTgt spid="23"/>
                                        </p:tgtEl>
                                        <p:attrNameLst>
                                          <p:attrName>style.visibility</p:attrName>
                                        </p:attrNameLst>
                                      </p:cBhvr>
                                      <p:to>
                                        <p:strVal val="visible"/>
                                      </p:to>
                                    </p:set>
                                    <p:anim calcmode="lin" valueType="num">
                                      <p:cBhvr additive="repl">
                                        <p:cTn id="110" dur="500" fill="hold"/>
                                        <p:tgtEl>
                                          <p:spTgt spid="23"/>
                                        </p:tgtEl>
                                        <p:attrNameLst>
                                          <p:attrName>ppt_x</p:attrName>
                                        </p:attrNameLst>
                                      </p:cBhvr>
                                      <p:tavLst>
                                        <p:tav tm="0">
                                          <p:val>
                                            <p:strVal val="0-#ppt_w/2"/>
                                          </p:val>
                                        </p:tav>
                                        <p:tav tm="100000">
                                          <p:val>
                                            <p:strVal val="#ppt_x"/>
                                          </p:val>
                                        </p:tav>
                                      </p:tavLst>
                                    </p:anim>
                                    <p:anim calcmode="lin" valueType="num">
                                      <p:cBhvr additive="repl">
                                        <p:cTn id="111" dur="500" fill="hold"/>
                                        <p:tgtEl>
                                          <p:spTgt spid="23"/>
                                        </p:tgtEl>
                                        <p:attrNameLst>
                                          <p:attrName>ppt_y</p:attrName>
                                        </p:attrNameLst>
                                      </p:cBhvr>
                                      <p:tavLst>
                                        <p:tav tm="0">
                                          <p:val>
                                            <p:strVal val="#ppt_y"/>
                                          </p:val>
                                        </p:tav>
                                        <p:tav tm="100000">
                                          <p:val>
                                            <p:strVal val="#ppt_y"/>
                                          </p:val>
                                        </p:tav>
                                      </p:tavLst>
                                    </p:anim>
                                  </p:childTnLst>
                                </p:cTn>
                              </p:par>
                            </p:childTnLst>
                          </p:cTn>
                        </p:par>
                        <p:par>
                          <p:cTn id="112" fill="hold">
                            <p:stCondLst>
                              <p:cond delay="1000"/>
                            </p:stCondLst>
                            <p:childTnLst>
                              <p:par>
                                <p:cTn id="113" presetID="3" presetClass="entr" presetSubtype="10" fill="hold" nodeType="afterEffect">
                                  <p:stCondLst>
                                    <p:cond delay="0"/>
                                  </p:stCondLst>
                                  <p:childTnLst>
                                    <p:set>
                                      <p:cBhvr>
                                        <p:cTn id="114" dur="1" fill="hold">
                                          <p:stCondLst>
                                            <p:cond delay="0"/>
                                          </p:stCondLst>
                                        </p:cTn>
                                        <p:tgtEl>
                                          <p:spTgt spid="7"/>
                                        </p:tgtEl>
                                        <p:attrNameLst>
                                          <p:attrName>style.visibility</p:attrName>
                                        </p:attrNameLst>
                                      </p:cBhvr>
                                      <p:to>
                                        <p:strVal val="visible"/>
                                      </p:to>
                                    </p:set>
                                    <p:animEffect transition="in" filter="blinds(horizontal)">
                                      <p:cBhvr additive="repl">
                                        <p:cTn id="115" dur="500"/>
                                        <p:tgtEl>
                                          <p:spTgt spid="7"/>
                                        </p:tgtEl>
                                      </p:cBhvr>
                                    </p:animEffect>
                                  </p:childTnLst>
                                </p:cTn>
                              </p:par>
                            </p:childTnLst>
                          </p:cTn>
                        </p:par>
                        <p:par>
                          <p:cTn id="116" fill="hold">
                            <p:stCondLst>
                              <p:cond delay="1500"/>
                            </p:stCondLst>
                            <p:childTnLst>
                              <p:par>
                                <p:cTn id="117" presetID="3" presetClass="entr" presetSubtype="10" fill="hold" nodeType="afterEffect">
                                  <p:stCondLst>
                                    <p:cond delay="0"/>
                                  </p:stCondLst>
                                  <p:childTnLst>
                                    <p:set>
                                      <p:cBhvr>
                                        <p:cTn id="118" dur="1" fill="hold">
                                          <p:stCondLst>
                                            <p:cond delay="0"/>
                                          </p:stCondLst>
                                        </p:cTn>
                                        <p:tgtEl>
                                          <p:spTgt spid="14"/>
                                        </p:tgtEl>
                                        <p:attrNameLst>
                                          <p:attrName>style.visibility</p:attrName>
                                        </p:attrNameLst>
                                      </p:cBhvr>
                                      <p:to>
                                        <p:strVal val="visible"/>
                                      </p:to>
                                    </p:set>
                                    <p:animEffect transition="in" filter="blinds(horizontal)">
                                      <p:cBhvr additive="repl">
                                        <p:cTn id="119" dur="500"/>
                                        <p:tgtEl>
                                          <p:spTgt spid="14"/>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nodeType="clickEffect">
                                  <p:stCondLst>
                                    <p:cond delay="0"/>
                                  </p:stCondLst>
                                  <p:childTnLst>
                                    <p:set>
                                      <p:cBhvr>
                                        <p:cTn id="123" dur="1" fill="hold">
                                          <p:stCondLst>
                                            <p:cond delay="0"/>
                                          </p:stCondLst>
                                        </p:cTn>
                                        <p:tgtEl>
                                          <p:spTgt spid="24"/>
                                        </p:tgtEl>
                                        <p:attrNameLst>
                                          <p:attrName>style.visibility</p:attrName>
                                        </p:attrNameLst>
                                      </p:cBhvr>
                                      <p:to>
                                        <p:strVal val="visible"/>
                                      </p:to>
                                    </p:set>
                                    <p:animEffect transition="in" filter="blinds(horizontal)">
                                      <p:cBhvr additive="repl">
                                        <p:cTn id="124" dur="500"/>
                                        <p:tgtEl>
                                          <p:spTgt spid="24"/>
                                        </p:tgtEl>
                                      </p:cBhvr>
                                    </p:animEffect>
                                  </p:childTnLst>
                                </p:cTn>
                              </p:par>
                            </p:childTnLst>
                          </p:cTn>
                        </p:par>
                        <p:par>
                          <p:cTn id="125" fill="hold">
                            <p:stCondLst>
                              <p:cond delay="500"/>
                            </p:stCondLst>
                            <p:childTnLst>
                              <p:par>
                                <p:cTn id="126" presetID="3" presetClass="entr" presetSubtype="10" fill="hold" nodeType="afterEffect">
                                  <p:stCondLst>
                                    <p:cond delay="0"/>
                                  </p:stCondLst>
                                  <p:childTnLst>
                                    <p:set>
                                      <p:cBhvr>
                                        <p:cTn id="127" dur="1" fill="hold">
                                          <p:stCondLst>
                                            <p:cond delay="0"/>
                                          </p:stCondLst>
                                        </p:cTn>
                                        <p:tgtEl>
                                          <p:spTgt spid="15"/>
                                        </p:tgtEl>
                                        <p:attrNameLst>
                                          <p:attrName>style.visibility</p:attrName>
                                        </p:attrNameLst>
                                      </p:cBhvr>
                                      <p:to>
                                        <p:strVal val="visible"/>
                                      </p:to>
                                    </p:set>
                                    <p:animEffect transition="in" filter="blinds(horizontal)">
                                      <p:cBhvr additive="repl">
                                        <p:cTn id="1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76</a:t>
            </a:fld>
            <a:endParaRPr lang="en-US" dirty="0"/>
          </a:p>
        </p:txBody>
      </p:sp>
      <p:sp>
        <p:nvSpPr>
          <p:cNvPr id="2" name="Title 1"/>
          <p:cNvSpPr>
            <a:spLocks noGrp="1"/>
          </p:cNvSpPr>
          <p:nvPr>
            <p:ph type="title"/>
          </p:nvPr>
        </p:nvSpPr>
        <p:spPr/>
        <p:txBody>
          <a:bodyPr/>
          <a:lstStyle/>
          <a:p>
            <a:r>
              <a:rPr lang="en-US" dirty="0"/>
              <a:t>Firmware Storage</a:t>
            </a:r>
          </a:p>
        </p:txBody>
      </p:sp>
    </p:spTree>
    <p:extLst>
      <p:ext uri="{BB962C8B-B14F-4D97-AF65-F5344CB8AC3E}">
        <p14:creationId xmlns:p14="http://schemas.microsoft.com/office/powerpoint/2010/main" val="24291218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Firmware Devices</a:t>
            </a:r>
            <a:endParaRPr lang="en-US" dirty="0"/>
          </a:p>
        </p:txBody>
      </p:sp>
      <p:sp>
        <p:nvSpPr>
          <p:cNvPr id="3" name="Content Placeholder 2"/>
          <p:cNvSpPr>
            <a:spLocks noGrp="1"/>
          </p:cNvSpPr>
          <p:nvPr>
            <p:ph idx="1"/>
          </p:nvPr>
        </p:nvSpPr>
        <p:spPr/>
        <p:txBody>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A firmware device is a persistent physical repository that contains firmware code and/or data.</a:t>
            </a:r>
            <a:endParaRPr lang="en-US" sz="2800" b="0" strike="noStrike" spc="-1" dirty="0">
              <a:latin typeface="Arial"/>
            </a:endParaRPr>
          </a:p>
        </p:txBody>
      </p:sp>
      <p:pic>
        <p:nvPicPr>
          <p:cNvPr id="4" name="Picture 2">
            <a:extLst>
              <a:ext uri="{FF2B5EF4-FFF2-40B4-BE49-F238E27FC236}">
                <a16:creationId xmlns:a16="http://schemas.microsoft.com/office/drawing/2014/main" id="{9E06C48B-0F81-4378-9285-07592F563A84}"/>
              </a:ext>
            </a:extLst>
          </p:cNvPr>
          <p:cNvPicPr/>
          <p:nvPr/>
        </p:nvPicPr>
        <p:blipFill>
          <a:blip r:embed="rId2"/>
          <a:stretch/>
        </p:blipFill>
        <p:spPr>
          <a:xfrm>
            <a:off x="2396280" y="2235780"/>
            <a:ext cx="7399440" cy="4166280"/>
          </a:xfrm>
          <a:prstGeom prst="rect">
            <a:avLst/>
          </a:prstGeom>
          <a:ln w="9360">
            <a:noFill/>
          </a:ln>
        </p:spPr>
      </p:pic>
    </p:spTree>
    <p:extLst>
      <p:ext uri="{BB962C8B-B14F-4D97-AF65-F5344CB8AC3E}">
        <p14:creationId xmlns:p14="http://schemas.microsoft.com/office/powerpoint/2010/main" val="32879068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Firmware Volumes</a:t>
            </a:r>
            <a:endParaRPr lang="en-US" dirty="0"/>
          </a:p>
        </p:txBody>
      </p:sp>
      <p:sp>
        <p:nvSpPr>
          <p:cNvPr id="3" name="Content Placeholder 2"/>
          <p:cNvSpPr>
            <a:spLocks noGrp="1"/>
          </p:cNvSpPr>
          <p:nvPr>
            <p:ph idx="1"/>
          </p:nvPr>
        </p:nvSpPr>
        <p:spPr/>
        <p:txBody>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A Firmware Volume (FV) is a logical firmware device.</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Analogous to a disk volume or partition</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Typically more than one in a system</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Each firmware volume is organized into a file system.</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Each firmware volume has the following attributes:</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000" b="1" strike="noStrike" spc="-1" dirty="0">
                <a:solidFill>
                  <a:srgbClr val="3F3F3F"/>
                </a:solidFill>
                <a:latin typeface="Segoe UI"/>
                <a:ea typeface="DejaVu Sans"/>
              </a:rPr>
              <a:t>Name</a:t>
            </a:r>
            <a:r>
              <a:rPr lang="en-US" sz="2000" b="0" strike="noStrike" spc="-1" dirty="0">
                <a:solidFill>
                  <a:srgbClr val="3F3F3F"/>
                </a:solidFill>
                <a:latin typeface="Segoe UI"/>
                <a:ea typeface="DejaVu Sans"/>
              </a:rPr>
              <a:t>. Each volume has a name consisting of an UEFI Globally Unique Identifier (GUID).</a:t>
            </a:r>
            <a:endParaRPr lang="en-US" sz="2000" b="0" strike="noStrike" spc="-1" dirty="0">
              <a:latin typeface="Arial"/>
            </a:endParaRPr>
          </a:p>
          <a:p>
            <a:pPr marL="685800" lvl="1" indent="-226440">
              <a:lnSpc>
                <a:spcPct val="90000"/>
              </a:lnSpc>
              <a:spcBef>
                <a:spcPts val="451"/>
              </a:spcBef>
              <a:buClr>
                <a:srgbClr val="3F3F3F"/>
              </a:buClr>
              <a:buFont typeface="Arial"/>
              <a:buChar char="•"/>
            </a:pPr>
            <a:r>
              <a:rPr lang="en-US" sz="2000" b="1" strike="noStrike" spc="-1" dirty="0">
                <a:solidFill>
                  <a:srgbClr val="3F3F3F"/>
                </a:solidFill>
                <a:latin typeface="Segoe UI"/>
                <a:ea typeface="DejaVu Sans"/>
              </a:rPr>
              <a:t>Size</a:t>
            </a:r>
            <a:r>
              <a:rPr lang="en-US" sz="2000" b="0" strike="noStrike" spc="-1" dirty="0">
                <a:solidFill>
                  <a:srgbClr val="3F3F3F"/>
                </a:solidFill>
                <a:latin typeface="Segoe UI"/>
                <a:ea typeface="DejaVu Sans"/>
              </a:rPr>
              <a:t>. Each volume has a size, which describes the total size of all volume data, including any header, files, and free space.</a:t>
            </a:r>
            <a:endParaRPr lang="en-US" sz="2000" b="0" strike="noStrike" spc="-1" dirty="0">
              <a:latin typeface="Arial"/>
            </a:endParaRPr>
          </a:p>
        </p:txBody>
      </p:sp>
    </p:spTree>
    <p:extLst>
      <p:ext uri="{BB962C8B-B14F-4D97-AF65-F5344CB8AC3E}">
        <p14:creationId xmlns:p14="http://schemas.microsoft.com/office/powerpoint/2010/main" val="32723112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Firmware File Systems</a:t>
            </a:r>
            <a:endParaRPr lang="en-US" dirty="0"/>
          </a:p>
        </p:txBody>
      </p:sp>
      <p:sp>
        <p:nvSpPr>
          <p:cNvPr id="3" name="Content Placeholder 2"/>
          <p:cNvSpPr>
            <a:spLocks noGrp="1"/>
          </p:cNvSpPr>
          <p:nvPr>
            <p:ph idx="1"/>
          </p:nvPr>
        </p:nvSpPr>
        <p:spPr/>
        <p:txBody>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A firmware file system (FFS) describes the organization of files and (optionally) free space within the firmware volume.</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Each firmware file system has a unique GUID, which is used by the firmware to associate a driver with a newly exposed firmware volume.</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The PI Architecture Firmware File System is a binary layout of file storage within firmware volumes.</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It is a flat file system in that there is no provision for any directory hierarchy; all files reside in the root directly.</a:t>
            </a:r>
            <a:endParaRPr lang="en-US" sz="2800" b="0" strike="noStrike" spc="-1" dirty="0">
              <a:latin typeface="Arial"/>
            </a:endParaRPr>
          </a:p>
        </p:txBody>
      </p:sp>
    </p:spTree>
    <p:extLst>
      <p:ext uri="{BB962C8B-B14F-4D97-AF65-F5344CB8AC3E}">
        <p14:creationId xmlns:p14="http://schemas.microsoft.com/office/powerpoint/2010/main" val="40119342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Firmware File Systems</a:t>
            </a:r>
            <a:endParaRPr lang="en-US" dirty="0"/>
          </a:p>
        </p:txBody>
      </p:sp>
      <p:sp>
        <p:nvSpPr>
          <p:cNvPr id="3" name="Content Placeholder 2"/>
          <p:cNvSpPr>
            <a:spLocks noGrp="1"/>
          </p:cNvSpPr>
          <p:nvPr>
            <p:ph idx="1"/>
          </p:nvPr>
        </p:nvSpPr>
        <p:spPr/>
        <p:txBody>
          <a:bodyPr/>
          <a:lstStyle/>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Analogous to a FAT32 or NTFS disk</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Consists of files that are the base unit of storage for Framework Firmware</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Binary format</a:t>
            </a:r>
            <a:endParaRPr lang="en-US" sz="2800" b="0" strike="noStrike" spc="-1" dirty="0">
              <a:latin typeface="Arial"/>
            </a:endParaRPr>
          </a:p>
          <a:p>
            <a:pPr marL="800280" lvl="1" indent="-340920">
              <a:lnSpc>
                <a:spcPct val="98000"/>
              </a:lnSpc>
              <a:spcBef>
                <a:spcPts val="499"/>
              </a:spcBef>
              <a:buClr>
                <a:srgbClr val="3F3F3F"/>
              </a:buClr>
              <a:buFont typeface="Arial"/>
              <a:buChar char="•"/>
            </a:pPr>
            <a:r>
              <a:rPr lang="en-US" sz="2000" b="0" strike="noStrike" spc="-1" dirty="0">
                <a:solidFill>
                  <a:srgbClr val="3F3F3F"/>
                </a:solidFill>
                <a:latin typeface="Segoe UI"/>
                <a:ea typeface="DejaVu Sans"/>
              </a:rPr>
              <a:t>Organization of FV data space</a:t>
            </a:r>
            <a:endParaRPr lang="en-US" sz="2000" b="0" strike="noStrike" spc="-1" dirty="0">
              <a:latin typeface="Arial"/>
            </a:endParaRPr>
          </a:p>
          <a:p>
            <a:pPr marL="800280" lvl="1" indent="-340920">
              <a:lnSpc>
                <a:spcPct val="98000"/>
              </a:lnSpc>
              <a:spcBef>
                <a:spcPts val="499"/>
              </a:spcBef>
              <a:buClr>
                <a:srgbClr val="3F3F3F"/>
              </a:buClr>
              <a:buFont typeface="Arial"/>
              <a:buChar char="•"/>
            </a:pPr>
            <a:r>
              <a:rPr lang="en-US" sz="2000" b="0" strike="noStrike" spc="-1" dirty="0">
                <a:solidFill>
                  <a:srgbClr val="3F3F3F"/>
                </a:solidFill>
                <a:latin typeface="Segoe UI"/>
                <a:ea typeface="DejaVu Sans"/>
              </a:rPr>
              <a:t>Defines file header format</a:t>
            </a:r>
            <a:endParaRPr lang="en-US" sz="2000" b="0" strike="noStrike" spc="-1" dirty="0">
              <a:latin typeface="Arial"/>
            </a:endParaRPr>
          </a:p>
          <a:p>
            <a:pPr marL="800280" lvl="1" indent="-340920">
              <a:lnSpc>
                <a:spcPct val="98000"/>
              </a:lnSpc>
              <a:spcBef>
                <a:spcPts val="499"/>
              </a:spcBef>
              <a:buClr>
                <a:srgbClr val="3F3F3F"/>
              </a:buClr>
              <a:buFont typeface="Arial"/>
              <a:buChar char="•"/>
            </a:pPr>
            <a:r>
              <a:rPr lang="en-US" sz="2000" b="0" strike="noStrike" spc="-1" dirty="0">
                <a:solidFill>
                  <a:srgbClr val="3F3F3F"/>
                </a:solidFill>
                <a:latin typeface="Segoe UI"/>
                <a:ea typeface="DejaVu Sans"/>
              </a:rPr>
              <a:t>Must follow Framework image format</a:t>
            </a:r>
            <a:endParaRPr lang="en-US" sz="20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All files are </a:t>
            </a:r>
            <a:r>
              <a:rPr lang="en-US" sz="2800" b="1" strike="noStrike" spc="-1" dirty="0">
                <a:solidFill>
                  <a:srgbClr val="FF0000"/>
                </a:solidFill>
                <a:latin typeface="Segoe UI"/>
                <a:ea typeface="DejaVu Sans"/>
              </a:rPr>
              <a:t>contiguous</a:t>
            </a:r>
            <a:r>
              <a:rPr lang="en-US" sz="2800" b="0" strike="noStrike" spc="-1" dirty="0">
                <a:solidFill>
                  <a:srgbClr val="3F3F3F"/>
                </a:solidFill>
                <a:latin typeface="Segoe UI"/>
                <a:ea typeface="DejaVu Sans"/>
              </a:rPr>
              <a:t> from the </a:t>
            </a:r>
            <a:r>
              <a:rPr lang="en-US" sz="2800" b="1" strike="noStrike" spc="-1" dirty="0">
                <a:solidFill>
                  <a:srgbClr val="FF0000"/>
                </a:solidFill>
                <a:latin typeface="Segoe UI"/>
                <a:ea typeface="DejaVu Sans"/>
              </a:rPr>
              <a:t>bottom</a:t>
            </a:r>
            <a:r>
              <a:rPr lang="en-US" sz="2800" b="0" strike="noStrike" spc="-1" dirty="0">
                <a:solidFill>
                  <a:srgbClr val="3F3F3F"/>
                </a:solidFill>
                <a:latin typeface="Segoe UI"/>
                <a:ea typeface="DejaVu Sans"/>
              </a:rPr>
              <a:t> of the FV</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Free space is at the </a:t>
            </a:r>
            <a:r>
              <a:rPr lang="en-US" sz="2800" b="1" strike="noStrike" spc="-1" dirty="0">
                <a:solidFill>
                  <a:srgbClr val="FF0000"/>
                </a:solidFill>
                <a:latin typeface="Segoe UI"/>
                <a:ea typeface="DejaVu Sans"/>
              </a:rPr>
              <a:t>top</a:t>
            </a:r>
            <a:r>
              <a:rPr lang="en-US" sz="2800" b="0" strike="noStrike" spc="-1" dirty="0">
                <a:solidFill>
                  <a:srgbClr val="3F3F3F"/>
                </a:solidFill>
                <a:latin typeface="Segoe UI"/>
                <a:ea typeface="DejaVu Sans"/>
              </a:rPr>
              <a:t> of the FV</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File names are </a:t>
            </a:r>
            <a:r>
              <a:rPr lang="en-US" sz="2800" b="1" strike="noStrike" spc="-1" dirty="0">
                <a:solidFill>
                  <a:srgbClr val="FF0000"/>
                </a:solidFill>
                <a:latin typeface="Segoe UI"/>
                <a:ea typeface="DejaVu Sans"/>
              </a:rPr>
              <a:t>GUIDs</a:t>
            </a:r>
            <a:r>
              <a:rPr lang="en-US" sz="2800" b="0" strike="noStrike" spc="-1" dirty="0">
                <a:solidFill>
                  <a:srgbClr val="3F3F3F"/>
                </a:solidFill>
                <a:latin typeface="Segoe UI"/>
                <a:ea typeface="DejaVu Sans"/>
              </a:rPr>
              <a:t> to prevent name collisions</a:t>
            </a:r>
            <a:endParaRPr lang="en-US" sz="2800" b="0" strike="noStrike" spc="-1" dirty="0">
              <a:latin typeface="Arial"/>
            </a:endParaRPr>
          </a:p>
        </p:txBody>
      </p:sp>
    </p:spTree>
    <p:extLst>
      <p:ext uri="{BB962C8B-B14F-4D97-AF65-F5344CB8AC3E}">
        <p14:creationId xmlns:p14="http://schemas.microsoft.com/office/powerpoint/2010/main" val="9473892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Firmware File</a:t>
            </a:r>
            <a:endParaRPr lang="en-US" dirty="0"/>
          </a:p>
        </p:txBody>
      </p:sp>
      <p:sp>
        <p:nvSpPr>
          <p:cNvPr id="3" name="Content Placeholder 2"/>
          <p:cNvSpPr>
            <a:spLocks noGrp="1"/>
          </p:cNvSpPr>
          <p:nvPr>
            <p:ph idx="1"/>
          </p:nvPr>
        </p:nvSpPr>
        <p:spPr/>
        <p:txBody>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Firmware files are code and/or data stored in firmware volumes.</a:t>
            </a:r>
            <a:endParaRPr lang="en-US" sz="2800" b="0" strike="noStrike" spc="-1" dirty="0">
              <a:latin typeface="Arial"/>
            </a:endParaRPr>
          </a:p>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Each of the files has the following attributes:</a:t>
            </a:r>
            <a:endParaRPr lang="en-US" sz="2800" b="0" strike="noStrike" spc="-1" dirty="0">
              <a:latin typeface="Arial"/>
            </a:endParaRPr>
          </a:p>
          <a:p>
            <a:pPr marL="685800" lvl="1" indent="-226440">
              <a:lnSpc>
                <a:spcPct val="90000"/>
              </a:lnSpc>
              <a:spcBef>
                <a:spcPts val="451"/>
              </a:spcBef>
              <a:buClr>
                <a:srgbClr val="3F3F3F"/>
              </a:buClr>
              <a:buFont typeface="Arial"/>
              <a:buChar char="•"/>
            </a:pPr>
            <a:r>
              <a:rPr lang="en-US" sz="2000" b="1" strike="noStrike" spc="-1" dirty="0">
                <a:solidFill>
                  <a:srgbClr val="3F3F3F"/>
                </a:solidFill>
                <a:latin typeface="Segoe UI"/>
                <a:ea typeface="DejaVu Sans"/>
              </a:rPr>
              <a:t>Name</a:t>
            </a:r>
            <a:r>
              <a:rPr lang="en-US" sz="2000" b="0" strike="noStrike" spc="-1" dirty="0">
                <a:solidFill>
                  <a:srgbClr val="3F3F3F"/>
                </a:solidFill>
                <a:latin typeface="Segoe UI"/>
                <a:ea typeface="DejaVu Sans"/>
              </a:rPr>
              <a:t>. Each file has a name consisting of an UEFI GUID. File names </a:t>
            </a:r>
            <a:r>
              <a:rPr lang="en-US" sz="2000" b="1" strike="noStrike" spc="-1" dirty="0">
                <a:solidFill>
                  <a:srgbClr val="FF0000"/>
                </a:solidFill>
                <a:latin typeface="Segoe UI"/>
                <a:ea typeface="DejaVu Sans"/>
              </a:rPr>
              <a:t>must be unique</a:t>
            </a:r>
            <a:r>
              <a:rPr lang="en-US" sz="2000" b="0" strike="noStrike" spc="-1" dirty="0">
                <a:solidFill>
                  <a:srgbClr val="3F3F3F"/>
                </a:solidFill>
                <a:latin typeface="Segoe UI"/>
                <a:ea typeface="DejaVu Sans"/>
              </a:rPr>
              <a:t> within a firmware volume. Some file names have special significance.</a:t>
            </a:r>
            <a:endParaRPr lang="en-US" sz="2000" b="0" strike="noStrike" spc="-1" dirty="0">
              <a:latin typeface="Arial"/>
            </a:endParaRPr>
          </a:p>
          <a:p>
            <a:pPr marL="685800" lvl="1" indent="-226440">
              <a:lnSpc>
                <a:spcPct val="90000"/>
              </a:lnSpc>
              <a:spcBef>
                <a:spcPts val="451"/>
              </a:spcBef>
              <a:buClr>
                <a:srgbClr val="3F3F3F"/>
              </a:buClr>
              <a:buFont typeface="Arial"/>
              <a:buChar char="•"/>
            </a:pPr>
            <a:r>
              <a:rPr lang="en-US" sz="2000" b="0" strike="noStrike" spc="-1" dirty="0">
                <a:solidFill>
                  <a:srgbClr val="3F3F3F"/>
                </a:solidFill>
                <a:latin typeface="Segoe UI"/>
                <a:ea typeface="DejaVu Sans"/>
              </a:rPr>
              <a:t>…</a:t>
            </a:r>
            <a:endParaRPr lang="en-US" sz="2000" b="0" strike="noStrike" spc="-1" dirty="0">
              <a:latin typeface="Arial"/>
            </a:endParaRPr>
          </a:p>
        </p:txBody>
      </p:sp>
    </p:spTree>
    <p:extLst>
      <p:ext uri="{BB962C8B-B14F-4D97-AF65-F5344CB8AC3E}">
        <p14:creationId xmlns:p14="http://schemas.microsoft.com/office/powerpoint/2010/main" val="28051714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Firmware Files</a:t>
            </a:r>
            <a:endParaRPr lang="en-US" dirty="0"/>
          </a:p>
        </p:txBody>
      </p:sp>
      <p:pic>
        <p:nvPicPr>
          <p:cNvPr id="6" name="Picture 2">
            <a:extLst>
              <a:ext uri="{FF2B5EF4-FFF2-40B4-BE49-F238E27FC236}">
                <a16:creationId xmlns:a16="http://schemas.microsoft.com/office/drawing/2014/main" id="{E1D4E163-B33B-43A3-BFB5-28B3B190B56B}"/>
              </a:ext>
            </a:extLst>
          </p:cNvPr>
          <p:cNvPicPr/>
          <p:nvPr/>
        </p:nvPicPr>
        <p:blipFill>
          <a:blip r:embed="rId2"/>
          <a:stretch/>
        </p:blipFill>
        <p:spPr>
          <a:xfrm>
            <a:off x="2235450" y="1316230"/>
            <a:ext cx="4677840" cy="2351160"/>
          </a:xfrm>
          <a:prstGeom prst="rect">
            <a:avLst/>
          </a:prstGeom>
          <a:ln w="9360">
            <a:noFill/>
          </a:ln>
        </p:spPr>
      </p:pic>
      <p:pic>
        <p:nvPicPr>
          <p:cNvPr id="7" name="Picture 3">
            <a:extLst>
              <a:ext uri="{FF2B5EF4-FFF2-40B4-BE49-F238E27FC236}">
                <a16:creationId xmlns:a16="http://schemas.microsoft.com/office/drawing/2014/main" id="{6A90A476-2092-41CC-8E3B-7434A37B1755}"/>
              </a:ext>
            </a:extLst>
          </p:cNvPr>
          <p:cNvPicPr/>
          <p:nvPr/>
        </p:nvPicPr>
        <p:blipFill>
          <a:blip r:embed="rId3"/>
          <a:stretch/>
        </p:blipFill>
        <p:spPr>
          <a:xfrm>
            <a:off x="7455450" y="2396230"/>
            <a:ext cx="2877840" cy="671040"/>
          </a:xfrm>
          <a:prstGeom prst="rect">
            <a:avLst/>
          </a:prstGeom>
          <a:ln w="9360">
            <a:noFill/>
          </a:ln>
        </p:spPr>
      </p:pic>
      <p:pic>
        <p:nvPicPr>
          <p:cNvPr id="8" name="Picture 4">
            <a:extLst>
              <a:ext uri="{FF2B5EF4-FFF2-40B4-BE49-F238E27FC236}">
                <a16:creationId xmlns:a16="http://schemas.microsoft.com/office/drawing/2014/main" id="{4F473351-BDFC-4A59-830C-346A308FD53A}"/>
              </a:ext>
            </a:extLst>
          </p:cNvPr>
          <p:cNvPicPr/>
          <p:nvPr/>
        </p:nvPicPr>
        <p:blipFill>
          <a:blip r:embed="rId4"/>
          <a:stretch/>
        </p:blipFill>
        <p:spPr>
          <a:xfrm>
            <a:off x="2235450" y="3836230"/>
            <a:ext cx="4677840" cy="2569320"/>
          </a:xfrm>
          <a:prstGeom prst="rect">
            <a:avLst/>
          </a:prstGeom>
          <a:ln w="9360">
            <a:noFill/>
          </a:ln>
        </p:spPr>
      </p:pic>
      <p:pic>
        <p:nvPicPr>
          <p:cNvPr id="9" name="Picture 5">
            <a:extLst>
              <a:ext uri="{FF2B5EF4-FFF2-40B4-BE49-F238E27FC236}">
                <a16:creationId xmlns:a16="http://schemas.microsoft.com/office/drawing/2014/main" id="{472E9CB8-FFA6-488A-987D-D1CF1262D75B}"/>
              </a:ext>
            </a:extLst>
          </p:cNvPr>
          <p:cNvPicPr/>
          <p:nvPr/>
        </p:nvPicPr>
        <p:blipFill>
          <a:blip r:embed="rId5"/>
          <a:stretch/>
        </p:blipFill>
        <p:spPr>
          <a:xfrm>
            <a:off x="7455450" y="4916230"/>
            <a:ext cx="2877840" cy="613800"/>
          </a:xfrm>
          <a:prstGeom prst="rect">
            <a:avLst/>
          </a:prstGeom>
          <a:ln w="9360">
            <a:noFill/>
          </a:ln>
        </p:spPr>
      </p:pic>
    </p:spTree>
    <p:extLst>
      <p:ext uri="{BB962C8B-B14F-4D97-AF65-F5344CB8AC3E}">
        <p14:creationId xmlns:p14="http://schemas.microsoft.com/office/powerpoint/2010/main" val="6336210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Firmware File Sections</a:t>
            </a:r>
            <a:endParaRPr lang="en-US" dirty="0"/>
          </a:p>
        </p:txBody>
      </p:sp>
      <p:sp>
        <p:nvSpPr>
          <p:cNvPr id="10" name="CustomShape 2">
            <a:extLst>
              <a:ext uri="{FF2B5EF4-FFF2-40B4-BE49-F238E27FC236}">
                <a16:creationId xmlns:a16="http://schemas.microsoft.com/office/drawing/2014/main" id="{EEDACEC9-AD2D-41BD-90A5-A96B424876FD}"/>
              </a:ext>
            </a:extLst>
          </p:cNvPr>
          <p:cNvSpPr/>
          <p:nvPr/>
        </p:nvSpPr>
        <p:spPr>
          <a:xfrm>
            <a:off x="838200" y="131623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0000"/>
              </a:lnSpc>
              <a:spcBef>
                <a:spcPts val="1001"/>
              </a:spcBef>
              <a:buClr>
                <a:srgbClr val="3F3F3F"/>
              </a:buClr>
              <a:buFont typeface="Arial"/>
              <a:buChar char="•"/>
            </a:pPr>
            <a:r>
              <a:rPr lang="en-US" sz="2800" b="0" strike="noStrike" spc="-1" dirty="0">
                <a:solidFill>
                  <a:srgbClr val="3F3F3F"/>
                </a:solidFill>
                <a:latin typeface="Segoe UI"/>
                <a:ea typeface="DejaVu Sans"/>
              </a:rPr>
              <a:t>Firmware file sections are separate discrete “parts” within certain file types.</a:t>
            </a:r>
            <a:endParaRPr lang="en-US" sz="2800" b="0" strike="noStrike" spc="-1" dirty="0">
              <a:latin typeface="Arial"/>
            </a:endParaRPr>
          </a:p>
          <a:p>
            <a:pPr marL="800280" lvl="1" indent="-340920">
              <a:lnSpc>
                <a:spcPct val="98000"/>
              </a:lnSpc>
              <a:spcBef>
                <a:spcPts val="499"/>
              </a:spcBef>
              <a:buClr>
                <a:srgbClr val="3F3F3F"/>
              </a:buClr>
              <a:buFont typeface="Arial"/>
              <a:buChar char="•"/>
            </a:pPr>
            <a:r>
              <a:rPr lang="en-US" sz="2000" b="0" strike="noStrike" spc="-1" dirty="0">
                <a:solidFill>
                  <a:srgbClr val="3F3F3F"/>
                </a:solidFill>
                <a:latin typeface="Segoe UI"/>
                <a:ea typeface="DejaVu Sans"/>
              </a:rPr>
              <a:t>Encapsulation sections</a:t>
            </a:r>
            <a:endParaRPr lang="en-US" sz="2000" b="0" strike="noStrike" spc="-1" dirty="0">
              <a:latin typeface="Arial"/>
            </a:endParaRPr>
          </a:p>
          <a:p>
            <a:pPr marL="800280" lvl="1" indent="-340920">
              <a:lnSpc>
                <a:spcPct val="98000"/>
              </a:lnSpc>
              <a:spcBef>
                <a:spcPts val="499"/>
              </a:spcBef>
              <a:buClr>
                <a:srgbClr val="3F3F3F"/>
              </a:buClr>
              <a:buFont typeface="Arial"/>
              <a:buChar char="•"/>
            </a:pPr>
            <a:r>
              <a:rPr lang="en-US" sz="2000" b="0" strike="noStrike" spc="-1" dirty="0">
                <a:solidFill>
                  <a:srgbClr val="3F3F3F"/>
                </a:solidFill>
                <a:latin typeface="Segoe UI"/>
                <a:ea typeface="DejaVu Sans"/>
              </a:rPr>
              <a:t>Leaf sections</a:t>
            </a:r>
            <a:endParaRPr lang="en-US" sz="2000" b="0" strike="noStrike" spc="-1" dirty="0">
              <a:latin typeface="Arial"/>
            </a:endParaRPr>
          </a:p>
        </p:txBody>
      </p:sp>
      <p:sp>
        <p:nvSpPr>
          <p:cNvPr id="11" name="CustomShape 3">
            <a:extLst>
              <a:ext uri="{FF2B5EF4-FFF2-40B4-BE49-F238E27FC236}">
                <a16:creationId xmlns:a16="http://schemas.microsoft.com/office/drawing/2014/main" id="{41EF6661-72AD-4B0E-8C78-6E0988ACEAF1}"/>
              </a:ext>
            </a:extLst>
          </p:cNvPr>
          <p:cNvSpPr/>
          <p:nvPr/>
        </p:nvSpPr>
        <p:spPr>
          <a:xfrm>
            <a:off x="1896960" y="2944510"/>
            <a:ext cx="3237840" cy="2877480"/>
          </a:xfrm>
          <a:prstGeom prst="roundRect">
            <a:avLst>
              <a:gd name="adj" fmla="val 51"/>
            </a:avLst>
          </a:prstGeom>
          <a:solidFill>
            <a:srgbClr val="99CCFF"/>
          </a:solidFill>
          <a:ln w="9360">
            <a:solidFill>
              <a:srgbClr val="000000"/>
            </a:solidFill>
            <a:round/>
          </a:ln>
        </p:spPr>
        <p:style>
          <a:lnRef idx="0">
            <a:scrgbClr r="0" g="0" b="0"/>
          </a:lnRef>
          <a:fillRef idx="0">
            <a:scrgbClr r="0" g="0" b="0"/>
          </a:fillRef>
          <a:effectRef idx="0">
            <a:scrgbClr r="0" g="0" b="0"/>
          </a:effectRef>
          <a:fontRef idx="minor"/>
        </p:style>
      </p:sp>
      <p:sp>
        <p:nvSpPr>
          <p:cNvPr id="12" name="CustomShape 4">
            <a:extLst>
              <a:ext uri="{FF2B5EF4-FFF2-40B4-BE49-F238E27FC236}">
                <a16:creationId xmlns:a16="http://schemas.microsoft.com/office/drawing/2014/main" id="{EA851FD9-10E3-4EFC-A853-A8D57C58278D}"/>
              </a:ext>
            </a:extLst>
          </p:cNvPr>
          <p:cNvSpPr/>
          <p:nvPr/>
        </p:nvSpPr>
        <p:spPr>
          <a:xfrm>
            <a:off x="2076600" y="3016150"/>
            <a:ext cx="2877480" cy="1439280"/>
          </a:xfrm>
          <a:prstGeom prst="roundRect">
            <a:avLst>
              <a:gd name="adj" fmla="val 106"/>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1" strike="noStrike" spc="-1">
                <a:solidFill>
                  <a:srgbClr val="000000"/>
                </a:solidFill>
                <a:latin typeface="Segoe UI"/>
                <a:ea typeface="DejaVu Sans"/>
              </a:rPr>
              <a:t>E</a:t>
            </a:r>
            <a:r>
              <a:rPr lang="en-US" sz="1800" b="1" i="1" strike="noStrike" spc="-1">
                <a:solidFill>
                  <a:srgbClr val="000000"/>
                </a:solidFill>
                <a:latin typeface="Segoe UI"/>
                <a:ea typeface="DejaVu Sans"/>
              </a:rPr>
              <a:t>1</a:t>
            </a:r>
            <a:endParaRPr lang="en-US" sz="1800" b="0" strike="noStrike" spc="-1">
              <a:latin typeface="Arial"/>
            </a:endParaRPr>
          </a:p>
        </p:txBody>
      </p:sp>
      <p:sp>
        <p:nvSpPr>
          <p:cNvPr id="13" name="CustomShape 5">
            <a:extLst>
              <a:ext uri="{FF2B5EF4-FFF2-40B4-BE49-F238E27FC236}">
                <a16:creationId xmlns:a16="http://schemas.microsoft.com/office/drawing/2014/main" id="{3E0D5C1D-1E9B-47A8-B66F-52D7FA16ED64}"/>
              </a:ext>
            </a:extLst>
          </p:cNvPr>
          <p:cNvSpPr/>
          <p:nvPr/>
        </p:nvSpPr>
        <p:spPr>
          <a:xfrm>
            <a:off x="2076600" y="4841710"/>
            <a:ext cx="2877480" cy="883800"/>
          </a:xfrm>
          <a:prstGeom prst="roundRect">
            <a:avLst>
              <a:gd name="adj" fmla="val 176"/>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1" strike="noStrike" spc="-1">
                <a:solidFill>
                  <a:srgbClr val="000000"/>
                </a:solidFill>
                <a:latin typeface="Segoe UI"/>
                <a:ea typeface="DejaVu Sans"/>
              </a:rPr>
              <a:t>E</a:t>
            </a:r>
            <a:r>
              <a:rPr lang="en-US" sz="1800" b="1" i="1" strike="noStrike" spc="-1">
                <a:solidFill>
                  <a:srgbClr val="000000"/>
                </a:solidFill>
                <a:latin typeface="Segoe UI"/>
                <a:ea typeface="DejaVu Sans"/>
              </a:rPr>
              <a:t>0</a:t>
            </a:r>
            <a:endParaRPr lang="en-US" sz="1800" b="0" strike="noStrike" spc="-1">
              <a:latin typeface="Arial"/>
            </a:endParaRPr>
          </a:p>
        </p:txBody>
      </p:sp>
      <p:sp>
        <p:nvSpPr>
          <p:cNvPr id="14" name="CustomShape 6">
            <a:extLst>
              <a:ext uri="{FF2B5EF4-FFF2-40B4-BE49-F238E27FC236}">
                <a16:creationId xmlns:a16="http://schemas.microsoft.com/office/drawing/2014/main" id="{EA5C99CC-7337-44EE-A56F-7EDEF49EC2F5}"/>
              </a:ext>
            </a:extLst>
          </p:cNvPr>
          <p:cNvSpPr/>
          <p:nvPr/>
        </p:nvSpPr>
        <p:spPr>
          <a:xfrm>
            <a:off x="2076600" y="4538230"/>
            <a:ext cx="2877480" cy="204120"/>
          </a:xfrm>
          <a:prstGeom prst="roundRect">
            <a:avLst>
              <a:gd name="adj" fmla="val 769"/>
            </a:avLst>
          </a:prstGeom>
          <a:solidFill>
            <a:srgbClr val="E6E6E6"/>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800" b="1" strike="noStrike" spc="-1">
                <a:solidFill>
                  <a:srgbClr val="000000"/>
                </a:solidFill>
                <a:latin typeface="Segoe UI"/>
                <a:ea typeface="DejaVu Sans"/>
              </a:rPr>
              <a:t>L</a:t>
            </a:r>
            <a:r>
              <a:rPr lang="en-US" sz="1800" b="1" i="1" strike="noStrike" spc="-1">
                <a:solidFill>
                  <a:srgbClr val="000000"/>
                </a:solidFill>
                <a:latin typeface="Segoe UI"/>
                <a:ea typeface="DejaVu Sans"/>
              </a:rPr>
              <a:t>2</a:t>
            </a:r>
            <a:endParaRPr lang="en-US" sz="1800" b="0" strike="noStrike" spc="-1">
              <a:latin typeface="Arial"/>
            </a:endParaRPr>
          </a:p>
        </p:txBody>
      </p:sp>
      <p:sp>
        <p:nvSpPr>
          <p:cNvPr id="15" name="CustomShape 7">
            <a:extLst>
              <a:ext uri="{FF2B5EF4-FFF2-40B4-BE49-F238E27FC236}">
                <a16:creationId xmlns:a16="http://schemas.microsoft.com/office/drawing/2014/main" id="{2DC45AD2-5BD1-4AF0-8500-CC030B026D9E}"/>
              </a:ext>
            </a:extLst>
          </p:cNvPr>
          <p:cNvSpPr/>
          <p:nvPr/>
        </p:nvSpPr>
        <p:spPr>
          <a:xfrm>
            <a:off x="6108600" y="3052510"/>
            <a:ext cx="2158560" cy="358200"/>
          </a:xfrm>
          <a:prstGeom prst="roundRect">
            <a:avLst>
              <a:gd name="adj" fmla="val 440"/>
            </a:avLst>
          </a:prstGeom>
          <a:solidFill>
            <a:srgbClr val="99CCFF"/>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200" b="1" strike="noStrike" spc="-1">
                <a:solidFill>
                  <a:srgbClr val="000000"/>
                </a:solidFill>
                <a:latin typeface="Segoe UI"/>
                <a:ea typeface="DejaVu Sans"/>
              </a:rPr>
              <a:t>Complete file image</a:t>
            </a:r>
            <a:endParaRPr lang="en-US" sz="1200" b="0" strike="noStrike" spc="-1">
              <a:latin typeface="Arial"/>
            </a:endParaRPr>
          </a:p>
        </p:txBody>
      </p:sp>
      <p:sp>
        <p:nvSpPr>
          <p:cNvPr id="16" name="CustomShape 8">
            <a:extLst>
              <a:ext uri="{FF2B5EF4-FFF2-40B4-BE49-F238E27FC236}">
                <a16:creationId xmlns:a16="http://schemas.microsoft.com/office/drawing/2014/main" id="{CF8F1D57-1717-4E92-84CD-20B97ADCAC9C}"/>
              </a:ext>
            </a:extLst>
          </p:cNvPr>
          <p:cNvSpPr/>
          <p:nvPr/>
        </p:nvSpPr>
        <p:spPr>
          <a:xfrm>
            <a:off x="6108600" y="3520870"/>
            <a:ext cx="2158560" cy="358200"/>
          </a:xfrm>
          <a:prstGeom prst="roundRect">
            <a:avLst>
              <a:gd name="adj" fmla="val 440"/>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200" b="1" strike="noStrike" spc="-1">
                <a:solidFill>
                  <a:srgbClr val="000000"/>
                </a:solidFill>
                <a:latin typeface="Segoe UI"/>
                <a:ea typeface="DejaVu Sans"/>
              </a:rPr>
              <a:t>Encapsulation section (E</a:t>
            </a:r>
            <a:r>
              <a:rPr lang="en-US" sz="1200" b="1" i="1" strike="noStrike" spc="-1">
                <a:solidFill>
                  <a:srgbClr val="000000"/>
                </a:solidFill>
                <a:latin typeface="Segoe UI"/>
                <a:ea typeface="DejaVu Sans"/>
              </a:rPr>
              <a:t>n</a:t>
            </a:r>
            <a:r>
              <a:rPr lang="en-US" sz="1200" b="1" strike="noStrike" spc="-1">
                <a:solidFill>
                  <a:srgbClr val="000000"/>
                </a:solidFill>
                <a:latin typeface="Segoe UI"/>
                <a:ea typeface="DejaVu Sans"/>
              </a:rPr>
              <a:t>)‏</a:t>
            </a:r>
            <a:endParaRPr lang="en-US" sz="1200" b="0" strike="noStrike" spc="-1">
              <a:latin typeface="Arial"/>
            </a:endParaRPr>
          </a:p>
        </p:txBody>
      </p:sp>
      <p:sp>
        <p:nvSpPr>
          <p:cNvPr id="17" name="CustomShape 9">
            <a:extLst>
              <a:ext uri="{FF2B5EF4-FFF2-40B4-BE49-F238E27FC236}">
                <a16:creationId xmlns:a16="http://schemas.microsoft.com/office/drawing/2014/main" id="{4E1F73FD-8452-4562-AA67-882A49D7C224}"/>
              </a:ext>
            </a:extLst>
          </p:cNvPr>
          <p:cNvSpPr/>
          <p:nvPr/>
        </p:nvSpPr>
        <p:spPr>
          <a:xfrm>
            <a:off x="6108600" y="4024150"/>
            <a:ext cx="2158560" cy="358200"/>
          </a:xfrm>
          <a:prstGeom prst="roundRect">
            <a:avLst>
              <a:gd name="adj" fmla="val 440"/>
            </a:avLst>
          </a:prstGeom>
          <a:solidFill>
            <a:srgbClr val="E6E6E6"/>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200" b="1" strike="noStrike" spc="-1">
                <a:solidFill>
                  <a:srgbClr val="000000"/>
                </a:solidFill>
                <a:latin typeface="Segoe UI"/>
                <a:ea typeface="DejaVu Sans"/>
              </a:rPr>
              <a:t>Leaf section (L</a:t>
            </a:r>
            <a:r>
              <a:rPr lang="en-US" sz="1200" b="1" i="1" strike="noStrike" spc="-1">
                <a:solidFill>
                  <a:srgbClr val="000000"/>
                </a:solidFill>
                <a:latin typeface="Segoe UI"/>
                <a:ea typeface="DejaVu Sans"/>
              </a:rPr>
              <a:t>n</a:t>
            </a:r>
            <a:r>
              <a:rPr lang="en-US" sz="1200" b="1" strike="noStrike" spc="-1">
                <a:solidFill>
                  <a:srgbClr val="000000"/>
                </a:solidFill>
                <a:latin typeface="Segoe UI"/>
                <a:ea typeface="DejaVu Sans"/>
              </a:rPr>
              <a:t>)</a:t>
            </a:r>
            <a:r>
              <a:rPr lang="en-US" sz="1800" b="1" strike="noStrike" spc="-1">
                <a:solidFill>
                  <a:srgbClr val="000000"/>
                </a:solidFill>
                <a:latin typeface="Segoe UI"/>
                <a:ea typeface="DejaVu Sans"/>
              </a:rPr>
              <a:t>‏</a:t>
            </a:r>
            <a:endParaRPr lang="en-US" sz="1800" b="0" strike="noStrike" spc="-1">
              <a:latin typeface="Arial"/>
            </a:endParaRPr>
          </a:p>
        </p:txBody>
      </p:sp>
      <p:sp>
        <p:nvSpPr>
          <p:cNvPr id="18" name="CustomShape 10">
            <a:extLst>
              <a:ext uri="{FF2B5EF4-FFF2-40B4-BE49-F238E27FC236}">
                <a16:creationId xmlns:a16="http://schemas.microsoft.com/office/drawing/2014/main" id="{25577622-AD72-4D8D-878C-85CF83EF58C4}"/>
              </a:ext>
            </a:extLst>
          </p:cNvPr>
          <p:cNvSpPr/>
          <p:nvPr/>
        </p:nvSpPr>
        <p:spPr>
          <a:xfrm>
            <a:off x="2255880" y="4960510"/>
            <a:ext cx="2517120" cy="210600"/>
          </a:xfrm>
          <a:prstGeom prst="roundRect">
            <a:avLst>
              <a:gd name="adj" fmla="val 745"/>
            </a:avLst>
          </a:prstGeom>
          <a:solidFill>
            <a:srgbClr val="E6E6E6"/>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800" b="1" strike="noStrike" spc="-1">
                <a:solidFill>
                  <a:srgbClr val="000000"/>
                </a:solidFill>
                <a:latin typeface="Segoe UI"/>
                <a:ea typeface="DejaVu Sans"/>
              </a:rPr>
              <a:t>L</a:t>
            </a:r>
            <a:r>
              <a:rPr lang="en-US" sz="1800" b="1" i="1" strike="noStrike" spc="-1">
                <a:solidFill>
                  <a:srgbClr val="000000"/>
                </a:solidFill>
                <a:latin typeface="Segoe UI"/>
                <a:ea typeface="DejaVu Sans"/>
              </a:rPr>
              <a:t>1</a:t>
            </a:r>
            <a:endParaRPr lang="en-US" sz="1800" b="0" strike="noStrike" spc="-1">
              <a:latin typeface="Arial"/>
            </a:endParaRPr>
          </a:p>
        </p:txBody>
      </p:sp>
      <p:sp>
        <p:nvSpPr>
          <p:cNvPr id="19" name="CustomShape 11">
            <a:extLst>
              <a:ext uri="{FF2B5EF4-FFF2-40B4-BE49-F238E27FC236}">
                <a16:creationId xmlns:a16="http://schemas.microsoft.com/office/drawing/2014/main" id="{93CEDFD5-6697-46CE-AB5D-34D9E70EB34A}"/>
              </a:ext>
            </a:extLst>
          </p:cNvPr>
          <p:cNvSpPr/>
          <p:nvPr/>
        </p:nvSpPr>
        <p:spPr>
          <a:xfrm>
            <a:off x="2255880" y="3360310"/>
            <a:ext cx="2517120" cy="806040"/>
          </a:xfrm>
          <a:prstGeom prst="roundRect">
            <a:avLst>
              <a:gd name="adj" fmla="val 194"/>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1" strike="noStrike" spc="-1">
                <a:solidFill>
                  <a:srgbClr val="000000"/>
                </a:solidFill>
                <a:latin typeface="Segoe UI"/>
                <a:ea typeface="DejaVu Sans"/>
              </a:rPr>
              <a:t>E</a:t>
            </a:r>
            <a:r>
              <a:rPr lang="en-US" sz="1800" b="1" i="1" strike="noStrike" spc="-1">
                <a:solidFill>
                  <a:srgbClr val="000000"/>
                </a:solidFill>
                <a:latin typeface="Segoe UI"/>
                <a:ea typeface="DejaVu Sans"/>
              </a:rPr>
              <a:t>2</a:t>
            </a:r>
            <a:endParaRPr lang="en-US" sz="1800" b="0" strike="noStrike" spc="-1">
              <a:latin typeface="Arial"/>
            </a:endParaRPr>
          </a:p>
        </p:txBody>
      </p:sp>
      <p:sp>
        <p:nvSpPr>
          <p:cNvPr id="20" name="CustomShape 12">
            <a:extLst>
              <a:ext uri="{FF2B5EF4-FFF2-40B4-BE49-F238E27FC236}">
                <a16:creationId xmlns:a16="http://schemas.microsoft.com/office/drawing/2014/main" id="{AFA0A55A-58F0-40F1-9B95-F1D6824596E6}"/>
              </a:ext>
            </a:extLst>
          </p:cNvPr>
          <p:cNvSpPr/>
          <p:nvPr/>
        </p:nvSpPr>
        <p:spPr>
          <a:xfrm>
            <a:off x="2436960" y="3677830"/>
            <a:ext cx="2158560" cy="235800"/>
          </a:xfrm>
          <a:prstGeom prst="roundRect">
            <a:avLst>
              <a:gd name="adj" fmla="val 667"/>
            </a:avLst>
          </a:prstGeom>
          <a:solidFill>
            <a:srgbClr val="E6E6E6"/>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800" b="1" strike="noStrike" spc="-1">
                <a:solidFill>
                  <a:srgbClr val="000000"/>
                </a:solidFill>
                <a:latin typeface="Segoe UI"/>
                <a:ea typeface="DejaVu Sans"/>
              </a:rPr>
              <a:t>L</a:t>
            </a:r>
            <a:r>
              <a:rPr lang="en-US" sz="1800" b="1" i="1" strike="noStrike" spc="-1">
                <a:solidFill>
                  <a:srgbClr val="000000"/>
                </a:solidFill>
                <a:latin typeface="Segoe UI"/>
                <a:ea typeface="DejaVu Sans"/>
              </a:rPr>
              <a:t>3</a:t>
            </a:r>
            <a:endParaRPr lang="en-US" sz="1800" b="0" strike="noStrike" spc="-1">
              <a:latin typeface="Arial"/>
            </a:endParaRPr>
          </a:p>
        </p:txBody>
      </p:sp>
      <p:sp>
        <p:nvSpPr>
          <p:cNvPr id="21" name="CustomShape 13">
            <a:extLst>
              <a:ext uri="{FF2B5EF4-FFF2-40B4-BE49-F238E27FC236}">
                <a16:creationId xmlns:a16="http://schemas.microsoft.com/office/drawing/2014/main" id="{6040AAC6-294D-43BA-9A36-9BFBDEABAE29}"/>
              </a:ext>
            </a:extLst>
          </p:cNvPr>
          <p:cNvSpPr/>
          <p:nvPr/>
        </p:nvSpPr>
        <p:spPr>
          <a:xfrm>
            <a:off x="2255880" y="5252830"/>
            <a:ext cx="2517120" cy="213840"/>
          </a:xfrm>
          <a:prstGeom prst="roundRect">
            <a:avLst>
              <a:gd name="adj" fmla="val 731"/>
            </a:avLst>
          </a:prstGeom>
          <a:solidFill>
            <a:srgbClr val="E6E6E6"/>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800" b="1" strike="noStrike" spc="-1">
                <a:solidFill>
                  <a:srgbClr val="000000"/>
                </a:solidFill>
                <a:latin typeface="Segoe UI"/>
                <a:ea typeface="DejaVu Sans"/>
              </a:rPr>
              <a:t>L</a:t>
            </a:r>
            <a:r>
              <a:rPr lang="en-US" sz="1800" b="1" i="1" strike="noStrike" spc="-1">
                <a:solidFill>
                  <a:srgbClr val="000000"/>
                </a:solidFill>
                <a:latin typeface="Segoe UI"/>
                <a:ea typeface="DejaVu Sans"/>
              </a:rPr>
              <a:t>0</a:t>
            </a:r>
            <a:endParaRPr lang="en-US" sz="1800" b="0" strike="noStrike" spc="-1">
              <a:latin typeface="Arial"/>
            </a:endParaRPr>
          </a:p>
        </p:txBody>
      </p:sp>
      <p:sp>
        <p:nvSpPr>
          <p:cNvPr id="22" name="CustomShape 14">
            <a:extLst>
              <a:ext uri="{FF2B5EF4-FFF2-40B4-BE49-F238E27FC236}">
                <a16:creationId xmlns:a16="http://schemas.microsoft.com/office/drawing/2014/main" id="{3F4F931D-DED1-4073-8D3A-386D66F49DF5}"/>
              </a:ext>
            </a:extLst>
          </p:cNvPr>
          <p:cNvSpPr/>
          <p:nvPr/>
        </p:nvSpPr>
        <p:spPr>
          <a:xfrm>
            <a:off x="2255880" y="3087430"/>
            <a:ext cx="2517120" cy="210600"/>
          </a:xfrm>
          <a:prstGeom prst="roundRect">
            <a:avLst>
              <a:gd name="adj" fmla="val 745"/>
            </a:avLst>
          </a:prstGeom>
          <a:solidFill>
            <a:srgbClr val="E6E6E6"/>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800" b="1" strike="noStrike" spc="-1">
                <a:solidFill>
                  <a:srgbClr val="000000"/>
                </a:solidFill>
                <a:latin typeface="Segoe UI"/>
                <a:ea typeface="DejaVu Sans"/>
              </a:rPr>
              <a:t>L</a:t>
            </a:r>
            <a:r>
              <a:rPr lang="en-US" sz="1800" b="1" i="1" strike="noStrike" spc="-1">
                <a:solidFill>
                  <a:srgbClr val="000000"/>
                </a:solidFill>
                <a:latin typeface="Segoe UI"/>
                <a:ea typeface="DejaVu Sans"/>
              </a:rPr>
              <a:t>5</a:t>
            </a:r>
            <a:endParaRPr lang="en-US" sz="1800" b="0" strike="noStrike" spc="-1">
              <a:latin typeface="Arial"/>
            </a:endParaRPr>
          </a:p>
        </p:txBody>
      </p:sp>
      <p:sp>
        <p:nvSpPr>
          <p:cNvPr id="23" name="CustomShape 15">
            <a:extLst>
              <a:ext uri="{FF2B5EF4-FFF2-40B4-BE49-F238E27FC236}">
                <a16:creationId xmlns:a16="http://schemas.microsoft.com/office/drawing/2014/main" id="{1A7F350A-B7AC-47C5-A962-55221C2EFE27}"/>
              </a:ext>
            </a:extLst>
          </p:cNvPr>
          <p:cNvSpPr/>
          <p:nvPr/>
        </p:nvSpPr>
        <p:spPr>
          <a:xfrm>
            <a:off x="2436960" y="3390550"/>
            <a:ext cx="2158560" cy="235800"/>
          </a:xfrm>
          <a:prstGeom prst="roundRect">
            <a:avLst>
              <a:gd name="adj" fmla="val 667"/>
            </a:avLst>
          </a:prstGeom>
          <a:solidFill>
            <a:srgbClr val="E6E6E6"/>
          </a:solid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nSpc>
                <a:spcPct val="100000"/>
              </a:lnSpc>
            </a:pPr>
            <a:r>
              <a:rPr lang="en-US" sz="1800" b="1" strike="noStrike" spc="-1">
                <a:solidFill>
                  <a:srgbClr val="000000"/>
                </a:solidFill>
                <a:latin typeface="Segoe UI"/>
                <a:ea typeface="DejaVu Sans"/>
              </a:rPr>
              <a:t>L</a:t>
            </a:r>
            <a:r>
              <a:rPr lang="en-US" sz="1800" b="1" i="1" strike="noStrike" spc="-1">
                <a:solidFill>
                  <a:srgbClr val="000000"/>
                </a:solidFill>
                <a:latin typeface="Segoe UI"/>
                <a:ea typeface="DejaVu Sans"/>
              </a:rPr>
              <a:t>4</a:t>
            </a:r>
            <a:endParaRPr lang="en-US" sz="1800" b="0" strike="noStrike" spc="-1">
              <a:latin typeface="Arial"/>
            </a:endParaRPr>
          </a:p>
        </p:txBody>
      </p:sp>
    </p:spTree>
    <p:extLst>
      <p:ext uri="{BB962C8B-B14F-4D97-AF65-F5344CB8AC3E}">
        <p14:creationId xmlns:p14="http://schemas.microsoft.com/office/powerpoint/2010/main" val="10084560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Firmware File Sections</a:t>
            </a:r>
            <a:endParaRPr lang="en-US" dirty="0"/>
          </a:p>
        </p:txBody>
      </p:sp>
      <p:pic>
        <p:nvPicPr>
          <p:cNvPr id="24" name="Picture 3">
            <a:extLst>
              <a:ext uri="{FF2B5EF4-FFF2-40B4-BE49-F238E27FC236}">
                <a16:creationId xmlns:a16="http://schemas.microsoft.com/office/drawing/2014/main" id="{0A93DE60-CA1C-4B58-B93B-0166C99F25E2}"/>
              </a:ext>
            </a:extLst>
          </p:cNvPr>
          <p:cNvPicPr/>
          <p:nvPr/>
        </p:nvPicPr>
        <p:blipFill>
          <a:blip r:embed="rId2"/>
          <a:stretch/>
        </p:blipFill>
        <p:spPr>
          <a:xfrm>
            <a:off x="3217080" y="1316230"/>
            <a:ext cx="5757840" cy="2351880"/>
          </a:xfrm>
          <a:prstGeom prst="rect">
            <a:avLst/>
          </a:prstGeom>
          <a:ln w="9360">
            <a:noFill/>
          </a:ln>
        </p:spPr>
      </p:pic>
      <p:pic>
        <p:nvPicPr>
          <p:cNvPr id="25" name="Picture 4">
            <a:extLst>
              <a:ext uri="{FF2B5EF4-FFF2-40B4-BE49-F238E27FC236}">
                <a16:creationId xmlns:a16="http://schemas.microsoft.com/office/drawing/2014/main" id="{AF6DAC7B-D495-4B9E-A2C6-31324783A56F}"/>
              </a:ext>
            </a:extLst>
          </p:cNvPr>
          <p:cNvPicPr/>
          <p:nvPr/>
        </p:nvPicPr>
        <p:blipFill>
          <a:blip r:embed="rId3"/>
          <a:stretch/>
        </p:blipFill>
        <p:spPr>
          <a:xfrm>
            <a:off x="3217080" y="3836230"/>
            <a:ext cx="5757840" cy="2602800"/>
          </a:xfrm>
          <a:prstGeom prst="rect">
            <a:avLst/>
          </a:prstGeom>
          <a:ln w="9360">
            <a:noFill/>
          </a:ln>
        </p:spPr>
      </p:pic>
    </p:spTree>
    <p:extLst>
      <p:ext uri="{BB962C8B-B14F-4D97-AF65-F5344CB8AC3E}">
        <p14:creationId xmlns:p14="http://schemas.microsoft.com/office/powerpoint/2010/main" val="6038034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Firmware Storage</a:t>
            </a:r>
            <a:br>
              <a:rPr lang="en-US" dirty="0"/>
            </a:br>
            <a:r>
              <a:rPr lang="en-US" sz="3100" dirty="0"/>
              <a:t>BFV – Boot Firmware Volume</a:t>
            </a:r>
            <a:endParaRPr lang="en-US" dirty="0"/>
          </a:p>
        </p:txBody>
      </p:sp>
      <p:sp>
        <p:nvSpPr>
          <p:cNvPr id="5" name="CustomShape 2">
            <a:extLst>
              <a:ext uri="{FF2B5EF4-FFF2-40B4-BE49-F238E27FC236}">
                <a16:creationId xmlns:a16="http://schemas.microsoft.com/office/drawing/2014/main" id="{DB70BA07-4F39-4C37-B71D-FC13867AA831}"/>
              </a:ext>
            </a:extLst>
          </p:cNvPr>
          <p:cNvSpPr/>
          <p:nvPr/>
        </p:nvSpPr>
        <p:spPr>
          <a:xfrm>
            <a:off x="838200" y="1316230"/>
            <a:ext cx="1015365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Stored in the Flash. Follows the EFI Firmware File System (FFS)</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Contains PEI Core and PEI Modules (PEIMs)</a:t>
            </a:r>
            <a:endParaRPr lang="en-US" sz="2800" b="0" strike="noStrike" spc="-1" dirty="0">
              <a:latin typeface="Arial"/>
            </a:endParaRPr>
          </a:p>
          <a:p>
            <a:pPr marL="228600" indent="-226440">
              <a:lnSpc>
                <a:spcPct val="98000"/>
              </a:lnSpc>
              <a:spcBef>
                <a:spcPts val="499"/>
              </a:spcBef>
              <a:buClr>
                <a:srgbClr val="3F3F3F"/>
              </a:buClr>
              <a:buFont typeface="Arial"/>
              <a:buChar char="•"/>
            </a:pPr>
            <a:r>
              <a:rPr lang="en-US" sz="2800" b="0" strike="noStrike" spc="-1" dirty="0">
                <a:solidFill>
                  <a:srgbClr val="3F3F3F"/>
                </a:solidFill>
                <a:latin typeface="Segoe UI"/>
                <a:ea typeface="DejaVu Sans"/>
              </a:rPr>
              <a:t>It’s memory mapped location is known by SEC during startup</a:t>
            </a:r>
          </a:p>
        </p:txBody>
      </p:sp>
    </p:spTree>
    <p:extLst>
      <p:ext uri="{BB962C8B-B14F-4D97-AF65-F5344CB8AC3E}">
        <p14:creationId xmlns:p14="http://schemas.microsoft.com/office/powerpoint/2010/main" val="41103882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r>
              <a:rPr lang="en-US" dirty="0">
                <a:solidFill>
                  <a:schemeClr val="tx1"/>
                </a:solidFill>
              </a:rPr>
              <a:t>For more information, contact:</a:t>
            </a:r>
          </a:p>
          <a:p>
            <a:r>
              <a:rPr lang="en-US" dirty="0">
                <a:solidFill>
                  <a:schemeClr val="tx1"/>
                </a:solidFill>
              </a:rPr>
              <a:t>employee@insyde.com</a:t>
            </a:r>
          </a:p>
        </p:txBody>
      </p:sp>
      <p:sp>
        <p:nvSpPr>
          <p:cNvPr id="5" name="Slide Number Placeholder 4"/>
          <p:cNvSpPr>
            <a:spLocks noGrp="1"/>
          </p:cNvSpPr>
          <p:nvPr>
            <p:ph type="sldNum" sz="quarter" idx="12"/>
          </p:nvPr>
        </p:nvSpPr>
        <p:spPr/>
        <p:txBody>
          <a:bodyPr/>
          <a:lstStyle/>
          <a:p>
            <a:fld id="{781490A6-A1C6-4034-B8DF-BB0CBB7F3119}" type="slidenum">
              <a:rPr lang="en-US" smtClean="0"/>
              <a:pPr/>
              <a:t>86</a:t>
            </a:fld>
            <a:endParaRPr lang="en-US" dirty="0"/>
          </a:p>
        </p:txBody>
      </p:sp>
    </p:spTree>
    <p:extLst>
      <p:ext uri="{BB962C8B-B14F-4D97-AF65-F5344CB8AC3E}">
        <p14:creationId xmlns:p14="http://schemas.microsoft.com/office/powerpoint/2010/main" val="2335796995"/>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10492</TotalTime>
  <Words>5387</Words>
  <Application>Microsoft Office PowerPoint</Application>
  <PresentationFormat>Widescreen</PresentationFormat>
  <Paragraphs>959</Paragraphs>
  <Slides>86</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86</vt:i4>
      </vt:variant>
    </vt:vector>
  </HeadingPairs>
  <TitlesOfParts>
    <vt:vector size="95" baseType="lpstr">
      <vt:lpstr>Arial</vt:lpstr>
      <vt:lpstr>Calibri</vt:lpstr>
      <vt:lpstr>Fira Code</vt:lpstr>
      <vt:lpstr>Segoe UI</vt:lpstr>
      <vt:lpstr>Tahoma</vt:lpstr>
      <vt:lpstr>Times New Roman</vt:lpstr>
      <vt:lpstr>Wingdings</vt:lpstr>
      <vt:lpstr>2018 Theme</vt:lpstr>
      <vt:lpstr>PBrush</vt:lpstr>
      <vt:lpstr>H2O Architecture</vt:lpstr>
      <vt:lpstr>Copyright 2021 Insyde Software Corp., All Rights Reserved.</vt:lpstr>
      <vt:lpstr>Agenda</vt:lpstr>
      <vt:lpstr>General Overview</vt:lpstr>
      <vt:lpstr>General Overview Unified Extensible Firmware Interface (UEFI)</vt:lpstr>
      <vt:lpstr>General Overview Platform Initialization (PI)</vt:lpstr>
      <vt:lpstr>General Overview Difference between Legacy BIOS and UEFI Firmware</vt:lpstr>
      <vt:lpstr>General Overview PI/UEFI Layering</vt:lpstr>
      <vt:lpstr>General Overview Platform Boot Flow: Where EFI and UEFI fit into the Platform Boot</vt:lpstr>
      <vt:lpstr>General Overview Platform Boot Flow: Where PI and Framework Fit into the Platform Boot Flow</vt:lpstr>
      <vt:lpstr>General Overview Platform Boot Flow: Where UEFI and PI Fit into the Platform Boot Flow</vt:lpstr>
      <vt:lpstr>General Overview UEFI Conceptual Overview</vt:lpstr>
      <vt:lpstr>General Overview POST Flow</vt:lpstr>
      <vt:lpstr>Security (SEC)</vt:lpstr>
      <vt:lpstr>Security (SEC) Phase</vt:lpstr>
      <vt:lpstr>Security (SEC) Phase</vt:lpstr>
      <vt:lpstr>Security (SEC) Phase SEC-to-PEI Transition</vt:lpstr>
      <vt:lpstr>Pre-EFI Initialization (PEI)</vt:lpstr>
      <vt:lpstr>Pre-EFI Initialization (PEI) Phase Platform Boot Flow</vt:lpstr>
      <vt:lpstr>Pre-EFI Initialization (PEI) Phase Overview</vt:lpstr>
      <vt:lpstr>Pre-EFI Initialization (PEI) Phase Overview</vt:lpstr>
      <vt:lpstr>Pre-EFI Initialization (PEI) Phase Overview</vt:lpstr>
      <vt:lpstr>Pre-EFI Initialization (PEI) Phase PEI Compenents</vt:lpstr>
      <vt:lpstr>Pre-EFI Initialization (PEI) Phase PEI Compenents</vt:lpstr>
      <vt:lpstr>Pre-EFI Initialization (PEI) Phase Group of PEIMs</vt:lpstr>
      <vt:lpstr>Pre-EFI Initialization (PEI) Phase PEIM Structure</vt:lpstr>
      <vt:lpstr>Pre-EFI Initialization (PEI) Phase PEIM Components</vt:lpstr>
      <vt:lpstr>Pre-EFI Initialization (PEI) Phase PEIM Services</vt:lpstr>
      <vt:lpstr>Pre-EFI Initialization (PEI) Phase PEIM Services</vt:lpstr>
      <vt:lpstr>Pre-EFI Initialization (PEI) Phase PEIM Services</vt:lpstr>
      <vt:lpstr>Pre-EFI Initialization (PEI) Phase PEIM Services</vt:lpstr>
      <vt:lpstr>Pre-EFI Initialization (PEI) Phase PEI Components</vt:lpstr>
      <vt:lpstr>Pre-EFI Initialization (PEI) Phase PEI Dispatcher</vt:lpstr>
      <vt:lpstr>Pre-EFI Initialization (PEI) Phase Dispatching</vt:lpstr>
      <vt:lpstr>Pre-EFI Initialization (PEI) Phase Dispatching</vt:lpstr>
      <vt:lpstr>Pre-EFI Initialization (PEI) Phase Dependency</vt:lpstr>
      <vt:lpstr>Pre-EFI Initialization (PEI) Phase PEI Components</vt:lpstr>
      <vt:lpstr>Pre-EFI Initialization (PEI) Phase PPI Descriptor</vt:lpstr>
      <vt:lpstr>Pre-EFI Initialization (PEI) Phase PPI Example</vt:lpstr>
      <vt:lpstr>Pre-EFI Initialization (PEI) Phase Notification</vt:lpstr>
      <vt:lpstr>Pre-EFI Initialization (PEI) Phase Memory Switch</vt:lpstr>
      <vt:lpstr>Pre-EFI Initialization (PEI) Phase End Condition</vt:lpstr>
      <vt:lpstr>Pre-EFI Initialization (PEI) Phase PEI Phase Flow</vt:lpstr>
      <vt:lpstr>Pre-EFI Initialization (PEI) Phase Hand-Off Block (HOB)</vt:lpstr>
      <vt:lpstr>Pre-EFI Initialization (PEI) Phase HOB List</vt:lpstr>
      <vt:lpstr>Pre-EFI Initialization (PEI) Phase HOB List</vt:lpstr>
      <vt:lpstr>Pre-EFI Initialization (PEI) Phase PEI-to-DXE Transition</vt:lpstr>
      <vt:lpstr>Driver Execution Environment  (DXE)</vt:lpstr>
      <vt:lpstr>Driver Execution Environment Platform Boot Flow</vt:lpstr>
      <vt:lpstr>Driver Execution Environment Overview</vt:lpstr>
      <vt:lpstr>Driver Execution Environment DXE Components</vt:lpstr>
      <vt:lpstr>Driver Execution Environment DXE Components</vt:lpstr>
      <vt:lpstr>Driver Execution Environment PEI-to-DXE Entry</vt:lpstr>
      <vt:lpstr>Driver Execution Environment DXE Components</vt:lpstr>
      <vt:lpstr>Driver Execution Environment Dispatching DXE Drivers</vt:lpstr>
      <vt:lpstr>Driver Execution Environment DXE Components</vt:lpstr>
      <vt:lpstr>Driver Execution Environment DXE Drivers</vt:lpstr>
      <vt:lpstr>Driver Execution Environment Two Kinds of DXE Drivers</vt:lpstr>
      <vt:lpstr>Driver Execution Environment Two Kinds of DXE Drivers – Non-Driver Model Driver</vt:lpstr>
      <vt:lpstr>Driver Execution Environment Two Kinds of DXE Drivers – Driver Model Driver</vt:lpstr>
      <vt:lpstr>Driver Execution Environment DXE Architectural Protocols</vt:lpstr>
      <vt:lpstr>Driver Execution Environment UEFI System Table</vt:lpstr>
      <vt:lpstr>Driver Execution Environment UEFI System Table – EFI_SYSTEM_TABLE</vt:lpstr>
      <vt:lpstr>Driver Execution Environment UEFI System Table – EFI Boot Services</vt:lpstr>
      <vt:lpstr>Driver Execution Environment UEFI System Table – EFI Runtime Services</vt:lpstr>
      <vt:lpstr>Driver Execution Environment Handle Database</vt:lpstr>
      <vt:lpstr>Driver Execution Environment DXE Phase Flow</vt:lpstr>
      <vt:lpstr>Driver Execution Environment End of the Dispatcher</vt:lpstr>
      <vt:lpstr>Boot Device Selection (BDS)</vt:lpstr>
      <vt:lpstr>Boot Device Selection (BDS) Phase Platform Boot Flow</vt:lpstr>
      <vt:lpstr>Boot Device Selection (BDS) Phase Overview</vt:lpstr>
      <vt:lpstr>Boot Device Selection (BDS) Phase Overview</vt:lpstr>
      <vt:lpstr>Boot Device Selection (BDS) Phase Overview</vt:lpstr>
      <vt:lpstr>Boot Device Selection (BDS) Phase EFI_BDS_ARCH_PROTOCOL</vt:lpstr>
      <vt:lpstr>Boot Device Selection (BDS) Phase Booting Sequence</vt:lpstr>
      <vt:lpstr>Firmware Storage</vt:lpstr>
      <vt:lpstr>Firmware Storage Firmware Devices</vt:lpstr>
      <vt:lpstr>Firmware Storage Firmware Volumes</vt:lpstr>
      <vt:lpstr>Firmware Storage Firmware File Systems</vt:lpstr>
      <vt:lpstr>Firmware Storage Firmware File Systems</vt:lpstr>
      <vt:lpstr>Firmware Storage Firmware File</vt:lpstr>
      <vt:lpstr>Firmware Storage Firmware Files</vt:lpstr>
      <vt:lpstr>Firmware Storage Firmware File Sections</vt:lpstr>
      <vt:lpstr>Firmware Storage Firmware File Sections</vt:lpstr>
      <vt:lpstr>Firmware Storage BFV – Boot Firmware Volume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241</cp:revision>
  <dcterms:created xsi:type="dcterms:W3CDTF">2018-02-02T23:50:52Z</dcterms:created>
  <dcterms:modified xsi:type="dcterms:W3CDTF">2021-03-10T01:48:03Z</dcterms:modified>
</cp:coreProperties>
</file>