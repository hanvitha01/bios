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25"/>
  </p:notesMasterIdLst>
  <p:sldIdLst>
    <p:sldId id="351" r:id="rId2"/>
    <p:sldId id="364" r:id="rId3"/>
    <p:sldId id="365" r:id="rId4"/>
    <p:sldId id="496" r:id="rId5"/>
    <p:sldId id="498" r:id="rId6"/>
    <p:sldId id="514" r:id="rId7"/>
    <p:sldId id="515" r:id="rId8"/>
    <p:sldId id="516" r:id="rId9"/>
    <p:sldId id="517" r:id="rId10"/>
    <p:sldId id="518" r:id="rId11"/>
    <p:sldId id="526" r:id="rId12"/>
    <p:sldId id="519" r:id="rId13"/>
    <p:sldId id="520" r:id="rId14"/>
    <p:sldId id="436" r:id="rId15"/>
    <p:sldId id="506" r:id="rId16"/>
    <p:sldId id="521" r:id="rId17"/>
    <p:sldId id="522" r:id="rId18"/>
    <p:sldId id="523" r:id="rId19"/>
    <p:sldId id="468" r:id="rId20"/>
    <p:sldId id="469" r:id="rId21"/>
    <p:sldId id="524" r:id="rId22"/>
    <p:sldId id="513" r:id="rId23"/>
    <p:sldId id="52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8" d="100"/>
          <a:sy n="68" d="100"/>
        </p:scale>
        <p:origin x="616"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4/1/2021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4/1/2021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Hot Key</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697779378"/>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r>
              <a:rPr lang="en-US" altLang="zh-TW" spc="-1" dirty="0">
                <a:solidFill>
                  <a:srgbClr val="FFFFFF"/>
                </a:solidFill>
                <a:latin typeface="Segoe UI"/>
              </a:rPr>
              <a:t>Overview</a:t>
            </a:r>
          </a:p>
          <a:p>
            <a:r>
              <a:rPr lang="en-US" altLang="zh-TW" spc="-1" dirty="0">
                <a:solidFill>
                  <a:srgbClr val="FFFFFF"/>
                </a:solidFill>
                <a:latin typeface="Segoe UI"/>
              </a:rPr>
              <a:t>Related Files</a:t>
            </a:r>
          </a:p>
          <a:p>
            <a:r>
              <a:rPr lang="en-US" altLang="zh-TW" spc="-1" dirty="0">
                <a:solidFill>
                  <a:srgbClr val="FFFFFF"/>
                </a:solidFill>
                <a:latin typeface="Segoe UI"/>
              </a:rPr>
              <a:t>Customization Steps</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226420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2925107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9FE7DF-8924-4197-B38F-8ABA29E559A9}"/>
              </a:ext>
            </a:extLst>
          </p:cNvPr>
          <p:cNvSpPr>
            <a:spLocks noGrp="1"/>
          </p:cNvSpPr>
          <p:nvPr>
            <p:ph type="title"/>
          </p:nvPr>
        </p:nvSpPr>
        <p:spPr/>
        <p:txBody>
          <a:bodyPr/>
          <a:lstStyle/>
          <a:p>
            <a:r>
              <a:rPr lang="en-US" altLang="zh-TW" dirty="0"/>
              <a:t>Overview</a:t>
            </a:r>
            <a:endParaRPr lang="zh-TW" altLang="en-US" dirty="0"/>
          </a:p>
        </p:txBody>
      </p:sp>
      <p:sp>
        <p:nvSpPr>
          <p:cNvPr id="3" name="內容版面配置區 2">
            <a:extLst>
              <a:ext uri="{FF2B5EF4-FFF2-40B4-BE49-F238E27FC236}">
                <a16:creationId xmlns:a16="http://schemas.microsoft.com/office/drawing/2014/main" id="{9EE19B0A-6492-4B45-9A97-9ABAAE84D195}"/>
              </a:ext>
            </a:extLst>
          </p:cNvPr>
          <p:cNvSpPr>
            <a:spLocks noGrp="1"/>
          </p:cNvSpPr>
          <p:nvPr>
            <p:ph idx="1"/>
          </p:nvPr>
        </p:nvSpPr>
        <p:spPr/>
        <p:txBody>
          <a:bodyPr>
            <a:normAutofit/>
          </a:bodyPr>
          <a:lstStyle/>
          <a:p>
            <a:r>
              <a:rPr lang="en-US" altLang="zh-TW" dirty="0"/>
              <a:t>The BDS phase supports hot keys, which are combinations of one or more key strokes that cause a function to be called or an application to be launched.</a:t>
            </a:r>
          </a:p>
          <a:p>
            <a:r>
              <a:rPr lang="en-US" altLang="zh-TW" dirty="0">
                <a:ea typeface="新細明體" charset="-120"/>
              </a:rPr>
              <a:t>The hot keys can be specified in three ways:</a:t>
            </a:r>
          </a:p>
          <a:p>
            <a:pPr lvl="1"/>
            <a:r>
              <a:rPr lang="en-US" altLang="zh-TW" dirty="0">
                <a:solidFill>
                  <a:srgbClr val="0070C0"/>
                </a:solidFill>
                <a:ea typeface="新細明體" charset="-120"/>
              </a:rPr>
              <a:t>UEFI Hot Keys</a:t>
            </a:r>
            <a:endParaRPr lang="en-US" altLang="zh-TW" dirty="0">
              <a:ea typeface="新細明體" charset="-120"/>
            </a:endParaRPr>
          </a:p>
          <a:p>
            <a:pPr lvl="1"/>
            <a:r>
              <a:rPr lang="en-US" altLang="zh-TW" dirty="0">
                <a:solidFill>
                  <a:srgbClr val="0070C0"/>
                </a:solidFill>
                <a:ea typeface="新細明體" charset="-120"/>
              </a:rPr>
              <a:t>PCD Hot Keys</a:t>
            </a:r>
            <a:endParaRPr lang="en-US" altLang="zh-TW" dirty="0">
              <a:ea typeface="新細明體" charset="-120"/>
            </a:endParaRPr>
          </a:p>
          <a:p>
            <a:pPr lvl="1"/>
            <a:r>
              <a:rPr lang="en-US" altLang="zh-TW" dirty="0">
                <a:solidFill>
                  <a:srgbClr val="0070C0"/>
                </a:solidFill>
                <a:ea typeface="新細明體" charset="-120"/>
              </a:rPr>
              <a:t>Registered Hot Keys</a:t>
            </a:r>
          </a:p>
          <a:p>
            <a:r>
              <a:rPr lang="en-US" altLang="zh-TW" dirty="0">
                <a:solidFill>
                  <a:schemeClr val="tx2"/>
                </a:solidFill>
                <a:ea typeface="新細明體" charset="-120"/>
              </a:rPr>
              <a:t>The hot key detection is disabled while in pre-OS application (setup, dialogs), hot key function callbacks and before loading a boot application.</a:t>
            </a:r>
            <a:endParaRPr lang="zh-TW" altLang="en-US" dirty="0">
              <a:solidFill>
                <a:schemeClr val="tx2"/>
              </a:solidFill>
              <a:ea typeface="新細明體" charset="-120"/>
            </a:endParaRPr>
          </a:p>
        </p:txBody>
      </p:sp>
    </p:spTree>
    <p:extLst>
      <p:ext uri="{BB962C8B-B14F-4D97-AF65-F5344CB8AC3E}">
        <p14:creationId xmlns:p14="http://schemas.microsoft.com/office/powerpoint/2010/main" val="782654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B9FFBD-499E-437B-8213-BB738CF3581D}"/>
              </a:ext>
            </a:extLst>
          </p:cNvPr>
          <p:cNvSpPr>
            <a:spLocks noGrp="1"/>
          </p:cNvSpPr>
          <p:nvPr>
            <p:ph type="title"/>
          </p:nvPr>
        </p:nvSpPr>
        <p:spPr/>
        <p:txBody>
          <a:bodyPr/>
          <a:lstStyle/>
          <a:p>
            <a:r>
              <a:rPr lang="en-US" altLang="zh-TW" dirty="0"/>
              <a:t>UEFI Hot Keys</a:t>
            </a:r>
            <a:endParaRPr lang="zh-TW" altLang="en-US" dirty="0"/>
          </a:p>
        </p:txBody>
      </p:sp>
      <p:sp>
        <p:nvSpPr>
          <p:cNvPr id="3" name="內容版面配置區 2">
            <a:extLst>
              <a:ext uri="{FF2B5EF4-FFF2-40B4-BE49-F238E27FC236}">
                <a16:creationId xmlns:a16="http://schemas.microsoft.com/office/drawing/2014/main" id="{B8766D11-1D4D-4A10-8DEE-3714DAEE3ABF}"/>
              </a:ext>
            </a:extLst>
          </p:cNvPr>
          <p:cNvSpPr>
            <a:spLocks noGrp="1"/>
          </p:cNvSpPr>
          <p:nvPr>
            <p:ph idx="1"/>
          </p:nvPr>
        </p:nvSpPr>
        <p:spPr/>
        <p:txBody>
          <a:bodyPr>
            <a:normAutofit lnSpcReduction="10000"/>
          </a:bodyPr>
          <a:lstStyle/>
          <a:p>
            <a:r>
              <a:rPr lang="en-US" altLang="zh-TW" dirty="0">
                <a:solidFill>
                  <a:schemeClr val="tx2"/>
                </a:solidFill>
              </a:rPr>
              <a:t>The UEFI defined hot key mechanism, which allows a specific boot option to be selected when certain key sequences are detected.</a:t>
            </a:r>
          </a:p>
          <a:p>
            <a:r>
              <a:rPr lang="en-US" altLang="zh-TW" dirty="0">
                <a:solidFill>
                  <a:schemeClr val="tx2"/>
                </a:solidFill>
                <a:ea typeface="新細明體" charset="-120"/>
              </a:rPr>
              <a:t>These key sequences are stored in specification-defined variables </a:t>
            </a:r>
            <a:r>
              <a:rPr lang="en-US" altLang="zh-TW" b="1" dirty="0">
                <a:solidFill>
                  <a:srgbClr val="FF0000"/>
                </a:solidFill>
                <a:ea typeface="新細明體" charset="-120"/>
              </a:rPr>
              <a:t>Key####</a:t>
            </a:r>
            <a:r>
              <a:rPr lang="en-US" altLang="zh-TW" dirty="0">
                <a:solidFill>
                  <a:schemeClr val="tx2"/>
                </a:solidFill>
                <a:ea typeface="新細明體" charset="-120"/>
              </a:rPr>
              <a:t> that are associated with specific boot option variables.</a:t>
            </a:r>
          </a:p>
          <a:p>
            <a:r>
              <a:rPr lang="en-US" altLang="zh-TW" dirty="0">
                <a:solidFill>
                  <a:schemeClr val="tx2"/>
                </a:solidFill>
                <a:ea typeface="新細明體" charset="-120"/>
              </a:rPr>
              <a:t>Hot key detection stops when a boot option is launched and starts again when a boot option launch returns to the Boot Manager.</a:t>
            </a:r>
          </a:p>
          <a:p>
            <a:r>
              <a:rPr lang="en-US" altLang="zh-TW" dirty="0">
                <a:solidFill>
                  <a:schemeClr val="tx2"/>
                </a:solidFill>
                <a:ea typeface="新細明體" charset="-120"/>
              </a:rPr>
              <a:t>UEFI</a:t>
            </a:r>
            <a:r>
              <a:rPr lang="zh-TW" altLang="en-US" dirty="0">
                <a:solidFill>
                  <a:schemeClr val="tx2"/>
                </a:solidFill>
                <a:ea typeface="新細明體" charset="-120"/>
              </a:rPr>
              <a:t> </a:t>
            </a:r>
            <a:r>
              <a:rPr lang="en-US" altLang="zh-TW" dirty="0">
                <a:solidFill>
                  <a:schemeClr val="tx2"/>
                </a:solidFill>
                <a:ea typeface="新細明體" charset="-120"/>
              </a:rPr>
              <a:t>Hot Keys have a lower priority that</a:t>
            </a:r>
          </a:p>
          <a:p>
            <a:pPr marL="0" indent="0">
              <a:buNone/>
            </a:pPr>
            <a:r>
              <a:rPr lang="en-US" altLang="zh-TW" dirty="0">
                <a:solidFill>
                  <a:schemeClr val="tx2"/>
                </a:solidFill>
                <a:ea typeface="新細明體" charset="-120"/>
              </a:rPr>
              <a:t>  </a:t>
            </a:r>
            <a:r>
              <a:rPr lang="en-US" altLang="zh-TW" dirty="0" err="1">
                <a:solidFill>
                  <a:schemeClr val="tx2"/>
                </a:solidFill>
                <a:ea typeface="新細明體" charset="-120"/>
              </a:rPr>
              <a:t>OsIndications</a:t>
            </a:r>
            <a:r>
              <a:rPr lang="en-US" altLang="zh-TW" dirty="0">
                <a:solidFill>
                  <a:schemeClr val="tx2"/>
                </a:solidFill>
                <a:ea typeface="新細明體" charset="-120"/>
              </a:rPr>
              <a:t> UI bit and </a:t>
            </a:r>
            <a:r>
              <a:rPr lang="en-US" altLang="zh-TW" dirty="0" err="1">
                <a:solidFill>
                  <a:schemeClr val="tx2"/>
                </a:solidFill>
                <a:ea typeface="新細明體" charset="-120"/>
              </a:rPr>
              <a:t>BootNext</a:t>
            </a:r>
            <a:r>
              <a:rPr lang="en-US" altLang="zh-TW" dirty="0">
                <a:solidFill>
                  <a:schemeClr val="tx2"/>
                </a:solidFill>
                <a:ea typeface="新細明體" charset="-120"/>
              </a:rPr>
              <a:t>.</a:t>
            </a:r>
            <a:endParaRPr lang="zh-TW" altLang="en-US" dirty="0">
              <a:solidFill>
                <a:schemeClr val="tx2"/>
              </a:solidFill>
              <a:ea typeface="新細明體" charset="-120"/>
            </a:endParaRPr>
          </a:p>
        </p:txBody>
      </p:sp>
      <p:pic>
        <p:nvPicPr>
          <p:cNvPr id="5" name="圖片 4">
            <a:extLst>
              <a:ext uri="{FF2B5EF4-FFF2-40B4-BE49-F238E27FC236}">
                <a16:creationId xmlns:a16="http://schemas.microsoft.com/office/drawing/2014/main" id="{02F57B1D-DF02-400A-9506-838C42256521}"/>
              </a:ext>
            </a:extLst>
          </p:cNvPr>
          <p:cNvPicPr>
            <a:picLocks noChangeAspect="1"/>
          </p:cNvPicPr>
          <p:nvPr/>
        </p:nvPicPr>
        <p:blipFill>
          <a:blip r:embed="rId2"/>
          <a:stretch>
            <a:fillRect/>
          </a:stretch>
        </p:blipFill>
        <p:spPr>
          <a:xfrm>
            <a:off x="7870506" y="4530227"/>
            <a:ext cx="4238625" cy="1533525"/>
          </a:xfrm>
          <a:prstGeom prst="rect">
            <a:avLst/>
          </a:prstGeom>
          <a:ln w="28575">
            <a:solidFill>
              <a:schemeClr val="tx1"/>
            </a:solidFill>
          </a:ln>
        </p:spPr>
      </p:pic>
    </p:spTree>
    <p:extLst>
      <p:ext uri="{BB962C8B-B14F-4D97-AF65-F5344CB8AC3E}">
        <p14:creationId xmlns:p14="http://schemas.microsoft.com/office/powerpoint/2010/main" val="3380142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CAF47F-8202-4B6F-A48C-90AE456921F7}"/>
              </a:ext>
            </a:extLst>
          </p:cNvPr>
          <p:cNvSpPr>
            <a:spLocks noGrp="1"/>
          </p:cNvSpPr>
          <p:nvPr>
            <p:ph type="title"/>
          </p:nvPr>
        </p:nvSpPr>
        <p:spPr/>
        <p:txBody>
          <a:bodyPr/>
          <a:lstStyle/>
          <a:p>
            <a:r>
              <a:rPr lang="en-US" altLang="zh-TW" dirty="0"/>
              <a:t>PCD Hot Keys</a:t>
            </a:r>
            <a:endParaRPr lang="zh-TW" altLang="en-US" dirty="0"/>
          </a:p>
        </p:txBody>
      </p:sp>
      <p:sp>
        <p:nvSpPr>
          <p:cNvPr id="3" name="內容版面配置區 2">
            <a:extLst>
              <a:ext uri="{FF2B5EF4-FFF2-40B4-BE49-F238E27FC236}">
                <a16:creationId xmlns:a16="http://schemas.microsoft.com/office/drawing/2014/main" id="{0566ED96-8470-400E-A7B1-A0E8E65BF56B}"/>
              </a:ext>
            </a:extLst>
          </p:cNvPr>
          <p:cNvSpPr>
            <a:spLocks noGrp="1"/>
          </p:cNvSpPr>
          <p:nvPr>
            <p:ph idx="1"/>
          </p:nvPr>
        </p:nvSpPr>
        <p:spPr>
          <a:xfrm>
            <a:off x="838200" y="1398494"/>
            <a:ext cx="10612772" cy="4778469"/>
          </a:xfrm>
        </p:spPr>
        <p:txBody>
          <a:bodyPr>
            <a:normAutofit/>
          </a:bodyPr>
          <a:lstStyle/>
          <a:p>
            <a:r>
              <a:rPr lang="en-US" altLang="zh-TW" dirty="0">
                <a:solidFill>
                  <a:schemeClr val="tx2"/>
                </a:solidFill>
              </a:rPr>
              <a:t>The </a:t>
            </a:r>
            <a:r>
              <a:rPr lang="en-US" altLang="zh-TW" dirty="0" err="1">
                <a:solidFill>
                  <a:schemeClr val="tx2"/>
                </a:solidFill>
              </a:rPr>
              <a:t>Insyde</a:t>
            </a:r>
            <a:r>
              <a:rPr lang="en-US" altLang="zh-TW" dirty="0">
                <a:solidFill>
                  <a:schemeClr val="tx2"/>
                </a:solidFill>
              </a:rPr>
              <a:t> supports registered hot keys, which allow a function to be called when certain key sequences are detected.</a:t>
            </a:r>
          </a:p>
          <a:p>
            <a:r>
              <a:rPr lang="en-US" altLang="zh-TW" dirty="0">
                <a:solidFill>
                  <a:schemeClr val="tx2"/>
                </a:solidFill>
                <a:ea typeface="新細明體" charset="-120"/>
              </a:rPr>
              <a:t>These key sequences are stored in PCDs (</a:t>
            </a:r>
            <a:r>
              <a:rPr lang="en-US" altLang="zh-TW" b="1" dirty="0">
                <a:solidFill>
                  <a:srgbClr val="FF0000"/>
                </a:solidFill>
                <a:ea typeface="新細明體" charset="-120"/>
              </a:rPr>
              <a:t>PcdH2OHotKeyXXXX</a:t>
            </a:r>
            <a:r>
              <a:rPr lang="en-US" altLang="zh-TW" dirty="0">
                <a:solidFill>
                  <a:schemeClr val="tx2"/>
                </a:solidFill>
                <a:ea typeface="新細明體" charset="-120"/>
              </a:rPr>
              <a:t>) that share a common token space GUID (</a:t>
            </a:r>
            <a:r>
              <a:rPr lang="en-US" altLang="zh-TW" b="1" dirty="0">
                <a:solidFill>
                  <a:srgbClr val="FF0000"/>
                </a:solidFill>
                <a:ea typeface="新細明體" charset="-120"/>
              </a:rPr>
              <a:t>gH2OBdsHotKeyGuid</a:t>
            </a:r>
            <a:r>
              <a:rPr lang="en-US" altLang="zh-TW" dirty="0">
                <a:solidFill>
                  <a:schemeClr val="tx2"/>
                </a:solidFill>
                <a:ea typeface="新細明體" charset="-120"/>
              </a:rPr>
              <a:t>).</a:t>
            </a:r>
          </a:p>
          <a:p>
            <a:r>
              <a:rPr lang="en-US" altLang="zh-TW" dirty="0">
                <a:solidFill>
                  <a:schemeClr val="tx2"/>
                </a:solidFill>
                <a:ea typeface="新細明體" charset="-120"/>
              </a:rPr>
              <a:t>The hot key are processed in a similar fashion to those for UEFI hot keys except that:</a:t>
            </a:r>
            <a:r>
              <a:rPr lang="zh-TW" altLang="en-US" dirty="0">
                <a:solidFill>
                  <a:schemeClr val="tx2"/>
                </a:solidFill>
                <a:ea typeface="新細明體" charset="-120"/>
              </a:rPr>
              <a:t> </a:t>
            </a:r>
            <a:endParaRPr lang="en-US" altLang="zh-TW" dirty="0">
              <a:solidFill>
                <a:schemeClr val="tx2"/>
              </a:solidFill>
              <a:ea typeface="新細明體" charset="-120"/>
            </a:endParaRPr>
          </a:p>
          <a:p>
            <a:pPr lvl="1"/>
            <a:r>
              <a:rPr lang="en-US" altLang="zh-TW" dirty="0">
                <a:solidFill>
                  <a:schemeClr val="tx2"/>
                </a:solidFill>
                <a:ea typeface="新細明體" charset="-120"/>
              </a:rPr>
              <a:t>There is one additional check after </a:t>
            </a:r>
            <a:r>
              <a:rPr lang="en-US" altLang="zh-TW" dirty="0" err="1">
                <a:solidFill>
                  <a:schemeClr val="tx2"/>
                </a:solidFill>
                <a:ea typeface="新細明體" charset="-120"/>
              </a:rPr>
              <a:t>BootNext</a:t>
            </a:r>
            <a:r>
              <a:rPr lang="en-US" altLang="zh-TW" dirty="0">
                <a:solidFill>
                  <a:schemeClr val="tx2"/>
                </a:solidFill>
                <a:ea typeface="新細明體" charset="-120"/>
              </a:rPr>
              <a:t> and </a:t>
            </a:r>
            <a:r>
              <a:rPr lang="en-US" altLang="zh-TW" dirty="0" err="1">
                <a:solidFill>
                  <a:schemeClr val="tx2"/>
                </a:solidFill>
                <a:ea typeface="新細明體" charset="-120"/>
              </a:rPr>
              <a:t>OsIndications</a:t>
            </a:r>
            <a:r>
              <a:rPr lang="en-US" altLang="zh-TW" dirty="0">
                <a:solidFill>
                  <a:schemeClr val="tx2"/>
                </a:solidFill>
                <a:ea typeface="新細明體" charset="-120"/>
              </a:rPr>
              <a:t> are read but before </a:t>
            </a:r>
            <a:r>
              <a:rPr lang="en-US" altLang="zh-TW" dirty="0" err="1">
                <a:solidFill>
                  <a:schemeClr val="tx2"/>
                </a:solidFill>
                <a:ea typeface="新細明體" charset="-120"/>
              </a:rPr>
              <a:t>BootNext</a:t>
            </a:r>
            <a:r>
              <a:rPr lang="en-US" altLang="zh-TW" dirty="0">
                <a:solidFill>
                  <a:schemeClr val="tx2"/>
                </a:solidFill>
                <a:ea typeface="新細明體" charset="-120"/>
              </a:rPr>
              <a:t> or </a:t>
            </a:r>
            <a:r>
              <a:rPr lang="en-US" altLang="zh-TW" dirty="0" err="1">
                <a:solidFill>
                  <a:schemeClr val="tx2"/>
                </a:solidFill>
                <a:ea typeface="新細明體" charset="-120"/>
              </a:rPr>
              <a:t>OsIndications</a:t>
            </a:r>
            <a:r>
              <a:rPr lang="en-US" altLang="zh-TW" dirty="0">
                <a:solidFill>
                  <a:schemeClr val="tx2"/>
                </a:solidFill>
                <a:ea typeface="新細明體" charset="-120"/>
              </a:rPr>
              <a:t> are checked.</a:t>
            </a:r>
          </a:p>
          <a:p>
            <a:pPr lvl="1"/>
            <a:r>
              <a:rPr lang="en-US" altLang="zh-TW" dirty="0">
                <a:solidFill>
                  <a:schemeClr val="tx2"/>
                </a:solidFill>
                <a:ea typeface="新細明體" charset="-120"/>
              </a:rPr>
              <a:t>The Launch() function is called instead of loading a boot option.</a:t>
            </a:r>
          </a:p>
          <a:p>
            <a:r>
              <a:rPr lang="en-US" altLang="zh-TW" dirty="0">
                <a:solidFill>
                  <a:schemeClr val="tx2"/>
                </a:solidFill>
                <a:ea typeface="新細明體" charset="-120"/>
              </a:rPr>
              <a:t>Hot key detection stops before Launch() is called and re-started after Launch() return.</a:t>
            </a:r>
            <a:endParaRPr lang="zh-TW" altLang="en-US" dirty="0">
              <a:solidFill>
                <a:schemeClr val="tx2"/>
              </a:solidFill>
              <a:ea typeface="新細明體" charset="-120"/>
            </a:endParaRPr>
          </a:p>
        </p:txBody>
      </p:sp>
      <p:sp>
        <p:nvSpPr>
          <p:cNvPr id="5" name="矩形 4">
            <a:extLst>
              <a:ext uri="{FF2B5EF4-FFF2-40B4-BE49-F238E27FC236}">
                <a16:creationId xmlns:a16="http://schemas.microsoft.com/office/drawing/2014/main" id="{EA78D402-A43A-4A86-A320-8F297246D9E1}"/>
              </a:ext>
            </a:extLst>
          </p:cNvPr>
          <p:cNvSpPr/>
          <p:nvPr/>
        </p:nvSpPr>
        <p:spPr>
          <a:xfrm>
            <a:off x="9469780" y="0"/>
            <a:ext cx="2722220" cy="369332"/>
          </a:xfrm>
          <a:prstGeom prst="rect">
            <a:avLst/>
          </a:prstGeom>
        </p:spPr>
        <p:txBody>
          <a:bodyPr wrap="none">
            <a:spAutoFit/>
          </a:bodyPr>
          <a:lstStyle/>
          <a:p>
            <a:r>
              <a:rPr lang="en-US" altLang="zh-TW" b="1" dirty="0">
                <a:solidFill>
                  <a:srgbClr val="FF0000"/>
                </a:solidFill>
                <a:latin typeface="Verdana" panose="020B0604030504040204" pitchFamily="34" charset="0"/>
                <a:ea typeface="新細明體" panose="02020500000000000000" pitchFamily="18" charset="-120"/>
                <a:cs typeface="Times New Roman" panose="02020603050405020304" pitchFamily="18" charset="0"/>
              </a:rPr>
              <a:t>InsydeH2O-specific</a:t>
            </a:r>
            <a:endParaRPr lang="zh-TW" altLang="en-US" dirty="0">
              <a:solidFill>
                <a:srgbClr val="FF0000"/>
              </a:solidFill>
            </a:endParaRPr>
          </a:p>
        </p:txBody>
      </p:sp>
    </p:spTree>
    <p:extLst>
      <p:ext uri="{BB962C8B-B14F-4D97-AF65-F5344CB8AC3E}">
        <p14:creationId xmlns:p14="http://schemas.microsoft.com/office/powerpoint/2010/main" val="4188025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CAF47F-8202-4B6F-A48C-90AE456921F7}"/>
              </a:ext>
            </a:extLst>
          </p:cNvPr>
          <p:cNvSpPr>
            <a:spLocks noGrp="1"/>
          </p:cNvSpPr>
          <p:nvPr>
            <p:ph type="title"/>
          </p:nvPr>
        </p:nvSpPr>
        <p:spPr/>
        <p:txBody>
          <a:bodyPr/>
          <a:lstStyle/>
          <a:p>
            <a:r>
              <a:rPr lang="en-US" altLang="zh-TW" dirty="0"/>
              <a:t>PCD Hot Keys</a:t>
            </a:r>
            <a:endParaRPr lang="zh-TW" altLang="en-US" dirty="0"/>
          </a:p>
        </p:txBody>
      </p:sp>
      <p:sp>
        <p:nvSpPr>
          <p:cNvPr id="3" name="內容版面配置區 2">
            <a:extLst>
              <a:ext uri="{FF2B5EF4-FFF2-40B4-BE49-F238E27FC236}">
                <a16:creationId xmlns:a16="http://schemas.microsoft.com/office/drawing/2014/main" id="{0566ED96-8470-400E-A7B1-A0E8E65BF56B}"/>
              </a:ext>
            </a:extLst>
          </p:cNvPr>
          <p:cNvSpPr>
            <a:spLocks noGrp="1"/>
          </p:cNvSpPr>
          <p:nvPr>
            <p:ph idx="1"/>
          </p:nvPr>
        </p:nvSpPr>
        <p:spPr>
          <a:xfrm>
            <a:off x="838200" y="1398494"/>
            <a:ext cx="10612772" cy="4778469"/>
          </a:xfrm>
        </p:spPr>
        <p:txBody>
          <a:bodyPr>
            <a:normAutofit/>
          </a:bodyPr>
          <a:lstStyle/>
          <a:p>
            <a:r>
              <a:rPr lang="en-US" altLang="zh-TW" b="1" dirty="0">
                <a:solidFill>
                  <a:srgbClr val="FF0000"/>
                </a:solidFill>
                <a:ea typeface="新細明體" charset="-120"/>
              </a:rPr>
              <a:t>PcdH2OHotKeyXXXX</a:t>
            </a:r>
            <a:endParaRPr lang="en-US" altLang="zh-TW" b="1" dirty="0">
              <a:solidFill>
                <a:schemeClr val="tx2"/>
              </a:solidFill>
              <a:ea typeface="新細明體" charset="-120"/>
            </a:endParaRPr>
          </a:p>
          <a:p>
            <a:pPr lvl="1"/>
            <a:r>
              <a:rPr lang="en-US" altLang="zh-TW" dirty="0">
                <a:solidFill>
                  <a:schemeClr val="tx2"/>
                </a:solidFill>
                <a:ea typeface="新細明體" charset="-120"/>
              </a:rPr>
              <a:t>These PCDs are all within the token space identified by the gH2OBdsHotKeyGuid.</a:t>
            </a:r>
          </a:p>
          <a:p>
            <a:pPr lvl="1"/>
            <a:r>
              <a:rPr lang="en-US" altLang="zh-TW" dirty="0">
                <a:solidFill>
                  <a:schemeClr val="tx2"/>
                </a:solidFill>
                <a:ea typeface="新細明體" charset="-120"/>
              </a:rPr>
              <a:t>All of the PCDs are of the </a:t>
            </a:r>
            <a:r>
              <a:rPr lang="en-US" altLang="zh-TW" b="1" dirty="0" err="1">
                <a:solidFill>
                  <a:srgbClr val="0070C0"/>
                </a:solidFill>
                <a:ea typeface="新細明體" charset="-120"/>
              </a:rPr>
              <a:t>DynamicEx</a:t>
            </a:r>
            <a:r>
              <a:rPr lang="en-US" altLang="zh-TW" dirty="0">
                <a:solidFill>
                  <a:schemeClr val="tx2"/>
                </a:solidFill>
                <a:ea typeface="新細明體" charset="-120"/>
              </a:rPr>
              <a:t> access type.</a:t>
            </a:r>
          </a:p>
          <a:p>
            <a:pPr lvl="1"/>
            <a:r>
              <a:rPr lang="en-US" altLang="zh-TW" dirty="0">
                <a:solidFill>
                  <a:schemeClr val="tx2"/>
                </a:solidFill>
                <a:ea typeface="新細明體" charset="-120"/>
              </a:rPr>
              <a:t>GUID</a:t>
            </a:r>
          </a:p>
          <a:p>
            <a:pPr lvl="1"/>
            <a:endParaRPr lang="en-US" altLang="zh-TW" dirty="0">
              <a:solidFill>
                <a:schemeClr val="tx2"/>
              </a:solidFill>
              <a:ea typeface="新細明體" charset="-120"/>
            </a:endParaRPr>
          </a:p>
          <a:p>
            <a:pPr lvl="1"/>
            <a:endParaRPr lang="en-US" altLang="zh-TW" dirty="0">
              <a:solidFill>
                <a:schemeClr val="tx2"/>
              </a:solidFill>
              <a:ea typeface="新細明體" charset="-120"/>
            </a:endParaRPr>
          </a:p>
          <a:p>
            <a:pPr lvl="1"/>
            <a:endParaRPr lang="en-US" altLang="zh-TW" dirty="0">
              <a:solidFill>
                <a:schemeClr val="tx2"/>
              </a:solidFill>
              <a:ea typeface="新細明體" charset="-120"/>
            </a:endParaRPr>
          </a:p>
          <a:p>
            <a:pPr lvl="1"/>
            <a:endParaRPr lang="en-US" altLang="zh-TW" dirty="0">
              <a:solidFill>
                <a:schemeClr val="tx2"/>
              </a:solidFill>
              <a:ea typeface="新細明體" charset="-120"/>
            </a:endParaRPr>
          </a:p>
          <a:p>
            <a:pPr lvl="1"/>
            <a:r>
              <a:rPr lang="en-US" altLang="zh-TW" dirty="0">
                <a:solidFill>
                  <a:schemeClr val="tx2"/>
                </a:solidFill>
                <a:ea typeface="新細明體" charset="-120"/>
              </a:rPr>
              <a:t>Prototype</a:t>
            </a:r>
            <a:endParaRPr lang="zh-TW" altLang="en-US" dirty="0">
              <a:solidFill>
                <a:schemeClr val="tx2"/>
              </a:solidFill>
              <a:ea typeface="新細明體" charset="-120"/>
            </a:endParaRPr>
          </a:p>
        </p:txBody>
      </p:sp>
      <p:sp>
        <p:nvSpPr>
          <p:cNvPr id="5" name="矩形 4">
            <a:extLst>
              <a:ext uri="{FF2B5EF4-FFF2-40B4-BE49-F238E27FC236}">
                <a16:creationId xmlns:a16="http://schemas.microsoft.com/office/drawing/2014/main" id="{EA78D402-A43A-4A86-A320-8F297246D9E1}"/>
              </a:ext>
            </a:extLst>
          </p:cNvPr>
          <p:cNvSpPr/>
          <p:nvPr/>
        </p:nvSpPr>
        <p:spPr>
          <a:xfrm>
            <a:off x="9469780" y="0"/>
            <a:ext cx="2722220" cy="369332"/>
          </a:xfrm>
          <a:prstGeom prst="rect">
            <a:avLst/>
          </a:prstGeom>
        </p:spPr>
        <p:txBody>
          <a:bodyPr wrap="none">
            <a:spAutoFit/>
          </a:bodyPr>
          <a:lstStyle/>
          <a:p>
            <a:r>
              <a:rPr lang="en-US" altLang="zh-TW" b="1" dirty="0">
                <a:solidFill>
                  <a:srgbClr val="FF0000"/>
                </a:solidFill>
                <a:latin typeface="Verdana" panose="020B0604030504040204" pitchFamily="34" charset="0"/>
                <a:ea typeface="新細明體" panose="02020500000000000000" pitchFamily="18" charset="-120"/>
                <a:cs typeface="Times New Roman" panose="02020603050405020304" pitchFamily="18" charset="0"/>
              </a:rPr>
              <a:t>InsydeH2O-specific</a:t>
            </a:r>
            <a:endParaRPr lang="zh-TW" altLang="en-US" dirty="0">
              <a:solidFill>
                <a:srgbClr val="FF0000"/>
              </a:solidFill>
            </a:endParaRPr>
          </a:p>
        </p:txBody>
      </p:sp>
      <p:pic>
        <p:nvPicPr>
          <p:cNvPr id="4" name="圖片 3">
            <a:extLst>
              <a:ext uri="{FF2B5EF4-FFF2-40B4-BE49-F238E27FC236}">
                <a16:creationId xmlns:a16="http://schemas.microsoft.com/office/drawing/2014/main" id="{3EDF6708-F80A-4711-9A6B-BC47AC10DA7F}"/>
              </a:ext>
            </a:extLst>
          </p:cNvPr>
          <p:cNvPicPr>
            <a:picLocks noChangeAspect="1"/>
          </p:cNvPicPr>
          <p:nvPr/>
        </p:nvPicPr>
        <p:blipFill>
          <a:blip r:embed="rId2"/>
          <a:stretch>
            <a:fillRect/>
          </a:stretch>
        </p:blipFill>
        <p:spPr>
          <a:xfrm>
            <a:off x="2551130" y="3010982"/>
            <a:ext cx="5305425" cy="1504950"/>
          </a:xfrm>
          <a:prstGeom prst="rect">
            <a:avLst/>
          </a:prstGeom>
        </p:spPr>
      </p:pic>
      <p:pic>
        <p:nvPicPr>
          <p:cNvPr id="8" name="圖片 7">
            <a:extLst>
              <a:ext uri="{FF2B5EF4-FFF2-40B4-BE49-F238E27FC236}">
                <a16:creationId xmlns:a16="http://schemas.microsoft.com/office/drawing/2014/main" id="{5EA0FEE5-2B73-42B8-8A4B-080EF10B3B75}"/>
              </a:ext>
            </a:extLst>
          </p:cNvPr>
          <p:cNvPicPr>
            <a:picLocks noChangeAspect="1"/>
          </p:cNvPicPr>
          <p:nvPr/>
        </p:nvPicPr>
        <p:blipFill>
          <a:blip r:embed="rId3"/>
          <a:stretch>
            <a:fillRect/>
          </a:stretch>
        </p:blipFill>
        <p:spPr>
          <a:xfrm>
            <a:off x="3079637" y="5022124"/>
            <a:ext cx="3467100" cy="1466850"/>
          </a:xfrm>
          <a:prstGeom prst="rect">
            <a:avLst/>
          </a:prstGeom>
        </p:spPr>
      </p:pic>
    </p:spTree>
    <p:extLst>
      <p:ext uri="{BB962C8B-B14F-4D97-AF65-F5344CB8AC3E}">
        <p14:creationId xmlns:p14="http://schemas.microsoft.com/office/powerpoint/2010/main" val="2936850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CAF47F-8202-4B6F-A48C-90AE456921F7}"/>
              </a:ext>
            </a:extLst>
          </p:cNvPr>
          <p:cNvSpPr>
            <a:spLocks noGrp="1"/>
          </p:cNvSpPr>
          <p:nvPr>
            <p:ph type="title"/>
          </p:nvPr>
        </p:nvSpPr>
        <p:spPr/>
        <p:txBody>
          <a:bodyPr/>
          <a:lstStyle/>
          <a:p>
            <a:r>
              <a:rPr lang="en-US" altLang="zh-TW" dirty="0"/>
              <a:t>PCD Hot Keys</a:t>
            </a:r>
            <a:endParaRPr lang="zh-TW" altLang="en-US" dirty="0"/>
          </a:p>
        </p:txBody>
      </p:sp>
      <p:sp>
        <p:nvSpPr>
          <p:cNvPr id="3" name="內容版面配置區 2">
            <a:extLst>
              <a:ext uri="{FF2B5EF4-FFF2-40B4-BE49-F238E27FC236}">
                <a16:creationId xmlns:a16="http://schemas.microsoft.com/office/drawing/2014/main" id="{0566ED96-8470-400E-A7B1-A0E8E65BF56B}"/>
              </a:ext>
            </a:extLst>
          </p:cNvPr>
          <p:cNvSpPr>
            <a:spLocks noGrp="1"/>
          </p:cNvSpPr>
          <p:nvPr>
            <p:ph idx="1"/>
          </p:nvPr>
        </p:nvSpPr>
        <p:spPr>
          <a:xfrm>
            <a:off x="838200" y="1398494"/>
            <a:ext cx="10612772" cy="4778469"/>
          </a:xfrm>
        </p:spPr>
        <p:txBody>
          <a:bodyPr>
            <a:normAutofit/>
          </a:bodyPr>
          <a:lstStyle/>
          <a:p>
            <a:r>
              <a:rPr lang="en-US" altLang="zh-TW" b="1" dirty="0">
                <a:solidFill>
                  <a:srgbClr val="FF0000"/>
                </a:solidFill>
                <a:ea typeface="新細明體" charset="-120"/>
              </a:rPr>
              <a:t>PcdH2OHotKeyXXXXDesc</a:t>
            </a:r>
            <a:endParaRPr lang="en-US" altLang="zh-TW" b="1" dirty="0">
              <a:solidFill>
                <a:schemeClr val="tx2"/>
              </a:solidFill>
              <a:ea typeface="新細明體" charset="-120"/>
            </a:endParaRPr>
          </a:p>
          <a:p>
            <a:pPr lvl="1"/>
            <a:r>
              <a:rPr lang="en-US" altLang="zh-TW" dirty="0">
                <a:solidFill>
                  <a:schemeClr val="tx2"/>
                </a:solidFill>
                <a:ea typeface="新細明體" charset="-120"/>
              </a:rPr>
              <a:t>These optional PCDs are all within the token space identified by the H2OBdsHotKeyDescGuid.</a:t>
            </a:r>
          </a:p>
          <a:p>
            <a:pPr lvl="1"/>
            <a:r>
              <a:rPr lang="en-US" altLang="zh-TW" dirty="0">
                <a:solidFill>
                  <a:schemeClr val="tx2"/>
                </a:solidFill>
                <a:ea typeface="新細明體" charset="-120"/>
              </a:rPr>
              <a:t>All of the PCDs are of the </a:t>
            </a:r>
            <a:r>
              <a:rPr lang="en-US" altLang="zh-TW" b="1" dirty="0" err="1">
                <a:solidFill>
                  <a:srgbClr val="0070C0"/>
                </a:solidFill>
                <a:ea typeface="新細明體" charset="-120"/>
              </a:rPr>
              <a:t>DynamicEx</a:t>
            </a:r>
            <a:r>
              <a:rPr lang="en-US" altLang="zh-TW" dirty="0">
                <a:solidFill>
                  <a:schemeClr val="tx2"/>
                </a:solidFill>
                <a:ea typeface="新細明體" charset="-120"/>
              </a:rPr>
              <a:t> access type.</a:t>
            </a:r>
          </a:p>
          <a:p>
            <a:pPr lvl="1"/>
            <a:r>
              <a:rPr lang="en-US" altLang="zh-TW" dirty="0">
                <a:solidFill>
                  <a:schemeClr val="tx2"/>
                </a:solidFill>
                <a:ea typeface="新細明體" charset="-120"/>
              </a:rPr>
              <a:t>GUID</a:t>
            </a:r>
          </a:p>
          <a:p>
            <a:pPr lvl="1"/>
            <a:endParaRPr lang="en-US" altLang="zh-TW" dirty="0">
              <a:solidFill>
                <a:schemeClr val="tx2"/>
              </a:solidFill>
              <a:ea typeface="新細明體" charset="-120"/>
            </a:endParaRPr>
          </a:p>
          <a:p>
            <a:pPr lvl="1"/>
            <a:endParaRPr lang="en-US" altLang="zh-TW" dirty="0">
              <a:solidFill>
                <a:schemeClr val="tx2"/>
              </a:solidFill>
              <a:ea typeface="新細明體" charset="-120"/>
            </a:endParaRPr>
          </a:p>
          <a:p>
            <a:pPr lvl="1"/>
            <a:endParaRPr lang="en-US" altLang="zh-TW" dirty="0">
              <a:solidFill>
                <a:schemeClr val="tx2"/>
              </a:solidFill>
              <a:ea typeface="新細明體" charset="-120"/>
            </a:endParaRPr>
          </a:p>
          <a:p>
            <a:pPr lvl="1"/>
            <a:r>
              <a:rPr lang="en-US" altLang="zh-TW" dirty="0">
                <a:solidFill>
                  <a:schemeClr val="tx2"/>
                </a:solidFill>
                <a:ea typeface="新細明體" charset="-120"/>
              </a:rPr>
              <a:t>Description: This description of PCDs are used when not in Quiet mode.</a:t>
            </a:r>
          </a:p>
          <a:p>
            <a:pPr lvl="2"/>
            <a:r>
              <a:rPr lang="en-US" sz="1800" b="1" dirty="0">
                <a:solidFill>
                  <a:srgbClr val="800000"/>
                </a:solidFill>
                <a:latin typeface="Courier"/>
                <a:ea typeface="新細明體" panose="02020500000000000000" pitchFamily="18" charset="-120"/>
                <a:cs typeface="Times New Roman" panose="02020603050405020304" pitchFamily="18" charset="0"/>
              </a:rPr>
              <a:t>format : </a:t>
            </a:r>
            <a:r>
              <a:rPr lang="en-US" sz="1800" b="1" dirty="0" err="1">
                <a:solidFill>
                  <a:srgbClr val="800000"/>
                </a:solidFill>
                <a:effectLst/>
                <a:latin typeface="Courier"/>
                <a:ea typeface="新細明體" panose="02020500000000000000" pitchFamily="18" charset="-120"/>
                <a:cs typeface="Times New Roman" panose="02020603050405020304" pitchFamily="18" charset="0"/>
              </a:rPr>
              <a:t>before-description;after-description</a:t>
            </a:r>
            <a:r>
              <a:rPr lang="en-US" sz="1800" b="1" dirty="0">
                <a:solidFill>
                  <a:srgbClr val="800000"/>
                </a:solidFill>
                <a:effectLst/>
                <a:latin typeface="Courier"/>
                <a:ea typeface="新細明體" panose="02020500000000000000" pitchFamily="18" charset="-120"/>
                <a:cs typeface="Times New Roman" panose="02020603050405020304" pitchFamily="18" charset="0"/>
              </a:rPr>
              <a:t>&lt;“;”keyword=value&gt;*</a:t>
            </a:r>
          </a:p>
          <a:p>
            <a:pPr lvl="3"/>
            <a:r>
              <a:rPr lang="en-US" sz="1600" b="1" dirty="0">
                <a:solidFill>
                  <a:srgbClr val="800000"/>
                </a:solidFill>
                <a:latin typeface="Courier"/>
                <a:ea typeface="新細明體" panose="02020500000000000000" pitchFamily="18" charset="-120"/>
                <a:cs typeface="Times New Roman" panose="02020603050405020304" pitchFamily="18" charset="0"/>
              </a:rPr>
              <a:t>Before-description : text to show before hotkey pressed</a:t>
            </a:r>
          </a:p>
          <a:p>
            <a:pPr lvl="3"/>
            <a:r>
              <a:rPr lang="en-US" sz="1600" b="1" dirty="0">
                <a:solidFill>
                  <a:srgbClr val="800000"/>
                </a:solidFill>
                <a:effectLst/>
                <a:latin typeface="Courier"/>
                <a:ea typeface="新細明體" panose="02020500000000000000" pitchFamily="18" charset="-120"/>
                <a:cs typeface="Times New Roman" panose="02020603050405020304" pitchFamily="18" charset="0"/>
              </a:rPr>
              <a:t>After-description : text to show after hotkey pressed</a:t>
            </a:r>
          </a:p>
          <a:p>
            <a:pPr lvl="3"/>
            <a:r>
              <a:rPr lang="en-US" sz="1600" b="1" dirty="0">
                <a:solidFill>
                  <a:srgbClr val="800000"/>
                </a:solidFill>
                <a:effectLst/>
                <a:latin typeface="Courier"/>
                <a:ea typeface="新細明體" panose="02020500000000000000" pitchFamily="18" charset="-120"/>
                <a:cs typeface="Times New Roman" panose="02020603050405020304" pitchFamily="18" charset="0"/>
              </a:rPr>
              <a:t>Keyword : attributes of hotkey’s description </a:t>
            </a:r>
          </a:p>
          <a:p>
            <a:pPr marL="914400" lvl="2" indent="0">
              <a:buNone/>
            </a:pPr>
            <a:endParaRPr lang="zh-TW" altLang="en-US" dirty="0">
              <a:solidFill>
                <a:schemeClr val="tx2"/>
              </a:solidFill>
              <a:ea typeface="新細明體" charset="-120"/>
            </a:endParaRPr>
          </a:p>
        </p:txBody>
      </p:sp>
      <p:sp>
        <p:nvSpPr>
          <p:cNvPr id="5" name="矩形 4">
            <a:extLst>
              <a:ext uri="{FF2B5EF4-FFF2-40B4-BE49-F238E27FC236}">
                <a16:creationId xmlns:a16="http://schemas.microsoft.com/office/drawing/2014/main" id="{EA78D402-A43A-4A86-A320-8F297246D9E1}"/>
              </a:ext>
            </a:extLst>
          </p:cNvPr>
          <p:cNvSpPr/>
          <p:nvPr/>
        </p:nvSpPr>
        <p:spPr>
          <a:xfrm>
            <a:off x="9469780" y="0"/>
            <a:ext cx="2722220" cy="369332"/>
          </a:xfrm>
          <a:prstGeom prst="rect">
            <a:avLst/>
          </a:prstGeom>
        </p:spPr>
        <p:txBody>
          <a:bodyPr wrap="none">
            <a:spAutoFit/>
          </a:bodyPr>
          <a:lstStyle/>
          <a:p>
            <a:r>
              <a:rPr lang="en-US" altLang="zh-TW" b="1" dirty="0">
                <a:solidFill>
                  <a:srgbClr val="FF0000"/>
                </a:solidFill>
                <a:latin typeface="Verdana" panose="020B0604030504040204" pitchFamily="34" charset="0"/>
                <a:ea typeface="新細明體" panose="02020500000000000000" pitchFamily="18" charset="-120"/>
                <a:cs typeface="Times New Roman" panose="02020603050405020304" pitchFamily="18" charset="0"/>
              </a:rPr>
              <a:t>InsydeH2O-specific</a:t>
            </a:r>
            <a:endParaRPr lang="zh-TW" altLang="en-US" dirty="0">
              <a:solidFill>
                <a:srgbClr val="FF0000"/>
              </a:solidFill>
            </a:endParaRPr>
          </a:p>
        </p:txBody>
      </p:sp>
      <p:pic>
        <p:nvPicPr>
          <p:cNvPr id="6" name="圖片 5">
            <a:extLst>
              <a:ext uri="{FF2B5EF4-FFF2-40B4-BE49-F238E27FC236}">
                <a16:creationId xmlns:a16="http://schemas.microsoft.com/office/drawing/2014/main" id="{68E0AB9D-3750-4999-A159-85EBB3C5D0D9}"/>
              </a:ext>
            </a:extLst>
          </p:cNvPr>
          <p:cNvPicPr>
            <a:picLocks noChangeAspect="1"/>
          </p:cNvPicPr>
          <p:nvPr/>
        </p:nvPicPr>
        <p:blipFill>
          <a:blip r:embed="rId2"/>
          <a:stretch>
            <a:fillRect/>
          </a:stretch>
        </p:blipFill>
        <p:spPr>
          <a:xfrm>
            <a:off x="2419068" y="3103832"/>
            <a:ext cx="4305300" cy="1367791"/>
          </a:xfrm>
          <a:prstGeom prst="rect">
            <a:avLst/>
          </a:prstGeom>
        </p:spPr>
      </p:pic>
    </p:spTree>
    <p:extLst>
      <p:ext uri="{BB962C8B-B14F-4D97-AF65-F5344CB8AC3E}">
        <p14:creationId xmlns:p14="http://schemas.microsoft.com/office/powerpoint/2010/main" val="1736704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CAF47F-8202-4B6F-A48C-90AE456921F7}"/>
              </a:ext>
            </a:extLst>
          </p:cNvPr>
          <p:cNvSpPr>
            <a:spLocks noGrp="1"/>
          </p:cNvSpPr>
          <p:nvPr>
            <p:ph type="title"/>
          </p:nvPr>
        </p:nvSpPr>
        <p:spPr/>
        <p:txBody>
          <a:bodyPr/>
          <a:lstStyle/>
          <a:p>
            <a:r>
              <a:rPr lang="en-US" altLang="zh-TW" dirty="0"/>
              <a:t>PCD Hot Keys</a:t>
            </a:r>
            <a:endParaRPr lang="zh-TW" altLang="en-US" dirty="0"/>
          </a:p>
        </p:txBody>
      </p:sp>
      <p:sp>
        <p:nvSpPr>
          <p:cNvPr id="3" name="內容版面配置區 2">
            <a:extLst>
              <a:ext uri="{FF2B5EF4-FFF2-40B4-BE49-F238E27FC236}">
                <a16:creationId xmlns:a16="http://schemas.microsoft.com/office/drawing/2014/main" id="{0566ED96-8470-400E-A7B1-A0E8E65BF56B}"/>
              </a:ext>
            </a:extLst>
          </p:cNvPr>
          <p:cNvSpPr>
            <a:spLocks noGrp="1"/>
          </p:cNvSpPr>
          <p:nvPr>
            <p:ph idx="1"/>
          </p:nvPr>
        </p:nvSpPr>
        <p:spPr>
          <a:xfrm>
            <a:off x="838200" y="1398494"/>
            <a:ext cx="11353800" cy="4778469"/>
          </a:xfrm>
        </p:spPr>
        <p:txBody>
          <a:bodyPr>
            <a:normAutofit/>
          </a:bodyPr>
          <a:lstStyle/>
          <a:p>
            <a:r>
              <a:rPr lang="en-US" altLang="zh-TW" b="1" dirty="0">
                <a:solidFill>
                  <a:srgbClr val="FF0000"/>
                </a:solidFill>
                <a:ea typeface="新細明體" charset="-120"/>
              </a:rPr>
              <a:t>PcdH2OHotKeyXXXXDescQuiet</a:t>
            </a:r>
            <a:endParaRPr lang="en-US" altLang="zh-TW" b="1" dirty="0">
              <a:solidFill>
                <a:schemeClr val="tx2"/>
              </a:solidFill>
              <a:ea typeface="新細明體" charset="-120"/>
            </a:endParaRPr>
          </a:p>
          <a:p>
            <a:pPr lvl="1"/>
            <a:r>
              <a:rPr lang="en-US" altLang="zh-TW" dirty="0">
                <a:solidFill>
                  <a:schemeClr val="tx2"/>
                </a:solidFill>
                <a:ea typeface="新細明體" charset="-120"/>
              </a:rPr>
              <a:t>These optional PCDs are all within the token space identified by the H2OBdsHotKeyDescGuid.</a:t>
            </a:r>
          </a:p>
          <a:p>
            <a:pPr lvl="1"/>
            <a:r>
              <a:rPr lang="en-US" altLang="zh-TW" dirty="0">
                <a:solidFill>
                  <a:schemeClr val="tx2"/>
                </a:solidFill>
                <a:ea typeface="新細明體" charset="-120"/>
              </a:rPr>
              <a:t>All of the PCDs are of the </a:t>
            </a:r>
            <a:r>
              <a:rPr lang="en-US" altLang="zh-TW" b="1" dirty="0" err="1">
                <a:solidFill>
                  <a:srgbClr val="0070C0"/>
                </a:solidFill>
                <a:ea typeface="新細明體" charset="-120"/>
              </a:rPr>
              <a:t>DynamicEx</a:t>
            </a:r>
            <a:r>
              <a:rPr lang="en-US" altLang="zh-TW" dirty="0">
                <a:solidFill>
                  <a:schemeClr val="tx2"/>
                </a:solidFill>
                <a:ea typeface="新細明體" charset="-120"/>
              </a:rPr>
              <a:t> access type.</a:t>
            </a:r>
          </a:p>
          <a:p>
            <a:pPr lvl="1"/>
            <a:r>
              <a:rPr lang="en-US" altLang="zh-TW" dirty="0">
                <a:solidFill>
                  <a:schemeClr val="tx2"/>
                </a:solidFill>
                <a:ea typeface="新細明體" charset="-120"/>
              </a:rPr>
              <a:t>GUID</a:t>
            </a:r>
          </a:p>
          <a:p>
            <a:pPr lvl="1"/>
            <a:endParaRPr lang="en-US" altLang="zh-TW" dirty="0">
              <a:solidFill>
                <a:schemeClr val="tx2"/>
              </a:solidFill>
              <a:ea typeface="新細明體" charset="-120"/>
            </a:endParaRPr>
          </a:p>
          <a:p>
            <a:pPr lvl="1"/>
            <a:endParaRPr lang="en-US" altLang="zh-TW" dirty="0">
              <a:solidFill>
                <a:schemeClr val="tx2"/>
              </a:solidFill>
              <a:ea typeface="新細明體" charset="-120"/>
            </a:endParaRPr>
          </a:p>
          <a:p>
            <a:pPr lvl="1"/>
            <a:endParaRPr lang="en-US" altLang="zh-TW" dirty="0">
              <a:solidFill>
                <a:schemeClr val="tx2"/>
              </a:solidFill>
              <a:ea typeface="新細明體" charset="-120"/>
            </a:endParaRPr>
          </a:p>
          <a:p>
            <a:pPr lvl="1"/>
            <a:r>
              <a:rPr lang="en-US" altLang="zh-TW" dirty="0">
                <a:solidFill>
                  <a:schemeClr val="tx2"/>
                </a:solidFill>
                <a:ea typeface="新細明體" charset="-120"/>
              </a:rPr>
              <a:t>Description: This description of PCDs are used in Quiet mode.</a:t>
            </a:r>
          </a:p>
          <a:p>
            <a:pPr lvl="2"/>
            <a:r>
              <a:rPr lang="en-US" sz="1800" b="1" dirty="0">
                <a:solidFill>
                  <a:srgbClr val="800000"/>
                </a:solidFill>
                <a:latin typeface="Courier"/>
                <a:ea typeface="新細明體" panose="02020500000000000000" pitchFamily="18" charset="-120"/>
                <a:cs typeface="Times New Roman" panose="02020603050405020304" pitchFamily="18" charset="0"/>
              </a:rPr>
              <a:t>format : </a:t>
            </a:r>
            <a:r>
              <a:rPr lang="en-US" sz="1800" b="1" dirty="0" err="1">
                <a:solidFill>
                  <a:srgbClr val="800000"/>
                </a:solidFill>
                <a:effectLst/>
                <a:latin typeface="Courier"/>
                <a:ea typeface="新細明體" panose="02020500000000000000" pitchFamily="18" charset="-120"/>
                <a:cs typeface="Times New Roman" panose="02020603050405020304" pitchFamily="18" charset="0"/>
              </a:rPr>
              <a:t>before-description;after-description</a:t>
            </a:r>
            <a:r>
              <a:rPr lang="en-US" sz="1800" b="1" dirty="0">
                <a:solidFill>
                  <a:srgbClr val="800000"/>
                </a:solidFill>
                <a:effectLst/>
                <a:latin typeface="Courier"/>
                <a:ea typeface="新細明體" panose="02020500000000000000" pitchFamily="18" charset="-120"/>
                <a:cs typeface="Times New Roman" panose="02020603050405020304" pitchFamily="18" charset="0"/>
              </a:rPr>
              <a:t>&lt;“;”keyword=value&gt;*</a:t>
            </a:r>
          </a:p>
          <a:p>
            <a:pPr lvl="3"/>
            <a:r>
              <a:rPr lang="en-US" sz="1600" b="1" dirty="0">
                <a:solidFill>
                  <a:srgbClr val="800000"/>
                </a:solidFill>
                <a:latin typeface="Courier"/>
                <a:ea typeface="新細明體" panose="02020500000000000000" pitchFamily="18" charset="-120"/>
                <a:cs typeface="Times New Roman" panose="02020603050405020304" pitchFamily="18" charset="0"/>
              </a:rPr>
              <a:t>Before-description : text to show before hotkey pressed</a:t>
            </a:r>
          </a:p>
          <a:p>
            <a:pPr lvl="3"/>
            <a:r>
              <a:rPr lang="en-US" sz="1600" b="1" dirty="0">
                <a:solidFill>
                  <a:srgbClr val="800000"/>
                </a:solidFill>
                <a:effectLst/>
                <a:latin typeface="Courier"/>
                <a:ea typeface="新細明體" panose="02020500000000000000" pitchFamily="18" charset="-120"/>
                <a:cs typeface="Times New Roman" panose="02020603050405020304" pitchFamily="18" charset="0"/>
              </a:rPr>
              <a:t>After-description : text to show after hotkey pressed</a:t>
            </a:r>
          </a:p>
          <a:p>
            <a:pPr lvl="3"/>
            <a:r>
              <a:rPr lang="en-US" sz="1600" b="1" dirty="0">
                <a:solidFill>
                  <a:srgbClr val="800000"/>
                </a:solidFill>
                <a:effectLst/>
                <a:latin typeface="Courier"/>
                <a:ea typeface="新細明體" panose="02020500000000000000" pitchFamily="18" charset="-120"/>
                <a:cs typeface="Times New Roman" panose="02020603050405020304" pitchFamily="18" charset="0"/>
              </a:rPr>
              <a:t>Keyword : attributes of hotkey’s description </a:t>
            </a:r>
          </a:p>
          <a:p>
            <a:pPr lvl="2"/>
            <a:endParaRPr lang="en-US" altLang="zh-TW" dirty="0">
              <a:solidFill>
                <a:schemeClr val="tx2"/>
              </a:solidFill>
              <a:ea typeface="新細明體" charset="-120"/>
            </a:endParaRPr>
          </a:p>
          <a:p>
            <a:pPr lvl="1"/>
            <a:endParaRPr lang="zh-TW" altLang="en-US" dirty="0">
              <a:solidFill>
                <a:schemeClr val="tx2"/>
              </a:solidFill>
              <a:ea typeface="新細明體" charset="-120"/>
            </a:endParaRPr>
          </a:p>
        </p:txBody>
      </p:sp>
      <p:sp>
        <p:nvSpPr>
          <p:cNvPr id="5" name="矩形 4">
            <a:extLst>
              <a:ext uri="{FF2B5EF4-FFF2-40B4-BE49-F238E27FC236}">
                <a16:creationId xmlns:a16="http://schemas.microsoft.com/office/drawing/2014/main" id="{EA78D402-A43A-4A86-A320-8F297246D9E1}"/>
              </a:ext>
            </a:extLst>
          </p:cNvPr>
          <p:cNvSpPr/>
          <p:nvPr/>
        </p:nvSpPr>
        <p:spPr>
          <a:xfrm>
            <a:off x="9469780" y="0"/>
            <a:ext cx="2722220" cy="369332"/>
          </a:xfrm>
          <a:prstGeom prst="rect">
            <a:avLst/>
          </a:prstGeom>
        </p:spPr>
        <p:txBody>
          <a:bodyPr wrap="none">
            <a:spAutoFit/>
          </a:bodyPr>
          <a:lstStyle/>
          <a:p>
            <a:r>
              <a:rPr lang="en-US" altLang="zh-TW" b="1" dirty="0">
                <a:solidFill>
                  <a:srgbClr val="FF0000"/>
                </a:solidFill>
                <a:latin typeface="Verdana" panose="020B0604030504040204" pitchFamily="34" charset="0"/>
                <a:ea typeface="新細明體" panose="02020500000000000000" pitchFamily="18" charset="-120"/>
                <a:cs typeface="Times New Roman" panose="02020603050405020304" pitchFamily="18" charset="0"/>
              </a:rPr>
              <a:t>InsydeH2O-specific</a:t>
            </a:r>
            <a:endParaRPr lang="zh-TW" altLang="en-US" dirty="0">
              <a:solidFill>
                <a:srgbClr val="FF0000"/>
              </a:solidFill>
            </a:endParaRPr>
          </a:p>
        </p:txBody>
      </p:sp>
      <p:pic>
        <p:nvPicPr>
          <p:cNvPr id="4" name="圖片 3">
            <a:extLst>
              <a:ext uri="{FF2B5EF4-FFF2-40B4-BE49-F238E27FC236}">
                <a16:creationId xmlns:a16="http://schemas.microsoft.com/office/drawing/2014/main" id="{933D108E-55EA-48B8-A345-3A24F02E90A9}"/>
              </a:ext>
            </a:extLst>
          </p:cNvPr>
          <p:cNvPicPr>
            <a:picLocks noChangeAspect="1"/>
          </p:cNvPicPr>
          <p:nvPr/>
        </p:nvPicPr>
        <p:blipFill>
          <a:blip r:embed="rId2"/>
          <a:stretch>
            <a:fillRect/>
          </a:stretch>
        </p:blipFill>
        <p:spPr>
          <a:xfrm>
            <a:off x="2422689" y="3086824"/>
            <a:ext cx="4238625" cy="1401808"/>
          </a:xfrm>
          <a:prstGeom prst="rect">
            <a:avLst/>
          </a:prstGeom>
        </p:spPr>
      </p:pic>
    </p:spTree>
    <p:extLst>
      <p:ext uri="{BB962C8B-B14F-4D97-AF65-F5344CB8AC3E}">
        <p14:creationId xmlns:p14="http://schemas.microsoft.com/office/powerpoint/2010/main" val="2031460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CAF47F-8202-4B6F-A48C-90AE456921F7}"/>
              </a:ext>
            </a:extLst>
          </p:cNvPr>
          <p:cNvSpPr>
            <a:spLocks noGrp="1"/>
          </p:cNvSpPr>
          <p:nvPr>
            <p:ph type="title"/>
          </p:nvPr>
        </p:nvSpPr>
        <p:spPr/>
        <p:txBody>
          <a:bodyPr/>
          <a:lstStyle/>
          <a:p>
            <a:r>
              <a:rPr lang="en-US" altLang="zh-TW" dirty="0"/>
              <a:t>PCD Hot Keys</a:t>
            </a:r>
            <a:endParaRPr lang="zh-TW" altLang="en-US" dirty="0"/>
          </a:p>
        </p:txBody>
      </p:sp>
      <p:sp>
        <p:nvSpPr>
          <p:cNvPr id="3" name="內容版面配置區 2">
            <a:extLst>
              <a:ext uri="{FF2B5EF4-FFF2-40B4-BE49-F238E27FC236}">
                <a16:creationId xmlns:a16="http://schemas.microsoft.com/office/drawing/2014/main" id="{0566ED96-8470-400E-A7B1-A0E8E65BF56B}"/>
              </a:ext>
            </a:extLst>
          </p:cNvPr>
          <p:cNvSpPr>
            <a:spLocks noGrp="1"/>
          </p:cNvSpPr>
          <p:nvPr>
            <p:ph idx="1"/>
          </p:nvPr>
        </p:nvSpPr>
        <p:spPr>
          <a:xfrm>
            <a:off x="838200" y="1398494"/>
            <a:ext cx="11353800" cy="4778469"/>
          </a:xfrm>
        </p:spPr>
        <p:txBody>
          <a:bodyPr>
            <a:normAutofit/>
          </a:bodyPr>
          <a:lstStyle/>
          <a:p>
            <a:r>
              <a:rPr lang="en-US" altLang="zh-TW" b="1" dirty="0">
                <a:solidFill>
                  <a:srgbClr val="FF0000"/>
                </a:solidFill>
                <a:ea typeface="新細明體" charset="-120"/>
              </a:rPr>
              <a:t>String format of PcdH2OHotKeyXXXXDesc &amp; PcdH2OHotKeyXXXXDescQuiet</a:t>
            </a:r>
            <a:endParaRPr lang="en-US" altLang="zh-TW" b="1" dirty="0">
              <a:solidFill>
                <a:schemeClr val="tx2"/>
              </a:solidFill>
              <a:ea typeface="新細明體" charset="-120"/>
            </a:endParaRPr>
          </a:p>
          <a:p>
            <a:pPr lvl="1"/>
            <a:r>
              <a:rPr lang="en-US" sz="2200" b="1" dirty="0">
                <a:solidFill>
                  <a:srgbClr val="800000"/>
                </a:solidFill>
                <a:latin typeface="Courier"/>
                <a:ea typeface="新細明體" panose="02020500000000000000" pitchFamily="18" charset="-120"/>
                <a:cs typeface="Times New Roman" panose="02020603050405020304" pitchFamily="18" charset="0"/>
              </a:rPr>
              <a:t>format : </a:t>
            </a:r>
            <a:r>
              <a:rPr lang="en-US" sz="2000" b="1" dirty="0" err="1">
                <a:solidFill>
                  <a:srgbClr val="800000"/>
                </a:solidFill>
                <a:effectLst/>
                <a:latin typeface="Courier"/>
                <a:ea typeface="新細明體" panose="02020500000000000000" pitchFamily="18" charset="-120"/>
                <a:cs typeface="Times New Roman" panose="02020603050405020304" pitchFamily="18" charset="0"/>
              </a:rPr>
              <a:t>before-description;after-description</a:t>
            </a:r>
            <a:r>
              <a:rPr lang="en-US" sz="2000" b="1" dirty="0">
                <a:solidFill>
                  <a:srgbClr val="800000"/>
                </a:solidFill>
                <a:effectLst/>
                <a:latin typeface="Courier"/>
                <a:ea typeface="新細明體" panose="02020500000000000000" pitchFamily="18" charset="-120"/>
                <a:cs typeface="Times New Roman" panose="02020603050405020304" pitchFamily="18" charset="0"/>
              </a:rPr>
              <a:t>&lt;“;”keyword=value&gt;*</a:t>
            </a:r>
          </a:p>
          <a:p>
            <a:pPr lvl="2"/>
            <a:r>
              <a:rPr lang="en-US" sz="1800" b="1" dirty="0">
                <a:solidFill>
                  <a:srgbClr val="800000"/>
                </a:solidFill>
                <a:latin typeface="Courier"/>
                <a:ea typeface="新細明體" panose="02020500000000000000" pitchFamily="18" charset="-120"/>
                <a:cs typeface="Times New Roman" panose="02020603050405020304" pitchFamily="18" charset="0"/>
              </a:rPr>
              <a:t>Before-description : STRING_TOKEN(SOME_STR_IN_UNI_FILE)</a:t>
            </a:r>
          </a:p>
          <a:p>
            <a:pPr lvl="2"/>
            <a:r>
              <a:rPr lang="en-US" sz="1800" b="1" dirty="0">
                <a:solidFill>
                  <a:srgbClr val="800000"/>
                </a:solidFill>
                <a:effectLst/>
                <a:latin typeface="Courier"/>
                <a:ea typeface="新細明體" panose="02020500000000000000" pitchFamily="18" charset="-120"/>
                <a:cs typeface="Times New Roman" panose="02020603050405020304" pitchFamily="18" charset="0"/>
              </a:rPr>
              <a:t>After-description : STRING_TOKEN(SOME_STR_IN_UNT_FILE)</a:t>
            </a:r>
          </a:p>
          <a:p>
            <a:pPr lvl="2"/>
            <a:r>
              <a:rPr lang="en-US" sz="1800" b="1" dirty="0">
                <a:solidFill>
                  <a:srgbClr val="800000"/>
                </a:solidFill>
                <a:effectLst/>
                <a:latin typeface="Courier"/>
                <a:ea typeface="新細明體" panose="02020500000000000000" pitchFamily="18" charset="-120"/>
                <a:cs typeface="Times New Roman" panose="02020603050405020304" pitchFamily="18" charset="0"/>
              </a:rPr>
              <a:t>Keyword :</a:t>
            </a:r>
          </a:p>
          <a:p>
            <a:pPr lvl="3"/>
            <a:r>
              <a:rPr lang="en-US" sz="1600" b="1" dirty="0">
                <a:solidFill>
                  <a:srgbClr val="800000"/>
                </a:solidFill>
                <a:latin typeface="Courier"/>
                <a:ea typeface="新細明體" panose="02020500000000000000" pitchFamily="18" charset="-120"/>
                <a:cs typeface="Times New Roman" panose="02020603050405020304" pitchFamily="18" charset="0"/>
              </a:rPr>
              <a:t>x 	= </a:t>
            </a:r>
            <a:r>
              <a:rPr lang="en-US" sz="1600" b="1" dirty="0" err="1">
                <a:solidFill>
                  <a:srgbClr val="800000"/>
                </a:solidFill>
                <a:latin typeface="Courier"/>
                <a:ea typeface="新細明體" panose="02020500000000000000" pitchFamily="18" charset="-120"/>
                <a:cs typeface="Times New Roman" panose="02020603050405020304" pitchFamily="18" charset="0"/>
              </a:rPr>
              <a:t>posn</a:t>
            </a:r>
            <a:endParaRPr lang="en-US" sz="1600" b="1" dirty="0">
              <a:solidFill>
                <a:srgbClr val="800000"/>
              </a:solidFill>
              <a:latin typeface="Courier"/>
              <a:ea typeface="新細明體" panose="02020500000000000000" pitchFamily="18" charset="-120"/>
              <a:cs typeface="Times New Roman" panose="02020603050405020304" pitchFamily="18" charset="0"/>
            </a:endParaRPr>
          </a:p>
          <a:p>
            <a:pPr lvl="3"/>
            <a:r>
              <a:rPr lang="en-US" sz="1600" b="1" dirty="0">
                <a:solidFill>
                  <a:srgbClr val="800000"/>
                </a:solidFill>
                <a:effectLst/>
                <a:latin typeface="Courier"/>
                <a:ea typeface="新細明體" panose="02020500000000000000" pitchFamily="18" charset="-120"/>
                <a:cs typeface="Times New Roman" panose="02020603050405020304" pitchFamily="18" charset="0"/>
              </a:rPr>
              <a:t>Y</a:t>
            </a:r>
            <a:r>
              <a:rPr lang="en-US" sz="1600" b="1" dirty="0">
                <a:solidFill>
                  <a:srgbClr val="800000"/>
                </a:solidFill>
                <a:latin typeface="Courier"/>
                <a:ea typeface="新細明體" panose="02020500000000000000" pitchFamily="18" charset="-120"/>
                <a:cs typeface="Times New Roman" panose="02020603050405020304" pitchFamily="18" charset="0"/>
              </a:rPr>
              <a:t> 	= </a:t>
            </a:r>
            <a:r>
              <a:rPr lang="en-US" sz="1600" b="1" dirty="0" err="1">
                <a:solidFill>
                  <a:srgbClr val="800000"/>
                </a:solidFill>
                <a:latin typeface="Courier"/>
                <a:ea typeface="新細明體" panose="02020500000000000000" pitchFamily="18" charset="-120"/>
                <a:cs typeface="Times New Roman" panose="02020603050405020304" pitchFamily="18" charset="0"/>
              </a:rPr>
              <a:t>posn</a:t>
            </a:r>
            <a:endParaRPr lang="en-US" sz="1600" b="1" dirty="0">
              <a:solidFill>
                <a:srgbClr val="800000"/>
              </a:solidFill>
              <a:latin typeface="Courier"/>
              <a:ea typeface="新細明體" panose="02020500000000000000" pitchFamily="18" charset="-120"/>
              <a:cs typeface="Times New Roman" panose="02020603050405020304" pitchFamily="18" charset="0"/>
            </a:endParaRPr>
          </a:p>
          <a:p>
            <a:pPr lvl="3"/>
            <a:r>
              <a:rPr lang="en-US" sz="1600" b="1" dirty="0" err="1">
                <a:solidFill>
                  <a:srgbClr val="800000"/>
                </a:solidFill>
                <a:effectLst/>
                <a:latin typeface="Courier"/>
                <a:ea typeface="新細明體" panose="02020500000000000000" pitchFamily="18" charset="-120"/>
                <a:cs typeface="Times New Roman" panose="02020603050405020304" pitchFamily="18" charset="0"/>
              </a:rPr>
              <a:t>Xorigin</a:t>
            </a:r>
            <a:r>
              <a:rPr lang="en-US" sz="1600" b="1" dirty="0">
                <a:solidFill>
                  <a:srgbClr val="800000"/>
                </a:solidFill>
                <a:effectLst/>
                <a:latin typeface="Courier"/>
                <a:ea typeface="新細明體" panose="02020500000000000000" pitchFamily="18" charset="-120"/>
                <a:cs typeface="Times New Roman" panose="02020603050405020304" pitchFamily="18" charset="0"/>
              </a:rPr>
              <a:t> 	= keyword</a:t>
            </a:r>
          </a:p>
          <a:p>
            <a:pPr lvl="3"/>
            <a:r>
              <a:rPr lang="en-US" sz="1600" b="1" dirty="0" err="1">
                <a:solidFill>
                  <a:srgbClr val="800000"/>
                </a:solidFill>
                <a:latin typeface="Courier"/>
                <a:ea typeface="新細明體" panose="02020500000000000000" pitchFamily="18" charset="-120"/>
                <a:cs typeface="Times New Roman" panose="02020603050405020304" pitchFamily="18" charset="0"/>
              </a:rPr>
              <a:t>Yorigin</a:t>
            </a:r>
            <a:r>
              <a:rPr lang="en-US" sz="1600" b="1" dirty="0">
                <a:solidFill>
                  <a:srgbClr val="800000"/>
                </a:solidFill>
                <a:latin typeface="Courier"/>
                <a:ea typeface="新細明體" panose="02020500000000000000" pitchFamily="18" charset="-120"/>
                <a:cs typeface="Times New Roman" panose="02020603050405020304" pitchFamily="18" charset="0"/>
              </a:rPr>
              <a:t> 	= keyword</a:t>
            </a:r>
          </a:p>
          <a:p>
            <a:pPr lvl="3"/>
            <a:r>
              <a:rPr lang="en-US" sz="1600" b="1" dirty="0">
                <a:solidFill>
                  <a:srgbClr val="800000"/>
                </a:solidFill>
                <a:effectLst/>
                <a:latin typeface="Courier"/>
                <a:ea typeface="新細明體" panose="02020500000000000000" pitchFamily="18" charset="-120"/>
                <a:cs typeface="Times New Roman" panose="02020603050405020304" pitchFamily="18" charset="0"/>
              </a:rPr>
              <a:t>Font    	= string</a:t>
            </a:r>
          </a:p>
          <a:p>
            <a:pPr lvl="3"/>
            <a:r>
              <a:rPr lang="en-US" sz="1600" b="1" dirty="0" err="1">
                <a:solidFill>
                  <a:srgbClr val="800000"/>
                </a:solidFill>
                <a:latin typeface="Courier"/>
                <a:ea typeface="新細明體" panose="02020500000000000000" pitchFamily="18" charset="-120"/>
                <a:cs typeface="Times New Roman" panose="02020603050405020304" pitchFamily="18" charset="0"/>
              </a:rPr>
              <a:t>Fontsize</a:t>
            </a:r>
            <a:r>
              <a:rPr lang="en-US" sz="1600" b="1" dirty="0">
                <a:solidFill>
                  <a:srgbClr val="800000"/>
                </a:solidFill>
                <a:latin typeface="Courier"/>
                <a:ea typeface="新細明體" panose="02020500000000000000" pitchFamily="18" charset="-120"/>
                <a:cs typeface="Times New Roman" panose="02020603050405020304" pitchFamily="18" charset="0"/>
              </a:rPr>
              <a:t>	= integer</a:t>
            </a:r>
          </a:p>
          <a:p>
            <a:pPr lvl="3"/>
            <a:r>
              <a:rPr lang="en-US" sz="1600" b="1" dirty="0" err="1">
                <a:solidFill>
                  <a:srgbClr val="800000"/>
                </a:solidFill>
                <a:effectLst/>
                <a:latin typeface="Courier"/>
                <a:ea typeface="新細明體" panose="02020500000000000000" pitchFamily="18" charset="-120"/>
                <a:cs typeface="Times New Roman" panose="02020603050405020304" pitchFamily="18" charset="0"/>
              </a:rPr>
              <a:t>Fonstyle</a:t>
            </a:r>
            <a:r>
              <a:rPr lang="en-US" sz="1600" b="1" dirty="0">
                <a:solidFill>
                  <a:srgbClr val="800000"/>
                </a:solidFill>
                <a:latin typeface="Courier"/>
                <a:ea typeface="新細明體" panose="02020500000000000000" pitchFamily="18" charset="-120"/>
                <a:cs typeface="Times New Roman" panose="02020603050405020304" pitchFamily="18" charset="0"/>
              </a:rPr>
              <a:t>	</a:t>
            </a:r>
            <a:r>
              <a:rPr lang="en-US" sz="1600" b="1" dirty="0">
                <a:solidFill>
                  <a:srgbClr val="800000"/>
                </a:solidFill>
                <a:effectLst/>
                <a:latin typeface="Courier"/>
                <a:ea typeface="新細明體" panose="02020500000000000000" pitchFamily="18" charset="-120"/>
                <a:cs typeface="Times New Roman" panose="02020603050405020304" pitchFamily="18" charset="0"/>
              </a:rPr>
              <a:t>= string</a:t>
            </a:r>
          </a:p>
          <a:p>
            <a:pPr lvl="2"/>
            <a:endParaRPr lang="en-US" altLang="zh-TW" dirty="0">
              <a:solidFill>
                <a:schemeClr val="tx2"/>
              </a:solidFill>
              <a:ea typeface="新細明體" charset="-120"/>
            </a:endParaRPr>
          </a:p>
          <a:p>
            <a:pPr lvl="1"/>
            <a:endParaRPr lang="zh-TW" altLang="en-US" dirty="0">
              <a:solidFill>
                <a:schemeClr val="tx2"/>
              </a:solidFill>
              <a:ea typeface="新細明體" charset="-120"/>
            </a:endParaRPr>
          </a:p>
        </p:txBody>
      </p:sp>
      <p:sp>
        <p:nvSpPr>
          <p:cNvPr id="5" name="矩形 4">
            <a:extLst>
              <a:ext uri="{FF2B5EF4-FFF2-40B4-BE49-F238E27FC236}">
                <a16:creationId xmlns:a16="http://schemas.microsoft.com/office/drawing/2014/main" id="{EA78D402-A43A-4A86-A320-8F297246D9E1}"/>
              </a:ext>
            </a:extLst>
          </p:cNvPr>
          <p:cNvSpPr/>
          <p:nvPr/>
        </p:nvSpPr>
        <p:spPr>
          <a:xfrm>
            <a:off x="9469780" y="0"/>
            <a:ext cx="2722220" cy="369332"/>
          </a:xfrm>
          <a:prstGeom prst="rect">
            <a:avLst/>
          </a:prstGeom>
        </p:spPr>
        <p:txBody>
          <a:bodyPr wrap="none">
            <a:spAutoFit/>
          </a:bodyPr>
          <a:lstStyle/>
          <a:p>
            <a:r>
              <a:rPr lang="en-US" altLang="zh-TW" b="1" dirty="0">
                <a:solidFill>
                  <a:srgbClr val="FF0000"/>
                </a:solidFill>
                <a:latin typeface="Verdana" panose="020B0604030504040204" pitchFamily="34" charset="0"/>
                <a:ea typeface="新細明體" panose="02020500000000000000" pitchFamily="18" charset="-120"/>
                <a:cs typeface="Times New Roman" panose="02020603050405020304" pitchFamily="18" charset="0"/>
              </a:rPr>
              <a:t>InsydeH2O-specific</a:t>
            </a:r>
            <a:endParaRPr lang="zh-TW" altLang="en-US" dirty="0">
              <a:solidFill>
                <a:srgbClr val="FF0000"/>
              </a:solidFill>
            </a:endParaRPr>
          </a:p>
        </p:txBody>
      </p:sp>
    </p:spTree>
    <p:extLst>
      <p:ext uri="{BB962C8B-B14F-4D97-AF65-F5344CB8AC3E}">
        <p14:creationId xmlns:p14="http://schemas.microsoft.com/office/powerpoint/2010/main" val="2770318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223704-347B-4750-9D56-4D03F13A6B26}"/>
              </a:ext>
            </a:extLst>
          </p:cNvPr>
          <p:cNvSpPr>
            <a:spLocks noGrp="1"/>
          </p:cNvSpPr>
          <p:nvPr>
            <p:ph type="title"/>
          </p:nvPr>
        </p:nvSpPr>
        <p:spPr/>
        <p:txBody>
          <a:bodyPr/>
          <a:lstStyle/>
          <a:p>
            <a:r>
              <a:rPr lang="en-US" altLang="zh-TW" dirty="0"/>
              <a:t>Registered Hot Keys</a:t>
            </a:r>
            <a:endParaRPr lang="zh-TW" altLang="en-US" dirty="0"/>
          </a:p>
        </p:txBody>
      </p:sp>
      <p:sp>
        <p:nvSpPr>
          <p:cNvPr id="3" name="內容版面配置區 2">
            <a:extLst>
              <a:ext uri="{FF2B5EF4-FFF2-40B4-BE49-F238E27FC236}">
                <a16:creationId xmlns:a16="http://schemas.microsoft.com/office/drawing/2014/main" id="{4E617C76-FD17-4AEF-8801-0CE94E68116E}"/>
              </a:ext>
            </a:extLst>
          </p:cNvPr>
          <p:cNvSpPr>
            <a:spLocks noGrp="1"/>
          </p:cNvSpPr>
          <p:nvPr>
            <p:ph idx="1"/>
          </p:nvPr>
        </p:nvSpPr>
        <p:spPr/>
        <p:txBody>
          <a:bodyPr/>
          <a:lstStyle/>
          <a:p>
            <a:r>
              <a:rPr lang="en-US" altLang="zh-TW" dirty="0"/>
              <a:t>Hot keys can be added by using the </a:t>
            </a:r>
            <a:r>
              <a:rPr lang="en-US" altLang="zh-TW" b="1" dirty="0" err="1">
                <a:solidFill>
                  <a:srgbClr val="0070C0"/>
                </a:solidFill>
              </a:rPr>
              <a:t>RegisterCallbackHotKey</a:t>
            </a:r>
            <a:r>
              <a:rPr lang="en-US" altLang="zh-TW" b="1" dirty="0">
                <a:solidFill>
                  <a:srgbClr val="0070C0"/>
                </a:solidFill>
              </a:rPr>
              <a:t>()</a:t>
            </a:r>
            <a:r>
              <a:rPr lang="en-US" altLang="zh-TW" dirty="0"/>
              <a:t> and </a:t>
            </a:r>
            <a:r>
              <a:rPr lang="en-US" altLang="zh-TW" b="1" dirty="0" err="1">
                <a:solidFill>
                  <a:srgbClr val="0070C0"/>
                </a:solidFill>
              </a:rPr>
              <a:t>RegisterLoadOptionHotKey</a:t>
            </a:r>
            <a:r>
              <a:rPr lang="en-US" altLang="zh-TW" b="1" dirty="0">
                <a:solidFill>
                  <a:srgbClr val="0070C0"/>
                </a:solidFill>
              </a:rPr>
              <a:t>()</a:t>
            </a:r>
            <a:r>
              <a:rPr lang="en-US" altLang="zh-TW" dirty="0"/>
              <a:t> of the H2O_BDS_SERVICES_PROTOCOL. </a:t>
            </a:r>
          </a:p>
          <a:p>
            <a:pPr lvl="1"/>
            <a:r>
              <a:rPr lang="en-US" altLang="zh-TW" b="1" dirty="0" err="1">
                <a:solidFill>
                  <a:srgbClr val="0070C0"/>
                </a:solidFill>
              </a:rPr>
              <a:t>RegisterCallbackHotKey</a:t>
            </a:r>
            <a:r>
              <a:rPr lang="en-US" altLang="zh-TW" b="1" dirty="0">
                <a:solidFill>
                  <a:srgbClr val="0070C0"/>
                </a:solidFill>
              </a:rPr>
              <a:t>()</a:t>
            </a:r>
            <a:r>
              <a:rPr lang="en-US" altLang="zh-TW" dirty="0">
                <a:solidFill>
                  <a:schemeClr val="tx2"/>
                </a:solidFill>
              </a:rPr>
              <a:t>:</a:t>
            </a:r>
            <a:r>
              <a:rPr lang="zh-TW" altLang="en-US" dirty="0">
                <a:solidFill>
                  <a:schemeClr val="tx2"/>
                </a:solidFill>
              </a:rPr>
              <a:t> </a:t>
            </a:r>
            <a:r>
              <a:rPr lang="en-US" altLang="zh-TW" dirty="0">
                <a:solidFill>
                  <a:schemeClr val="tx2"/>
                </a:solidFill>
              </a:rPr>
              <a:t>Register a function to be called when a specified hot key chord is detected.</a:t>
            </a:r>
          </a:p>
          <a:p>
            <a:pPr lvl="1"/>
            <a:endParaRPr lang="en-US" altLang="zh-TW" dirty="0">
              <a:solidFill>
                <a:schemeClr val="tx2"/>
              </a:solidFill>
              <a:ea typeface="新細明體" charset="-120"/>
            </a:endParaRPr>
          </a:p>
          <a:p>
            <a:pPr lvl="1"/>
            <a:r>
              <a:rPr lang="en-US" altLang="zh-TW" b="1" dirty="0" err="1">
                <a:solidFill>
                  <a:srgbClr val="0070C0"/>
                </a:solidFill>
              </a:rPr>
              <a:t>RegisterLoadOptionHotKey</a:t>
            </a:r>
            <a:r>
              <a:rPr lang="en-US" altLang="zh-TW" b="1" dirty="0">
                <a:solidFill>
                  <a:srgbClr val="0070C0"/>
                </a:solidFill>
              </a:rPr>
              <a:t>()</a:t>
            </a:r>
            <a:r>
              <a:rPr lang="en-US" altLang="zh-TW" dirty="0">
                <a:solidFill>
                  <a:schemeClr val="tx2"/>
                </a:solidFill>
              </a:rPr>
              <a:t>:</a:t>
            </a:r>
            <a:r>
              <a:rPr lang="zh-TW" altLang="en-US" dirty="0">
                <a:solidFill>
                  <a:schemeClr val="tx2"/>
                </a:solidFill>
              </a:rPr>
              <a:t> </a:t>
            </a:r>
            <a:r>
              <a:rPr lang="en-US" altLang="zh-TW" dirty="0">
                <a:solidFill>
                  <a:schemeClr val="tx2"/>
                </a:solidFill>
              </a:rPr>
              <a:t>Register a load option to invoke when a specified hot key chord is detected.</a:t>
            </a:r>
            <a:endParaRPr lang="zh-TW" altLang="en-US" dirty="0">
              <a:solidFill>
                <a:schemeClr val="tx2"/>
              </a:solidFill>
              <a:ea typeface="新細明體" charset="-120"/>
            </a:endParaRPr>
          </a:p>
        </p:txBody>
      </p:sp>
    </p:spTree>
    <p:extLst>
      <p:ext uri="{BB962C8B-B14F-4D97-AF65-F5344CB8AC3E}">
        <p14:creationId xmlns:p14="http://schemas.microsoft.com/office/powerpoint/2010/main" val="2243602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13</a:t>
            </a:fld>
            <a:endParaRPr lang="en-US" dirty="0"/>
          </a:p>
        </p:txBody>
      </p:sp>
      <p:sp>
        <p:nvSpPr>
          <p:cNvPr id="2" name="Title 1"/>
          <p:cNvSpPr>
            <a:spLocks noGrp="1"/>
          </p:cNvSpPr>
          <p:nvPr>
            <p:ph type="title"/>
          </p:nvPr>
        </p:nvSpPr>
        <p:spPr/>
        <p:txBody>
          <a:bodyPr/>
          <a:lstStyle/>
          <a:p>
            <a:r>
              <a:rPr lang="en-US" dirty="0"/>
              <a:t>Related Files</a:t>
            </a:r>
          </a:p>
        </p:txBody>
      </p:sp>
    </p:spTree>
    <p:extLst>
      <p:ext uri="{BB962C8B-B14F-4D97-AF65-F5344CB8AC3E}">
        <p14:creationId xmlns:p14="http://schemas.microsoft.com/office/powerpoint/2010/main" val="3556020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Related Files</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98666" cy="4778469"/>
          </a:xfrm>
        </p:spPr>
        <p:txBody>
          <a:bodyPr>
            <a:normAutofit/>
          </a:bodyPr>
          <a:lstStyle/>
          <a:p>
            <a:pPr>
              <a:defRPr/>
            </a:pPr>
            <a:r>
              <a:rPr lang="en-US" altLang="zh-TW" sz="2000" dirty="0" err="1">
                <a:solidFill>
                  <a:schemeClr val="tx2"/>
                </a:solidFill>
              </a:rPr>
              <a:t>Insyde</a:t>
            </a:r>
            <a:r>
              <a:rPr lang="en-US" altLang="zh-TW" sz="2000" dirty="0">
                <a:solidFill>
                  <a:schemeClr val="tx2"/>
                </a:solidFill>
              </a:rPr>
              <a:t>/</a:t>
            </a:r>
            <a:r>
              <a:rPr lang="en-US" altLang="zh-TW" sz="2000" dirty="0" err="1"/>
              <a:t>InsydeModulePkg</a:t>
            </a:r>
            <a:r>
              <a:rPr lang="en-US" altLang="zh-TW" sz="2000" dirty="0"/>
              <a:t>/</a:t>
            </a:r>
            <a:r>
              <a:rPr lang="en-US" altLang="zh-TW" sz="2000" dirty="0" err="1"/>
              <a:t>InsydeModulePkg.dec</a:t>
            </a:r>
            <a:endParaRPr lang="en-US" altLang="zh-TW" sz="2000" dirty="0"/>
          </a:p>
          <a:p>
            <a:pPr>
              <a:defRPr/>
            </a:pPr>
            <a:r>
              <a:rPr lang="en-US" altLang="zh-TW" sz="2000" dirty="0" err="1">
                <a:solidFill>
                  <a:schemeClr val="tx2"/>
                </a:solidFill>
              </a:rPr>
              <a:t>Insyde</a:t>
            </a:r>
            <a:r>
              <a:rPr lang="en-US" altLang="zh-TW" sz="2000" dirty="0">
                <a:solidFill>
                  <a:schemeClr val="tx2"/>
                </a:solidFill>
              </a:rPr>
              <a:t>/</a:t>
            </a:r>
            <a:r>
              <a:rPr lang="en-US" altLang="zh-TW" sz="2000" dirty="0" err="1"/>
              <a:t>InsydeModulePkg</a:t>
            </a:r>
            <a:r>
              <a:rPr lang="en-US" altLang="zh-TW" sz="2000" dirty="0"/>
              <a:t>/</a:t>
            </a:r>
            <a:r>
              <a:rPr lang="en-US" altLang="zh-TW" sz="2000" dirty="0" err="1"/>
              <a:t>Package.dsc</a:t>
            </a:r>
            <a:endParaRPr lang="en-US" altLang="zh-TW" sz="2000" dirty="0">
              <a:ea typeface="新細明體" pitchFamily="18" charset="-120"/>
            </a:endParaRPr>
          </a:p>
          <a:p>
            <a:pPr>
              <a:defRPr/>
            </a:pPr>
            <a:r>
              <a:rPr lang="en-US" altLang="zh-TW" sz="2000" dirty="0">
                <a:ea typeface="新細明體" pitchFamily="18" charset="-120"/>
              </a:rPr>
              <a:t>Intel/</a:t>
            </a:r>
            <a:r>
              <a:rPr lang="en-US" altLang="zh-TW" sz="2000" dirty="0" err="1">
                <a:ea typeface="新細明體" pitchFamily="18" charset="-120"/>
              </a:rPr>
              <a:t>EagleStream</a:t>
            </a:r>
            <a:r>
              <a:rPr lang="en-US" altLang="zh-TW" sz="2000" dirty="0">
                <a:ea typeface="新細明體" pitchFamily="18" charset="-120"/>
              </a:rPr>
              <a:t>/$(CHIPSET_PKG)/</a:t>
            </a:r>
            <a:r>
              <a:rPr lang="en-US" altLang="zh-TW" sz="2000" dirty="0" err="1">
                <a:ea typeface="新細明體" pitchFamily="18" charset="-120"/>
              </a:rPr>
              <a:t>FrontPageDxe</a:t>
            </a:r>
            <a:r>
              <a:rPr lang="en-US" altLang="zh-TW" sz="2000" dirty="0">
                <a:ea typeface="新細明體" pitchFamily="18" charset="-120"/>
              </a:rPr>
              <a:t>/FrontPageDxe.inf</a:t>
            </a:r>
          </a:p>
          <a:p>
            <a:pPr>
              <a:defRPr/>
            </a:pPr>
            <a:r>
              <a:rPr lang="en-US" altLang="zh-TW" sz="2000" dirty="0" err="1">
                <a:solidFill>
                  <a:schemeClr val="tx2"/>
                </a:solidFill>
              </a:rPr>
              <a:t>Insyde</a:t>
            </a:r>
            <a:r>
              <a:rPr lang="en-US" altLang="zh-TW" sz="2000" dirty="0">
                <a:solidFill>
                  <a:schemeClr val="tx2"/>
                </a:solidFill>
              </a:rPr>
              <a:t>/</a:t>
            </a:r>
            <a:r>
              <a:rPr lang="en-US" altLang="zh-TW" sz="2000" dirty="0" err="1">
                <a:ea typeface="新細明體" pitchFamily="18" charset="-120"/>
              </a:rPr>
              <a:t>InsydeModulePkg</a:t>
            </a:r>
            <a:r>
              <a:rPr lang="en-US" altLang="zh-TW" sz="2000" dirty="0">
                <a:ea typeface="新細明體" pitchFamily="18" charset="-120"/>
              </a:rPr>
              <a:t>/Universal/</a:t>
            </a:r>
            <a:r>
              <a:rPr lang="en-US" altLang="zh-TW" sz="2000" dirty="0" err="1">
                <a:ea typeface="新細明體" pitchFamily="18" charset="-120"/>
              </a:rPr>
              <a:t>BdsDxe</a:t>
            </a:r>
            <a:r>
              <a:rPr lang="en-US" altLang="zh-TW" sz="2000" dirty="0">
                <a:ea typeface="新細明體" pitchFamily="18" charset="-120"/>
              </a:rPr>
              <a:t>/BdsDxe.inf</a:t>
            </a:r>
          </a:p>
          <a:p>
            <a:pPr>
              <a:defRPr/>
            </a:pPr>
            <a:endParaRPr lang="en-US" altLang="zh-TW" sz="2000" dirty="0">
              <a:ea typeface="新細明體" pitchFamily="18" charset="-120"/>
            </a:endParaRPr>
          </a:p>
          <a:p>
            <a:endParaRPr lang="en-US" altLang="zh-TW" sz="2000" dirty="0">
              <a:ea typeface="新細明體" pitchFamily="18" charset="-120"/>
            </a:endParaRPr>
          </a:p>
          <a:p>
            <a:endParaRPr lang="en-US" altLang="zh-TW" sz="2000" spc="-1" dirty="0">
              <a:solidFill>
                <a:srgbClr val="3F3F3F"/>
              </a:solidFill>
              <a:uFill>
                <a:solidFill>
                  <a:srgbClr val="FFFFFF"/>
                </a:solidFill>
              </a:uFill>
            </a:endParaRPr>
          </a:p>
          <a:p>
            <a:pPr marL="360" indent="0">
              <a:lnSpc>
                <a:spcPct val="100000"/>
              </a:lnSpc>
              <a:buClr>
                <a:srgbClr val="FF0000"/>
              </a:buClr>
              <a:buNone/>
            </a:pPr>
            <a:endParaRPr lang="en-US" altLang="zh-TW" sz="2000" spc="-1" dirty="0">
              <a:uFill>
                <a:solidFill>
                  <a:srgbClr val="FFFFFF"/>
                </a:solidFill>
              </a:uFill>
            </a:endParaRPr>
          </a:p>
        </p:txBody>
      </p:sp>
    </p:spTree>
    <p:extLst>
      <p:ext uri="{BB962C8B-B14F-4D97-AF65-F5344CB8AC3E}">
        <p14:creationId xmlns:p14="http://schemas.microsoft.com/office/powerpoint/2010/main" val="3695652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err="1"/>
              <a:t>InsydeModulePkg</a:t>
            </a:r>
            <a:r>
              <a:rPr lang="en-US" altLang="zh-TW" dirty="0"/>
              <a:t>/</a:t>
            </a:r>
            <a:r>
              <a:rPr lang="en-US" altLang="zh-TW" dirty="0" err="1"/>
              <a:t>InsydeModulePkg.dec</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p:txBody>
          <a:bodyPr/>
          <a:lstStyle/>
          <a:p>
            <a:r>
              <a:rPr lang="en-US" altLang="zh-TW" sz="2400" dirty="0"/>
              <a:t>Declare the default hotkey PCD</a:t>
            </a:r>
            <a:endParaRPr lang="zh-TW" altLang="en-US" sz="2400" dirty="0"/>
          </a:p>
        </p:txBody>
      </p:sp>
      <p:grpSp>
        <p:nvGrpSpPr>
          <p:cNvPr id="19" name="群組 18">
            <a:extLst>
              <a:ext uri="{FF2B5EF4-FFF2-40B4-BE49-F238E27FC236}">
                <a16:creationId xmlns:a16="http://schemas.microsoft.com/office/drawing/2014/main" id="{7953D4C7-3F1C-4EC8-9185-A4FF15885E1E}"/>
              </a:ext>
            </a:extLst>
          </p:cNvPr>
          <p:cNvGrpSpPr/>
          <p:nvPr/>
        </p:nvGrpSpPr>
        <p:grpSpPr>
          <a:xfrm>
            <a:off x="3696788" y="1920624"/>
            <a:ext cx="4798423" cy="2428459"/>
            <a:chOff x="4478400" y="1854926"/>
            <a:chExt cx="4515462" cy="2428459"/>
          </a:xfrm>
        </p:grpSpPr>
        <p:sp>
          <p:nvSpPr>
            <p:cNvPr id="20" name="Rectangle 15">
              <a:extLst>
                <a:ext uri="{FF2B5EF4-FFF2-40B4-BE49-F238E27FC236}">
                  <a16:creationId xmlns:a16="http://schemas.microsoft.com/office/drawing/2014/main" id="{52432F5D-CF5F-476D-8A96-A81FE7003480}"/>
                </a:ext>
              </a:extLst>
            </p:cNvPr>
            <p:cNvSpPr>
              <a:spLocks noChangeArrowheads="1"/>
            </p:cNvSpPr>
            <p:nvPr/>
          </p:nvSpPr>
          <p:spPr bwMode="auto">
            <a:xfrm>
              <a:off x="4478402" y="1854926"/>
              <a:ext cx="4459867" cy="2428459"/>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21" name="Rectangle 16">
              <a:extLst>
                <a:ext uri="{FF2B5EF4-FFF2-40B4-BE49-F238E27FC236}">
                  <a16:creationId xmlns:a16="http://schemas.microsoft.com/office/drawing/2014/main" id="{DFF12DED-50D4-44A0-B31D-7D66BCDA90EE}"/>
                </a:ext>
              </a:extLst>
            </p:cNvPr>
            <p:cNvSpPr>
              <a:spLocks noChangeArrowheads="1"/>
            </p:cNvSpPr>
            <p:nvPr/>
          </p:nvSpPr>
          <p:spPr bwMode="auto">
            <a:xfrm>
              <a:off x="4478400" y="1854927"/>
              <a:ext cx="4459867"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InsydeModulePkg.dec</a:t>
              </a:r>
              <a:endParaRPr lang="zh-TW" altLang="en-US" sz="1400" dirty="0"/>
            </a:p>
          </p:txBody>
        </p:sp>
        <p:sp>
          <p:nvSpPr>
            <p:cNvPr id="22" name="Text Box 17">
              <a:extLst>
                <a:ext uri="{FF2B5EF4-FFF2-40B4-BE49-F238E27FC236}">
                  <a16:creationId xmlns:a16="http://schemas.microsoft.com/office/drawing/2014/main" id="{2087CDBC-8F12-4CBE-967D-697C4E82826E}"/>
                </a:ext>
              </a:extLst>
            </p:cNvPr>
            <p:cNvSpPr txBox="1">
              <a:spLocks noChangeArrowheads="1"/>
            </p:cNvSpPr>
            <p:nvPr/>
          </p:nvSpPr>
          <p:spPr bwMode="auto">
            <a:xfrm>
              <a:off x="4478402" y="2159727"/>
              <a:ext cx="451546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100" dirty="0">
                  <a:solidFill>
                    <a:schemeClr val="tx2"/>
                  </a:solidFill>
                </a:rPr>
                <a:t>[</a:t>
              </a:r>
              <a:r>
                <a:rPr lang="en-US" altLang="zh-TW" sz="1100" dirty="0" err="1">
                  <a:solidFill>
                    <a:srgbClr val="0070C0"/>
                  </a:solidFill>
                </a:rPr>
                <a:t>PcdsDynamicEx</a:t>
              </a:r>
              <a:r>
                <a:rPr lang="en-US" altLang="zh-TW" sz="1100" dirty="0">
                  <a:solidFill>
                    <a:schemeClr val="tx2"/>
                  </a:solidFill>
                </a:rPr>
                <a:t>]</a:t>
              </a:r>
            </a:p>
            <a:p>
              <a:r>
                <a:rPr lang="en-US" altLang="zh-TW" sz="1100" dirty="0">
                  <a:solidFill>
                    <a:srgbClr val="7030A0"/>
                  </a:solidFill>
                </a:rPr>
                <a:t>  # BDS Hot Key default PCD. These PCDs will format as</a:t>
              </a:r>
            </a:p>
            <a:p>
              <a:r>
                <a:rPr lang="en-US" altLang="zh-TW" sz="1100" dirty="0">
                  <a:solidFill>
                    <a:srgbClr val="7030A0"/>
                  </a:solidFill>
                </a:rPr>
                <a:t>  #   typedef struct _PCD_H2O_HOT_KEY {</a:t>
              </a:r>
            </a:p>
            <a:p>
              <a:r>
                <a:rPr lang="en-US" altLang="zh-TW" sz="1100" dirty="0">
                  <a:solidFill>
                    <a:srgbClr val="7030A0"/>
                  </a:solidFill>
                </a:rPr>
                <a:t>  #     EFI_GUID </a:t>
              </a:r>
              <a:r>
                <a:rPr lang="en-US" altLang="zh-TW" sz="1100" dirty="0" err="1">
                  <a:solidFill>
                    <a:srgbClr val="7030A0"/>
                  </a:solidFill>
                </a:rPr>
                <a:t>HotKeyProtocolGuid</a:t>
              </a:r>
              <a:r>
                <a:rPr lang="en-US" altLang="zh-TW" sz="1100" dirty="0">
                  <a:solidFill>
                    <a:srgbClr val="7030A0"/>
                  </a:solidFill>
                </a:rPr>
                <a:t>;</a:t>
              </a:r>
            </a:p>
            <a:p>
              <a:r>
                <a:rPr lang="en-US" altLang="zh-TW" sz="1100" dirty="0">
                  <a:solidFill>
                    <a:srgbClr val="7030A0"/>
                  </a:solidFill>
                </a:rPr>
                <a:t>  #     UINT32   Id;</a:t>
              </a:r>
            </a:p>
            <a:p>
              <a:r>
                <a:rPr lang="en-US" altLang="zh-TW" sz="1100" dirty="0">
                  <a:solidFill>
                    <a:srgbClr val="7030A0"/>
                  </a:solidFill>
                </a:rPr>
                <a:t>  #   //CHAR8    </a:t>
              </a:r>
              <a:r>
                <a:rPr lang="en-US" altLang="zh-TW" sz="1100" dirty="0" err="1">
                  <a:solidFill>
                    <a:srgbClr val="7030A0"/>
                  </a:solidFill>
                </a:rPr>
                <a:t>HotKeys</a:t>
              </a:r>
              <a:r>
                <a:rPr lang="en-US" altLang="zh-TW" sz="1100" dirty="0">
                  <a:solidFill>
                    <a:srgbClr val="7030A0"/>
                  </a:solidFill>
                </a:rPr>
                <a:t>[];</a:t>
              </a:r>
            </a:p>
            <a:p>
              <a:r>
                <a:rPr lang="en-US" altLang="zh-TW" sz="1100" dirty="0">
                  <a:solidFill>
                    <a:srgbClr val="7030A0"/>
                  </a:solidFill>
                </a:rPr>
                <a:t>  #   //CHAR8    Options[];</a:t>
              </a:r>
            </a:p>
            <a:p>
              <a:r>
                <a:rPr lang="en-US" altLang="zh-TW" sz="1100" dirty="0">
                  <a:solidFill>
                    <a:srgbClr val="7030A0"/>
                  </a:solidFill>
                </a:rPr>
                <a:t>  #   //CHAR8    </a:t>
              </a:r>
              <a:r>
                <a:rPr lang="en-US" altLang="zh-TW" sz="1100" dirty="0" err="1">
                  <a:solidFill>
                    <a:srgbClr val="7030A0"/>
                  </a:solidFill>
                </a:rPr>
                <a:t>DevicePath</a:t>
              </a:r>
              <a:r>
                <a:rPr lang="en-US" altLang="zh-TW" sz="1100" dirty="0">
                  <a:solidFill>
                    <a:srgbClr val="7030A0"/>
                  </a:solidFill>
                </a:rPr>
                <a:t>[];</a:t>
              </a:r>
            </a:p>
            <a:p>
              <a:r>
                <a:rPr lang="en-US" altLang="zh-TW" sz="1100" dirty="0">
                  <a:solidFill>
                    <a:srgbClr val="7030A0"/>
                  </a:solidFill>
                </a:rPr>
                <a:t>  #   } PCD_H2O_HOT_KEY;</a:t>
              </a:r>
            </a:p>
            <a:p>
              <a:r>
                <a:rPr lang="en-US" altLang="zh-TW" sz="1100" dirty="0">
                  <a:solidFill>
                    <a:srgbClr val="7030A0"/>
                  </a:solidFill>
                </a:rPr>
                <a:t>  #</a:t>
              </a:r>
            </a:p>
            <a:p>
              <a:r>
                <a:rPr lang="en-US" altLang="zh-TW" sz="1100" dirty="0">
                  <a:solidFill>
                    <a:schemeClr val="tx2"/>
                  </a:solidFill>
                </a:rPr>
                <a:t>  </a:t>
              </a:r>
              <a:r>
                <a:rPr lang="en-US" altLang="zh-TW" sz="1100" dirty="0">
                  <a:solidFill>
                    <a:srgbClr val="7030A0"/>
                  </a:solidFill>
                </a:rPr>
                <a:t>gH2OBdsHotKeyGuid</a:t>
              </a:r>
              <a:r>
                <a:rPr lang="en-US" altLang="zh-TW" sz="1100" dirty="0">
                  <a:solidFill>
                    <a:schemeClr val="tx2"/>
                  </a:solidFill>
                </a:rPr>
                <a:t>.PcdH2OHotKeyDummy|{</a:t>
              </a:r>
              <a:r>
                <a:rPr lang="en-US" altLang="zh-TW" sz="1100" dirty="0">
                  <a:solidFill>
                    <a:srgbClr val="FF0000"/>
                  </a:solidFill>
                </a:rPr>
                <a:t>0</a:t>
              </a:r>
              <a:r>
                <a:rPr lang="en-US" altLang="zh-TW" sz="1100" dirty="0">
                  <a:solidFill>
                    <a:schemeClr val="tx2"/>
                  </a:solidFill>
                </a:rPr>
                <a:t>}|VOID*|</a:t>
              </a:r>
              <a:r>
                <a:rPr lang="en-US" altLang="zh-TW" sz="1100" dirty="0">
                  <a:solidFill>
                    <a:srgbClr val="FF0000"/>
                  </a:solidFill>
                </a:rPr>
                <a:t>0x00000001</a:t>
              </a:r>
            </a:p>
            <a:p>
              <a:r>
                <a:rPr lang="en-US" altLang="zh-TW" sz="1100" dirty="0">
                  <a:solidFill>
                    <a:schemeClr val="tx2"/>
                  </a:solidFill>
                </a:rPr>
                <a:t>  </a:t>
              </a:r>
              <a:r>
                <a:rPr lang="en-US" altLang="zh-TW" sz="1100" dirty="0">
                  <a:solidFill>
                    <a:srgbClr val="7030A0"/>
                  </a:solidFill>
                </a:rPr>
                <a:t>gH2OBdsHotKeyGuid</a:t>
              </a:r>
              <a:r>
                <a:rPr lang="en-US" altLang="zh-TW" sz="1100" dirty="0">
                  <a:solidFill>
                    <a:schemeClr val="tx2"/>
                  </a:solidFill>
                </a:rPr>
                <a:t>.PcdH2OHotKeyFrontPage|{</a:t>
              </a:r>
              <a:r>
                <a:rPr lang="en-US" altLang="zh-TW" sz="1100" dirty="0">
                  <a:solidFill>
                    <a:srgbClr val="FF0000"/>
                  </a:solidFill>
                </a:rPr>
                <a:t>0</a:t>
              </a:r>
              <a:r>
                <a:rPr lang="en-US" altLang="zh-TW" sz="1100" dirty="0">
                  <a:solidFill>
                    <a:schemeClr val="tx2"/>
                  </a:solidFill>
                </a:rPr>
                <a:t>}|VOID*|</a:t>
              </a:r>
              <a:r>
                <a:rPr lang="en-US" altLang="zh-TW" sz="1100" dirty="0">
                  <a:solidFill>
                    <a:srgbClr val="FF0000"/>
                  </a:solidFill>
                </a:rPr>
                <a:t>0x00000002</a:t>
              </a:r>
            </a:p>
          </p:txBody>
        </p:sp>
      </p:grpSp>
    </p:spTree>
    <p:extLst>
      <p:ext uri="{BB962C8B-B14F-4D97-AF65-F5344CB8AC3E}">
        <p14:creationId xmlns:p14="http://schemas.microsoft.com/office/powerpoint/2010/main" val="2766310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err="1"/>
              <a:t>InsydeModulePkg</a:t>
            </a:r>
            <a:r>
              <a:rPr lang="en-US" altLang="zh-TW" dirty="0"/>
              <a:t>/</a:t>
            </a:r>
            <a:r>
              <a:rPr lang="en-US" altLang="zh-TW" dirty="0" err="1"/>
              <a:t>Package.dsc</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p:txBody>
          <a:bodyPr/>
          <a:lstStyle/>
          <a:p>
            <a:r>
              <a:rPr lang="en-US" altLang="zh-TW" sz="2400" dirty="0"/>
              <a:t>Update the information of specific hotkey PCD</a:t>
            </a:r>
            <a:endParaRPr lang="zh-TW" altLang="en-US" sz="2400" dirty="0"/>
          </a:p>
        </p:txBody>
      </p:sp>
      <p:grpSp>
        <p:nvGrpSpPr>
          <p:cNvPr id="8" name="群組 7">
            <a:extLst>
              <a:ext uri="{FF2B5EF4-FFF2-40B4-BE49-F238E27FC236}">
                <a16:creationId xmlns:a16="http://schemas.microsoft.com/office/drawing/2014/main" id="{79F744F0-D47D-448C-AB5C-0C00BF605F0C}"/>
              </a:ext>
            </a:extLst>
          </p:cNvPr>
          <p:cNvGrpSpPr/>
          <p:nvPr/>
        </p:nvGrpSpPr>
        <p:grpSpPr>
          <a:xfrm>
            <a:off x="1776548" y="1990293"/>
            <a:ext cx="8638903" cy="3016752"/>
            <a:chOff x="4478400" y="1854926"/>
            <a:chExt cx="4515462" cy="3016752"/>
          </a:xfrm>
        </p:grpSpPr>
        <p:sp>
          <p:nvSpPr>
            <p:cNvPr id="9" name="Rectangle 15">
              <a:extLst>
                <a:ext uri="{FF2B5EF4-FFF2-40B4-BE49-F238E27FC236}">
                  <a16:creationId xmlns:a16="http://schemas.microsoft.com/office/drawing/2014/main" id="{86559BAC-3CB3-4F96-8D6B-11F0504FB7DE}"/>
                </a:ext>
              </a:extLst>
            </p:cNvPr>
            <p:cNvSpPr>
              <a:spLocks noChangeArrowheads="1"/>
            </p:cNvSpPr>
            <p:nvPr/>
          </p:nvSpPr>
          <p:spPr bwMode="auto">
            <a:xfrm>
              <a:off x="4478402" y="1854926"/>
              <a:ext cx="4459867" cy="3016752"/>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0" name="Rectangle 16">
              <a:extLst>
                <a:ext uri="{FF2B5EF4-FFF2-40B4-BE49-F238E27FC236}">
                  <a16:creationId xmlns:a16="http://schemas.microsoft.com/office/drawing/2014/main" id="{3EE9C8FE-7C75-4793-99C7-D77E48F02BE2}"/>
                </a:ext>
              </a:extLst>
            </p:cNvPr>
            <p:cNvSpPr>
              <a:spLocks noChangeArrowheads="1"/>
            </p:cNvSpPr>
            <p:nvPr/>
          </p:nvSpPr>
          <p:spPr bwMode="auto">
            <a:xfrm>
              <a:off x="4478400" y="1854927"/>
              <a:ext cx="4459867"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Package.dsc</a:t>
              </a:r>
              <a:endParaRPr lang="zh-TW" altLang="en-US" sz="1400" dirty="0"/>
            </a:p>
          </p:txBody>
        </p:sp>
        <p:sp>
          <p:nvSpPr>
            <p:cNvPr id="11" name="Text Box 17">
              <a:extLst>
                <a:ext uri="{FF2B5EF4-FFF2-40B4-BE49-F238E27FC236}">
                  <a16:creationId xmlns:a16="http://schemas.microsoft.com/office/drawing/2014/main" id="{B4C0D00C-5DFC-4830-9915-2C31412CC386}"/>
                </a:ext>
              </a:extLst>
            </p:cNvPr>
            <p:cNvSpPr txBox="1">
              <a:spLocks noChangeArrowheads="1"/>
            </p:cNvSpPr>
            <p:nvPr/>
          </p:nvSpPr>
          <p:spPr bwMode="auto">
            <a:xfrm>
              <a:off x="4478402" y="2159727"/>
              <a:ext cx="4515460" cy="263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100" dirty="0">
                  <a:solidFill>
                    <a:schemeClr val="tx2"/>
                  </a:solidFill>
                </a:rPr>
                <a:t>[</a:t>
              </a:r>
              <a:r>
                <a:rPr lang="en-US" altLang="zh-TW" sz="1100" dirty="0" err="1">
                  <a:solidFill>
                    <a:srgbClr val="0070C0"/>
                  </a:solidFill>
                </a:rPr>
                <a:t>PcdsDynamicExDefault</a:t>
              </a:r>
              <a:r>
                <a:rPr lang="en-US" altLang="zh-TW" sz="1100" dirty="0">
                  <a:solidFill>
                    <a:schemeClr val="tx2"/>
                  </a:solidFill>
                </a:rPr>
                <a:t>]</a:t>
              </a:r>
            </a:p>
            <a:p>
              <a:r>
                <a:rPr lang="en-US" altLang="zh-TW" sz="1100" dirty="0">
                  <a:solidFill>
                    <a:schemeClr val="tx2"/>
                  </a:solidFill>
                </a:rPr>
                <a:t>!if </a:t>
              </a:r>
              <a:r>
                <a:rPr lang="en-US" altLang="zh-TW" sz="1100" dirty="0" err="1">
                  <a:solidFill>
                    <a:srgbClr val="7030A0"/>
                  </a:solidFill>
                </a:rPr>
                <a:t>gInsydeTokenSpaceGuid</a:t>
              </a:r>
              <a:r>
                <a:rPr lang="en-US" altLang="zh-TW" sz="1100" dirty="0" err="1">
                  <a:solidFill>
                    <a:schemeClr val="tx2"/>
                  </a:solidFill>
                </a:rPr>
                <a:t>.</a:t>
              </a:r>
              <a:r>
                <a:rPr lang="en-US" altLang="zh-TW" sz="1100" dirty="0" err="1">
                  <a:solidFill>
                    <a:srgbClr val="5A9541"/>
                  </a:solidFill>
                </a:rPr>
                <a:t>PcdFrontPageSupported</a:t>
              </a:r>
              <a:endParaRPr lang="en-US" altLang="zh-TW" sz="1100" dirty="0">
                <a:solidFill>
                  <a:srgbClr val="5A9541"/>
                </a:solidFill>
              </a:endParaRPr>
            </a:p>
            <a:p>
              <a:r>
                <a:rPr lang="en-US" altLang="zh-TW" sz="1100" dirty="0">
                  <a:solidFill>
                    <a:schemeClr val="tx2"/>
                  </a:solidFill>
                </a:rPr>
                <a:t>!if </a:t>
              </a:r>
              <a:r>
                <a:rPr lang="en-US" altLang="zh-TW" sz="1100" dirty="0" err="1">
                  <a:solidFill>
                    <a:srgbClr val="7030A0"/>
                  </a:solidFill>
                </a:rPr>
                <a:t>gInsydeTokenSpaceGuid</a:t>
              </a:r>
              <a:r>
                <a:rPr lang="en-US" altLang="zh-TW" sz="1100" dirty="0" err="1">
                  <a:solidFill>
                    <a:schemeClr val="tx2"/>
                  </a:solidFill>
                </a:rPr>
                <a:t>.</a:t>
              </a:r>
              <a:r>
                <a:rPr lang="en-US" altLang="zh-TW" sz="1100" dirty="0" err="1">
                  <a:solidFill>
                    <a:srgbClr val="5A9541"/>
                  </a:solidFill>
                </a:rPr>
                <a:t>PcdDynamicHotKeySupported</a:t>
              </a:r>
              <a:r>
                <a:rPr lang="en-US" altLang="zh-TW" sz="1100" dirty="0">
                  <a:solidFill>
                    <a:schemeClr val="tx2"/>
                  </a:solidFill>
                </a:rPr>
                <a:t> == FALSE</a:t>
              </a:r>
            </a:p>
            <a:p>
              <a:r>
                <a:rPr lang="en-US" altLang="zh-TW" sz="1100" dirty="0">
                  <a:solidFill>
                    <a:schemeClr val="tx2"/>
                  </a:solidFill>
                </a:rPr>
                <a:t>  </a:t>
              </a:r>
              <a:r>
                <a:rPr lang="en-US" altLang="zh-TW" sz="1100" dirty="0">
                  <a:solidFill>
                    <a:srgbClr val="7030A0"/>
                  </a:solidFill>
                </a:rPr>
                <a:t>gH2OBdsHotKeyGuid</a:t>
              </a:r>
              <a:r>
                <a:rPr lang="en-US" altLang="zh-TW" sz="1100" dirty="0">
                  <a:solidFill>
                    <a:schemeClr val="tx2"/>
                  </a:solidFill>
                </a:rPr>
                <a:t>.</a:t>
              </a:r>
              <a:r>
                <a:rPr lang="en-US" altLang="zh-TW" sz="1100" dirty="0">
                  <a:solidFill>
                    <a:srgbClr val="5A9541"/>
                  </a:solidFill>
                </a:rPr>
                <a:t>PcdH2OHotKeyFrontPage</a:t>
              </a:r>
              <a:r>
                <a:rPr lang="en-US" altLang="zh-TW" sz="1100" dirty="0">
                  <a:solidFill>
                    <a:schemeClr val="tx2"/>
                  </a:solidFill>
                </a:rPr>
                <a:t>|{GUID("00000000-0000-0000-0000-000000000000"), UINT32(0),</a:t>
              </a:r>
            </a:p>
            <a:p>
              <a:r>
                <a:rPr lang="en-US" altLang="zh-TW" sz="1100" dirty="0">
                  <a:solidFill>
                    <a:schemeClr val="tx2"/>
                  </a:solidFill>
                </a:rPr>
                <a:t>                                                                                   "esc",</a:t>
              </a:r>
            </a:p>
            <a:p>
              <a:r>
                <a:rPr lang="en-US" altLang="zh-TW" sz="1100" dirty="0">
                  <a:solidFill>
                    <a:schemeClr val="tx2"/>
                  </a:solidFill>
                </a:rPr>
                <a:t>                                                                                   "",</a:t>
              </a:r>
            </a:p>
            <a:p>
              <a:r>
                <a:rPr lang="en-US" altLang="zh-TW" sz="1100" dirty="0">
                  <a:solidFill>
                    <a:schemeClr val="tx2"/>
                  </a:solidFill>
                </a:rPr>
                <a:t>                                                                                   "</a:t>
              </a:r>
              <a:r>
                <a:rPr lang="en-US" altLang="zh-TW" sz="1100" dirty="0" err="1">
                  <a:solidFill>
                    <a:schemeClr val="tx2"/>
                  </a:solidFill>
                </a:rPr>
                <a:t>VenHw</a:t>
              </a:r>
              <a:r>
                <a:rPr lang="en-US" altLang="zh-TW" sz="1100" dirty="0">
                  <a:solidFill>
                    <a:schemeClr val="tx2"/>
                  </a:solidFill>
                </a:rPr>
                <a:t>(E0BA9B98-DD2D-4434-BB94-599CC9E4305D)"}</a:t>
              </a:r>
            </a:p>
            <a:p>
              <a:r>
                <a:rPr lang="en-US" altLang="zh-TW" sz="1100" dirty="0">
                  <a:solidFill>
                    <a:schemeClr val="tx2"/>
                  </a:solidFill>
                </a:rPr>
                <a:t>  </a:t>
              </a:r>
              <a:r>
                <a:rPr lang="en-US" altLang="zh-TW" sz="1100" dirty="0">
                  <a:solidFill>
                    <a:srgbClr val="7030A0"/>
                  </a:solidFill>
                </a:rPr>
                <a:t>gH2OBdsHotKeyDescGuid</a:t>
              </a:r>
              <a:r>
                <a:rPr lang="en-US" altLang="zh-TW" sz="1100" dirty="0">
                  <a:solidFill>
                    <a:schemeClr val="tx2"/>
                  </a:solidFill>
                </a:rPr>
                <a:t>.</a:t>
              </a:r>
              <a:r>
                <a:rPr lang="en-US" altLang="zh-TW" sz="1100" dirty="0">
                  <a:solidFill>
                    <a:srgbClr val="5A9541"/>
                  </a:solidFill>
                </a:rPr>
                <a:t>PcdH2OHotKeyFrontPageDesc</a:t>
              </a:r>
              <a:r>
                <a:rPr lang="en-US" altLang="zh-TW" sz="1100" dirty="0">
                  <a:solidFill>
                    <a:schemeClr val="tx2"/>
                  </a:solidFill>
                </a:rPr>
                <a:t>|{STRING_TOKEN(STR_OEM_BADGING_STR_ESC),</a:t>
              </a:r>
            </a:p>
            <a:p>
              <a:r>
                <a:rPr lang="en-US" altLang="zh-TW" sz="1100" dirty="0">
                  <a:solidFill>
                    <a:schemeClr val="tx2"/>
                  </a:solidFill>
                </a:rPr>
                <a:t>                                                                                                    STRING_TOKEN(STR_OEM_BADGING_STR_ESC_SELECT),</a:t>
              </a:r>
            </a:p>
            <a:p>
              <a:r>
                <a:rPr lang="en-US" altLang="zh-TW" sz="1100" dirty="0">
                  <a:solidFill>
                    <a:schemeClr val="tx2"/>
                  </a:solidFill>
                </a:rPr>
                <a:t>                                                                                                    "x=0em;y=0em;xorigin=</a:t>
              </a:r>
              <a:r>
                <a:rPr lang="en-US" altLang="zh-TW" sz="1100" dirty="0" err="1">
                  <a:solidFill>
                    <a:schemeClr val="tx2"/>
                  </a:solidFill>
                </a:rPr>
                <a:t>left;yorigin</a:t>
              </a:r>
              <a:r>
                <a:rPr lang="en-US" altLang="zh-TW" sz="1100" dirty="0">
                  <a:solidFill>
                    <a:schemeClr val="tx2"/>
                  </a:solidFill>
                </a:rPr>
                <a:t>=bottom;"}</a:t>
              </a:r>
            </a:p>
            <a:p>
              <a:r>
                <a:rPr lang="en-US" altLang="zh-TW" sz="1100" dirty="0">
                  <a:solidFill>
                    <a:schemeClr val="tx2"/>
                  </a:solidFill>
                </a:rPr>
                <a:t>  </a:t>
              </a:r>
              <a:r>
                <a:rPr lang="en-US" altLang="zh-TW" sz="1100" dirty="0">
                  <a:solidFill>
                    <a:srgbClr val="7030A0"/>
                  </a:solidFill>
                </a:rPr>
                <a:t>gH2OBdsHotKeyDescQuietGuid</a:t>
              </a:r>
              <a:r>
                <a:rPr lang="en-US" altLang="zh-TW" sz="1100" dirty="0">
                  <a:solidFill>
                    <a:schemeClr val="tx2"/>
                  </a:solidFill>
                </a:rPr>
                <a:t>.</a:t>
              </a:r>
              <a:r>
                <a:rPr lang="en-US" altLang="zh-TW" sz="1100" dirty="0">
                  <a:solidFill>
                    <a:srgbClr val="5A9541"/>
                  </a:solidFill>
                </a:rPr>
                <a:t>PcdH2OHotKeyFrontPageDescQuiet</a:t>
              </a:r>
              <a:r>
                <a:rPr lang="en-US" altLang="zh-TW" sz="1100" dirty="0">
                  <a:solidFill>
                    <a:schemeClr val="tx2"/>
                  </a:solidFill>
                </a:rPr>
                <a:t>|{STRING_TOKEN(STR_OEM_BADGING_STR_ESC),</a:t>
              </a:r>
            </a:p>
            <a:p>
              <a:r>
                <a:rPr lang="en-US" altLang="zh-TW" sz="1100" dirty="0">
                  <a:solidFill>
                    <a:schemeClr val="tx2"/>
                  </a:solidFill>
                </a:rPr>
                <a:t>                                                                                                                     STRING_TOKEN(STR_OEM_BADGING_STR_ESC_SELECT),</a:t>
              </a:r>
            </a:p>
            <a:p>
              <a:r>
                <a:rPr lang="en-US" altLang="zh-TW" sz="1100" dirty="0">
                  <a:solidFill>
                    <a:schemeClr val="tx2"/>
                  </a:solidFill>
                </a:rPr>
                <a:t>                                                                                                                     "x=0em;y=0em;xorigin=</a:t>
              </a:r>
              <a:r>
                <a:rPr lang="en-US" altLang="zh-TW" sz="1100" dirty="0" err="1">
                  <a:solidFill>
                    <a:schemeClr val="tx2"/>
                  </a:solidFill>
                </a:rPr>
                <a:t>center;yorigin</a:t>
              </a:r>
              <a:r>
                <a:rPr lang="en-US" altLang="zh-TW" sz="1100" dirty="0">
                  <a:solidFill>
                    <a:schemeClr val="tx2"/>
                  </a:solidFill>
                </a:rPr>
                <a:t>=top(80%);"}</a:t>
              </a:r>
            </a:p>
            <a:p>
              <a:r>
                <a:rPr lang="en-US" altLang="zh-TW" sz="1100" dirty="0">
                  <a:solidFill>
                    <a:schemeClr val="tx2"/>
                  </a:solidFill>
                </a:rPr>
                <a:t>!endif</a:t>
              </a:r>
            </a:p>
            <a:p>
              <a:r>
                <a:rPr lang="en-US" altLang="zh-TW" sz="1100" dirty="0">
                  <a:solidFill>
                    <a:schemeClr val="tx2"/>
                  </a:solidFill>
                </a:rPr>
                <a:t>!endif</a:t>
              </a:r>
            </a:p>
          </p:txBody>
        </p:sp>
      </p:grpSp>
    </p:spTree>
    <p:extLst>
      <p:ext uri="{BB962C8B-B14F-4D97-AF65-F5344CB8AC3E}">
        <p14:creationId xmlns:p14="http://schemas.microsoft.com/office/powerpoint/2010/main" val="3912837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err="1"/>
              <a:t>FrontPageDxe</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p:txBody>
          <a:bodyPr/>
          <a:lstStyle/>
          <a:p>
            <a:r>
              <a:rPr lang="en-US" altLang="zh-TW" sz="2400" dirty="0"/>
              <a:t>Register the hotkey and callback function. </a:t>
            </a:r>
            <a:endParaRPr lang="zh-TW" altLang="en-US" sz="2400" dirty="0"/>
          </a:p>
        </p:txBody>
      </p:sp>
      <p:grpSp>
        <p:nvGrpSpPr>
          <p:cNvPr id="12" name="群組 11">
            <a:extLst>
              <a:ext uri="{FF2B5EF4-FFF2-40B4-BE49-F238E27FC236}">
                <a16:creationId xmlns:a16="http://schemas.microsoft.com/office/drawing/2014/main" id="{56F41807-7744-45A5-B726-D89B97215906}"/>
              </a:ext>
            </a:extLst>
          </p:cNvPr>
          <p:cNvGrpSpPr/>
          <p:nvPr/>
        </p:nvGrpSpPr>
        <p:grpSpPr>
          <a:xfrm>
            <a:off x="1169126" y="1131995"/>
            <a:ext cx="10907610" cy="5123848"/>
            <a:chOff x="1169126" y="1199107"/>
            <a:chExt cx="10907610" cy="5123848"/>
          </a:xfrm>
        </p:grpSpPr>
        <p:grpSp>
          <p:nvGrpSpPr>
            <p:cNvPr id="13" name="群組 12">
              <a:extLst>
                <a:ext uri="{FF2B5EF4-FFF2-40B4-BE49-F238E27FC236}">
                  <a16:creationId xmlns:a16="http://schemas.microsoft.com/office/drawing/2014/main" id="{17D01430-446D-443B-9970-DE5E93C93150}"/>
                </a:ext>
              </a:extLst>
            </p:cNvPr>
            <p:cNvGrpSpPr/>
            <p:nvPr/>
          </p:nvGrpSpPr>
          <p:grpSpPr>
            <a:xfrm>
              <a:off x="1169126" y="1905506"/>
              <a:ext cx="5423263" cy="3351788"/>
              <a:chOff x="1027260" y="1854928"/>
              <a:chExt cx="5911689" cy="3351788"/>
            </a:xfrm>
          </p:grpSpPr>
          <p:sp>
            <p:nvSpPr>
              <p:cNvPr id="25" name="Rectangle 15">
                <a:extLst>
                  <a:ext uri="{FF2B5EF4-FFF2-40B4-BE49-F238E27FC236}">
                    <a16:creationId xmlns:a16="http://schemas.microsoft.com/office/drawing/2014/main" id="{7F2288BA-6BAF-46AF-98EA-1B04B1E1ADD3}"/>
                  </a:ext>
                </a:extLst>
              </p:cNvPr>
              <p:cNvSpPr>
                <a:spLocks noChangeArrowheads="1"/>
              </p:cNvSpPr>
              <p:nvPr/>
            </p:nvSpPr>
            <p:spPr bwMode="auto">
              <a:xfrm>
                <a:off x="1027260" y="1854928"/>
                <a:ext cx="5911689" cy="3290264"/>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26" name="Rectangle 16">
                <a:extLst>
                  <a:ext uri="{FF2B5EF4-FFF2-40B4-BE49-F238E27FC236}">
                    <a16:creationId xmlns:a16="http://schemas.microsoft.com/office/drawing/2014/main" id="{11D56A13-3F36-45C1-AFBA-20549C530132}"/>
                  </a:ext>
                </a:extLst>
              </p:cNvPr>
              <p:cNvSpPr>
                <a:spLocks noChangeArrowheads="1"/>
              </p:cNvSpPr>
              <p:nvPr/>
            </p:nvSpPr>
            <p:spPr bwMode="auto">
              <a:xfrm>
                <a:off x="1027260" y="1854928"/>
                <a:ext cx="5911689"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FrontPage.c</a:t>
                </a:r>
                <a:endParaRPr lang="zh-TW" altLang="en-US" sz="1400" dirty="0"/>
              </a:p>
            </p:txBody>
          </p:sp>
          <p:sp>
            <p:nvSpPr>
              <p:cNvPr id="27" name="Text Box 17">
                <a:extLst>
                  <a:ext uri="{FF2B5EF4-FFF2-40B4-BE49-F238E27FC236}">
                    <a16:creationId xmlns:a16="http://schemas.microsoft.com/office/drawing/2014/main" id="{860029DD-8FE1-4A31-9B13-BD3BB90CDCB1}"/>
                  </a:ext>
                </a:extLst>
              </p:cNvPr>
              <p:cNvSpPr txBox="1">
                <a:spLocks noChangeArrowheads="1"/>
              </p:cNvSpPr>
              <p:nvPr/>
            </p:nvSpPr>
            <p:spPr bwMode="auto">
              <a:xfrm>
                <a:off x="1041112" y="2159728"/>
                <a:ext cx="5888381"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a:solidFill>
                      <a:srgbClr val="5A9541"/>
                    </a:solidFill>
                  </a:rPr>
                  <a:t>EFI_LOAD_FILE_PROTOCOL </a:t>
                </a:r>
                <a:r>
                  <a:rPr lang="en-US" altLang="zh-TW" sz="1200" dirty="0" err="1">
                    <a:solidFill>
                      <a:srgbClr val="0070C0"/>
                    </a:solidFill>
                  </a:rPr>
                  <a:t>mFrontPageLoadFile</a:t>
                </a:r>
                <a:r>
                  <a:rPr lang="en-US" altLang="zh-TW" sz="1200" dirty="0">
                    <a:solidFill>
                      <a:srgbClr val="002060"/>
                    </a:solidFill>
                  </a:rPr>
                  <a:t>  = {</a:t>
                </a:r>
                <a:r>
                  <a:rPr lang="en-US" altLang="zh-TW" sz="1200" dirty="0" err="1">
                    <a:solidFill>
                      <a:srgbClr val="5A9541"/>
                    </a:solidFill>
                  </a:rPr>
                  <a:t>FrontPageLoadFile</a:t>
                </a:r>
                <a:r>
                  <a:rPr lang="en-US" altLang="zh-TW" sz="1200" dirty="0">
                    <a:solidFill>
                      <a:srgbClr val="002060"/>
                    </a:solidFill>
                  </a:rPr>
                  <a:t>};</a:t>
                </a:r>
              </a:p>
              <a:p>
                <a:endParaRPr lang="en-US" altLang="zh-TW" sz="1200" dirty="0">
                  <a:solidFill>
                    <a:srgbClr val="002060"/>
                  </a:solidFill>
                </a:endParaRPr>
              </a:p>
              <a:p>
                <a:r>
                  <a:rPr lang="en-US" altLang="zh-TW" sz="1200" dirty="0" err="1">
                    <a:solidFill>
                      <a:srgbClr val="0070C0"/>
                    </a:solidFill>
                  </a:rPr>
                  <a:t>FrontPageEntry</a:t>
                </a:r>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r>
                  <a:rPr lang="en-US" altLang="zh-TW" sz="1200" dirty="0">
                    <a:solidFill>
                      <a:srgbClr val="00B0F0"/>
                    </a:solidFill>
                  </a:rPr>
                  <a:t>Status</a:t>
                </a:r>
                <a:r>
                  <a:rPr lang="en-US" altLang="zh-TW" sz="1200" dirty="0">
                    <a:solidFill>
                      <a:schemeClr val="tx2"/>
                    </a:solidFill>
                  </a:rPr>
                  <a:t> = </a:t>
                </a:r>
                <a:r>
                  <a:rPr lang="en-US" altLang="zh-TW" sz="1200" dirty="0" err="1">
                    <a:solidFill>
                      <a:srgbClr val="7030A0"/>
                    </a:solidFill>
                  </a:rPr>
                  <a:t>gBS</a:t>
                </a:r>
                <a:r>
                  <a:rPr lang="en-US" altLang="zh-TW" sz="1200" dirty="0">
                    <a:solidFill>
                      <a:srgbClr val="7030A0"/>
                    </a:solidFill>
                  </a:rPr>
                  <a:t>-</a:t>
                </a:r>
                <a:r>
                  <a:rPr lang="en-US" altLang="zh-TW" sz="1200" dirty="0">
                    <a:solidFill>
                      <a:schemeClr val="tx2"/>
                    </a:solidFill>
                  </a:rPr>
                  <a:t>&gt;</a:t>
                </a:r>
                <a:r>
                  <a:rPr lang="en-US" altLang="zh-TW" sz="1200" dirty="0" err="1">
                    <a:solidFill>
                      <a:srgbClr val="5A9541"/>
                    </a:solidFill>
                  </a:rPr>
                  <a:t>InstallMultipleProtocolInterfaces</a:t>
                </a:r>
                <a:r>
                  <a:rPr lang="en-US" altLang="zh-TW" sz="1200" dirty="0">
                    <a:solidFill>
                      <a:schemeClr val="tx2"/>
                    </a:solidFill>
                  </a:rPr>
                  <a:t> (</a:t>
                </a:r>
              </a:p>
              <a:p>
                <a:r>
                  <a:rPr lang="en-US" altLang="zh-TW" sz="1200" dirty="0">
                    <a:solidFill>
                      <a:schemeClr val="tx2"/>
                    </a:solidFill>
                  </a:rPr>
                  <a:t>                  &amp;</a:t>
                </a:r>
                <a:r>
                  <a:rPr lang="en-US" altLang="zh-TW" sz="1200" dirty="0" err="1">
                    <a:solidFill>
                      <a:schemeClr val="tx2"/>
                    </a:solidFill>
                  </a:rPr>
                  <a:t>DriverHandle</a:t>
                </a:r>
                <a:r>
                  <a:rPr lang="en-US" altLang="zh-TW" sz="1200" dirty="0">
                    <a:solidFill>
                      <a:schemeClr val="tx2"/>
                    </a:solidFill>
                  </a:rPr>
                  <a:t>,</a:t>
                </a:r>
              </a:p>
              <a:p>
                <a:r>
                  <a:rPr lang="en-US" altLang="zh-TW" sz="1200" dirty="0">
                    <a:solidFill>
                      <a:schemeClr val="tx2"/>
                    </a:solidFill>
                  </a:rPr>
                  <a:t>                  &amp;</a:t>
                </a:r>
                <a:r>
                  <a:rPr lang="en-US" altLang="zh-TW" sz="1200" dirty="0" err="1">
                    <a:solidFill>
                      <a:schemeClr val="tx2"/>
                    </a:solidFill>
                  </a:rPr>
                  <a:t>gEfiDevicePathProtocolGuid</a:t>
                </a:r>
                <a:r>
                  <a:rPr lang="en-US" altLang="zh-TW" sz="1200" dirty="0">
                    <a:solidFill>
                      <a:schemeClr val="tx2"/>
                    </a:solidFill>
                  </a:rPr>
                  <a:t>,</a:t>
                </a:r>
              </a:p>
              <a:p>
                <a:r>
                  <a:rPr lang="en-US" altLang="zh-TW" sz="1200" dirty="0">
                    <a:solidFill>
                      <a:schemeClr val="tx2"/>
                    </a:solidFill>
                  </a:rPr>
                  <a:t>                  &amp;</a:t>
                </a:r>
                <a:r>
                  <a:rPr lang="en-US" altLang="zh-TW" sz="1200" dirty="0">
                    <a:solidFill>
                      <a:srgbClr val="7030A0"/>
                    </a:solidFill>
                  </a:rPr>
                  <a:t>gH2OFrontPageDevicePath</a:t>
                </a:r>
                <a:r>
                  <a:rPr lang="en-US" altLang="zh-TW" sz="1200" dirty="0">
                    <a:solidFill>
                      <a:schemeClr val="tx2"/>
                    </a:solidFill>
                  </a:rPr>
                  <a:t>,</a:t>
                </a:r>
              </a:p>
              <a:p>
                <a:r>
                  <a:rPr lang="en-US" altLang="zh-TW" sz="1200" dirty="0">
                    <a:solidFill>
                      <a:schemeClr val="tx2"/>
                    </a:solidFill>
                  </a:rPr>
                  <a:t>                  &amp;</a:t>
                </a:r>
                <a:r>
                  <a:rPr lang="en-US" altLang="zh-TW" sz="1200" dirty="0" err="1">
                    <a:solidFill>
                      <a:schemeClr val="tx2"/>
                    </a:solidFill>
                  </a:rPr>
                  <a:t>gEfiLoadFileProtocolGuid</a:t>
                </a:r>
                <a:r>
                  <a:rPr lang="en-US" altLang="zh-TW" sz="1200" dirty="0">
                    <a:solidFill>
                      <a:schemeClr val="tx2"/>
                    </a:solidFill>
                  </a:rPr>
                  <a:t>,</a:t>
                </a:r>
              </a:p>
              <a:p>
                <a:r>
                  <a:rPr lang="en-US" altLang="zh-TW" sz="1200" dirty="0">
                    <a:solidFill>
                      <a:schemeClr val="tx2"/>
                    </a:solidFill>
                  </a:rPr>
                  <a:t>                  &amp;</a:t>
                </a:r>
                <a:r>
                  <a:rPr lang="en-US" altLang="zh-TW" sz="1200" dirty="0" err="1">
                    <a:solidFill>
                      <a:srgbClr val="7030A0"/>
                    </a:solidFill>
                  </a:rPr>
                  <a:t>mFrontPageLoadFile</a:t>
                </a:r>
                <a:r>
                  <a:rPr lang="en-US" altLang="zh-TW" sz="1200" dirty="0">
                    <a:solidFill>
                      <a:schemeClr val="tx2"/>
                    </a:solidFill>
                  </a:rPr>
                  <a:t>,</a:t>
                </a:r>
              </a:p>
              <a:p>
                <a:r>
                  <a:rPr lang="en-US" altLang="zh-TW" sz="1200" dirty="0">
                    <a:solidFill>
                      <a:schemeClr val="tx2"/>
                    </a:solidFill>
                  </a:rPr>
                  <a:t>                  </a:t>
                </a:r>
                <a:r>
                  <a:rPr lang="en-US" altLang="zh-TW" sz="1200" dirty="0">
                    <a:solidFill>
                      <a:srgbClr val="FF0000"/>
                    </a:solidFill>
                  </a:rPr>
                  <a:t>NULL</a:t>
                </a:r>
              </a:p>
              <a:p>
                <a:r>
                  <a:rPr lang="en-US" altLang="zh-TW" sz="1200" dirty="0">
                    <a:solidFill>
                      <a:schemeClr val="tx2"/>
                    </a:solidFill>
                  </a:rPr>
                  <a:t>                  );</a:t>
                </a:r>
              </a:p>
              <a:p>
                <a:r>
                  <a:rPr lang="en-US" altLang="zh-TW" sz="1200" dirty="0">
                    <a:solidFill>
                      <a:srgbClr val="0070C0"/>
                    </a:solidFill>
                  </a:rPr>
                  <a:t>return</a:t>
                </a:r>
                <a:r>
                  <a:rPr lang="en-US" altLang="zh-TW" sz="1200" dirty="0">
                    <a:solidFill>
                      <a:srgbClr val="002060"/>
                    </a:solidFill>
                  </a:rPr>
                  <a:t> </a:t>
                </a:r>
                <a:r>
                  <a:rPr lang="en-US" altLang="zh-TW" sz="1200" dirty="0">
                    <a:solidFill>
                      <a:srgbClr val="00B0F0"/>
                    </a:solidFill>
                  </a:rPr>
                  <a:t>Status</a:t>
                </a:r>
                <a:r>
                  <a:rPr lang="en-US" altLang="zh-TW" sz="1200" dirty="0">
                    <a:solidFill>
                      <a:schemeClr val="tx2"/>
                    </a:solidFill>
                  </a:rPr>
                  <a:t>;</a:t>
                </a:r>
              </a:p>
              <a:p>
                <a:r>
                  <a:rPr lang="en-US" altLang="zh-TW" sz="1200" dirty="0">
                    <a:solidFill>
                      <a:schemeClr val="tx2"/>
                    </a:solidFill>
                  </a:rPr>
                  <a:t>}</a:t>
                </a:r>
              </a:p>
            </p:txBody>
          </p:sp>
        </p:grpSp>
        <p:sp>
          <p:nvSpPr>
            <p:cNvPr id="14" name="Rectangle 15">
              <a:extLst>
                <a:ext uri="{FF2B5EF4-FFF2-40B4-BE49-F238E27FC236}">
                  <a16:creationId xmlns:a16="http://schemas.microsoft.com/office/drawing/2014/main" id="{F669AD9D-46A5-481D-8D6B-28944E6B597E}"/>
                </a:ext>
              </a:extLst>
            </p:cNvPr>
            <p:cNvSpPr>
              <a:spLocks noChangeArrowheads="1"/>
            </p:cNvSpPr>
            <p:nvPr/>
          </p:nvSpPr>
          <p:spPr bwMode="auto">
            <a:xfrm>
              <a:off x="7876277" y="1199107"/>
              <a:ext cx="4015794" cy="4459785"/>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5" name="Rectangle 16">
              <a:extLst>
                <a:ext uri="{FF2B5EF4-FFF2-40B4-BE49-F238E27FC236}">
                  <a16:creationId xmlns:a16="http://schemas.microsoft.com/office/drawing/2014/main" id="{89B54F72-672D-408F-A6CF-4B97B6EC5EBB}"/>
                </a:ext>
              </a:extLst>
            </p:cNvPr>
            <p:cNvSpPr>
              <a:spLocks noChangeArrowheads="1"/>
            </p:cNvSpPr>
            <p:nvPr/>
          </p:nvSpPr>
          <p:spPr bwMode="auto">
            <a:xfrm>
              <a:off x="7876277" y="1199108"/>
              <a:ext cx="4015794"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UtilityLoader.c</a:t>
              </a:r>
              <a:endParaRPr lang="zh-TW" altLang="en-US" sz="1400" dirty="0"/>
            </a:p>
          </p:txBody>
        </p:sp>
        <p:sp>
          <p:nvSpPr>
            <p:cNvPr id="16" name="Text Box 17">
              <a:extLst>
                <a:ext uri="{FF2B5EF4-FFF2-40B4-BE49-F238E27FC236}">
                  <a16:creationId xmlns:a16="http://schemas.microsoft.com/office/drawing/2014/main" id="{E868056B-E011-4FCF-9D4C-712E28DF415F}"/>
                </a:ext>
              </a:extLst>
            </p:cNvPr>
            <p:cNvSpPr txBox="1">
              <a:spLocks noChangeArrowheads="1"/>
            </p:cNvSpPr>
            <p:nvPr/>
          </p:nvSpPr>
          <p:spPr bwMode="auto">
            <a:xfrm>
              <a:off x="7890130" y="1503908"/>
              <a:ext cx="3929205"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a:solidFill>
                    <a:srgbClr val="5A9541"/>
                  </a:solidFill>
                </a:rPr>
                <a:t>H2O_BDS_LOAD_OPTION_VENDOR_DEVICE_PATH      </a:t>
              </a:r>
              <a:r>
                <a:rPr lang="en-US" altLang="zh-TW" sz="1200" dirty="0">
                  <a:solidFill>
                    <a:srgbClr val="0070C0"/>
                  </a:solidFill>
                </a:rPr>
                <a:t>gH2OFrontPageDevicePath</a:t>
              </a:r>
              <a:r>
                <a:rPr lang="en-US" altLang="zh-TW" sz="1200" dirty="0">
                  <a:solidFill>
                    <a:schemeClr val="tx2"/>
                  </a:solidFill>
                </a:rPr>
                <a:t> = {</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r>
                <a:rPr lang="en-US" altLang="zh-TW" sz="1200" dirty="0">
                  <a:solidFill>
                    <a:srgbClr val="FF0000"/>
                  </a:solidFill>
                </a:rPr>
                <a:t>HARDWARE_DEVICE_PATH</a:t>
              </a:r>
              <a:r>
                <a:rPr lang="en-US" altLang="zh-TW" sz="1200" dirty="0">
                  <a:solidFill>
                    <a:schemeClr val="tx2"/>
                  </a:solidFill>
                </a:rPr>
                <a:t>,</a:t>
              </a:r>
            </a:p>
            <a:p>
              <a:r>
                <a:rPr lang="en-US" altLang="zh-TW" sz="1200" dirty="0">
                  <a:solidFill>
                    <a:schemeClr val="tx2"/>
                  </a:solidFill>
                </a:rPr>
                <a:t>      </a:t>
              </a:r>
              <a:r>
                <a:rPr lang="en-US" altLang="zh-TW" sz="1200" dirty="0">
                  <a:solidFill>
                    <a:srgbClr val="FF0000"/>
                  </a:solidFill>
                </a:rPr>
                <a:t>HW_VENDOR_DP</a:t>
              </a:r>
              <a:r>
                <a:rPr lang="en-US" altLang="zh-TW" sz="1200" dirty="0">
                  <a:solidFill>
                    <a:schemeClr val="tx2"/>
                  </a:solidFill>
                </a:rPr>
                <a:t>,</a:t>
              </a:r>
            </a:p>
            <a:p>
              <a:r>
                <a:rPr lang="en-US" altLang="zh-TW" sz="1200" dirty="0">
                  <a:solidFill>
                    <a:schemeClr val="tx2"/>
                  </a:solidFill>
                </a:rPr>
                <a:t>      {</a:t>
              </a:r>
            </a:p>
            <a:p>
              <a:r>
                <a:rPr lang="en-US" altLang="zh-TW" sz="1200" dirty="0">
                  <a:solidFill>
                    <a:schemeClr val="tx2"/>
                  </a:solidFill>
                </a:rPr>
                <a:t>        (</a:t>
              </a:r>
              <a:r>
                <a:rPr lang="en-US" altLang="zh-TW" sz="1200" dirty="0">
                  <a:solidFill>
                    <a:srgbClr val="5A9541"/>
                  </a:solidFill>
                </a:rPr>
                <a:t>UINT8</a:t>
              </a:r>
              <a:r>
                <a:rPr lang="en-US" altLang="zh-TW" sz="1200" dirty="0">
                  <a:solidFill>
                    <a:schemeClr val="tx2"/>
                  </a:solidFill>
                </a:rPr>
                <a:t>) (</a:t>
              </a:r>
              <a:r>
                <a:rPr lang="en-US" altLang="zh-TW" sz="1200" dirty="0" err="1">
                  <a:solidFill>
                    <a:srgbClr val="5A9541"/>
                  </a:solidFill>
                </a:rPr>
                <a:t>sizeof</a:t>
              </a:r>
              <a:r>
                <a:rPr lang="en-US" altLang="zh-TW" sz="1200" dirty="0">
                  <a:solidFill>
                    <a:schemeClr val="tx2"/>
                  </a:solidFill>
                </a:rPr>
                <a:t> (</a:t>
              </a:r>
              <a:r>
                <a:rPr lang="en-US" altLang="zh-TW" sz="1200" dirty="0">
                  <a:solidFill>
                    <a:srgbClr val="5A9541"/>
                  </a:solidFill>
                </a:rPr>
                <a:t>VENDOR_DEVICE_PATH</a:t>
              </a:r>
              <a:r>
                <a:rPr lang="en-US" altLang="zh-TW" sz="1200" dirty="0">
                  <a:solidFill>
                    <a:schemeClr val="tx2"/>
                  </a:solidFill>
                </a:rPr>
                <a:t>)),</a:t>
              </a:r>
            </a:p>
            <a:p>
              <a:r>
                <a:rPr lang="en-US" altLang="zh-TW" sz="1200" dirty="0">
                  <a:solidFill>
                    <a:schemeClr val="tx2"/>
                  </a:solidFill>
                </a:rPr>
                <a:t>        (</a:t>
              </a:r>
              <a:r>
                <a:rPr lang="en-US" altLang="zh-TW" sz="1200" dirty="0">
                  <a:solidFill>
                    <a:srgbClr val="5A9541"/>
                  </a:solidFill>
                </a:rPr>
                <a:t>UINT8</a:t>
              </a:r>
              <a:r>
                <a:rPr lang="en-US" altLang="zh-TW" sz="1200" dirty="0">
                  <a:solidFill>
                    <a:schemeClr val="tx2"/>
                  </a:solidFill>
                </a:rPr>
                <a:t>) ((</a:t>
              </a:r>
              <a:r>
                <a:rPr lang="en-US" altLang="zh-TW" sz="1200" dirty="0" err="1">
                  <a:solidFill>
                    <a:srgbClr val="5A9541"/>
                  </a:solidFill>
                </a:rPr>
                <a:t>sizeof</a:t>
              </a:r>
              <a:r>
                <a:rPr lang="en-US" altLang="zh-TW" sz="1200" dirty="0">
                  <a:solidFill>
                    <a:schemeClr val="tx2"/>
                  </a:solidFill>
                </a:rPr>
                <a:t> (</a:t>
              </a:r>
              <a:r>
                <a:rPr lang="en-US" altLang="zh-TW" sz="1200" dirty="0">
                  <a:solidFill>
                    <a:srgbClr val="5A9541"/>
                  </a:solidFill>
                </a:rPr>
                <a:t>VENDOR_DEVICE_PATH</a:t>
              </a:r>
              <a:r>
                <a:rPr lang="en-US" altLang="zh-TW" sz="1200" dirty="0">
                  <a:solidFill>
                    <a:schemeClr val="tx2"/>
                  </a:solidFill>
                </a:rPr>
                <a:t>)) &gt;&gt; 8)</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r>
                <a:rPr lang="en-US" altLang="zh-TW" sz="1200" dirty="0">
                  <a:solidFill>
                    <a:srgbClr val="FF0000"/>
                  </a:solidFill>
                </a:rPr>
                <a:t>H2O_BDS_LOAD_OPTION_FRONT_PAGE_GUID</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r>
                <a:rPr lang="en-US" altLang="zh-TW" sz="1200" dirty="0">
                  <a:solidFill>
                    <a:srgbClr val="FF0000"/>
                  </a:solidFill>
                </a:rPr>
                <a:t>END_DEVICE_PATH_TYPE</a:t>
              </a:r>
              <a:r>
                <a:rPr lang="en-US" altLang="zh-TW" sz="1200" dirty="0">
                  <a:solidFill>
                    <a:schemeClr val="tx2"/>
                  </a:solidFill>
                </a:rPr>
                <a:t>,</a:t>
              </a:r>
            </a:p>
            <a:p>
              <a:r>
                <a:rPr lang="en-US" altLang="zh-TW" sz="1200" dirty="0">
                  <a:solidFill>
                    <a:schemeClr val="tx2"/>
                  </a:solidFill>
                </a:rPr>
                <a:t>    </a:t>
              </a:r>
              <a:r>
                <a:rPr lang="en-US" altLang="zh-TW" sz="1200" dirty="0">
                  <a:solidFill>
                    <a:srgbClr val="FF0000"/>
                  </a:solidFill>
                </a:rPr>
                <a:t>END_ENTIRE_DEVICE_PATH_SUBTYPE</a:t>
              </a:r>
              <a:r>
                <a:rPr lang="en-US" altLang="zh-TW" sz="1200" dirty="0">
                  <a:solidFill>
                    <a:schemeClr val="tx2"/>
                  </a:solidFill>
                </a:rPr>
                <a:t>,</a:t>
              </a:r>
            </a:p>
            <a:p>
              <a:r>
                <a:rPr lang="en-US" altLang="zh-TW" sz="1200" dirty="0">
                  <a:solidFill>
                    <a:schemeClr val="tx2"/>
                  </a:solidFill>
                </a:rPr>
                <a:t>    {</a:t>
              </a:r>
            </a:p>
            <a:p>
              <a:r>
                <a:rPr lang="en-US" altLang="zh-TW" sz="1200" dirty="0">
                  <a:solidFill>
                    <a:schemeClr val="tx2"/>
                  </a:solidFill>
                </a:rPr>
                <a:t>      (</a:t>
              </a:r>
              <a:r>
                <a:rPr lang="en-US" altLang="zh-TW" sz="1200" dirty="0">
                  <a:solidFill>
                    <a:srgbClr val="5A9541"/>
                  </a:solidFill>
                </a:rPr>
                <a:t>UINT8</a:t>
              </a:r>
              <a:r>
                <a:rPr lang="en-US" altLang="zh-TW" sz="1200" dirty="0">
                  <a:solidFill>
                    <a:schemeClr val="tx2"/>
                  </a:solidFill>
                </a:rPr>
                <a:t>) (</a:t>
              </a:r>
              <a:r>
                <a:rPr lang="en-US" altLang="zh-TW" sz="1200" dirty="0">
                  <a:solidFill>
                    <a:srgbClr val="FF0000"/>
                  </a:solidFill>
                </a:rPr>
                <a:t>END_DEVICE_PATH_LENGTH</a:t>
              </a:r>
              <a:r>
                <a:rPr lang="en-US" altLang="zh-TW" sz="1200" dirty="0">
                  <a:solidFill>
                    <a:schemeClr val="tx2"/>
                  </a:solidFill>
                </a:rPr>
                <a:t>),</a:t>
              </a:r>
            </a:p>
            <a:p>
              <a:r>
                <a:rPr lang="en-US" altLang="zh-TW" sz="1200" dirty="0">
                  <a:solidFill>
                    <a:schemeClr val="tx2"/>
                  </a:solidFill>
                </a:rPr>
                <a:t>      (</a:t>
              </a:r>
              <a:r>
                <a:rPr lang="en-US" altLang="zh-TW" sz="1200" dirty="0">
                  <a:solidFill>
                    <a:srgbClr val="5A9541"/>
                  </a:solidFill>
                </a:rPr>
                <a:t>UINT8</a:t>
              </a:r>
              <a:r>
                <a:rPr lang="en-US" altLang="zh-TW" sz="1200" dirty="0">
                  <a:solidFill>
                    <a:schemeClr val="tx2"/>
                  </a:solidFill>
                </a:rPr>
                <a:t>) ((</a:t>
              </a:r>
              <a:r>
                <a:rPr lang="en-US" altLang="zh-TW" sz="1200" dirty="0">
                  <a:solidFill>
                    <a:srgbClr val="FF0000"/>
                  </a:solidFill>
                </a:rPr>
                <a:t>END_DEVICE_PATH_LENGTH</a:t>
              </a:r>
              <a:r>
                <a:rPr lang="en-US" altLang="zh-TW" sz="1200" dirty="0">
                  <a:solidFill>
                    <a:schemeClr val="tx2"/>
                  </a:solidFill>
                </a:rPr>
                <a:t>) &gt;&gt; </a:t>
              </a:r>
              <a:r>
                <a:rPr lang="en-US" altLang="zh-TW" sz="1200" dirty="0">
                  <a:solidFill>
                    <a:srgbClr val="FF0000"/>
                  </a:solidFill>
                </a:rPr>
                <a:t>8</a:t>
              </a:r>
              <a:r>
                <a:rPr lang="en-US" altLang="zh-TW" sz="1200" dirty="0">
                  <a:solidFill>
                    <a:schemeClr val="tx2"/>
                  </a:solidFill>
                </a:rPr>
                <a:t>)</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a:t>
              </a:r>
            </a:p>
          </p:txBody>
        </p:sp>
        <p:grpSp>
          <p:nvGrpSpPr>
            <p:cNvPr id="17" name="群組 16">
              <a:extLst>
                <a:ext uri="{FF2B5EF4-FFF2-40B4-BE49-F238E27FC236}">
                  <a16:creationId xmlns:a16="http://schemas.microsoft.com/office/drawing/2014/main" id="{33EEF804-7323-4507-92C0-2573290353BA}"/>
                </a:ext>
              </a:extLst>
            </p:cNvPr>
            <p:cNvGrpSpPr/>
            <p:nvPr/>
          </p:nvGrpSpPr>
          <p:grpSpPr>
            <a:xfrm>
              <a:off x="1169126" y="5741156"/>
              <a:ext cx="10257284" cy="581799"/>
              <a:chOff x="1027260" y="5435513"/>
              <a:chExt cx="10257284" cy="581799"/>
            </a:xfrm>
          </p:grpSpPr>
          <p:sp>
            <p:nvSpPr>
              <p:cNvPr id="22" name="Rectangle 15">
                <a:extLst>
                  <a:ext uri="{FF2B5EF4-FFF2-40B4-BE49-F238E27FC236}">
                    <a16:creationId xmlns:a16="http://schemas.microsoft.com/office/drawing/2014/main" id="{73BC55AF-DDB6-460E-A077-69C359BCBBB2}"/>
                  </a:ext>
                </a:extLst>
              </p:cNvPr>
              <p:cNvSpPr>
                <a:spLocks noChangeArrowheads="1"/>
              </p:cNvSpPr>
              <p:nvPr/>
            </p:nvSpPr>
            <p:spPr bwMode="auto">
              <a:xfrm>
                <a:off x="1027260" y="5435513"/>
                <a:ext cx="10257284" cy="581799"/>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23" name="Rectangle 16">
                <a:extLst>
                  <a:ext uri="{FF2B5EF4-FFF2-40B4-BE49-F238E27FC236}">
                    <a16:creationId xmlns:a16="http://schemas.microsoft.com/office/drawing/2014/main" id="{B0A79362-5527-4978-9B80-89FFAD9D43CB}"/>
                  </a:ext>
                </a:extLst>
              </p:cNvPr>
              <p:cNvSpPr>
                <a:spLocks noChangeArrowheads="1"/>
              </p:cNvSpPr>
              <p:nvPr/>
            </p:nvSpPr>
            <p:spPr bwMode="auto">
              <a:xfrm>
                <a:off x="1027260" y="5435513"/>
                <a:ext cx="10257284"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InsydeModuleHii.h</a:t>
                </a:r>
                <a:endParaRPr lang="zh-TW" altLang="en-US" sz="1400" dirty="0"/>
              </a:p>
            </p:txBody>
          </p:sp>
          <p:sp>
            <p:nvSpPr>
              <p:cNvPr id="24" name="Text Box 17">
                <a:extLst>
                  <a:ext uri="{FF2B5EF4-FFF2-40B4-BE49-F238E27FC236}">
                    <a16:creationId xmlns:a16="http://schemas.microsoft.com/office/drawing/2014/main" id="{5C6CD15F-4FE1-4F0D-B09E-64909D4C7BA1}"/>
                  </a:ext>
                </a:extLst>
              </p:cNvPr>
              <p:cNvSpPr txBox="1">
                <a:spLocks noChangeArrowheads="1"/>
              </p:cNvSpPr>
              <p:nvPr/>
            </p:nvSpPr>
            <p:spPr bwMode="auto">
              <a:xfrm>
                <a:off x="1041113" y="5740313"/>
                <a:ext cx="102434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a:solidFill>
                      <a:srgbClr val="5A9541"/>
                    </a:solidFill>
                  </a:rPr>
                  <a:t>#define </a:t>
                </a:r>
                <a:r>
                  <a:rPr lang="en-US" altLang="zh-TW" sz="1200" dirty="0">
                    <a:solidFill>
                      <a:srgbClr val="0070C0"/>
                    </a:solidFill>
                  </a:rPr>
                  <a:t>H2O_BDS_LOAD_OPTION_FRONT_PAGE_GUID</a:t>
                </a:r>
                <a:r>
                  <a:rPr lang="en-US" altLang="zh-TW" sz="1200" dirty="0">
                    <a:solidFill>
                      <a:srgbClr val="5A9541"/>
                    </a:solidFill>
                  </a:rPr>
                  <a:t>          { </a:t>
                </a:r>
                <a:r>
                  <a:rPr lang="en-US" altLang="zh-TW" sz="1200" dirty="0">
                    <a:solidFill>
                      <a:srgbClr val="FF0000"/>
                    </a:solidFill>
                  </a:rPr>
                  <a:t>0xe0ba9b98</a:t>
                </a:r>
                <a:r>
                  <a:rPr lang="en-US" altLang="zh-TW" sz="1200" dirty="0">
                    <a:solidFill>
                      <a:srgbClr val="5A9541"/>
                    </a:solidFill>
                  </a:rPr>
                  <a:t>, </a:t>
                </a:r>
                <a:r>
                  <a:rPr lang="en-US" altLang="zh-TW" sz="1200" dirty="0">
                    <a:solidFill>
                      <a:srgbClr val="FF0000"/>
                    </a:solidFill>
                  </a:rPr>
                  <a:t>0xdd2d</a:t>
                </a:r>
                <a:r>
                  <a:rPr lang="en-US" altLang="zh-TW" sz="1200" dirty="0">
                    <a:solidFill>
                      <a:srgbClr val="5A9541"/>
                    </a:solidFill>
                  </a:rPr>
                  <a:t>, </a:t>
                </a:r>
                <a:r>
                  <a:rPr lang="en-US" altLang="zh-TW" sz="1200" dirty="0">
                    <a:solidFill>
                      <a:srgbClr val="FF0000"/>
                    </a:solidFill>
                  </a:rPr>
                  <a:t>0x4434</a:t>
                </a:r>
                <a:r>
                  <a:rPr lang="en-US" altLang="zh-TW" sz="1200" dirty="0">
                    <a:solidFill>
                      <a:srgbClr val="5A9541"/>
                    </a:solidFill>
                  </a:rPr>
                  <a:t>, { </a:t>
                </a:r>
                <a:r>
                  <a:rPr lang="en-US" altLang="zh-TW" sz="1200" dirty="0">
                    <a:solidFill>
                      <a:srgbClr val="FF0000"/>
                    </a:solidFill>
                  </a:rPr>
                  <a:t>0xbb</a:t>
                </a:r>
                <a:r>
                  <a:rPr lang="en-US" altLang="zh-TW" sz="1200" dirty="0">
                    <a:solidFill>
                      <a:srgbClr val="5A9541"/>
                    </a:solidFill>
                  </a:rPr>
                  <a:t>, </a:t>
                </a:r>
                <a:r>
                  <a:rPr lang="en-US" altLang="zh-TW" sz="1200" dirty="0">
                    <a:solidFill>
                      <a:srgbClr val="FF0000"/>
                    </a:solidFill>
                  </a:rPr>
                  <a:t>0x94</a:t>
                </a:r>
                <a:r>
                  <a:rPr lang="en-US" altLang="zh-TW" sz="1200" dirty="0">
                    <a:solidFill>
                      <a:srgbClr val="5A9541"/>
                    </a:solidFill>
                  </a:rPr>
                  <a:t>, </a:t>
                </a:r>
                <a:r>
                  <a:rPr lang="en-US" altLang="zh-TW" sz="1200" dirty="0">
                    <a:solidFill>
                      <a:srgbClr val="FF0000"/>
                    </a:solidFill>
                  </a:rPr>
                  <a:t>0x59</a:t>
                </a:r>
                <a:r>
                  <a:rPr lang="en-US" altLang="zh-TW" sz="1200" dirty="0">
                    <a:solidFill>
                      <a:srgbClr val="5A9541"/>
                    </a:solidFill>
                  </a:rPr>
                  <a:t>, </a:t>
                </a:r>
                <a:r>
                  <a:rPr lang="en-US" altLang="zh-TW" sz="1200" dirty="0">
                    <a:solidFill>
                      <a:srgbClr val="FF0000"/>
                    </a:solidFill>
                  </a:rPr>
                  <a:t>0x9c</a:t>
                </a:r>
                <a:r>
                  <a:rPr lang="en-US" altLang="zh-TW" sz="1200" dirty="0">
                    <a:solidFill>
                      <a:srgbClr val="5A9541"/>
                    </a:solidFill>
                  </a:rPr>
                  <a:t>, </a:t>
                </a:r>
                <a:r>
                  <a:rPr lang="en-US" altLang="zh-TW" sz="1200" dirty="0">
                    <a:solidFill>
                      <a:srgbClr val="FF0000"/>
                    </a:solidFill>
                  </a:rPr>
                  <a:t>0xc9</a:t>
                </a:r>
                <a:r>
                  <a:rPr lang="en-US" altLang="zh-TW" sz="1200" dirty="0">
                    <a:solidFill>
                      <a:srgbClr val="5A9541"/>
                    </a:solidFill>
                  </a:rPr>
                  <a:t>, </a:t>
                </a:r>
                <a:r>
                  <a:rPr lang="en-US" altLang="zh-TW" sz="1200" dirty="0">
                    <a:solidFill>
                      <a:srgbClr val="FF0000"/>
                    </a:solidFill>
                  </a:rPr>
                  <a:t>0xe4</a:t>
                </a:r>
                <a:r>
                  <a:rPr lang="en-US" altLang="zh-TW" sz="1200" dirty="0">
                    <a:solidFill>
                      <a:srgbClr val="5A9541"/>
                    </a:solidFill>
                  </a:rPr>
                  <a:t>, </a:t>
                </a:r>
                <a:r>
                  <a:rPr lang="en-US" altLang="zh-TW" sz="1200" dirty="0">
                    <a:solidFill>
                      <a:srgbClr val="FF0000"/>
                    </a:solidFill>
                  </a:rPr>
                  <a:t>0x30</a:t>
                </a:r>
                <a:r>
                  <a:rPr lang="en-US" altLang="zh-TW" sz="1200" dirty="0">
                    <a:solidFill>
                      <a:srgbClr val="5A9541"/>
                    </a:solidFill>
                  </a:rPr>
                  <a:t>, </a:t>
                </a:r>
                <a:r>
                  <a:rPr lang="en-US" altLang="zh-TW" sz="1200" dirty="0">
                    <a:solidFill>
                      <a:srgbClr val="FF0000"/>
                    </a:solidFill>
                  </a:rPr>
                  <a:t>0x5d</a:t>
                </a:r>
                <a:r>
                  <a:rPr lang="en-US" altLang="zh-TW" sz="1200" dirty="0">
                    <a:solidFill>
                      <a:srgbClr val="5A9541"/>
                    </a:solidFill>
                  </a:rPr>
                  <a:t> } }</a:t>
                </a:r>
              </a:p>
            </p:txBody>
          </p:sp>
        </p:grpSp>
        <p:cxnSp>
          <p:nvCxnSpPr>
            <p:cNvPr id="18" name="接點: 肘形 17">
              <a:extLst>
                <a:ext uri="{FF2B5EF4-FFF2-40B4-BE49-F238E27FC236}">
                  <a16:creationId xmlns:a16="http://schemas.microsoft.com/office/drawing/2014/main" id="{07D4BB01-87E4-4D08-8379-F53CA8BE3C7A}"/>
                </a:ext>
              </a:extLst>
            </p:cNvPr>
            <p:cNvCxnSpPr/>
            <p:nvPr/>
          </p:nvCxnSpPr>
          <p:spPr>
            <a:xfrm flipV="1">
              <a:off x="4162697" y="1808708"/>
              <a:ext cx="3648892" cy="2196000"/>
            </a:xfrm>
            <a:prstGeom prst="bentConnector3">
              <a:avLst>
                <a:gd name="adj1" fmla="val 80788"/>
              </a:avLst>
            </a:prstGeom>
            <a:ln w="28575">
              <a:tailEnd type="triangle"/>
            </a:ln>
          </p:spPr>
          <p:style>
            <a:lnRef idx="3">
              <a:schemeClr val="accent2"/>
            </a:lnRef>
            <a:fillRef idx="0">
              <a:schemeClr val="accent2"/>
            </a:fillRef>
            <a:effectRef idx="2">
              <a:schemeClr val="accent2"/>
            </a:effectRef>
            <a:fontRef idx="minor">
              <a:schemeClr val="tx1"/>
            </a:fontRef>
          </p:style>
        </p:cxnSp>
        <p:grpSp>
          <p:nvGrpSpPr>
            <p:cNvPr id="19" name="群組 18">
              <a:extLst>
                <a:ext uri="{FF2B5EF4-FFF2-40B4-BE49-F238E27FC236}">
                  <a16:creationId xmlns:a16="http://schemas.microsoft.com/office/drawing/2014/main" id="{922583AA-CDC0-45FC-A5A5-EFB35CD4F870}"/>
                </a:ext>
              </a:extLst>
            </p:cNvPr>
            <p:cNvGrpSpPr/>
            <p:nvPr/>
          </p:nvGrpSpPr>
          <p:grpSpPr>
            <a:xfrm>
              <a:off x="11356736" y="3629294"/>
              <a:ext cx="720000" cy="2556000"/>
              <a:chOff x="11426409" y="3733800"/>
              <a:chExt cx="643671" cy="2450657"/>
            </a:xfrm>
          </p:grpSpPr>
          <p:cxnSp>
            <p:nvCxnSpPr>
              <p:cNvPr id="20" name="接點: 肘形 19">
                <a:extLst>
                  <a:ext uri="{FF2B5EF4-FFF2-40B4-BE49-F238E27FC236}">
                    <a16:creationId xmlns:a16="http://schemas.microsoft.com/office/drawing/2014/main" id="{BE759D29-8E1A-41A5-8548-17A825523D02}"/>
                  </a:ext>
                </a:extLst>
              </p:cNvPr>
              <p:cNvCxnSpPr>
                <a:cxnSpLocks/>
                <a:endCxn id="24" idx="3"/>
              </p:cNvCxnSpPr>
              <p:nvPr/>
            </p:nvCxnSpPr>
            <p:spPr>
              <a:xfrm rot="5400000">
                <a:off x="10522918" y="4637294"/>
                <a:ext cx="2450654" cy="643671"/>
              </a:xfrm>
              <a:prstGeom prst="bentConnector2">
                <a:avLst/>
              </a:prstGeom>
              <a:ln w="28575">
                <a:tailEnd type="triangle"/>
              </a:ln>
            </p:spPr>
            <p:style>
              <a:lnRef idx="3">
                <a:schemeClr val="accent2"/>
              </a:lnRef>
              <a:fillRef idx="0">
                <a:schemeClr val="accent2"/>
              </a:fillRef>
              <a:effectRef idx="2">
                <a:schemeClr val="accent2"/>
              </a:effectRef>
              <a:fontRef idx="minor">
                <a:schemeClr val="tx1"/>
              </a:fontRef>
            </p:style>
          </p:cxnSp>
          <p:cxnSp>
            <p:nvCxnSpPr>
              <p:cNvPr id="21" name="直線接點 20">
                <a:extLst>
                  <a:ext uri="{FF2B5EF4-FFF2-40B4-BE49-F238E27FC236}">
                    <a16:creationId xmlns:a16="http://schemas.microsoft.com/office/drawing/2014/main" id="{08FAA86D-7A26-4F00-A318-914FCBACF083}"/>
                  </a:ext>
                </a:extLst>
              </p:cNvPr>
              <p:cNvCxnSpPr/>
              <p:nvPr/>
            </p:nvCxnSpPr>
            <p:spPr>
              <a:xfrm flipH="1">
                <a:off x="11770044" y="3733800"/>
                <a:ext cx="300036" cy="0"/>
              </a:xfrm>
              <a:prstGeom prst="line">
                <a:avLst/>
              </a:prstGeom>
              <a:ln w="28575"/>
            </p:spPr>
            <p:style>
              <a:lnRef idx="3">
                <a:schemeClr val="accent2"/>
              </a:lnRef>
              <a:fillRef idx="0">
                <a:schemeClr val="accent2"/>
              </a:fillRef>
              <a:effectRef idx="2">
                <a:schemeClr val="accent2"/>
              </a:effectRef>
              <a:fontRef idx="minor">
                <a:schemeClr val="tx1"/>
              </a:fontRef>
            </p:style>
          </p:cxnSp>
        </p:grpSp>
      </p:grpSp>
    </p:spTree>
    <p:extLst>
      <p:ext uri="{BB962C8B-B14F-4D97-AF65-F5344CB8AC3E}">
        <p14:creationId xmlns:p14="http://schemas.microsoft.com/office/powerpoint/2010/main" val="1405411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err="1"/>
              <a:t>BdsDxe</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p:txBody>
          <a:bodyPr/>
          <a:lstStyle/>
          <a:p>
            <a:r>
              <a:rPr lang="en-US" altLang="zh-TW" sz="2400" dirty="0"/>
              <a:t>Enumerate the hotkey </a:t>
            </a:r>
          </a:p>
          <a:p>
            <a:pPr marL="0" indent="0">
              <a:buNone/>
            </a:pPr>
            <a:endParaRPr lang="zh-TW" altLang="en-US" sz="2400" dirty="0"/>
          </a:p>
        </p:txBody>
      </p:sp>
      <p:grpSp>
        <p:nvGrpSpPr>
          <p:cNvPr id="28" name="群組 27">
            <a:extLst>
              <a:ext uri="{FF2B5EF4-FFF2-40B4-BE49-F238E27FC236}">
                <a16:creationId xmlns:a16="http://schemas.microsoft.com/office/drawing/2014/main" id="{E9B616AD-9213-4C12-9921-25AD2F0B8494}"/>
              </a:ext>
            </a:extLst>
          </p:cNvPr>
          <p:cNvGrpSpPr/>
          <p:nvPr/>
        </p:nvGrpSpPr>
        <p:grpSpPr>
          <a:xfrm>
            <a:off x="2747836" y="713902"/>
            <a:ext cx="9370387" cy="5801750"/>
            <a:chOff x="2747836" y="713902"/>
            <a:chExt cx="9370387" cy="5801750"/>
          </a:xfrm>
        </p:grpSpPr>
        <p:grpSp>
          <p:nvGrpSpPr>
            <p:cNvPr id="29" name="群組 28">
              <a:extLst>
                <a:ext uri="{FF2B5EF4-FFF2-40B4-BE49-F238E27FC236}">
                  <a16:creationId xmlns:a16="http://schemas.microsoft.com/office/drawing/2014/main" id="{8E554794-1548-4B3D-B006-ADBA08F5EE0A}"/>
                </a:ext>
              </a:extLst>
            </p:cNvPr>
            <p:cNvGrpSpPr/>
            <p:nvPr/>
          </p:nvGrpSpPr>
          <p:grpSpPr>
            <a:xfrm>
              <a:off x="5897618" y="3684096"/>
              <a:ext cx="5658648" cy="2831556"/>
              <a:chOff x="4478400" y="1854926"/>
              <a:chExt cx="4515462" cy="2831556"/>
            </a:xfrm>
          </p:grpSpPr>
          <p:sp>
            <p:nvSpPr>
              <p:cNvPr id="40" name="Rectangle 15">
                <a:extLst>
                  <a:ext uri="{FF2B5EF4-FFF2-40B4-BE49-F238E27FC236}">
                    <a16:creationId xmlns:a16="http://schemas.microsoft.com/office/drawing/2014/main" id="{97921CDE-98BF-4009-AA02-3CF657458C95}"/>
                  </a:ext>
                </a:extLst>
              </p:cNvPr>
              <p:cNvSpPr>
                <a:spLocks noChangeArrowheads="1"/>
              </p:cNvSpPr>
              <p:nvPr/>
            </p:nvSpPr>
            <p:spPr bwMode="auto">
              <a:xfrm>
                <a:off x="4478402" y="1854926"/>
                <a:ext cx="4459867" cy="2831556"/>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41" name="Rectangle 16">
                <a:extLst>
                  <a:ext uri="{FF2B5EF4-FFF2-40B4-BE49-F238E27FC236}">
                    <a16:creationId xmlns:a16="http://schemas.microsoft.com/office/drawing/2014/main" id="{3AC0705A-5FFE-48D3-9235-397E6B8E682A}"/>
                  </a:ext>
                </a:extLst>
              </p:cNvPr>
              <p:cNvSpPr>
                <a:spLocks noChangeArrowheads="1"/>
              </p:cNvSpPr>
              <p:nvPr/>
            </p:nvSpPr>
            <p:spPr bwMode="auto">
              <a:xfrm>
                <a:off x="4478400" y="1854927"/>
                <a:ext cx="4459867"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BdsHotKey.c</a:t>
                </a:r>
                <a:endParaRPr lang="zh-TW" altLang="en-US" sz="1400" dirty="0"/>
              </a:p>
            </p:txBody>
          </p:sp>
          <p:sp>
            <p:nvSpPr>
              <p:cNvPr id="42" name="Text Box 17">
                <a:extLst>
                  <a:ext uri="{FF2B5EF4-FFF2-40B4-BE49-F238E27FC236}">
                    <a16:creationId xmlns:a16="http://schemas.microsoft.com/office/drawing/2014/main" id="{A463EE88-D8CE-4615-A187-857D270E16DD}"/>
                  </a:ext>
                </a:extLst>
              </p:cNvPr>
              <p:cNvSpPr txBox="1">
                <a:spLocks noChangeArrowheads="1"/>
              </p:cNvSpPr>
              <p:nvPr/>
            </p:nvSpPr>
            <p:spPr bwMode="auto">
              <a:xfrm>
                <a:off x="4478402" y="2159727"/>
                <a:ext cx="451546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err="1">
                    <a:solidFill>
                      <a:srgbClr val="002060"/>
                    </a:solidFill>
                  </a:rPr>
                  <a:t>PcdHotKeyEnumeration</a:t>
                </a:r>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r>
                  <a:rPr lang="en-US" altLang="zh-TW" sz="1200" dirty="0">
                    <a:solidFill>
                      <a:srgbClr val="00B0F0"/>
                    </a:solidFill>
                  </a:rPr>
                  <a:t>Status</a:t>
                </a:r>
                <a:r>
                  <a:rPr lang="en-US" altLang="zh-TW" sz="1200" dirty="0">
                    <a:solidFill>
                      <a:schemeClr val="tx2"/>
                    </a:solidFill>
                  </a:rPr>
                  <a:t> = </a:t>
                </a:r>
                <a:r>
                  <a:rPr lang="en-US" altLang="zh-TW" sz="1200" dirty="0" err="1">
                    <a:solidFill>
                      <a:srgbClr val="5A9541"/>
                    </a:solidFill>
                  </a:rPr>
                  <a:t>GetTokenNumList</a:t>
                </a:r>
                <a:r>
                  <a:rPr lang="en-US" altLang="zh-TW" sz="1200" dirty="0">
                    <a:solidFill>
                      <a:srgbClr val="7030A0"/>
                    </a:solidFill>
                  </a:rPr>
                  <a:t> </a:t>
                </a:r>
                <a:r>
                  <a:rPr lang="en-US" altLang="zh-TW" sz="1200" dirty="0">
                    <a:solidFill>
                      <a:schemeClr val="tx2"/>
                    </a:solidFill>
                  </a:rPr>
                  <a:t>(&amp;gH2OBdsHotKeyGuid, &amp;</a:t>
                </a:r>
                <a:r>
                  <a:rPr lang="en-US" altLang="zh-TW" sz="1200" dirty="0" err="1">
                    <a:solidFill>
                      <a:srgbClr val="00B0F0"/>
                    </a:solidFill>
                  </a:rPr>
                  <a:t>TokenList</a:t>
                </a:r>
                <a:r>
                  <a:rPr lang="en-US" altLang="zh-TW" sz="1200" dirty="0">
                    <a:solidFill>
                      <a:schemeClr val="tx2"/>
                    </a:solidFill>
                  </a:rPr>
                  <a:t>, &amp;</a:t>
                </a:r>
                <a:r>
                  <a:rPr lang="en-US" altLang="zh-TW" sz="1200" dirty="0" err="1">
                    <a:solidFill>
                      <a:srgbClr val="00B0F0"/>
                    </a:solidFill>
                  </a:rPr>
                  <a:t>TokenCount</a:t>
                </a:r>
                <a:r>
                  <a:rPr lang="en-US" altLang="zh-TW" sz="1200" dirty="0">
                    <a:solidFill>
                      <a:schemeClr val="tx2"/>
                    </a:solidFill>
                  </a:rPr>
                  <a:t>);</a:t>
                </a:r>
              </a:p>
              <a:p>
                <a:r>
                  <a:rPr lang="en-US" altLang="zh-TW" sz="1200" dirty="0">
                    <a:solidFill>
                      <a:schemeClr val="tx2"/>
                    </a:solidFill>
                  </a:rPr>
                  <a:t>  …</a:t>
                </a:r>
              </a:p>
              <a:p>
                <a:r>
                  <a:rPr lang="en-US" altLang="zh-TW" sz="1200" dirty="0">
                    <a:solidFill>
                      <a:schemeClr val="tx2"/>
                    </a:solidFill>
                  </a:rPr>
                  <a:t>  </a:t>
                </a:r>
                <a:r>
                  <a:rPr lang="en-US" altLang="zh-TW" sz="1200" dirty="0">
                    <a:solidFill>
                      <a:srgbClr val="002060"/>
                    </a:solidFill>
                  </a:rPr>
                  <a:t>for</a:t>
                </a:r>
                <a:r>
                  <a:rPr lang="en-US" altLang="zh-TW" sz="1200" dirty="0">
                    <a:solidFill>
                      <a:schemeClr val="tx2"/>
                    </a:solidFill>
                  </a:rPr>
                  <a:t> (</a:t>
                </a:r>
                <a:r>
                  <a:rPr lang="en-US" altLang="zh-TW" sz="1200" dirty="0">
                    <a:solidFill>
                      <a:srgbClr val="00B0F0"/>
                    </a:solidFill>
                  </a:rPr>
                  <a:t>Index</a:t>
                </a:r>
                <a:r>
                  <a:rPr lang="en-US" altLang="zh-TW" sz="1200" dirty="0">
                    <a:solidFill>
                      <a:schemeClr val="tx2"/>
                    </a:solidFill>
                  </a:rPr>
                  <a:t> = 0; </a:t>
                </a:r>
                <a:r>
                  <a:rPr lang="en-US" altLang="zh-TW" sz="1200" dirty="0">
                    <a:solidFill>
                      <a:srgbClr val="00B0F0"/>
                    </a:solidFill>
                  </a:rPr>
                  <a:t>Index</a:t>
                </a:r>
                <a:r>
                  <a:rPr lang="en-US" altLang="zh-TW" sz="1200" dirty="0">
                    <a:solidFill>
                      <a:schemeClr val="tx2"/>
                    </a:solidFill>
                  </a:rPr>
                  <a:t> &lt; </a:t>
                </a:r>
                <a:r>
                  <a:rPr lang="en-US" altLang="zh-TW" sz="1200" dirty="0" err="1">
                    <a:solidFill>
                      <a:srgbClr val="00B0F0"/>
                    </a:solidFill>
                  </a:rPr>
                  <a:t>TokenCount</a:t>
                </a:r>
                <a:r>
                  <a:rPr lang="en-US" altLang="zh-TW" sz="1200" dirty="0">
                    <a:solidFill>
                      <a:schemeClr val="tx2"/>
                    </a:solidFill>
                  </a:rPr>
                  <a:t>; </a:t>
                </a:r>
                <a:r>
                  <a:rPr lang="en-US" altLang="zh-TW" sz="1200" dirty="0">
                    <a:solidFill>
                      <a:srgbClr val="00B0F0"/>
                    </a:solidFill>
                  </a:rPr>
                  <a:t>Index</a:t>
                </a:r>
                <a:r>
                  <a:rPr lang="en-US" altLang="zh-TW" sz="1200" dirty="0">
                    <a:solidFill>
                      <a:schemeClr val="tx2"/>
                    </a:solidFill>
                  </a:rPr>
                  <a:t>++) {</a:t>
                </a:r>
              </a:p>
              <a:p>
                <a:r>
                  <a:rPr lang="en-US" altLang="zh-TW" sz="1200" dirty="0">
                    <a:solidFill>
                      <a:schemeClr val="tx2"/>
                    </a:solidFill>
                  </a:rPr>
                  <a:t>    </a:t>
                </a:r>
                <a:r>
                  <a:rPr lang="en-US" altLang="zh-TW" sz="1200" dirty="0" err="1">
                    <a:solidFill>
                      <a:srgbClr val="00B0F0"/>
                    </a:solidFill>
                  </a:rPr>
                  <a:t>HotKeyOption</a:t>
                </a:r>
                <a:r>
                  <a:rPr lang="en-US" altLang="zh-TW" sz="1200" dirty="0">
                    <a:solidFill>
                      <a:schemeClr val="tx2"/>
                    </a:solidFill>
                  </a:rPr>
                  <a:t> = </a:t>
                </a:r>
                <a:r>
                  <a:rPr lang="en-US" altLang="zh-TW" sz="1200" dirty="0" err="1">
                    <a:solidFill>
                      <a:srgbClr val="5A9541"/>
                    </a:solidFill>
                  </a:rPr>
                  <a:t>PcdHotKeyCreateOption</a:t>
                </a:r>
                <a:r>
                  <a:rPr lang="en-US" altLang="zh-TW" sz="1200" dirty="0">
                    <a:solidFill>
                      <a:schemeClr val="tx2"/>
                    </a:solidFill>
                  </a:rPr>
                  <a:t> (</a:t>
                </a:r>
                <a:r>
                  <a:rPr lang="en-US" altLang="zh-TW" sz="1200" dirty="0" err="1">
                    <a:solidFill>
                      <a:srgbClr val="00B0F0"/>
                    </a:solidFill>
                  </a:rPr>
                  <a:t>TokenList</a:t>
                </a:r>
                <a:r>
                  <a:rPr lang="en-US" altLang="zh-TW" sz="1200" dirty="0">
                    <a:solidFill>
                      <a:schemeClr val="tx2"/>
                    </a:solidFill>
                  </a:rPr>
                  <a:t>[</a:t>
                </a:r>
                <a:r>
                  <a:rPr lang="en-US" altLang="zh-TW" sz="1200" dirty="0">
                    <a:solidFill>
                      <a:srgbClr val="00B0F0"/>
                    </a:solidFill>
                  </a:rPr>
                  <a:t>Index</a:t>
                </a:r>
                <a:r>
                  <a:rPr lang="en-US" altLang="zh-TW" sz="1200" dirty="0">
                    <a:solidFill>
                      <a:schemeClr val="tx2"/>
                    </a:solidFill>
                  </a:rPr>
                  <a:t>]);</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r>
                  <a:rPr lang="en-US" altLang="zh-TW" sz="1200" dirty="0">
                    <a:solidFill>
                      <a:srgbClr val="002060"/>
                    </a:solidFill>
                  </a:rPr>
                  <a:t>return</a:t>
                </a:r>
                <a:r>
                  <a:rPr lang="en-US" altLang="zh-TW" sz="1200" dirty="0">
                    <a:solidFill>
                      <a:schemeClr val="tx2"/>
                    </a:solidFill>
                  </a:rPr>
                  <a:t>;</a:t>
                </a:r>
              </a:p>
              <a:p>
                <a:r>
                  <a:rPr lang="en-US" altLang="zh-TW" sz="1200" dirty="0">
                    <a:solidFill>
                      <a:schemeClr val="tx2"/>
                    </a:solidFill>
                  </a:rPr>
                  <a:t>}</a:t>
                </a:r>
              </a:p>
            </p:txBody>
          </p:sp>
        </p:grpSp>
        <p:grpSp>
          <p:nvGrpSpPr>
            <p:cNvPr id="30" name="群組 29">
              <a:extLst>
                <a:ext uri="{FF2B5EF4-FFF2-40B4-BE49-F238E27FC236}">
                  <a16:creationId xmlns:a16="http://schemas.microsoft.com/office/drawing/2014/main" id="{AD399FD3-8E81-4498-A63F-A4D358F33AEB}"/>
                </a:ext>
              </a:extLst>
            </p:cNvPr>
            <p:cNvGrpSpPr/>
            <p:nvPr/>
          </p:nvGrpSpPr>
          <p:grpSpPr>
            <a:xfrm>
              <a:off x="2747836" y="3684096"/>
              <a:ext cx="2327031" cy="2243793"/>
              <a:chOff x="3971108" y="1854926"/>
              <a:chExt cx="2327031" cy="2243793"/>
            </a:xfrm>
          </p:grpSpPr>
          <p:sp>
            <p:nvSpPr>
              <p:cNvPr id="37" name="Rectangle 15">
                <a:extLst>
                  <a:ext uri="{FF2B5EF4-FFF2-40B4-BE49-F238E27FC236}">
                    <a16:creationId xmlns:a16="http://schemas.microsoft.com/office/drawing/2014/main" id="{C698E4D1-1755-4AA1-99DC-6FD5DEBC9C2F}"/>
                  </a:ext>
                </a:extLst>
              </p:cNvPr>
              <p:cNvSpPr>
                <a:spLocks noChangeArrowheads="1"/>
              </p:cNvSpPr>
              <p:nvPr/>
            </p:nvSpPr>
            <p:spPr bwMode="auto">
              <a:xfrm>
                <a:off x="3971108" y="1854926"/>
                <a:ext cx="2327031" cy="2243793"/>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38" name="Rectangle 16">
                <a:extLst>
                  <a:ext uri="{FF2B5EF4-FFF2-40B4-BE49-F238E27FC236}">
                    <a16:creationId xmlns:a16="http://schemas.microsoft.com/office/drawing/2014/main" id="{0A37AC20-C2B6-45F7-8A10-A065237C9142}"/>
                  </a:ext>
                </a:extLst>
              </p:cNvPr>
              <p:cNvSpPr>
                <a:spLocks noChangeArrowheads="1"/>
              </p:cNvSpPr>
              <p:nvPr/>
            </p:nvSpPr>
            <p:spPr bwMode="auto">
              <a:xfrm>
                <a:off x="3971108" y="1854927"/>
                <a:ext cx="2327031"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BdsEntry.c</a:t>
                </a:r>
                <a:endParaRPr lang="zh-TW" altLang="en-US" sz="1400" dirty="0"/>
              </a:p>
            </p:txBody>
          </p:sp>
          <p:sp>
            <p:nvSpPr>
              <p:cNvPr id="39" name="Text Box 17">
                <a:extLst>
                  <a:ext uri="{FF2B5EF4-FFF2-40B4-BE49-F238E27FC236}">
                    <a16:creationId xmlns:a16="http://schemas.microsoft.com/office/drawing/2014/main" id="{519B9709-E6C6-42E3-A64F-BD4F7BF6B910}"/>
                  </a:ext>
                </a:extLst>
              </p:cNvPr>
              <p:cNvSpPr txBox="1">
                <a:spLocks noChangeArrowheads="1"/>
              </p:cNvSpPr>
              <p:nvPr/>
            </p:nvSpPr>
            <p:spPr bwMode="auto">
              <a:xfrm>
                <a:off x="4047307" y="2159727"/>
                <a:ext cx="225083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err="1">
                    <a:solidFill>
                      <a:srgbClr val="002060"/>
                    </a:solidFill>
                  </a:rPr>
                  <a:t>BdsEntry</a:t>
                </a:r>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if (</a:t>
                </a:r>
                <a:r>
                  <a:rPr lang="en-US" altLang="zh-TW" sz="1200" dirty="0" err="1">
                    <a:solidFill>
                      <a:srgbClr val="5A9541"/>
                    </a:solidFill>
                  </a:rPr>
                  <a:t>IsBdsHotKeySupport</a:t>
                </a:r>
                <a:r>
                  <a:rPr lang="en-US" altLang="zh-TW" sz="1200" dirty="0">
                    <a:solidFill>
                      <a:schemeClr val="tx2"/>
                    </a:solidFill>
                  </a:rPr>
                  <a:t> ()) {</a:t>
                </a:r>
              </a:p>
              <a:p>
                <a:r>
                  <a:rPr lang="en-US" altLang="zh-TW" sz="1200" dirty="0">
                    <a:solidFill>
                      <a:schemeClr val="tx2"/>
                    </a:solidFill>
                  </a:rPr>
                  <a:t>    </a:t>
                </a:r>
                <a:r>
                  <a:rPr lang="en-US" altLang="zh-TW" sz="1200" dirty="0" err="1">
                    <a:solidFill>
                      <a:srgbClr val="5A9541"/>
                    </a:solidFill>
                  </a:rPr>
                  <a:t>BdsHotKeyInit</a:t>
                </a:r>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r>
                  <a:rPr lang="en-US" altLang="zh-TW" sz="1200" dirty="0">
                    <a:solidFill>
                      <a:srgbClr val="002060"/>
                    </a:solidFill>
                  </a:rPr>
                  <a:t>return</a:t>
                </a:r>
                <a:r>
                  <a:rPr lang="en-US" altLang="zh-TW" sz="1200" dirty="0">
                    <a:solidFill>
                      <a:schemeClr val="tx2"/>
                    </a:solidFill>
                  </a:rPr>
                  <a:t>;</a:t>
                </a:r>
              </a:p>
              <a:p>
                <a:r>
                  <a:rPr lang="en-US" altLang="zh-TW" sz="1200" dirty="0">
                    <a:solidFill>
                      <a:schemeClr val="tx2"/>
                    </a:solidFill>
                  </a:rPr>
                  <a:t>}</a:t>
                </a:r>
              </a:p>
            </p:txBody>
          </p:sp>
        </p:grpSp>
        <p:grpSp>
          <p:nvGrpSpPr>
            <p:cNvPr id="31" name="群組 30">
              <a:extLst>
                <a:ext uri="{FF2B5EF4-FFF2-40B4-BE49-F238E27FC236}">
                  <a16:creationId xmlns:a16="http://schemas.microsoft.com/office/drawing/2014/main" id="{F99E3089-AC64-49C5-A45B-7845C971CBA2}"/>
                </a:ext>
              </a:extLst>
            </p:cNvPr>
            <p:cNvGrpSpPr/>
            <p:nvPr/>
          </p:nvGrpSpPr>
          <p:grpSpPr>
            <a:xfrm>
              <a:off x="5897623" y="713902"/>
              <a:ext cx="6220600" cy="2831557"/>
              <a:chOff x="3971108" y="1854926"/>
              <a:chExt cx="6220600" cy="2831557"/>
            </a:xfrm>
          </p:grpSpPr>
          <p:sp>
            <p:nvSpPr>
              <p:cNvPr id="34" name="Rectangle 15">
                <a:extLst>
                  <a:ext uri="{FF2B5EF4-FFF2-40B4-BE49-F238E27FC236}">
                    <a16:creationId xmlns:a16="http://schemas.microsoft.com/office/drawing/2014/main" id="{EBA1FF2D-5E43-4FAA-AF83-821783E0D2AB}"/>
                  </a:ext>
                </a:extLst>
              </p:cNvPr>
              <p:cNvSpPr>
                <a:spLocks noChangeArrowheads="1"/>
              </p:cNvSpPr>
              <p:nvPr/>
            </p:nvSpPr>
            <p:spPr bwMode="auto">
              <a:xfrm>
                <a:off x="3971108" y="1854926"/>
                <a:ext cx="6220599" cy="2831557"/>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35" name="Rectangle 16">
                <a:extLst>
                  <a:ext uri="{FF2B5EF4-FFF2-40B4-BE49-F238E27FC236}">
                    <a16:creationId xmlns:a16="http://schemas.microsoft.com/office/drawing/2014/main" id="{93FE4CAC-54D9-4754-B345-757F9F3BB16B}"/>
                  </a:ext>
                </a:extLst>
              </p:cNvPr>
              <p:cNvSpPr>
                <a:spLocks noChangeArrowheads="1"/>
              </p:cNvSpPr>
              <p:nvPr/>
            </p:nvSpPr>
            <p:spPr bwMode="auto">
              <a:xfrm>
                <a:off x="3971108" y="1854927"/>
                <a:ext cx="6220599"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BdsHotKey.c</a:t>
                </a:r>
                <a:endParaRPr lang="zh-TW" altLang="en-US" sz="1400" dirty="0"/>
              </a:p>
            </p:txBody>
          </p:sp>
          <p:sp>
            <p:nvSpPr>
              <p:cNvPr id="36" name="Text Box 17">
                <a:extLst>
                  <a:ext uri="{FF2B5EF4-FFF2-40B4-BE49-F238E27FC236}">
                    <a16:creationId xmlns:a16="http://schemas.microsoft.com/office/drawing/2014/main" id="{F59C25AD-375E-4441-BE21-8825407B37CB}"/>
                  </a:ext>
                </a:extLst>
              </p:cNvPr>
              <p:cNvSpPr txBox="1">
                <a:spLocks noChangeArrowheads="1"/>
              </p:cNvSpPr>
              <p:nvPr/>
            </p:nvSpPr>
            <p:spPr bwMode="auto">
              <a:xfrm>
                <a:off x="3971109" y="2159727"/>
                <a:ext cx="6220599"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err="1">
                    <a:solidFill>
                      <a:srgbClr val="002060"/>
                    </a:solidFill>
                  </a:rPr>
                  <a:t>BdsHotKeyInit</a:t>
                </a:r>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r>
                  <a:rPr lang="en-US" altLang="zh-TW" sz="1200" dirty="0" err="1">
                    <a:solidFill>
                      <a:srgbClr val="5A9541"/>
                    </a:solidFill>
                  </a:rPr>
                  <a:t>UefiHotKeyEnumeration</a:t>
                </a:r>
                <a:r>
                  <a:rPr lang="en-US" altLang="zh-TW" sz="1200" dirty="0">
                    <a:solidFill>
                      <a:schemeClr val="tx2"/>
                    </a:solidFill>
                  </a:rPr>
                  <a:t> ();</a:t>
                </a:r>
              </a:p>
              <a:p>
                <a:r>
                  <a:rPr lang="en-US" altLang="zh-TW" sz="1200" dirty="0">
                    <a:solidFill>
                      <a:schemeClr val="tx2"/>
                    </a:solidFill>
                  </a:rPr>
                  <a:t>  </a:t>
                </a:r>
                <a:r>
                  <a:rPr lang="en-US" altLang="zh-TW" sz="1200" dirty="0" err="1">
                    <a:solidFill>
                      <a:srgbClr val="5A9541"/>
                    </a:solidFill>
                  </a:rPr>
                  <a:t>PcdHotKeyEnumeration</a:t>
                </a:r>
                <a:r>
                  <a:rPr lang="en-US" altLang="zh-TW" sz="1200" dirty="0">
                    <a:solidFill>
                      <a:schemeClr val="tx2"/>
                    </a:solidFill>
                  </a:rPr>
                  <a:t> ();</a:t>
                </a:r>
              </a:p>
              <a:p>
                <a:r>
                  <a:rPr lang="en-US" altLang="zh-TW" sz="1200" dirty="0">
                    <a:solidFill>
                      <a:schemeClr val="tx2"/>
                    </a:solidFill>
                  </a:rPr>
                  <a:t>  </a:t>
                </a:r>
                <a:r>
                  <a:rPr lang="en-US" altLang="zh-TW" sz="1200" dirty="0" err="1">
                    <a:solidFill>
                      <a:srgbClr val="5A9541"/>
                    </a:solidFill>
                  </a:rPr>
                  <a:t>BdsHotKeyDescInit</a:t>
                </a:r>
                <a:r>
                  <a:rPr lang="en-US" altLang="zh-TW" sz="1200" dirty="0">
                    <a:solidFill>
                      <a:schemeClr val="tx2"/>
                    </a:solidFill>
                  </a:rPr>
                  <a:t> ();</a:t>
                </a:r>
              </a:p>
              <a:p>
                <a:r>
                  <a:rPr lang="en-US" altLang="zh-TW" sz="1200" dirty="0">
                    <a:solidFill>
                      <a:schemeClr val="tx2"/>
                    </a:solidFill>
                  </a:rPr>
                  <a:t>  </a:t>
                </a:r>
                <a:r>
                  <a:rPr lang="en-US" altLang="zh-TW" sz="1200" dirty="0">
                    <a:solidFill>
                      <a:srgbClr val="7030A0"/>
                    </a:solidFill>
                  </a:rPr>
                  <a:t>// Register protocol notify to register key notify when system detects a new input device.</a:t>
                </a:r>
              </a:p>
              <a:p>
                <a:r>
                  <a:rPr lang="en-US" altLang="zh-TW" sz="1200" dirty="0">
                    <a:solidFill>
                      <a:schemeClr val="tx2"/>
                    </a:solidFill>
                  </a:rPr>
                  <a:t>  …</a:t>
                </a:r>
              </a:p>
              <a:p>
                <a:r>
                  <a:rPr lang="en-US" altLang="zh-TW" sz="1200" dirty="0">
                    <a:solidFill>
                      <a:schemeClr val="tx2"/>
                    </a:solidFill>
                  </a:rPr>
                  <a:t>  </a:t>
                </a:r>
                <a:r>
                  <a:rPr lang="en-US" altLang="zh-TW" sz="1200" dirty="0">
                    <a:solidFill>
                      <a:srgbClr val="7030A0"/>
                    </a:solidFill>
                  </a:rPr>
                  <a:t>// Register protocol notify to disable hot key detection for compatibility.</a:t>
                </a:r>
              </a:p>
              <a:p>
                <a:r>
                  <a:rPr lang="en-US" altLang="zh-TW" sz="1200" dirty="0">
                    <a:solidFill>
                      <a:schemeClr val="tx2"/>
                    </a:solidFill>
                  </a:rPr>
                  <a:t>  …</a:t>
                </a:r>
              </a:p>
              <a:p>
                <a:r>
                  <a:rPr lang="en-US" altLang="zh-TW" sz="1200" dirty="0">
                    <a:solidFill>
                      <a:schemeClr val="tx2"/>
                    </a:solidFill>
                  </a:rPr>
                  <a:t>  </a:t>
                </a:r>
                <a:r>
                  <a:rPr lang="en-US" altLang="zh-TW" sz="1200" dirty="0">
                    <a:solidFill>
                      <a:srgbClr val="002060"/>
                    </a:solidFill>
                  </a:rPr>
                  <a:t>return</a:t>
                </a:r>
                <a:r>
                  <a:rPr lang="en-US" altLang="zh-TW" sz="1200" dirty="0">
                    <a:solidFill>
                      <a:schemeClr val="tx2"/>
                    </a:solidFill>
                  </a:rPr>
                  <a:t>;</a:t>
                </a:r>
              </a:p>
              <a:p>
                <a:r>
                  <a:rPr lang="en-US" altLang="zh-TW" sz="1200" dirty="0">
                    <a:solidFill>
                      <a:schemeClr val="tx2"/>
                    </a:solidFill>
                  </a:rPr>
                  <a:t>}</a:t>
                </a:r>
              </a:p>
            </p:txBody>
          </p:sp>
        </p:grpSp>
        <p:cxnSp>
          <p:nvCxnSpPr>
            <p:cNvPr id="32" name="接點: 肘形 31">
              <a:extLst>
                <a:ext uri="{FF2B5EF4-FFF2-40B4-BE49-F238E27FC236}">
                  <a16:creationId xmlns:a16="http://schemas.microsoft.com/office/drawing/2014/main" id="{A4F71591-F373-409F-87BE-83A4EE1D3ED9}"/>
                </a:ext>
              </a:extLst>
            </p:cNvPr>
            <p:cNvCxnSpPr>
              <a:cxnSpLocks/>
            </p:cNvCxnSpPr>
            <p:nvPr/>
          </p:nvCxnSpPr>
          <p:spPr>
            <a:xfrm flipV="1">
              <a:off x="4675668" y="1160723"/>
              <a:ext cx="1188000" cy="3888000"/>
            </a:xfrm>
            <a:prstGeom prst="bentConnector3">
              <a:avLst>
                <a:gd name="adj1" fmla="val 75500"/>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33" name="接點: 肘形 32">
              <a:extLst>
                <a:ext uri="{FF2B5EF4-FFF2-40B4-BE49-F238E27FC236}">
                  <a16:creationId xmlns:a16="http://schemas.microsoft.com/office/drawing/2014/main" id="{33D70339-8E23-41EA-AA93-4EC24FB6D29E}"/>
                </a:ext>
              </a:extLst>
            </p:cNvPr>
            <p:cNvCxnSpPr>
              <a:cxnSpLocks/>
            </p:cNvCxnSpPr>
            <p:nvPr/>
          </p:nvCxnSpPr>
          <p:spPr>
            <a:xfrm>
              <a:off x="5897618" y="2075603"/>
              <a:ext cx="2" cy="2088000"/>
            </a:xfrm>
            <a:prstGeom prst="bentConnector3">
              <a:avLst>
                <a:gd name="adj1" fmla="val -11430000000"/>
              </a:avLst>
            </a:prstGeom>
            <a:ln w="38100">
              <a:tailEnd type="triangle"/>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2845049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5CF7D70-4E3C-419C-A8EA-9842D88CF405}"/>
              </a:ext>
            </a:extLst>
          </p:cNvPr>
          <p:cNvSpPr>
            <a:spLocks noGrp="1"/>
          </p:cNvSpPr>
          <p:nvPr>
            <p:ph type="sldNum" sz="quarter" idx="12"/>
          </p:nvPr>
        </p:nvSpPr>
        <p:spPr/>
        <p:txBody>
          <a:bodyPr/>
          <a:lstStyle/>
          <a:p>
            <a:fld id="{711F1488-76AD-4E7F-AEC8-BF811B7D74A5}" type="slidenum">
              <a:rPr lang="en-US" smtClean="0"/>
              <a:pPr/>
              <a:t>19</a:t>
            </a:fld>
            <a:endParaRPr lang="en-US"/>
          </a:p>
        </p:txBody>
      </p:sp>
      <p:sp>
        <p:nvSpPr>
          <p:cNvPr id="3" name="標題 2">
            <a:extLst>
              <a:ext uri="{FF2B5EF4-FFF2-40B4-BE49-F238E27FC236}">
                <a16:creationId xmlns:a16="http://schemas.microsoft.com/office/drawing/2014/main" id="{8F8A4FC9-4886-4728-8F16-96DA3F161252}"/>
              </a:ext>
            </a:extLst>
          </p:cNvPr>
          <p:cNvSpPr>
            <a:spLocks noGrp="1"/>
          </p:cNvSpPr>
          <p:nvPr>
            <p:ph type="title"/>
          </p:nvPr>
        </p:nvSpPr>
        <p:spPr/>
        <p:txBody>
          <a:bodyPr/>
          <a:lstStyle/>
          <a:p>
            <a:r>
              <a:rPr lang="en-US" altLang="zh-TW" dirty="0"/>
              <a:t>Customization Steps</a:t>
            </a:r>
            <a:endParaRPr lang="zh-TW" altLang="en-US" dirty="0"/>
          </a:p>
        </p:txBody>
      </p:sp>
    </p:spTree>
    <p:extLst>
      <p:ext uri="{BB962C8B-B14F-4D97-AF65-F5344CB8AC3E}">
        <p14:creationId xmlns:p14="http://schemas.microsoft.com/office/powerpoint/2010/main" val="356936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Customization Steps</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p:txBody>
          <a:bodyPr>
            <a:normAutofit/>
          </a:bodyPr>
          <a:lstStyle/>
          <a:p>
            <a:pPr>
              <a:lnSpc>
                <a:spcPct val="100000"/>
              </a:lnSpc>
              <a:defRPr/>
            </a:pPr>
            <a:r>
              <a:rPr lang="en-US" altLang="zh-TW" dirty="0">
                <a:solidFill>
                  <a:schemeClr val="tx2"/>
                </a:solidFill>
                <a:cs typeface="Tahoma" panose="020B0604030504040204" pitchFamily="34" charset="0"/>
              </a:rPr>
              <a:t>Modify the hotkey of FrontPage to “</a:t>
            </a:r>
            <a:r>
              <a:rPr lang="en-US" altLang="zh-TW" b="1" dirty="0">
                <a:solidFill>
                  <a:srgbClr val="FF0000"/>
                </a:solidFill>
                <a:cs typeface="Tahoma" panose="020B0604030504040204" pitchFamily="34" charset="0"/>
              </a:rPr>
              <a:t>F2</a:t>
            </a:r>
            <a:r>
              <a:rPr lang="en-US" altLang="zh-TW" dirty="0">
                <a:solidFill>
                  <a:schemeClr val="tx2"/>
                </a:solidFill>
                <a:cs typeface="Tahoma" panose="020B0604030504040204" pitchFamily="34" charset="0"/>
              </a:rPr>
              <a:t>”</a:t>
            </a:r>
          </a:p>
          <a:p>
            <a:pPr lvl="1">
              <a:lnSpc>
                <a:spcPct val="100000"/>
              </a:lnSpc>
              <a:defRPr/>
            </a:pPr>
            <a:r>
              <a:rPr lang="en-US" altLang="zh-TW" dirty="0">
                <a:solidFill>
                  <a:schemeClr val="tx2"/>
                </a:solidFill>
                <a:cs typeface="Tahoma" panose="020B0604030504040204" pitchFamily="34" charset="0"/>
              </a:rPr>
              <a:t>Replace the </a:t>
            </a:r>
            <a:r>
              <a:rPr lang="en-US" altLang="zh-TW" b="1" dirty="0">
                <a:solidFill>
                  <a:srgbClr val="0070C0"/>
                </a:solidFill>
                <a:cs typeface="Tahoma" panose="020B0604030504040204" pitchFamily="34" charset="0"/>
              </a:rPr>
              <a:t>PcdH2OHotKeyxxxx</a:t>
            </a:r>
            <a:r>
              <a:rPr lang="en-US" altLang="zh-TW" dirty="0">
                <a:solidFill>
                  <a:schemeClr val="tx2"/>
                </a:solidFill>
                <a:cs typeface="Tahoma" panose="020B0604030504040204" pitchFamily="34" charset="0"/>
              </a:rPr>
              <a:t> in </a:t>
            </a:r>
            <a:r>
              <a:rPr lang="en-US" altLang="zh-TW" dirty="0" err="1">
                <a:solidFill>
                  <a:schemeClr val="tx2"/>
                </a:solidFill>
                <a:cs typeface="Tahoma" panose="020B0604030504040204" pitchFamily="34" charset="0"/>
              </a:rPr>
              <a:t>Project.dsc</a:t>
            </a:r>
            <a:endParaRPr lang="en-US" altLang="zh-TW" dirty="0">
              <a:solidFill>
                <a:schemeClr val="tx2"/>
              </a:solidFill>
              <a:cs typeface="Tahoma" panose="020B0604030504040204" pitchFamily="34" charset="0"/>
            </a:endParaRPr>
          </a:p>
        </p:txBody>
      </p:sp>
      <p:grpSp>
        <p:nvGrpSpPr>
          <p:cNvPr id="4" name="群組 3">
            <a:extLst>
              <a:ext uri="{FF2B5EF4-FFF2-40B4-BE49-F238E27FC236}">
                <a16:creationId xmlns:a16="http://schemas.microsoft.com/office/drawing/2014/main" id="{76668B18-EFB5-4AC1-8354-1403378878BE}"/>
              </a:ext>
            </a:extLst>
          </p:cNvPr>
          <p:cNvGrpSpPr/>
          <p:nvPr/>
        </p:nvGrpSpPr>
        <p:grpSpPr>
          <a:xfrm>
            <a:off x="605016" y="2326211"/>
            <a:ext cx="10981968" cy="3215136"/>
            <a:chOff x="3971110" y="1854926"/>
            <a:chExt cx="6933521" cy="3215136"/>
          </a:xfrm>
        </p:grpSpPr>
        <p:sp>
          <p:nvSpPr>
            <p:cNvPr id="5" name="Rectangle 15">
              <a:extLst>
                <a:ext uri="{FF2B5EF4-FFF2-40B4-BE49-F238E27FC236}">
                  <a16:creationId xmlns:a16="http://schemas.microsoft.com/office/drawing/2014/main" id="{44A90F2E-6BCE-4EAF-80EE-944BEA8C0AAB}"/>
                </a:ext>
              </a:extLst>
            </p:cNvPr>
            <p:cNvSpPr>
              <a:spLocks noChangeArrowheads="1"/>
            </p:cNvSpPr>
            <p:nvPr/>
          </p:nvSpPr>
          <p:spPr bwMode="auto">
            <a:xfrm>
              <a:off x="3971110" y="1854926"/>
              <a:ext cx="6933521" cy="3215136"/>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6" name="Rectangle 16">
              <a:extLst>
                <a:ext uri="{FF2B5EF4-FFF2-40B4-BE49-F238E27FC236}">
                  <a16:creationId xmlns:a16="http://schemas.microsoft.com/office/drawing/2014/main" id="{26AA3155-6CA6-4805-9F57-B664DED07B44}"/>
                </a:ext>
              </a:extLst>
            </p:cNvPr>
            <p:cNvSpPr>
              <a:spLocks noChangeArrowheads="1"/>
            </p:cNvSpPr>
            <p:nvPr/>
          </p:nvSpPr>
          <p:spPr bwMode="auto">
            <a:xfrm>
              <a:off x="3971110" y="1854927"/>
              <a:ext cx="6933521" cy="287565"/>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Project.dsc</a:t>
              </a:r>
              <a:endParaRPr lang="zh-TW" altLang="en-US" sz="1400" dirty="0"/>
            </a:p>
          </p:txBody>
        </p:sp>
        <p:sp>
          <p:nvSpPr>
            <p:cNvPr id="7" name="Text Box 17">
              <a:extLst>
                <a:ext uri="{FF2B5EF4-FFF2-40B4-BE49-F238E27FC236}">
                  <a16:creationId xmlns:a16="http://schemas.microsoft.com/office/drawing/2014/main" id="{724940FA-E318-4F3D-A52C-226F41D4E467}"/>
                </a:ext>
              </a:extLst>
            </p:cNvPr>
            <p:cNvSpPr txBox="1">
              <a:spLocks noChangeArrowheads="1"/>
            </p:cNvSpPr>
            <p:nvPr/>
          </p:nvSpPr>
          <p:spPr bwMode="auto">
            <a:xfrm>
              <a:off x="3977636" y="2159727"/>
              <a:ext cx="6926994"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spcAft>
                  <a:spcPct val="0"/>
                </a:spcAft>
              </a:pPr>
              <a:r>
                <a:rPr lang="en-US" altLang="zh-TW" sz="1400" dirty="0">
                  <a:solidFill>
                    <a:srgbClr val="008000"/>
                  </a:solidFill>
                  <a:cs typeface="Tahoma" panose="020B0604030504040204" pitchFamily="34" charset="0"/>
                </a:rPr>
                <a:t>[</a:t>
              </a:r>
              <a:r>
                <a:rPr lang="en-US" altLang="zh-TW" sz="1400" dirty="0" err="1">
                  <a:solidFill>
                    <a:srgbClr val="002060"/>
                  </a:solidFill>
                  <a:cs typeface="Tahoma" panose="020B0604030504040204" pitchFamily="34" charset="0"/>
                </a:rPr>
                <a:t>PcdsDynamicExDefault</a:t>
              </a:r>
              <a:r>
                <a:rPr lang="en-US" altLang="zh-TW" sz="1400" dirty="0">
                  <a:solidFill>
                    <a:srgbClr val="008000"/>
                  </a:solidFill>
                  <a:cs typeface="Tahoma" panose="020B0604030504040204" pitchFamily="34" charset="0"/>
                </a:rPr>
                <a:t>]</a:t>
              </a:r>
            </a:p>
            <a:p>
              <a:pPr>
                <a:spcAft>
                  <a:spcPct val="0"/>
                </a:spcAft>
              </a:pPr>
              <a:r>
                <a:rPr lang="en-US" altLang="zh-TW" sz="1400" dirty="0">
                  <a:cs typeface="Tahoma" panose="020B0604030504040204" pitchFamily="34" charset="0"/>
                </a:rPr>
                <a:t>!if </a:t>
              </a:r>
              <a:r>
                <a:rPr lang="en-US" altLang="zh-TW" sz="1400" dirty="0" err="1">
                  <a:solidFill>
                    <a:srgbClr val="7030A0"/>
                  </a:solidFill>
                  <a:cs typeface="Tahoma" panose="020B0604030504040204" pitchFamily="34" charset="0"/>
                </a:rPr>
                <a:t>gInsydeTokenSpaceGuid</a:t>
              </a:r>
              <a:r>
                <a:rPr lang="en-US" altLang="zh-TW" sz="1400" dirty="0" err="1">
                  <a:cs typeface="Tahoma" panose="020B0604030504040204" pitchFamily="34" charset="0"/>
                </a:rPr>
                <a:t>.</a:t>
              </a:r>
              <a:r>
                <a:rPr lang="en-US" altLang="zh-TW" sz="1400" dirty="0" err="1">
                  <a:solidFill>
                    <a:srgbClr val="5A9541"/>
                  </a:solidFill>
                  <a:cs typeface="Tahoma" panose="020B0604030504040204" pitchFamily="34" charset="0"/>
                </a:rPr>
                <a:t>PcdFrontPageSupported</a:t>
              </a:r>
              <a:endParaRPr lang="en-US" altLang="zh-TW" sz="1400" dirty="0">
                <a:solidFill>
                  <a:srgbClr val="5A9541"/>
                </a:solidFill>
                <a:cs typeface="Tahoma" panose="020B0604030504040204" pitchFamily="34" charset="0"/>
              </a:endParaRPr>
            </a:p>
            <a:p>
              <a:pPr>
                <a:spcAft>
                  <a:spcPct val="0"/>
                </a:spcAft>
              </a:pPr>
              <a:r>
                <a:rPr lang="en-US" altLang="zh-TW" sz="1400" dirty="0">
                  <a:cs typeface="Tahoma" panose="020B0604030504040204" pitchFamily="34" charset="0"/>
                </a:rPr>
                <a:t>!if </a:t>
              </a:r>
              <a:r>
                <a:rPr lang="en-US" altLang="zh-TW" sz="1400" dirty="0" err="1">
                  <a:solidFill>
                    <a:srgbClr val="7030A0"/>
                  </a:solidFill>
                  <a:cs typeface="Tahoma" panose="020B0604030504040204" pitchFamily="34" charset="0"/>
                </a:rPr>
                <a:t>gInsydeTokenSpaceGuid</a:t>
              </a:r>
              <a:r>
                <a:rPr lang="en-US" altLang="zh-TW" sz="1400" dirty="0" err="1">
                  <a:cs typeface="Tahoma" panose="020B0604030504040204" pitchFamily="34" charset="0"/>
                </a:rPr>
                <a:t>.</a:t>
              </a:r>
              <a:r>
                <a:rPr lang="en-US" altLang="zh-TW" sz="1400" dirty="0" err="1">
                  <a:solidFill>
                    <a:srgbClr val="5A9541"/>
                  </a:solidFill>
                  <a:cs typeface="Tahoma" panose="020B0604030504040204" pitchFamily="34" charset="0"/>
                </a:rPr>
                <a:t>PcdDynamicHotKeySupported</a:t>
              </a:r>
              <a:r>
                <a:rPr lang="en-US" altLang="zh-TW" sz="1400" dirty="0">
                  <a:cs typeface="Tahoma" panose="020B0604030504040204" pitchFamily="34" charset="0"/>
                </a:rPr>
                <a:t> == FALSE</a:t>
              </a:r>
            </a:p>
            <a:p>
              <a:pPr>
                <a:spcAft>
                  <a:spcPct val="0"/>
                </a:spcAft>
              </a:pPr>
              <a:r>
                <a:rPr lang="en-US" altLang="zh-TW" sz="1400" dirty="0">
                  <a:cs typeface="Tahoma" panose="020B0604030504040204" pitchFamily="34" charset="0"/>
                </a:rPr>
                <a:t>  </a:t>
              </a:r>
              <a:r>
                <a:rPr lang="en-US" altLang="zh-TW" sz="1400" dirty="0">
                  <a:solidFill>
                    <a:srgbClr val="7030A0"/>
                  </a:solidFill>
                  <a:cs typeface="Tahoma" panose="020B0604030504040204" pitchFamily="34" charset="0"/>
                </a:rPr>
                <a:t>gH2OBdsHotKeyGuid</a:t>
              </a:r>
              <a:r>
                <a:rPr lang="en-US" altLang="zh-TW" sz="1400" dirty="0">
                  <a:cs typeface="Tahoma" panose="020B0604030504040204" pitchFamily="34" charset="0"/>
                </a:rPr>
                <a:t>.</a:t>
              </a:r>
              <a:r>
                <a:rPr lang="en-US" altLang="zh-TW" sz="1400" dirty="0">
                  <a:solidFill>
                    <a:srgbClr val="5A9541"/>
                  </a:solidFill>
                  <a:cs typeface="Tahoma" panose="020B0604030504040204" pitchFamily="34" charset="0"/>
                </a:rPr>
                <a:t>PcdH2OHotKeyFrontPage</a:t>
              </a:r>
              <a:r>
                <a:rPr lang="en-US" altLang="zh-TW" sz="1400" dirty="0">
                  <a:cs typeface="Tahoma" panose="020B0604030504040204" pitchFamily="34" charset="0"/>
                </a:rPr>
                <a:t>|{GUID("00000000-0000-0000-0000-000000000000"), UINT32(0), “</a:t>
              </a:r>
              <a:r>
                <a:rPr lang="en-US" altLang="zh-TW" sz="1400" b="1" dirty="0">
                  <a:solidFill>
                    <a:srgbClr val="FF0000"/>
                  </a:solidFill>
                  <a:cs typeface="Tahoma" panose="020B0604030504040204" pitchFamily="34" charset="0"/>
                </a:rPr>
                <a:t>f2</a:t>
              </a: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                                                                                "</a:t>
              </a:r>
              <a:r>
                <a:rPr lang="en-US" altLang="zh-TW" sz="1400" dirty="0" err="1">
                  <a:cs typeface="Tahoma" panose="020B0604030504040204" pitchFamily="34" charset="0"/>
                </a:rPr>
                <a:t>VenHw</a:t>
              </a:r>
              <a:r>
                <a:rPr lang="en-US" altLang="zh-TW" sz="1400" dirty="0">
                  <a:cs typeface="Tahoma" panose="020B0604030504040204" pitchFamily="34" charset="0"/>
                </a:rPr>
                <a:t>(E0BA9B98-DD2D-4434-BB94-599CC9E4305D)"}</a:t>
              </a:r>
            </a:p>
            <a:p>
              <a:pPr>
                <a:spcAft>
                  <a:spcPct val="0"/>
                </a:spcAft>
              </a:pPr>
              <a:r>
                <a:rPr lang="en-US" altLang="zh-TW" sz="1400" dirty="0">
                  <a:cs typeface="Tahoma" panose="020B0604030504040204" pitchFamily="34" charset="0"/>
                </a:rPr>
                <a:t>  </a:t>
              </a:r>
              <a:r>
                <a:rPr lang="en-US" altLang="zh-TW" sz="1400" dirty="0">
                  <a:solidFill>
                    <a:srgbClr val="7030A0"/>
                  </a:solidFill>
                  <a:cs typeface="Tahoma" panose="020B0604030504040204" pitchFamily="34" charset="0"/>
                </a:rPr>
                <a:t>gH2OBdsHotKeyDescGuid</a:t>
              </a:r>
              <a:r>
                <a:rPr lang="en-US" altLang="zh-TW" sz="1400" dirty="0">
                  <a:cs typeface="Tahoma" panose="020B0604030504040204" pitchFamily="34" charset="0"/>
                </a:rPr>
                <a:t>.</a:t>
              </a:r>
              <a:r>
                <a:rPr lang="en-US" altLang="zh-TW" sz="1400" dirty="0">
                  <a:solidFill>
                    <a:srgbClr val="5A9541"/>
                  </a:solidFill>
                  <a:cs typeface="Tahoma" panose="020B0604030504040204" pitchFamily="34" charset="0"/>
                </a:rPr>
                <a:t>PcdH2OHotKeyFrontPageDesc</a:t>
              </a:r>
              <a:r>
                <a:rPr lang="en-US" altLang="zh-TW" sz="1400" dirty="0">
                  <a:cs typeface="Tahoma" panose="020B0604030504040204" pitchFamily="34" charset="0"/>
                </a:rPr>
                <a:t>|{STRING_TOKEN(STR_OEM_BADGING_STR_ESC),</a:t>
              </a:r>
            </a:p>
            <a:p>
              <a:pPr>
                <a:spcAft>
                  <a:spcPct val="0"/>
                </a:spcAft>
              </a:pPr>
              <a:r>
                <a:rPr lang="en-US" altLang="zh-TW" sz="1400" dirty="0">
                  <a:cs typeface="Tahoma" panose="020B0604030504040204" pitchFamily="34" charset="0"/>
                </a:rPr>
                <a:t>                                                                                                 STRING_TOKEN(STR_OEM_BADGING_STR_ESC_SELECT),</a:t>
              </a:r>
            </a:p>
            <a:p>
              <a:pPr>
                <a:spcAft>
                  <a:spcPct val="0"/>
                </a:spcAft>
              </a:pPr>
              <a:r>
                <a:rPr lang="en-US" altLang="zh-TW" sz="1400" dirty="0">
                  <a:cs typeface="Tahoma" panose="020B0604030504040204" pitchFamily="34" charset="0"/>
                </a:rPr>
                <a:t>                                                                                                 "x=0em;y=0em;xorigin=</a:t>
              </a:r>
              <a:r>
                <a:rPr lang="en-US" altLang="zh-TW" sz="1400" dirty="0" err="1">
                  <a:cs typeface="Tahoma" panose="020B0604030504040204" pitchFamily="34" charset="0"/>
                </a:rPr>
                <a:t>left;yorigin</a:t>
              </a:r>
              <a:r>
                <a:rPr lang="en-US" altLang="zh-TW" sz="1400" dirty="0">
                  <a:cs typeface="Tahoma" panose="020B0604030504040204" pitchFamily="34" charset="0"/>
                </a:rPr>
                <a:t>=bottom;"}</a:t>
              </a:r>
            </a:p>
            <a:p>
              <a:pPr>
                <a:spcAft>
                  <a:spcPct val="0"/>
                </a:spcAft>
              </a:pPr>
              <a:r>
                <a:rPr lang="en-US" altLang="zh-TW" sz="1400" dirty="0">
                  <a:cs typeface="Tahoma" panose="020B0604030504040204" pitchFamily="34" charset="0"/>
                </a:rPr>
                <a:t>  </a:t>
              </a:r>
              <a:r>
                <a:rPr lang="en-US" altLang="zh-TW" sz="1400" dirty="0">
                  <a:solidFill>
                    <a:srgbClr val="7030A0"/>
                  </a:solidFill>
                  <a:cs typeface="Tahoma" panose="020B0604030504040204" pitchFamily="34" charset="0"/>
                </a:rPr>
                <a:t>gH2OBdsHotKeyDescQuietGuid</a:t>
              </a:r>
              <a:r>
                <a:rPr lang="en-US" altLang="zh-TW" sz="1400" dirty="0">
                  <a:cs typeface="Tahoma" panose="020B0604030504040204" pitchFamily="34" charset="0"/>
                </a:rPr>
                <a:t>.</a:t>
              </a:r>
              <a:r>
                <a:rPr lang="en-US" altLang="zh-TW" sz="1400" dirty="0">
                  <a:solidFill>
                    <a:srgbClr val="5A9541"/>
                  </a:solidFill>
                  <a:cs typeface="Tahoma" panose="020B0604030504040204" pitchFamily="34" charset="0"/>
                </a:rPr>
                <a:t>PcdH2OHotKeyFrontPageDescQuiet</a:t>
              </a:r>
              <a:r>
                <a:rPr lang="en-US" altLang="zh-TW" sz="1400" dirty="0">
                  <a:cs typeface="Tahoma" panose="020B0604030504040204" pitchFamily="34" charset="0"/>
                </a:rPr>
                <a:t>|{STRING_TOKEN(STR_OEM_BADGING_STR_ESC), </a:t>
              </a:r>
            </a:p>
            <a:p>
              <a:pPr>
                <a:spcAft>
                  <a:spcPct val="0"/>
                </a:spcAft>
              </a:pPr>
              <a:r>
                <a:rPr lang="en-US" altLang="zh-TW" sz="1400" dirty="0">
                  <a:cs typeface="Tahoma" panose="020B0604030504040204" pitchFamily="34" charset="0"/>
                </a:rPr>
                <a:t>                                                                                                                    STRING_TOKEN(STR_OEM_BADGING_STR_ESC_SELECT),</a:t>
              </a:r>
            </a:p>
            <a:p>
              <a:pPr>
                <a:spcAft>
                  <a:spcPct val="0"/>
                </a:spcAft>
              </a:pPr>
              <a:r>
                <a:rPr lang="en-US" altLang="zh-TW" sz="1400" dirty="0">
                  <a:cs typeface="Tahoma" panose="020B0604030504040204" pitchFamily="34" charset="0"/>
                </a:rPr>
                <a:t>                                                                                                                    "x=0em;y=0em;xorigin=</a:t>
              </a:r>
              <a:r>
                <a:rPr lang="en-US" altLang="zh-TW" sz="1400" dirty="0" err="1">
                  <a:cs typeface="Tahoma" panose="020B0604030504040204" pitchFamily="34" charset="0"/>
                </a:rPr>
                <a:t>center;yorigin</a:t>
              </a:r>
              <a:r>
                <a:rPr lang="en-US" altLang="zh-TW" sz="1400" dirty="0">
                  <a:cs typeface="Tahoma" panose="020B0604030504040204" pitchFamily="34" charset="0"/>
                </a:rPr>
                <a:t>=top(80%);"}</a:t>
              </a:r>
            </a:p>
            <a:p>
              <a:pPr>
                <a:spcAft>
                  <a:spcPct val="0"/>
                </a:spcAft>
              </a:pPr>
              <a:r>
                <a:rPr lang="en-US" altLang="zh-TW" sz="1400" dirty="0">
                  <a:cs typeface="Tahoma" panose="020B0604030504040204" pitchFamily="34" charset="0"/>
                </a:rPr>
                <a:t>!endif</a:t>
              </a:r>
            </a:p>
            <a:p>
              <a:pPr>
                <a:spcAft>
                  <a:spcPct val="0"/>
                </a:spcAft>
              </a:pPr>
              <a:r>
                <a:rPr lang="en-US" altLang="zh-TW" sz="1400" dirty="0">
                  <a:cs typeface="Tahoma" panose="020B0604030504040204" pitchFamily="34" charset="0"/>
                </a:rPr>
                <a:t>!endif</a:t>
              </a:r>
            </a:p>
          </p:txBody>
        </p:sp>
      </p:grpSp>
    </p:spTree>
    <p:extLst>
      <p:ext uri="{BB962C8B-B14F-4D97-AF65-F5344CB8AC3E}">
        <p14:creationId xmlns:p14="http://schemas.microsoft.com/office/powerpoint/2010/main" val="2152331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Customization Steps</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p:txBody>
          <a:bodyPr>
            <a:normAutofit/>
          </a:bodyPr>
          <a:lstStyle/>
          <a:p>
            <a:pPr>
              <a:lnSpc>
                <a:spcPct val="100000"/>
              </a:lnSpc>
              <a:defRPr/>
            </a:pPr>
            <a:r>
              <a:rPr lang="en-US" altLang="zh-TW" dirty="0">
                <a:solidFill>
                  <a:schemeClr val="tx2"/>
                </a:solidFill>
                <a:cs typeface="Tahoma" panose="020B0604030504040204" pitchFamily="34" charset="0"/>
              </a:rPr>
              <a:t>Modify the hotkey of FrontPage to “</a:t>
            </a:r>
            <a:r>
              <a:rPr lang="en-US" altLang="zh-TW" b="1" dirty="0" err="1">
                <a:solidFill>
                  <a:srgbClr val="FF0000"/>
                </a:solidFill>
                <a:cs typeface="Tahoma" panose="020B0604030504040204" pitchFamily="34" charset="0"/>
              </a:rPr>
              <a:t>Ctrl+A</a:t>
            </a:r>
            <a:r>
              <a:rPr lang="en-US" altLang="zh-TW" dirty="0">
                <a:solidFill>
                  <a:schemeClr val="tx2"/>
                </a:solidFill>
                <a:cs typeface="Tahoma" panose="020B0604030504040204" pitchFamily="34" charset="0"/>
              </a:rPr>
              <a:t>”</a:t>
            </a:r>
          </a:p>
          <a:p>
            <a:pPr lvl="1">
              <a:lnSpc>
                <a:spcPct val="100000"/>
              </a:lnSpc>
              <a:defRPr/>
            </a:pPr>
            <a:r>
              <a:rPr lang="en-US" altLang="zh-TW" dirty="0">
                <a:solidFill>
                  <a:schemeClr val="tx2"/>
                </a:solidFill>
                <a:cs typeface="Tahoma" panose="020B0604030504040204" pitchFamily="34" charset="0"/>
              </a:rPr>
              <a:t>Replace the </a:t>
            </a:r>
            <a:r>
              <a:rPr lang="en-US" altLang="zh-TW" b="1" dirty="0">
                <a:solidFill>
                  <a:srgbClr val="0070C0"/>
                </a:solidFill>
                <a:cs typeface="Tahoma" panose="020B0604030504040204" pitchFamily="34" charset="0"/>
              </a:rPr>
              <a:t>PcdH2OHotKeyxxxx</a:t>
            </a:r>
            <a:r>
              <a:rPr lang="en-US" altLang="zh-TW" dirty="0">
                <a:solidFill>
                  <a:schemeClr val="tx2"/>
                </a:solidFill>
                <a:cs typeface="Tahoma" panose="020B0604030504040204" pitchFamily="34" charset="0"/>
              </a:rPr>
              <a:t> in </a:t>
            </a:r>
            <a:r>
              <a:rPr lang="en-US" altLang="zh-TW" dirty="0" err="1">
                <a:solidFill>
                  <a:schemeClr val="tx2"/>
                </a:solidFill>
                <a:cs typeface="Tahoma" panose="020B0604030504040204" pitchFamily="34" charset="0"/>
              </a:rPr>
              <a:t>Project.dsc</a:t>
            </a:r>
            <a:endParaRPr lang="en-US" altLang="zh-TW" dirty="0">
              <a:solidFill>
                <a:schemeClr val="tx2"/>
              </a:solidFill>
              <a:cs typeface="Tahoma" panose="020B0604030504040204" pitchFamily="34" charset="0"/>
            </a:endParaRPr>
          </a:p>
        </p:txBody>
      </p:sp>
      <p:grpSp>
        <p:nvGrpSpPr>
          <p:cNvPr id="8" name="群組 7">
            <a:extLst>
              <a:ext uri="{FF2B5EF4-FFF2-40B4-BE49-F238E27FC236}">
                <a16:creationId xmlns:a16="http://schemas.microsoft.com/office/drawing/2014/main" id="{6FFEFA5D-20B0-43A9-8E0B-3AD77C3B0D78}"/>
              </a:ext>
            </a:extLst>
          </p:cNvPr>
          <p:cNvGrpSpPr/>
          <p:nvPr/>
        </p:nvGrpSpPr>
        <p:grpSpPr>
          <a:xfrm>
            <a:off x="605016" y="2326211"/>
            <a:ext cx="10981968" cy="3215136"/>
            <a:chOff x="3971110" y="1854926"/>
            <a:chExt cx="6933521" cy="3215136"/>
          </a:xfrm>
        </p:grpSpPr>
        <p:sp>
          <p:nvSpPr>
            <p:cNvPr id="9" name="Rectangle 15">
              <a:extLst>
                <a:ext uri="{FF2B5EF4-FFF2-40B4-BE49-F238E27FC236}">
                  <a16:creationId xmlns:a16="http://schemas.microsoft.com/office/drawing/2014/main" id="{EABA6D75-CF78-432D-BAF8-A2C493281D89}"/>
                </a:ext>
              </a:extLst>
            </p:cNvPr>
            <p:cNvSpPr>
              <a:spLocks noChangeArrowheads="1"/>
            </p:cNvSpPr>
            <p:nvPr/>
          </p:nvSpPr>
          <p:spPr bwMode="auto">
            <a:xfrm>
              <a:off x="3971110" y="1854926"/>
              <a:ext cx="6933521" cy="3215136"/>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0" name="Rectangle 16">
              <a:extLst>
                <a:ext uri="{FF2B5EF4-FFF2-40B4-BE49-F238E27FC236}">
                  <a16:creationId xmlns:a16="http://schemas.microsoft.com/office/drawing/2014/main" id="{EA780392-82AE-486A-B53D-49E814F926EE}"/>
                </a:ext>
              </a:extLst>
            </p:cNvPr>
            <p:cNvSpPr>
              <a:spLocks noChangeArrowheads="1"/>
            </p:cNvSpPr>
            <p:nvPr/>
          </p:nvSpPr>
          <p:spPr bwMode="auto">
            <a:xfrm>
              <a:off x="3971110" y="1854927"/>
              <a:ext cx="6933521" cy="287565"/>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Project.dsc</a:t>
              </a:r>
              <a:endParaRPr lang="zh-TW" altLang="en-US" sz="1400" dirty="0"/>
            </a:p>
          </p:txBody>
        </p:sp>
        <p:sp>
          <p:nvSpPr>
            <p:cNvPr id="11" name="Text Box 17">
              <a:extLst>
                <a:ext uri="{FF2B5EF4-FFF2-40B4-BE49-F238E27FC236}">
                  <a16:creationId xmlns:a16="http://schemas.microsoft.com/office/drawing/2014/main" id="{3468477F-58C7-4991-AF75-A388998A7A46}"/>
                </a:ext>
              </a:extLst>
            </p:cNvPr>
            <p:cNvSpPr txBox="1">
              <a:spLocks noChangeArrowheads="1"/>
            </p:cNvSpPr>
            <p:nvPr/>
          </p:nvSpPr>
          <p:spPr bwMode="auto">
            <a:xfrm>
              <a:off x="3977636" y="2159727"/>
              <a:ext cx="6926994"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spcAft>
                  <a:spcPct val="0"/>
                </a:spcAft>
              </a:pPr>
              <a:r>
                <a:rPr lang="en-US" altLang="zh-TW" sz="1400" dirty="0">
                  <a:solidFill>
                    <a:srgbClr val="008000"/>
                  </a:solidFill>
                  <a:cs typeface="Tahoma" panose="020B0604030504040204" pitchFamily="34" charset="0"/>
                </a:rPr>
                <a:t>[</a:t>
              </a:r>
              <a:r>
                <a:rPr lang="en-US" altLang="zh-TW" sz="1400" dirty="0" err="1">
                  <a:solidFill>
                    <a:srgbClr val="002060"/>
                  </a:solidFill>
                  <a:cs typeface="Tahoma" panose="020B0604030504040204" pitchFamily="34" charset="0"/>
                </a:rPr>
                <a:t>PcdsDynamicExDefault</a:t>
              </a:r>
              <a:r>
                <a:rPr lang="en-US" altLang="zh-TW" sz="1400" dirty="0">
                  <a:solidFill>
                    <a:srgbClr val="008000"/>
                  </a:solidFill>
                  <a:cs typeface="Tahoma" panose="020B0604030504040204" pitchFamily="34" charset="0"/>
                </a:rPr>
                <a:t>]</a:t>
              </a:r>
            </a:p>
            <a:p>
              <a:pPr>
                <a:spcAft>
                  <a:spcPct val="0"/>
                </a:spcAft>
              </a:pPr>
              <a:r>
                <a:rPr lang="en-US" altLang="zh-TW" sz="1400" dirty="0">
                  <a:cs typeface="Tahoma" panose="020B0604030504040204" pitchFamily="34" charset="0"/>
                </a:rPr>
                <a:t>!if </a:t>
              </a:r>
              <a:r>
                <a:rPr lang="en-US" altLang="zh-TW" sz="1400" dirty="0" err="1">
                  <a:solidFill>
                    <a:srgbClr val="7030A0"/>
                  </a:solidFill>
                  <a:cs typeface="Tahoma" panose="020B0604030504040204" pitchFamily="34" charset="0"/>
                </a:rPr>
                <a:t>gInsydeTokenSpaceGuid</a:t>
              </a:r>
              <a:r>
                <a:rPr lang="en-US" altLang="zh-TW" sz="1400" dirty="0" err="1">
                  <a:cs typeface="Tahoma" panose="020B0604030504040204" pitchFamily="34" charset="0"/>
                </a:rPr>
                <a:t>.</a:t>
              </a:r>
              <a:r>
                <a:rPr lang="en-US" altLang="zh-TW" sz="1400" dirty="0" err="1">
                  <a:solidFill>
                    <a:srgbClr val="5A9541"/>
                  </a:solidFill>
                  <a:cs typeface="Tahoma" panose="020B0604030504040204" pitchFamily="34" charset="0"/>
                </a:rPr>
                <a:t>PcdFrontPageSupported</a:t>
              </a:r>
              <a:endParaRPr lang="en-US" altLang="zh-TW" sz="1400" dirty="0">
                <a:solidFill>
                  <a:srgbClr val="5A9541"/>
                </a:solidFill>
                <a:cs typeface="Tahoma" panose="020B0604030504040204" pitchFamily="34" charset="0"/>
              </a:endParaRPr>
            </a:p>
            <a:p>
              <a:pPr>
                <a:spcAft>
                  <a:spcPct val="0"/>
                </a:spcAft>
              </a:pPr>
              <a:r>
                <a:rPr lang="en-US" altLang="zh-TW" sz="1400" dirty="0">
                  <a:cs typeface="Tahoma" panose="020B0604030504040204" pitchFamily="34" charset="0"/>
                </a:rPr>
                <a:t>!if </a:t>
              </a:r>
              <a:r>
                <a:rPr lang="en-US" altLang="zh-TW" sz="1400" dirty="0" err="1">
                  <a:solidFill>
                    <a:srgbClr val="7030A0"/>
                  </a:solidFill>
                  <a:cs typeface="Tahoma" panose="020B0604030504040204" pitchFamily="34" charset="0"/>
                </a:rPr>
                <a:t>gInsydeTokenSpaceGuid</a:t>
              </a:r>
              <a:r>
                <a:rPr lang="en-US" altLang="zh-TW" sz="1400" dirty="0" err="1">
                  <a:cs typeface="Tahoma" panose="020B0604030504040204" pitchFamily="34" charset="0"/>
                </a:rPr>
                <a:t>.</a:t>
              </a:r>
              <a:r>
                <a:rPr lang="en-US" altLang="zh-TW" sz="1400" dirty="0" err="1">
                  <a:solidFill>
                    <a:srgbClr val="5A9541"/>
                  </a:solidFill>
                  <a:cs typeface="Tahoma" panose="020B0604030504040204" pitchFamily="34" charset="0"/>
                </a:rPr>
                <a:t>PcdDynamicHotKeySupported</a:t>
              </a:r>
              <a:r>
                <a:rPr lang="en-US" altLang="zh-TW" sz="1400" dirty="0">
                  <a:cs typeface="Tahoma" panose="020B0604030504040204" pitchFamily="34" charset="0"/>
                </a:rPr>
                <a:t> == FALSE</a:t>
              </a:r>
            </a:p>
            <a:p>
              <a:pPr>
                <a:spcAft>
                  <a:spcPct val="0"/>
                </a:spcAft>
              </a:pPr>
              <a:r>
                <a:rPr lang="en-US" altLang="zh-TW" sz="1400" dirty="0">
                  <a:cs typeface="Tahoma" panose="020B0604030504040204" pitchFamily="34" charset="0"/>
                </a:rPr>
                <a:t>  </a:t>
              </a:r>
              <a:r>
                <a:rPr lang="en-US" altLang="zh-TW" sz="1400" dirty="0">
                  <a:solidFill>
                    <a:srgbClr val="7030A0"/>
                  </a:solidFill>
                  <a:cs typeface="Tahoma" panose="020B0604030504040204" pitchFamily="34" charset="0"/>
                </a:rPr>
                <a:t>gH2OBdsHotKeyGuid</a:t>
              </a:r>
              <a:r>
                <a:rPr lang="en-US" altLang="zh-TW" sz="1400" dirty="0">
                  <a:cs typeface="Tahoma" panose="020B0604030504040204" pitchFamily="34" charset="0"/>
                </a:rPr>
                <a:t>.</a:t>
              </a:r>
              <a:r>
                <a:rPr lang="en-US" altLang="zh-TW" sz="1400" dirty="0">
                  <a:solidFill>
                    <a:srgbClr val="5A9541"/>
                  </a:solidFill>
                  <a:cs typeface="Tahoma" panose="020B0604030504040204" pitchFamily="34" charset="0"/>
                </a:rPr>
                <a:t>PcdH2OHotKeyFrontPage</a:t>
              </a:r>
              <a:r>
                <a:rPr lang="en-US" altLang="zh-TW" sz="1400" dirty="0">
                  <a:cs typeface="Tahoma" panose="020B0604030504040204" pitchFamily="34" charset="0"/>
                </a:rPr>
                <a:t>|{GUID("00000000-0000-0000-0000-000000000000"), UINT32(0), “</a:t>
              </a:r>
              <a:r>
                <a:rPr lang="en-US" altLang="zh-TW" sz="1400" b="1" dirty="0" err="1">
                  <a:solidFill>
                    <a:srgbClr val="FF0000"/>
                  </a:solidFill>
                  <a:cs typeface="Tahoma" panose="020B0604030504040204" pitchFamily="34" charset="0"/>
                </a:rPr>
                <a:t>ctrl+a</a:t>
              </a: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                                                                                "</a:t>
              </a:r>
              <a:r>
                <a:rPr lang="en-US" altLang="zh-TW" sz="1400" dirty="0" err="1">
                  <a:cs typeface="Tahoma" panose="020B0604030504040204" pitchFamily="34" charset="0"/>
                </a:rPr>
                <a:t>VenHw</a:t>
              </a:r>
              <a:r>
                <a:rPr lang="en-US" altLang="zh-TW" sz="1400" dirty="0">
                  <a:cs typeface="Tahoma" panose="020B0604030504040204" pitchFamily="34" charset="0"/>
                </a:rPr>
                <a:t>(E0BA9B98-DD2D-4434-BB94-599CC9E4305D)"}</a:t>
              </a:r>
            </a:p>
            <a:p>
              <a:pPr>
                <a:spcAft>
                  <a:spcPct val="0"/>
                </a:spcAft>
              </a:pPr>
              <a:r>
                <a:rPr lang="en-US" altLang="zh-TW" sz="1400" dirty="0">
                  <a:cs typeface="Tahoma" panose="020B0604030504040204" pitchFamily="34" charset="0"/>
                </a:rPr>
                <a:t>  </a:t>
              </a:r>
              <a:r>
                <a:rPr lang="en-US" altLang="zh-TW" sz="1400" dirty="0">
                  <a:solidFill>
                    <a:srgbClr val="7030A0"/>
                  </a:solidFill>
                  <a:cs typeface="Tahoma" panose="020B0604030504040204" pitchFamily="34" charset="0"/>
                </a:rPr>
                <a:t>gH2OBdsHotKeyDescGuid</a:t>
              </a:r>
              <a:r>
                <a:rPr lang="en-US" altLang="zh-TW" sz="1400" dirty="0">
                  <a:cs typeface="Tahoma" panose="020B0604030504040204" pitchFamily="34" charset="0"/>
                </a:rPr>
                <a:t>.</a:t>
              </a:r>
              <a:r>
                <a:rPr lang="en-US" altLang="zh-TW" sz="1400" dirty="0">
                  <a:solidFill>
                    <a:srgbClr val="5A9541"/>
                  </a:solidFill>
                  <a:cs typeface="Tahoma" panose="020B0604030504040204" pitchFamily="34" charset="0"/>
                </a:rPr>
                <a:t>PcdH2OHotKeyFrontPageDesc</a:t>
              </a:r>
              <a:r>
                <a:rPr lang="en-US" altLang="zh-TW" sz="1400" dirty="0">
                  <a:cs typeface="Tahoma" panose="020B0604030504040204" pitchFamily="34" charset="0"/>
                </a:rPr>
                <a:t>|{STRING_TOKEN(STR_OEM_BADGING_STR_ESC),</a:t>
              </a:r>
            </a:p>
            <a:p>
              <a:pPr>
                <a:spcAft>
                  <a:spcPct val="0"/>
                </a:spcAft>
              </a:pPr>
              <a:r>
                <a:rPr lang="en-US" altLang="zh-TW" sz="1400" dirty="0">
                  <a:cs typeface="Tahoma" panose="020B0604030504040204" pitchFamily="34" charset="0"/>
                </a:rPr>
                <a:t>                                                                                                 STRING_TOKEN(STR_OEM_BADGING_STR_ESC_SELECT),</a:t>
              </a:r>
            </a:p>
            <a:p>
              <a:pPr>
                <a:spcAft>
                  <a:spcPct val="0"/>
                </a:spcAft>
              </a:pPr>
              <a:r>
                <a:rPr lang="en-US" altLang="zh-TW" sz="1400" dirty="0">
                  <a:cs typeface="Tahoma" panose="020B0604030504040204" pitchFamily="34" charset="0"/>
                </a:rPr>
                <a:t>                                                                                                 "x=0em;y=0em;xorigin=</a:t>
              </a:r>
              <a:r>
                <a:rPr lang="en-US" altLang="zh-TW" sz="1400" dirty="0" err="1">
                  <a:cs typeface="Tahoma" panose="020B0604030504040204" pitchFamily="34" charset="0"/>
                </a:rPr>
                <a:t>left;yorigin</a:t>
              </a:r>
              <a:r>
                <a:rPr lang="en-US" altLang="zh-TW" sz="1400" dirty="0">
                  <a:cs typeface="Tahoma" panose="020B0604030504040204" pitchFamily="34" charset="0"/>
                </a:rPr>
                <a:t>=bottom;"}</a:t>
              </a:r>
            </a:p>
            <a:p>
              <a:pPr>
                <a:spcAft>
                  <a:spcPct val="0"/>
                </a:spcAft>
              </a:pPr>
              <a:r>
                <a:rPr lang="en-US" altLang="zh-TW" sz="1400" dirty="0">
                  <a:cs typeface="Tahoma" panose="020B0604030504040204" pitchFamily="34" charset="0"/>
                </a:rPr>
                <a:t>  </a:t>
              </a:r>
              <a:r>
                <a:rPr lang="en-US" altLang="zh-TW" sz="1400" dirty="0">
                  <a:solidFill>
                    <a:srgbClr val="7030A0"/>
                  </a:solidFill>
                  <a:cs typeface="Tahoma" panose="020B0604030504040204" pitchFamily="34" charset="0"/>
                </a:rPr>
                <a:t>gH2OBdsHotKeyDescQuietGuid</a:t>
              </a:r>
              <a:r>
                <a:rPr lang="en-US" altLang="zh-TW" sz="1400" dirty="0">
                  <a:cs typeface="Tahoma" panose="020B0604030504040204" pitchFamily="34" charset="0"/>
                </a:rPr>
                <a:t>.</a:t>
              </a:r>
              <a:r>
                <a:rPr lang="en-US" altLang="zh-TW" sz="1400" dirty="0">
                  <a:solidFill>
                    <a:srgbClr val="5A9541"/>
                  </a:solidFill>
                  <a:cs typeface="Tahoma" panose="020B0604030504040204" pitchFamily="34" charset="0"/>
                </a:rPr>
                <a:t>PcdH2OHotKeyFrontPageDescQuiet</a:t>
              </a:r>
              <a:r>
                <a:rPr lang="en-US" altLang="zh-TW" sz="1400" dirty="0">
                  <a:cs typeface="Tahoma" panose="020B0604030504040204" pitchFamily="34" charset="0"/>
                </a:rPr>
                <a:t>|{STRING_TOKEN(STR_OEM_BADGING_STR_ESC), </a:t>
              </a:r>
            </a:p>
            <a:p>
              <a:pPr>
                <a:spcAft>
                  <a:spcPct val="0"/>
                </a:spcAft>
              </a:pPr>
              <a:r>
                <a:rPr lang="en-US" altLang="zh-TW" sz="1400" dirty="0">
                  <a:cs typeface="Tahoma" panose="020B0604030504040204" pitchFamily="34" charset="0"/>
                </a:rPr>
                <a:t>                                                                                                                    STRING_TOKEN(STR_OEM_BADGING_STR_ESC_SELECT),</a:t>
              </a:r>
            </a:p>
            <a:p>
              <a:pPr>
                <a:spcAft>
                  <a:spcPct val="0"/>
                </a:spcAft>
              </a:pPr>
              <a:r>
                <a:rPr lang="en-US" altLang="zh-TW" sz="1400" dirty="0">
                  <a:cs typeface="Tahoma" panose="020B0604030504040204" pitchFamily="34" charset="0"/>
                </a:rPr>
                <a:t>                                                                                                                    "x=0em;y=0em;xorigin=</a:t>
              </a:r>
              <a:r>
                <a:rPr lang="en-US" altLang="zh-TW" sz="1400" dirty="0" err="1">
                  <a:cs typeface="Tahoma" panose="020B0604030504040204" pitchFamily="34" charset="0"/>
                </a:rPr>
                <a:t>center;yorigin</a:t>
              </a:r>
              <a:r>
                <a:rPr lang="en-US" altLang="zh-TW" sz="1400" dirty="0">
                  <a:cs typeface="Tahoma" panose="020B0604030504040204" pitchFamily="34" charset="0"/>
                </a:rPr>
                <a:t>=top(80%);"}</a:t>
              </a:r>
            </a:p>
            <a:p>
              <a:pPr>
                <a:spcAft>
                  <a:spcPct val="0"/>
                </a:spcAft>
              </a:pPr>
              <a:r>
                <a:rPr lang="en-US" altLang="zh-TW" sz="1400" dirty="0">
                  <a:cs typeface="Tahoma" panose="020B0604030504040204" pitchFamily="34" charset="0"/>
                </a:rPr>
                <a:t>!endif</a:t>
              </a:r>
            </a:p>
            <a:p>
              <a:pPr>
                <a:spcAft>
                  <a:spcPct val="0"/>
                </a:spcAft>
              </a:pPr>
              <a:r>
                <a:rPr lang="en-US" altLang="zh-TW" sz="1400" dirty="0">
                  <a:cs typeface="Tahoma" panose="020B0604030504040204" pitchFamily="34" charset="0"/>
                </a:rPr>
                <a:t>!endif</a:t>
              </a:r>
            </a:p>
          </p:txBody>
        </p:sp>
      </p:grpSp>
    </p:spTree>
    <p:extLst>
      <p:ext uri="{BB962C8B-B14F-4D97-AF65-F5344CB8AC3E}">
        <p14:creationId xmlns:p14="http://schemas.microsoft.com/office/powerpoint/2010/main" val="3756099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Customization Steps</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p:txBody>
          <a:bodyPr>
            <a:normAutofit/>
          </a:bodyPr>
          <a:lstStyle/>
          <a:p>
            <a:pPr>
              <a:lnSpc>
                <a:spcPct val="100000"/>
              </a:lnSpc>
              <a:defRPr/>
            </a:pPr>
            <a:r>
              <a:rPr lang="en-US" altLang="zh-TW" dirty="0">
                <a:solidFill>
                  <a:schemeClr val="tx2"/>
                </a:solidFill>
                <a:cs typeface="Tahoma" panose="020B0604030504040204" pitchFamily="34" charset="0"/>
              </a:rPr>
              <a:t>Modify the text description of hot key before/after it has been </a:t>
            </a:r>
            <a:r>
              <a:rPr lang="en-US" altLang="zh-TW" dirty="0" err="1">
                <a:solidFill>
                  <a:schemeClr val="tx2"/>
                </a:solidFill>
                <a:cs typeface="Tahoma" panose="020B0604030504040204" pitchFamily="34" charset="0"/>
              </a:rPr>
              <a:t>detectd</a:t>
            </a:r>
            <a:r>
              <a:rPr lang="en-US" altLang="zh-TW" dirty="0">
                <a:solidFill>
                  <a:schemeClr val="tx2"/>
                </a:solidFill>
                <a:cs typeface="Tahoma" panose="020B0604030504040204" pitchFamily="34" charset="0"/>
              </a:rPr>
              <a:t>.</a:t>
            </a:r>
          </a:p>
          <a:p>
            <a:pPr lvl="1">
              <a:lnSpc>
                <a:spcPct val="100000"/>
              </a:lnSpc>
              <a:defRPr/>
            </a:pPr>
            <a:r>
              <a:rPr lang="en-US" altLang="zh-TW" dirty="0">
                <a:solidFill>
                  <a:schemeClr val="tx2"/>
                </a:solidFill>
                <a:cs typeface="Tahoma" panose="020B0604030504040204" pitchFamily="34" charset="0"/>
              </a:rPr>
              <a:t>Modify the description string in </a:t>
            </a:r>
            <a:r>
              <a:rPr lang="en-US" altLang="zh-TW" dirty="0" err="1">
                <a:solidFill>
                  <a:schemeClr val="tx2"/>
                </a:solidFill>
                <a:cs typeface="Tahoma" panose="020B0604030504040204" pitchFamily="34" charset="0"/>
              </a:rPr>
              <a:t>Project.uni</a:t>
            </a:r>
            <a:endParaRPr lang="en-US" altLang="zh-TW" dirty="0">
              <a:solidFill>
                <a:schemeClr val="tx2"/>
              </a:solidFill>
              <a:cs typeface="Tahoma" panose="020B0604030504040204" pitchFamily="34" charset="0"/>
            </a:endParaRPr>
          </a:p>
        </p:txBody>
      </p:sp>
      <p:grpSp>
        <p:nvGrpSpPr>
          <p:cNvPr id="4" name="群組 3">
            <a:extLst>
              <a:ext uri="{FF2B5EF4-FFF2-40B4-BE49-F238E27FC236}">
                <a16:creationId xmlns:a16="http://schemas.microsoft.com/office/drawing/2014/main" id="{FAE8DF28-7DC4-4D1F-874D-4FEFC8D27664}"/>
              </a:ext>
            </a:extLst>
          </p:cNvPr>
          <p:cNvGrpSpPr/>
          <p:nvPr/>
        </p:nvGrpSpPr>
        <p:grpSpPr>
          <a:xfrm>
            <a:off x="1538120" y="2902986"/>
            <a:ext cx="9115759" cy="1691755"/>
            <a:chOff x="3971110" y="1854926"/>
            <a:chExt cx="6933521" cy="1691755"/>
          </a:xfrm>
        </p:grpSpPr>
        <p:sp>
          <p:nvSpPr>
            <p:cNvPr id="5" name="Rectangle 15">
              <a:extLst>
                <a:ext uri="{FF2B5EF4-FFF2-40B4-BE49-F238E27FC236}">
                  <a16:creationId xmlns:a16="http://schemas.microsoft.com/office/drawing/2014/main" id="{848DF81F-83F0-4E27-8180-784EBE5D2F8F}"/>
                </a:ext>
              </a:extLst>
            </p:cNvPr>
            <p:cNvSpPr>
              <a:spLocks noChangeArrowheads="1"/>
            </p:cNvSpPr>
            <p:nvPr/>
          </p:nvSpPr>
          <p:spPr bwMode="auto">
            <a:xfrm>
              <a:off x="3971110" y="1854926"/>
              <a:ext cx="6933521" cy="1691755"/>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6" name="Rectangle 16">
              <a:extLst>
                <a:ext uri="{FF2B5EF4-FFF2-40B4-BE49-F238E27FC236}">
                  <a16:creationId xmlns:a16="http://schemas.microsoft.com/office/drawing/2014/main" id="{4D7A1AB4-B357-46B1-854E-F9A533D79A3E}"/>
                </a:ext>
              </a:extLst>
            </p:cNvPr>
            <p:cNvSpPr>
              <a:spLocks noChangeArrowheads="1"/>
            </p:cNvSpPr>
            <p:nvPr/>
          </p:nvSpPr>
          <p:spPr bwMode="auto">
            <a:xfrm>
              <a:off x="3971110" y="1854927"/>
              <a:ext cx="6933521" cy="287565"/>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Project.uni</a:t>
              </a:r>
              <a:endParaRPr lang="zh-TW" altLang="en-US" sz="1400" dirty="0"/>
            </a:p>
          </p:txBody>
        </p:sp>
        <p:sp>
          <p:nvSpPr>
            <p:cNvPr id="7" name="Text Box 17">
              <a:extLst>
                <a:ext uri="{FF2B5EF4-FFF2-40B4-BE49-F238E27FC236}">
                  <a16:creationId xmlns:a16="http://schemas.microsoft.com/office/drawing/2014/main" id="{B53CA662-A658-4B81-93E1-68F0FE3EF113}"/>
                </a:ext>
              </a:extLst>
            </p:cNvPr>
            <p:cNvSpPr txBox="1">
              <a:spLocks noChangeArrowheads="1"/>
            </p:cNvSpPr>
            <p:nvPr/>
          </p:nvSpPr>
          <p:spPr bwMode="auto">
            <a:xfrm>
              <a:off x="3977636" y="2159727"/>
              <a:ext cx="6926994"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spcAft>
                  <a:spcPct val="0"/>
                </a:spcAft>
              </a:pPr>
              <a:r>
                <a:rPr lang="en-US" altLang="zh-TW" sz="1400" dirty="0">
                  <a:solidFill>
                    <a:schemeClr val="tx2"/>
                  </a:solidFill>
                  <a:cs typeface="Tahoma" panose="020B0604030504040204" pitchFamily="34" charset="0"/>
                </a:rPr>
                <a:t>//</a:t>
              </a:r>
            </a:p>
            <a:p>
              <a:pPr>
                <a:spcAft>
                  <a:spcPct val="0"/>
                </a:spcAft>
              </a:pPr>
              <a:r>
                <a:rPr lang="en-US" altLang="zh-TW" sz="1400" dirty="0">
                  <a:solidFill>
                    <a:srgbClr val="7030A0"/>
                  </a:solidFill>
                  <a:cs typeface="Tahoma" panose="020B0604030504040204" pitchFamily="34" charset="0"/>
                </a:rPr>
                <a:t>// BDS Hot Key Description Strings</a:t>
              </a:r>
            </a:p>
            <a:p>
              <a:pPr>
                <a:spcAft>
                  <a:spcPct val="0"/>
                </a:spcAft>
              </a:pPr>
              <a:r>
                <a:rPr lang="en-US" altLang="zh-TW" sz="1400" dirty="0">
                  <a:solidFill>
                    <a:schemeClr val="tx2"/>
                  </a:solidFill>
                  <a:cs typeface="Tahoma" panose="020B0604030504040204" pitchFamily="34" charset="0"/>
                </a:rPr>
                <a:t>//</a:t>
              </a:r>
            </a:p>
            <a:p>
              <a:pPr>
                <a:spcAft>
                  <a:spcPct val="0"/>
                </a:spcAft>
              </a:pPr>
              <a:r>
                <a:rPr lang="en-US" altLang="zh-TW" sz="1400" dirty="0">
                  <a:solidFill>
                    <a:schemeClr val="tx2"/>
                  </a:solidFill>
                  <a:cs typeface="Tahoma" panose="020B0604030504040204" pitchFamily="34" charset="0"/>
                </a:rPr>
                <a:t>#string </a:t>
              </a:r>
              <a:r>
                <a:rPr lang="en-US" altLang="zh-TW" sz="1400" dirty="0">
                  <a:solidFill>
                    <a:srgbClr val="5A9541"/>
                  </a:solidFill>
                  <a:cs typeface="Tahoma" panose="020B0604030504040204" pitchFamily="34" charset="0"/>
                </a:rPr>
                <a:t>STR_OEM_BADGING_STR_ESC                    </a:t>
              </a:r>
              <a:r>
                <a:rPr lang="en-US" altLang="zh-TW" sz="1400" dirty="0">
                  <a:solidFill>
                    <a:schemeClr val="tx2"/>
                  </a:solidFill>
                  <a:cs typeface="Tahoma" panose="020B0604030504040204" pitchFamily="34" charset="0"/>
                </a:rPr>
                <a:t>#language </a:t>
              </a:r>
              <a:r>
                <a:rPr lang="en-US" altLang="zh-TW" sz="1400" dirty="0" err="1">
                  <a:solidFill>
                    <a:schemeClr val="tx2"/>
                  </a:solidFill>
                  <a:cs typeface="Tahoma" panose="020B0604030504040204" pitchFamily="34" charset="0"/>
                </a:rPr>
                <a:t>en</a:t>
              </a:r>
              <a:r>
                <a:rPr lang="en-US" altLang="zh-TW" sz="1400" dirty="0">
                  <a:solidFill>
                    <a:schemeClr val="tx2"/>
                  </a:solidFill>
                  <a:cs typeface="Tahoma" panose="020B0604030504040204" pitchFamily="34" charset="0"/>
                </a:rPr>
                <a:t>-US  "</a:t>
              </a:r>
              <a:r>
                <a:rPr lang="en-US" altLang="zh-TW" sz="1400" dirty="0">
                  <a:solidFill>
                    <a:srgbClr val="FF0000"/>
                  </a:solidFill>
                  <a:cs typeface="Tahoma" panose="020B0604030504040204" pitchFamily="34" charset="0"/>
                </a:rPr>
                <a:t>Press F2 for boot options</a:t>
              </a:r>
              <a:r>
                <a:rPr lang="en-US" altLang="zh-TW" sz="1400" dirty="0">
                  <a:solidFill>
                    <a:schemeClr val="tx2"/>
                  </a:solidFill>
                  <a:cs typeface="Tahoma" panose="020B0604030504040204" pitchFamily="34" charset="0"/>
                </a:rPr>
                <a:t>"</a:t>
              </a:r>
            </a:p>
            <a:p>
              <a:pPr>
                <a:spcAft>
                  <a:spcPct val="0"/>
                </a:spcAft>
              </a:pPr>
              <a:r>
                <a:rPr lang="en-US" altLang="zh-TW" sz="1400" dirty="0">
                  <a:solidFill>
                    <a:schemeClr val="tx2"/>
                  </a:solidFill>
                  <a:cs typeface="Tahoma" panose="020B0604030504040204" pitchFamily="34" charset="0"/>
                </a:rPr>
                <a:t>#string </a:t>
              </a:r>
              <a:r>
                <a:rPr lang="en-US" altLang="zh-TW" sz="1400" dirty="0">
                  <a:solidFill>
                    <a:srgbClr val="5A9541"/>
                  </a:solidFill>
                  <a:cs typeface="Tahoma" panose="020B0604030504040204" pitchFamily="34" charset="0"/>
                </a:rPr>
                <a:t>STR_OEM_BADGING_STR_ESC_SELECT</a:t>
              </a:r>
              <a:r>
                <a:rPr lang="en-US" altLang="zh-TW" sz="1400" dirty="0">
                  <a:solidFill>
                    <a:schemeClr val="tx2"/>
                  </a:solidFill>
                  <a:cs typeface="Tahoma" panose="020B0604030504040204" pitchFamily="34" charset="0"/>
                </a:rPr>
                <a:t>    #language </a:t>
              </a:r>
              <a:r>
                <a:rPr lang="en-US" altLang="zh-TW" sz="1400" dirty="0" err="1">
                  <a:solidFill>
                    <a:schemeClr val="tx2"/>
                  </a:solidFill>
                  <a:cs typeface="Tahoma" panose="020B0604030504040204" pitchFamily="34" charset="0"/>
                </a:rPr>
                <a:t>en</a:t>
              </a:r>
              <a:r>
                <a:rPr lang="en-US" altLang="zh-TW" sz="1400" dirty="0">
                  <a:solidFill>
                    <a:schemeClr val="tx2"/>
                  </a:solidFill>
                  <a:cs typeface="Tahoma" panose="020B0604030504040204" pitchFamily="34" charset="0"/>
                </a:rPr>
                <a:t>-US  “</a:t>
              </a:r>
              <a:r>
                <a:rPr lang="en-US" altLang="zh-TW" sz="1400" dirty="0">
                  <a:solidFill>
                    <a:srgbClr val="FF0000"/>
                  </a:solidFill>
                  <a:cs typeface="Tahoma" panose="020B0604030504040204" pitchFamily="34" charset="0"/>
                </a:rPr>
                <a:t>F2 is pressed. Go to boot options</a:t>
              </a:r>
              <a:r>
                <a:rPr lang="en-US" altLang="zh-TW" sz="1400" dirty="0">
                  <a:solidFill>
                    <a:schemeClr val="tx2"/>
                  </a:solidFill>
                  <a:cs typeface="Tahoma" panose="020B0604030504040204" pitchFamily="34" charset="0"/>
                </a:rPr>
                <a:t>."</a:t>
              </a:r>
            </a:p>
          </p:txBody>
        </p:sp>
      </p:grpSp>
    </p:spTree>
    <p:extLst>
      <p:ext uri="{BB962C8B-B14F-4D97-AF65-F5344CB8AC3E}">
        <p14:creationId xmlns:p14="http://schemas.microsoft.com/office/powerpoint/2010/main" val="1643428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23</a:t>
            </a:fld>
            <a:endParaRPr lang="en-US" dirty="0"/>
          </a:p>
        </p:txBody>
      </p:sp>
    </p:spTree>
    <p:extLst>
      <p:ext uri="{BB962C8B-B14F-4D97-AF65-F5344CB8AC3E}">
        <p14:creationId xmlns:p14="http://schemas.microsoft.com/office/powerpoint/2010/main" val="1579655941"/>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7263</TotalTime>
  <Words>2068</Words>
  <Application>Microsoft Office PowerPoint</Application>
  <PresentationFormat>Widescreen</PresentationFormat>
  <Paragraphs>272</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Courier</vt:lpstr>
      <vt:lpstr>Arial</vt:lpstr>
      <vt:lpstr>Calibri</vt:lpstr>
      <vt:lpstr>Segoe UI</vt:lpstr>
      <vt:lpstr>Verdana</vt:lpstr>
      <vt:lpstr>2018 Theme</vt:lpstr>
      <vt:lpstr>Hot Key</vt:lpstr>
      <vt:lpstr>Copyright 2021 Insyde Software Corp., All Rights Reserved.</vt:lpstr>
      <vt:lpstr>Agenda</vt:lpstr>
      <vt:lpstr>Overview</vt:lpstr>
      <vt:lpstr>Overview</vt:lpstr>
      <vt:lpstr>UEFI Hot Keys</vt:lpstr>
      <vt:lpstr>PCD Hot Keys</vt:lpstr>
      <vt:lpstr>PCD Hot Keys</vt:lpstr>
      <vt:lpstr>PCD Hot Keys</vt:lpstr>
      <vt:lpstr>PCD Hot Keys</vt:lpstr>
      <vt:lpstr>PCD Hot Keys</vt:lpstr>
      <vt:lpstr>Registered Hot Keys</vt:lpstr>
      <vt:lpstr>Related Files</vt:lpstr>
      <vt:lpstr>Related Files</vt:lpstr>
      <vt:lpstr>InsydeModulePkg/InsydeModulePkg.dec</vt:lpstr>
      <vt:lpstr>InsydeModulePkg/Package.dsc</vt:lpstr>
      <vt:lpstr>FrontPageDxe</vt:lpstr>
      <vt:lpstr>BdsDxe</vt:lpstr>
      <vt:lpstr>Customization Steps</vt:lpstr>
      <vt:lpstr>Customization Steps</vt:lpstr>
      <vt:lpstr>Customization Steps</vt:lpstr>
      <vt:lpstr>Customization Steps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Yuna</cp:lastModifiedBy>
  <cp:revision>133</cp:revision>
  <dcterms:created xsi:type="dcterms:W3CDTF">2018-02-02T23:50:52Z</dcterms:created>
  <dcterms:modified xsi:type="dcterms:W3CDTF">2021-04-01T08:41:19Z</dcterms:modified>
</cp:coreProperties>
</file>