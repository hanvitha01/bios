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1" r:id="rId1"/>
  </p:sldMasterIdLst>
  <p:notesMasterIdLst>
    <p:notesMasterId r:id="rId32"/>
  </p:notesMasterIdLst>
  <p:sldIdLst>
    <p:sldId id="269" r:id="rId2"/>
    <p:sldId id="271" r:id="rId3"/>
    <p:sldId id="274" r:id="rId4"/>
    <p:sldId id="350" r:id="rId5"/>
    <p:sldId id="351" r:id="rId6"/>
    <p:sldId id="352" r:id="rId7"/>
    <p:sldId id="353" r:id="rId8"/>
    <p:sldId id="354" r:id="rId9"/>
    <p:sldId id="365" r:id="rId10"/>
    <p:sldId id="366" r:id="rId11"/>
    <p:sldId id="367" r:id="rId12"/>
    <p:sldId id="355" r:id="rId13"/>
    <p:sldId id="356" r:id="rId14"/>
    <p:sldId id="359" r:id="rId15"/>
    <p:sldId id="368" r:id="rId16"/>
    <p:sldId id="369" r:id="rId17"/>
    <p:sldId id="372" r:id="rId18"/>
    <p:sldId id="373" r:id="rId19"/>
    <p:sldId id="374" r:id="rId20"/>
    <p:sldId id="370" r:id="rId21"/>
    <p:sldId id="375" r:id="rId22"/>
    <p:sldId id="376" r:id="rId23"/>
    <p:sldId id="371" r:id="rId24"/>
    <p:sldId id="357" r:id="rId25"/>
    <p:sldId id="360" r:id="rId26"/>
    <p:sldId id="361" r:id="rId27"/>
    <p:sldId id="362" r:id="rId28"/>
    <p:sldId id="363" r:id="rId29"/>
    <p:sldId id="364" r:id="rId30"/>
    <p:sldId id="34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3428"/>
    <a:srgbClr val="5A9541"/>
    <a:srgbClr val="86C3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0" d="100"/>
          <a:sy n="70" d="100"/>
        </p:scale>
        <p:origin x="643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030F8A-27F9-4A22-9386-DE7826FB9ADE}" type="datetimeFigureOut">
              <a:rPr lang="en-US" smtClean="0"/>
              <a:t>3/25/2021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3976C4-ACCA-4C47-8066-C01E23D4E0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2630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AE84B-2BC2-4C41-BEA0-778BA5E36F2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234902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AE84B-2BC2-4C41-BEA0-778BA5E36F24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99956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BAE84B-2BC2-4C41-BEA0-778BA5E36F24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2917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831850" y="2379194"/>
            <a:ext cx="10515600" cy="2082460"/>
          </a:xfrm>
        </p:spPr>
        <p:txBody>
          <a:bodyPr anchor="ctr">
            <a:normAutofit/>
          </a:bodyPr>
          <a:lstStyle>
            <a:lvl1pPr>
              <a:defRPr sz="4800" b="1">
                <a:solidFill>
                  <a:schemeClr val="tx2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bg2">
                    <a:lumMod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6154" y="885419"/>
            <a:ext cx="6252191" cy="1493775"/>
          </a:xfrm>
          <a:prstGeom prst="rect">
            <a:avLst/>
          </a:prstGeom>
          <a:effectLst/>
        </p:spPr>
      </p:pic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  |  © 2021 Insyde Software</a:t>
            </a:r>
          </a:p>
        </p:txBody>
      </p:sp>
      <p:sp>
        <p:nvSpPr>
          <p:cNvPr id="10" name="TextBox 5">
            <a:extLst>
              <a:ext uri="{FF2B5EF4-FFF2-40B4-BE49-F238E27FC236}">
                <a16:creationId xmlns:a16="http://schemas.microsoft.com/office/drawing/2014/main" id="{5F132B0E-74BD-4721-8F14-51CFD2B696C5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968502309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240465"/>
            <a:ext cx="10515600" cy="1075765"/>
          </a:xfrm>
        </p:spPr>
        <p:txBody>
          <a:bodyPr>
            <a:normAutofit/>
          </a:bodyPr>
          <a:lstStyle>
            <a:lvl1pPr>
              <a:defRPr sz="4000" b="1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398494"/>
            <a:ext cx="10515600" cy="477846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/>
          <p:cNvSpPr txBox="1">
            <a:spLocks/>
          </p:cNvSpPr>
          <p:nvPr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6212"/>
            <a:ext cx="2109995" cy="504120"/>
          </a:xfrm>
          <a:prstGeom prst="rect">
            <a:avLst/>
          </a:prstGeom>
        </p:spPr>
      </p:pic>
      <p:sp>
        <p:nvSpPr>
          <p:cNvPr id="10" name="Footer Placeholder 4"/>
          <p:cNvSpPr txBox="1">
            <a:spLocks/>
          </p:cNvSpPr>
          <p:nvPr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Confidential  |  © 2021 Insyde Software</a:t>
            </a:r>
          </a:p>
        </p:txBody>
      </p:sp>
      <p:sp>
        <p:nvSpPr>
          <p:cNvPr id="11" name="Slide Number Placeholder 5"/>
          <p:cNvSpPr txBox="1">
            <a:spLocks/>
          </p:cNvSpPr>
          <p:nvPr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3" name="Slide Number Placeholder 5"/>
          <p:cNvSpPr txBox="1">
            <a:spLocks/>
          </p:cNvSpPr>
          <p:nvPr userDrawn="1"/>
        </p:nvSpPr>
        <p:spPr>
          <a:xfrm>
            <a:off x="7773225" y="6468775"/>
            <a:ext cx="44179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bg1"/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5">
            <a:extLst>
              <a:ext uri="{FF2B5EF4-FFF2-40B4-BE49-F238E27FC236}">
                <a16:creationId xmlns:a16="http://schemas.microsoft.com/office/drawing/2014/main" id="{960F44E9-F06D-4FD1-9F09-7681568FD1B9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78168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4543" y="2596696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38CCA661-E9A6-4AA7-A37B-8F608DFF98E7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2455203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9"/>
          <p:cNvSpPr>
            <a:spLocks noGrp="1"/>
          </p:cNvSpPr>
          <p:nvPr>
            <p:ph type="title" hasCustomPrompt="1"/>
          </p:nvPr>
        </p:nvSpPr>
        <p:spPr>
          <a:xfrm>
            <a:off x="842682" y="230396"/>
            <a:ext cx="8841908" cy="1095506"/>
          </a:xfrm>
        </p:spPr>
        <p:txBody>
          <a:bodyPr>
            <a:normAutofit/>
          </a:bodyPr>
          <a:lstStyle>
            <a:lvl1pPr>
              <a:defRPr sz="4400" b="1" baseline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add agenda title</a:t>
            </a:r>
          </a:p>
        </p:txBody>
      </p:sp>
      <p:sp>
        <p:nvSpPr>
          <p:cNvPr id="11" name="Content Placeholder 2"/>
          <p:cNvSpPr>
            <a:spLocks noGrp="1"/>
          </p:cNvSpPr>
          <p:nvPr>
            <p:ph idx="1" hasCustomPrompt="1"/>
          </p:nvPr>
        </p:nvSpPr>
        <p:spPr>
          <a:xfrm>
            <a:off x="842682" y="1428751"/>
            <a:ext cx="11042376" cy="4793473"/>
          </a:xfrm>
        </p:spPr>
        <p:txBody>
          <a:bodyPr/>
          <a:lstStyle>
            <a:lvl1pPr>
              <a:defRPr b="0">
                <a:solidFill>
                  <a:schemeClr val="bg1"/>
                </a:solidFill>
              </a:defRPr>
            </a:lvl1pPr>
            <a:lvl2pPr>
              <a:spcBef>
                <a:spcPts val="450"/>
              </a:spcBef>
              <a:defRPr b="0">
                <a:solidFill>
                  <a:schemeClr val="bg1"/>
                </a:solidFill>
              </a:defRPr>
            </a:lvl2pPr>
            <a:lvl3pPr>
              <a:spcBef>
                <a:spcPts val="450"/>
              </a:spcBef>
              <a:defRPr>
                <a:solidFill>
                  <a:schemeClr val="bg1"/>
                </a:solidFill>
              </a:defRPr>
            </a:lvl3pPr>
            <a:lvl4pPr>
              <a:spcBef>
                <a:spcPts val="450"/>
              </a:spcBef>
              <a:defRPr>
                <a:solidFill>
                  <a:schemeClr val="bg1"/>
                </a:solidFill>
              </a:defRPr>
            </a:lvl4pPr>
            <a:lvl5pPr>
              <a:spcBef>
                <a:spcPts val="450"/>
              </a:spcBef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agenda items</a:t>
            </a:r>
          </a:p>
          <a:p>
            <a:pPr lvl="1"/>
            <a:r>
              <a:rPr lang="en-US" dirty="0"/>
              <a:t>Second level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747B6097-B663-4336-A39C-176719FC1ACF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1778328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73225" y="6468775"/>
            <a:ext cx="4417951" cy="365125"/>
          </a:xfrm>
        </p:spPr>
        <p:txBody>
          <a:bodyPr/>
          <a:lstStyle>
            <a:lvl1pPr>
              <a:defRPr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fld id="{711F1488-76AD-4E7F-AEC8-BF811B7D74A5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14" y="6317861"/>
            <a:ext cx="2109995" cy="503512"/>
          </a:xfrm>
          <a:prstGeom prst="rect">
            <a:avLst/>
          </a:prstGeom>
        </p:spPr>
      </p:pic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24543" y="2596696"/>
            <a:ext cx="10515600" cy="1325563"/>
          </a:xfrm>
        </p:spPr>
        <p:txBody>
          <a:bodyPr/>
          <a:lstStyle>
            <a:lvl1pPr>
              <a:defRPr b="1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Confidential  |  © 2021 Insyde Software</a:t>
            </a:r>
          </a:p>
        </p:txBody>
      </p:sp>
      <p:sp>
        <p:nvSpPr>
          <p:cNvPr id="8" name="TextBox 5">
            <a:extLst>
              <a:ext uri="{FF2B5EF4-FFF2-40B4-BE49-F238E27FC236}">
                <a16:creationId xmlns:a16="http://schemas.microsoft.com/office/drawing/2014/main" id="{E3B1FE26-C4A2-4063-9FE4-79DA3075E635}"/>
              </a:ext>
            </a:extLst>
          </p:cNvPr>
          <p:cNvSpPr txBox="1"/>
          <p:nvPr userDrawn="1"/>
        </p:nvSpPr>
        <p:spPr>
          <a:xfrm>
            <a:off x="4294971" y="6524481"/>
            <a:ext cx="7473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000" dirty="0">
                <a:solidFill>
                  <a:srgbClr val="0070C0"/>
                </a:solidFill>
              </a:rPr>
              <a:t>Restricted</a:t>
            </a:r>
          </a:p>
        </p:txBody>
      </p:sp>
    </p:spTree>
    <p:extLst>
      <p:ext uri="{BB962C8B-B14F-4D97-AF65-F5344CB8AC3E}">
        <p14:creationId xmlns:p14="http://schemas.microsoft.com/office/powerpoint/2010/main" val="42769298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9D5BCCF-7831-40ED-9885-59B8E3FA0D4D}" type="datetime1">
              <a:rPr lang="en-US" smtClean="0"/>
              <a:t>3/25/2021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1F1488-76AD-4E7F-AEC8-BF811B7D74A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2250" y="6468775"/>
            <a:ext cx="4114800" cy="365125"/>
          </a:xfrm>
          <a:prstGeom prst="rect">
            <a:avLst/>
          </a:prstGeom>
        </p:spPr>
        <p:txBody>
          <a:bodyPr/>
          <a:lstStyle>
            <a:lvl1pPr algn="ctr">
              <a:defRPr sz="100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Confidential  |  © 2021 Insyde Software</a:t>
            </a:r>
          </a:p>
        </p:txBody>
      </p:sp>
    </p:spTree>
    <p:extLst>
      <p:ext uri="{BB962C8B-B14F-4D97-AF65-F5344CB8AC3E}">
        <p14:creationId xmlns:p14="http://schemas.microsoft.com/office/powerpoint/2010/main" val="13179633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0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tmp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 Debug Tool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Insyde Software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March, 2021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59737" y="51470"/>
            <a:ext cx="1080000" cy="1080000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91051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3000"/>
    </mc:Choice>
    <mc:Fallback xmlns="">
      <p:transition advClick="0" advTm="3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tabLst>
                <a:tab pos="2243138" algn="l"/>
              </a:tabLst>
            </a:pPr>
            <a:r>
              <a:rPr lang="en-US" altLang="zh-TW" sz="4000" dirty="0"/>
              <a:t>Agenda</a:t>
            </a:r>
            <a:endParaRPr lang="zh-TW" altLang="en-US" sz="4000" dirty="0"/>
          </a:p>
        </p:txBody>
      </p:sp>
      <p:sp>
        <p:nvSpPr>
          <p:cNvPr id="6" name="內容版面配置區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0" dirty="0"/>
              <a:t>H2OFFT</a:t>
            </a:r>
          </a:p>
          <a:p>
            <a:r>
              <a:rPr lang="en-US" dirty="0"/>
              <a:t>H2OSDE</a:t>
            </a:r>
          </a:p>
          <a:p>
            <a:r>
              <a:rPr lang="en-US" b="0" dirty="0"/>
              <a:t>H2ORTE</a:t>
            </a:r>
          </a:p>
          <a:p>
            <a:r>
              <a:rPr lang="en-US" dirty="0"/>
              <a:t>H2OUVE</a:t>
            </a:r>
          </a:p>
          <a:p>
            <a:r>
              <a:rPr lang="en-US" b="0" dirty="0"/>
              <a:t>H2ODST</a:t>
            </a: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>
                <a:solidFill>
                  <a:schemeClr val="bg1"/>
                </a:solidFill>
              </a:rPr>
              <a:pPr/>
              <a:t>2</a:t>
            </a:fld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89652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H2OFFT (Firmware Flash Tool)</a:t>
            </a:r>
          </a:p>
        </p:txBody>
      </p:sp>
    </p:spTree>
    <p:extLst>
      <p:ext uri="{BB962C8B-B14F-4D97-AF65-F5344CB8AC3E}">
        <p14:creationId xmlns:p14="http://schemas.microsoft.com/office/powerpoint/2010/main" val="371667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Function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Save and make a backup file of the current system BIOS before updating with a new one.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Easily update the system BIOS under supported OS environment.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Verify the system BIOS to ensure system reliability.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Auto detects hardware settings so user will know if H2OFFT is compatible with system or not. This gives enhanced security.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Supported OS environment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UEFI SHELL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DOS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WINDOWS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LINUX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22840259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E2305EF-EAE8-4273-B394-F91D8147A3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5" t="3476" r="58482" b="51469"/>
          <a:stretch/>
        </p:blipFill>
        <p:spPr>
          <a:xfrm>
            <a:off x="2204357" y="1316230"/>
            <a:ext cx="7783286" cy="4690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1886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H2OSDE (SMBIOS Data Editor)</a:t>
            </a:r>
          </a:p>
        </p:txBody>
      </p:sp>
    </p:spTree>
    <p:extLst>
      <p:ext uri="{BB962C8B-B14F-4D97-AF65-F5344CB8AC3E}">
        <p14:creationId xmlns:p14="http://schemas.microsoft.com/office/powerpoint/2010/main" val="13756291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To provide 3 kinds of UEFI DMI Editors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15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DMI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“runtime/current DMI setting” of platform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15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File DMI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“DMI data” in DMI file 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15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Image DMI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“DMI Default Setting” of BIOS image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>
              <a:lnSpc>
                <a:spcPct val="90000"/>
              </a:lnSpc>
              <a:spcBef>
                <a:spcPts val="1001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Supported OS environment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UEFI SHELL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DOS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WINDOWS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LINUX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2596843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B096605-B8DA-4CD5-97C8-C5374D7A10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199" y="1173615"/>
            <a:ext cx="9394371" cy="500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3385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916A554-5D88-42BB-BDF2-6C6B1949A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6230"/>
            <a:ext cx="9398279" cy="4594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79994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90682-8396-4083-A9F7-660993E46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6229"/>
            <a:ext cx="9427029" cy="54329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016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B3DE5B-3408-4382-8A6C-2E2602A04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6230"/>
            <a:ext cx="9461503" cy="386537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76513C4-194A-4FB1-B231-AC89C825676A}"/>
              </a:ext>
            </a:extLst>
          </p:cNvPr>
          <p:cNvSpPr/>
          <p:nvPr/>
        </p:nvSpPr>
        <p:spPr>
          <a:xfrm>
            <a:off x="838200" y="2939143"/>
            <a:ext cx="4016829" cy="3048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447228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+mn-lt"/>
              </a:rPr>
              <a:t>H2ORTE (Register and Table Editor)</a:t>
            </a:r>
            <a:endParaRPr lang="zh-TW" alt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287002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Features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12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Engineering debugging and performance analyze tool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Provide save / load / compare function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Operate the configuration of the platform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Read / Write the system data of platform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Send reset / shutdown command to system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indent="-228240">
              <a:lnSpc>
                <a:spcPct val="90000"/>
              </a:lnSpc>
              <a:spcBef>
                <a:spcPts val="499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Supported OS environment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UEFI SHELL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DOS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WINDOWS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LINUX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59966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- Main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01D184-DDB7-4763-BA91-049DF7B51C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0287" y="1316230"/>
            <a:ext cx="7591425" cy="4848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44541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- File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92E82E3-5604-4DBF-AA0E-1DDD6B7202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316230"/>
            <a:ext cx="7724775" cy="4886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1428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- Config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3646E68-7115-44B2-965F-9B3C2E9E4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316230"/>
            <a:ext cx="77247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8822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– Config - HOB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D94E9BA-66E5-420E-A590-A2C364D2B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316230"/>
            <a:ext cx="7715250" cy="487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358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– Config - HOB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7E96B8F-C4D8-4517-91F1-E2D033DC0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475" y="1316230"/>
            <a:ext cx="7639050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5353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Screenshot of Execution – Config – CPU &amp; MSR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F051D2-B312-4512-A147-11C216DEC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1712" y="1316230"/>
            <a:ext cx="7648575" cy="485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124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- 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EFDA08-4A6B-4486-A61D-4D3C26668C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4562" y="1316230"/>
            <a:ext cx="77628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8484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– Tools – List PCI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FE0AA88-7A65-45D6-A095-6AB448DA03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316230"/>
            <a:ext cx="777240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25156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– Tools - ACPI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33C3AE-0C12-43B9-B0E7-9D049CDE60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75" y="1316230"/>
            <a:ext cx="7715250" cy="4895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0605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 - System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15F5B01-252C-46AB-BFB4-32ADCEE2E1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3612" y="1316230"/>
            <a:ext cx="7724775" cy="4867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85384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+mn-lt"/>
              </a:rPr>
              <a:t>H2OUVE (UEFI Variable Editor)</a:t>
            </a:r>
            <a:endParaRPr lang="zh-TW" alt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823577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sz="4000" b="1" strike="noStrike" spc="-1" dirty="0">
                <a:solidFill>
                  <a:srgbClr val="000000"/>
                </a:solidFill>
                <a:latin typeface="Segoe UI"/>
              </a:rPr>
              <a:t>Features</a:t>
            </a:r>
            <a:endParaRPr lang="en-US" sz="4000" b="0" strike="noStrike" spc="-1" dirty="0">
              <a:solidFill>
                <a:srgbClr val="3F3F3F"/>
              </a:solidFill>
              <a:latin typeface="Segoe U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To provide 4 kinds of UEFI Variable Editors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SCU(Setup)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“runtime/current setup setting” of platform.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Image Setup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“Setup Default Setting” of BIOS image.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Variable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“Variable Data” in runtime ROM or BIOS image.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0070C0"/>
              </a:buClr>
              <a:buFont typeface="Arial"/>
              <a:buChar char="•"/>
            </a:pPr>
            <a:r>
              <a:rPr lang="en-US" sz="2400" b="1" i="1" u="sng" strike="noStrike" spc="-1" dirty="0">
                <a:solidFill>
                  <a:srgbClr val="0070C0"/>
                </a:solidFill>
                <a:uFillTx/>
                <a:latin typeface="Segoe UI"/>
                <a:ea typeface="新細明體"/>
              </a:rPr>
              <a:t>Multi-Config Editor</a:t>
            </a: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: To edit “Multi-Config Setting” in runtime ROM or BIOS image.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indent="-228240">
              <a:lnSpc>
                <a:spcPct val="90000"/>
              </a:lnSpc>
              <a:spcBef>
                <a:spcPts val="499"/>
              </a:spcBef>
            </a:pP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Supported OS environment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UEFI SHELL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DOS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WINDOWS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LINUX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37116099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93EB58D-7029-489C-BFCE-BBD787B7C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16230"/>
            <a:ext cx="5838825" cy="3429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206416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5" name="標題 4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b="1" dirty="0">
                <a:solidFill>
                  <a:schemeClr val="bg1"/>
                </a:solidFill>
                <a:latin typeface="+mn-lt"/>
              </a:rPr>
              <a:t>H2ODST (Diagnostic and System Test)</a:t>
            </a:r>
            <a:endParaRPr lang="zh-TW" altLang="en-US" b="1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0808288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28600" indent="-228240">
              <a:lnSpc>
                <a:spcPct val="130000"/>
              </a:lnSpc>
              <a:spcBef>
                <a:spcPts val="499"/>
              </a:spcBef>
              <a:spcAft>
                <a:spcPts val="99"/>
              </a:spcAft>
              <a:buClr>
                <a:srgbClr val="262626"/>
              </a:buClr>
              <a:buFont typeface="Arial"/>
              <a:buChar char="•"/>
            </a:pPr>
            <a:r>
              <a:rPr lang="en-US" sz="1800" b="0" strike="noStrike" spc="-1" dirty="0">
                <a:solidFill>
                  <a:srgbClr val="262626"/>
                </a:solidFill>
                <a:latin typeface="Segoe UI"/>
                <a:ea typeface="新細明體"/>
              </a:rPr>
              <a:t>Testing Mechanisms </a:t>
            </a:r>
            <a:endParaRPr lang="en-US" sz="1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130000"/>
              </a:lnSpc>
              <a:spcBef>
                <a:spcPts val="499"/>
              </a:spcBef>
              <a:spcAft>
                <a:spcPts val="99"/>
              </a:spcAft>
              <a:buClr>
                <a:srgbClr val="262626"/>
              </a:buClr>
              <a:buFont typeface="Arial"/>
              <a:buChar char="•"/>
            </a:pPr>
            <a:r>
              <a:rPr lang="en-US" sz="1600" b="1" i="1" u="sng" strike="noStrike" spc="-1" dirty="0">
                <a:solidFill>
                  <a:srgbClr val="262626"/>
                </a:solidFill>
                <a:uFillTx/>
                <a:latin typeface="Segoe UI"/>
                <a:ea typeface="新細明體"/>
              </a:rPr>
              <a:t>One Time Test</a:t>
            </a:r>
            <a:endParaRPr lang="en-US" sz="16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130000"/>
              </a:lnSpc>
              <a:spcBef>
                <a:spcPts val="499"/>
              </a:spcBef>
              <a:spcAft>
                <a:spcPts val="99"/>
              </a:spcAft>
              <a:buClr>
                <a:srgbClr val="262626"/>
              </a:buClr>
              <a:buFont typeface="Arial"/>
              <a:buChar char="•"/>
            </a:pPr>
            <a:r>
              <a:rPr lang="en-US" sz="1600" b="1" i="1" u="sng" strike="noStrike" spc="-1" dirty="0">
                <a:solidFill>
                  <a:srgbClr val="262626"/>
                </a:solidFill>
                <a:uFillTx/>
                <a:latin typeface="Segoe UI"/>
                <a:ea typeface="新細明體"/>
              </a:rPr>
              <a:t>Long Run Test</a:t>
            </a:r>
            <a:endParaRPr lang="en-US" sz="16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130000"/>
              </a:lnSpc>
              <a:spcBef>
                <a:spcPts val="400"/>
              </a:spcBef>
              <a:spcAft>
                <a:spcPts val="99"/>
              </a:spcAft>
              <a:buClr>
                <a:srgbClr val="262626"/>
              </a:buClr>
              <a:buSzPct val="75000"/>
              <a:buFont typeface="Arial"/>
              <a:buChar char="•"/>
            </a:pPr>
            <a:r>
              <a:rPr lang="en-US" sz="1400" b="0" i="1" u="sng" strike="noStrike" spc="-1" dirty="0">
                <a:solidFill>
                  <a:srgbClr val="262626"/>
                </a:solidFill>
                <a:uFillTx/>
                <a:latin typeface="Segoe UI"/>
                <a:ea typeface="新細明體"/>
              </a:rPr>
              <a:t>Global Reboot </a:t>
            </a:r>
            <a:r>
              <a:rPr lang="en-US" sz="1400" b="0" strike="noStrike" spc="-1" dirty="0">
                <a:solidFill>
                  <a:srgbClr val="262626"/>
                </a:solidFill>
                <a:latin typeface="Segoe UI"/>
                <a:ea typeface="新細明體"/>
              </a:rPr>
              <a:t>: To do Long Run Test “Full System Reset” of platform</a:t>
            </a:r>
            <a:endParaRPr lang="en-US" sz="14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130000"/>
              </a:lnSpc>
              <a:spcBef>
                <a:spcPts val="400"/>
              </a:spcBef>
              <a:spcAft>
                <a:spcPts val="99"/>
              </a:spcAft>
              <a:buClr>
                <a:srgbClr val="262626"/>
              </a:buClr>
              <a:buSzPct val="75000"/>
              <a:buFont typeface="Arial"/>
              <a:buChar char="•"/>
            </a:pPr>
            <a:r>
              <a:rPr lang="en-US" sz="1400" b="0" i="1" u="sng" strike="noStrike" spc="-1" dirty="0">
                <a:solidFill>
                  <a:srgbClr val="262626"/>
                </a:solidFill>
                <a:uFillTx/>
                <a:latin typeface="Segoe UI"/>
                <a:ea typeface="新細明體"/>
              </a:rPr>
              <a:t>PCI Reset</a:t>
            </a:r>
            <a:r>
              <a:rPr lang="en-US" sz="1400" b="0" strike="noStrike" spc="-1" dirty="0">
                <a:solidFill>
                  <a:srgbClr val="262626"/>
                </a:solidFill>
                <a:latin typeface="Segoe UI"/>
                <a:ea typeface="新細明體"/>
              </a:rPr>
              <a:t>: To do Long Run Test “PCI Reset” of platform</a:t>
            </a:r>
            <a:endParaRPr lang="en-US" sz="1400" b="0" strike="noStrike" spc="-1" dirty="0">
              <a:solidFill>
                <a:srgbClr val="3F3F3F"/>
              </a:solidFill>
              <a:latin typeface="Segoe UI"/>
            </a:endParaRPr>
          </a:p>
          <a:p>
            <a:pPr marL="1143000" lvl="2" indent="-228240">
              <a:lnSpc>
                <a:spcPct val="130000"/>
              </a:lnSpc>
              <a:spcBef>
                <a:spcPts val="400"/>
              </a:spcBef>
              <a:spcAft>
                <a:spcPts val="99"/>
              </a:spcAft>
              <a:buClr>
                <a:srgbClr val="262626"/>
              </a:buClr>
              <a:buSzPct val="75000"/>
              <a:buFont typeface="Arial"/>
              <a:buChar char="•"/>
            </a:pPr>
            <a:r>
              <a:rPr lang="en-US" sz="1400" b="0" i="1" u="sng" strike="noStrike" spc="-1" dirty="0">
                <a:solidFill>
                  <a:srgbClr val="262626"/>
                </a:solidFill>
                <a:uFillTx/>
                <a:latin typeface="Segoe UI"/>
                <a:ea typeface="新細明體"/>
              </a:rPr>
              <a:t>Shut down </a:t>
            </a:r>
            <a:r>
              <a:rPr lang="en-US" sz="1400" b="0" strike="noStrike" spc="-1" dirty="0">
                <a:solidFill>
                  <a:srgbClr val="262626"/>
                </a:solidFill>
                <a:latin typeface="Segoe UI"/>
                <a:ea typeface="新細明體"/>
              </a:rPr>
              <a:t>: To do Long Run Test “Shut down” of platform with Alarm time</a:t>
            </a:r>
            <a:br>
              <a:rPr lang="en-US" dirty="0"/>
            </a:br>
            <a:r>
              <a:rPr lang="en-US" sz="1400" b="0" strike="noStrike" spc="-1" dirty="0">
                <a:solidFill>
                  <a:srgbClr val="262626"/>
                </a:solidFill>
                <a:latin typeface="Segoe UI"/>
                <a:ea typeface="新細明體"/>
              </a:rPr>
              <a:t>command(/S).</a:t>
            </a:r>
            <a:endParaRPr lang="en-US" sz="14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indent="-228240">
              <a:lnSpc>
                <a:spcPct val="90000"/>
              </a:lnSpc>
              <a:spcBef>
                <a:spcPts val="499"/>
              </a:spcBef>
            </a:pPr>
            <a:endParaRPr lang="en-US" sz="1400" b="0" strike="noStrike" spc="-1" dirty="0">
              <a:solidFill>
                <a:srgbClr val="3F3F3F"/>
              </a:solidFill>
              <a:latin typeface="Segoe UI"/>
            </a:endParaRPr>
          </a:p>
          <a:p>
            <a:pPr marL="228600" indent="-228240">
              <a:lnSpc>
                <a:spcPct val="90000"/>
              </a:lnSpc>
              <a:spcBef>
                <a:spcPts val="1001"/>
              </a:spcBef>
              <a:buClr>
                <a:srgbClr val="3F3F3F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Supported OS environment</a:t>
            </a:r>
            <a:endParaRPr lang="en-US" sz="2800" b="0" strike="noStrike" spc="-1" dirty="0">
              <a:solidFill>
                <a:srgbClr val="3F3F3F"/>
              </a:solidFill>
              <a:latin typeface="Segoe UI"/>
            </a:endParaRPr>
          </a:p>
          <a:p>
            <a:pPr marL="685800" lvl="1" indent="-228240">
              <a:lnSpc>
                <a:spcPct val="90000"/>
              </a:lnSpc>
              <a:spcBef>
                <a:spcPts val="499"/>
              </a:spcBef>
              <a:buClr>
                <a:srgbClr val="3F3F3F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3F3F3F"/>
                </a:solidFill>
                <a:latin typeface="Segoe UI"/>
                <a:ea typeface="新細明體"/>
              </a:rPr>
              <a:t>UEFI SHELL</a:t>
            </a:r>
            <a:endParaRPr lang="en-US" sz="2400" b="0" strike="noStrike" spc="-1" dirty="0">
              <a:solidFill>
                <a:srgbClr val="3F3F3F"/>
              </a:solidFill>
              <a:latin typeface="Segoe UI"/>
            </a:endParaRPr>
          </a:p>
        </p:txBody>
      </p:sp>
    </p:spTree>
    <p:extLst>
      <p:ext uri="{BB962C8B-B14F-4D97-AF65-F5344CB8AC3E}">
        <p14:creationId xmlns:p14="http://schemas.microsoft.com/office/powerpoint/2010/main" val="168330016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Screenshot of Execution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E5602EE6-E198-463B-9AE5-1F678E6B1EEC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2072880" y="1316160"/>
            <a:ext cx="8045640" cy="5092200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53156035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Thanks!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For more information, contact:</a:t>
            </a:r>
          </a:p>
          <a:p>
            <a:r>
              <a:rPr lang="en-US" dirty="0">
                <a:solidFill>
                  <a:schemeClr val="tx1"/>
                </a:solidFill>
              </a:rPr>
              <a:t>employee@insyde.com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1490A6-A1C6-4034-B8DF-BB0CBB7F3119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5796995"/>
      </p:ext>
    </p:extLst>
  </p:cSld>
  <p:clrMapOvr>
    <a:masterClrMapping/>
  </p:clrMapOvr>
</p:sld>
</file>

<file path=ppt/theme/theme1.xml><?xml version="1.0" encoding="utf-8"?>
<a:theme xmlns:a="http://schemas.openxmlformats.org/drawingml/2006/main" name="2018 Theme">
  <a:themeElements>
    <a:clrScheme name="Insyde 2018 New Logo Theme">
      <a:dk1>
        <a:srgbClr val="3F3F3F"/>
      </a:dk1>
      <a:lt1>
        <a:srgbClr val="FFFFFF"/>
      </a:lt1>
      <a:dk2>
        <a:srgbClr val="000000"/>
      </a:dk2>
      <a:lt2>
        <a:srgbClr val="E7E6E6"/>
      </a:lt2>
      <a:accent1>
        <a:srgbClr val="0178BB"/>
      </a:accent1>
      <a:accent2>
        <a:srgbClr val="EE6F31"/>
      </a:accent2>
      <a:accent3>
        <a:srgbClr val="478A2B"/>
      </a:accent3>
      <a:accent4>
        <a:srgbClr val="A5A5A5"/>
      </a:accent4>
      <a:accent5>
        <a:srgbClr val="7030A0"/>
      </a:accent5>
      <a:accent6>
        <a:srgbClr val="8A0000"/>
      </a:accent6>
      <a:hlink>
        <a:srgbClr val="3F3F3F"/>
      </a:hlink>
      <a:folHlink>
        <a:srgbClr val="ED7D31"/>
      </a:folHlink>
    </a:clrScheme>
    <a:fontScheme name="Custom 1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2018 Theme" id="{8EC55A69-5122-477E-9734-D7798E9079A3}" vid="{B8CB949F-261E-411A-B31D-FC720E3CD6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2018 Theme</Template>
  <TotalTime>7218</TotalTime>
  <Words>473</Words>
  <Application>Microsoft Office PowerPoint</Application>
  <PresentationFormat>Widescreen</PresentationFormat>
  <Paragraphs>101</Paragraphs>
  <Slides>30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Segoe UI</vt:lpstr>
      <vt:lpstr>2018 Theme</vt:lpstr>
      <vt:lpstr>H2O Debug Tool</vt:lpstr>
      <vt:lpstr>Agenda</vt:lpstr>
      <vt:lpstr>H2OFFT (Firmware Flash Tool)</vt:lpstr>
      <vt:lpstr>Features</vt:lpstr>
      <vt:lpstr>Screenshot of Execution</vt:lpstr>
      <vt:lpstr>H2OSDE (SMBIOS Data Editor)</vt:lpstr>
      <vt:lpstr>Features</vt:lpstr>
      <vt:lpstr>Screenshot of Execution</vt:lpstr>
      <vt:lpstr>Screenshot of Execution</vt:lpstr>
      <vt:lpstr>Screenshot of Execution</vt:lpstr>
      <vt:lpstr>Screenshot of Execution</vt:lpstr>
      <vt:lpstr>H2ORTE (Register and Table Editor)</vt:lpstr>
      <vt:lpstr>Features</vt:lpstr>
      <vt:lpstr>Screenshot of Execution - Main</vt:lpstr>
      <vt:lpstr>Screenshot of Execution - File</vt:lpstr>
      <vt:lpstr>Screenshot of Execution - Config</vt:lpstr>
      <vt:lpstr>Screenshot of Execution – Config - HOB</vt:lpstr>
      <vt:lpstr>Screenshot of Execution – Config - HOB</vt:lpstr>
      <vt:lpstr>Screenshot of Execution – Config – CPU &amp; MSR</vt:lpstr>
      <vt:lpstr>Screenshot of Execution - Tools</vt:lpstr>
      <vt:lpstr>Screenshot of Execution – Tools – List PCI</vt:lpstr>
      <vt:lpstr>Screenshot of Execution – Tools - ACPI</vt:lpstr>
      <vt:lpstr>Screenshot of Execution - System</vt:lpstr>
      <vt:lpstr>H2OUVE (UEFI Variable Editor)</vt:lpstr>
      <vt:lpstr>Features</vt:lpstr>
      <vt:lpstr>Screenshot of Execution</vt:lpstr>
      <vt:lpstr>H2ODST (Diagnostic and System Test)</vt:lpstr>
      <vt:lpstr>Features</vt:lpstr>
      <vt:lpstr>Screenshot of Execution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Example Slide Title</dc:title>
  <dc:creator>Alastair Jones</dc:creator>
  <cp:keywords>Restricted Confidential</cp:keywords>
  <cp:lastModifiedBy>Yuna</cp:lastModifiedBy>
  <cp:revision>154</cp:revision>
  <dcterms:created xsi:type="dcterms:W3CDTF">2018-02-02T23:50:52Z</dcterms:created>
  <dcterms:modified xsi:type="dcterms:W3CDTF">2021-03-25T06:51:01Z</dcterms:modified>
</cp:coreProperties>
</file>