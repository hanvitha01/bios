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37"/>
  </p:notesMasterIdLst>
  <p:sldIdLst>
    <p:sldId id="351" r:id="rId2"/>
    <p:sldId id="364" r:id="rId3"/>
    <p:sldId id="365" r:id="rId4"/>
    <p:sldId id="366" r:id="rId5"/>
    <p:sldId id="367" r:id="rId6"/>
    <p:sldId id="525" r:id="rId7"/>
    <p:sldId id="520" r:id="rId8"/>
    <p:sldId id="526" r:id="rId9"/>
    <p:sldId id="527" r:id="rId10"/>
    <p:sldId id="528" r:id="rId11"/>
    <p:sldId id="529" r:id="rId12"/>
    <p:sldId id="436" r:id="rId13"/>
    <p:sldId id="530" r:id="rId14"/>
    <p:sldId id="531" r:id="rId15"/>
    <p:sldId id="532" r:id="rId16"/>
    <p:sldId id="533" r:id="rId17"/>
    <p:sldId id="534" r:id="rId18"/>
    <p:sldId id="535" r:id="rId19"/>
    <p:sldId id="536" r:id="rId20"/>
    <p:sldId id="537" r:id="rId21"/>
    <p:sldId id="538" r:id="rId22"/>
    <p:sldId id="549" r:id="rId23"/>
    <p:sldId id="550" r:id="rId24"/>
    <p:sldId id="468" r:id="rId25"/>
    <p:sldId id="469" r:id="rId26"/>
    <p:sldId id="539" r:id="rId27"/>
    <p:sldId id="540" r:id="rId28"/>
    <p:sldId id="541" r:id="rId29"/>
    <p:sldId id="542" r:id="rId30"/>
    <p:sldId id="543" r:id="rId31"/>
    <p:sldId id="544" r:id="rId32"/>
    <p:sldId id="545" r:id="rId33"/>
    <p:sldId id="546" r:id="rId34"/>
    <p:sldId id="547" r:id="rId35"/>
    <p:sldId id="54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C341"/>
    <a:srgbClr val="0E03E3"/>
    <a:srgbClr val="5A9541"/>
    <a:srgbClr val="2034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7" d="100"/>
          <a:sy n="87" d="100"/>
        </p:scale>
        <p:origin x="52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3/25/2021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SMBIOS</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648752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indent="-228240">
              <a:spcBef>
                <a:spcPts val="1001"/>
              </a:spcBef>
              <a:buClr>
                <a:srgbClr val="FFFFFF"/>
              </a:buClr>
              <a:buFont typeface="Arial"/>
              <a:buChar char="•"/>
            </a:pPr>
            <a:r>
              <a:rPr lang="en-US" altLang="zh-TW" spc="-1" dirty="0">
                <a:solidFill>
                  <a:srgbClr val="FFFFFF"/>
                </a:solidFill>
                <a:latin typeface="Segoe UI"/>
              </a:rPr>
              <a:t>Overview</a:t>
            </a:r>
          </a:p>
          <a:p>
            <a:r>
              <a:rPr lang="en-US" altLang="zh-TW" spc="-1" dirty="0">
                <a:solidFill>
                  <a:srgbClr val="FFFFFF"/>
                </a:solidFill>
                <a:latin typeface="Segoe UI"/>
              </a:rPr>
              <a:t>SMBIOS Structure</a:t>
            </a:r>
          </a:p>
          <a:p>
            <a:r>
              <a:rPr lang="en-US" altLang="zh-TW" spc="-1" dirty="0">
                <a:solidFill>
                  <a:srgbClr val="FFFFFF"/>
                </a:solidFill>
                <a:latin typeface="Segoe UI"/>
              </a:rPr>
              <a:t>SMBIOS Protocol</a:t>
            </a:r>
          </a:p>
          <a:p>
            <a:r>
              <a:rPr lang="en-US" altLang="zh-TW" spc="-1" dirty="0">
                <a:solidFill>
                  <a:srgbClr val="FFFFFF"/>
                </a:solidFill>
                <a:latin typeface="Segoe UI"/>
              </a:rPr>
              <a:t>Misc. SMBIOS Type Implementation</a:t>
            </a:r>
          </a:p>
          <a:p>
            <a:r>
              <a:rPr lang="en-US" altLang="zh-TW" spc="-1" dirty="0">
                <a:solidFill>
                  <a:srgbClr val="FFFFFF"/>
                </a:solidFill>
                <a:latin typeface="Segoe UI"/>
              </a:rPr>
              <a:t>How to Customize SMBIOS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268373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2666913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Overview</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a:buClr>
                <a:srgbClr val="125C0C"/>
              </a:buClr>
            </a:pPr>
            <a:r>
              <a:rPr lang="en-US" altLang="zh-TW" dirty="0">
                <a:solidFill>
                  <a:srgbClr val="404040"/>
                </a:solidFill>
                <a:ea typeface="新細明體" charset="-120"/>
                <a:cs typeface="Tahoma" pitchFamily="34" charset="0"/>
              </a:rPr>
              <a:t>SMBIOS (System Management BIOS)</a:t>
            </a:r>
          </a:p>
          <a:p>
            <a:pPr lvl="1">
              <a:buClr>
                <a:srgbClr val="125C0C"/>
              </a:buClr>
            </a:pPr>
            <a:r>
              <a:rPr lang="en-US" altLang="zh-TW" dirty="0">
                <a:solidFill>
                  <a:srgbClr val="404040"/>
                </a:solidFill>
                <a:ea typeface="新細明體" charset="-120"/>
                <a:cs typeface="Tahoma" pitchFamily="34" charset="0"/>
              </a:rPr>
              <a:t>The SMBIOS Specification addresses how motherboard and system vendors present management information about their products in a standard format by extending the BIOS interface on x86 architecture systems.</a:t>
            </a:r>
          </a:p>
          <a:p>
            <a:endParaRPr lang="en-US" altLang="zh-TW" sz="3200" b="1" dirty="0"/>
          </a:p>
          <a:p>
            <a:pPr>
              <a:buClr>
                <a:srgbClr val="125C0C"/>
              </a:buClr>
            </a:pPr>
            <a:r>
              <a:rPr lang="en-US" altLang="zh-TW" dirty="0"/>
              <a:t>The UEFI specification specifies that the SMBIOS tables should be discovered using the </a:t>
            </a:r>
            <a:r>
              <a:rPr lang="en-US" altLang="zh-TW" b="1" dirty="0" err="1">
                <a:solidFill>
                  <a:srgbClr val="FF0000"/>
                </a:solidFill>
              </a:rPr>
              <a:t>ConfigurationTable</a:t>
            </a:r>
            <a:r>
              <a:rPr lang="en-US" altLang="zh-TW" dirty="0"/>
              <a:t> pointer in the EFI System Table.</a:t>
            </a:r>
            <a:endParaRPr lang="en-US" altLang="zh-TW" sz="2400" dirty="0">
              <a:solidFill>
                <a:srgbClr val="404040"/>
              </a:solidFill>
              <a:ea typeface="新細明體" charset="-120"/>
              <a:cs typeface="Tahoma" pitchFamily="34" charset="0"/>
            </a:endParaRP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Overview</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a:buClr>
                <a:srgbClr val="125C0C"/>
              </a:buClr>
            </a:pPr>
            <a:r>
              <a:rPr lang="en-US" altLang="zh-TW" dirty="0">
                <a:solidFill>
                  <a:srgbClr val="404040"/>
                </a:solidFill>
                <a:ea typeface="新細明體" charset="-120"/>
                <a:cs typeface="Tahoma" pitchFamily="34" charset="0"/>
              </a:rPr>
              <a:t>SMBIOS Table Creation &amp; Update</a:t>
            </a:r>
          </a:p>
          <a:p>
            <a:pPr lvl="1">
              <a:buClr>
                <a:srgbClr val="125C0C"/>
              </a:buClr>
            </a:pPr>
            <a:r>
              <a:rPr lang="en-US" altLang="zh-TW" dirty="0">
                <a:solidFill>
                  <a:srgbClr val="FF0000"/>
                </a:solidFill>
                <a:ea typeface="新細明體" charset="-120"/>
                <a:cs typeface="Tahoma" pitchFamily="34" charset="0"/>
              </a:rPr>
              <a:t>Method #1 EFI_SMBIOS_PROTOCOL</a:t>
            </a:r>
          </a:p>
          <a:p>
            <a:pPr lvl="2">
              <a:buClr>
                <a:srgbClr val="125C0C"/>
              </a:buClr>
            </a:pPr>
            <a:r>
              <a:rPr lang="en-US" altLang="zh-TW" dirty="0">
                <a:solidFill>
                  <a:srgbClr val="404040"/>
                </a:solidFill>
                <a:ea typeface="新細明體" charset="-120"/>
                <a:cs typeface="Tahoma" pitchFamily="34" charset="0"/>
              </a:rPr>
              <a:t>DXE drivers may use this protocol to add or modify SMBIOS structures.</a:t>
            </a:r>
          </a:p>
          <a:p>
            <a:pPr lvl="1">
              <a:buClr>
                <a:srgbClr val="125C0C"/>
              </a:buClr>
            </a:pPr>
            <a:r>
              <a:rPr lang="en-US" altLang="zh-TW" dirty="0">
                <a:solidFill>
                  <a:srgbClr val="FF0000"/>
                </a:solidFill>
                <a:ea typeface="新細明體" charset="-120"/>
                <a:cs typeface="Tahoma" pitchFamily="34" charset="0"/>
              </a:rPr>
              <a:t>Method #2 SMBIOS PCDs</a:t>
            </a:r>
          </a:p>
          <a:p>
            <a:pPr lvl="2">
              <a:buClr>
                <a:srgbClr val="125C0C"/>
              </a:buClr>
            </a:pPr>
            <a:r>
              <a:rPr lang="en-US" altLang="zh-TW" dirty="0">
                <a:solidFill>
                  <a:srgbClr val="404040"/>
                </a:solidFill>
                <a:ea typeface="新細明體" charset="-120"/>
                <a:cs typeface="Tahoma" pitchFamily="34" charset="0"/>
              </a:rPr>
              <a:t>InsydeH2O processes specific PCDs containing SMBIOS structure data.</a:t>
            </a:r>
          </a:p>
          <a:p>
            <a:pPr lvl="1">
              <a:buClr>
                <a:srgbClr val="125C0C"/>
              </a:buClr>
            </a:pPr>
            <a:r>
              <a:rPr lang="en-US" altLang="zh-TW" dirty="0">
                <a:solidFill>
                  <a:srgbClr val="FF0000"/>
                </a:solidFill>
                <a:ea typeface="新細明體" charset="-120"/>
                <a:cs typeface="Tahoma" pitchFamily="34" charset="0"/>
              </a:rPr>
              <a:t>Method #3 SMBIOS Region</a:t>
            </a:r>
          </a:p>
          <a:p>
            <a:pPr lvl="2">
              <a:buClr>
                <a:srgbClr val="125C0C"/>
              </a:buClr>
            </a:pPr>
            <a:r>
              <a:rPr lang="en-US" altLang="zh-TW" dirty="0"/>
              <a:t>InsydeH2O finds a SMBIOS region from the Flash Device Map. The region consists of zero or more SMBIOS Update records.</a:t>
            </a:r>
            <a:endParaRPr lang="en-US" altLang="zh-TW" dirty="0">
              <a:solidFill>
                <a:srgbClr val="FF0000"/>
              </a:solidFill>
              <a:ea typeface="新細明體" charset="-120"/>
              <a:cs typeface="Tahoma" pitchFamily="34" charset="0"/>
            </a:endParaRPr>
          </a:p>
        </p:txBody>
      </p:sp>
      <p:graphicFrame>
        <p:nvGraphicFramePr>
          <p:cNvPr id="5" name="Group 117">
            <a:extLst>
              <a:ext uri="{FF2B5EF4-FFF2-40B4-BE49-F238E27FC236}">
                <a16:creationId xmlns:a16="http://schemas.microsoft.com/office/drawing/2014/main" id="{AA5F7C33-519E-40BE-BB1A-9D966150E47F}"/>
              </a:ext>
            </a:extLst>
          </p:cNvPr>
          <p:cNvGraphicFramePr>
            <a:graphicFrameLocks noGrp="1"/>
          </p:cNvGraphicFramePr>
          <p:nvPr>
            <p:extLst>
              <p:ext uri="{D42A27DB-BD31-4B8C-83A1-F6EECF244321}">
                <p14:modId xmlns:p14="http://schemas.microsoft.com/office/powerpoint/2010/main" val="2381025030"/>
              </p:ext>
            </p:extLst>
          </p:nvPr>
        </p:nvGraphicFramePr>
        <p:xfrm>
          <a:off x="2927746" y="4486259"/>
          <a:ext cx="6336507" cy="1782737"/>
        </p:xfrm>
        <a:graphic>
          <a:graphicData uri="http://schemas.openxmlformats.org/drawingml/2006/table">
            <a:tbl>
              <a:tblPr>
                <a:tableStyleId>{0505E3EF-67EA-436B-97B2-0124C06EBD24}</a:tableStyleId>
              </a:tblPr>
              <a:tblGrid>
                <a:gridCol w="1600200">
                  <a:extLst>
                    <a:ext uri="{9D8B030D-6E8A-4147-A177-3AD203B41FA5}">
                      <a16:colId xmlns:a16="http://schemas.microsoft.com/office/drawing/2014/main" val="20000"/>
                    </a:ext>
                  </a:extLst>
                </a:gridCol>
                <a:gridCol w="3316288">
                  <a:extLst>
                    <a:ext uri="{9D8B030D-6E8A-4147-A177-3AD203B41FA5}">
                      <a16:colId xmlns:a16="http://schemas.microsoft.com/office/drawing/2014/main" val="20001"/>
                    </a:ext>
                  </a:extLst>
                </a:gridCol>
                <a:gridCol w="1420019">
                  <a:extLst>
                    <a:ext uri="{9D8B030D-6E8A-4147-A177-3AD203B41FA5}">
                      <a16:colId xmlns:a16="http://schemas.microsoft.com/office/drawing/2014/main" val="20002"/>
                    </a:ext>
                  </a:extLst>
                </a:gridCol>
              </a:tblGrid>
              <a:tr h="42223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Processor</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Record in RC code</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Method 1</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extLst>
                  <a:ext uri="{0D108BD9-81ED-4DB2-BD59-A6C34878D82A}">
                    <a16:rowId xmlns:a16="http://schemas.microsoft.com/office/drawing/2014/main" val="10001"/>
                  </a:ext>
                </a:extLst>
              </a:tr>
              <a:tr h="42223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Cache</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Record in RC code</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Method 1</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extLst>
                  <a:ext uri="{0D108BD9-81ED-4DB2-BD59-A6C34878D82A}">
                    <a16:rowId xmlns:a16="http://schemas.microsoft.com/office/drawing/2014/main" val="10002"/>
                  </a:ext>
                </a:extLst>
              </a:tr>
              <a:tr h="4641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Memory</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Record in RC code</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Method 1</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extLst>
                  <a:ext uri="{0D108BD9-81ED-4DB2-BD59-A6C34878D82A}">
                    <a16:rowId xmlns:a16="http://schemas.microsoft.com/office/drawing/2014/main" val="10003"/>
                  </a:ext>
                </a:extLst>
              </a:tr>
              <a:tr h="4651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Misc. Type</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Record in Common code</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200" u="none" strike="noStrike" cap="none" normalizeH="0" baseline="0" dirty="0">
                          <a:ln>
                            <a:noFill/>
                          </a:ln>
                          <a:effectLst/>
                        </a:rPr>
                        <a:t>Method 2</a:t>
                      </a:r>
                      <a:endParaRPr kumimoji="1" lang="en-US" altLang="zh-TW" sz="2200" b="0" i="0" u="none" strike="noStrike" cap="none" normalizeH="0" baseline="0" dirty="0">
                        <a:ln>
                          <a:noFill/>
                        </a:ln>
                        <a:solidFill>
                          <a:srgbClr val="404040"/>
                        </a:solidFill>
                        <a:effectLst/>
                        <a:latin typeface="Arial" charset="0"/>
                        <a:ea typeface="新細明體" charset="-120"/>
                        <a:cs typeface="Tahoma" pitchFamily="34" charset="0"/>
                      </a:endParaRPr>
                    </a:p>
                  </a:txBody>
                  <a:tcP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92045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FDF3EA1-8646-4C3B-829F-78D97579017C}"/>
              </a:ext>
            </a:extLst>
          </p:cNvPr>
          <p:cNvSpPr>
            <a:spLocks noGrp="1"/>
          </p:cNvSpPr>
          <p:nvPr>
            <p:ph type="sldNum" sz="quarter" idx="12"/>
          </p:nvPr>
        </p:nvSpPr>
        <p:spPr/>
        <p:txBody>
          <a:bodyPr/>
          <a:lstStyle/>
          <a:p>
            <a:fld id="{711F1488-76AD-4E7F-AEC8-BF811B7D74A5}" type="slidenum">
              <a:rPr lang="en-US" smtClean="0"/>
              <a:pPr/>
              <a:t>7</a:t>
            </a:fld>
            <a:endParaRPr lang="en-US"/>
          </a:p>
        </p:txBody>
      </p:sp>
      <p:sp>
        <p:nvSpPr>
          <p:cNvPr id="3" name="標題 2">
            <a:extLst>
              <a:ext uri="{FF2B5EF4-FFF2-40B4-BE49-F238E27FC236}">
                <a16:creationId xmlns:a16="http://schemas.microsoft.com/office/drawing/2014/main" id="{4F060D4A-40D5-4DA2-87B3-2A61E1A7EE49}"/>
              </a:ext>
            </a:extLst>
          </p:cNvPr>
          <p:cNvSpPr>
            <a:spLocks noGrp="1"/>
          </p:cNvSpPr>
          <p:nvPr>
            <p:ph type="title"/>
          </p:nvPr>
        </p:nvSpPr>
        <p:spPr/>
        <p:txBody>
          <a:bodyPr/>
          <a:lstStyle/>
          <a:p>
            <a:r>
              <a:rPr lang="en-US" altLang="zh-TW" dirty="0"/>
              <a:t>SMBIOS Structure</a:t>
            </a:r>
            <a:endParaRPr lang="zh-TW" altLang="en-US" dirty="0"/>
          </a:p>
        </p:txBody>
      </p:sp>
    </p:spTree>
    <p:extLst>
      <p:ext uri="{BB962C8B-B14F-4D97-AF65-F5344CB8AC3E}">
        <p14:creationId xmlns:p14="http://schemas.microsoft.com/office/powerpoint/2010/main" val="28229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lstStyle/>
          <a:p>
            <a:r>
              <a:rPr lang="en-US" altLang="zh-TW" dirty="0"/>
              <a:t>SMBIOS Structure</a:t>
            </a:r>
            <a:endParaRPr lang="zh-TW" altLang="en-US" dirty="0"/>
          </a:p>
        </p:txBody>
      </p:sp>
      <p:sp>
        <p:nvSpPr>
          <p:cNvPr id="3" name="內容版面配置區 2">
            <a:extLst>
              <a:ext uri="{FF2B5EF4-FFF2-40B4-BE49-F238E27FC236}">
                <a16:creationId xmlns:a16="http://schemas.microsoft.com/office/drawing/2014/main" id="{FEDDDF21-0CCA-48D4-BCF1-0A50E2F846FF}"/>
              </a:ext>
            </a:extLst>
          </p:cNvPr>
          <p:cNvSpPr>
            <a:spLocks noGrp="1"/>
          </p:cNvSpPr>
          <p:nvPr>
            <p:ph idx="1"/>
          </p:nvPr>
        </p:nvSpPr>
        <p:spPr/>
        <p:txBody>
          <a:bodyPr/>
          <a:lstStyle/>
          <a:p>
            <a:pPr marL="342900" indent="-342900" eaLnBrk="0" hangingPunct="0">
              <a:spcBef>
                <a:spcPct val="20000"/>
              </a:spcBef>
              <a:buClr>
                <a:srgbClr val="125C0C"/>
              </a:buClr>
              <a:buFont typeface="Wingdings" pitchFamily="2" charset="2"/>
              <a:buChar char="§"/>
            </a:pPr>
            <a:r>
              <a:rPr lang="en-US" altLang="zh-TW" sz="2200" dirty="0">
                <a:latin typeface="Tahoma" pitchFamily="34" charset="0"/>
                <a:cs typeface="Tahoma" pitchFamily="34" charset="0"/>
              </a:rPr>
              <a:t>SMBIOS structure table entry point</a:t>
            </a:r>
          </a:p>
          <a:p>
            <a:pPr marL="742950" lvl="1" indent="-285750" eaLnBrk="0" hangingPunct="0">
              <a:spcBef>
                <a:spcPct val="20000"/>
              </a:spcBef>
              <a:buClr>
                <a:srgbClr val="125C0C"/>
              </a:buClr>
              <a:buFont typeface="Wingdings" pitchFamily="2" charset="2"/>
              <a:buChar char="§"/>
            </a:pPr>
            <a:r>
              <a:rPr lang="en-US" altLang="zh-TW" sz="2200" dirty="0">
                <a:latin typeface="Tahoma" pitchFamily="34" charset="0"/>
                <a:cs typeface="Tahoma" pitchFamily="34" charset="0"/>
              </a:rPr>
              <a:t>Non-EFI environment: search anchor string (</a:t>
            </a:r>
            <a:r>
              <a:rPr lang="en-US" altLang="zh-TW" sz="2200" dirty="0">
                <a:solidFill>
                  <a:schemeClr val="accent1"/>
                </a:solidFill>
                <a:latin typeface="Tahoma" pitchFamily="34" charset="0"/>
                <a:cs typeface="Tahoma" pitchFamily="34" charset="0"/>
              </a:rPr>
              <a:t>_SM_</a:t>
            </a:r>
            <a:r>
              <a:rPr lang="en-US" altLang="zh-TW" sz="2200" dirty="0">
                <a:latin typeface="Tahoma" pitchFamily="34" charset="0"/>
                <a:cs typeface="Tahoma" pitchFamily="34" charset="0"/>
              </a:rPr>
              <a:t>) within physical memory range </a:t>
            </a:r>
            <a:r>
              <a:rPr lang="en-US" altLang="zh-TW" sz="2200" dirty="0">
                <a:solidFill>
                  <a:srgbClr val="FF0000"/>
                </a:solidFill>
                <a:latin typeface="Tahoma" pitchFamily="34" charset="0"/>
                <a:cs typeface="Tahoma" pitchFamily="34" charset="0"/>
              </a:rPr>
              <a:t>0xF0000 ~ 0xFFFFF</a:t>
            </a:r>
            <a:r>
              <a:rPr lang="en-US" altLang="zh-TW" sz="2200" dirty="0">
                <a:latin typeface="Tahoma" pitchFamily="34" charset="0"/>
                <a:cs typeface="Tahoma" pitchFamily="34" charset="0"/>
              </a:rPr>
              <a:t>.</a:t>
            </a:r>
          </a:p>
          <a:p>
            <a:pPr marL="742950" lvl="1" indent="-285750" eaLnBrk="0" hangingPunct="0">
              <a:spcBef>
                <a:spcPct val="20000"/>
              </a:spcBef>
              <a:buClr>
                <a:srgbClr val="125C0C"/>
              </a:buClr>
              <a:buFont typeface="Wingdings" pitchFamily="2" charset="2"/>
              <a:buChar char="§"/>
            </a:pPr>
            <a:r>
              <a:rPr lang="en-US" altLang="zh-TW" sz="2200" dirty="0">
                <a:latin typeface="Tahoma" pitchFamily="34" charset="0"/>
                <a:cs typeface="Tahoma" pitchFamily="34" charset="0"/>
              </a:rPr>
              <a:t>EFI environment: Look in the configuration table for SMBIOS GUID</a:t>
            </a:r>
            <a:endParaRPr lang="en-US" altLang="zh-TW" sz="2200" dirty="0">
              <a:solidFill>
                <a:schemeClr val="accent1"/>
              </a:solidFill>
              <a:latin typeface="Tahoma" pitchFamily="34" charset="0"/>
              <a:cs typeface="Tahoma" pitchFamily="34" charset="0"/>
            </a:endParaRPr>
          </a:p>
        </p:txBody>
      </p:sp>
      <p:grpSp>
        <p:nvGrpSpPr>
          <p:cNvPr id="4" name="群組 3">
            <a:extLst>
              <a:ext uri="{FF2B5EF4-FFF2-40B4-BE49-F238E27FC236}">
                <a16:creationId xmlns:a16="http://schemas.microsoft.com/office/drawing/2014/main" id="{EB0F0242-D904-4A44-A8D8-59E480A3BD9A}"/>
              </a:ext>
            </a:extLst>
          </p:cNvPr>
          <p:cNvGrpSpPr/>
          <p:nvPr/>
        </p:nvGrpSpPr>
        <p:grpSpPr>
          <a:xfrm>
            <a:off x="1828799" y="2947183"/>
            <a:ext cx="8534400" cy="3543300"/>
            <a:chOff x="2185181" y="3024554"/>
            <a:chExt cx="8534400" cy="3543300"/>
          </a:xfrm>
        </p:grpSpPr>
        <p:sp>
          <p:nvSpPr>
            <p:cNvPr id="5" name="Rectangle 26">
              <a:extLst>
                <a:ext uri="{FF2B5EF4-FFF2-40B4-BE49-F238E27FC236}">
                  <a16:creationId xmlns:a16="http://schemas.microsoft.com/office/drawing/2014/main" id="{B6BF0EAE-8E51-4BA2-A42B-C546BF01256D}"/>
                </a:ext>
              </a:extLst>
            </p:cNvPr>
            <p:cNvSpPr>
              <a:spLocks noChangeArrowheads="1"/>
            </p:cNvSpPr>
            <p:nvPr/>
          </p:nvSpPr>
          <p:spPr bwMode="auto">
            <a:xfrm>
              <a:off x="2566181" y="3365866"/>
              <a:ext cx="990600" cy="2362200"/>
            </a:xfrm>
            <a:prstGeom prst="rect">
              <a:avLst/>
            </a:prstGeom>
            <a:noFill/>
            <a:ln w="9525">
              <a:solidFill>
                <a:srgbClr val="2787A0"/>
              </a:solidFill>
              <a:miter lim="800000"/>
              <a:headEnd/>
              <a:tailEnd/>
            </a:ln>
            <a:effectLst/>
          </p:spPr>
          <p:txBody>
            <a:bodyPr wrap="none" anchor="ctr"/>
            <a:lstStyle/>
            <a:p>
              <a:endParaRPr lang="zh-TW" altLang="en-US"/>
            </a:p>
          </p:txBody>
        </p:sp>
        <p:sp>
          <p:nvSpPr>
            <p:cNvPr id="6" name="Text Box 27">
              <a:extLst>
                <a:ext uri="{FF2B5EF4-FFF2-40B4-BE49-F238E27FC236}">
                  <a16:creationId xmlns:a16="http://schemas.microsoft.com/office/drawing/2014/main" id="{17A2F673-4EAF-4CC7-81AE-97B9A60E88E2}"/>
                </a:ext>
              </a:extLst>
            </p:cNvPr>
            <p:cNvSpPr txBox="1">
              <a:spLocks noChangeArrowheads="1"/>
            </p:cNvSpPr>
            <p:nvPr/>
          </p:nvSpPr>
          <p:spPr bwMode="auto">
            <a:xfrm>
              <a:off x="2185181" y="5880466"/>
              <a:ext cx="1676400" cy="584775"/>
            </a:xfrm>
            <a:prstGeom prst="rect">
              <a:avLst/>
            </a:prstGeom>
            <a:noFill/>
            <a:ln w="9525">
              <a:noFill/>
              <a:miter lim="800000"/>
              <a:headEnd/>
              <a:tailEnd/>
            </a:ln>
            <a:effectLst/>
          </p:spPr>
          <p:txBody>
            <a:bodyPr>
              <a:spAutoFit/>
            </a:bodyPr>
            <a:lstStyle/>
            <a:p>
              <a:pPr algn="ctr">
                <a:spcBef>
                  <a:spcPct val="50000"/>
                </a:spcBef>
              </a:pPr>
              <a:r>
                <a:rPr lang="en-US" altLang="zh-TW" sz="1600" b="1" dirty="0">
                  <a:solidFill>
                    <a:schemeClr val="accent1"/>
                  </a:solidFill>
                </a:rPr>
                <a:t>Structure table </a:t>
              </a:r>
              <a:r>
                <a:rPr lang="en-US" altLang="zh-TW" sz="1600" b="1" dirty="0" err="1">
                  <a:solidFill>
                    <a:schemeClr val="accent1"/>
                  </a:solidFill>
                </a:rPr>
                <a:t>EntryPoint</a:t>
              </a:r>
              <a:endParaRPr lang="en-US" altLang="zh-TW" sz="1600" b="1" dirty="0">
                <a:solidFill>
                  <a:schemeClr val="accent1"/>
                </a:solidFill>
              </a:endParaRPr>
            </a:p>
          </p:txBody>
        </p:sp>
        <p:sp>
          <p:nvSpPr>
            <p:cNvPr id="7" name="Text Box 28">
              <a:extLst>
                <a:ext uri="{FF2B5EF4-FFF2-40B4-BE49-F238E27FC236}">
                  <a16:creationId xmlns:a16="http://schemas.microsoft.com/office/drawing/2014/main" id="{9CD7AB40-136C-4441-9355-8F49AC891956}"/>
                </a:ext>
              </a:extLst>
            </p:cNvPr>
            <p:cNvSpPr txBox="1">
              <a:spLocks noChangeArrowheads="1"/>
            </p:cNvSpPr>
            <p:nvPr/>
          </p:nvSpPr>
          <p:spPr bwMode="auto">
            <a:xfrm>
              <a:off x="2642381" y="3442066"/>
              <a:ext cx="914400" cy="366713"/>
            </a:xfrm>
            <a:prstGeom prst="rect">
              <a:avLst/>
            </a:prstGeom>
            <a:noFill/>
            <a:ln w="9525">
              <a:noFill/>
              <a:miter lim="800000"/>
              <a:headEnd/>
              <a:tailEnd/>
            </a:ln>
            <a:effectLst/>
          </p:spPr>
          <p:txBody>
            <a:bodyPr>
              <a:spAutoFit/>
            </a:bodyPr>
            <a:lstStyle/>
            <a:p>
              <a:pPr>
                <a:spcBef>
                  <a:spcPct val="50000"/>
                </a:spcBef>
              </a:pPr>
              <a:r>
                <a:rPr lang="en-US" altLang="zh-TW">
                  <a:solidFill>
                    <a:srgbClr val="FF0D0D"/>
                  </a:solidFill>
                </a:rPr>
                <a:t>_SM_</a:t>
              </a:r>
            </a:p>
          </p:txBody>
        </p:sp>
        <p:sp>
          <p:nvSpPr>
            <p:cNvPr id="8" name="Line 29">
              <a:extLst>
                <a:ext uri="{FF2B5EF4-FFF2-40B4-BE49-F238E27FC236}">
                  <a16:creationId xmlns:a16="http://schemas.microsoft.com/office/drawing/2014/main" id="{9042DE5E-5795-424D-AD94-E84744D67C1E}"/>
                </a:ext>
              </a:extLst>
            </p:cNvPr>
            <p:cNvSpPr>
              <a:spLocks noChangeShapeType="1"/>
            </p:cNvSpPr>
            <p:nvPr/>
          </p:nvSpPr>
          <p:spPr bwMode="auto">
            <a:xfrm>
              <a:off x="2566181" y="3823066"/>
              <a:ext cx="990600" cy="0"/>
            </a:xfrm>
            <a:prstGeom prst="line">
              <a:avLst/>
            </a:prstGeom>
            <a:noFill/>
            <a:ln w="9525">
              <a:solidFill>
                <a:schemeClr val="accent1"/>
              </a:solidFill>
              <a:round/>
              <a:headEnd/>
              <a:tailEnd/>
            </a:ln>
            <a:effectLst/>
          </p:spPr>
          <p:txBody>
            <a:bodyPr/>
            <a:lstStyle/>
            <a:p>
              <a:endParaRPr lang="zh-TW" altLang="en-US"/>
            </a:p>
          </p:txBody>
        </p:sp>
        <p:sp>
          <p:nvSpPr>
            <p:cNvPr id="9" name="Line 30">
              <a:extLst>
                <a:ext uri="{FF2B5EF4-FFF2-40B4-BE49-F238E27FC236}">
                  <a16:creationId xmlns:a16="http://schemas.microsoft.com/office/drawing/2014/main" id="{26E417E0-89FC-453F-9C86-7A988E4229E3}"/>
                </a:ext>
              </a:extLst>
            </p:cNvPr>
            <p:cNvSpPr>
              <a:spLocks noChangeShapeType="1"/>
            </p:cNvSpPr>
            <p:nvPr/>
          </p:nvSpPr>
          <p:spPr bwMode="auto">
            <a:xfrm>
              <a:off x="2566181" y="4432666"/>
              <a:ext cx="990600" cy="0"/>
            </a:xfrm>
            <a:prstGeom prst="line">
              <a:avLst/>
            </a:prstGeom>
            <a:noFill/>
            <a:ln w="9525">
              <a:solidFill>
                <a:schemeClr val="accent1"/>
              </a:solidFill>
              <a:round/>
              <a:headEnd/>
              <a:tailEnd/>
            </a:ln>
            <a:effectLst/>
          </p:spPr>
          <p:txBody>
            <a:bodyPr/>
            <a:lstStyle/>
            <a:p>
              <a:endParaRPr lang="zh-TW" altLang="en-US"/>
            </a:p>
          </p:txBody>
        </p:sp>
        <p:sp>
          <p:nvSpPr>
            <p:cNvPr id="10" name="Line 31">
              <a:extLst>
                <a:ext uri="{FF2B5EF4-FFF2-40B4-BE49-F238E27FC236}">
                  <a16:creationId xmlns:a16="http://schemas.microsoft.com/office/drawing/2014/main" id="{C376AFC4-8EBF-4656-8C3F-874F66B7378D}"/>
                </a:ext>
              </a:extLst>
            </p:cNvPr>
            <p:cNvSpPr>
              <a:spLocks noChangeShapeType="1"/>
            </p:cNvSpPr>
            <p:nvPr/>
          </p:nvSpPr>
          <p:spPr bwMode="auto">
            <a:xfrm>
              <a:off x="2566181" y="4737466"/>
              <a:ext cx="990600" cy="0"/>
            </a:xfrm>
            <a:prstGeom prst="line">
              <a:avLst/>
            </a:prstGeom>
            <a:noFill/>
            <a:ln w="9525">
              <a:solidFill>
                <a:schemeClr val="accent1"/>
              </a:solidFill>
              <a:round/>
              <a:headEnd/>
              <a:tailEnd/>
            </a:ln>
            <a:effectLst/>
          </p:spPr>
          <p:txBody>
            <a:bodyPr/>
            <a:lstStyle/>
            <a:p>
              <a:endParaRPr lang="zh-TW" altLang="en-US"/>
            </a:p>
          </p:txBody>
        </p:sp>
        <p:sp>
          <p:nvSpPr>
            <p:cNvPr id="11" name="Text Box 32">
              <a:extLst>
                <a:ext uri="{FF2B5EF4-FFF2-40B4-BE49-F238E27FC236}">
                  <a16:creationId xmlns:a16="http://schemas.microsoft.com/office/drawing/2014/main" id="{A04C04D0-741A-456D-9D8C-2D72A7E08550}"/>
                </a:ext>
              </a:extLst>
            </p:cNvPr>
            <p:cNvSpPr txBox="1">
              <a:spLocks noChangeArrowheads="1"/>
            </p:cNvSpPr>
            <p:nvPr/>
          </p:nvSpPr>
          <p:spPr bwMode="auto">
            <a:xfrm>
              <a:off x="2566181" y="4432666"/>
              <a:ext cx="1066800" cy="366713"/>
            </a:xfrm>
            <a:prstGeom prst="rect">
              <a:avLst/>
            </a:prstGeom>
            <a:noFill/>
            <a:ln w="9525">
              <a:noFill/>
              <a:miter lim="800000"/>
              <a:headEnd/>
              <a:tailEnd/>
            </a:ln>
            <a:effectLst/>
          </p:spPr>
          <p:txBody>
            <a:bodyPr>
              <a:spAutoFit/>
            </a:bodyPr>
            <a:lstStyle/>
            <a:p>
              <a:pPr>
                <a:spcBef>
                  <a:spcPct val="50000"/>
                </a:spcBef>
              </a:pPr>
              <a:r>
                <a:rPr lang="en-US" altLang="zh-TW">
                  <a:solidFill>
                    <a:srgbClr val="FF0D0D"/>
                  </a:solidFill>
                </a:rPr>
                <a:t>Address</a:t>
              </a:r>
            </a:p>
          </p:txBody>
        </p:sp>
        <p:grpSp>
          <p:nvGrpSpPr>
            <p:cNvPr id="12" name="Group 40">
              <a:extLst>
                <a:ext uri="{FF2B5EF4-FFF2-40B4-BE49-F238E27FC236}">
                  <a16:creationId xmlns:a16="http://schemas.microsoft.com/office/drawing/2014/main" id="{3C4F44F3-53CE-494F-BFCC-455C34375E9B}"/>
                </a:ext>
              </a:extLst>
            </p:cNvPr>
            <p:cNvGrpSpPr>
              <a:grpSpLocks/>
            </p:cNvGrpSpPr>
            <p:nvPr/>
          </p:nvGrpSpPr>
          <p:grpSpPr bwMode="auto">
            <a:xfrm>
              <a:off x="3556781" y="3137266"/>
              <a:ext cx="838200" cy="1447800"/>
              <a:chOff x="1248" y="1728"/>
              <a:chExt cx="528" cy="912"/>
            </a:xfrm>
          </p:grpSpPr>
          <p:sp>
            <p:nvSpPr>
              <p:cNvPr id="39" name="Line 37">
                <a:extLst>
                  <a:ext uri="{FF2B5EF4-FFF2-40B4-BE49-F238E27FC236}">
                    <a16:creationId xmlns:a16="http://schemas.microsoft.com/office/drawing/2014/main" id="{BE5F19F1-120E-4E17-9299-CFA0B148F44C}"/>
                  </a:ext>
                </a:extLst>
              </p:cNvPr>
              <p:cNvSpPr>
                <a:spLocks noChangeShapeType="1"/>
              </p:cNvSpPr>
              <p:nvPr/>
            </p:nvSpPr>
            <p:spPr bwMode="auto">
              <a:xfrm>
                <a:off x="1248" y="2640"/>
                <a:ext cx="240" cy="0"/>
              </a:xfrm>
              <a:prstGeom prst="line">
                <a:avLst/>
              </a:prstGeom>
              <a:noFill/>
              <a:ln w="9525">
                <a:solidFill>
                  <a:srgbClr val="FF0000"/>
                </a:solidFill>
                <a:round/>
                <a:headEnd/>
                <a:tailEnd/>
              </a:ln>
              <a:effectLst/>
            </p:spPr>
            <p:txBody>
              <a:bodyPr/>
              <a:lstStyle/>
              <a:p>
                <a:endParaRPr lang="zh-TW" altLang="en-US"/>
              </a:p>
            </p:txBody>
          </p:sp>
          <p:sp>
            <p:nvSpPr>
              <p:cNvPr id="40" name="Line 38">
                <a:extLst>
                  <a:ext uri="{FF2B5EF4-FFF2-40B4-BE49-F238E27FC236}">
                    <a16:creationId xmlns:a16="http://schemas.microsoft.com/office/drawing/2014/main" id="{41877C0C-4758-423F-AF22-5C18A4566163}"/>
                  </a:ext>
                </a:extLst>
              </p:cNvPr>
              <p:cNvSpPr>
                <a:spLocks noChangeShapeType="1"/>
              </p:cNvSpPr>
              <p:nvPr/>
            </p:nvSpPr>
            <p:spPr bwMode="auto">
              <a:xfrm flipV="1">
                <a:off x="1488" y="1728"/>
                <a:ext cx="0" cy="912"/>
              </a:xfrm>
              <a:prstGeom prst="line">
                <a:avLst/>
              </a:prstGeom>
              <a:noFill/>
              <a:ln w="9525">
                <a:solidFill>
                  <a:srgbClr val="FF0000"/>
                </a:solidFill>
                <a:round/>
                <a:headEnd/>
                <a:tailEnd/>
              </a:ln>
              <a:effectLst/>
            </p:spPr>
            <p:txBody>
              <a:bodyPr/>
              <a:lstStyle/>
              <a:p>
                <a:endParaRPr lang="zh-TW" altLang="en-US"/>
              </a:p>
            </p:txBody>
          </p:sp>
          <p:sp>
            <p:nvSpPr>
              <p:cNvPr id="41" name="Line 39">
                <a:extLst>
                  <a:ext uri="{FF2B5EF4-FFF2-40B4-BE49-F238E27FC236}">
                    <a16:creationId xmlns:a16="http://schemas.microsoft.com/office/drawing/2014/main" id="{CA3862BE-D43E-4C1E-8928-0AA632B12A40}"/>
                  </a:ext>
                </a:extLst>
              </p:cNvPr>
              <p:cNvSpPr>
                <a:spLocks noChangeShapeType="1"/>
              </p:cNvSpPr>
              <p:nvPr/>
            </p:nvSpPr>
            <p:spPr bwMode="auto">
              <a:xfrm>
                <a:off x="1488" y="1728"/>
                <a:ext cx="288" cy="0"/>
              </a:xfrm>
              <a:prstGeom prst="line">
                <a:avLst/>
              </a:prstGeom>
              <a:noFill/>
              <a:ln w="9525">
                <a:solidFill>
                  <a:srgbClr val="FF0000"/>
                </a:solidFill>
                <a:round/>
                <a:headEnd/>
                <a:tailEnd type="triangle" w="med" len="med"/>
              </a:ln>
              <a:effectLst/>
            </p:spPr>
            <p:txBody>
              <a:bodyPr/>
              <a:lstStyle/>
              <a:p>
                <a:endParaRPr lang="zh-TW" altLang="en-US"/>
              </a:p>
            </p:txBody>
          </p:sp>
        </p:grpSp>
        <p:grpSp>
          <p:nvGrpSpPr>
            <p:cNvPr id="13" name="Group 61">
              <a:extLst>
                <a:ext uri="{FF2B5EF4-FFF2-40B4-BE49-F238E27FC236}">
                  <a16:creationId xmlns:a16="http://schemas.microsoft.com/office/drawing/2014/main" id="{0D1F91F8-5911-4C23-A2E1-0B377DF943D6}"/>
                </a:ext>
              </a:extLst>
            </p:cNvPr>
            <p:cNvGrpSpPr>
              <a:grpSpLocks/>
            </p:cNvGrpSpPr>
            <p:nvPr/>
          </p:nvGrpSpPr>
          <p:grpSpPr bwMode="auto">
            <a:xfrm>
              <a:off x="4394981" y="3137266"/>
              <a:ext cx="1828800" cy="3081338"/>
              <a:chOff x="1776" y="1728"/>
              <a:chExt cx="1152" cy="1941"/>
            </a:xfrm>
          </p:grpSpPr>
          <p:sp>
            <p:nvSpPr>
              <p:cNvPr id="33" name="Rectangle 33">
                <a:extLst>
                  <a:ext uri="{FF2B5EF4-FFF2-40B4-BE49-F238E27FC236}">
                    <a16:creationId xmlns:a16="http://schemas.microsoft.com/office/drawing/2014/main" id="{844E9526-4ADB-4527-80B4-813EE3840168}"/>
                  </a:ext>
                </a:extLst>
              </p:cNvPr>
              <p:cNvSpPr>
                <a:spLocks noChangeArrowheads="1"/>
              </p:cNvSpPr>
              <p:nvPr/>
            </p:nvSpPr>
            <p:spPr bwMode="auto">
              <a:xfrm>
                <a:off x="1776" y="1728"/>
                <a:ext cx="1152" cy="1632"/>
              </a:xfrm>
              <a:prstGeom prst="rect">
                <a:avLst/>
              </a:prstGeom>
              <a:noFill/>
              <a:ln w="9525">
                <a:solidFill>
                  <a:schemeClr val="accent1"/>
                </a:solidFill>
                <a:miter lim="800000"/>
                <a:headEnd/>
                <a:tailEnd/>
              </a:ln>
              <a:effectLst/>
            </p:spPr>
            <p:txBody>
              <a:bodyPr wrap="none" anchor="ctr"/>
              <a:lstStyle/>
              <a:p>
                <a:endParaRPr lang="zh-TW" altLang="en-US"/>
              </a:p>
            </p:txBody>
          </p:sp>
          <p:sp>
            <p:nvSpPr>
              <p:cNvPr id="34" name="Rectangle 35">
                <a:extLst>
                  <a:ext uri="{FF2B5EF4-FFF2-40B4-BE49-F238E27FC236}">
                    <a16:creationId xmlns:a16="http://schemas.microsoft.com/office/drawing/2014/main" id="{66EA3B96-C9E9-4124-9F4E-A80FE88E1965}"/>
                  </a:ext>
                </a:extLst>
              </p:cNvPr>
              <p:cNvSpPr>
                <a:spLocks noChangeArrowheads="1"/>
              </p:cNvSpPr>
              <p:nvPr/>
            </p:nvSpPr>
            <p:spPr bwMode="auto">
              <a:xfrm>
                <a:off x="1776" y="1728"/>
                <a:ext cx="1152" cy="288"/>
              </a:xfrm>
              <a:prstGeom prst="rect">
                <a:avLst/>
              </a:prstGeom>
              <a:noFill/>
              <a:ln w="9525">
                <a:solidFill>
                  <a:schemeClr val="accent1"/>
                </a:solidFill>
                <a:miter lim="800000"/>
                <a:headEnd/>
                <a:tailEnd/>
              </a:ln>
              <a:effectLst/>
            </p:spPr>
            <p:txBody>
              <a:bodyPr wrap="none" anchor="ctr"/>
              <a:lstStyle/>
              <a:p>
                <a:pPr algn="ctr"/>
                <a:r>
                  <a:rPr lang="en-US" altLang="zh-TW" dirty="0"/>
                  <a:t>Table Type0</a:t>
                </a:r>
              </a:p>
            </p:txBody>
          </p:sp>
          <p:sp>
            <p:nvSpPr>
              <p:cNvPr id="35" name="Rectangle 36">
                <a:extLst>
                  <a:ext uri="{FF2B5EF4-FFF2-40B4-BE49-F238E27FC236}">
                    <a16:creationId xmlns:a16="http://schemas.microsoft.com/office/drawing/2014/main" id="{7ED450B2-4C75-4E79-B165-66A5334B9100}"/>
                  </a:ext>
                </a:extLst>
              </p:cNvPr>
              <p:cNvSpPr>
                <a:spLocks noChangeArrowheads="1"/>
              </p:cNvSpPr>
              <p:nvPr/>
            </p:nvSpPr>
            <p:spPr bwMode="auto">
              <a:xfrm>
                <a:off x="1776" y="2016"/>
                <a:ext cx="1152" cy="288"/>
              </a:xfrm>
              <a:prstGeom prst="rect">
                <a:avLst/>
              </a:prstGeom>
              <a:noFill/>
              <a:ln w="9525">
                <a:solidFill>
                  <a:schemeClr val="accent1"/>
                </a:solidFill>
                <a:miter lim="800000"/>
                <a:headEnd/>
                <a:tailEnd/>
              </a:ln>
              <a:effectLst/>
            </p:spPr>
            <p:txBody>
              <a:bodyPr wrap="none" anchor="ctr"/>
              <a:lstStyle/>
              <a:p>
                <a:pPr algn="ctr"/>
                <a:r>
                  <a:rPr lang="en-US" altLang="zh-TW"/>
                  <a:t>Table Type1</a:t>
                </a:r>
              </a:p>
            </p:txBody>
          </p:sp>
          <p:sp>
            <p:nvSpPr>
              <p:cNvPr id="36" name="Rectangle 41">
                <a:extLst>
                  <a:ext uri="{FF2B5EF4-FFF2-40B4-BE49-F238E27FC236}">
                    <a16:creationId xmlns:a16="http://schemas.microsoft.com/office/drawing/2014/main" id="{C7BFE07D-C01A-4CF6-ACFC-01C6DC3142DA}"/>
                  </a:ext>
                </a:extLst>
              </p:cNvPr>
              <p:cNvSpPr>
                <a:spLocks noChangeArrowheads="1"/>
              </p:cNvSpPr>
              <p:nvPr/>
            </p:nvSpPr>
            <p:spPr bwMode="auto">
              <a:xfrm>
                <a:off x="1776" y="2304"/>
                <a:ext cx="1152" cy="288"/>
              </a:xfrm>
              <a:prstGeom prst="rect">
                <a:avLst/>
              </a:prstGeom>
              <a:noFill/>
              <a:ln w="9525">
                <a:solidFill>
                  <a:schemeClr val="accent1"/>
                </a:solidFill>
                <a:miter lim="800000"/>
                <a:headEnd/>
                <a:tailEnd/>
              </a:ln>
              <a:effectLst/>
            </p:spPr>
            <p:txBody>
              <a:bodyPr wrap="none" anchor="ctr"/>
              <a:lstStyle/>
              <a:p>
                <a:pPr algn="ctr"/>
                <a:r>
                  <a:rPr lang="en-US" altLang="zh-TW"/>
                  <a:t>Table Type2</a:t>
                </a:r>
              </a:p>
            </p:txBody>
          </p:sp>
          <p:sp>
            <p:nvSpPr>
              <p:cNvPr id="37" name="Rectangle 42">
                <a:extLst>
                  <a:ext uri="{FF2B5EF4-FFF2-40B4-BE49-F238E27FC236}">
                    <a16:creationId xmlns:a16="http://schemas.microsoft.com/office/drawing/2014/main" id="{FCBE6384-9389-49DE-9516-930A931D276F}"/>
                  </a:ext>
                </a:extLst>
              </p:cNvPr>
              <p:cNvSpPr>
                <a:spLocks noChangeArrowheads="1"/>
              </p:cNvSpPr>
              <p:nvPr/>
            </p:nvSpPr>
            <p:spPr bwMode="auto">
              <a:xfrm>
                <a:off x="1776" y="2592"/>
                <a:ext cx="1152" cy="768"/>
              </a:xfrm>
              <a:prstGeom prst="rect">
                <a:avLst/>
              </a:prstGeom>
              <a:noFill/>
              <a:ln w="9525">
                <a:solidFill>
                  <a:schemeClr val="accent1"/>
                </a:solidFill>
                <a:miter lim="800000"/>
                <a:headEnd/>
                <a:tailEnd/>
              </a:ln>
              <a:effectLst/>
            </p:spPr>
            <p:txBody>
              <a:bodyPr wrap="none" anchor="ctr"/>
              <a:lstStyle/>
              <a:p>
                <a:pPr algn="ctr"/>
                <a:r>
                  <a:rPr lang="en-US" altLang="zh-TW"/>
                  <a:t>‧</a:t>
                </a:r>
              </a:p>
              <a:p>
                <a:pPr algn="ctr"/>
                <a:r>
                  <a:rPr lang="en-US" altLang="zh-TW"/>
                  <a:t>‧</a:t>
                </a:r>
              </a:p>
              <a:p>
                <a:pPr algn="ctr"/>
                <a:r>
                  <a:rPr lang="en-US" altLang="zh-TW"/>
                  <a:t>‧</a:t>
                </a:r>
              </a:p>
            </p:txBody>
          </p:sp>
          <p:sp>
            <p:nvSpPr>
              <p:cNvPr id="38" name="Text Box 44">
                <a:extLst>
                  <a:ext uri="{FF2B5EF4-FFF2-40B4-BE49-F238E27FC236}">
                    <a16:creationId xmlns:a16="http://schemas.microsoft.com/office/drawing/2014/main" id="{B8F2F44B-DBF8-41E4-9711-55A82FA25D25}"/>
                  </a:ext>
                </a:extLst>
              </p:cNvPr>
              <p:cNvSpPr txBox="1">
                <a:spLocks noChangeArrowheads="1"/>
              </p:cNvSpPr>
              <p:nvPr/>
            </p:nvSpPr>
            <p:spPr bwMode="auto">
              <a:xfrm>
                <a:off x="1824" y="3456"/>
                <a:ext cx="1056" cy="213"/>
              </a:xfrm>
              <a:prstGeom prst="rect">
                <a:avLst/>
              </a:prstGeom>
              <a:noFill/>
              <a:ln w="9525">
                <a:noFill/>
                <a:miter lim="800000"/>
                <a:headEnd/>
                <a:tailEnd/>
              </a:ln>
              <a:effectLst/>
            </p:spPr>
            <p:txBody>
              <a:bodyPr>
                <a:spAutoFit/>
              </a:bodyPr>
              <a:lstStyle/>
              <a:p>
                <a:pPr algn="ctr">
                  <a:spcBef>
                    <a:spcPct val="50000"/>
                  </a:spcBef>
                </a:pPr>
                <a:r>
                  <a:rPr lang="en-US" altLang="zh-TW" sz="1600" b="1" dirty="0">
                    <a:solidFill>
                      <a:schemeClr val="accent1"/>
                    </a:solidFill>
                  </a:rPr>
                  <a:t>SMBIOS Tables</a:t>
                </a:r>
                <a:endParaRPr lang="zh-TW" altLang="en-US" sz="1600" b="1" dirty="0">
                  <a:solidFill>
                    <a:schemeClr val="accent1"/>
                  </a:solidFill>
                </a:endParaRPr>
              </a:p>
            </p:txBody>
          </p:sp>
        </p:grpSp>
        <p:grpSp>
          <p:nvGrpSpPr>
            <p:cNvPr id="14" name="Group 62">
              <a:extLst>
                <a:ext uri="{FF2B5EF4-FFF2-40B4-BE49-F238E27FC236}">
                  <a16:creationId xmlns:a16="http://schemas.microsoft.com/office/drawing/2014/main" id="{8A85C332-6C0D-4281-A7BA-33850A25E391}"/>
                </a:ext>
              </a:extLst>
            </p:cNvPr>
            <p:cNvGrpSpPr>
              <a:grpSpLocks/>
            </p:cNvGrpSpPr>
            <p:nvPr/>
          </p:nvGrpSpPr>
          <p:grpSpPr bwMode="auto">
            <a:xfrm>
              <a:off x="6223781" y="3137266"/>
              <a:ext cx="533400" cy="3048000"/>
              <a:chOff x="2928" y="1728"/>
              <a:chExt cx="336" cy="1920"/>
            </a:xfrm>
          </p:grpSpPr>
          <p:sp>
            <p:nvSpPr>
              <p:cNvPr id="31" name="Line 50">
                <a:extLst>
                  <a:ext uri="{FF2B5EF4-FFF2-40B4-BE49-F238E27FC236}">
                    <a16:creationId xmlns:a16="http://schemas.microsoft.com/office/drawing/2014/main" id="{D5622E48-51A4-46E9-BD93-1AFB2ED7F037}"/>
                  </a:ext>
                </a:extLst>
              </p:cNvPr>
              <p:cNvSpPr>
                <a:spLocks noChangeShapeType="1"/>
              </p:cNvSpPr>
              <p:nvPr/>
            </p:nvSpPr>
            <p:spPr bwMode="auto">
              <a:xfrm flipV="1">
                <a:off x="2928" y="1728"/>
                <a:ext cx="336" cy="288"/>
              </a:xfrm>
              <a:prstGeom prst="line">
                <a:avLst/>
              </a:prstGeom>
              <a:noFill/>
              <a:ln w="9525">
                <a:solidFill>
                  <a:schemeClr val="accent1"/>
                </a:solidFill>
                <a:round/>
                <a:headEnd/>
                <a:tailEnd/>
              </a:ln>
              <a:effectLst/>
            </p:spPr>
            <p:txBody>
              <a:bodyPr/>
              <a:lstStyle/>
              <a:p>
                <a:endParaRPr lang="zh-TW" altLang="en-US"/>
              </a:p>
            </p:txBody>
          </p:sp>
          <p:sp>
            <p:nvSpPr>
              <p:cNvPr id="32" name="Line 51">
                <a:extLst>
                  <a:ext uri="{FF2B5EF4-FFF2-40B4-BE49-F238E27FC236}">
                    <a16:creationId xmlns:a16="http://schemas.microsoft.com/office/drawing/2014/main" id="{8B5DDECD-66B0-4674-A170-DEFE93354C5B}"/>
                  </a:ext>
                </a:extLst>
              </p:cNvPr>
              <p:cNvSpPr>
                <a:spLocks noChangeShapeType="1"/>
              </p:cNvSpPr>
              <p:nvPr/>
            </p:nvSpPr>
            <p:spPr bwMode="auto">
              <a:xfrm>
                <a:off x="2928" y="2304"/>
                <a:ext cx="336" cy="1344"/>
              </a:xfrm>
              <a:prstGeom prst="line">
                <a:avLst/>
              </a:prstGeom>
              <a:noFill/>
              <a:ln w="9525">
                <a:solidFill>
                  <a:schemeClr val="accent1"/>
                </a:solidFill>
                <a:round/>
                <a:headEnd/>
                <a:tailEnd/>
              </a:ln>
              <a:effectLst/>
            </p:spPr>
            <p:txBody>
              <a:bodyPr/>
              <a:lstStyle/>
              <a:p>
                <a:endParaRPr lang="zh-TW" altLang="en-US"/>
              </a:p>
            </p:txBody>
          </p:sp>
        </p:grpSp>
        <p:grpSp>
          <p:nvGrpSpPr>
            <p:cNvPr id="15" name="Group 64">
              <a:extLst>
                <a:ext uri="{FF2B5EF4-FFF2-40B4-BE49-F238E27FC236}">
                  <a16:creationId xmlns:a16="http://schemas.microsoft.com/office/drawing/2014/main" id="{DCEAA4BF-A65D-4B3F-86F3-80AABFCF47F2}"/>
                </a:ext>
              </a:extLst>
            </p:cNvPr>
            <p:cNvGrpSpPr>
              <a:grpSpLocks/>
            </p:cNvGrpSpPr>
            <p:nvPr/>
          </p:nvGrpSpPr>
          <p:grpSpPr bwMode="auto">
            <a:xfrm>
              <a:off x="6757181" y="3024554"/>
              <a:ext cx="3962400" cy="3543300"/>
              <a:chOff x="3264" y="1657"/>
              <a:chExt cx="2496" cy="2232"/>
            </a:xfrm>
          </p:grpSpPr>
          <p:sp>
            <p:nvSpPr>
              <p:cNvPr id="16" name="Rectangle 43">
                <a:extLst>
                  <a:ext uri="{FF2B5EF4-FFF2-40B4-BE49-F238E27FC236}">
                    <a16:creationId xmlns:a16="http://schemas.microsoft.com/office/drawing/2014/main" id="{6FD0BD77-6616-43F6-ADFF-2251D3FE33C2}"/>
                  </a:ext>
                </a:extLst>
              </p:cNvPr>
              <p:cNvSpPr>
                <a:spLocks noChangeArrowheads="1"/>
              </p:cNvSpPr>
              <p:nvPr/>
            </p:nvSpPr>
            <p:spPr bwMode="auto">
              <a:xfrm>
                <a:off x="3264" y="1728"/>
                <a:ext cx="1152" cy="1920"/>
              </a:xfrm>
              <a:prstGeom prst="rect">
                <a:avLst/>
              </a:prstGeom>
              <a:noFill/>
              <a:ln w="9525">
                <a:solidFill>
                  <a:schemeClr val="accent1"/>
                </a:solidFill>
                <a:miter lim="800000"/>
                <a:headEnd/>
                <a:tailEnd/>
              </a:ln>
              <a:effectLst/>
            </p:spPr>
            <p:txBody>
              <a:bodyPr wrap="none" anchor="ctr"/>
              <a:lstStyle/>
              <a:p>
                <a:endParaRPr lang="zh-TW" altLang="en-US"/>
              </a:p>
            </p:txBody>
          </p:sp>
          <p:sp>
            <p:nvSpPr>
              <p:cNvPr id="17" name="Rectangle 45">
                <a:extLst>
                  <a:ext uri="{FF2B5EF4-FFF2-40B4-BE49-F238E27FC236}">
                    <a16:creationId xmlns:a16="http://schemas.microsoft.com/office/drawing/2014/main" id="{A14B99A2-B5A8-4851-922D-B4B41FF0E3C7}"/>
                  </a:ext>
                </a:extLst>
              </p:cNvPr>
              <p:cNvSpPr>
                <a:spLocks noChangeArrowheads="1"/>
              </p:cNvSpPr>
              <p:nvPr/>
            </p:nvSpPr>
            <p:spPr bwMode="auto">
              <a:xfrm>
                <a:off x="3264" y="1728"/>
                <a:ext cx="1152" cy="192"/>
              </a:xfrm>
              <a:prstGeom prst="rect">
                <a:avLst/>
              </a:prstGeom>
              <a:noFill/>
              <a:ln w="9525">
                <a:solidFill>
                  <a:schemeClr val="accent1"/>
                </a:solidFill>
                <a:miter lim="800000"/>
                <a:headEnd/>
                <a:tailEnd/>
              </a:ln>
              <a:effectLst/>
            </p:spPr>
            <p:txBody>
              <a:bodyPr wrap="none" anchor="ctr"/>
              <a:lstStyle/>
              <a:p>
                <a:pPr algn="ctr"/>
                <a:r>
                  <a:rPr lang="en-US" altLang="zh-TW"/>
                  <a:t>Type</a:t>
                </a:r>
              </a:p>
            </p:txBody>
          </p:sp>
          <p:sp>
            <p:nvSpPr>
              <p:cNvPr id="18" name="Rectangle 46">
                <a:extLst>
                  <a:ext uri="{FF2B5EF4-FFF2-40B4-BE49-F238E27FC236}">
                    <a16:creationId xmlns:a16="http://schemas.microsoft.com/office/drawing/2014/main" id="{B177D498-5841-4376-AC17-23368E0151D8}"/>
                  </a:ext>
                </a:extLst>
              </p:cNvPr>
              <p:cNvSpPr>
                <a:spLocks noChangeArrowheads="1"/>
              </p:cNvSpPr>
              <p:nvPr/>
            </p:nvSpPr>
            <p:spPr bwMode="auto">
              <a:xfrm>
                <a:off x="3264" y="1920"/>
                <a:ext cx="1152" cy="192"/>
              </a:xfrm>
              <a:prstGeom prst="rect">
                <a:avLst/>
              </a:prstGeom>
              <a:noFill/>
              <a:ln w="9525">
                <a:solidFill>
                  <a:schemeClr val="accent1"/>
                </a:solidFill>
                <a:miter lim="800000"/>
                <a:headEnd/>
                <a:tailEnd/>
              </a:ln>
              <a:effectLst/>
            </p:spPr>
            <p:txBody>
              <a:bodyPr wrap="none" anchor="ctr"/>
              <a:lstStyle/>
              <a:p>
                <a:pPr algn="ctr"/>
                <a:r>
                  <a:rPr lang="en-US" altLang="zh-TW"/>
                  <a:t>Length</a:t>
                </a:r>
              </a:p>
            </p:txBody>
          </p:sp>
          <p:sp>
            <p:nvSpPr>
              <p:cNvPr id="19" name="Rectangle 47">
                <a:extLst>
                  <a:ext uri="{FF2B5EF4-FFF2-40B4-BE49-F238E27FC236}">
                    <a16:creationId xmlns:a16="http://schemas.microsoft.com/office/drawing/2014/main" id="{61730DE2-506D-4B82-B604-E78C985DF9FB}"/>
                  </a:ext>
                </a:extLst>
              </p:cNvPr>
              <p:cNvSpPr>
                <a:spLocks noChangeArrowheads="1"/>
              </p:cNvSpPr>
              <p:nvPr/>
            </p:nvSpPr>
            <p:spPr bwMode="auto">
              <a:xfrm>
                <a:off x="3264" y="2112"/>
                <a:ext cx="1152" cy="192"/>
              </a:xfrm>
              <a:prstGeom prst="rect">
                <a:avLst/>
              </a:prstGeom>
              <a:noFill/>
              <a:ln w="9525">
                <a:solidFill>
                  <a:schemeClr val="accent1"/>
                </a:solidFill>
                <a:miter lim="800000"/>
                <a:headEnd/>
                <a:tailEnd/>
              </a:ln>
              <a:effectLst/>
            </p:spPr>
            <p:txBody>
              <a:bodyPr wrap="none" anchor="ctr"/>
              <a:lstStyle/>
              <a:p>
                <a:pPr algn="ctr"/>
                <a:r>
                  <a:rPr lang="en-US" altLang="zh-TW"/>
                  <a:t>Handle</a:t>
                </a:r>
              </a:p>
            </p:txBody>
          </p:sp>
          <p:sp>
            <p:nvSpPr>
              <p:cNvPr id="20" name="Rectangle 48">
                <a:extLst>
                  <a:ext uri="{FF2B5EF4-FFF2-40B4-BE49-F238E27FC236}">
                    <a16:creationId xmlns:a16="http://schemas.microsoft.com/office/drawing/2014/main" id="{609B7E3B-4DC2-43C6-8FAD-370A57995240}"/>
                  </a:ext>
                </a:extLst>
              </p:cNvPr>
              <p:cNvSpPr>
                <a:spLocks noChangeArrowheads="1"/>
              </p:cNvSpPr>
              <p:nvPr/>
            </p:nvSpPr>
            <p:spPr bwMode="auto">
              <a:xfrm>
                <a:off x="3264" y="3168"/>
                <a:ext cx="1152" cy="480"/>
              </a:xfrm>
              <a:prstGeom prst="rect">
                <a:avLst/>
              </a:prstGeom>
              <a:noFill/>
              <a:ln w="9525">
                <a:solidFill>
                  <a:schemeClr val="accent1"/>
                </a:solidFill>
                <a:miter lim="800000"/>
                <a:headEnd/>
                <a:tailEnd/>
              </a:ln>
              <a:effectLst/>
            </p:spPr>
            <p:txBody>
              <a:bodyPr wrap="none" anchor="ctr"/>
              <a:lstStyle/>
              <a:p>
                <a:pPr algn="ctr"/>
                <a:r>
                  <a:rPr lang="en-US" altLang="zh-TW" sz="1600" dirty="0"/>
                  <a:t>Structure termination</a:t>
                </a:r>
              </a:p>
              <a:p>
                <a:pPr algn="ctr"/>
                <a:r>
                  <a:rPr lang="en-US" altLang="zh-TW" sz="1600" dirty="0">
                    <a:solidFill>
                      <a:srgbClr val="FF0D0D"/>
                    </a:solidFill>
                  </a:rPr>
                  <a:t>0x00 </a:t>
                </a:r>
                <a:r>
                  <a:rPr lang="en-US" altLang="zh-TW" sz="1600" dirty="0" err="1">
                    <a:solidFill>
                      <a:srgbClr val="FF0D0D"/>
                    </a:solidFill>
                  </a:rPr>
                  <a:t>0x00</a:t>
                </a:r>
                <a:r>
                  <a:rPr lang="en-US" altLang="zh-TW" sz="1600" dirty="0"/>
                  <a:t> (2byte)</a:t>
                </a:r>
              </a:p>
            </p:txBody>
          </p:sp>
          <p:sp>
            <p:nvSpPr>
              <p:cNvPr id="21" name="Rectangle 49">
                <a:extLst>
                  <a:ext uri="{FF2B5EF4-FFF2-40B4-BE49-F238E27FC236}">
                    <a16:creationId xmlns:a16="http://schemas.microsoft.com/office/drawing/2014/main" id="{A56E5B07-9F2B-4D30-BA48-1C03C5B42A41}"/>
                  </a:ext>
                </a:extLst>
              </p:cNvPr>
              <p:cNvSpPr>
                <a:spLocks noChangeArrowheads="1"/>
              </p:cNvSpPr>
              <p:nvPr/>
            </p:nvSpPr>
            <p:spPr bwMode="auto">
              <a:xfrm>
                <a:off x="3264" y="2304"/>
                <a:ext cx="1152" cy="528"/>
              </a:xfrm>
              <a:prstGeom prst="rect">
                <a:avLst/>
              </a:prstGeom>
              <a:noFill/>
              <a:ln w="9525">
                <a:solidFill>
                  <a:schemeClr val="accent1"/>
                </a:solidFill>
                <a:miter lim="800000"/>
                <a:headEnd/>
                <a:tailEnd/>
              </a:ln>
              <a:effectLst/>
            </p:spPr>
            <p:txBody>
              <a:bodyPr wrap="none" anchor="ctr"/>
              <a:lstStyle/>
              <a:p>
                <a:pPr algn="ctr"/>
                <a:r>
                  <a:rPr lang="en-US" altLang="zh-TW"/>
                  <a:t>‧</a:t>
                </a:r>
              </a:p>
              <a:p>
                <a:pPr algn="ctr"/>
                <a:r>
                  <a:rPr lang="en-US" altLang="zh-TW"/>
                  <a:t>‧</a:t>
                </a:r>
              </a:p>
              <a:p>
                <a:pPr algn="ctr"/>
                <a:r>
                  <a:rPr lang="en-US" altLang="zh-TW"/>
                  <a:t>‧</a:t>
                </a:r>
              </a:p>
            </p:txBody>
          </p:sp>
          <p:sp>
            <p:nvSpPr>
              <p:cNvPr id="22" name="AutoShape 52">
                <a:extLst>
                  <a:ext uri="{FF2B5EF4-FFF2-40B4-BE49-F238E27FC236}">
                    <a16:creationId xmlns:a16="http://schemas.microsoft.com/office/drawing/2014/main" id="{F37DE5A1-08C4-4FCF-A482-39B91D5BBBC3}"/>
                  </a:ext>
                </a:extLst>
              </p:cNvPr>
              <p:cNvSpPr>
                <a:spLocks/>
              </p:cNvSpPr>
              <p:nvPr/>
            </p:nvSpPr>
            <p:spPr bwMode="auto">
              <a:xfrm>
                <a:off x="4464" y="1728"/>
                <a:ext cx="144" cy="576"/>
              </a:xfrm>
              <a:prstGeom prst="rightBrace">
                <a:avLst>
                  <a:gd name="adj1" fmla="val 33333"/>
                  <a:gd name="adj2" fmla="val 50000"/>
                </a:avLst>
              </a:prstGeom>
              <a:noFill/>
              <a:ln w="9525">
                <a:solidFill>
                  <a:schemeClr val="hlink"/>
                </a:solidFill>
                <a:round/>
                <a:headEnd/>
                <a:tailEnd/>
              </a:ln>
              <a:effectLst/>
            </p:spPr>
            <p:txBody>
              <a:bodyPr wrap="none" anchor="ctr"/>
              <a:lstStyle/>
              <a:p>
                <a:endParaRPr lang="zh-TW" altLang="en-US"/>
              </a:p>
            </p:txBody>
          </p:sp>
          <p:sp>
            <p:nvSpPr>
              <p:cNvPr id="23" name="Text Box 53">
                <a:extLst>
                  <a:ext uri="{FF2B5EF4-FFF2-40B4-BE49-F238E27FC236}">
                    <a16:creationId xmlns:a16="http://schemas.microsoft.com/office/drawing/2014/main" id="{DEFFDC06-1516-4018-B442-2EE49858E8EB}"/>
                  </a:ext>
                </a:extLst>
              </p:cNvPr>
              <p:cNvSpPr txBox="1">
                <a:spLocks noChangeArrowheads="1"/>
              </p:cNvSpPr>
              <p:nvPr/>
            </p:nvSpPr>
            <p:spPr bwMode="auto">
              <a:xfrm>
                <a:off x="5126" y="1657"/>
                <a:ext cx="346" cy="231"/>
              </a:xfrm>
              <a:prstGeom prst="rect">
                <a:avLst/>
              </a:prstGeom>
              <a:noFill/>
              <a:ln w="9525">
                <a:noFill/>
                <a:miter lim="800000"/>
                <a:headEnd/>
                <a:tailEnd/>
              </a:ln>
              <a:effectLst/>
            </p:spPr>
            <p:txBody>
              <a:bodyPr>
                <a:spAutoFit/>
              </a:bodyPr>
              <a:lstStyle/>
              <a:p>
                <a:endParaRPr lang="zh-TW" altLang="en-US"/>
              </a:p>
            </p:txBody>
          </p:sp>
          <p:sp>
            <p:nvSpPr>
              <p:cNvPr id="24" name="Text Box 54">
                <a:extLst>
                  <a:ext uri="{FF2B5EF4-FFF2-40B4-BE49-F238E27FC236}">
                    <a16:creationId xmlns:a16="http://schemas.microsoft.com/office/drawing/2014/main" id="{88EDA06D-8643-4DE6-91F1-EA72FD7B71FF}"/>
                  </a:ext>
                </a:extLst>
              </p:cNvPr>
              <p:cNvSpPr txBox="1">
                <a:spLocks noChangeArrowheads="1"/>
              </p:cNvSpPr>
              <p:nvPr/>
            </p:nvSpPr>
            <p:spPr bwMode="auto">
              <a:xfrm>
                <a:off x="4800" y="1900"/>
                <a:ext cx="768" cy="212"/>
              </a:xfrm>
              <a:prstGeom prst="rect">
                <a:avLst/>
              </a:prstGeom>
              <a:noFill/>
              <a:ln w="9525">
                <a:noFill/>
                <a:miter lim="800000"/>
                <a:headEnd/>
                <a:tailEnd/>
              </a:ln>
              <a:effectLst/>
            </p:spPr>
            <p:txBody>
              <a:bodyPr>
                <a:spAutoFit/>
              </a:bodyPr>
              <a:lstStyle/>
              <a:p>
                <a:pPr>
                  <a:spcBef>
                    <a:spcPct val="50000"/>
                  </a:spcBef>
                </a:pPr>
                <a:r>
                  <a:rPr lang="en-US" altLang="zh-TW" sz="1600">
                    <a:solidFill>
                      <a:schemeClr val="hlink"/>
                    </a:solidFill>
                  </a:rPr>
                  <a:t>Header</a:t>
                </a:r>
              </a:p>
            </p:txBody>
          </p:sp>
          <p:sp>
            <p:nvSpPr>
              <p:cNvPr id="25" name="AutoShape 55">
                <a:extLst>
                  <a:ext uri="{FF2B5EF4-FFF2-40B4-BE49-F238E27FC236}">
                    <a16:creationId xmlns:a16="http://schemas.microsoft.com/office/drawing/2014/main" id="{5DD55134-47E5-4089-87C3-D182FA8E116B}"/>
                  </a:ext>
                </a:extLst>
              </p:cNvPr>
              <p:cNvSpPr>
                <a:spLocks/>
              </p:cNvSpPr>
              <p:nvPr/>
            </p:nvSpPr>
            <p:spPr bwMode="auto">
              <a:xfrm>
                <a:off x="4608" y="1728"/>
                <a:ext cx="144" cy="1104"/>
              </a:xfrm>
              <a:prstGeom prst="rightBrace">
                <a:avLst>
                  <a:gd name="adj1" fmla="val 63889"/>
                  <a:gd name="adj2" fmla="val 50000"/>
                </a:avLst>
              </a:prstGeom>
              <a:noFill/>
              <a:ln w="9525">
                <a:solidFill>
                  <a:srgbClr val="FF0000"/>
                </a:solidFill>
                <a:round/>
                <a:headEnd/>
                <a:tailEnd/>
              </a:ln>
              <a:effectLst/>
            </p:spPr>
            <p:txBody>
              <a:bodyPr wrap="none" anchor="ctr"/>
              <a:lstStyle/>
              <a:p>
                <a:endParaRPr lang="zh-TW" altLang="en-US"/>
              </a:p>
            </p:txBody>
          </p:sp>
          <p:sp>
            <p:nvSpPr>
              <p:cNvPr id="26" name="Rectangle 56">
                <a:extLst>
                  <a:ext uri="{FF2B5EF4-FFF2-40B4-BE49-F238E27FC236}">
                    <a16:creationId xmlns:a16="http://schemas.microsoft.com/office/drawing/2014/main" id="{B97FA34D-C699-4546-85C5-8D14D1269D3A}"/>
                  </a:ext>
                </a:extLst>
              </p:cNvPr>
              <p:cNvSpPr>
                <a:spLocks noChangeArrowheads="1"/>
              </p:cNvSpPr>
              <p:nvPr/>
            </p:nvSpPr>
            <p:spPr bwMode="auto">
              <a:xfrm>
                <a:off x="3264" y="2832"/>
                <a:ext cx="1152" cy="336"/>
              </a:xfrm>
              <a:prstGeom prst="rect">
                <a:avLst/>
              </a:prstGeom>
              <a:noFill/>
              <a:ln w="9525">
                <a:solidFill>
                  <a:schemeClr val="accent1"/>
                </a:solidFill>
                <a:miter lim="800000"/>
                <a:headEnd/>
                <a:tailEnd/>
              </a:ln>
              <a:effectLst/>
            </p:spPr>
            <p:txBody>
              <a:bodyPr wrap="none" anchor="ctr"/>
              <a:lstStyle/>
              <a:p>
                <a:pPr algn="ctr"/>
                <a:r>
                  <a:rPr lang="en-US" altLang="zh-TW"/>
                  <a:t>‧</a:t>
                </a:r>
              </a:p>
              <a:p>
                <a:pPr algn="ctr"/>
                <a:r>
                  <a:rPr lang="en-US" altLang="zh-TW"/>
                  <a:t>‧</a:t>
                </a:r>
              </a:p>
            </p:txBody>
          </p:sp>
          <p:sp>
            <p:nvSpPr>
              <p:cNvPr id="27" name="AutoShape 57">
                <a:extLst>
                  <a:ext uri="{FF2B5EF4-FFF2-40B4-BE49-F238E27FC236}">
                    <a16:creationId xmlns:a16="http://schemas.microsoft.com/office/drawing/2014/main" id="{91C20E01-260B-41C6-9D8D-6291F394338A}"/>
                  </a:ext>
                </a:extLst>
              </p:cNvPr>
              <p:cNvSpPr>
                <a:spLocks/>
              </p:cNvSpPr>
              <p:nvPr/>
            </p:nvSpPr>
            <p:spPr bwMode="auto">
              <a:xfrm>
                <a:off x="4608" y="2832"/>
                <a:ext cx="96" cy="336"/>
              </a:xfrm>
              <a:prstGeom prst="rightBrace">
                <a:avLst>
                  <a:gd name="adj1" fmla="val 29167"/>
                  <a:gd name="adj2" fmla="val 50000"/>
                </a:avLst>
              </a:prstGeom>
              <a:noFill/>
              <a:ln w="9525">
                <a:solidFill>
                  <a:srgbClr val="FF0000"/>
                </a:solidFill>
                <a:round/>
                <a:headEnd/>
                <a:tailEnd/>
              </a:ln>
              <a:effectLst/>
            </p:spPr>
            <p:txBody>
              <a:bodyPr wrap="none" anchor="ctr"/>
              <a:lstStyle/>
              <a:p>
                <a:endParaRPr lang="zh-TW" altLang="en-US"/>
              </a:p>
            </p:txBody>
          </p:sp>
          <p:sp>
            <p:nvSpPr>
              <p:cNvPr id="28" name="Text Box 58">
                <a:extLst>
                  <a:ext uri="{FF2B5EF4-FFF2-40B4-BE49-F238E27FC236}">
                    <a16:creationId xmlns:a16="http://schemas.microsoft.com/office/drawing/2014/main" id="{068E2AC1-A360-4B11-9E97-B5EF5D4ED464}"/>
                  </a:ext>
                </a:extLst>
              </p:cNvPr>
              <p:cNvSpPr txBox="1">
                <a:spLocks noChangeArrowheads="1"/>
              </p:cNvSpPr>
              <p:nvPr/>
            </p:nvSpPr>
            <p:spPr bwMode="auto">
              <a:xfrm>
                <a:off x="4800" y="2188"/>
                <a:ext cx="768" cy="443"/>
              </a:xfrm>
              <a:prstGeom prst="rect">
                <a:avLst/>
              </a:prstGeom>
              <a:noFill/>
              <a:ln w="9525">
                <a:noFill/>
                <a:miter lim="800000"/>
                <a:headEnd/>
                <a:tailEnd/>
              </a:ln>
              <a:effectLst/>
            </p:spPr>
            <p:txBody>
              <a:bodyPr>
                <a:spAutoFit/>
              </a:bodyPr>
              <a:lstStyle/>
              <a:p>
                <a:pPr>
                  <a:spcBef>
                    <a:spcPct val="50000"/>
                  </a:spcBef>
                </a:pPr>
                <a:r>
                  <a:rPr lang="en-US" altLang="zh-TW" sz="1600">
                    <a:solidFill>
                      <a:srgbClr val="FF0D0D"/>
                    </a:solidFill>
                  </a:rPr>
                  <a:t>Formatted </a:t>
                </a:r>
              </a:p>
              <a:p>
                <a:pPr>
                  <a:spcBef>
                    <a:spcPct val="50000"/>
                  </a:spcBef>
                </a:pPr>
                <a:r>
                  <a:rPr lang="en-US" altLang="zh-TW" sz="1600">
                    <a:solidFill>
                      <a:srgbClr val="FF0D0D"/>
                    </a:solidFill>
                  </a:rPr>
                  <a:t>section</a:t>
                </a:r>
              </a:p>
            </p:txBody>
          </p:sp>
          <p:sp>
            <p:nvSpPr>
              <p:cNvPr id="29" name="Text Box 59">
                <a:extLst>
                  <a:ext uri="{FF2B5EF4-FFF2-40B4-BE49-F238E27FC236}">
                    <a16:creationId xmlns:a16="http://schemas.microsoft.com/office/drawing/2014/main" id="{D7E4E2BA-33F3-4BA3-A3F9-3C667DFB2384}"/>
                  </a:ext>
                </a:extLst>
              </p:cNvPr>
              <p:cNvSpPr txBox="1">
                <a:spLocks noChangeArrowheads="1"/>
              </p:cNvSpPr>
              <p:nvPr/>
            </p:nvSpPr>
            <p:spPr bwMode="auto">
              <a:xfrm>
                <a:off x="4800" y="2784"/>
                <a:ext cx="960" cy="443"/>
              </a:xfrm>
              <a:prstGeom prst="rect">
                <a:avLst/>
              </a:prstGeom>
              <a:noFill/>
              <a:ln w="9525">
                <a:noFill/>
                <a:miter lim="800000"/>
                <a:headEnd/>
                <a:tailEnd/>
              </a:ln>
              <a:effectLst/>
            </p:spPr>
            <p:txBody>
              <a:bodyPr>
                <a:spAutoFit/>
              </a:bodyPr>
              <a:lstStyle/>
              <a:p>
                <a:pPr>
                  <a:spcBef>
                    <a:spcPct val="50000"/>
                  </a:spcBef>
                </a:pPr>
                <a:r>
                  <a:rPr lang="en-US" altLang="zh-TW" sz="1600" dirty="0">
                    <a:solidFill>
                      <a:srgbClr val="FF0D0D"/>
                    </a:solidFill>
                  </a:rPr>
                  <a:t>unformatted </a:t>
                </a:r>
              </a:p>
              <a:p>
                <a:pPr>
                  <a:spcBef>
                    <a:spcPct val="50000"/>
                  </a:spcBef>
                </a:pPr>
                <a:r>
                  <a:rPr lang="en-US" altLang="zh-TW" sz="1600" dirty="0">
                    <a:solidFill>
                      <a:srgbClr val="FF0D0D"/>
                    </a:solidFill>
                  </a:rPr>
                  <a:t>section</a:t>
                </a:r>
              </a:p>
            </p:txBody>
          </p:sp>
          <p:sp>
            <p:nvSpPr>
              <p:cNvPr id="30" name="Text Box 60">
                <a:extLst>
                  <a:ext uri="{FF2B5EF4-FFF2-40B4-BE49-F238E27FC236}">
                    <a16:creationId xmlns:a16="http://schemas.microsoft.com/office/drawing/2014/main" id="{E9740BD5-C67B-422A-AE7A-AB9D77B542E3}"/>
                  </a:ext>
                </a:extLst>
              </p:cNvPr>
              <p:cNvSpPr txBox="1">
                <a:spLocks noChangeArrowheads="1"/>
              </p:cNvSpPr>
              <p:nvPr/>
            </p:nvSpPr>
            <p:spPr bwMode="auto">
              <a:xfrm>
                <a:off x="3360" y="3676"/>
                <a:ext cx="1056" cy="213"/>
              </a:xfrm>
              <a:prstGeom prst="rect">
                <a:avLst/>
              </a:prstGeom>
              <a:noFill/>
              <a:ln w="9525">
                <a:noFill/>
                <a:miter lim="800000"/>
                <a:headEnd/>
                <a:tailEnd/>
              </a:ln>
              <a:effectLst/>
            </p:spPr>
            <p:txBody>
              <a:bodyPr>
                <a:spAutoFit/>
              </a:bodyPr>
              <a:lstStyle/>
              <a:p>
                <a:pPr algn="ctr">
                  <a:spcBef>
                    <a:spcPct val="50000"/>
                  </a:spcBef>
                </a:pPr>
                <a:r>
                  <a:rPr lang="en-US" altLang="zh-TW" sz="1600" b="1" dirty="0">
                    <a:solidFill>
                      <a:schemeClr val="accent1"/>
                    </a:solidFill>
                  </a:rPr>
                  <a:t>SMBIOS Table</a:t>
                </a:r>
                <a:endParaRPr lang="zh-TW" altLang="en-US" sz="1600" b="1" dirty="0">
                  <a:solidFill>
                    <a:schemeClr val="accent1"/>
                  </a:solidFill>
                </a:endParaRPr>
              </a:p>
            </p:txBody>
          </p:sp>
        </p:grpSp>
      </p:grpSp>
    </p:spTree>
    <p:extLst>
      <p:ext uri="{BB962C8B-B14F-4D97-AF65-F5344CB8AC3E}">
        <p14:creationId xmlns:p14="http://schemas.microsoft.com/office/powerpoint/2010/main" val="1187869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lstStyle/>
          <a:p>
            <a:r>
              <a:rPr lang="en-US" altLang="zh-TW" dirty="0"/>
              <a:t>SMBIOS Structure</a:t>
            </a:r>
            <a:endParaRPr lang="zh-TW" altLang="en-US" dirty="0"/>
          </a:p>
        </p:txBody>
      </p:sp>
      <p:sp>
        <p:nvSpPr>
          <p:cNvPr id="3" name="內容版面配置區 2">
            <a:extLst>
              <a:ext uri="{FF2B5EF4-FFF2-40B4-BE49-F238E27FC236}">
                <a16:creationId xmlns:a16="http://schemas.microsoft.com/office/drawing/2014/main" id="{FEDDDF21-0CCA-48D4-BCF1-0A50E2F846FF}"/>
              </a:ext>
            </a:extLst>
          </p:cNvPr>
          <p:cNvSpPr>
            <a:spLocks noGrp="1"/>
          </p:cNvSpPr>
          <p:nvPr>
            <p:ph idx="1"/>
          </p:nvPr>
        </p:nvSpPr>
        <p:spPr/>
        <p:txBody>
          <a:bodyPr>
            <a:normAutofit fontScale="92500"/>
          </a:bodyPr>
          <a:lstStyle/>
          <a:p>
            <a:pPr marL="342900" indent="-342900" eaLnBrk="0" hangingPunct="0">
              <a:spcBef>
                <a:spcPct val="20000"/>
              </a:spcBef>
              <a:buClr>
                <a:srgbClr val="125C0C"/>
              </a:buClr>
              <a:buFont typeface="Wingdings" pitchFamily="2" charset="2"/>
              <a:buChar char="§"/>
            </a:pPr>
            <a:r>
              <a:rPr lang="en-US" altLang="zh-TW" sz="2400" dirty="0">
                <a:latin typeface="Tahoma" pitchFamily="34" charset="0"/>
                <a:cs typeface="Tahoma" pitchFamily="34" charset="0"/>
              </a:rPr>
              <a:t>Each SMBIOS type has a formatted section and an optional unformatted section.</a:t>
            </a:r>
          </a:p>
          <a:p>
            <a:pPr marL="342900" indent="-342900" eaLnBrk="0" hangingPunct="0">
              <a:spcBef>
                <a:spcPct val="20000"/>
              </a:spcBef>
              <a:buClr>
                <a:srgbClr val="125C0C"/>
              </a:buClr>
              <a:buFont typeface="Wingdings" pitchFamily="2" charset="2"/>
              <a:buChar char="§"/>
            </a:pPr>
            <a:r>
              <a:rPr lang="en-US" altLang="zh-TW" sz="2400" dirty="0">
                <a:latin typeface="Tahoma" pitchFamily="34" charset="0"/>
                <a:cs typeface="Tahoma" pitchFamily="34" charset="0"/>
              </a:rPr>
              <a:t>The formatted section of each structure begins with a</a:t>
            </a:r>
            <a:r>
              <a:rPr lang="en-US" altLang="zh-TW" sz="2400" dirty="0">
                <a:solidFill>
                  <a:srgbClr val="404040"/>
                </a:solidFill>
                <a:latin typeface="Tahoma" pitchFamily="34" charset="0"/>
                <a:cs typeface="Tahoma" pitchFamily="34" charset="0"/>
              </a:rPr>
              <a:t> </a:t>
            </a:r>
            <a:r>
              <a:rPr lang="en-US" altLang="zh-TW" sz="2400" dirty="0">
                <a:solidFill>
                  <a:schemeClr val="accent1"/>
                </a:solidFill>
                <a:latin typeface="Tahoma" pitchFamily="34" charset="0"/>
                <a:cs typeface="Tahoma" pitchFamily="34" charset="0"/>
              </a:rPr>
              <a:t>4-byte header.</a:t>
            </a:r>
          </a:p>
          <a:p>
            <a:pPr marL="342900" indent="-342900" eaLnBrk="0" hangingPunct="0">
              <a:spcBef>
                <a:spcPct val="20000"/>
              </a:spcBef>
              <a:buClr>
                <a:srgbClr val="125C0C"/>
              </a:buClr>
              <a:buFont typeface="Wingdings" pitchFamily="2" charset="2"/>
              <a:buChar char="§"/>
            </a:pPr>
            <a:endParaRPr lang="en-US" altLang="zh-TW" sz="2400" dirty="0">
              <a:solidFill>
                <a:schemeClr val="accent1"/>
              </a:solidFill>
              <a:latin typeface="Tahoma" pitchFamily="34" charset="0"/>
              <a:cs typeface="Tahoma" pitchFamily="34" charset="0"/>
            </a:endParaRPr>
          </a:p>
          <a:p>
            <a:pPr marL="342900" indent="-342900" eaLnBrk="0" hangingPunct="0">
              <a:spcBef>
                <a:spcPct val="20000"/>
              </a:spcBef>
              <a:buClr>
                <a:srgbClr val="125C0C"/>
              </a:buClr>
              <a:buFont typeface="Wingdings" pitchFamily="2" charset="2"/>
              <a:buChar char="§"/>
            </a:pPr>
            <a:endParaRPr lang="en-US" altLang="zh-TW" sz="2400" dirty="0">
              <a:solidFill>
                <a:schemeClr val="accent1"/>
              </a:solidFill>
              <a:latin typeface="Tahoma" pitchFamily="34" charset="0"/>
              <a:cs typeface="Tahoma" pitchFamily="34" charset="0"/>
            </a:endParaRPr>
          </a:p>
          <a:p>
            <a:pPr marL="342900" indent="-342900" eaLnBrk="0" hangingPunct="0">
              <a:spcBef>
                <a:spcPct val="20000"/>
              </a:spcBef>
              <a:buClr>
                <a:srgbClr val="125C0C"/>
              </a:buClr>
              <a:buFont typeface="Wingdings" pitchFamily="2" charset="2"/>
              <a:buChar char="§"/>
            </a:pPr>
            <a:endParaRPr lang="en-US" altLang="zh-TW" sz="2400" dirty="0">
              <a:solidFill>
                <a:srgbClr val="404040"/>
              </a:solidFill>
              <a:latin typeface="Tahoma" pitchFamily="34" charset="0"/>
              <a:cs typeface="Tahoma" pitchFamily="34" charset="0"/>
            </a:endParaRPr>
          </a:p>
          <a:p>
            <a:pPr marL="342900" indent="-342900" eaLnBrk="0" hangingPunct="0">
              <a:spcBef>
                <a:spcPct val="20000"/>
              </a:spcBef>
              <a:buClr>
                <a:srgbClr val="125C0C"/>
              </a:buClr>
              <a:buFont typeface="Wingdings" pitchFamily="2" charset="2"/>
              <a:buChar char="§"/>
            </a:pPr>
            <a:endParaRPr lang="en-US" altLang="zh-TW" sz="2400" dirty="0">
              <a:solidFill>
                <a:srgbClr val="404040"/>
              </a:solidFill>
              <a:latin typeface="Tahoma" pitchFamily="34" charset="0"/>
              <a:cs typeface="Tahoma" pitchFamily="34" charset="0"/>
            </a:endParaRPr>
          </a:p>
          <a:p>
            <a:pPr marL="342900" indent="-342900" eaLnBrk="0" hangingPunct="0">
              <a:spcBef>
                <a:spcPct val="20000"/>
              </a:spcBef>
              <a:buClr>
                <a:srgbClr val="125C0C"/>
              </a:buClr>
              <a:buFont typeface="Wingdings" pitchFamily="2" charset="2"/>
              <a:buChar char="§"/>
            </a:pPr>
            <a:endParaRPr lang="en-US" altLang="zh-TW" sz="2400" dirty="0">
              <a:solidFill>
                <a:srgbClr val="404040"/>
              </a:solidFill>
              <a:latin typeface="Tahoma" pitchFamily="34" charset="0"/>
              <a:cs typeface="Tahoma" pitchFamily="34" charset="0"/>
            </a:endParaRPr>
          </a:p>
          <a:p>
            <a:pPr marL="342900" indent="-342900" eaLnBrk="0" hangingPunct="0">
              <a:spcBef>
                <a:spcPct val="20000"/>
              </a:spcBef>
              <a:buClr>
                <a:srgbClr val="125C0C"/>
              </a:buClr>
              <a:buFont typeface="Wingdings" pitchFamily="2" charset="2"/>
              <a:buChar char="§"/>
            </a:pPr>
            <a:r>
              <a:rPr lang="en-US" altLang="zh-TW" sz="2400" dirty="0">
                <a:latin typeface="Tahoma" pitchFamily="34" charset="0"/>
                <a:cs typeface="Tahoma" pitchFamily="34" charset="0"/>
              </a:rPr>
              <a:t>Remaining data in the formatted section is determined by the</a:t>
            </a:r>
            <a:r>
              <a:rPr lang="en-US" altLang="zh-TW" sz="2400" dirty="0">
                <a:solidFill>
                  <a:srgbClr val="404040"/>
                </a:solidFill>
                <a:latin typeface="Tahoma" pitchFamily="34" charset="0"/>
                <a:cs typeface="Tahoma" pitchFamily="34" charset="0"/>
              </a:rPr>
              <a:t> </a:t>
            </a:r>
            <a:r>
              <a:rPr lang="en-US" altLang="zh-TW" sz="2400" dirty="0">
                <a:solidFill>
                  <a:schemeClr val="accent1"/>
                </a:solidFill>
                <a:latin typeface="Tahoma" pitchFamily="34" charset="0"/>
                <a:cs typeface="Tahoma" pitchFamily="34" charset="0"/>
              </a:rPr>
              <a:t>structure type</a:t>
            </a:r>
            <a:endParaRPr lang="en-US" altLang="zh-TW" sz="2400" dirty="0">
              <a:latin typeface="Tahoma" pitchFamily="34" charset="0"/>
              <a:cs typeface="Tahoma" pitchFamily="34" charset="0"/>
            </a:endParaRPr>
          </a:p>
          <a:p>
            <a:pPr marL="342900" indent="-342900" eaLnBrk="0" hangingPunct="0">
              <a:spcBef>
                <a:spcPct val="20000"/>
              </a:spcBef>
              <a:buClr>
                <a:srgbClr val="125C0C"/>
              </a:buClr>
              <a:buFont typeface="Wingdings" pitchFamily="2" charset="2"/>
              <a:buChar char="§"/>
            </a:pPr>
            <a:r>
              <a:rPr lang="en-US" altLang="zh-TW" sz="2400" dirty="0">
                <a:latin typeface="Tahoma" pitchFamily="34" charset="0"/>
                <a:cs typeface="Tahoma" pitchFamily="34" charset="0"/>
              </a:rPr>
              <a:t>Each string is terminated with </a:t>
            </a:r>
            <a:r>
              <a:rPr lang="en-US" altLang="zh-TW" sz="2400" dirty="0">
                <a:solidFill>
                  <a:schemeClr val="accent1"/>
                </a:solidFill>
                <a:latin typeface="Tahoma" pitchFamily="34" charset="0"/>
                <a:cs typeface="Tahoma" pitchFamily="34" charset="0"/>
              </a:rPr>
              <a:t>a null (00h) BYTE</a:t>
            </a:r>
            <a:r>
              <a:rPr lang="en-US" altLang="zh-TW" sz="2400" dirty="0">
                <a:latin typeface="Tahoma" pitchFamily="34" charset="0"/>
                <a:cs typeface="Tahoma" pitchFamily="34" charset="0"/>
              </a:rPr>
              <a:t> and the set of strings is terminated with </a:t>
            </a:r>
            <a:r>
              <a:rPr lang="en-US" altLang="zh-TW" sz="2400" dirty="0">
                <a:solidFill>
                  <a:schemeClr val="accent1"/>
                </a:solidFill>
                <a:latin typeface="Tahoma" pitchFamily="34" charset="0"/>
                <a:cs typeface="Tahoma" pitchFamily="34" charset="0"/>
              </a:rPr>
              <a:t>an additional null (00h) BYTE</a:t>
            </a:r>
          </a:p>
          <a:p>
            <a:pPr marL="342900" indent="-342900" eaLnBrk="0" hangingPunct="0">
              <a:spcBef>
                <a:spcPct val="20000"/>
              </a:spcBef>
              <a:buClr>
                <a:srgbClr val="125C0C"/>
              </a:buClr>
              <a:buFont typeface="Wingdings" pitchFamily="2" charset="2"/>
              <a:buChar char="§"/>
            </a:pPr>
            <a:r>
              <a:rPr lang="en-US" altLang="zh-TW" sz="2400" dirty="0">
                <a:latin typeface="Tahoma" pitchFamily="34" charset="0"/>
                <a:cs typeface="Tahoma" pitchFamily="34" charset="0"/>
              </a:rPr>
              <a:t>Each structure shall be terminated by </a:t>
            </a:r>
            <a:r>
              <a:rPr lang="en-US" altLang="zh-TW" sz="2400" dirty="0">
                <a:solidFill>
                  <a:schemeClr val="accent1"/>
                </a:solidFill>
                <a:latin typeface="Tahoma" pitchFamily="34" charset="0"/>
                <a:cs typeface="Tahoma" pitchFamily="34" charset="0"/>
              </a:rPr>
              <a:t>a double-null (0000h) BYTE</a:t>
            </a:r>
          </a:p>
          <a:p>
            <a:pPr marL="342900" indent="-342900" eaLnBrk="0" hangingPunct="0">
              <a:spcBef>
                <a:spcPct val="20000"/>
              </a:spcBef>
              <a:buClr>
                <a:srgbClr val="125C0C"/>
              </a:buClr>
              <a:buFont typeface="Wingdings" pitchFamily="2" charset="2"/>
              <a:buChar char="§"/>
            </a:pPr>
            <a:r>
              <a:rPr lang="en-US" altLang="zh-TW" sz="2400" dirty="0">
                <a:latin typeface="Tahoma" pitchFamily="34" charset="0"/>
                <a:cs typeface="Tahoma" pitchFamily="34" charset="0"/>
              </a:rPr>
              <a:t>Length: the length of formatted section dependence on </a:t>
            </a:r>
            <a:r>
              <a:rPr lang="en-US" altLang="zh-TW" sz="2400" dirty="0">
                <a:solidFill>
                  <a:schemeClr val="accent1"/>
                </a:solidFill>
                <a:latin typeface="Tahoma" pitchFamily="34" charset="0"/>
                <a:cs typeface="Tahoma" pitchFamily="34" charset="0"/>
              </a:rPr>
              <a:t>structure type</a:t>
            </a:r>
            <a:r>
              <a:rPr lang="en-US" altLang="zh-TW" sz="2400" dirty="0">
                <a:latin typeface="Tahoma" pitchFamily="34" charset="0"/>
                <a:cs typeface="Tahoma" pitchFamily="34" charset="0"/>
              </a:rPr>
              <a:t> </a:t>
            </a:r>
            <a:endParaRPr lang="zh-TW" altLang="en-US" sz="2400" dirty="0">
              <a:latin typeface="Tahoma" pitchFamily="34" charset="0"/>
              <a:cs typeface="Tahoma" pitchFamily="34" charset="0"/>
            </a:endParaRPr>
          </a:p>
          <a:p>
            <a:pPr marL="342900" indent="-342900" eaLnBrk="0" hangingPunct="0">
              <a:spcBef>
                <a:spcPct val="20000"/>
              </a:spcBef>
              <a:buClr>
                <a:srgbClr val="125C0C"/>
              </a:buClr>
              <a:buFont typeface="Wingdings" pitchFamily="2" charset="2"/>
              <a:buChar char="§"/>
            </a:pPr>
            <a:r>
              <a:rPr lang="en-US" altLang="zh-TW" sz="2400" dirty="0">
                <a:latin typeface="Tahoma" pitchFamily="34" charset="0"/>
                <a:cs typeface="Tahoma" pitchFamily="34" charset="0"/>
              </a:rPr>
              <a:t>Handle: 0x0000 ~ 0xFFFE (V2.0)</a:t>
            </a:r>
            <a:r>
              <a:rPr lang="zh-TW" altLang="en-US" sz="2400" dirty="0">
                <a:latin typeface="Tahoma" pitchFamily="34" charset="0"/>
                <a:cs typeface="Tahoma" pitchFamily="34" charset="0"/>
              </a:rPr>
              <a:t>；</a:t>
            </a:r>
            <a:r>
              <a:rPr lang="en-US" altLang="zh-TW" sz="2400" dirty="0">
                <a:latin typeface="Tahoma" pitchFamily="34" charset="0"/>
                <a:cs typeface="Tahoma" pitchFamily="34" charset="0"/>
              </a:rPr>
              <a:t>0x0000~0xFEFF (2.1 and later)</a:t>
            </a:r>
          </a:p>
        </p:txBody>
      </p:sp>
      <p:graphicFrame>
        <p:nvGraphicFramePr>
          <p:cNvPr id="43" name="Group 26">
            <a:extLst>
              <a:ext uri="{FF2B5EF4-FFF2-40B4-BE49-F238E27FC236}">
                <a16:creationId xmlns:a16="http://schemas.microsoft.com/office/drawing/2014/main" id="{BD027D8C-3EC2-4BDF-8F58-A737FF1E3820}"/>
              </a:ext>
            </a:extLst>
          </p:cNvPr>
          <p:cNvGraphicFramePr>
            <a:graphicFrameLocks noGrp="1"/>
          </p:cNvGraphicFramePr>
          <p:nvPr/>
        </p:nvGraphicFramePr>
        <p:xfrm>
          <a:off x="4028576" y="2255517"/>
          <a:ext cx="3429000" cy="1508760"/>
        </p:xfrm>
        <a:graphic>
          <a:graphicData uri="http://schemas.openxmlformats.org/drawingml/2006/table">
            <a:tbl>
              <a:tblPr/>
              <a:tblGrid>
                <a:gridCol w="1000125">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1519237">
                  <a:extLst>
                    <a:ext uri="{9D8B030D-6E8A-4147-A177-3AD203B41FA5}">
                      <a16:colId xmlns:a16="http://schemas.microsoft.com/office/drawing/2014/main" val="20002"/>
                    </a:ext>
                  </a:extLst>
                </a:gridCol>
              </a:tblGrid>
              <a:tr h="3317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700" b="0" i="0" u="none" strike="noStrike" cap="none" normalizeH="0" baseline="0" dirty="0">
                          <a:ln>
                            <a:noFill/>
                          </a:ln>
                          <a:solidFill>
                            <a:schemeClr val="accent1"/>
                          </a:solidFill>
                          <a:effectLst/>
                          <a:latin typeface="Times New Roman" pitchFamily="18" charset="0"/>
                          <a:ea typeface="新細明體" charset="-120"/>
                        </a:rPr>
                        <a:t>Offset</a:t>
                      </a:r>
                    </a:p>
                  </a:txBody>
                  <a:tcPr marL="0" marR="0" marT="0" marB="0" anchor="ctr" horzOverflow="overflow">
                    <a:lnL w="28575" cap="flat" cmpd="sng" algn="ctr">
                      <a:solidFill>
                        <a:srgbClr val="336699"/>
                      </a:solidFill>
                      <a:prstDash val="solid"/>
                      <a:round/>
                      <a:headEnd type="none" w="med" len="med"/>
                      <a:tailEnd type="none" w="med" len="med"/>
                    </a:lnL>
                    <a:lnR w="12700" cap="flat" cmpd="sng" algn="ctr">
                      <a:solidFill>
                        <a:srgbClr val="5F5F5F"/>
                      </a:solidFill>
                      <a:prstDash val="solid"/>
                      <a:round/>
                      <a:headEnd type="none" w="med" len="med"/>
                      <a:tailEnd type="none" w="med" len="med"/>
                    </a:lnR>
                    <a:lnT w="28575" cap="flat" cmpd="sng" algn="ctr">
                      <a:solidFill>
                        <a:srgbClr val="336699"/>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ctr" latinLnBrk="0" hangingPunct="0">
                        <a:lnSpc>
                          <a:spcPct val="100000"/>
                        </a:lnSpc>
                        <a:spcBef>
                          <a:spcPct val="20000"/>
                        </a:spcBef>
                        <a:spcAft>
                          <a:spcPct val="0"/>
                        </a:spcAft>
                        <a:buClrTx/>
                        <a:buSzTx/>
                        <a:buFont typeface="Arial" charset="0"/>
                        <a:buNone/>
                        <a:tabLst/>
                      </a:pPr>
                      <a:r>
                        <a:rPr kumimoji="0" lang="en-US" altLang="zh-TW" sz="2700" b="0" i="0" u="none" strike="noStrike" cap="none" normalizeH="0" baseline="0">
                          <a:ln>
                            <a:noFill/>
                          </a:ln>
                          <a:solidFill>
                            <a:schemeClr val="accent1"/>
                          </a:solidFill>
                          <a:effectLst/>
                          <a:latin typeface="Times New Roman" pitchFamily="18" charset="0"/>
                          <a:ea typeface="新細明體" charset="-120"/>
                        </a:rPr>
                        <a:t>Size</a:t>
                      </a:r>
                    </a:p>
                  </a:txBody>
                  <a:tcPr marL="0" marR="0" marT="0" marB="0" anchor="ctr" horzOverflow="overflow">
                    <a:lnL w="12700" cap="flat" cmpd="sng" algn="ctr">
                      <a:solidFill>
                        <a:srgbClr val="5F5F5F"/>
                      </a:solidFill>
                      <a:prstDash val="solid"/>
                      <a:round/>
                      <a:headEnd type="none" w="med" len="med"/>
                      <a:tailEnd type="none" w="med" len="med"/>
                    </a:lnL>
                    <a:lnR w="12700" cap="flat" cmpd="sng" algn="ctr">
                      <a:solidFill>
                        <a:srgbClr val="5F5F5F"/>
                      </a:solidFill>
                      <a:prstDash val="solid"/>
                      <a:round/>
                      <a:headEnd type="none" w="sm" len="sm"/>
                      <a:tailEnd type="none" w="sm" len="sm"/>
                    </a:lnR>
                    <a:lnT w="28575" cap="flat" cmpd="sng" algn="ctr">
                      <a:solidFill>
                        <a:srgbClr val="336699"/>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700" b="0" i="0" u="none" strike="noStrike" cap="none" normalizeH="0" baseline="0">
                          <a:ln>
                            <a:noFill/>
                          </a:ln>
                          <a:solidFill>
                            <a:schemeClr val="accent1"/>
                          </a:solidFill>
                          <a:effectLst/>
                          <a:latin typeface="Times New Roman" pitchFamily="18" charset="0"/>
                          <a:ea typeface="新細明體" charset="-120"/>
                        </a:rPr>
                        <a:t>Name</a:t>
                      </a:r>
                    </a:p>
                  </a:txBody>
                  <a:tcPr marL="0" marR="0" marT="0" marB="0" anchor="ctr" horzOverflow="overflow">
                    <a:lnL w="12700" cap="flat" cmpd="sng" algn="ctr">
                      <a:solidFill>
                        <a:srgbClr val="5F5F5F"/>
                      </a:solidFill>
                      <a:prstDash val="solid"/>
                      <a:round/>
                      <a:headEnd type="none" w="sm" len="sm"/>
                      <a:tailEnd type="none" w="sm" len="sm"/>
                    </a:lnL>
                    <a:lnR w="28575" cap="flat" cmpd="sng" algn="ctr">
                      <a:solidFill>
                        <a:srgbClr val="336699"/>
                      </a:solidFill>
                      <a:prstDash val="solid"/>
                      <a:round/>
                      <a:headEnd type="none" w="med" len="med"/>
                      <a:tailEnd type="none" w="med" len="med"/>
                    </a:lnR>
                    <a:lnT w="28575" cap="flat" cmpd="sng" algn="ctr">
                      <a:solidFill>
                        <a:srgbClr val="336699"/>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936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Times New Roman" pitchFamily="18" charset="0"/>
                          <a:ea typeface="新細明體" charset="-120"/>
                        </a:rPr>
                        <a:t>00h</a:t>
                      </a:r>
                    </a:p>
                  </a:txBody>
                  <a:tcPr marL="0" marR="0" marT="0" marB="0" anchor="ctr" horzOverflow="overflow">
                    <a:lnL w="28575" cap="flat" cmpd="sng" algn="ctr">
                      <a:solidFill>
                        <a:srgbClr val="336699"/>
                      </a:solidFill>
                      <a:prstDash val="solid"/>
                      <a:round/>
                      <a:headEnd type="none" w="med" len="med"/>
                      <a:tailEnd type="none" w="med" len="med"/>
                    </a:lnL>
                    <a:lnR w="12700" cap="flat" cmpd="sng" algn="ctr">
                      <a:solidFill>
                        <a:srgbClr val="5F5F5F"/>
                      </a:solidFill>
                      <a:prstDash val="solid"/>
                      <a:round/>
                      <a:headEnd type="none" w="med" len="med"/>
                      <a:tailEnd type="none" w="med" len="med"/>
                    </a:lnR>
                    <a:lnT w="12700" cap="flat" cmpd="sng" algn="ctr">
                      <a:solidFill>
                        <a:srgbClr val="5F5F5F"/>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20000"/>
                        </a:spcBef>
                        <a:spcAft>
                          <a:spcPct val="0"/>
                        </a:spcAft>
                        <a:buClrTx/>
                        <a:buSzTx/>
                        <a:buFont typeface="Arial" charset="0"/>
                        <a:buNone/>
                        <a:tabLst/>
                      </a:pPr>
                      <a:r>
                        <a:rPr kumimoji="0" lang="en-US" altLang="zh-TW" sz="2400" b="0" i="0" u="none" strike="noStrike" cap="none" normalizeH="0" baseline="0" dirty="0">
                          <a:ln>
                            <a:noFill/>
                          </a:ln>
                          <a:solidFill>
                            <a:schemeClr val="tx1"/>
                          </a:solidFill>
                          <a:effectLst/>
                          <a:latin typeface="Times New Roman" pitchFamily="18" charset="0"/>
                          <a:ea typeface="新細明體" charset="-120"/>
                        </a:rPr>
                        <a:t>1</a:t>
                      </a:r>
                    </a:p>
                  </a:txBody>
                  <a:tcPr marL="0" marR="0" marT="0" marB="0" anchor="ctr" horzOverflow="overflow">
                    <a:lnL w="12700" cap="flat" cmpd="sng" algn="ctr">
                      <a:solidFill>
                        <a:srgbClr val="5F5F5F"/>
                      </a:solidFill>
                      <a:prstDash val="solid"/>
                      <a:round/>
                      <a:headEnd type="none" w="med" len="med"/>
                      <a:tailEnd type="none" w="med" len="med"/>
                    </a:lnL>
                    <a:lnR w="12700" cap="flat" cmpd="sng" algn="ctr">
                      <a:solidFill>
                        <a:srgbClr val="5F5F5F"/>
                      </a:solidFill>
                      <a:prstDash val="solid"/>
                      <a:round/>
                      <a:headEnd type="none" w="sm" len="sm"/>
                      <a:tailEnd type="none" w="sm" len="sm"/>
                    </a:lnR>
                    <a:lnT w="12700" cap="flat" cmpd="sng" algn="ctr">
                      <a:solidFill>
                        <a:srgbClr val="5F5F5F"/>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chemeClr val="bg1"/>
                    </a:solidFill>
                  </a:tcPr>
                </a:tc>
                <a:tc>
                  <a:txBody>
                    <a:bodyPr/>
                    <a:lstStyle/>
                    <a:p>
                      <a:pPr marL="266700" marR="0" lvl="0" indent="0" algn="l" defTabSz="914400" rtl="0" eaLnBrk="0" fontAlgn="ctr" latinLnBrk="0" hangingPunct="0">
                        <a:lnSpc>
                          <a:spcPct val="100000"/>
                        </a:lnSpc>
                        <a:spcBef>
                          <a:spcPct val="20000"/>
                        </a:spcBef>
                        <a:spcAft>
                          <a:spcPct val="0"/>
                        </a:spcAft>
                        <a:buClrTx/>
                        <a:buSzTx/>
                        <a:buFont typeface="Arial" charset="0"/>
                        <a:buNone/>
                        <a:tabLst/>
                      </a:pPr>
                      <a:r>
                        <a:rPr kumimoji="0" lang="zh-TW" altLang="en-US" sz="2400" b="0" i="0" u="none" strike="noStrike" cap="none" normalizeH="0" baseline="0">
                          <a:ln>
                            <a:noFill/>
                          </a:ln>
                          <a:solidFill>
                            <a:schemeClr val="tx1"/>
                          </a:solidFill>
                          <a:effectLst/>
                          <a:latin typeface="Times New Roman" pitchFamily="18" charset="0"/>
                          <a:ea typeface="新細明體" charset="-120"/>
                        </a:rPr>
                        <a:t>   </a:t>
                      </a:r>
                      <a:r>
                        <a:rPr kumimoji="0" lang="en-US" altLang="zh-TW" sz="2400" b="0" i="0" u="none" strike="noStrike" cap="none" normalizeH="0" baseline="0">
                          <a:ln>
                            <a:noFill/>
                          </a:ln>
                          <a:solidFill>
                            <a:schemeClr val="tx1"/>
                          </a:solidFill>
                          <a:effectLst/>
                          <a:latin typeface="Times New Roman" pitchFamily="18" charset="0"/>
                          <a:ea typeface="新細明體" charset="-120"/>
                        </a:rPr>
                        <a:t>Type</a:t>
                      </a:r>
                    </a:p>
                  </a:txBody>
                  <a:tcPr marL="0" marR="0" marT="0" marB="0" anchor="ctr" horzOverflow="overflow">
                    <a:lnL w="12700" cap="flat" cmpd="sng" algn="ctr">
                      <a:solidFill>
                        <a:srgbClr val="5F5F5F"/>
                      </a:solidFill>
                      <a:prstDash val="solid"/>
                      <a:round/>
                      <a:headEnd type="none" w="sm" len="sm"/>
                      <a:tailEnd type="none" w="sm" len="sm"/>
                    </a:lnL>
                    <a:lnR w="28575" cap="flat" cmpd="sng" algn="ctr">
                      <a:solidFill>
                        <a:srgbClr val="336699"/>
                      </a:solidFill>
                      <a:prstDash val="solid"/>
                      <a:round/>
                      <a:headEnd type="none" w="med" len="med"/>
                      <a:tailEnd type="none" w="med" len="med"/>
                    </a:lnR>
                    <a:lnT w="12700" cap="flat" cmpd="sng" algn="ctr">
                      <a:solidFill>
                        <a:srgbClr val="5F5F5F"/>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5275">
                <a:tc>
                  <a:txBody>
                    <a:bodyPr/>
                    <a:lstStyle/>
                    <a:p>
                      <a:pPr marL="0" marR="0" lvl="0" indent="0" algn="ctr" defTabSz="914400" rtl="0" eaLnBrk="0" fontAlgn="ctr" latinLnBrk="0" hangingPunct="0">
                        <a:lnSpc>
                          <a:spcPct val="100000"/>
                        </a:lnSpc>
                        <a:spcBef>
                          <a:spcPct val="20000"/>
                        </a:spcBef>
                        <a:spcAft>
                          <a:spcPct val="0"/>
                        </a:spcAft>
                        <a:buClrTx/>
                        <a:buSzTx/>
                        <a:buFont typeface="Arial" charset="0"/>
                        <a:buNone/>
                        <a:tabLst/>
                      </a:pPr>
                      <a:r>
                        <a:rPr kumimoji="0" lang="en-US" altLang="zh-TW" sz="2400" b="0" i="0" u="none" strike="noStrike" cap="none" normalizeH="0" baseline="0">
                          <a:ln>
                            <a:noFill/>
                          </a:ln>
                          <a:solidFill>
                            <a:schemeClr val="tx1"/>
                          </a:solidFill>
                          <a:effectLst/>
                          <a:latin typeface="Times New Roman" pitchFamily="18" charset="0"/>
                          <a:ea typeface="新細明體" charset="-120"/>
                        </a:rPr>
                        <a:t>01h</a:t>
                      </a:r>
                    </a:p>
                  </a:txBody>
                  <a:tcPr marL="0" marR="0" marT="0" marB="0" anchor="ctr" horzOverflow="overflow">
                    <a:lnL w="28575" cap="flat" cmpd="sng" algn="ctr">
                      <a:solidFill>
                        <a:srgbClr val="336699"/>
                      </a:solidFill>
                      <a:prstDash val="solid"/>
                      <a:round/>
                      <a:headEnd type="none" w="med" len="med"/>
                      <a:tailEnd type="none" w="med" len="med"/>
                    </a:lnL>
                    <a:lnR w="12700" cap="flat" cmpd="sng" algn="ctr">
                      <a:solidFill>
                        <a:srgbClr val="5F5F5F"/>
                      </a:solidFill>
                      <a:prstDash val="solid"/>
                      <a:round/>
                      <a:headEnd type="none" w="med" len="med"/>
                      <a:tailEnd type="none" w="med" len="med"/>
                    </a:lnR>
                    <a:lnT w="12700" cap="flat" cmpd="sng" algn="ctr">
                      <a:solidFill>
                        <a:srgbClr val="5F5F5F"/>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20000"/>
                        </a:spcBef>
                        <a:spcAft>
                          <a:spcPct val="0"/>
                        </a:spcAft>
                        <a:buClrTx/>
                        <a:buSzTx/>
                        <a:buFont typeface="Arial" charset="0"/>
                        <a:buNone/>
                        <a:tabLst/>
                      </a:pPr>
                      <a:r>
                        <a:rPr kumimoji="0" lang="en-US" altLang="zh-TW" sz="2400" b="0" i="0" u="none" strike="noStrike" cap="none" normalizeH="0" baseline="0">
                          <a:ln>
                            <a:noFill/>
                          </a:ln>
                          <a:solidFill>
                            <a:schemeClr val="tx1"/>
                          </a:solidFill>
                          <a:effectLst/>
                          <a:latin typeface="Times New Roman" pitchFamily="18" charset="0"/>
                          <a:ea typeface="新細明體" charset="-120"/>
                        </a:rPr>
                        <a:t>1</a:t>
                      </a:r>
                    </a:p>
                  </a:txBody>
                  <a:tcPr marL="0" marR="0" marT="0" marB="0" anchor="ctr" horzOverflow="overflow">
                    <a:lnL w="12700" cap="flat" cmpd="sng" algn="ctr">
                      <a:solidFill>
                        <a:srgbClr val="5F5F5F"/>
                      </a:solidFill>
                      <a:prstDash val="solid"/>
                      <a:round/>
                      <a:headEnd type="none" w="med" len="med"/>
                      <a:tailEnd type="none" w="med" len="med"/>
                    </a:lnL>
                    <a:lnR w="12700" cap="flat" cmpd="sng" algn="ctr">
                      <a:solidFill>
                        <a:srgbClr val="5F5F5F"/>
                      </a:solidFill>
                      <a:prstDash val="solid"/>
                      <a:round/>
                      <a:headEnd type="none" w="sm" len="sm"/>
                      <a:tailEnd type="none" w="sm" len="sm"/>
                    </a:lnR>
                    <a:lnT w="12700" cap="flat" cmpd="sng" algn="ctr">
                      <a:solidFill>
                        <a:srgbClr val="5F5F5F"/>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chemeClr val="bg1"/>
                    </a:solidFill>
                  </a:tcPr>
                </a:tc>
                <a:tc>
                  <a:txBody>
                    <a:bodyPr/>
                    <a:lstStyle/>
                    <a:p>
                      <a:pPr marL="266700" marR="0" lvl="0" indent="0" algn="l" defTabSz="914400" rtl="0" eaLnBrk="0" fontAlgn="ctr" latinLnBrk="0" hangingPunct="0">
                        <a:lnSpc>
                          <a:spcPct val="100000"/>
                        </a:lnSpc>
                        <a:spcBef>
                          <a:spcPct val="20000"/>
                        </a:spcBef>
                        <a:spcAft>
                          <a:spcPct val="0"/>
                        </a:spcAft>
                        <a:buClrTx/>
                        <a:buSzTx/>
                        <a:buFont typeface="Arial" charset="0"/>
                        <a:buNone/>
                        <a:tabLst/>
                      </a:pPr>
                      <a:r>
                        <a:rPr kumimoji="0" lang="zh-TW" altLang="en-US" sz="2400" b="0" i="0" u="none" strike="noStrike" cap="none" normalizeH="0" baseline="0" dirty="0">
                          <a:ln>
                            <a:noFill/>
                          </a:ln>
                          <a:solidFill>
                            <a:schemeClr val="tx1"/>
                          </a:solidFill>
                          <a:effectLst/>
                          <a:latin typeface="Times New Roman" pitchFamily="18" charset="0"/>
                          <a:ea typeface="新細明體" charset="-120"/>
                        </a:rPr>
                        <a:t>   </a:t>
                      </a:r>
                      <a:r>
                        <a:rPr kumimoji="0" lang="en-US" altLang="zh-TW" sz="2400" b="0" i="0" u="none" strike="noStrike" cap="none" normalizeH="0" baseline="0" dirty="0">
                          <a:ln>
                            <a:noFill/>
                          </a:ln>
                          <a:solidFill>
                            <a:schemeClr val="tx1"/>
                          </a:solidFill>
                          <a:effectLst/>
                          <a:latin typeface="Times New Roman" pitchFamily="18" charset="0"/>
                          <a:ea typeface="新細明體" charset="-120"/>
                        </a:rPr>
                        <a:t>Length</a:t>
                      </a:r>
                    </a:p>
                  </a:txBody>
                  <a:tcPr marL="0" marR="0" marT="0" marB="0" anchor="ctr" horzOverflow="overflow">
                    <a:lnL w="12700" cap="flat" cmpd="sng" algn="ctr">
                      <a:solidFill>
                        <a:srgbClr val="5F5F5F"/>
                      </a:solidFill>
                      <a:prstDash val="solid"/>
                      <a:round/>
                      <a:headEnd type="none" w="sm" len="sm"/>
                      <a:tailEnd type="none" w="sm" len="sm"/>
                    </a:lnL>
                    <a:lnR w="28575" cap="flat" cmpd="sng" algn="ctr">
                      <a:solidFill>
                        <a:srgbClr val="336699"/>
                      </a:solidFill>
                      <a:prstDash val="solid"/>
                      <a:round/>
                      <a:headEnd type="none" w="med" len="med"/>
                      <a:tailEnd type="none" w="med" len="med"/>
                    </a:lnR>
                    <a:lnT w="12700" cap="flat" cmpd="sng" algn="ctr">
                      <a:solidFill>
                        <a:srgbClr val="5F5F5F"/>
                      </a:solidFill>
                      <a:prstDash val="solid"/>
                      <a:round/>
                      <a:headEnd type="none" w="med" len="med"/>
                      <a:tailEnd type="none" w="med" len="med"/>
                    </a:lnT>
                    <a:lnB w="12700" cap="flat" cmpd="sng" algn="ctr">
                      <a:solidFill>
                        <a:srgbClr val="5F5F5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3688">
                <a:tc>
                  <a:txBody>
                    <a:bodyPr/>
                    <a:lstStyle/>
                    <a:p>
                      <a:pPr marL="0" marR="0" lvl="0" indent="0" algn="ctr" defTabSz="914400" rtl="0" eaLnBrk="0" fontAlgn="ctr" latinLnBrk="0" hangingPunct="0">
                        <a:lnSpc>
                          <a:spcPct val="100000"/>
                        </a:lnSpc>
                        <a:spcBef>
                          <a:spcPct val="20000"/>
                        </a:spcBef>
                        <a:spcAft>
                          <a:spcPct val="0"/>
                        </a:spcAft>
                        <a:buClrTx/>
                        <a:buSzTx/>
                        <a:buFont typeface="Arial" charset="0"/>
                        <a:buNone/>
                        <a:tabLst/>
                      </a:pPr>
                      <a:r>
                        <a:rPr kumimoji="0" lang="en-US" altLang="zh-TW" sz="2400" b="0" i="0" u="none" strike="noStrike" cap="none" normalizeH="0" baseline="0">
                          <a:ln>
                            <a:noFill/>
                          </a:ln>
                          <a:solidFill>
                            <a:schemeClr val="tx1"/>
                          </a:solidFill>
                          <a:effectLst/>
                          <a:latin typeface="Times New Roman" pitchFamily="18" charset="0"/>
                          <a:ea typeface="新細明體" charset="-120"/>
                        </a:rPr>
                        <a:t>02h</a:t>
                      </a:r>
                    </a:p>
                  </a:txBody>
                  <a:tcPr marL="0" marR="0" marT="0" marB="0" anchor="ctr" horzOverflow="overflow">
                    <a:lnL w="28575" cap="flat" cmpd="sng" algn="ctr">
                      <a:solidFill>
                        <a:srgbClr val="336699"/>
                      </a:solidFill>
                      <a:prstDash val="solid"/>
                      <a:round/>
                      <a:headEnd type="none" w="med" len="med"/>
                      <a:tailEnd type="none" w="med" len="med"/>
                    </a:lnL>
                    <a:lnR w="12700" cap="flat" cmpd="sng" algn="ctr">
                      <a:solidFill>
                        <a:srgbClr val="5F5F5F"/>
                      </a:solidFill>
                      <a:prstDash val="solid"/>
                      <a:round/>
                      <a:headEnd type="none" w="med" len="med"/>
                      <a:tailEnd type="none" w="med" len="med"/>
                    </a:lnR>
                    <a:lnT w="12700" cap="flat" cmpd="sng" algn="ctr">
                      <a:solidFill>
                        <a:srgbClr val="5F5F5F"/>
                      </a:solidFill>
                      <a:prstDash val="solid"/>
                      <a:round/>
                      <a:headEnd type="none" w="med" len="med"/>
                      <a:tailEnd type="none" w="med" len="med"/>
                    </a:lnT>
                    <a:lnB w="28575"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ctr" latinLnBrk="0" hangingPunct="0">
                        <a:lnSpc>
                          <a:spcPct val="100000"/>
                        </a:lnSpc>
                        <a:spcBef>
                          <a:spcPct val="20000"/>
                        </a:spcBef>
                        <a:spcAft>
                          <a:spcPct val="0"/>
                        </a:spcAft>
                        <a:buClrTx/>
                        <a:buSzTx/>
                        <a:buFont typeface="Arial" charset="0"/>
                        <a:buNone/>
                        <a:tabLst/>
                      </a:pPr>
                      <a:r>
                        <a:rPr kumimoji="0" lang="en-US" altLang="zh-TW" sz="2400" b="0" i="0" u="none" strike="noStrike" cap="none" normalizeH="0" baseline="0" dirty="0">
                          <a:ln>
                            <a:noFill/>
                          </a:ln>
                          <a:solidFill>
                            <a:schemeClr val="tx1"/>
                          </a:solidFill>
                          <a:effectLst/>
                          <a:latin typeface="Times New Roman" pitchFamily="18" charset="0"/>
                          <a:ea typeface="新細明體" charset="-120"/>
                        </a:rPr>
                        <a:t>2</a:t>
                      </a:r>
                    </a:p>
                  </a:txBody>
                  <a:tcPr marL="0" marR="0" marT="0" marB="0" anchor="ctr" horzOverflow="overflow">
                    <a:lnL w="12700" cap="flat" cmpd="sng" algn="ctr">
                      <a:solidFill>
                        <a:srgbClr val="5F5F5F"/>
                      </a:solidFill>
                      <a:prstDash val="solid"/>
                      <a:round/>
                      <a:headEnd type="none" w="med" len="med"/>
                      <a:tailEnd type="none" w="med" len="med"/>
                    </a:lnL>
                    <a:lnR w="12700" cap="flat" cmpd="sng" algn="ctr">
                      <a:solidFill>
                        <a:srgbClr val="5F5F5F"/>
                      </a:solidFill>
                      <a:prstDash val="solid"/>
                      <a:round/>
                      <a:headEnd type="none" w="sm" len="sm"/>
                      <a:tailEnd type="none" w="sm" len="sm"/>
                    </a:lnR>
                    <a:lnT w="12700" cap="flat" cmpd="sng" algn="ctr">
                      <a:solidFill>
                        <a:srgbClr val="5F5F5F"/>
                      </a:solidFill>
                      <a:prstDash val="solid"/>
                      <a:round/>
                      <a:headEnd type="none" w="med" len="med"/>
                      <a:tailEnd type="none" w="med" len="med"/>
                    </a:lnT>
                    <a:lnB w="28575"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266700" marR="0" lvl="0" indent="0" algn="l" defTabSz="914400" rtl="0" eaLnBrk="0" fontAlgn="base" latinLnBrk="0" hangingPunct="0">
                        <a:lnSpc>
                          <a:spcPct val="100000"/>
                        </a:lnSpc>
                        <a:spcBef>
                          <a:spcPct val="0"/>
                        </a:spcBef>
                        <a:spcAft>
                          <a:spcPct val="0"/>
                        </a:spcAft>
                        <a:buClrTx/>
                        <a:buSzTx/>
                        <a:buFontTx/>
                        <a:buNone/>
                        <a:tabLst/>
                      </a:pPr>
                      <a:r>
                        <a:rPr kumimoji="0" lang="zh-TW" altLang="en-US" sz="2400" b="0" i="0" u="none" strike="noStrike" cap="none" normalizeH="0" baseline="0" dirty="0">
                          <a:ln>
                            <a:noFill/>
                          </a:ln>
                          <a:solidFill>
                            <a:schemeClr val="tx1"/>
                          </a:solidFill>
                          <a:effectLst/>
                          <a:latin typeface="Times New Roman" pitchFamily="18" charset="0"/>
                          <a:ea typeface="新細明體" charset="-120"/>
                        </a:rPr>
                        <a:t>   </a:t>
                      </a:r>
                      <a:r>
                        <a:rPr kumimoji="0" lang="en-US" altLang="zh-TW" sz="2400" b="0" i="0" u="none" strike="noStrike" cap="none" normalizeH="0" baseline="0" dirty="0">
                          <a:ln>
                            <a:noFill/>
                          </a:ln>
                          <a:solidFill>
                            <a:schemeClr val="tx1"/>
                          </a:solidFill>
                          <a:effectLst/>
                          <a:latin typeface="Times New Roman" pitchFamily="18" charset="0"/>
                          <a:ea typeface="新細明體" charset="-120"/>
                        </a:rPr>
                        <a:t>Handle</a:t>
                      </a:r>
                    </a:p>
                  </a:txBody>
                  <a:tcPr marL="0" marR="0" marT="0" marB="0" anchor="ctr" horzOverflow="overflow">
                    <a:lnL w="12700" cap="flat" cmpd="sng" algn="ctr">
                      <a:solidFill>
                        <a:srgbClr val="5F5F5F"/>
                      </a:solidFill>
                      <a:prstDash val="solid"/>
                      <a:round/>
                      <a:headEnd type="none" w="sm" len="sm"/>
                      <a:tailEnd type="none" w="sm" len="sm"/>
                    </a:lnL>
                    <a:lnR w="28575" cap="flat" cmpd="sng" algn="ctr">
                      <a:solidFill>
                        <a:srgbClr val="336699"/>
                      </a:solidFill>
                      <a:prstDash val="solid"/>
                      <a:round/>
                      <a:headEnd type="none" w="med" len="med"/>
                      <a:tailEnd type="none" w="med" len="med"/>
                    </a:lnR>
                    <a:lnT w="12700" cap="flat" cmpd="sng" algn="ctr">
                      <a:solidFill>
                        <a:srgbClr val="5F5F5F"/>
                      </a:solidFill>
                      <a:prstDash val="solid"/>
                      <a:round/>
                      <a:headEnd type="none" w="med" len="med"/>
                      <a:tailEnd type="none" w="med" len="med"/>
                    </a:lnT>
                    <a:lnB w="28575"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61668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lstStyle/>
          <a:p>
            <a:r>
              <a:rPr lang="en-US" altLang="zh-TW" dirty="0"/>
              <a:t>SMBIOS Structure</a:t>
            </a:r>
            <a:endParaRPr lang="zh-TW" altLang="en-US" dirty="0"/>
          </a:p>
        </p:txBody>
      </p:sp>
      <p:sp>
        <p:nvSpPr>
          <p:cNvPr id="3" name="內容版面配置區 2">
            <a:extLst>
              <a:ext uri="{FF2B5EF4-FFF2-40B4-BE49-F238E27FC236}">
                <a16:creationId xmlns:a16="http://schemas.microsoft.com/office/drawing/2014/main" id="{FEDDDF21-0CCA-48D4-BCF1-0A50E2F846FF}"/>
              </a:ext>
            </a:extLst>
          </p:cNvPr>
          <p:cNvSpPr>
            <a:spLocks noGrp="1"/>
          </p:cNvSpPr>
          <p:nvPr>
            <p:ph idx="1"/>
          </p:nvPr>
        </p:nvSpPr>
        <p:spPr/>
        <p:txBody>
          <a:bodyPr>
            <a:normAutofit/>
          </a:bodyPr>
          <a:lstStyle/>
          <a:p>
            <a:pPr eaLnBrk="0" hangingPunct="0">
              <a:spcBef>
                <a:spcPct val="20000"/>
              </a:spcBef>
              <a:buClr>
                <a:srgbClr val="125C0C"/>
              </a:buClr>
            </a:pPr>
            <a:r>
              <a:rPr lang="en-US" altLang="zh-TW" sz="3000" dirty="0">
                <a:latin typeface="Tahoma" pitchFamily="34" charset="0"/>
                <a:cs typeface="Tahoma" pitchFamily="34" charset="0"/>
              </a:rPr>
              <a:t>Record data</a:t>
            </a:r>
          </a:p>
          <a:p>
            <a:pPr marL="342900" indent="-342900" eaLnBrk="0" hangingPunct="0">
              <a:spcBef>
                <a:spcPct val="20000"/>
              </a:spcBef>
              <a:buClr>
                <a:srgbClr val="125C0C"/>
              </a:buClr>
              <a:buFont typeface="Wingdings" pitchFamily="2" charset="2"/>
              <a:buChar char="§"/>
            </a:pPr>
            <a:endParaRPr lang="en-US" altLang="zh-TW" dirty="0">
              <a:latin typeface="Tahoma" pitchFamily="34" charset="0"/>
              <a:cs typeface="Tahoma" pitchFamily="34" charset="0"/>
            </a:endParaRPr>
          </a:p>
        </p:txBody>
      </p:sp>
      <p:pic>
        <p:nvPicPr>
          <p:cNvPr id="6" name="Picture 5">
            <a:extLst>
              <a:ext uri="{FF2B5EF4-FFF2-40B4-BE49-F238E27FC236}">
                <a16:creationId xmlns:a16="http://schemas.microsoft.com/office/drawing/2014/main" id="{423371BC-7989-46D5-8DDA-8DB4DB37C1D3}"/>
              </a:ext>
            </a:extLst>
          </p:cNvPr>
          <p:cNvPicPr>
            <a:picLocks noChangeAspect="1" noChangeArrowheads="1"/>
          </p:cNvPicPr>
          <p:nvPr/>
        </p:nvPicPr>
        <p:blipFill>
          <a:blip r:embed="rId2" cstate="print"/>
          <a:srcRect l="59444" t="47922" r="23280" b="27811"/>
          <a:stretch>
            <a:fillRect/>
          </a:stretch>
        </p:blipFill>
        <p:spPr bwMode="auto">
          <a:xfrm>
            <a:off x="3335215" y="1315285"/>
            <a:ext cx="8458200" cy="5302250"/>
          </a:xfrm>
          <a:prstGeom prst="rect">
            <a:avLst/>
          </a:prstGeom>
          <a:noFill/>
          <a:ln w="9525">
            <a:noFill/>
            <a:miter lim="800000"/>
            <a:headEnd/>
            <a:tailEnd/>
          </a:ln>
        </p:spPr>
      </p:pic>
      <p:sp>
        <p:nvSpPr>
          <p:cNvPr id="8" name="AutoShape 9">
            <a:extLst>
              <a:ext uri="{FF2B5EF4-FFF2-40B4-BE49-F238E27FC236}">
                <a16:creationId xmlns:a16="http://schemas.microsoft.com/office/drawing/2014/main" id="{BDF5AA0A-6DE1-42CC-B1AB-F825F8085571}"/>
              </a:ext>
            </a:extLst>
          </p:cNvPr>
          <p:cNvSpPr>
            <a:spLocks noChangeArrowheads="1"/>
          </p:cNvSpPr>
          <p:nvPr/>
        </p:nvSpPr>
        <p:spPr bwMode="auto">
          <a:xfrm>
            <a:off x="609599" y="5265831"/>
            <a:ext cx="2209800" cy="387350"/>
          </a:xfrm>
          <a:prstGeom prst="wedgeRectCallout">
            <a:avLst>
              <a:gd name="adj1" fmla="val 69175"/>
              <a:gd name="adj2" fmla="val 92737"/>
            </a:avLst>
          </a:prstGeom>
          <a:solidFill>
            <a:srgbClr val="00B050">
              <a:alpha val="50195"/>
            </a:srgbClr>
          </a:solidFill>
          <a:ln w="28575">
            <a:solidFill>
              <a:srgbClr val="00FF00"/>
            </a:solidFill>
            <a:miter lim="800000"/>
            <a:headEnd/>
            <a:tailEnd/>
          </a:ln>
        </p:spPr>
        <p:txBody>
          <a:bodyPr/>
          <a:lstStyle/>
          <a:p>
            <a:pPr eaLnBrk="0" hangingPunct="0"/>
            <a:r>
              <a:rPr kumimoji="0" lang="en-US" altLang="zh-TW" dirty="0">
                <a:latin typeface="Times New Roman" pitchFamily="18" charset="0"/>
              </a:rPr>
              <a:t>Unformatted section</a:t>
            </a:r>
          </a:p>
        </p:txBody>
      </p:sp>
      <p:sp>
        <p:nvSpPr>
          <p:cNvPr id="14" name="Rectangle 16">
            <a:extLst>
              <a:ext uri="{FF2B5EF4-FFF2-40B4-BE49-F238E27FC236}">
                <a16:creationId xmlns:a16="http://schemas.microsoft.com/office/drawing/2014/main" id="{32F2F72C-90AC-451F-8074-C5A5A8BBAF18}"/>
              </a:ext>
            </a:extLst>
          </p:cNvPr>
          <p:cNvSpPr>
            <a:spLocks noChangeArrowheads="1"/>
          </p:cNvSpPr>
          <p:nvPr/>
        </p:nvSpPr>
        <p:spPr bwMode="auto">
          <a:xfrm>
            <a:off x="3335215" y="1620085"/>
            <a:ext cx="1524000" cy="228600"/>
          </a:xfrm>
          <a:prstGeom prst="rect">
            <a:avLst/>
          </a:prstGeom>
          <a:noFill/>
          <a:ln w="25400">
            <a:solidFill>
              <a:srgbClr val="FFFF00"/>
            </a:solidFill>
            <a:miter lim="800000"/>
            <a:headEnd type="none" w="sm" len="sm"/>
            <a:tailEnd type="none" w="sm" len="sm"/>
          </a:ln>
        </p:spPr>
        <p:txBody>
          <a:bodyPr wrap="none" anchor="ctr"/>
          <a:lstStyle/>
          <a:p>
            <a:endParaRPr lang="zh-TW" altLang="en-US"/>
          </a:p>
        </p:txBody>
      </p:sp>
      <p:sp>
        <p:nvSpPr>
          <p:cNvPr id="16" name="AutoShape 19">
            <a:extLst>
              <a:ext uri="{FF2B5EF4-FFF2-40B4-BE49-F238E27FC236}">
                <a16:creationId xmlns:a16="http://schemas.microsoft.com/office/drawing/2014/main" id="{3FF2041D-EAAA-4CE1-BBA9-32CEAD0F3483}"/>
              </a:ext>
            </a:extLst>
          </p:cNvPr>
          <p:cNvSpPr>
            <a:spLocks noChangeArrowheads="1"/>
          </p:cNvSpPr>
          <p:nvPr/>
        </p:nvSpPr>
        <p:spPr bwMode="auto">
          <a:xfrm>
            <a:off x="838199" y="3001210"/>
            <a:ext cx="1752600" cy="387350"/>
          </a:xfrm>
          <a:prstGeom prst="wedgeRectCallout">
            <a:avLst>
              <a:gd name="adj1" fmla="val 90976"/>
              <a:gd name="adj2" fmla="val 238311"/>
            </a:avLst>
          </a:prstGeom>
          <a:solidFill>
            <a:srgbClr val="FFFF99">
              <a:alpha val="50195"/>
            </a:srgbClr>
          </a:solidFill>
          <a:ln w="28575">
            <a:solidFill>
              <a:srgbClr val="FFFF00"/>
            </a:solidFill>
            <a:miter lim="800000"/>
            <a:headEnd/>
            <a:tailEnd/>
          </a:ln>
        </p:spPr>
        <p:txBody>
          <a:bodyPr/>
          <a:lstStyle/>
          <a:p>
            <a:pPr eaLnBrk="0" hangingPunct="0"/>
            <a:r>
              <a:rPr kumimoji="0" lang="en-US" altLang="zh-TW" dirty="0">
                <a:solidFill>
                  <a:srgbClr val="FF5050"/>
                </a:solidFill>
                <a:latin typeface="Times New Roman" pitchFamily="18" charset="0"/>
              </a:rPr>
              <a:t>Header</a:t>
            </a:r>
            <a:r>
              <a:rPr kumimoji="0" lang="en-US" altLang="zh-TW" dirty="0">
                <a:latin typeface="Times New Roman" pitchFamily="18" charset="0"/>
              </a:rPr>
              <a:t> (4 byte)</a:t>
            </a:r>
          </a:p>
        </p:txBody>
      </p:sp>
      <p:sp>
        <p:nvSpPr>
          <p:cNvPr id="19" name="AutoShape 23">
            <a:extLst>
              <a:ext uri="{FF2B5EF4-FFF2-40B4-BE49-F238E27FC236}">
                <a16:creationId xmlns:a16="http://schemas.microsoft.com/office/drawing/2014/main" id="{AAB49971-3305-4164-A859-5280B386991A}"/>
              </a:ext>
            </a:extLst>
          </p:cNvPr>
          <p:cNvSpPr>
            <a:spLocks noChangeArrowheads="1"/>
          </p:cNvSpPr>
          <p:nvPr/>
        </p:nvSpPr>
        <p:spPr bwMode="auto">
          <a:xfrm>
            <a:off x="937846" y="4427229"/>
            <a:ext cx="1752600" cy="387350"/>
          </a:xfrm>
          <a:prstGeom prst="wedgeRectCallout">
            <a:avLst>
              <a:gd name="adj1" fmla="val 79597"/>
              <a:gd name="adj2" fmla="val 85061"/>
            </a:avLst>
          </a:prstGeom>
          <a:solidFill>
            <a:srgbClr val="0070C0">
              <a:alpha val="50195"/>
            </a:srgbClr>
          </a:solidFill>
          <a:ln w="28575">
            <a:solidFill>
              <a:srgbClr val="99CCFF"/>
            </a:solidFill>
            <a:miter lim="800000"/>
            <a:headEnd/>
            <a:tailEnd/>
          </a:ln>
        </p:spPr>
        <p:txBody>
          <a:bodyPr/>
          <a:lstStyle/>
          <a:p>
            <a:pPr eaLnBrk="0" hangingPunct="0"/>
            <a:r>
              <a:rPr lang="en-US" altLang="zh-TW" sz="1600"/>
              <a:t>Remaining data</a:t>
            </a:r>
          </a:p>
        </p:txBody>
      </p:sp>
      <p:sp>
        <p:nvSpPr>
          <p:cNvPr id="20" name="AutoShape 24">
            <a:extLst>
              <a:ext uri="{FF2B5EF4-FFF2-40B4-BE49-F238E27FC236}">
                <a16:creationId xmlns:a16="http://schemas.microsoft.com/office/drawing/2014/main" id="{DD9995F4-B2A6-4E60-B013-AFAD9C3654FC}"/>
              </a:ext>
            </a:extLst>
          </p:cNvPr>
          <p:cNvSpPr>
            <a:spLocks noChangeArrowheads="1"/>
          </p:cNvSpPr>
          <p:nvPr/>
        </p:nvSpPr>
        <p:spPr bwMode="auto">
          <a:xfrm>
            <a:off x="9164516" y="4058485"/>
            <a:ext cx="1752600" cy="387350"/>
          </a:xfrm>
          <a:prstGeom prst="wedgeRectCallout">
            <a:avLst>
              <a:gd name="adj1" fmla="val -204600"/>
              <a:gd name="adj2" fmla="val -88393"/>
            </a:avLst>
          </a:prstGeom>
          <a:solidFill>
            <a:srgbClr val="FF6699">
              <a:alpha val="50195"/>
            </a:srgbClr>
          </a:solidFill>
          <a:ln w="28575">
            <a:solidFill>
              <a:srgbClr val="FF6699"/>
            </a:solidFill>
            <a:miter lim="800000"/>
            <a:headEnd/>
            <a:tailEnd/>
          </a:ln>
        </p:spPr>
        <p:txBody>
          <a:bodyPr/>
          <a:lstStyle/>
          <a:p>
            <a:pPr eaLnBrk="0" hangingPunct="0"/>
            <a:r>
              <a:rPr kumimoji="0" lang="en-US" altLang="zh-TW">
                <a:latin typeface="Times New Roman" pitchFamily="18" charset="0"/>
              </a:rPr>
              <a:t>End</a:t>
            </a:r>
            <a:r>
              <a:rPr kumimoji="0" lang="en-US" altLang="zh-TW" b="1">
                <a:latin typeface="Times New Roman" pitchFamily="18" charset="0"/>
              </a:rPr>
              <a:t> </a:t>
            </a:r>
            <a:r>
              <a:rPr kumimoji="0" lang="en-US" altLang="zh-TW">
                <a:latin typeface="Times New Roman" pitchFamily="18" charset="0"/>
              </a:rPr>
              <a:t>→ “</a:t>
            </a:r>
            <a:r>
              <a:rPr kumimoji="0" lang="en-US" altLang="zh-TW" b="1">
                <a:latin typeface="Times New Roman" pitchFamily="18" charset="0"/>
              </a:rPr>
              <a:t>00 00</a:t>
            </a:r>
            <a:r>
              <a:rPr kumimoji="0" lang="en-US" altLang="zh-TW">
                <a:latin typeface="Times New Roman" pitchFamily="18" charset="0"/>
              </a:rPr>
              <a:t>”</a:t>
            </a:r>
          </a:p>
        </p:txBody>
      </p:sp>
      <p:sp>
        <p:nvSpPr>
          <p:cNvPr id="4" name="Rectangle 3">
            <a:extLst>
              <a:ext uri="{FF2B5EF4-FFF2-40B4-BE49-F238E27FC236}">
                <a16:creationId xmlns:a16="http://schemas.microsoft.com/office/drawing/2014/main" id="{D2500E0F-0F7A-44D6-B572-4CE825E026B7}"/>
              </a:ext>
            </a:extLst>
          </p:cNvPr>
          <p:cNvSpPr/>
          <p:nvPr/>
        </p:nvSpPr>
        <p:spPr>
          <a:xfrm>
            <a:off x="3344359" y="4049342"/>
            <a:ext cx="5717345" cy="765238"/>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6">
            <a:extLst>
              <a:ext uri="{FF2B5EF4-FFF2-40B4-BE49-F238E27FC236}">
                <a16:creationId xmlns:a16="http://schemas.microsoft.com/office/drawing/2014/main" id="{271FC7F0-7C3D-48ED-AF5E-0961CF3E68F3}"/>
              </a:ext>
            </a:extLst>
          </p:cNvPr>
          <p:cNvSpPr>
            <a:spLocks noChangeArrowheads="1"/>
          </p:cNvSpPr>
          <p:nvPr/>
        </p:nvSpPr>
        <p:spPr bwMode="auto">
          <a:xfrm>
            <a:off x="3344359" y="4825320"/>
            <a:ext cx="5717345" cy="267888"/>
          </a:xfrm>
          <a:prstGeom prst="rect">
            <a:avLst/>
          </a:prstGeom>
          <a:noFill/>
          <a:ln w="25400">
            <a:solidFill>
              <a:srgbClr val="0070C0"/>
            </a:solidFill>
            <a:miter lim="800000"/>
            <a:headEnd type="none" w="sm" len="sm"/>
            <a:tailEnd type="none" w="sm" len="sm"/>
          </a:ln>
        </p:spPr>
        <p:txBody>
          <a:bodyPr wrap="none" anchor="ctr"/>
          <a:lstStyle/>
          <a:p>
            <a:endParaRPr lang="zh-TW" altLang="en-US"/>
          </a:p>
        </p:txBody>
      </p:sp>
      <p:sp>
        <p:nvSpPr>
          <p:cNvPr id="47" name="Rectangle 16">
            <a:extLst>
              <a:ext uri="{FF2B5EF4-FFF2-40B4-BE49-F238E27FC236}">
                <a16:creationId xmlns:a16="http://schemas.microsoft.com/office/drawing/2014/main" id="{EC4BABBF-FEF0-4C8A-A610-919F70CC54C1}"/>
              </a:ext>
            </a:extLst>
          </p:cNvPr>
          <p:cNvSpPr>
            <a:spLocks noChangeArrowheads="1"/>
          </p:cNvSpPr>
          <p:nvPr/>
        </p:nvSpPr>
        <p:spPr bwMode="auto">
          <a:xfrm>
            <a:off x="5570571" y="3779610"/>
            <a:ext cx="380297" cy="228600"/>
          </a:xfrm>
          <a:prstGeom prst="rect">
            <a:avLst/>
          </a:prstGeom>
          <a:noFill/>
          <a:ln w="25400">
            <a:solidFill>
              <a:srgbClr val="FF0000"/>
            </a:solidFill>
            <a:miter lim="800000"/>
            <a:headEnd type="none" w="sm" len="sm"/>
            <a:tailEnd type="none" w="sm" len="sm"/>
          </a:ln>
        </p:spPr>
        <p:txBody>
          <a:bodyPr wrap="none" anchor="ctr"/>
          <a:lstStyle/>
          <a:p>
            <a:endParaRPr lang="zh-TW" altLang="en-US"/>
          </a:p>
        </p:txBody>
      </p:sp>
      <p:sp>
        <p:nvSpPr>
          <p:cNvPr id="48" name="Rectangle 16">
            <a:extLst>
              <a:ext uri="{FF2B5EF4-FFF2-40B4-BE49-F238E27FC236}">
                <a16:creationId xmlns:a16="http://schemas.microsoft.com/office/drawing/2014/main" id="{6ECE1D5D-F0E4-45C9-96A3-AAC03E28256F}"/>
              </a:ext>
            </a:extLst>
          </p:cNvPr>
          <p:cNvSpPr>
            <a:spLocks noChangeArrowheads="1"/>
          </p:cNvSpPr>
          <p:nvPr/>
        </p:nvSpPr>
        <p:spPr bwMode="auto">
          <a:xfrm>
            <a:off x="5954971" y="3779610"/>
            <a:ext cx="380297" cy="228600"/>
          </a:xfrm>
          <a:prstGeom prst="rect">
            <a:avLst/>
          </a:prstGeom>
          <a:noFill/>
          <a:ln w="25400">
            <a:solidFill>
              <a:srgbClr val="FF0000"/>
            </a:solidFill>
            <a:miter lim="800000"/>
            <a:headEnd type="none" w="sm" len="sm"/>
            <a:tailEnd type="none" w="sm" len="sm"/>
          </a:ln>
        </p:spPr>
        <p:txBody>
          <a:bodyPr wrap="none" anchor="ctr"/>
          <a:lstStyle/>
          <a:p>
            <a:endParaRPr lang="zh-TW" altLang="en-US"/>
          </a:p>
        </p:txBody>
      </p:sp>
      <p:sp>
        <p:nvSpPr>
          <p:cNvPr id="53" name="Rectangle 52">
            <a:extLst>
              <a:ext uri="{FF2B5EF4-FFF2-40B4-BE49-F238E27FC236}">
                <a16:creationId xmlns:a16="http://schemas.microsoft.com/office/drawing/2014/main" id="{D7C97B8F-AEBE-4476-9A90-C21E6BA2F583}"/>
              </a:ext>
            </a:extLst>
          </p:cNvPr>
          <p:cNvSpPr/>
          <p:nvPr/>
        </p:nvSpPr>
        <p:spPr>
          <a:xfrm>
            <a:off x="3563814" y="6157971"/>
            <a:ext cx="7005126" cy="31089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16">
            <a:extLst>
              <a:ext uri="{FF2B5EF4-FFF2-40B4-BE49-F238E27FC236}">
                <a16:creationId xmlns:a16="http://schemas.microsoft.com/office/drawing/2014/main" id="{0D4DFA5B-E4AE-4E03-AF03-70367E032302}"/>
              </a:ext>
            </a:extLst>
          </p:cNvPr>
          <p:cNvSpPr>
            <a:spLocks noChangeArrowheads="1"/>
          </p:cNvSpPr>
          <p:nvPr/>
        </p:nvSpPr>
        <p:spPr bwMode="auto">
          <a:xfrm>
            <a:off x="4841631" y="1620085"/>
            <a:ext cx="407025" cy="228600"/>
          </a:xfrm>
          <a:prstGeom prst="rect">
            <a:avLst/>
          </a:prstGeom>
          <a:noFill/>
          <a:ln w="25400">
            <a:solidFill>
              <a:srgbClr val="0070C0"/>
            </a:solidFill>
            <a:miter lim="800000"/>
            <a:headEnd type="none" w="sm" len="sm"/>
            <a:tailEnd type="none" w="sm" len="sm"/>
          </a:ln>
        </p:spPr>
        <p:txBody>
          <a:bodyPr wrap="none" anchor="ctr"/>
          <a:lstStyle/>
          <a:p>
            <a:endParaRPr lang="zh-TW" altLang="en-US"/>
          </a:p>
        </p:txBody>
      </p:sp>
      <p:sp>
        <p:nvSpPr>
          <p:cNvPr id="59" name="Freeform: Shape 58">
            <a:extLst>
              <a:ext uri="{FF2B5EF4-FFF2-40B4-BE49-F238E27FC236}">
                <a16:creationId xmlns:a16="http://schemas.microsoft.com/office/drawing/2014/main" id="{C2B65947-C3FA-4DA6-8CAD-1E8EB29D3EEE}"/>
              </a:ext>
            </a:extLst>
          </p:cNvPr>
          <p:cNvSpPr/>
          <p:nvPr/>
        </p:nvSpPr>
        <p:spPr>
          <a:xfrm>
            <a:off x="3364992" y="1600200"/>
            <a:ext cx="5998464" cy="832104"/>
          </a:xfrm>
          <a:custGeom>
            <a:avLst/>
            <a:gdLst>
              <a:gd name="connsiteX0" fmla="*/ 1901952 w 5998464"/>
              <a:gd name="connsiteY0" fmla="*/ 27432 h 832104"/>
              <a:gd name="connsiteX1" fmla="*/ 5998464 w 5998464"/>
              <a:gd name="connsiteY1" fmla="*/ 0 h 832104"/>
              <a:gd name="connsiteX2" fmla="*/ 5998464 w 5998464"/>
              <a:gd name="connsiteY2" fmla="*/ 832104 h 832104"/>
              <a:gd name="connsiteX3" fmla="*/ 0 w 5998464"/>
              <a:gd name="connsiteY3" fmla="*/ 832104 h 832104"/>
              <a:gd name="connsiteX4" fmla="*/ 0 w 5998464"/>
              <a:gd name="connsiteY4" fmla="*/ 265176 h 832104"/>
              <a:gd name="connsiteX5" fmla="*/ 1929384 w 5998464"/>
              <a:gd name="connsiteY5" fmla="*/ 265176 h 832104"/>
              <a:gd name="connsiteX6" fmla="*/ 1901952 w 5998464"/>
              <a:gd name="connsiteY6" fmla="*/ 27432 h 83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8464" h="832104">
                <a:moveTo>
                  <a:pt x="1901952" y="27432"/>
                </a:moveTo>
                <a:lnTo>
                  <a:pt x="5998464" y="0"/>
                </a:lnTo>
                <a:lnTo>
                  <a:pt x="5998464" y="832104"/>
                </a:lnTo>
                <a:lnTo>
                  <a:pt x="0" y="832104"/>
                </a:lnTo>
                <a:lnTo>
                  <a:pt x="0" y="265176"/>
                </a:lnTo>
                <a:lnTo>
                  <a:pt x="1929384" y="265176"/>
                </a:lnTo>
                <a:lnTo>
                  <a:pt x="1901952" y="27432"/>
                </a:lnTo>
                <a:close/>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B39CF228-40C5-4AB6-854E-DDD7818F9F09}"/>
              </a:ext>
            </a:extLst>
          </p:cNvPr>
          <p:cNvSpPr/>
          <p:nvPr/>
        </p:nvSpPr>
        <p:spPr>
          <a:xfrm>
            <a:off x="3563814" y="5082467"/>
            <a:ext cx="7088945" cy="31089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16">
            <a:extLst>
              <a:ext uri="{FF2B5EF4-FFF2-40B4-BE49-F238E27FC236}">
                <a16:creationId xmlns:a16="http://schemas.microsoft.com/office/drawing/2014/main" id="{91A360AE-045E-42C2-9DDD-F2C5D1B6EE24}"/>
              </a:ext>
            </a:extLst>
          </p:cNvPr>
          <p:cNvSpPr>
            <a:spLocks noChangeArrowheads="1"/>
          </p:cNvSpPr>
          <p:nvPr/>
        </p:nvSpPr>
        <p:spPr bwMode="auto">
          <a:xfrm>
            <a:off x="3335215" y="2445156"/>
            <a:ext cx="380297" cy="228600"/>
          </a:xfrm>
          <a:prstGeom prst="rect">
            <a:avLst/>
          </a:prstGeom>
          <a:noFill/>
          <a:ln w="25400">
            <a:solidFill>
              <a:srgbClr val="FF0000"/>
            </a:solidFill>
            <a:miter lim="800000"/>
            <a:headEnd type="none" w="sm" len="sm"/>
            <a:tailEnd type="none" w="sm" len="sm"/>
          </a:ln>
        </p:spPr>
        <p:txBody>
          <a:bodyPr wrap="none" anchor="ctr"/>
          <a:lstStyle/>
          <a:p>
            <a:endParaRPr lang="zh-TW" altLang="en-US"/>
          </a:p>
        </p:txBody>
      </p:sp>
      <p:sp>
        <p:nvSpPr>
          <p:cNvPr id="63" name="Rectangle 62">
            <a:extLst>
              <a:ext uri="{FF2B5EF4-FFF2-40B4-BE49-F238E27FC236}">
                <a16:creationId xmlns:a16="http://schemas.microsoft.com/office/drawing/2014/main" id="{75C09841-5049-4ED4-9628-3BD0A1357D54}"/>
              </a:ext>
            </a:extLst>
          </p:cNvPr>
          <p:cNvSpPr/>
          <p:nvPr/>
        </p:nvSpPr>
        <p:spPr>
          <a:xfrm>
            <a:off x="3563814" y="5366119"/>
            <a:ext cx="3257610" cy="31089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16">
            <a:extLst>
              <a:ext uri="{FF2B5EF4-FFF2-40B4-BE49-F238E27FC236}">
                <a16:creationId xmlns:a16="http://schemas.microsoft.com/office/drawing/2014/main" id="{A6A5F924-CF0C-41F9-A4F0-9C9F740B9D2B}"/>
              </a:ext>
            </a:extLst>
          </p:cNvPr>
          <p:cNvSpPr>
            <a:spLocks noChangeArrowheads="1"/>
          </p:cNvSpPr>
          <p:nvPr/>
        </p:nvSpPr>
        <p:spPr bwMode="auto">
          <a:xfrm>
            <a:off x="8635463" y="2445156"/>
            <a:ext cx="380297" cy="228600"/>
          </a:xfrm>
          <a:prstGeom prst="rect">
            <a:avLst/>
          </a:prstGeom>
          <a:noFill/>
          <a:ln w="25400">
            <a:solidFill>
              <a:srgbClr val="FF0000"/>
            </a:solidFill>
            <a:miter lim="800000"/>
            <a:headEnd type="none" w="sm" len="sm"/>
            <a:tailEnd type="none" w="sm" len="sm"/>
          </a:ln>
        </p:spPr>
        <p:txBody>
          <a:bodyPr wrap="none" anchor="ctr"/>
          <a:lstStyle/>
          <a:p>
            <a:endParaRPr lang="zh-TW" altLang="en-US"/>
          </a:p>
        </p:txBody>
      </p:sp>
      <p:sp>
        <p:nvSpPr>
          <p:cNvPr id="68" name="Rectangle 67">
            <a:extLst>
              <a:ext uri="{FF2B5EF4-FFF2-40B4-BE49-F238E27FC236}">
                <a16:creationId xmlns:a16="http://schemas.microsoft.com/office/drawing/2014/main" id="{5ED2D9DC-92DE-466C-BCDB-93122226E424}"/>
              </a:ext>
            </a:extLst>
          </p:cNvPr>
          <p:cNvSpPr/>
          <p:nvPr/>
        </p:nvSpPr>
        <p:spPr>
          <a:xfrm>
            <a:off x="3563814" y="5586405"/>
            <a:ext cx="3257610" cy="31089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a:extLst>
              <a:ext uri="{FF2B5EF4-FFF2-40B4-BE49-F238E27FC236}">
                <a16:creationId xmlns:a16="http://schemas.microsoft.com/office/drawing/2014/main" id="{1E890C6D-75C7-41C7-B13B-1A9162AA740F}"/>
              </a:ext>
            </a:extLst>
          </p:cNvPr>
          <p:cNvSpPr/>
          <p:nvPr/>
        </p:nvSpPr>
        <p:spPr>
          <a:xfrm>
            <a:off x="3713356" y="2419815"/>
            <a:ext cx="4917688" cy="245326"/>
          </a:xfrm>
          <a:custGeom>
            <a:avLst/>
            <a:gdLst>
              <a:gd name="connsiteX0" fmla="*/ 0 w 4917688"/>
              <a:gd name="connsiteY0" fmla="*/ 0 h 245326"/>
              <a:gd name="connsiteX1" fmla="*/ 4917688 w 4917688"/>
              <a:gd name="connsiteY1" fmla="*/ 0 h 245326"/>
              <a:gd name="connsiteX2" fmla="*/ 4917688 w 4917688"/>
              <a:gd name="connsiteY2" fmla="*/ 245326 h 245326"/>
              <a:gd name="connsiteX3" fmla="*/ 55756 w 4917688"/>
              <a:gd name="connsiteY3" fmla="*/ 245326 h 245326"/>
              <a:gd name="connsiteX4" fmla="*/ 0 w 4917688"/>
              <a:gd name="connsiteY4" fmla="*/ 0 h 245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7688" h="245326">
                <a:moveTo>
                  <a:pt x="0" y="0"/>
                </a:moveTo>
                <a:lnTo>
                  <a:pt x="4917688" y="0"/>
                </a:lnTo>
                <a:lnTo>
                  <a:pt x="4917688" y="245326"/>
                </a:lnTo>
                <a:lnTo>
                  <a:pt x="55756" y="245326"/>
                </a:lnTo>
                <a:lnTo>
                  <a:pt x="0" y="0"/>
                </a:lnTo>
                <a:close/>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Shape 71">
            <a:extLst>
              <a:ext uri="{FF2B5EF4-FFF2-40B4-BE49-F238E27FC236}">
                <a16:creationId xmlns:a16="http://schemas.microsoft.com/office/drawing/2014/main" id="{9D110F57-6976-4086-9410-909EB7B06689}"/>
              </a:ext>
            </a:extLst>
          </p:cNvPr>
          <p:cNvSpPr/>
          <p:nvPr/>
        </p:nvSpPr>
        <p:spPr>
          <a:xfrm>
            <a:off x="3367668" y="2419815"/>
            <a:ext cx="6043961" cy="546409"/>
          </a:xfrm>
          <a:custGeom>
            <a:avLst/>
            <a:gdLst>
              <a:gd name="connsiteX0" fmla="*/ 5664820 w 6043961"/>
              <a:gd name="connsiteY0" fmla="*/ 0 h 546409"/>
              <a:gd name="connsiteX1" fmla="*/ 5664820 w 6043961"/>
              <a:gd name="connsiteY1" fmla="*/ 312234 h 546409"/>
              <a:gd name="connsiteX2" fmla="*/ 0 w 6043961"/>
              <a:gd name="connsiteY2" fmla="*/ 312234 h 546409"/>
              <a:gd name="connsiteX3" fmla="*/ 0 w 6043961"/>
              <a:gd name="connsiteY3" fmla="*/ 546409 h 546409"/>
              <a:gd name="connsiteX4" fmla="*/ 4527395 w 6043961"/>
              <a:gd name="connsiteY4" fmla="*/ 546409 h 546409"/>
              <a:gd name="connsiteX5" fmla="*/ 4527395 w 6043961"/>
              <a:gd name="connsiteY5" fmla="*/ 312234 h 546409"/>
              <a:gd name="connsiteX6" fmla="*/ 6043961 w 6043961"/>
              <a:gd name="connsiteY6" fmla="*/ 312234 h 546409"/>
              <a:gd name="connsiteX7" fmla="*/ 6043961 w 6043961"/>
              <a:gd name="connsiteY7" fmla="*/ 0 h 546409"/>
              <a:gd name="connsiteX8" fmla="*/ 5664820 w 6043961"/>
              <a:gd name="connsiteY8" fmla="*/ 0 h 54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3961" h="546409">
                <a:moveTo>
                  <a:pt x="5664820" y="0"/>
                </a:moveTo>
                <a:lnTo>
                  <a:pt x="5664820" y="312234"/>
                </a:lnTo>
                <a:lnTo>
                  <a:pt x="0" y="312234"/>
                </a:lnTo>
                <a:lnTo>
                  <a:pt x="0" y="546409"/>
                </a:lnTo>
                <a:lnTo>
                  <a:pt x="4527395" y="546409"/>
                </a:lnTo>
                <a:lnTo>
                  <a:pt x="4527395" y="312234"/>
                </a:lnTo>
                <a:lnTo>
                  <a:pt x="6043961" y="312234"/>
                </a:lnTo>
                <a:lnTo>
                  <a:pt x="6043961" y="0"/>
                </a:lnTo>
                <a:lnTo>
                  <a:pt x="5664820" y="0"/>
                </a:lnTo>
                <a:close/>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16">
            <a:extLst>
              <a:ext uri="{FF2B5EF4-FFF2-40B4-BE49-F238E27FC236}">
                <a16:creationId xmlns:a16="http://schemas.microsoft.com/office/drawing/2014/main" id="{7DF81DA9-2902-4999-AE6B-17DB82306FEB}"/>
              </a:ext>
            </a:extLst>
          </p:cNvPr>
          <p:cNvSpPr>
            <a:spLocks noChangeArrowheads="1"/>
          </p:cNvSpPr>
          <p:nvPr/>
        </p:nvSpPr>
        <p:spPr bwMode="auto">
          <a:xfrm>
            <a:off x="7868763" y="2721608"/>
            <a:ext cx="380297" cy="228600"/>
          </a:xfrm>
          <a:prstGeom prst="rect">
            <a:avLst/>
          </a:prstGeom>
          <a:noFill/>
          <a:ln w="25400">
            <a:solidFill>
              <a:srgbClr val="FF0000"/>
            </a:solidFill>
            <a:miter lim="800000"/>
            <a:headEnd type="none" w="sm" len="sm"/>
            <a:tailEnd type="none" w="sm" len="sm"/>
          </a:ln>
        </p:spPr>
        <p:txBody>
          <a:bodyPr wrap="none" anchor="ctr"/>
          <a:lstStyle/>
          <a:p>
            <a:endParaRPr lang="zh-TW" altLang="en-US"/>
          </a:p>
        </p:txBody>
      </p:sp>
      <p:sp>
        <p:nvSpPr>
          <p:cNvPr id="82" name="Freeform: Shape 81">
            <a:extLst>
              <a:ext uri="{FF2B5EF4-FFF2-40B4-BE49-F238E27FC236}">
                <a16:creationId xmlns:a16="http://schemas.microsoft.com/office/drawing/2014/main" id="{082B9634-3620-4304-A41A-26474114851F}"/>
              </a:ext>
            </a:extLst>
          </p:cNvPr>
          <p:cNvSpPr/>
          <p:nvPr/>
        </p:nvSpPr>
        <p:spPr>
          <a:xfrm>
            <a:off x="3375660" y="2689860"/>
            <a:ext cx="5951220" cy="495300"/>
          </a:xfrm>
          <a:custGeom>
            <a:avLst/>
            <a:gdLst>
              <a:gd name="connsiteX0" fmla="*/ 4907280 w 5951220"/>
              <a:gd name="connsiteY0" fmla="*/ 30480 h 495300"/>
              <a:gd name="connsiteX1" fmla="*/ 4907280 w 5951220"/>
              <a:gd name="connsiteY1" fmla="*/ 304800 h 495300"/>
              <a:gd name="connsiteX2" fmla="*/ 0 w 5951220"/>
              <a:gd name="connsiteY2" fmla="*/ 304800 h 495300"/>
              <a:gd name="connsiteX3" fmla="*/ 0 w 5951220"/>
              <a:gd name="connsiteY3" fmla="*/ 495300 h 495300"/>
              <a:gd name="connsiteX4" fmla="*/ 3810000 w 5951220"/>
              <a:gd name="connsiteY4" fmla="*/ 495300 h 495300"/>
              <a:gd name="connsiteX5" fmla="*/ 3810000 w 5951220"/>
              <a:gd name="connsiteY5" fmla="*/ 312420 h 495300"/>
              <a:gd name="connsiteX6" fmla="*/ 5951220 w 5951220"/>
              <a:gd name="connsiteY6" fmla="*/ 312420 h 495300"/>
              <a:gd name="connsiteX7" fmla="*/ 5951220 w 5951220"/>
              <a:gd name="connsiteY7" fmla="*/ 0 h 495300"/>
              <a:gd name="connsiteX8" fmla="*/ 4907280 w 5951220"/>
              <a:gd name="connsiteY8" fmla="*/ 3048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51220" h="495300">
                <a:moveTo>
                  <a:pt x="4907280" y="30480"/>
                </a:moveTo>
                <a:lnTo>
                  <a:pt x="4907280" y="304800"/>
                </a:lnTo>
                <a:lnTo>
                  <a:pt x="0" y="304800"/>
                </a:lnTo>
                <a:lnTo>
                  <a:pt x="0" y="495300"/>
                </a:lnTo>
                <a:lnTo>
                  <a:pt x="3810000" y="495300"/>
                </a:lnTo>
                <a:lnTo>
                  <a:pt x="3810000" y="312420"/>
                </a:lnTo>
                <a:lnTo>
                  <a:pt x="5951220" y="312420"/>
                </a:lnTo>
                <a:lnTo>
                  <a:pt x="5951220" y="0"/>
                </a:lnTo>
                <a:lnTo>
                  <a:pt x="4907280" y="30480"/>
                </a:lnTo>
                <a:close/>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13300DCB-FCDD-4F19-A099-699CEFC7A903}"/>
              </a:ext>
            </a:extLst>
          </p:cNvPr>
          <p:cNvSpPr/>
          <p:nvPr/>
        </p:nvSpPr>
        <p:spPr>
          <a:xfrm>
            <a:off x="3563814" y="5876807"/>
            <a:ext cx="3257610" cy="31089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16">
            <a:extLst>
              <a:ext uri="{FF2B5EF4-FFF2-40B4-BE49-F238E27FC236}">
                <a16:creationId xmlns:a16="http://schemas.microsoft.com/office/drawing/2014/main" id="{F85DD8B6-75AD-4C58-9A93-9C9E7AB2AFD3}"/>
              </a:ext>
            </a:extLst>
          </p:cNvPr>
          <p:cNvSpPr>
            <a:spLocks noChangeArrowheads="1"/>
          </p:cNvSpPr>
          <p:nvPr/>
        </p:nvSpPr>
        <p:spPr bwMode="auto">
          <a:xfrm>
            <a:off x="7108286" y="2978859"/>
            <a:ext cx="380297" cy="228600"/>
          </a:xfrm>
          <a:prstGeom prst="rect">
            <a:avLst/>
          </a:prstGeom>
          <a:noFill/>
          <a:ln w="25400">
            <a:solidFill>
              <a:srgbClr val="FF0000"/>
            </a:solidFill>
            <a:miter lim="800000"/>
            <a:headEnd type="none" w="sm" len="sm"/>
            <a:tailEnd type="none" w="sm" len="sm"/>
          </a:ln>
        </p:spPr>
        <p:txBody>
          <a:bodyPr wrap="none" anchor="ctr"/>
          <a:lstStyle/>
          <a:p>
            <a:endParaRPr lang="zh-TW" altLang="en-US"/>
          </a:p>
        </p:txBody>
      </p:sp>
      <p:sp>
        <p:nvSpPr>
          <p:cNvPr id="86" name="Freeform: Shape 85">
            <a:extLst>
              <a:ext uri="{FF2B5EF4-FFF2-40B4-BE49-F238E27FC236}">
                <a16:creationId xmlns:a16="http://schemas.microsoft.com/office/drawing/2014/main" id="{4FF8E077-0772-4505-BD92-BEE57FD6B7ED}"/>
              </a:ext>
            </a:extLst>
          </p:cNvPr>
          <p:cNvSpPr/>
          <p:nvPr/>
        </p:nvSpPr>
        <p:spPr>
          <a:xfrm>
            <a:off x="3368040" y="2956560"/>
            <a:ext cx="5958840" cy="1059180"/>
          </a:xfrm>
          <a:custGeom>
            <a:avLst/>
            <a:gdLst>
              <a:gd name="connsiteX0" fmla="*/ 4137660 w 5958840"/>
              <a:gd name="connsiteY0" fmla="*/ 22860 h 1059180"/>
              <a:gd name="connsiteX1" fmla="*/ 4137660 w 5958840"/>
              <a:gd name="connsiteY1" fmla="*/ 274320 h 1059180"/>
              <a:gd name="connsiteX2" fmla="*/ 0 w 5958840"/>
              <a:gd name="connsiteY2" fmla="*/ 274320 h 1059180"/>
              <a:gd name="connsiteX3" fmla="*/ 0 w 5958840"/>
              <a:gd name="connsiteY3" fmla="*/ 1059180 h 1059180"/>
              <a:gd name="connsiteX4" fmla="*/ 2171700 w 5958840"/>
              <a:gd name="connsiteY4" fmla="*/ 1059180 h 1059180"/>
              <a:gd name="connsiteX5" fmla="*/ 2171700 w 5958840"/>
              <a:gd name="connsiteY5" fmla="*/ 777240 h 1059180"/>
              <a:gd name="connsiteX6" fmla="*/ 5958840 w 5958840"/>
              <a:gd name="connsiteY6" fmla="*/ 777240 h 1059180"/>
              <a:gd name="connsiteX7" fmla="*/ 5958840 w 5958840"/>
              <a:gd name="connsiteY7" fmla="*/ 0 h 1059180"/>
              <a:gd name="connsiteX8" fmla="*/ 4137660 w 5958840"/>
              <a:gd name="connsiteY8" fmla="*/ 22860 h 105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58840" h="1059180">
                <a:moveTo>
                  <a:pt x="4137660" y="22860"/>
                </a:moveTo>
                <a:lnTo>
                  <a:pt x="4137660" y="274320"/>
                </a:lnTo>
                <a:lnTo>
                  <a:pt x="0" y="274320"/>
                </a:lnTo>
                <a:lnTo>
                  <a:pt x="0" y="1059180"/>
                </a:lnTo>
                <a:lnTo>
                  <a:pt x="2171700" y="1059180"/>
                </a:lnTo>
                <a:lnTo>
                  <a:pt x="2171700" y="777240"/>
                </a:lnTo>
                <a:lnTo>
                  <a:pt x="5958840" y="777240"/>
                </a:lnTo>
                <a:lnTo>
                  <a:pt x="5958840" y="0"/>
                </a:lnTo>
                <a:lnTo>
                  <a:pt x="4137660" y="22860"/>
                </a:lnTo>
                <a:close/>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390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59"/>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6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7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6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72"/>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6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82"/>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8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7" grpId="0" animBg="1"/>
      <p:bldP spid="53" grpId="0" animBg="1"/>
      <p:bldP spid="54" grpId="0" animBg="1"/>
      <p:bldP spid="59" grpId="0" animBg="1"/>
      <p:bldP spid="59" grpId="1" animBg="1"/>
      <p:bldP spid="60" grpId="0" animBg="1"/>
      <p:bldP spid="60" grpId="1" animBg="1"/>
      <p:bldP spid="61" grpId="0" animBg="1"/>
      <p:bldP spid="63" grpId="0" animBg="1"/>
      <p:bldP spid="63" grpId="1" animBg="1"/>
      <p:bldP spid="65" grpId="0" animBg="1"/>
      <p:bldP spid="68" grpId="0" animBg="1"/>
      <p:bldP spid="68" grpId="1" animBg="1"/>
      <p:bldP spid="70" grpId="0" animBg="1"/>
      <p:bldP spid="70" grpId="1" animBg="1"/>
      <p:bldP spid="72" grpId="0" animBg="1"/>
      <p:bldP spid="72" grpId="1" animBg="1"/>
      <p:bldP spid="81" grpId="0" animBg="1"/>
      <p:bldP spid="82" grpId="0" animBg="1"/>
      <p:bldP spid="82" grpId="1" animBg="1"/>
      <p:bldP spid="84" grpId="0" animBg="1"/>
      <p:bldP spid="84" grpId="1" animBg="1"/>
      <p:bldP spid="85" grpId="0" animBg="1"/>
      <p:bldP spid="8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11</a:t>
            </a:fld>
            <a:endParaRPr lang="en-US" dirty="0"/>
          </a:p>
        </p:txBody>
      </p:sp>
      <p:sp>
        <p:nvSpPr>
          <p:cNvPr id="2" name="Title 1"/>
          <p:cNvSpPr>
            <a:spLocks noGrp="1"/>
          </p:cNvSpPr>
          <p:nvPr>
            <p:ph type="title"/>
          </p:nvPr>
        </p:nvSpPr>
        <p:spPr/>
        <p:txBody>
          <a:bodyPr/>
          <a:lstStyle/>
          <a:p>
            <a:r>
              <a:rPr lang="en-US" dirty="0"/>
              <a:t>SMBIOS Protocol</a:t>
            </a:r>
          </a:p>
        </p:txBody>
      </p:sp>
    </p:spTree>
    <p:extLst>
      <p:ext uri="{BB962C8B-B14F-4D97-AF65-F5344CB8AC3E}">
        <p14:creationId xmlns:p14="http://schemas.microsoft.com/office/powerpoint/2010/main" val="355602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lnSpcReduction="10000"/>
          </a:bodyPr>
          <a:lstStyle/>
          <a:p>
            <a:pPr eaLnBrk="0" hangingPunct="0">
              <a:spcBef>
                <a:spcPct val="20000"/>
              </a:spcBef>
              <a:buClr>
                <a:srgbClr val="125C0C"/>
              </a:buClr>
            </a:pPr>
            <a:r>
              <a:rPr lang="en-US" altLang="zh-TW" sz="2600" dirty="0">
                <a:solidFill>
                  <a:srgbClr val="404040"/>
                </a:solidFill>
                <a:latin typeface="Tahoma" pitchFamily="34" charset="0"/>
                <a:cs typeface="Tahoma" pitchFamily="34" charset="0"/>
              </a:rPr>
              <a:t>Provide services that allow the OEM engineer to add, remove, or update strings in the SMBIOS table.</a:t>
            </a:r>
          </a:p>
          <a:p>
            <a:pPr eaLnBrk="0" hangingPunct="0">
              <a:spcBef>
                <a:spcPct val="20000"/>
              </a:spcBef>
              <a:buClr>
                <a:srgbClr val="125C0C"/>
              </a:buClr>
            </a:pPr>
            <a:r>
              <a:rPr lang="en-US" altLang="zh-TW" sz="2600" dirty="0">
                <a:solidFill>
                  <a:srgbClr val="404040"/>
                </a:solidFill>
                <a:latin typeface="Tahoma" pitchFamily="34" charset="0"/>
                <a:cs typeface="Tahoma" pitchFamily="34" charset="0"/>
              </a:rPr>
              <a:t>GUID </a:t>
            </a:r>
            <a:r>
              <a:rPr lang="en-US" altLang="zh-TW" sz="2600" dirty="0" err="1">
                <a:solidFill>
                  <a:srgbClr val="404040"/>
                </a:solidFill>
                <a:latin typeface="Tahoma" pitchFamily="34" charset="0"/>
                <a:cs typeface="Tahoma" pitchFamily="34" charset="0"/>
              </a:rPr>
              <a:t>gEfiSmbiosProtocolGuid</a:t>
            </a:r>
            <a:r>
              <a:rPr lang="en-US" altLang="zh-TW" dirty="0"/>
              <a:t> = </a:t>
            </a:r>
          </a:p>
          <a:p>
            <a:pPr marL="0" indent="0" eaLnBrk="0" hangingPunct="0">
              <a:spcBef>
                <a:spcPct val="20000"/>
              </a:spcBef>
              <a:buClr>
                <a:srgbClr val="125C0C"/>
              </a:buClr>
              <a:buNone/>
            </a:pPr>
            <a:r>
              <a:rPr lang="en-US" altLang="zh-TW" dirty="0"/>
              <a:t>	</a:t>
            </a:r>
            <a:r>
              <a:rPr lang="en-US" altLang="zh-TW" sz="2100" dirty="0"/>
              <a:t>{0x3583ff6, 0xcb36, 0x4940, { 0x94, 0x7e, 0xb9, 0xb3, 0x9f, 0x4a, 0xfa, 0xf7}}</a:t>
            </a:r>
            <a:endParaRPr lang="en-US" altLang="zh-TW" sz="2100" dirty="0">
              <a:solidFill>
                <a:srgbClr val="404040"/>
              </a:solidFill>
              <a:latin typeface="Tahoma" pitchFamily="34" charset="0"/>
              <a:cs typeface="Tahoma" pitchFamily="34" charset="0"/>
            </a:endParaRPr>
          </a:p>
          <a:p>
            <a:pPr eaLnBrk="0" hangingPunct="0">
              <a:spcBef>
                <a:spcPct val="20000"/>
              </a:spcBef>
              <a:buClr>
                <a:srgbClr val="125C0C"/>
              </a:buClr>
            </a:pPr>
            <a:r>
              <a:rPr lang="en-US" altLang="zh-TW" sz="2600" dirty="0">
                <a:solidFill>
                  <a:srgbClr val="404040"/>
                </a:solidFill>
                <a:latin typeface="Tahoma" pitchFamily="34" charset="0"/>
                <a:cs typeface="Tahoma" pitchFamily="34" charset="0"/>
              </a:rPr>
              <a:t> Protocol Interface Structure typedef struct </a:t>
            </a:r>
          </a:p>
          <a:p>
            <a:pPr lvl="1"/>
            <a:endParaRPr lang="en-US" altLang="zh-TW" dirty="0"/>
          </a:p>
          <a:p>
            <a:pPr lvl="1"/>
            <a:endParaRPr lang="en-US" altLang="zh-TW" sz="2100" dirty="0"/>
          </a:p>
          <a:p>
            <a:pPr lvl="1"/>
            <a:endParaRPr lang="en-US" altLang="zh-TW" sz="2100" dirty="0"/>
          </a:p>
          <a:p>
            <a:pPr lvl="1"/>
            <a:endParaRPr lang="en-US" altLang="zh-TW" sz="2100" dirty="0"/>
          </a:p>
          <a:p>
            <a:pPr lvl="1"/>
            <a:endParaRPr lang="en-US" altLang="zh-TW" sz="2100" dirty="0"/>
          </a:p>
          <a:p>
            <a:r>
              <a:rPr lang="en-US" altLang="zh-TW" sz="2500" dirty="0"/>
              <a:t>SMBIOS Version</a:t>
            </a:r>
            <a:r>
              <a:rPr lang="en-US" altLang="zh-TW" sz="3000" dirty="0"/>
              <a:t>:</a:t>
            </a:r>
          </a:p>
          <a:p>
            <a:pPr marL="457200" lvl="1" indent="0">
              <a:buNone/>
            </a:pPr>
            <a:r>
              <a:rPr lang="en-US" altLang="zh-TW" sz="1600" b="1" dirty="0">
                <a:solidFill>
                  <a:srgbClr val="FF0000"/>
                </a:solidFill>
              </a:rPr>
              <a:t>gEfiMdeModulePkgTokenSpaceGuid.PcdSmbiosVersion|0x0303|UINT16|0x00010055</a:t>
            </a:r>
          </a:p>
        </p:txBody>
      </p:sp>
      <p:pic>
        <p:nvPicPr>
          <p:cNvPr id="5" name="圖片 4">
            <a:extLst>
              <a:ext uri="{FF2B5EF4-FFF2-40B4-BE49-F238E27FC236}">
                <a16:creationId xmlns:a16="http://schemas.microsoft.com/office/drawing/2014/main" id="{4D98E478-80AE-483F-9AEE-677B674020AF}"/>
              </a:ext>
            </a:extLst>
          </p:cNvPr>
          <p:cNvPicPr>
            <a:picLocks noChangeAspect="1"/>
          </p:cNvPicPr>
          <p:nvPr/>
        </p:nvPicPr>
        <p:blipFill>
          <a:blip r:embed="rId2"/>
          <a:stretch>
            <a:fillRect/>
          </a:stretch>
        </p:blipFill>
        <p:spPr>
          <a:xfrm>
            <a:off x="991186" y="3335838"/>
            <a:ext cx="10241712" cy="1592545"/>
          </a:xfrm>
          <a:prstGeom prst="rect">
            <a:avLst/>
          </a:prstGeom>
        </p:spPr>
      </p:pic>
    </p:spTree>
    <p:extLst>
      <p:ext uri="{BB962C8B-B14F-4D97-AF65-F5344CB8AC3E}">
        <p14:creationId xmlns:p14="http://schemas.microsoft.com/office/powerpoint/2010/main" val="3695652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Add</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000" dirty="0" err="1">
                <a:solidFill>
                  <a:srgbClr val="404040"/>
                </a:solidFill>
                <a:cs typeface="Tahoma" pitchFamily="34" charset="0"/>
              </a:rPr>
              <a:t>EFI_SMBIOS_PROTOCOL.Add</a:t>
            </a:r>
            <a:r>
              <a:rPr lang="en-US" altLang="zh-TW" sz="2000" dirty="0">
                <a:solidFill>
                  <a:srgbClr val="404040"/>
                </a:solidFill>
                <a:cs typeface="Tahoma" pitchFamily="34" charset="0"/>
              </a:rPr>
              <a:t> () - Add an SMBIOS record.</a:t>
            </a:r>
          </a:p>
          <a:p>
            <a:pPr lvl="1" eaLnBrk="0" hangingPunct="0">
              <a:spcBef>
                <a:spcPct val="20000"/>
              </a:spcBef>
              <a:buClr>
                <a:srgbClr val="125C0C"/>
              </a:buClr>
            </a:pPr>
            <a:r>
              <a:rPr lang="en-US" altLang="zh-TW" sz="2000" dirty="0">
                <a:solidFill>
                  <a:srgbClr val="2FA626"/>
                </a:solidFill>
              </a:rPr>
              <a:t>EFI_STATUS</a:t>
            </a:r>
            <a:br>
              <a:rPr lang="en-US" altLang="zh-TW" sz="2000" dirty="0">
                <a:solidFill>
                  <a:srgbClr val="0E03E3"/>
                </a:solidFill>
              </a:rPr>
            </a:br>
            <a:r>
              <a:rPr lang="en-US" altLang="zh-TW" sz="2000" dirty="0" err="1">
                <a:solidFill>
                  <a:srgbClr val="0E03E3"/>
                </a:solidFill>
              </a:rPr>
              <a:t>SmbiosAdd</a:t>
            </a:r>
            <a:r>
              <a:rPr lang="en-US" altLang="zh-TW" sz="2000" dirty="0">
                <a:solidFill>
                  <a:srgbClr val="0E03E3"/>
                </a:solidFill>
              </a:rPr>
              <a:t> (</a:t>
            </a:r>
            <a:br>
              <a:rPr lang="en-US" altLang="zh-TW" sz="2000" dirty="0">
                <a:solidFill>
                  <a:srgbClr val="0E03E3"/>
                </a:solidFill>
              </a:rPr>
            </a:br>
            <a:r>
              <a:rPr lang="en-US" altLang="zh-TW" sz="2000" dirty="0">
                <a:solidFill>
                  <a:srgbClr val="0E03E3"/>
                </a:solidFill>
              </a:rPr>
              <a:t> </a:t>
            </a:r>
            <a:r>
              <a:rPr lang="en-US" altLang="zh-TW" sz="2000" dirty="0">
                <a:solidFill>
                  <a:srgbClr val="FF0D0D"/>
                </a:solidFill>
              </a:rPr>
              <a:t>IN</a:t>
            </a:r>
            <a:r>
              <a:rPr lang="en-US" altLang="zh-TW" sz="2000" dirty="0">
                <a:solidFill>
                  <a:srgbClr val="0E03E3"/>
                </a:solidFill>
              </a:rPr>
              <a:t> </a:t>
            </a:r>
            <a:r>
              <a:rPr lang="en-US" altLang="zh-TW" sz="2000" dirty="0">
                <a:solidFill>
                  <a:srgbClr val="FF0D0D"/>
                </a:solidFill>
              </a:rPr>
              <a:t>CONST</a:t>
            </a:r>
            <a:r>
              <a:rPr lang="en-US" altLang="zh-TW" sz="2000" dirty="0">
                <a:solidFill>
                  <a:srgbClr val="0E03E3"/>
                </a:solidFill>
              </a:rPr>
              <a:t> </a:t>
            </a:r>
            <a:r>
              <a:rPr lang="en-US" altLang="zh-TW" sz="2000" dirty="0">
                <a:solidFill>
                  <a:srgbClr val="2FA626"/>
                </a:solidFill>
              </a:rPr>
              <a:t>EFI_SMBIOS_PROTOCOL</a:t>
            </a:r>
            <a:r>
              <a:rPr lang="en-US" altLang="zh-TW" sz="2000" dirty="0">
                <a:solidFill>
                  <a:srgbClr val="0E03E3"/>
                </a:solidFill>
              </a:rPr>
              <a:t>  	*This,</a:t>
            </a:r>
            <a:br>
              <a:rPr lang="en-US" altLang="zh-TW" sz="2000" dirty="0">
                <a:solidFill>
                  <a:srgbClr val="0E03E3"/>
                </a:solidFill>
              </a:rPr>
            </a:br>
            <a:r>
              <a:rPr lang="en-US" altLang="zh-TW" sz="2000" dirty="0">
                <a:solidFill>
                  <a:srgbClr val="0E03E3"/>
                </a:solidFill>
              </a:rPr>
              <a:t> </a:t>
            </a:r>
            <a:r>
              <a:rPr lang="en-US" altLang="zh-TW" sz="2000" dirty="0">
                <a:solidFill>
                  <a:srgbClr val="FF0000"/>
                </a:solidFill>
              </a:rPr>
              <a:t>IN</a:t>
            </a:r>
            <a:r>
              <a:rPr lang="en-US" altLang="zh-TW" sz="2000" dirty="0">
                <a:solidFill>
                  <a:srgbClr val="0E03E3"/>
                </a:solidFill>
              </a:rPr>
              <a:t> </a:t>
            </a:r>
            <a:r>
              <a:rPr lang="en-US" altLang="zh-TW" sz="2000" dirty="0">
                <a:solidFill>
                  <a:srgbClr val="2FA626"/>
                </a:solidFill>
              </a:rPr>
              <a:t>EFI_HANDLE</a:t>
            </a:r>
            <a:r>
              <a:rPr lang="en-US" altLang="zh-TW" sz="2000" dirty="0">
                <a:solidFill>
                  <a:srgbClr val="0E03E3"/>
                </a:solidFill>
              </a:rPr>
              <a:t>                 		</a:t>
            </a:r>
            <a:r>
              <a:rPr lang="en-US" altLang="zh-TW" sz="2000" dirty="0" err="1">
                <a:solidFill>
                  <a:srgbClr val="0E03E3"/>
                </a:solidFill>
              </a:rPr>
              <a:t>ProducerHandle,</a:t>
            </a:r>
            <a:r>
              <a:rPr lang="en-US" altLang="zh-TW" sz="2000" dirty="0" err="1">
                <a:solidFill>
                  <a:srgbClr val="FF0000"/>
                </a:solidFill>
              </a:rPr>
              <a:t>OPTIONAL</a:t>
            </a:r>
            <a:br>
              <a:rPr lang="en-US" altLang="zh-TW" sz="2000" dirty="0">
                <a:solidFill>
                  <a:srgbClr val="0E03E3"/>
                </a:solidFill>
              </a:rPr>
            </a:br>
            <a:r>
              <a:rPr lang="en-US" altLang="zh-TW" sz="2000" dirty="0">
                <a:solidFill>
                  <a:srgbClr val="0E03E3"/>
                </a:solidFill>
              </a:rPr>
              <a:t> </a:t>
            </a:r>
            <a:r>
              <a:rPr lang="en-US" altLang="zh-TW" sz="2000" dirty="0">
                <a:solidFill>
                  <a:srgbClr val="FF0000"/>
                </a:solidFill>
              </a:rPr>
              <a:t>IN OUT</a:t>
            </a:r>
            <a:r>
              <a:rPr lang="en-US" altLang="zh-TW" sz="2000" dirty="0">
                <a:solidFill>
                  <a:srgbClr val="0E03E3"/>
                </a:solidFill>
              </a:rPr>
              <a:t> </a:t>
            </a:r>
            <a:r>
              <a:rPr lang="en-US" altLang="zh-TW" sz="2000" dirty="0">
                <a:solidFill>
                  <a:srgbClr val="2FA626"/>
                </a:solidFill>
              </a:rPr>
              <a:t>EFI_SMBIOS_HANDLE</a:t>
            </a:r>
            <a:r>
              <a:rPr lang="en-US" altLang="zh-TW" sz="2000" dirty="0">
                <a:solidFill>
                  <a:srgbClr val="0E03E3"/>
                </a:solidFill>
              </a:rPr>
              <a:t>     		*</a:t>
            </a:r>
            <a:r>
              <a:rPr lang="en-US" altLang="zh-TW" sz="2000" dirty="0" err="1">
                <a:solidFill>
                  <a:srgbClr val="0E03E3"/>
                </a:solidFill>
              </a:rPr>
              <a:t>SmbiosHandle</a:t>
            </a:r>
            <a:r>
              <a:rPr lang="en-US" altLang="zh-TW" sz="2000" dirty="0">
                <a:solidFill>
                  <a:srgbClr val="0E03E3"/>
                </a:solidFill>
              </a:rPr>
              <a:t>,</a:t>
            </a:r>
            <a:br>
              <a:rPr lang="en-US" altLang="zh-TW" sz="2000" dirty="0">
                <a:solidFill>
                  <a:srgbClr val="0E03E3"/>
                </a:solidFill>
              </a:rPr>
            </a:br>
            <a:r>
              <a:rPr lang="en-US" altLang="zh-TW" sz="2000" dirty="0">
                <a:solidFill>
                  <a:srgbClr val="0E03E3"/>
                </a:solidFill>
              </a:rPr>
              <a:t> </a:t>
            </a:r>
            <a:r>
              <a:rPr lang="en-US" altLang="zh-TW" sz="2000" dirty="0">
                <a:solidFill>
                  <a:srgbClr val="FF0000"/>
                </a:solidFill>
              </a:rPr>
              <a:t>IN</a:t>
            </a:r>
            <a:r>
              <a:rPr lang="en-US" altLang="zh-TW" sz="2000" dirty="0">
                <a:solidFill>
                  <a:srgbClr val="0E03E3"/>
                </a:solidFill>
              </a:rPr>
              <a:t> </a:t>
            </a:r>
            <a:r>
              <a:rPr lang="en-US" altLang="zh-TW" sz="2000" dirty="0">
                <a:solidFill>
                  <a:srgbClr val="2FA626"/>
                </a:solidFill>
              </a:rPr>
              <a:t>EFI_SMBIOS_TABLE_HEADER</a:t>
            </a:r>
            <a:r>
              <a:rPr lang="en-US" altLang="zh-TW" sz="2000" dirty="0">
                <a:solidFill>
                  <a:srgbClr val="0E03E3"/>
                </a:solidFill>
              </a:rPr>
              <a:t>		*Record</a:t>
            </a:r>
            <a:br>
              <a:rPr lang="en-US" altLang="zh-TW" sz="2000" dirty="0">
                <a:solidFill>
                  <a:srgbClr val="0E03E3"/>
                </a:solidFill>
              </a:rPr>
            </a:br>
            <a:r>
              <a:rPr lang="en-US" altLang="zh-TW" sz="2000" dirty="0">
                <a:solidFill>
                  <a:srgbClr val="0E03E3"/>
                </a:solidFill>
              </a:rPr>
              <a:t>)</a:t>
            </a:r>
          </a:p>
          <a:p>
            <a:pPr lvl="2" eaLnBrk="0" hangingPunct="0">
              <a:spcBef>
                <a:spcPct val="20000"/>
              </a:spcBef>
              <a:buClr>
                <a:srgbClr val="125C0C"/>
              </a:buClr>
            </a:pPr>
            <a:r>
              <a:rPr lang="en-US" altLang="zh-TW" sz="1600" dirty="0"/>
              <a:t>This                      The EFI_SMBIOS_PROTOCOL instance.</a:t>
            </a:r>
          </a:p>
          <a:p>
            <a:pPr lvl="2" eaLnBrk="0" hangingPunct="0">
              <a:spcBef>
                <a:spcPct val="20000"/>
              </a:spcBef>
              <a:buClr>
                <a:srgbClr val="125C0C"/>
              </a:buClr>
            </a:pPr>
            <a:r>
              <a:rPr lang="en-US" altLang="zh-TW" sz="1600" dirty="0" err="1"/>
              <a:t>ProducerHandle</a:t>
            </a:r>
            <a:r>
              <a:rPr lang="en-US" altLang="zh-TW" sz="1600" dirty="0"/>
              <a:t>   The handle of the controller or driver associated with the SMBIOS information. NULL means no handle.</a:t>
            </a:r>
          </a:p>
          <a:p>
            <a:pPr lvl="2" eaLnBrk="0" hangingPunct="0">
              <a:spcBef>
                <a:spcPct val="20000"/>
              </a:spcBef>
              <a:buClr>
                <a:srgbClr val="125C0C"/>
              </a:buClr>
            </a:pPr>
            <a:r>
              <a:rPr lang="en-US" altLang="zh-TW" sz="1600" dirty="0" err="1"/>
              <a:t>SmbiosHandle</a:t>
            </a:r>
            <a:r>
              <a:rPr lang="en-US" altLang="zh-TW" sz="1600" dirty="0"/>
              <a:t>      On entry, the handle of the SMBIOS record to add. If </a:t>
            </a:r>
            <a:r>
              <a:rPr lang="en-US" altLang="zh-TW" sz="1600" dirty="0" err="1"/>
              <a:t>FFFEh</a:t>
            </a:r>
            <a:r>
              <a:rPr lang="en-US" altLang="zh-TW" sz="1600" dirty="0"/>
              <a:t> (</a:t>
            </a:r>
            <a:r>
              <a:rPr lang="en-US" altLang="zh-TW" sz="1600" dirty="0">
                <a:solidFill>
                  <a:schemeClr val="hlink"/>
                </a:solidFill>
              </a:rPr>
              <a:t>SMBIOS_HANDLE_PI_RESERVED</a:t>
            </a:r>
            <a:r>
              <a:rPr lang="en-US" altLang="zh-TW" sz="1600" dirty="0"/>
              <a:t> ), then a unique handle will be assigned to the SMBIOS record. If the SMBIOS handle is already in use, EFI_ALREADY_STARTED is returned and the SMBIOS record is not updated.</a:t>
            </a:r>
          </a:p>
          <a:p>
            <a:pPr lvl="2" eaLnBrk="0" hangingPunct="0">
              <a:spcBef>
                <a:spcPct val="20000"/>
              </a:spcBef>
              <a:buClr>
                <a:srgbClr val="125C0C"/>
              </a:buClr>
            </a:pPr>
            <a:r>
              <a:rPr lang="en-US" altLang="zh-TW" sz="1600" dirty="0"/>
              <a:t>Record                 The data for the fixed portion of the SMBIOS record. The format of the record is determined by </a:t>
            </a:r>
            <a:r>
              <a:rPr lang="en-US" altLang="zh-TW" sz="1600" dirty="0" err="1"/>
              <a:t>EFI_SMBIOS_TABLE_HEADER.Type</a:t>
            </a:r>
            <a:r>
              <a:rPr lang="en-US" altLang="zh-TW" sz="1600" dirty="0"/>
              <a:t>. The size of the formatted area is defined by </a:t>
            </a:r>
            <a:r>
              <a:rPr lang="en-US" altLang="zh-TW" sz="1600" dirty="0" err="1"/>
              <a:t>EFI_SMBIOS_TABLE_HEADER.Length</a:t>
            </a:r>
            <a:r>
              <a:rPr lang="en-US" altLang="zh-TW" sz="1600" dirty="0"/>
              <a:t> and either followed by a double-null (0x0000) or a set of null terminated strings and a null.</a:t>
            </a:r>
          </a:p>
        </p:txBody>
      </p:sp>
    </p:spTree>
    <p:extLst>
      <p:ext uri="{BB962C8B-B14F-4D97-AF65-F5344CB8AC3E}">
        <p14:creationId xmlns:p14="http://schemas.microsoft.com/office/powerpoint/2010/main" val="3065829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Add</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000" dirty="0" err="1">
                <a:solidFill>
                  <a:srgbClr val="404040"/>
                </a:solidFill>
                <a:latin typeface="Tahoma" pitchFamily="34" charset="0"/>
                <a:cs typeface="Tahoma" pitchFamily="34" charset="0"/>
              </a:rPr>
              <a:t>EFI_SMBIOS_PROTOCOL.Add</a:t>
            </a:r>
            <a:r>
              <a:rPr lang="en-US" altLang="zh-TW" sz="2000" dirty="0">
                <a:solidFill>
                  <a:srgbClr val="404040"/>
                </a:solidFill>
                <a:latin typeface="Tahoma" pitchFamily="34" charset="0"/>
                <a:cs typeface="Tahoma" pitchFamily="34" charset="0"/>
              </a:rPr>
              <a:t> () - FLOW</a:t>
            </a:r>
          </a:p>
        </p:txBody>
      </p:sp>
      <p:grpSp>
        <p:nvGrpSpPr>
          <p:cNvPr id="4" name="群組 3">
            <a:extLst>
              <a:ext uri="{FF2B5EF4-FFF2-40B4-BE49-F238E27FC236}">
                <a16:creationId xmlns:a16="http://schemas.microsoft.com/office/drawing/2014/main" id="{D7BB4DBE-6E66-40C1-80D4-67B36246532F}"/>
              </a:ext>
            </a:extLst>
          </p:cNvPr>
          <p:cNvGrpSpPr/>
          <p:nvPr/>
        </p:nvGrpSpPr>
        <p:grpSpPr>
          <a:xfrm>
            <a:off x="2057400" y="1880074"/>
            <a:ext cx="8077200" cy="4622073"/>
            <a:chOff x="2183674" y="1949742"/>
            <a:chExt cx="8077200" cy="4622073"/>
          </a:xfrm>
        </p:grpSpPr>
        <p:sp>
          <p:nvSpPr>
            <p:cNvPr id="5" name="AutoShape 4">
              <a:extLst>
                <a:ext uri="{FF2B5EF4-FFF2-40B4-BE49-F238E27FC236}">
                  <a16:creationId xmlns:a16="http://schemas.microsoft.com/office/drawing/2014/main" id="{8A9AE8CF-7D44-4C42-BE38-492FFEAE6868}"/>
                </a:ext>
              </a:extLst>
            </p:cNvPr>
            <p:cNvSpPr>
              <a:spLocks noChangeArrowheads="1"/>
            </p:cNvSpPr>
            <p:nvPr/>
          </p:nvSpPr>
          <p:spPr bwMode="auto">
            <a:xfrm>
              <a:off x="6463574" y="2190315"/>
              <a:ext cx="3797300" cy="4953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GetAvailableSmbiosHandle</a:t>
              </a:r>
              <a:endParaRPr lang="zh-TW" altLang="en-US"/>
            </a:p>
          </p:txBody>
        </p:sp>
        <p:sp>
          <p:nvSpPr>
            <p:cNvPr id="6" name="AutoShape 5">
              <a:extLst>
                <a:ext uri="{FF2B5EF4-FFF2-40B4-BE49-F238E27FC236}">
                  <a16:creationId xmlns:a16="http://schemas.microsoft.com/office/drawing/2014/main" id="{D9A47148-FC3C-462D-8DFA-41A26241BFC3}"/>
                </a:ext>
              </a:extLst>
            </p:cNvPr>
            <p:cNvSpPr>
              <a:spLocks noChangeArrowheads="1"/>
            </p:cNvSpPr>
            <p:nvPr/>
          </p:nvSpPr>
          <p:spPr bwMode="auto">
            <a:xfrm>
              <a:off x="2336074" y="1949742"/>
              <a:ext cx="2667000" cy="990600"/>
            </a:xfrm>
            <a:prstGeom prst="flowChartDecision">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en-US" altLang="zh-TW"/>
                <a:t>Handle Exist</a:t>
              </a:r>
            </a:p>
          </p:txBody>
        </p:sp>
        <p:cxnSp>
          <p:nvCxnSpPr>
            <p:cNvPr id="7" name="AutoShape 7">
              <a:extLst>
                <a:ext uri="{FF2B5EF4-FFF2-40B4-BE49-F238E27FC236}">
                  <a16:creationId xmlns:a16="http://schemas.microsoft.com/office/drawing/2014/main" id="{EFBD710E-FE1B-4C91-AAEB-2193AD22C5FC}"/>
                </a:ext>
              </a:extLst>
            </p:cNvPr>
            <p:cNvCxnSpPr>
              <a:cxnSpLocks noChangeShapeType="1"/>
              <a:stCxn id="6" idx="2"/>
              <a:endCxn id="16" idx="0"/>
            </p:cNvCxnSpPr>
            <p:nvPr/>
          </p:nvCxnSpPr>
          <p:spPr bwMode="auto">
            <a:xfrm>
              <a:off x="3669574" y="2940342"/>
              <a:ext cx="0" cy="2894873"/>
            </a:xfrm>
            <a:prstGeom prst="straightConnector1">
              <a:avLst/>
            </a:prstGeom>
            <a:noFill/>
            <a:ln w="9525">
              <a:solidFill>
                <a:schemeClr val="tx1"/>
              </a:solidFill>
              <a:round/>
              <a:headEnd/>
              <a:tailEnd type="triangle" w="med" len="med"/>
            </a:ln>
          </p:spPr>
        </p:cxnSp>
        <p:cxnSp>
          <p:nvCxnSpPr>
            <p:cNvPr id="8" name="AutoShape 8">
              <a:extLst>
                <a:ext uri="{FF2B5EF4-FFF2-40B4-BE49-F238E27FC236}">
                  <a16:creationId xmlns:a16="http://schemas.microsoft.com/office/drawing/2014/main" id="{6729FCB6-9010-4851-B993-E1764CE2E241}"/>
                </a:ext>
              </a:extLst>
            </p:cNvPr>
            <p:cNvCxnSpPr>
              <a:cxnSpLocks noChangeShapeType="1"/>
              <a:stCxn id="6" idx="3"/>
              <a:endCxn id="5" idx="1"/>
            </p:cNvCxnSpPr>
            <p:nvPr/>
          </p:nvCxnSpPr>
          <p:spPr bwMode="auto">
            <a:xfrm flipV="1">
              <a:off x="5003074" y="2437965"/>
              <a:ext cx="1460500" cy="7077"/>
            </a:xfrm>
            <a:prstGeom prst="straightConnector1">
              <a:avLst/>
            </a:prstGeom>
            <a:noFill/>
            <a:ln w="9525">
              <a:solidFill>
                <a:schemeClr val="tx1"/>
              </a:solidFill>
              <a:round/>
              <a:headEnd/>
              <a:tailEnd type="triangle" w="med" len="med"/>
            </a:ln>
          </p:spPr>
        </p:cxnSp>
        <p:sp>
          <p:nvSpPr>
            <p:cNvPr id="9" name="AutoShape 9">
              <a:extLst>
                <a:ext uri="{FF2B5EF4-FFF2-40B4-BE49-F238E27FC236}">
                  <a16:creationId xmlns:a16="http://schemas.microsoft.com/office/drawing/2014/main" id="{A8EE9918-82DA-4A95-A2C4-D2E6D0BA1131}"/>
                </a:ext>
              </a:extLst>
            </p:cNvPr>
            <p:cNvSpPr>
              <a:spLocks noChangeArrowheads="1"/>
            </p:cNvSpPr>
            <p:nvPr/>
          </p:nvSpPr>
          <p:spPr bwMode="auto">
            <a:xfrm>
              <a:off x="6450874" y="2990415"/>
              <a:ext cx="3810000" cy="4572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err="1"/>
                <a:t>GetSmbiosStructureSize</a:t>
              </a:r>
              <a:endParaRPr lang="en-US" altLang="zh-TW" dirty="0"/>
            </a:p>
          </p:txBody>
        </p:sp>
        <p:cxnSp>
          <p:nvCxnSpPr>
            <p:cNvPr id="10" name="AutoShape 10">
              <a:extLst>
                <a:ext uri="{FF2B5EF4-FFF2-40B4-BE49-F238E27FC236}">
                  <a16:creationId xmlns:a16="http://schemas.microsoft.com/office/drawing/2014/main" id="{D6A9A34D-0AF9-4C16-876B-FF1AAA7EDB32}"/>
                </a:ext>
              </a:extLst>
            </p:cNvPr>
            <p:cNvCxnSpPr>
              <a:cxnSpLocks noChangeShapeType="1"/>
              <a:stCxn id="5" idx="2"/>
              <a:endCxn id="9" idx="0"/>
            </p:cNvCxnSpPr>
            <p:nvPr/>
          </p:nvCxnSpPr>
          <p:spPr bwMode="auto">
            <a:xfrm flipH="1">
              <a:off x="8355874" y="2685615"/>
              <a:ext cx="6350" cy="304800"/>
            </a:xfrm>
            <a:prstGeom prst="straightConnector1">
              <a:avLst/>
            </a:prstGeom>
            <a:noFill/>
            <a:ln w="9525">
              <a:solidFill>
                <a:schemeClr val="tx1"/>
              </a:solidFill>
              <a:round/>
              <a:headEnd/>
              <a:tailEnd type="triangle" w="med" len="med"/>
            </a:ln>
          </p:spPr>
        </p:cxnSp>
        <p:sp>
          <p:nvSpPr>
            <p:cNvPr id="11" name="Text Box 12">
              <a:extLst>
                <a:ext uri="{FF2B5EF4-FFF2-40B4-BE49-F238E27FC236}">
                  <a16:creationId xmlns:a16="http://schemas.microsoft.com/office/drawing/2014/main" id="{3CC691FB-4010-4979-B33A-6C31FB435B88}"/>
                </a:ext>
              </a:extLst>
            </p:cNvPr>
            <p:cNvSpPr txBox="1">
              <a:spLocks noChangeArrowheads="1"/>
            </p:cNvSpPr>
            <p:nvPr/>
          </p:nvSpPr>
          <p:spPr bwMode="auto">
            <a:xfrm>
              <a:off x="3134314" y="4258183"/>
              <a:ext cx="577850" cy="366712"/>
            </a:xfrm>
            <a:prstGeom prst="rect">
              <a:avLst/>
            </a:prstGeom>
            <a:noFill/>
            <a:ln w="9525">
              <a:noFill/>
              <a:miter lim="800000"/>
              <a:headEnd/>
              <a:tailEnd/>
            </a:ln>
          </p:spPr>
          <p:txBody>
            <a:bodyPr wrap="none">
              <a:spAutoFit/>
            </a:bodyPr>
            <a:lstStyle/>
            <a:p>
              <a:r>
                <a:rPr lang="en-US" altLang="zh-TW" b="1" dirty="0">
                  <a:solidFill>
                    <a:srgbClr val="FF0000"/>
                  </a:solidFill>
                </a:rPr>
                <a:t>Yes</a:t>
              </a:r>
            </a:p>
          </p:txBody>
        </p:sp>
        <p:sp>
          <p:nvSpPr>
            <p:cNvPr id="12" name="AutoShape 14">
              <a:extLst>
                <a:ext uri="{FF2B5EF4-FFF2-40B4-BE49-F238E27FC236}">
                  <a16:creationId xmlns:a16="http://schemas.microsoft.com/office/drawing/2014/main" id="{A440BC7F-A896-44AB-BEE3-BC3CF10268FF}"/>
                </a:ext>
              </a:extLst>
            </p:cNvPr>
            <p:cNvSpPr>
              <a:spLocks noChangeArrowheads="1"/>
            </p:cNvSpPr>
            <p:nvPr/>
          </p:nvSpPr>
          <p:spPr bwMode="auto">
            <a:xfrm>
              <a:off x="6527074" y="4819215"/>
              <a:ext cx="3657600" cy="8382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Build internal Record and</a:t>
              </a:r>
            </a:p>
            <a:p>
              <a:pPr algn="ctr"/>
              <a:r>
                <a:rPr lang="en-US" altLang="zh-TW"/>
                <a:t>Insert record </a:t>
              </a:r>
              <a:r>
                <a:rPr lang="en-US" altLang="zh-TW">
                  <a:solidFill>
                    <a:srgbClr val="FFFF00"/>
                  </a:solidFill>
                </a:rPr>
                <a:t>base on type order</a:t>
              </a:r>
              <a:r>
                <a:rPr lang="en-US" altLang="zh-TW"/>
                <a:t> </a:t>
              </a:r>
            </a:p>
            <a:p>
              <a:pPr algn="ctr"/>
              <a:r>
                <a:rPr lang="en-US" altLang="zh-TW"/>
                <a:t>into DataListHead</a:t>
              </a:r>
            </a:p>
          </p:txBody>
        </p:sp>
        <p:sp>
          <p:nvSpPr>
            <p:cNvPr id="13" name="AutoShape 16">
              <a:extLst>
                <a:ext uri="{FF2B5EF4-FFF2-40B4-BE49-F238E27FC236}">
                  <a16:creationId xmlns:a16="http://schemas.microsoft.com/office/drawing/2014/main" id="{509B7DC2-D406-40DD-9908-CB33085963C0}"/>
                </a:ext>
              </a:extLst>
            </p:cNvPr>
            <p:cNvSpPr>
              <a:spLocks noChangeArrowheads="1"/>
            </p:cNvSpPr>
            <p:nvPr/>
          </p:nvSpPr>
          <p:spPr bwMode="auto">
            <a:xfrm>
              <a:off x="6450874" y="6114615"/>
              <a:ext cx="3810000" cy="4572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SMBIOS Table Construction</a:t>
              </a:r>
            </a:p>
          </p:txBody>
        </p:sp>
        <p:sp>
          <p:nvSpPr>
            <p:cNvPr id="14" name="AutoShape 17">
              <a:extLst>
                <a:ext uri="{FF2B5EF4-FFF2-40B4-BE49-F238E27FC236}">
                  <a16:creationId xmlns:a16="http://schemas.microsoft.com/office/drawing/2014/main" id="{E39F06EC-C72B-4A1E-AEF0-0865DE602568}"/>
                </a:ext>
              </a:extLst>
            </p:cNvPr>
            <p:cNvSpPr>
              <a:spLocks noChangeArrowheads="1"/>
            </p:cNvSpPr>
            <p:nvPr/>
          </p:nvSpPr>
          <p:spPr bwMode="auto">
            <a:xfrm>
              <a:off x="6450874" y="3752415"/>
              <a:ext cx="3810000" cy="6096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Build Handle Entry and </a:t>
              </a:r>
            </a:p>
            <a:p>
              <a:pPr algn="ctr"/>
              <a:r>
                <a:rPr lang="en-US" altLang="zh-TW" dirty="0"/>
                <a:t>insert into </a:t>
              </a:r>
              <a:r>
                <a:rPr lang="en-US" altLang="zh-TW" dirty="0" err="1"/>
                <a:t>AllocatedHandleListHead</a:t>
              </a:r>
              <a:endParaRPr lang="en-US" altLang="zh-TW" dirty="0"/>
            </a:p>
          </p:txBody>
        </p:sp>
        <p:sp>
          <p:nvSpPr>
            <p:cNvPr id="15" name="Text Box 11">
              <a:extLst>
                <a:ext uri="{FF2B5EF4-FFF2-40B4-BE49-F238E27FC236}">
                  <a16:creationId xmlns:a16="http://schemas.microsoft.com/office/drawing/2014/main" id="{26A7CBC0-826A-4D5F-AA2D-9C71810122D4}"/>
                </a:ext>
              </a:extLst>
            </p:cNvPr>
            <p:cNvSpPr txBox="1">
              <a:spLocks noChangeArrowheads="1"/>
            </p:cNvSpPr>
            <p:nvPr/>
          </p:nvSpPr>
          <p:spPr bwMode="auto">
            <a:xfrm>
              <a:off x="5510578" y="2104615"/>
              <a:ext cx="762000" cy="366713"/>
            </a:xfrm>
            <a:prstGeom prst="rect">
              <a:avLst/>
            </a:prstGeom>
            <a:noFill/>
            <a:ln w="9525">
              <a:noFill/>
              <a:miter lim="800000"/>
              <a:headEnd/>
              <a:tailEnd/>
            </a:ln>
          </p:spPr>
          <p:txBody>
            <a:bodyPr>
              <a:spAutoFit/>
            </a:bodyPr>
            <a:lstStyle/>
            <a:p>
              <a:pPr>
                <a:spcBef>
                  <a:spcPct val="50000"/>
                </a:spcBef>
              </a:pPr>
              <a:r>
                <a:rPr lang="en-US" altLang="zh-TW" b="1" dirty="0">
                  <a:solidFill>
                    <a:srgbClr val="FF0000"/>
                  </a:solidFill>
                </a:rPr>
                <a:t>NO</a:t>
              </a:r>
            </a:p>
          </p:txBody>
        </p:sp>
        <p:sp>
          <p:nvSpPr>
            <p:cNvPr id="16" name="AutoShape 18">
              <a:extLst>
                <a:ext uri="{FF2B5EF4-FFF2-40B4-BE49-F238E27FC236}">
                  <a16:creationId xmlns:a16="http://schemas.microsoft.com/office/drawing/2014/main" id="{AE8FAB6F-724D-4E1B-9852-0F08CA3D53B7}"/>
                </a:ext>
              </a:extLst>
            </p:cNvPr>
            <p:cNvSpPr>
              <a:spLocks noChangeArrowheads="1"/>
            </p:cNvSpPr>
            <p:nvPr/>
          </p:nvSpPr>
          <p:spPr bwMode="auto">
            <a:xfrm>
              <a:off x="2183674" y="5835215"/>
              <a:ext cx="29718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Return</a:t>
              </a:r>
            </a:p>
          </p:txBody>
        </p:sp>
        <p:cxnSp>
          <p:nvCxnSpPr>
            <p:cNvPr id="17" name="AutoShape 19">
              <a:extLst>
                <a:ext uri="{FF2B5EF4-FFF2-40B4-BE49-F238E27FC236}">
                  <a16:creationId xmlns:a16="http://schemas.microsoft.com/office/drawing/2014/main" id="{3F1E5995-CF07-41E0-9777-6E4C3CC7A4F3}"/>
                </a:ext>
              </a:extLst>
            </p:cNvPr>
            <p:cNvCxnSpPr>
              <a:cxnSpLocks noChangeShapeType="1"/>
              <a:stCxn id="9" idx="2"/>
              <a:endCxn id="14" idx="0"/>
            </p:cNvCxnSpPr>
            <p:nvPr/>
          </p:nvCxnSpPr>
          <p:spPr bwMode="auto">
            <a:xfrm>
              <a:off x="8355874" y="3447615"/>
              <a:ext cx="0" cy="304800"/>
            </a:xfrm>
            <a:prstGeom prst="straightConnector1">
              <a:avLst/>
            </a:prstGeom>
            <a:noFill/>
            <a:ln w="9525">
              <a:solidFill>
                <a:schemeClr val="tx1"/>
              </a:solidFill>
              <a:round/>
              <a:headEnd/>
              <a:tailEnd type="triangle" w="med" len="med"/>
            </a:ln>
          </p:spPr>
        </p:cxnSp>
        <p:cxnSp>
          <p:nvCxnSpPr>
            <p:cNvPr id="18" name="AutoShape 20">
              <a:extLst>
                <a:ext uri="{FF2B5EF4-FFF2-40B4-BE49-F238E27FC236}">
                  <a16:creationId xmlns:a16="http://schemas.microsoft.com/office/drawing/2014/main" id="{F9913A59-1EAE-4ED3-AA37-2258E97FABAA}"/>
                </a:ext>
              </a:extLst>
            </p:cNvPr>
            <p:cNvCxnSpPr>
              <a:cxnSpLocks noChangeShapeType="1"/>
              <a:stCxn id="14" idx="2"/>
              <a:endCxn id="12" idx="0"/>
            </p:cNvCxnSpPr>
            <p:nvPr/>
          </p:nvCxnSpPr>
          <p:spPr bwMode="auto">
            <a:xfrm>
              <a:off x="8355874" y="4362015"/>
              <a:ext cx="0" cy="457200"/>
            </a:xfrm>
            <a:prstGeom prst="straightConnector1">
              <a:avLst/>
            </a:prstGeom>
            <a:noFill/>
            <a:ln w="9525">
              <a:solidFill>
                <a:schemeClr val="tx1"/>
              </a:solidFill>
              <a:round/>
              <a:headEnd/>
              <a:tailEnd type="triangle" w="med" len="med"/>
            </a:ln>
          </p:spPr>
        </p:cxnSp>
        <p:cxnSp>
          <p:nvCxnSpPr>
            <p:cNvPr id="19" name="AutoShape 21">
              <a:extLst>
                <a:ext uri="{FF2B5EF4-FFF2-40B4-BE49-F238E27FC236}">
                  <a16:creationId xmlns:a16="http://schemas.microsoft.com/office/drawing/2014/main" id="{A4C0ED49-9903-4842-82EE-0056DE522ADE}"/>
                </a:ext>
              </a:extLst>
            </p:cNvPr>
            <p:cNvCxnSpPr>
              <a:cxnSpLocks noChangeShapeType="1"/>
              <a:stCxn id="12" idx="2"/>
              <a:endCxn id="13" idx="0"/>
            </p:cNvCxnSpPr>
            <p:nvPr/>
          </p:nvCxnSpPr>
          <p:spPr bwMode="auto">
            <a:xfrm>
              <a:off x="8355874" y="5657415"/>
              <a:ext cx="0" cy="457200"/>
            </a:xfrm>
            <a:prstGeom prst="straightConnector1">
              <a:avLst/>
            </a:prstGeom>
            <a:noFill/>
            <a:ln w="9525">
              <a:solidFill>
                <a:schemeClr val="tx1"/>
              </a:solidFill>
              <a:round/>
              <a:headEnd/>
              <a:tailEnd type="triangle" w="med" len="med"/>
            </a:ln>
          </p:spPr>
        </p:cxnSp>
      </p:grpSp>
    </p:spTree>
    <p:extLst>
      <p:ext uri="{BB962C8B-B14F-4D97-AF65-F5344CB8AC3E}">
        <p14:creationId xmlns:p14="http://schemas.microsoft.com/office/powerpoint/2010/main" val="2387140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t>
            </a:r>
            <a:r>
              <a:rPr lang="en-US" altLang="zh-TW" dirty="0" err="1"/>
              <a:t>UpdateString</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000" dirty="0" err="1">
                <a:solidFill>
                  <a:srgbClr val="404040"/>
                </a:solidFill>
                <a:latin typeface="Tahoma" pitchFamily="34" charset="0"/>
                <a:cs typeface="Tahoma" pitchFamily="34" charset="0"/>
              </a:rPr>
              <a:t>EFI_SMBIOS_PROTOCOL.UpdateString</a:t>
            </a:r>
            <a:r>
              <a:rPr lang="en-US" altLang="zh-TW" sz="2000" dirty="0">
                <a:solidFill>
                  <a:srgbClr val="404040"/>
                </a:solidFill>
                <a:latin typeface="Tahoma" pitchFamily="34" charset="0"/>
                <a:cs typeface="Tahoma" pitchFamily="34" charset="0"/>
              </a:rPr>
              <a:t> () - Update the string associated with an existing SMBIOS record.</a:t>
            </a:r>
          </a:p>
          <a:p>
            <a:pPr lvl="1" eaLnBrk="0" hangingPunct="0">
              <a:spcBef>
                <a:spcPct val="20000"/>
              </a:spcBef>
              <a:buClr>
                <a:srgbClr val="125C0C"/>
              </a:buClr>
            </a:pPr>
            <a:r>
              <a:rPr lang="en-US" altLang="zh-TW" sz="2000" dirty="0">
                <a:solidFill>
                  <a:srgbClr val="00B050"/>
                </a:solidFill>
              </a:rPr>
              <a:t>EFI_STATUS</a:t>
            </a:r>
            <a:br>
              <a:rPr lang="en-US" altLang="zh-TW" sz="2000" dirty="0"/>
            </a:br>
            <a:r>
              <a:rPr lang="en-US" altLang="zh-TW" sz="2000" dirty="0" err="1">
                <a:solidFill>
                  <a:srgbClr val="0E03E3"/>
                </a:solidFill>
              </a:rPr>
              <a:t>SmbiosUpdateString</a:t>
            </a:r>
            <a:r>
              <a:rPr lang="en-US" altLang="zh-TW" sz="2000" dirty="0"/>
              <a:t> (</a:t>
            </a:r>
            <a:br>
              <a:rPr lang="en-US" altLang="zh-TW" sz="2000" dirty="0"/>
            </a:br>
            <a:r>
              <a:rPr lang="en-US" altLang="zh-TW" sz="2000" dirty="0"/>
              <a:t> </a:t>
            </a:r>
            <a:r>
              <a:rPr lang="en-US" altLang="zh-TW" sz="2000" dirty="0">
                <a:solidFill>
                  <a:srgbClr val="FF0D0D"/>
                </a:solidFill>
              </a:rPr>
              <a:t>IN</a:t>
            </a:r>
            <a:r>
              <a:rPr lang="en-US" altLang="zh-TW" sz="2000" dirty="0"/>
              <a:t> </a:t>
            </a:r>
            <a:r>
              <a:rPr lang="en-US" altLang="zh-TW" sz="2000" dirty="0">
                <a:solidFill>
                  <a:srgbClr val="FF0D0D"/>
                </a:solidFill>
              </a:rPr>
              <a:t>CONST</a:t>
            </a:r>
            <a:r>
              <a:rPr lang="en-US" altLang="zh-TW" sz="2000" dirty="0"/>
              <a:t> </a:t>
            </a:r>
            <a:r>
              <a:rPr lang="en-US" altLang="zh-TW" sz="2000" dirty="0">
                <a:solidFill>
                  <a:srgbClr val="2FA626"/>
                </a:solidFill>
              </a:rPr>
              <a:t>EFI_SMBIOS_PROTOCOL</a:t>
            </a:r>
            <a:r>
              <a:rPr lang="en-US" altLang="zh-TW" sz="2000" dirty="0"/>
              <a:t>      	*</a:t>
            </a:r>
            <a:r>
              <a:rPr lang="en-US" altLang="zh-TW" sz="2000" dirty="0">
                <a:solidFill>
                  <a:srgbClr val="0E03E3"/>
                </a:solidFill>
              </a:rPr>
              <a:t>This</a:t>
            </a:r>
            <a:r>
              <a:rPr lang="en-US" altLang="zh-TW" sz="2000" dirty="0"/>
              <a:t>,</a:t>
            </a:r>
            <a:br>
              <a:rPr lang="en-US" altLang="zh-TW" sz="2000" dirty="0"/>
            </a:br>
            <a:r>
              <a:rPr lang="en-US" altLang="zh-TW" sz="2000" dirty="0"/>
              <a:t> </a:t>
            </a:r>
            <a:r>
              <a:rPr lang="en-US" altLang="zh-TW" sz="2000" dirty="0">
                <a:solidFill>
                  <a:srgbClr val="FF0D0D"/>
                </a:solidFill>
              </a:rPr>
              <a:t>IN</a:t>
            </a:r>
            <a:r>
              <a:rPr lang="en-US" altLang="zh-TW" sz="2000" dirty="0"/>
              <a:t> </a:t>
            </a:r>
            <a:r>
              <a:rPr lang="en-US" altLang="zh-TW" sz="2000" dirty="0">
                <a:solidFill>
                  <a:srgbClr val="2FA626"/>
                </a:solidFill>
              </a:rPr>
              <a:t>EFI_SMBIOS_HANDLE</a:t>
            </a:r>
            <a:r>
              <a:rPr lang="en-US" altLang="zh-TW" sz="2000" dirty="0"/>
              <a:t>              	         	*</a:t>
            </a:r>
            <a:r>
              <a:rPr lang="en-US" altLang="zh-TW" sz="2000" dirty="0" err="1">
                <a:solidFill>
                  <a:srgbClr val="0E03E3"/>
                </a:solidFill>
              </a:rPr>
              <a:t>SmbiosHandle</a:t>
            </a:r>
            <a:r>
              <a:rPr lang="en-US" altLang="zh-TW" sz="2000" dirty="0"/>
              <a:t>,</a:t>
            </a:r>
            <a:br>
              <a:rPr lang="en-US" altLang="zh-TW" sz="2000" dirty="0"/>
            </a:br>
            <a:r>
              <a:rPr lang="en-US" altLang="zh-TW" sz="2000" dirty="0"/>
              <a:t> </a:t>
            </a:r>
            <a:r>
              <a:rPr lang="en-US" altLang="zh-TW" sz="2000" dirty="0">
                <a:solidFill>
                  <a:srgbClr val="FF0D0D"/>
                </a:solidFill>
              </a:rPr>
              <a:t>IN</a:t>
            </a:r>
            <a:r>
              <a:rPr lang="en-US" altLang="zh-TW" sz="2000" dirty="0"/>
              <a:t> </a:t>
            </a:r>
            <a:r>
              <a:rPr lang="en-US" altLang="zh-TW" sz="2000" dirty="0">
                <a:solidFill>
                  <a:srgbClr val="2FA626"/>
                </a:solidFill>
              </a:rPr>
              <a:t>UINTN</a:t>
            </a:r>
            <a:r>
              <a:rPr lang="en-US" altLang="zh-TW" sz="2000" dirty="0"/>
              <a:t>				*</a:t>
            </a:r>
            <a:r>
              <a:rPr lang="en-US" altLang="zh-TW" sz="2000" dirty="0" err="1">
                <a:solidFill>
                  <a:srgbClr val="0E03E3"/>
                </a:solidFill>
              </a:rPr>
              <a:t>StringNumber</a:t>
            </a:r>
            <a:r>
              <a:rPr lang="en-US" altLang="zh-TW" sz="2000" dirty="0"/>
              <a:t>,</a:t>
            </a:r>
            <a:br>
              <a:rPr lang="en-US" altLang="zh-TW" sz="2000" dirty="0"/>
            </a:br>
            <a:r>
              <a:rPr lang="en-US" altLang="zh-TW" sz="2000" dirty="0"/>
              <a:t> </a:t>
            </a:r>
            <a:r>
              <a:rPr lang="en-US" altLang="zh-TW" sz="2000" dirty="0">
                <a:solidFill>
                  <a:srgbClr val="FF0D0D"/>
                </a:solidFill>
              </a:rPr>
              <a:t>IN</a:t>
            </a:r>
            <a:r>
              <a:rPr lang="en-US" altLang="zh-TW" sz="2000" dirty="0"/>
              <a:t> </a:t>
            </a:r>
            <a:r>
              <a:rPr lang="en-US" altLang="zh-TW" sz="2000" dirty="0">
                <a:solidFill>
                  <a:srgbClr val="2FA626"/>
                </a:solidFill>
              </a:rPr>
              <a:t>CHAR8</a:t>
            </a:r>
            <a:r>
              <a:rPr lang="en-US" altLang="zh-TW" sz="2000" dirty="0"/>
              <a:t>				*</a:t>
            </a:r>
            <a:r>
              <a:rPr lang="en-US" altLang="zh-TW" sz="2000" dirty="0">
                <a:solidFill>
                  <a:srgbClr val="0E03E3"/>
                </a:solidFill>
              </a:rPr>
              <a:t>String</a:t>
            </a:r>
            <a:br>
              <a:rPr lang="en-US" altLang="zh-TW" sz="2000" dirty="0"/>
            </a:br>
            <a:r>
              <a:rPr lang="en-US" altLang="zh-TW" sz="2000" dirty="0"/>
              <a:t>)</a:t>
            </a:r>
          </a:p>
          <a:p>
            <a:pPr lvl="2" eaLnBrk="0" hangingPunct="0">
              <a:spcBef>
                <a:spcPct val="20000"/>
              </a:spcBef>
              <a:buClr>
                <a:srgbClr val="125C0C"/>
              </a:buClr>
            </a:pPr>
            <a:r>
              <a:rPr lang="en-US" altLang="zh-TW" sz="1600" dirty="0"/>
              <a:t>This                      The EFI_SMBIOS_PROTOCOL instance.</a:t>
            </a:r>
          </a:p>
          <a:p>
            <a:pPr lvl="2" eaLnBrk="0" hangingPunct="0">
              <a:spcBef>
                <a:spcPct val="20000"/>
              </a:spcBef>
              <a:buClr>
                <a:srgbClr val="125C0C"/>
              </a:buClr>
            </a:pPr>
            <a:r>
              <a:rPr lang="en-US" altLang="zh-TW" sz="1600" dirty="0" err="1"/>
              <a:t>SmbiosHandle</a:t>
            </a:r>
            <a:r>
              <a:rPr lang="en-US" altLang="zh-TW" sz="1600" dirty="0"/>
              <a:t>      SMBIOS Handle of structure that will have its string updated.</a:t>
            </a:r>
          </a:p>
          <a:p>
            <a:pPr lvl="2" eaLnBrk="0" hangingPunct="0">
              <a:spcBef>
                <a:spcPct val="20000"/>
              </a:spcBef>
              <a:buClr>
                <a:srgbClr val="125C0C"/>
              </a:buClr>
            </a:pPr>
            <a:r>
              <a:rPr lang="en-US" altLang="zh-TW" sz="1600" dirty="0" err="1"/>
              <a:t>StringNumber</a:t>
            </a:r>
            <a:r>
              <a:rPr lang="en-US" altLang="zh-TW" sz="1600" dirty="0"/>
              <a:t>       The non-zero string number of the string to update.</a:t>
            </a:r>
          </a:p>
          <a:p>
            <a:pPr lvl="2" eaLnBrk="0" hangingPunct="0">
              <a:spcBef>
                <a:spcPct val="20000"/>
              </a:spcBef>
              <a:buClr>
                <a:srgbClr val="125C0C"/>
              </a:buClr>
            </a:pPr>
            <a:r>
              <a:rPr lang="en-US" altLang="zh-TW" sz="1600" dirty="0"/>
              <a:t>String                	   Update the </a:t>
            </a:r>
            <a:r>
              <a:rPr lang="en-US" altLang="zh-TW" sz="1600" dirty="0" err="1"/>
              <a:t>StringNumber</a:t>
            </a:r>
            <a:r>
              <a:rPr lang="en-US" altLang="zh-TW" sz="1600" dirty="0"/>
              <a:t> string with String.</a:t>
            </a:r>
          </a:p>
        </p:txBody>
      </p:sp>
    </p:spTree>
    <p:extLst>
      <p:ext uri="{BB962C8B-B14F-4D97-AF65-F5344CB8AC3E}">
        <p14:creationId xmlns:p14="http://schemas.microsoft.com/office/powerpoint/2010/main" val="2876719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t>
            </a:r>
            <a:r>
              <a:rPr lang="en-US" altLang="zh-TW" dirty="0" err="1"/>
              <a:t>UpdateString</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000" dirty="0" err="1">
                <a:solidFill>
                  <a:srgbClr val="404040"/>
                </a:solidFill>
                <a:latin typeface="Tahoma" pitchFamily="34" charset="0"/>
                <a:cs typeface="Tahoma" pitchFamily="34" charset="0"/>
              </a:rPr>
              <a:t>EFI_SMBIOS_PROTOCOL.UpdateString</a:t>
            </a:r>
            <a:r>
              <a:rPr lang="en-US" altLang="zh-TW" sz="2000" dirty="0">
                <a:solidFill>
                  <a:srgbClr val="404040"/>
                </a:solidFill>
                <a:latin typeface="Tahoma" pitchFamily="34" charset="0"/>
                <a:cs typeface="Tahoma" pitchFamily="34" charset="0"/>
              </a:rPr>
              <a:t> () - FLOW</a:t>
            </a:r>
          </a:p>
        </p:txBody>
      </p:sp>
      <p:grpSp>
        <p:nvGrpSpPr>
          <p:cNvPr id="4" name="群組 3">
            <a:extLst>
              <a:ext uri="{FF2B5EF4-FFF2-40B4-BE49-F238E27FC236}">
                <a16:creationId xmlns:a16="http://schemas.microsoft.com/office/drawing/2014/main" id="{E76F2C2D-61A3-4E1F-A1D8-61659E7CF2F4}"/>
              </a:ext>
            </a:extLst>
          </p:cNvPr>
          <p:cNvGrpSpPr/>
          <p:nvPr/>
        </p:nvGrpSpPr>
        <p:grpSpPr>
          <a:xfrm>
            <a:off x="1924050" y="1926015"/>
            <a:ext cx="8343900" cy="4537720"/>
            <a:chOff x="495300" y="1699592"/>
            <a:chExt cx="8343900" cy="4537720"/>
          </a:xfrm>
        </p:grpSpPr>
        <p:sp>
          <p:nvSpPr>
            <p:cNvPr id="5" name="AutoShape 4">
              <a:extLst>
                <a:ext uri="{FF2B5EF4-FFF2-40B4-BE49-F238E27FC236}">
                  <a16:creationId xmlns:a16="http://schemas.microsoft.com/office/drawing/2014/main" id="{C7909A24-1356-4EA3-9E4A-6DB834EBC4F2}"/>
                </a:ext>
              </a:extLst>
            </p:cNvPr>
            <p:cNvSpPr>
              <a:spLocks noChangeArrowheads="1"/>
            </p:cNvSpPr>
            <p:nvPr/>
          </p:nvSpPr>
          <p:spPr bwMode="auto">
            <a:xfrm>
              <a:off x="533400" y="1699592"/>
              <a:ext cx="38862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Find out the specified SMBIOS record</a:t>
              </a:r>
              <a:endParaRPr lang="zh-TW" altLang="en-US"/>
            </a:p>
          </p:txBody>
        </p:sp>
        <p:sp>
          <p:nvSpPr>
            <p:cNvPr id="6" name="AutoShape 5">
              <a:extLst>
                <a:ext uri="{FF2B5EF4-FFF2-40B4-BE49-F238E27FC236}">
                  <a16:creationId xmlns:a16="http://schemas.microsoft.com/office/drawing/2014/main" id="{B5D25F78-A094-46BD-81CF-EB7A8813B893}"/>
                </a:ext>
              </a:extLst>
            </p:cNvPr>
            <p:cNvSpPr>
              <a:spLocks noChangeArrowheads="1"/>
            </p:cNvSpPr>
            <p:nvPr/>
          </p:nvSpPr>
          <p:spPr bwMode="auto">
            <a:xfrm>
              <a:off x="533400" y="2385206"/>
              <a:ext cx="38862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G</a:t>
              </a:r>
              <a:r>
                <a:rPr lang="en-US" altLang="en-US"/>
                <a:t>et the string target</a:t>
              </a:r>
              <a:endParaRPr lang="zh-TW" altLang="en-US"/>
            </a:p>
          </p:txBody>
        </p:sp>
        <p:sp>
          <p:nvSpPr>
            <p:cNvPr id="7" name="AutoShape 6">
              <a:extLst>
                <a:ext uri="{FF2B5EF4-FFF2-40B4-BE49-F238E27FC236}">
                  <a16:creationId xmlns:a16="http://schemas.microsoft.com/office/drawing/2014/main" id="{28E1C839-8D2F-45D1-A74A-CBB5FCC8D8CF}"/>
                </a:ext>
              </a:extLst>
            </p:cNvPr>
            <p:cNvSpPr>
              <a:spLocks noChangeArrowheads="1"/>
            </p:cNvSpPr>
            <p:nvPr/>
          </p:nvSpPr>
          <p:spPr bwMode="auto">
            <a:xfrm>
              <a:off x="495300" y="3070820"/>
              <a:ext cx="3962400" cy="1143000"/>
            </a:xfrm>
            <a:prstGeom prst="flowChartDecision">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Target String Length </a:t>
              </a:r>
            </a:p>
            <a:p>
              <a:pPr algn="ctr"/>
              <a:r>
                <a:rPr lang="en-US" altLang="zh-TW"/>
                <a:t>== Input String Length</a:t>
              </a:r>
            </a:p>
          </p:txBody>
        </p:sp>
        <p:cxnSp>
          <p:nvCxnSpPr>
            <p:cNvPr id="8" name="AutoShape 7">
              <a:extLst>
                <a:ext uri="{FF2B5EF4-FFF2-40B4-BE49-F238E27FC236}">
                  <a16:creationId xmlns:a16="http://schemas.microsoft.com/office/drawing/2014/main" id="{F0479009-4467-45DB-BF86-E8AC9B06B60B}"/>
                </a:ext>
              </a:extLst>
            </p:cNvPr>
            <p:cNvCxnSpPr>
              <a:cxnSpLocks noChangeShapeType="1"/>
              <a:stCxn id="7" idx="2"/>
              <a:endCxn id="11" idx="0"/>
            </p:cNvCxnSpPr>
            <p:nvPr/>
          </p:nvCxnSpPr>
          <p:spPr bwMode="auto">
            <a:xfrm>
              <a:off x="2476500" y="4213820"/>
              <a:ext cx="0" cy="30461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9" name="AutoShape 8">
              <a:extLst>
                <a:ext uri="{FF2B5EF4-FFF2-40B4-BE49-F238E27FC236}">
                  <a16:creationId xmlns:a16="http://schemas.microsoft.com/office/drawing/2014/main" id="{012C5B10-B54C-47F4-94C0-8BE9710AD364}"/>
                </a:ext>
              </a:extLst>
            </p:cNvPr>
            <p:cNvCxnSpPr>
              <a:cxnSpLocks noChangeShapeType="1"/>
              <a:stCxn id="6" idx="2"/>
              <a:endCxn id="7" idx="0"/>
            </p:cNvCxnSpPr>
            <p:nvPr/>
          </p:nvCxnSpPr>
          <p:spPr bwMode="auto">
            <a:xfrm>
              <a:off x="2476500" y="2766206"/>
              <a:ext cx="0" cy="30461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AutoShape 9">
              <a:extLst>
                <a:ext uri="{FF2B5EF4-FFF2-40B4-BE49-F238E27FC236}">
                  <a16:creationId xmlns:a16="http://schemas.microsoft.com/office/drawing/2014/main" id="{A2123C33-E73B-47D3-9028-C9CFF5BA6027}"/>
                </a:ext>
              </a:extLst>
            </p:cNvPr>
            <p:cNvCxnSpPr>
              <a:cxnSpLocks noChangeShapeType="1"/>
              <a:stCxn id="5" idx="2"/>
              <a:endCxn id="6" idx="0"/>
            </p:cNvCxnSpPr>
            <p:nvPr/>
          </p:nvCxnSpPr>
          <p:spPr bwMode="auto">
            <a:xfrm>
              <a:off x="2476500" y="2080592"/>
              <a:ext cx="0" cy="30461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1" name="AutoShape 10">
              <a:extLst>
                <a:ext uri="{FF2B5EF4-FFF2-40B4-BE49-F238E27FC236}">
                  <a16:creationId xmlns:a16="http://schemas.microsoft.com/office/drawing/2014/main" id="{EB1904E4-DB21-4DBE-BECC-CC926BDD9047}"/>
                </a:ext>
              </a:extLst>
            </p:cNvPr>
            <p:cNvSpPr>
              <a:spLocks noChangeArrowheads="1"/>
            </p:cNvSpPr>
            <p:nvPr/>
          </p:nvSpPr>
          <p:spPr bwMode="auto">
            <a:xfrm>
              <a:off x="571500" y="4518434"/>
              <a:ext cx="3810000" cy="4572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String Copy</a:t>
              </a:r>
            </a:p>
          </p:txBody>
        </p:sp>
        <p:cxnSp>
          <p:nvCxnSpPr>
            <p:cNvPr id="12" name="AutoShape 12">
              <a:extLst>
                <a:ext uri="{FF2B5EF4-FFF2-40B4-BE49-F238E27FC236}">
                  <a16:creationId xmlns:a16="http://schemas.microsoft.com/office/drawing/2014/main" id="{43E7E9E6-658B-48D4-9A29-4D002EE6B401}"/>
                </a:ext>
              </a:extLst>
            </p:cNvPr>
            <p:cNvCxnSpPr>
              <a:cxnSpLocks noChangeShapeType="1"/>
              <a:stCxn id="11" idx="2"/>
              <a:endCxn id="13" idx="0"/>
            </p:cNvCxnSpPr>
            <p:nvPr/>
          </p:nvCxnSpPr>
          <p:spPr bwMode="auto">
            <a:xfrm>
              <a:off x="2476500" y="4975634"/>
              <a:ext cx="0" cy="30461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3" name="AutoShape 14">
              <a:extLst>
                <a:ext uri="{FF2B5EF4-FFF2-40B4-BE49-F238E27FC236}">
                  <a16:creationId xmlns:a16="http://schemas.microsoft.com/office/drawing/2014/main" id="{60FFD3CE-DBC6-4098-B918-C793D73C4063}"/>
                </a:ext>
              </a:extLst>
            </p:cNvPr>
            <p:cNvSpPr>
              <a:spLocks noChangeArrowheads="1"/>
            </p:cNvSpPr>
            <p:nvPr/>
          </p:nvSpPr>
          <p:spPr bwMode="auto">
            <a:xfrm>
              <a:off x="533400" y="5280248"/>
              <a:ext cx="3886200" cy="4572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SMBIOS Table Construction</a:t>
              </a:r>
            </a:p>
          </p:txBody>
        </p:sp>
        <p:sp>
          <p:nvSpPr>
            <p:cNvPr id="14" name="Rectangle 15">
              <a:extLst>
                <a:ext uri="{FF2B5EF4-FFF2-40B4-BE49-F238E27FC236}">
                  <a16:creationId xmlns:a16="http://schemas.microsoft.com/office/drawing/2014/main" id="{C071B2F2-41E1-4039-AEFB-5A9ECB5B2278}"/>
                </a:ext>
              </a:extLst>
            </p:cNvPr>
            <p:cNvSpPr>
              <a:spLocks noChangeArrowheads="1"/>
            </p:cNvSpPr>
            <p:nvPr/>
          </p:nvSpPr>
          <p:spPr bwMode="auto">
            <a:xfrm>
              <a:off x="5181600" y="1699592"/>
              <a:ext cx="3657600" cy="3810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Re-allocate buffer</a:t>
              </a:r>
              <a:endParaRPr lang="zh-TW" altLang="en-US"/>
            </a:p>
          </p:txBody>
        </p:sp>
        <p:sp>
          <p:nvSpPr>
            <p:cNvPr id="15" name="AutoShape 16">
              <a:extLst>
                <a:ext uri="{FF2B5EF4-FFF2-40B4-BE49-F238E27FC236}">
                  <a16:creationId xmlns:a16="http://schemas.microsoft.com/office/drawing/2014/main" id="{B892D5A6-188A-4393-A21F-B163B6F7A2BC}"/>
                </a:ext>
              </a:extLst>
            </p:cNvPr>
            <p:cNvSpPr>
              <a:spLocks noChangeArrowheads="1"/>
            </p:cNvSpPr>
            <p:nvPr/>
          </p:nvSpPr>
          <p:spPr bwMode="auto">
            <a:xfrm>
              <a:off x="5181600" y="2469976"/>
              <a:ext cx="36576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Build internal record Header</a:t>
              </a:r>
            </a:p>
          </p:txBody>
        </p:sp>
        <p:sp>
          <p:nvSpPr>
            <p:cNvPr id="16" name="AutoShape 17">
              <a:extLst>
                <a:ext uri="{FF2B5EF4-FFF2-40B4-BE49-F238E27FC236}">
                  <a16:creationId xmlns:a16="http://schemas.microsoft.com/office/drawing/2014/main" id="{48909747-D8D0-41AF-8860-3A7F7026F875}"/>
                </a:ext>
              </a:extLst>
            </p:cNvPr>
            <p:cNvSpPr>
              <a:spLocks noChangeArrowheads="1"/>
            </p:cNvSpPr>
            <p:nvPr/>
          </p:nvSpPr>
          <p:spPr bwMode="auto">
            <a:xfrm>
              <a:off x="5181600" y="4239344"/>
              <a:ext cx="3657600" cy="4572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Insert new Record</a:t>
              </a:r>
            </a:p>
          </p:txBody>
        </p:sp>
        <p:sp>
          <p:nvSpPr>
            <p:cNvPr id="17" name="AutoShape 18">
              <a:extLst>
                <a:ext uri="{FF2B5EF4-FFF2-40B4-BE49-F238E27FC236}">
                  <a16:creationId xmlns:a16="http://schemas.microsoft.com/office/drawing/2014/main" id="{9F182B81-841A-4DFA-B9BC-17A9D38FEF44}"/>
                </a:ext>
              </a:extLst>
            </p:cNvPr>
            <p:cNvSpPr>
              <a:spLocks noChangeArrowheads="1"/>
            </p:cNvSpPr>
            <p:nvPr/>
          </p:nvSpPr>
          <p:spPr bwMode="auto">
            <a:xfrm>
              <a:off x="5219700" y="5856312"/>
              <a:ext cx="35814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SMBIOS Table Construction</a:t>
              </a:r>
            </a:p>
          </p:txBody>
        </p:sp>
        <p:sp>
          <p:nvSpPr>
            <p:cNvPr id="18" name="AutoShape 20">
              <a:extLst>
                <a:ext uri="{FF2B5EF4-FFF2-40B4-BE49-F238E27FC236}">
                  <a16:creationId xmlns:a16="http://schemas.microsoft.com/office/drawing/2014/main" id="{1A723406-1738-429F-BC8B-51B703FDD985}"/>
                </a:ext>
              </a:extLst>
            </p:cNvPr>
            <p:cNvSpPr>
              <a:spLocks noChangeArrowheads="1"/>
            </p:cNvSpPr>
            <p:nvPr/>
          </p:nvSpPr>
          <p:spPr bwMode="auto">
            <a:xfrm>
              <a:off x="5181600" y="3240360"/>
              <a:ext cx="3657600" cy="6096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Copy SMBIOS structure </a:t>
              </a:r>
              <a:br>
                <a:rPr lang="en-US" altLang="zh-TW" dirty="0"/>
              </a:br>
              <a:r>
                <a:rPr lang="en-US" altLang="zh-TW" dirty="0"/>
                <a:t>and optional strings.</a:t>
              </a:r>
              <a:endParaRPr lang="zh-TW" altLang="en-US" dirty="0"/>
            </a:p>
          </p:txBody>
        </p:sp>
        <p:sp>
          <p:nvSpPr>
            <p:cNvPr id="19" name="AutoShape 21">
              <a:extLst>
                <a:ext uri="{FF2B5EF4-FFF2-40B4-BE49-F238E27FC236}">
                  <a16:creationId xmlns:a16="http://schemas.microsoft.com/office/drawing/2014/main" id="{53AD9BFA-DE98-4EC5-BD3B-48E032404122}"/>
                </a:ext>
              </a:extLst>
            </p:cNvPr>
            <p:cNvSpPr>
              <a:spLocks noChangeArrowheads="1"/>
            </p:cNvSpPr>
            <p:nvPr/>
          </p:nvSpPr>
          <p:spPr bwMode="auto">
            <a:xfrm>
              <a:off x="5181600" y="5085928"/>
              <a:ext cx="36576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Remove old record</a:t>
              </a:r>
            </a:p>
          </p:txBody>
        </p:sp>
        <p:cxnSp>
          <p:nvCxnSpPr>
            <p:cNvPr id="20" name="AutoShape 22">
              <a:extLst>
                <a:ext uri="{FF2B5EF4-FFF2-40B4-BE49-F238E27FC236}">
                  <a16:creationId xmlns:a16="http://schemas.microsoft.com/office/drawing/2014/main" id="{2FC298ED-1FE8-4198-B2DF-97D308ABCF0A}"/>
                </a:ext>
              </a:extLst>
            </p:cNvPr>
            <p:cNvCxnSpPr>
              <a:cxnSpLocks noChangeShapeType="1"/>
              <a:stCxn id="7" idx="3"/>
              <a:endCxn id="14" idx="1"/>
            </p:cNvCxnSpPr>
            <p:nvPr/>
          </p:nvCxnSpPr>
          <p:spPr bwMode="auto">
            <a:xfrm flipV="1">
              <a:off x="4457700" y="1890092"/>
              <a:ext cx="723900" cy="1752228"/>
            </a:xfrm>
            <a:prstGeom prst="bentConnector3">
              <a:avLst>
                <a:gd name="adj1" fmla="val 50000"/>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1" name="AutoShape 23">
              <a:extLst>
                <a:ext uri="{FF2B5EF4-FFF2-40B4-BE49-F238E27FC236}">
                  <a16:creationId xmlns:a16="http://schemas.microsoft.com/office/drawing/2014/main" id="{1C6841DB-A747-426C-8D78-F9EF30DE1B97}"/>
                </a:ext>
              </a:extLst>
            </p:cNvPr>
            <p:cNvCxnSpPr>
              <a:cxnSpLocks noChangeShapeType="1"/>
              <a:stCxn id="14" idx="2"/>
              <a:endCxn id="15" idx="0"/>
            </p:cNvCxnSpPr>
            <p:nvPr/>
          </p:nvCxnSpPr>
          <p:spPr bwMode="auto">
            <a:xfrm>
              <a:off x="7010400" y="2080592"/>
              <a:ext cx="0" cy="38938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2" name="AutoShape 24">
              <a:extLst>
                <a:ext uri="{FF2B5EF4-FFF2-40B4-BE49-F238E27FC236}">
                  <a16:creationId xmlns:a16="http://schemas.microsoft.com/office/drawing/2014/main" id="{A8E4D064-83B1-418B-8E8B-357AAD9782BE}"/>
                </a:ext>
              </a:extLst>
            </p:cNvPr>
            <p:cNvCxnSpPr>
              <a:cxnSpLocks noChangeShapeType="1"/>
              <a:stCxn id="15" idx="2"/>
              <a:endCxn id="18" idx="0"/>
            </p:cNvCxnSpPr>
            <p:nvPr/>
          </p:nvCxnSpPr>
          <p:spPr bwMode="auto">
            <a:xfrm>
              <a:off x="7010400" y="2850976"/>
              <a:ext cx="0" cy="38938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3" name="AutoShape 25">
              <a:extLst>
                <a:ext uri="{FF2B5EF4-FFF2-40B4-BE49-F238E27FC236}">
                  <a16:creationId xmlns:a16="http://schemas.microsoft.com/office/drawing/2014/main" id="{912BEFB1-C017-422A-9C66-6BBA477BF1BA}"/>
                </a:ext>
              </a:extLst>
            </p:cNvPr>
            <p:cNvCxnSpPr>
              <a:cxnSpLocks noChangeShapeType="1"/>
              <a:stCxn id="18" idx="2"/>
              <a:endCxn id="16" idx="0"/>
            </p:cNvCxnSpPr>
            <p:nvPr/>
          </p:nvCxnSpPr>
          <p:spPr bwMode="auto">
            <a:xfrm>
              <a:off x="7010400" y="3849960"/>
              <a:ext cx="0" cy="38938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 name="AutoShape 26">
              <a:extLst>
                <a:ext uri="{FF2B5EF4-FFF2-40B4-BE49-F238E27FC236}">
                  <a16:creationId xmlns:a16="http://schemas.microsoft.com/office/drawing/2014/main" id="{C8826753-B760-4249-9597-363C88319C5B}"/>
                </a:ext>
              </a:extLst>
            </p:cNvPr>
            <p:cNvCxnSpPr>
              <a:cxnSpLocks noChangeShapeType="1"/>
              <a:stCxn id="16" idx="2"/>
              <a:endCxn id="19" idx="0"/>
            </p:cNvCxnSpPr>
            <p:nvPr/>
          </p:nvCxnSpPr>
          <p:spPr bwMode="auto">
            <a:xfrm>
              <a:off x="7010400" y="4696544"/>
              <a:ext cx="0" cy="38938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5" name="AutoShape 27">
              <a:extLst>
                <a:ext uri="{FF2B5EF4-FFF2-40B4-BE49-F238E27FC236}">
                  <a16:creationId xmlns:a16="http://schemas.microsoft.com/office/drawing/2014/main" id="{F08F2D7F-E70C-4AE2-953C-9253928F652A}"/>
                </a:ext>
              </a:extLst>
            </p:cNvPr>
            <p:cNvCxnSpPr>
              <a:cxnSpLocks noChangeShapeType="1"/>
              <a:stCxn id="19" idx="2"/>
              <a:endCxn id="17" idx="0"/>
            </p:cNvCxnSpPr>
            <p:nvPr/>
          </p:nvCxnSpPr>
          <p:spPr bwMode="auto">
            <a:xfrm>
              <a:off x="7010400" y="5466928"/>
              <a:ext cx="0" cy="389384"/>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6" name="Text Box 12">
              <a:extLst>
                <a:ext uri="{FF2B5EF4-FFF2-40B4-BE49-F238E27FC236}">
                  <a16:creationId xmlns:a16="http://schemas.microsoft.com/office/drawing/2014/main" id="{317ABB45-4C51-4860-8CC9-6B5304FD1A8F}"/>
                </a:ext>
              </a:extLst>
            </p:cNvPr>
            <p:cNvSpPr txBox="1">
              <a:spLocks noChangeArrowheads="1"/>
            </p:cNvSpPr>
            <p:nvPr/>
          </p:nvSpPr>
          <p:spPr bwMode="auto">
            <a:xfrm>
              <a:off x="1928794" y="4143380"/>
              <a:ext cx="577850" cy="366712"/>
            </a:xfrm>
            <a:prstGeom prst="rect">
              <a:avLst/>
            </a:prstGeom>
            <a:noFill/>
            <a:ln w="9525">
              <a:noFill/>
              <a:miter lim="800000"/>
              <a:headEnd/>
              <a:tailEnd/>
            </a:ln>
          </p:spPr>
          <p:txBody>
            <a:bodyPr wrap="none">
              <a:spAutoFit/>
            </a:bodyPr>
            <a:lstStyle/>
            <a:p>
              <a:r>
                <a:rPr lang="en-US" altLang="zh-TW" b="1" dirty="0">
                  <a:solidFill>
                    <a:srgbClr val="FF0000"/>
                  </a:solidFill>
                </a:rPr>
                <a:t>Yes</a:t>
              </a:r>
            </a:p>
          </p:txBody>
        </p:sp>
        <p:sp>
          <p:nvSpPr>
            <p:cNvPr id="27" name="Text Box 11">
              <a:extLst>
                <a:ext uri="{FF2B5EF4-FFF2-40B4-BE49-F238E27FC236}">
                  <a16:creationId xmlns:a16="http://schemas.microsoft.com/office/drawing/2014/main" id="{AECBAE88-0CFA-4CBE-BEA1-A10DDCB2E9F3}"/>
                </a:ext>
              </a:extLst>
            </p:cNvPr>
            <p:cNvSpPr txBox="1">
              <a:spLocks noChangeArrowheads="1"/>
            </p:cNvSpPr>
            <p:nvPr/>
          </p:nvSpPr>
          <p:spPr bwMode="auto">
            <a:xfrm>
              <a:off x="4357686" y="3286124"/>
              <a:ext cx="762000" cy="366713"/>
            </a:xfrm>
            <a:prstGeom prst="rect">
              <a:avLst/>
            </a:prstGeom>
            <a:noFill/>
            <a:ln w="9525">
              <a:noFill/>
              <a:miter lim="800000"/>
              <a:headEnd/>
              <a:tailEnd/>
            </a:ln>
          </p:spPr>
          <p:txBody>
            <a:bodyPr>
              <a:spAutoFit/>
            </a:bodyPr>
            <a:lstStyle/>
            <a:p>
              <a:pPr>
                <a:spcBef>
                  <a:spcPct val="50000"/>
                </a:spcBef>
              </a:pPr>
              <a:r>
                <a:rPr lang="en-US" altLang="zh-TW" b="1" dirty="0">
                  <a:solidFill>
                    <a:srgbClr val="FF0000"/>
                  </a:solidFill>
                </a:rPr>
                <a:t>NO</a:t>
              </a:r>
            </a:p>
          </p:txBody>
        </p:sp>
      </p:grpSp>
    </p:spTree>
    <p:extLst>
      <p:ext uri="{BB962C8B-B14F-4D97-AF65-F5344CB8AC3E}">
        <p14:creationId xmlns:p14="http://schemas.microsoft.com/office/powerpoint/2010/main" val="2584889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t>
            </a:r>
            <a:r>
              <a:rPr lang="en-US" altLang="zh-TW" dirty="0" err="1"/>
              <a:t>GetNext</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fontScale="92500" lnSpcReduction="10000"/>
          </a:bodyPr>
          <a:lstStyle/>
          <a:p>
            <a:pPr eaLnBrk="0" hangingPunct="0">
              <a:spcBef>
                <a:spcPct val="20000"/>
              </a:spcBef>
              <a:buClr>
                <a:srgbClr val="125C0C"/>
              </a:buClr>
            </a:pPr>
            <a:r>
              <a:rPr lang="en-US" altLang="zh-TW" sz="2000" dirty="0" err="1">
                <a:solidFill>
                  <a:srgbClr val="404040"/>
                </a:solidFill>
                <a:latin typeface="Tahoma" pitchFamily="34" charset="0"/>
                <a:cs typeface="Tahoma" pitchFamily="34" charset="0"/>
              </a:rPr>
              <a:t>EFI_SMBIOS_PROTOCOL.GetNext</a:t>
            </a:r>
            <a:r>
              <a:rPr lang="en-US" altLang="zh-TW" sz="2000" dirty="0">
                <a:solidFill>
                  <a:srgbClr val="404040"/>
                </a:solidFill>
                <a:latin typeface="Tahoma" pitchFamily="34" charset="0"/>
                <a:cs typeface="Tahoma" pitchFamily="34" charset="0"/>
              </a:rPr>
              <a:t> () -  Allow the caller to discover all or some of the SMBIOS records.</a:t>
            </a:r>
          </a:p>
          <a:p>
            <a:pPr lvl="1" eaLnBrk="0" hangingPunct="0">
              <a:spcBef>
                <a:spcPct val="20000"/>
              </a:spcBef>
              <a:buClr>
                <a:srgbClr val="125C0C"/>
              </a:buClr>
            </a:pPr>
            <a:r>
              <a:rPr lang="en-US" altLang="zh-TW" sz="2000" dirty="0">
                <a:solidFill>
                  <a:srgbClr val="2FA626"/>
                </a:solidFill>
              </a:rPr>
              <a:t>EFI_STATUS</a:t>
            </a:r>
            <a:br>
              <a:rPr lang="en-US" altLang="zh-TW" sz="2000" dirty="0"/>
            </a:br>
            <a:r>
              <a:rPr lang="en-US" altLang="zh-TW" sz="2000" dirty="0" err="1">
                <a:solidFill>
                  <a:srgbClr val="0E03E3"/>
                </a:solidFill>
              </a:rPr>
              <a:t>SmbiosGetNext</a:t>
            </a:r>
            <a:r>
              <a:rPr lang="en-US" altLang="zh-TW" sz="2000" dirty="0"/>
              <a:t> (</a:t>
            </a:r>
            <a:br>
              <a:rPr lang="en-US" altLang="zh-TW" sz="2000" dirty="0"/>
            </a:br>
            <a:r>
              <a:rPr lang="en-US" altLang="zh-TW" sz="2000" dirty="0"/>
              <a:t> </a:t>
            </a:r>
            <a:r>
              <a:rPr lang="en-US" altLang="zh-TW" sz="2000" dirty="0">
                <a:solidFill>
                  <a:srgbClr val="FF0000"/>
                </a:solidFill>
              </a:rPr>
              <a:t>IN</a:t>
            </a:r>
            <a:r>
              <a:rPr lang="en-US" altLang="zh-TW" sz="2000" dirty="0"/>
              <a:t> </a:t>
            </a:r>
            <a:r>
              <a:rPr lang="en-US" altLang="zh-TW" sz="2000" dirty="0">
                <a:solidFill>
                  <a:srgbClr val="FF0000"/>
                </a:solidFill>
              </a:rPr>
              <a:t>CONST</a:t>
            </a:r>
            <a:r>
              <a:rPr lang="en-US" altLang="zh-TW" sz="2000" dirty="0"/>
              <a:t> </a:t>
            </a:r>
            <a:r>
              <a:rPr lang="en-US" altLang="zh-TW" sz="2000" dirty="0">
                <a:solidFill>
                  <a:srgbClr val="2FA626"/>
                </a:solidFill>
              </a:rPr>
              <a:t>EFI_SMBIOS_PROTOCOL</a:t>
            </a:r>
            <a:r>
              <a:rPr lang="en-US" altLang="zh-TW" sz="2000" dirty="0"/>
              <a:t>  	*</a:t>
            </a:r>
            <a:r>
              <a:rPr lang="en-US" altLang="zh-TW" sz="2000" dirty="0">
                <a:solidFill>
                  <a:srgbClr val="0E03E3"/>
                </a:solidFill>
              </a:rPr>
              <a:t>This</a:t>
            </a:r>
            <a:r>
              <a:rPr lang="en-US" altLang="zh-TW" sz="2000" dirty="0"/>
              <a:t>,</a:t>
            </a:r>
            <a:br>
              <a:rPr lang="en-US" altLang="zh-TW" sz="2000" dirty="0"/>
            </a:br>
            <a:r>
              <a:rPr lang="en-US" altLang="zh-TW" sz="2000" dirty="0"/>
              <a:t> </a:t>
            </a:r>
            <a:r>
              <a:rPr lang="en-US" altLang="zh-TW" sz="2000" dirty="0">
                <a:solidFill>
                  <a:srgbClr val="FF0000"/>
                </a:solidFill>
              </a:rPr>
              <a:t>IN</a:t>
            </a:r>
            <a:r>
              <a:rPr lang="en-US" altLang="zh-TW" sz="2000" dirty="0"/>
              <a:t> </a:t>
            </a:r>
            <a:r>
              <a:rPr lang="en-US" altLang="zh-TW" sz="2000" dirty="0">
                <a:solidFill>
                  <a:srgbClr val="FF0000"/>
                </a:solidFill>
              </a:rPr>
              <a:t>OUT </a:t>
            </a:r>
            <a:r>
              <a:rPr lang="en-US" altLang="zh-TW" sz="2000" dirty="0">
                <a:solidFill>
                  <a:srgbClr val="2FA626"/>
                </a:solidFill>
              </a:rPr>
              <a:t>EFI_SMBIOS_HANDLE</a:t>
            </a:r>
            <a:r>
              <a:rPr lang="en-US" altLang="zh-TW" sz="2000" dirty="0"/>
              <a:t>          	*</a:t>
            </a:r>
            <a:r>
              <a:rPr lang="en-US" altLang="zh-TW" sz="2000" dirty="0" err="1">
                <a:solidFill>
                  <a:srgbClr val="0E03E3"/>
                </a:solidFill>
              </a:rPr>
              <a:t>SmbiosHandle</a:t>
            </a:r>
            <a:br>
              <a:rPr lang="en-US" altLang="zh-TW" sz="2000" dirty="0"/>
            </a:br>
            <a:r>
              <a:rPr lang="en-US" altLang="zh-TW" sz="2000" dirty="0"/>
              <a:t> </a:t>
            </a:r>
            <a:r>
              <a:rPr lang="en-US" altLang="zh-TW" sz="2000" dirty="0">
                <a:solidFill>
                  <a:srgbClr val="FF0000"/>
                </a:solidFill>
              </a:rPr>
              <a:t>IN</a:t>
            </a:r>
            <a:r>
              <a:rPr lang="en-US" altLang="zh-TW" sz="2000" dirty="0"/>
              <a:t> </a:t>
            </a:r>
            <a:r>
              <a:rPr lang="en-US" altLang="zh-TW" sz="2000" dirty="0">
                <a:solidFill>
                  <a:srgbClr val="2FA626"/>
                </a:solidFill>
              </a:rPr>
              <a:t>EFI_SMBIOS_TYPE</a:t>
            </a:r>
            <a:r>
              <a:rPr lang="en-US" altLang="zh-TW" sz="2000" dirty="0"/>
              <a:t>                		*</a:t>
            </a:r>
            <a:r>
              <a:rPr lang="en-US" altLang="zh-TW" sz="2000" dirty="0">
                <a:solidFill>
                  <a:srgbClr val="0E03E3"/>
                </a:solidFill>
              </a:rPr>
              <a:t>Type</a:t>
            </a:r>
            <a:r>
              <a:rPr lang="en-US" altLang="zh-TW" sz="2000" dirty="0"/>
              <a:t>,          	</a:t>
            </a:r>
            <a:r>
              <a:rPr lang="en-US" altLang="zh-TW" sz="2000" dirty="0">
                <a:solidFill>
                  <a:srgbClr val="FF0000"/>
                </a:solidFill>
              </a:rPr>
              <a:t>OPTIONAL</a:t>
            </a:r>
            <a:br>
              <a:rPr lang="en-US" altLang="zh-TW" sz="2000" dirty="0"/>
            </a:br>
            <a:r>
              <a:rPr lang="en-US" altLang="zh-TW" sz="2000" dirty="0"/>
              <a:t> </a:t>
            </a:r>
            <a:r>
              <a:rPr lang="en-US" altLang="zh-TW" sz="2000" dirty="0">
                <a:solidFill>
                  <a:srgbClr val="FF0000"/>
                </a:solidFill>
              </a:rPr>
              <a:t>OUT</a:t>
            </a:r>
            <a:r>
              <a:rPr lang="en-US" altLang="zh-TW" sz="2000" dirty="0"/>
              <a:t> </a:t>
            </a:r>
            <a:r>
              <a:rPr lang="en-US" altLang="zh-TW" sz="2000" dirty="0">
                <a:solidFill>
                  <a:srgbClr val="2FA626"/>
                </a:solidFill>
              </a:rPr>
              <a:t>EFI_SMBIOS_TABLE_HEADER</a:t>
            </a:r>
            <a:r>
              <a:rPr lang="en-US" altLang="zh-TW" sz="2000" dirty="0"/>
              <a:t>       	**</a:t>
            </a:r>
            <a:r>
              <a:rPr lang="en-US" altLang="zh-TW" sz="2000" dirty="0">
                <a:solidFill>
                  <a:srgbClr val="0E03E3"/>
                </a:solidFill>
              </a:rPr>
              <a:t>Record</a:t>
            </a:r>
            <a:r>
              <a:rPr lang="en-US" altLang="zh-TW" sz="2000" dirty="0"/>
              <a:t>,</a:t>
            </a:r>
            <a:br>
              <a:rPr lang="en-US" altLang="zh-TW" sz="2000" dirty="0"/>
            </a:br>
            <a:r>
              <a:rPr lang="en-US" altLang="zh-TW" sz="2000" dirty="0"/>
              <a:t> </a:t>
            </a:r>
            <a:r>
              <a:rPr lang="en-US" altLang="zh-TW" sz="2000" dirty="0">
                <a:solidFill>
                  <a:srgbClr val="FF0000"/>
                </a:solidFill>
              </a:rPr>
              <a:t>OUT</a:t>
            </a:r>
            <a:r>
              <a:rPr lang="en-US" altLang="zh-TW" sz="2000" dirty="0"/>
              <a:t> </a:t>
            </a:r>
            <a:r>
              <a:rPr lang="en-US" altLang="zh-TW" sz="2000" dirty="0">
                <a:solidFill>
                  <a:srgbClr val="2FA626"/>
                </a:solidFill>
              </a:rPr>
              <a:t>EFI_HANDLE</a:t>
            </a:r>
            <a:r>
              <a:rPr lang="en-US" altLang="zh-TW" sz="2000" dirty="0"/>
              <a:t>                   	             *</a:t>
            </a:r>
            <a:r>
              <a:rPr lang="en-US" altLang="zh-TW" sz="2000" dirty="0" err="1">
                <a:solidFill>
                  <a:srgbClr val="0E03E3"/>
                </a:solidFill>
              </a:rPr>
              <a:t>ProducerHandle</a:t>
            </a:r>
            <a:r>
              <a:rPr lang="en-US" altLang="zh-TW" sz="2000" dirty="0">
                <a:solidFill>
                  <a:srgbClr val="0E03E3"/>
                </a:solidFill>
              </a:rPr>
              <a:t> </a:t>
            </a:r>
            <a:r>
              <a:rPr lang="en-US" altLang="zh-TW" sz="2000" dirty="0">
                <a:solidFill>
                  <a:srgbClr val="FF0000"/>
                </a:solidFill>
              </a:rPr>
              <a:t>OPTIONAL</a:t>
            </a:r>
            <a:br>
              <a:rPr lang="en-US" altLang="zh-TW" sz="2000" dirty="0"/>
            </a:br>
            <a:r>
              <a:rPr lang="en-US" altLang="zh-TW" sz="2000" dirty="0"/>
              <a:t>)</a:t>
            </a:r>
          </a:p>
          <a:p>
            <a:pPr lvl="2" eaLnBrk="0" hangingPunct="0">
              <a:spcBef>
                <a:spcPct val="20000"/>
              </a:spcBef>
              <a:buClr>
                <a:srgbClr val="125C0C"/>
              </a:buClr>
            </a:pPr>
            <a:r>
              <a:rPr lang="en-US" altLang="zh-TW" sz="1600" dirty="0"/>
              <a:t>This                      The EFI_SMBIOS_PROTOCOL instance.</a:t>
            </a:r>
          </a:p>
          <a:p>
            <a:pPr lvl="2" eaLnBrk="0" hangingPunct="0">
              <a:spcBef>
                <a:spcPct val="20000"/>
              </a:spcBef>
              <a:buClr>
                <a:srgbClr val="125C0C"/>
              </a:buClr>
            </a:pPr>
            <a:r>
              <a:rPr lang="en-US" altLang="zh-TW" sz="1600" dirty="0" err="1"/>
              <a:t>SmbiosHandle</a:t>
            </a:r>
            <a:r>
              <a:rPr lang="en-US" altLang="zh-TW" sz="1600" dirty="0"/>
              <a:t>      On entry, points to the previous handle of the SMBIOS record. On exit, points to the next SMBIOS record handle. If it is </a:t>
            </a:r>
            <a:r>
              <a:rPr lang="en-US" altLang="zh-TW" sz="1600" dirty="0" err="1"/>
              <a:t>FFFEh</a:t>
            </a:r>
            <a:r>
              <a:rPr lang="en-US" altLang="zh-TW" sz="1600" dirty="0"/>
              <a:t> on entry, then the first SMBIOS record handle will be returned. If it returns </a:t>
            </a:r>
            <a:r>
              <a:rPr lang="en-US" altLang="zh-TW" sz="1600" dirty="0" err="1"/>
              <a:t>FFFEh</a:t>
            </a:r>
            <a:r>
              <a:rPr lang="en-US" altLang="zh-TW" sz="1600" dirty="0"/>
              <a:t> on exit, then there are no more SMBIOS records.</a:t>
            </a:r>
          </a:p>
          <a:p>
            <a:pPr lvl="2" eaLnBrk="0" hangingPunct="0">
              <a:spcBef>
                <a:spcPct val="20000"/>
              </a:spcBef>
              <a:buClr>
                <a:srgbClr val="125C0C"/>
              </a:buClr>
            </a:pPr>
            <a:r>
              <a:rPr lang="en-US" altLang="zh-TW" sz="1600" dirty="0"/>
              <a:t>Type                     On entry it means return the next SMBIOS record of type. If a NULL is passed in  this functionally it ignored. Type is not modified by the </a:t>
            </a:r>
            <a:r>
              <a:rPr lang="en-US" altLang="zh-TW" sz="1600" dirty="0" err="1"/>
              <a:t>GetNext</a:t>
            </a:r>
            <a:r>
              <a:rPr lang="en-US" altLang="zh-TW" sz="1600" dirty="0"/>
              <a:t>() function.</a:t>
            </a:r>
          </a:p>
          <a:p>
            <a:pPr lvl="2" eaLnBrk="0" hangingPunct="0">
              <a:spcBef>
                <a:spcPct val="20000"/>
              </a:spcBef>
              <a:buClr>
                <a:srgbClr val="125C0C"/>
              </a:buClr>
            </a:pPr>
            <a:r>
              <a:rPr lang="en-US" altLang="zh-TW" sz="1600" dirty="0"/>
              <a:t>Record 	   On exit, points to the SMBIOS Record consisting of the formatted area followed by the unformatted area. The unformatted area optionally   contains text strings.</a:t>
            </a:r>
          </a:p>
          <a:p>
            <a:pPr lvl="2" eaLnBrk="0" hangingPunct="0">
              <a:spcBef>
                <a:spcPct val="20000"/>
              </a:spcBef>
              <a:buClr>
                <a:srgbClr val="125C0C"/>
              </a:buClr>
            </a:pPr>
            <a:r>
              <a:rPr lang="en-US" altLang="zh-TW" sz="1600" dirty="0" err="1"/>
              <a:t>ProducerHandle</a:t>
            </a:r>
            <a:r>
              <a:rPr lang="en-US" altLang="zh-TW" sz="1600" dirty="0"/>
              <a:t>   On exit, points to the </a:t>
            </a:r>
            <a:r>
              <a:rPr lang="en-US" altLang="zh-TW" sz="1600" dirty="0" err="1"/>
              <a:t>ProducerHandle</a:t>
            </a:r>
            <a:r>
              <a:rPr lang="en-US" altLang="zh-TW" sz="1600" dirty="0"/>
              <a:t> registered by Add () If no   </a:t>
            </a:r>
            <a:r>
              <a:rPr lang="en-US" altLang="zh-TW" sz="1600" dirty="0" err="1"/>
              <a:t>ProducerHandle</a:t>
            </a:r>
            <a:r>
              <a:rPr lang="en-US" altLang="zh-TW" sz="1600" dirty="0"/>
              <a:t> was passed into Add () NULL is returned. If a NULL pointer is passed in no data will be returned.</a:t>
            </a:r>
          </a:p>
        </p:txBody>
      </p:sp>
    </p:spTree>
    <p:extLst>
      <p:ext uri="{BB962C8B-B14F-4D97-AF65-F5344CB8AC3E}">
        <p14:creationId xmlns:p14="http://schemas.microsoft.com/office/powerpoint/2010/main" val="3499965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t>
            </a:r>
            <a:r>
              <a:rPr lang="en-US" altLang="zh-TW" dirty="0" err="1"/>
              <a:t>GetNext</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000" dirty="0" err="1">
                <a:solidFill>
                  <a:srgbClr val="404040"/>
                </a:solidFill>
                <a:latin typeface="Tahoma" pitchFamily="34" charset="0"/>
                <a:cs typeface="Tahoma" pitchFamily="34" charset="0"/>
              </a:rPr>
              <a:t>EFI_SMBIOS_PROTOCOL.GetNext</a:t>
            </a:r>
            <a:r>
              <a:rPr lang="en-US" altLang="zh-TW" sz="2000" dirty="0">
                <a:solidFill>
                  <a:srgbClr val="404040"/>
                </a:solidFill>
                <a:latin typeface="Tahoma" pitchFamily="34" charset="0"/>
                <a:cs typeface="Tahoma" pitchFamily="34" charset="0"/>
              </a:rPr>
              <a:t> () - FLOW</a:t>
            </a:r>
          </a:p>
        </p:txBody>
      </p:sp>
      <p:grpSp>
        <p:nvGrpSpPr>
          <p:cNvPr id="4" name="群組 3">
            <a:extLst>
              <a:ext uri="{FF2B5EF4-FFF2-40B4-BE49-F238E27FC236}">
                <a16:creationId xmlns:a16="http://schemas.microsoft.com/office/drawing/2014/main" id="{6588E8C4-D196-4344-A4E2-806CFEFC5C70}"/>
              </a:ext>
            </a:extLst>
          </p:cNvPr>
          <p:cNvGrpSpPr/>
          <p:nvPr/>
        </p:nvGrpSpPr>
        <p:grpSpPr>
          <a:xfrm>
            <a:off x="1916877" y="2037806"/>
            <a:ext cx="8358246" cy="4000528"/>
            <a:chOff x="214282" y="2000240"/>
            <a:chExt cx="8358246" cy="4000528"/>
          </a:xfrm>
        </p:grpSpPr>
        <p:sp>
          <p:nvSpPr>
            <p:cNvPr id="5" name="AutoShape 6">
              <a:extLst>
                <a:ext uri="{FF2B5EF4-FFF2-40B4-BE49-F238E27FC236}">
                  <a16:creationId xmlns:a16="http://schemas.microsoft.com/office/drawing/2014/main" id="{F67B8E66-B93A-49F2-8FEC-8FCB2D4ADFB8}"/>
                </a:ext>
              </a:extLst>
            </p:cNvPr>
            <p:cNvSpPr>
              <a:spLocks noChangeArrowheads="1"/>
            </p:cNvSpPr>
            <p:nvPr/>
          </p:nvSpPr>
          <p:spPr bwMode="auto">
            <a:xfrm>
              <a:off x="495300" y="2000240"/>
              <a:ext cx="3962400" cy="1285884"/>
            </a:xfrm>
            <a:prstGeom prst="flowChartDecision">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err="1"/>
                <a:t>SmbiosHandle</a:t>
              </a:r>
              <a:endParaRPr lang="en-US" altLang="zh-TW" dirty="0"/>
            </a:p>
            <a:p>
              <a:pPr algn="ctr"/>
              <a:r>
                <a:rPr lang="en-US" altLang="zh-TW" dirty="0"/>
                <a:t>== </a:t>
              </a:r>
              <a:r>
                <a:rPr lang="en-US" altLang="zh-TW" sz="1600" dirty="0"/>
                <a:t>SMBIOS_HANDLE_PI_RESERVED</a:t>
              </a:r>
            </a:p>
            <a:p>
              <a:pPr algn="ctr"/>
              <a:r>
                <a:rPr lang="en-US" altLang="zh-TW" dirty="0"/>
                <a:t>(0xFFFE)</a:t>
              </a:r>
            </a:p>
          </p:txBody>
        </p:sp>
        <p:sp>
          <p:nvSpPr>
            <p:cNvPr id="6" name="AutoShape 10">
              <a:extLst>
                <a:ext uri="{FF2B5EF4-FFF2-40B4-BE49-F238E27FC236}">
                  <a16:creationId xmlns:a16="http://schemas.microsoft.com/office/drawing/2014/main" id="{A0BE08EE-A77C-4166-92CC-2580092B0371}"/>
                </a:ext>
              </a:extLst>
            </p:cNvPr>
            <p:cNvSpPr>
              <a:spLocks noChangeArrowheads="1"/>
            </p:cNvSpPr>
            <p:nvPr/>
          </p:nvSpPr>
          <p:spPr bwMode="auto">
            <a:xfrm>
              <a:off x="571500" y="5400692"/>
              <a:ext cx="3810000" cy="600076"/>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Return the first matched SMBIOS</a:t>
              </a:r>
            </a:p>
            <a:p>
              <a:pPr algn="ctr"/>
              <a:r>
                <a:rPr lang="en-US" altLang="zh-TW" dirty="0"/>
                <a:t>Record handle</a:t>
              </a:r>
            </a:p>
          </p:txBody>
        </p:sp>
        <p:sp>
          <p:nvSpPr>
            <p:cNvPr id="7" name="AutoShape 6">
              <a:extLst>
                <a:ext uri="{FF2B5EF4-FFF2-40B4-BE49-F238E27FC236}">
                  <a16:creationId xmlns:a16="http://schemas.microsoft.com/office/drawing/2014/main" id="{C3441D77-8D39-424B-B8D3-F9EA84F2317F}"/>
                </a:ext>
              </a:extLst>
            </p:cNvPr>
            <p:cNvSpPr>
              <a:spLocks noChangeArrowheads="1"/>
            </p:cNvSpPr>
            <p:nvPr/>
          </p:nvSpPr>
          <p:spPr bwMode="auto">
            <a:xfrm>
              <a:off x="500034" y="3700466"/>
              <a:ext cx="3962400" cy="1285884"/>
            </a:xfrm>
            <a:prstGeom prst="flowChartDecision">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sz="1600" dirty="0"/>
                <a:t>Type != NULL</a:t>
              </a:r>
            </a:p>
            <a:p>
              <a:pPr algn="ctr"/>
              <a:r>
                <a:rPr lang="en-US" altLang="zh-TW" sz="1600" dirty="0"/>
                <a:t> &amp;&amp; </a:t>
              </a:r>
            </a:p>
            <a:p>
              <a:pPr algn="ctr"/>
              <a:r>
                <a:rPr lang="en-US" altLang="zh-TW" sz="1600" dirty="0"/>
                <a:t>(Type !=</a:t>
              </a:r>
              <a:r>
                <a:rPr lang="en-US" altLang="zh-TW" sz="1600" dirty="0" err="1"/>
                <a:t>SmbiosTableHeader</a:t>
              </a:r>
              <a:r>
                <a:rPr lang="en-US" altLang="zh-TW" sz="1600" dirty="0"/>
                <a:t>-&gt;Type)</a:t>
              </a:r>
            </a:p>
            <a:p>
              <a:pPr algn="ctr"/>
              <a:endParaRPr lang="en-US" altLang="zh-TW" dirty="0"/>
            </a:p>
          </p:txBody>
        </p:sp>
        <p:sp>
          <p:nvSpPr>
            <p:cNvPr id="8" name="Text Box 12">
              <a:extLst>
                <a:ext uri="{FF2B5EF4-FFF2-40B4-BE49-F238E27FC236}">
                  <a16:creationId xmlns:a16="http://schemas.microsoft.com/office/drawing/2014/main" id="{5A83370F-D8D3-49BC-8225-300B1D6FA331}"/>
                </a:ext>
              </a:extLst>
            </p:cNvPr>
            <p:cNvSpPr txBox="1">
              <a:spLocks noChangeArrowheads="1"/>
            </p:cNvSpPr>
            <p:nvPr/>
          </p:nvSpPr>
          <p:spPr bwMode="auto">
            <a:xfrm>
              <a:off x="1993886" y="3286124"/>
              <a:ext cx="577850" cy="366712"/>
            </a:xfrm>
            <a:prstGeom prst="rect">
              <a:avLst/>
            </a:prstGeom>
            <a:noFill/>
            <a:ln w="9525">
              <a:noFill/>
              <a:miter lim="800000"/>
              <a:headEnd/>
              <a:tailEnd/>
            </a:ln>
          </p:spPr>
          <p:txBody>
            <a:bodyPr wrap="none">
              <a:spAutoFit/>
            </a:bodyPr>
            <a:lstStyle/>
            <a:p>
              <a:r>
                <a:rPr lang="en-US" altLang="zh-TW" b="1" dirty="0">
                  <a:solidFill>
                    <a:srgbClr val="FF0000"/>
                  </a:solidFill>
                </a:rPr>
                <a:t>Yes</a:t>
              </a:r>
            </a:p>
          </p:txBody>
        </p:sp>
        <p:sp>
          <p:nvSpPr>
            <p:cNvPr id="9" name="Text Box 11">
              <a:extLst>
                <a:ext uri="{FF2B5EF4-FFF2-40B4-BE49-F238E27FC236}">
                  <a16:creationId xmlns:a16="http://schemas.microsoft.com/office/drawing/2014/main" id="{1CE8AC8F-1099-41B7-86C8-534AC4219185}"/>
                </a:ext>
              </a:extLst>
            </p:cNvPr>
            <p:cNvSpPr txBox="1">
              <a:spLocks noChangeArrowheads="1"/>
            </p:cNvSpPr>
            <p:nvPr/>
          </p:nvSpPr>
          <p:spPr bwMode="auto">
            <a:xfrm>
              <a:off x="4452942" y="2347907"/>
              <a:ext cx="762000" cy="366713"/>
            </a:xfrm>
            <a:prstGeom prst="rect">
              <a:avLst/>
            </a:prstGeom>
            <a:noFill/>
            <a:ln w="9525">
              <a:noFill/>
              <a:miter lim="800000"/>
              <a:headEnd/>
              <a:tailEnd/>
            </a:ln>
          </p:spPr>
          <p:txBody>
            <a:bodyPr>
              <a:spAutoFit/>
            </a:bodyPr>
            <a:lstStyle/>
            <a:p>
              <a:pPr>
                <a:spcBef>
                  <a:spcPct val="50000"/>
                </a:spcBef>
              </a:pPr>
              <a:r>
                <a:rPr lang="en-US" altLang="zh-TW" b="1" dirty="0">
                  <a:solidFill>
                    <a:srgbClr val="FF0000"/>
                  </a:solidFill>
                </a:rPr>
                <a:t>NO</a:t>
              </a:r>
            </a:p>
          </p:txBody>
        </p:sp>
        <p:sp>
          <p:nvSpPr>
            <p:cNvPr id="10" name="Text Box 12">
              <a:extLst>
                <a:ext uri="{FF2B5EF4-FFF2-40B4-BE49-F238E27FC236}">
                  <a16:creationId xmlns:a16="http://schemas.microsoft.com/office/drawing/2014/main" id="{FE9BD09C-B274-40E4-8062-5CDC2A3BD5FB}"/>
                </a:ext>
              </a:extLst>
            </p:cNvPr>
            <p:cNvSpPr txBox="1">
              <a:spLocks noChangeArrowheads="1"/>
            </p:cNvSpPr>
            <p:nvPr/>
          </p:nvSpPr>
          <p:spPr bwMode="auto">
            <a:xfrm>
              <a:off x="214282" y="3357562"/>
              <a:ext cx="577850" cy="366712"/>
            </a:xfrm>
            <a:prstGeom prst="rect">
              <a:avLst/>
            </a:prstGeom>
            <a:noFill/>
            <a:ln w="9525">
              <a:noFill/>
              <a:miter lim="800000"/>
              <a:headEnd/>
              <a:tailEnd/>
            </a:ln>
          </p:spPr>
          <p:txBody>
            <a:bodyPr wrap="none">
              <a:spAutoFit/>
            </a:bodyPr>
            <a:lstStyle/>
            <a:p>
              <a:r>
                <a:rPr lang="en-US" altLang="zh-TW" b="1" dirty="0">
                  <a:solidFill>
                    <a:srgbClr val="FF0000"/>
                  </a:solidFill>
                </a:rPr>
                <a:t>Yes</a:t>
              </a:r>
            </a:p>
          </p:txBody>
        </p:sp>
        <p:sp>
          <p:nvSpPr>
            <p:cNvPr id="11" name="Text Box 11">
              <a:extLst>
                <a:ext uri="{FF2B5EF4-FFF2-40B4-BE49-F238E27FC236}">
                  <a16:creationId xmlns:a16="http://schemas.microsoft.com/office/drawing/2014/main" id="{79CAAF81-ECD1-41E2-977C-AC8C2BF262F6}"/>
                </a:ext>
              </a:extLst>
            </p:cNvPr>
            <p:cNvSpPr txBox="1">
              <a:spLocks noChangeArrowheads="1"/>
            </p:cNvSpPr>
            <p:nvPr/>
          </p:nvSpPr>
          <p:spPr bwMode="auto">
            <a:xfrm>
              <a:off x="2024050" y="5000636"/>
              <a:ext cx="762000" cy="366713"/>
            </a:xfrm>
            <a:prstGeom prst="rect">
              <a:avLst/>
            </a:prstGeom>
            <a:noFill/>
            <a:ln w="9525">
              <a:noFill/>
              <a:miter lim="800000"/>
              <a:headEnd/>
              <a:tailEnd/>
            </a:ln>
          </p:spPr>
          <p:txBody>
            <a:bodyPr>
              <a:spAutoFit/>
            </a:bodyPr>
            <a:lstStyle/>
            <a:p>
              <a:pPr>
                <a:spcBef>
                  <a:spcPct val="50000"/>
                </a:spcBef>
              </a:pPr>
              <a:r>
                <a:rPr lang="en-US" altLang="zh-TW" b="1" dirty="0">
                  <a:solidFill>
                    <a:srgbClr val="FF0000"/>
                  </a:solidFill>
                </a:rPr>
                <a:t>NO</a:t>
              </a:r>
            </a:p>
          </p:txBody>
        </p:sp>
        <p:cxnSp>
          <p:nvCxnSpPr>
            <p:cNvPr id="12" name="直線單箭頭接點 11">
              <a:extLst>
                <a:ext uri="{FF2B5EF4-FFF2-40B4-BE49-F238E27FC236}">
                  <a16:creationId xmlns:a16="http://schemas.microsoft.com/office/drawing/2014/main" id="{2FFD2D0B-D155-418A-964E-6E9DE480AAF4}"/>
                </a:ext>
              </a:extLst>
            </p:cNvPr>
            <p:cNvCxnSpPr>
              <a:stCxn id="5" idx="2"/>
              <a:endCxn id="7" idx="0"/>
            </p:cNvCxnSpPr>
            <p:nvPr/>
          </p:nvCxnSpPr>
          <p:spPr>
            <a:xfrm rot="16200000" flipH="1">
              <a:off x="2271696" y="3490928"/>
              <a:ext cx="414342" cy="4734"/>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2D853DAC-6E50-486A-891D-D993259F1B6B}"/>
                </a:ext>
              </a:extLst>
            </p:cNvPr>
            <p:cNvCxnSpPr>
              <a:stCxn id="7" idx="2"/>
              <a:endCxn id="6" idx="0"/>
            </p:cNvCxnSpPr>
            <p:nvPr/>
          </p:nvCxnSpPr>
          <p:spPr>
            <a:xfrm rot="5400000">
              <a:off x="2271696" y="5191154"/>
              <a:ext cx="414342" cy="4734"/>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肘形接點 43">
              <a:extLst>
                <a:ext uri="{FF2B5EF4-FFF2-40B4-BE49-F238E27FC236}">
                  <a16:creationId xmlns:a16="http://schemas.microsoft.com/office/drawing/2014/main" id="{0026A559-3807-427C-9DB4-B2EF8E598D71}"/>
                </a:ext>
              </a:extLst>
            </p:cNvPr>
            <p:cNvCxnSpPr>
              <a:stCxn id="7" idx="1"/>
              <a:endCxn id="5" idx="1"/>
            </p:cNvCxnSpPr>
            <p:nvPr/>
          </p:nvCxnSpPr>
          <p:spPr>
            <a:xfrm rot="10800000">
              <a:off x="495300" y="2643182"/>
              <a:ext cx="4734" cy="1700226"/>
            </a:xfrm>
            <a:prstGeom prst="bentConnector3">
              <a:avLst>
                <a:gd name="adj1" fmla="val 4928897"/>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AutoShape 6">
              <a:extLst>
                <a:ext uri="{FF2B5EF4-FFF2-40B4-BE49-F238E27FC236}">
                  <a16:creationId xmlns:a16="http://schemas.microsoft.com/office/drawing/2014/main" id="{B9A94F4B-9118-4696-97C4-7BC45BC61630}"/>
                </a:ext>
              </a:extLst>
            </p:cNvPr>
            <p:cNvSpPr>
              <a:spLocks noChangeArrowheads="1"/>
            </p:cNvSpPr>
            <p:nvPr/>
          </p:nvSpPr>
          <p:spPr bwMode="auto">
            <a:xfrm>
              <a:off x="5076832" y="2000240"/>
              <a:ext cx="2747954" cy="1285884"/>
            </a:xfrm>
            <a:prstGeom prst="flowChartDecision">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sz="1600" dirty="0"/>
                <a:t>Find out the specified</a:t>
              </a:r>
            </a:p>
            <a:p>
              <a:pPr algn="ctr"/>
              <a:r>
                <a:rPr lang="en-US" altLang="zh-TW" sz="1600" dirty="0"/>
                <a:t> SMBIOS record</a:t>
              </a:r>
              <a:endParaRPr lang="zh-TW" altLang="en-US" sz="1600" dirty="0"/>
            </a:p>
          </p:txBody>
        </p:sp>
        <p:cxnSp>
          <p:nvCxnSpPr>
            <p:cNvPr id="16" name="直線單箭頭接點 15">
              <a:extLst>
                <a:ext uri="{FF2B5EF4-FFF2-40B4-BE49-F238E27FC236}">
                  <a16:creationId xmlns:a16="http://schemas.microsoft.com/office/drawing/2014/main" id="{FD15BDFF-32EF-41CD-A5F4-7250DD2986A5}"/>
                </a:ext>
              </a:extLst>
            </p:cNvPr>
            <p:cNvCxnSpPr>
              <a:stCxn id="5" idx="3"/>
              <a:endCxn id="15" idx="1"/>
            </p:cNvCxnSpPr>
            <p:nvPr/>
          </p:nvCxnSpPr>
          <p:spPr>
            <a:xfrm>
              <a:off x="4457700" y="2643182"/>
              <a:ext cx="619132" cy="1588"/>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AutoShape 10">
              <a:extLst>
                <a:ext uri="{FF2B5EF4-FFF2-40B4-BE49-F238E27FC236}">
                  <a16:creationId xmlns:a16="http://schemas.microsoft.com/office/drawing/2014/main" id="{75A50918-88E3-4DDD-AC37-3FFB5E26F106}"/>
                </a:ext>
              </a:extLst>
            </p:cNvPr>
            <p:cNvSpPr>
              <a:spLocks noChangeArrowheads="1"/>
            </p:cNvSpPr>
            <p:nvPr/>
          </p:nvSpPr>
          <p:spPr bwMode="auto">
            <a:xfrm>
              <a:off x="4938718" y="4043370"/>
              <a:ext cx="3024182" cy="600076"/>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Return the specific SMBIOS</a:t>
              </a:r>
            </a:p>
            <a:p>
              <a:pPr algn="ctr"/>
              <a:r>
                <a:rPr lang="en-US" altLang="zh-TW" dirty="0"/>
                <a:t>Record handle</a:t>
              </a:r>
            </a:p>
          </p:txBody>
        </p:sp>
        <p:cxnSp>
          <p:nvCxnSpPr>
            <p:cNvPr id="18" name="直線單箭頭接點 17">
              <a:extLst>
                <a:ext uri="{FF2B5EF4-FFF2-40B4-BE49-F238E27FC236}">
                  <a16:creationId xmlns:a16="http://schemas.microsoft.com/office/drawing/2014/main" id="{8F2055D5-C65D-4D4B-8383-B15ED02E5E72}"/>
                </a:ext>
              </a:extLst>
            </p:cNvPr>
            <p:cNvCxnSpPr>
              <a:stCxn id="15" idx="2"/>
              <a:endCxn id="17" idx="0"/>
            </p:cNvCxnSpPr>
            <p:nvPr/>
          </p:nvCxnSpPr>
          <p:spPr>
            <a:xfrm rot="5400000">
              <a:off x="6072186" y="3664747"/>
              <a:ext cx="757246" cy="1588"/>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AutoShape 18">
              <a:extLst>
                <a:ext uri="{FF2B5EF4-FFF2-40B4-BE49-F238E27FC236}">
                  <a16:creationId xmlns:a16="http://schemas.microsoft.com/office/drawing/2014/main" id="{CA944F7D-F0B3-479B-97DC-79063800DF50}"/>
                </a:ext>
              </a:extLst>
            </p:cNvPr>
            <p:cNvSpPr>
              <a:spLocks noChangeArrowheads="1"/>
            </p:cNvSpPr>
            <p:nvPr/>
          </p:nvSpPr>
          <p:spPr bwMode="auto">
            <a:xfrm>
              <a:off x="4964909" y="5540400"/>
              <a:ext cx="29718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Return not found</a:t>
              </a:r>
            </a:p>
          </p:txBody>
        </p:sp>
        <p:cxnSp>
          <p:nvCxnSpPr>
            <p:cNvPr id="20" name="圖案 58">
              <a:extLst>
                <a:ext uri="{FF2B5EF4-FFF2-40B4-BE49-F238E27FC236}">
                  <a16:creationId xmlns:a16="http://schemas.microsoft.com/office/drawing/2014/main" id="{D75FADBF-982A-4E83-A758-DA657996670B}"/>
                </a:ext>
              </a:extLst>
            </p:cNvPr>
            <p:cNvCxnSpPr>
              <a:stCxn id="15" idx="3"/>
              <a:endCxn id="19" idx="0"/>
            </p:cNvCxnSpPr>
            <p:nvPr/>
          </p:nvCxnSpPr>
          <p:spPr>
            <a:xfrm flipH="1">
              <a:off x="6450809" y="2643182"/>
              <a:ext cx="1373977" cy="2897218"/>
            </a:xfrm>
            <a:prstGeom prst="bentConnector4">
              <a:avLst>
                <a:gd name="adj1" fmla="val -37115"/>
                <a:gd name="adj2" fmla="val 83917"/>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 Box 11">
              <a:extLst>
                <a:ext uri="{FF2B5EF4-FFF2-40B4-BE49-F238E27FC236}">
                  <a16:creationId xmlns:a16="http://schemas.microsoft.com/office/drawing/2014/main" id="{D836261B-52D7-4D56-9C4F-7BC216B57C10}"/>
                </a:ext>
              </a:extLst>
            </p:cNvPr>
            <p:cNvSpPr txBox="1">
              <a:spLocks noChangeArrowheads="1"/>
            </p:cNvSpPr>
            <p:nvPr/>
          </p:nvSpPr>
          <p:spPr bwMode="auto">
            <a:xfrm>
              <a:off x="7810528" y="2285992"/>
              <a:ext cx="762000" cy="366713"/>
            </a:xfrm>
            <a:prstGeom prst="rect">
              <a:avLst/>
            </a:prstGeom>
            <a:noFill/>
            <a:ln w="9525">
              <a:noFill/>
              <a:miter lim="800000"/>
              <a:headEnd/>
              <a:tailEnd/>
            </a:ln>
          </p:spPr>
          <p:txBody>
            <a:bodyPr>
              <a:spAutoFit/>
            </a:bodyPr>
            <a:lstStyle/>
            <a:p>
              <a:pPr>
                <a:spcBef>
                  <a:spcPct val="50000"/>
                </a:spcBef>
              </a:pPr>
              <a:r>
                <a:rPr lang="en-US" altLang="zh-TW" b="1" dirty="0">
                  <a:solidFill>
                    <a:srgbClr val="FF0000"/>
                  </a:solidFill>
                </a:rPr>
                <a:t>NO</a:t>
              </a:r>
            </a:p>
          </p:txBody>
        </p:sp>
        <p:sp>
          <p:nvSpPr>
            <p:cNvPr id="22" name="Text Box 12">
              <a:extLst>
                <a:ext uri="{FF2B5EF4-FFF2-40B4-BE49-F238E27FC236}">
                  <a16:creationId xmlns:a16="http://schemas.microsoft.com/office/drawing/2014/main" id="{0BFD6A78-5842-43D3-AA5F-27E8F2A762D5}"/>
                </a:ext>
              </a:extLst>
            </p:cNvPr>
            <p:cNvSpPr txBox="1">
              <a:spLocks noChangeArrowheads="1"/>
            </p:cNvSpPr>
            <p:nvPr/>
          </p:nvSpPr>
          <p:spPr bwMode="auto">
            <a:xfrm>
              <a:off x="6429388" y="3429000"/>
              <a:ext cx="577850" cy="366712"/>
            </a:xfrm>
            <a:prstGeom prst="rect">
              <a:avLst/>
            </a:prstGeom>
            <a:noFill/>
            <a:ln w="9525">
              <a:noFill/>
              <a:miter lim="800000"/>
              <a:headEnd/>
              <a:tailEnd/>
            </a:ln>
          </p:spPr>
          <p:txBody>
            <a:bodyPr wrap="none">
              <a:spAutoFit/>
            </a:bodyPr>
            <a:lstStyle/>
            <a:p>
              <a:r>
                <a:rPr lang="en-US" altLang="zh-TW" b="1" dirty="0">
                  <a:solidFill>
                    <a:srgbClr val="FF0000"/>
                  </a:solidFill>
                </a:rPr>
                <a:t>Yes</a:t>
              </a:r>
            </a:p>
          </p:txBody>
        </p:sp>
      </p:grpSp>
    </p:spTree>
    <p:extLst>
      <p:ext uri="{BB962C8B-B14F-4D97-AF65-F5344CB8AC3E}">
        <p14:creationId xmlns:p14="http://schemas.microsoft.com/office/powerpoint/2010/main" val="4090244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Remove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000" dirty="0" err="1">
                <a:solidFill>
                  <a:srgbClr val="404040"/>
                </a:solidFill>
                <a:latin typeface="Tahoma" pitchFamily="34" charset="0"/>
                <a:cs typeface="Tahoma" pitchFamily="34" charset="0"/>
              </a:rPr>
              <a:t>EFI_SMBIOS_PROTOCOL.Remove</a:t>
            </a:r>
            <a:r>
              <a:rPr lang="en-US" altLang="zh-TW" sz="2000" dirty="0">
                <a:solidFill>
                  <a:srgbClr val="404040"/>
                </a:solidFill>
                <a:latin typeface="Tahoma" pitchFamily="34" charset="0"/>
                <a:cs typeface="Tahoma" pitchFamily="34" charset="0"/>
              </a:rPr>
              <a:t> () - Remove an SMBIOS record.</a:t>
            </a:r>
          </a:p>
          <a:p>
            <a:pPr lvl="1" eaLnBrk="0" hangingPunct="0">
              <a:spcBef>
                <a:spcPct val="20000"/>
              </a:spcBef>
              <a:buClr>
                <a:srgbClr val="125C0C"/>
              </a:buClr>
            </a:pPr>
            <a:r>
              <a:rPr lang="en-US" altLang="zh-TW" sz="2000" dirty="0">
                <a:solidFill>
                  <a:srgbClr val="2FA626"/>
                </a:solidFill>
              </a:rPr>
              <a:t>EFI_STATUS</a:t>
            </a:r>
            <a:br>
              <a:rPr lang="en-US" altLang="zh-TW" sz="2000" dirty="0"/>
            </a:br>
            <a:r>
              <a:rPr lang="en-US" altLang="zh-TW" sz="2000" dirty="0" err="1">
                <a:solidFill>
                  <a:srgbClr val="0E03E3"/>
                </a:solidFill>
              </a:rPr>
              <a:t>SmbiosRemove</a:t>
            </a:r>
            <a:r>
              <a:rPr lang="en-US" altLang="zh-TW" sz="2000" dirty="0"/>
              <a:t> (</a:t>
            </a:r>
            <a:br>
              <a:rPr lang="en-US" altLang="zh-TW" sz="2000" dirty="0"/>
            </a:br>
            <a:r>
              <a:rPr lang="en-US" altLang="zh-TW" sz="2000" dirty="0"/>
              <a:t> </a:t>
            </a:r>
            <a:r>
              <a:rPr lang="en-US" altLang="zh-TW" sz="2000" dirty="0">
                <a:solidFill>
                  <a:srgbClr val="FF0D0D"/>
                </a:solidFill>
              </a:rPr>
              <a:t>IN</a:t>
            </a:r>
            <a:r>
              <a:rPr lang="en-US" altLang="zh-TW" sz="2000" dirty="0"/>
              <a:t> </a:t>
            </a:r>
            <a:r>
              <a:rPr lang="en-US" altLang="zh-TW" sz="2000" dirty="0">
                <a:solidFill>
                  <a:srgbClr val="FF0D0D"/>
                </a:solidFill>
              </a:rPr>
              <a:t>CONST</a:t>
            </a:r>
            <a:r>
              <a:rPr lang="en-US" altLang="zh-TW" sz="2000" dirty="0"/>
              <a:t> </a:t>
            </a:r>
            <a:r>
              <a:rPr lang="en-US" altLang="zh-TW" sz="2000" dirty="0">
                <a:solidFill>
                  <a:srgbClr val="2FA626"/>
                </a:solidFill>
              </a:rPr>
              <a:t>EFI_SMBIOS_PROTOCOL</a:t>
            </a:r>
            <a:r>
              <a:rPr lang="en-US" altLang="zh-TW" sz="2000" dirty="0"/>
              <a:t>  	*</a:t>
            </a:r>
            <a:r>
              <a:rPr lang="en-US" altLang="zh-TW" sz="2000" dirty="0">
                <a:solidFill>
                  <a:srgbClr val="0E03E3"/>
                </a:solidFill>
              </a:rPr>
              <a:t>This</a:t>
            </a:r>
            <a:r>
              <a:rPr lang="en-US" altLang="zh-TW" sz="2000" dirty="0"/>
              <a:t>,</a:t>
            </a:r>
            <a:br>
              <a:rPr lang="en-US" altLang="zh-TW" sz="2000" dirty="0"/>
            </a:br>
            <a:r>
              <a:rPr lang="en-US" altLang="zh-TW" sz="2000" dirty="0"/>
              <a:t> </a:t>
            </a:r>
            <a:r>
              <a:rPr lang="en-US" altLang="zh-TW" sz="2000" dirty="0">
                <a:solidFill>
                  <a:srgbClr val="FF0D0D"/>
                </a:solidFill>
              </a:rPr>
              <a:t>IN</a:t>
            </a:r>
            <a:r>
              <a:rPr lang="en-US" altLang="zh-TW" sz="2000" dirty="0"/>
              <a:t> </a:t>
            </a:r>
            <a:r>
              <a:rPr lang="en-US" altLang="zh-TW" sz="2000" dirty="0">
                <a:solidFill>
                  <a:srgbClr val="2FA626"/>
                </a:solidFill>
              </a:rPr>
              <a:t>EFI_SMBIOS_HANDLE</a:t>
            </a:r>
            <a:r>
              <a:rPr lang="en-US" altLang="zh-TW" sz="2000" dirty="0"/>
              <a:t>           		</a:t>
            </a:r>
            <a:r>
              <a:rPr lang="en-US" altLang="zh-TW" sz="2000" dirty="0" err="1">
                <a:solidFill>
                  <a:srgbClr val="0E03E3"/>
                </a:solidFill>
              </a:rPr>
              <a:t>SmbiosHandle</a:t>
            </a:r>
            <a:br>
              <a:rPr lang="en-US" altLang="zh-TW" sz="2000" dirty="0"/>
            </a:br>
            <a:r>
              <a:rPr lang="en-US" altLang="zh-TW" sz="2000" dirty="0"/>
              <a:t>)</a:t>
            </a:r>
          </a:p>
          <a:p>
            <a:pPr lvl="2" eaLnBrk="0" hangingPunct="0">
              <a:spcBef>
                <a:spcPct val="20000"/>
              </a:spcBef>
              <a:buClr>
                <a:srgbClr val="125C0C"/>
              </a:buClr>
            </a:pPr>
            <a:r>
              <a:rPr lang="en-US" altLang="zh-TW" sz="1600" dirty="0"/>
              <a:t>This		   The EFI_SMBIOS_PROTOCOL instance.</a:t>
            </a:r>
          </a:p>
          <a:p>
            <a:pPr lvl="2" eaLnBrk="0" hangingPunct="0">
              <a:spcBef>
                <a:spcPct val="20000"/>
              </a:spcBef>
              <a:buClr>
                <a:srgbClr val="125C0C"/>
              </a:buClr>
            </a:pPr>
            <a:r>
              <a:rPr lang="en-US" altLang="zh-TW" sz="1600" dirty="0" err="1"/>
              <a:t>SmbiosHandle</a:t>
            </a:r>
            <a:r>
              <a:rPr lang="en-US" altLang="zh-TW" sz="1600" dirty="0"/>
              <a:t>	   The handle of the SMBIOS record to remove.</a:t>
            </a:r>
          </a:p>
        </p:txBody>
      </p:sp>
    </p:spTree>
    <p:extLst>
      <p:ext uri="{BB962C8B-B14F-4D97-AF65-F5344CB8AC3E}">
        <p14:creationId xmlns:p14="http://schemas.microsoft.com/office/powerpoint/2010/main" val="3297969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Remove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000" dirty="0" err="1">
                <a:solidFill>
                  <a:srgbClr val="404040"/>
                </a:solidFill>
                <a:latin typeface="Tahoma" pitchFamily="34" charset="0"/>
                <a:cs typeface="Tahoma" pitchFamily="34" charset="0"/>
              </a:rPr>
              <a:t>EFI_SMBIOS_PROTOCOL.Remove</a:t>
            </a:r>
            <a:r>
              <a:rPr lang="en-US" altLang="zh-TW" sz="2000" dirty="0">
                <a:solidFill>
                  <a:srgbClr val="404040"/>
                </a:solidFill>
                <a:latin typeface="Tahoma" pitchFamily="34" charset="0"/>
                <a:cs typeface="Tahoma" pitchFamily="34" charset="0"/>
              </a:rPr>
              <a:t> () - FLOW</a:t>
            </a:r>
          </a:p>
        </p:txBody>
      </p:sp>
      <p:grpSp>
        <p:nvGrpSpPr>
          <p:cNvPr id="4" name="群組 3">
            <a:extLst>
              <a:ext uri="{FF2B5EF4-FFF2-40B4-BE49-F238E27FC236}">
                <a16:creationId xmlns:a16="http://schemas.microsoft.com/office/drawing/2014/main" id="{36FF6714-0911-49D9-AFF9-137D7CF5B05E}"/>
              </a:ext>
            </a:extLst>
          </p:cNvPr>
          <p:cNvGrpSpPr/>
          <p:nvPr/>
        </p:nvGrpSpPr>
        <p:grpSpPr>
          <a:xfrm>
            <a:off x="4229100" y="2037806"/>
            <a:ext cx="3733800" cy="2819400"/>
            <a:chOff x="2695588" y="1895484"/>
            <a:chExt cx="3733800" cy="2819400"/>
          </a:xfrm>
        </p:grpSpPr>
        <p:sp>
          <p:nvSpPr>
            <p:cNvPr id="5" name="AutoShape 4">
              <a:extLst>
                <a:ext uri="{FF2B5EF4-FFF2-40B4-BE49-F238E27FC236}">
                  <a16:creationId xmlns:a16="http://schemas.microsoft.com/office/drawing/2014/main" id="{E039D394-5659-4144-A74C-29CB472D8D69}"/>
                </a:ext>
              </a:extLst>
            </p:cNvPr>
            <p:cNvSpPr>
              <a:spLocks noChangeArrowheads="1"/>
            </p:cNvSpPr>
            <p:nvPr/>
          </p:nvSpPr>
          <p:spPr bwMode="auto">
            <a:xfrm>
              <a:off x="2733688" y="1895484"/>
              <a:ext cx="3657600" cy="6096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dirty="0"/>
                <a:t>Remove specified SMBIOS record </a:t>
              </a:r>
              <a:br>
                <a:rPr lang="en-US" altLang="zh-TW" dirty="0"/>
              </a:br>
              <a:r>
                <a:rPr lang="en-US" altLang="zh-TW" dirty="0"/>
                <a:t>from </a:t>
              </a:r>
              <a:r>
                <a:rPr lang="en-US" altLang="zh-TW" dirty="0" err="1"/>
                <a:t>DataList</a:t>
              </a:r>
              <a:endParaRPr lang="en-US" altLang="zh-TW" dirty="0"/>
            </a:p>
          </p:txBody>
        </p:sp>
        <p:sp>
          <p:nvSpPr>
            <p:cNvPr id="6" name="AutoShape 5">
              <a:extLst>
                <a:ext uri="{FF2B5EF4-FFF2-40B4-BE49-F238E27FC236}">
                  <a16:creationId xmlns:a16="http://schemas.microsoft.com/office/drawing/2014/main" id="{11A51ACF-2D76-42AC-9DC1-043898D09239}"/>
                </a:ext>
              </a:extLst>
            </p:cNvPr>
            <p:cNvSpPr>
              <a:spLocks noChangeArrowheads="1"/>
            </p:cNvSpPr>
            <p:nvPr/>
          </p:nvSpPr>
          <p:spPr bwMode="auto">
            <a:xfrm>
              <a:off x="2695588" y="4333884"/>
              <a:ext cx="3733800" cy="3810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SMBIOS Table Construction</a:t>
              </a:r>
            </a:p>
          </p:txBody>
        </p:sp>
        <p:sp>
          <p:nvSpPr>
            <p:cNvPr id="7" name="AutoShape 6">
              <a:extLst>
                <a:ext uri="{FF2B5EF4-FFF2-40B4-BE49-F238E27FC236}">
                  <a16:creationId xmlns:a16="http://schemas.microsoft.com/office/drawing/2014/main" id="{3F6C521C-807D-4F56-997C-05AB2DDF47F5}"/>
                </a:ext>
              </a:extLst>
            </p:cNvPr>
            <p:cNvSpPr>
              <a:spLocks noChangeArrowheads="1"/>
            </p:cNvSpPr>
            <p:nvPr/>
          </p:nvSpPr>
          <p:spPr bwMode="auto">
            <a:xfrm>
              <a:off x="2733688" y="3089284"/>
              <a:ext cx="3657600" cy="533400"/>
            </a:xfrm>
            <a:prstGeom prst="flowChartProcess">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TW"/>
                <a:t>Remove this handle </a:t>
              </a:r>
              <a:br>
                <a:rPr lang="en-US" altLang="zh-TW"/>
              </a:br>
              <a:r>
                <a:rPr lang="en-US" altLang="zh-TW"/>
                <a:t>from AllocatedHandleList</a:t>
              </a:r>
            </a:p>
          </p:txBody>
        </p:sp>
        <p:cxnSp>
          <p:nvCxnSpPr>
            <p:cNvPr id="8" name="AutoShape 7">
              <a:extLst>
                <a:ext uri="{FF2B5EF4-FFF2-40B4-BE49-F238E27FC236}">
                  <a16:creationId xmlns:a16="http://schemas.microsoft.com/office/drawing/2014/main" id="{AE4B749F-5711-4451-8682-7A58FB5BA2F3}"/>
                </a:ext>
              </a:extLst>
            </p:cNvPr>
            <p:cNvCxnSpPr>
              <a:cxnSpLocks noChangeShapeType="1"/>
              <a:stCxn id="5" idx="2"/>
              <a:endCxn id="7" idx="0"/>
            </p:cNvCxnSpPr>
            <p:nvPr/>
          </p:nvCxnSpPr>
          <p:spPr bwMode="auto">
            <a:xfrm>
              <a:off x="4562488" y="2505084"/>
              <a:ext cx="0" cy="584200"/>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9" name="AutoShape 8">
              <a:extLst>
                <a:ext uri="{FF2B5EF4-FFF2-40B4-BE49-F238E27FC236}">
                  <a16:creationId xmlns:a16="http://schemas.microsoft.com/office/drawing/2014/main" id="{CFD56F4A-5EE3-47AC-8A2F-45B091603204}"/>
                </a:ext>
              </a:extLst>
            </p:cNvPr>
            <p:cNvCxnSpPr>
              <a:cxnSpLocks noChangeShapeType="1"/>
              <a:stCxn id="7" idx="2"/>
              <a:endCxn id="6" idx="0"/>
            </p:cNvCxnSpPr>
            <p:nvPr/>
          </p:nvCxnSpPr>
          <p:spPr bwMode="auto">
            <a:xfrm>
              <a:off x="4562488" y="3622684"/>
              <a:ext cx="0" cy="711200"/>
            </a:xfrm>
            <a:prstGeom prst="straightConnector1">
              <a:avLst/>
            </a:prstGeom>
            <a:ln>
              <a:headEn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662066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sz="2400" dirty="0"/>
              <a:t>SMBIOS Table Construction</a:t>
            </a:r>
          </a:p>
          <a:p>
            <a:pPr marL="800100" lvl="1" indent="-342900" eaLnBrk="0" hangingPunct="0">
              <a:spcBef>
                <a:spcPct val="20000"/>
              </a:spcBef>
              <a:buClr>
                <a:srgbClr val="125C0C"/>
              </a:buClr>
              <a:buFont typeface="Wingdings" pitchFamily="2" charset="2"/>
              <a:buAutoNum type="arabicPeriod"/>
            </a:pPr>
            <a:r>
              <a:rPr lang="en-US" altLang="zh-TW" dirty="0"/>
              <a:t>Create final SMBIOS Table.</a:t>
            </a:r>
          </a:p>
          <a:p>
            <a:pPr lvl="2" eaLnBrk="0" hangingPunct="0">
              <a:spcBef>
                <a:spcPct val="20000"/>
              </a:spcBef>
              <a:buClr>
                <a:srgbClr val="125C0C"/>
              </a:buClr>
            </a:pPr>
            <a:r>
              <a:rPr lang="en-US" altLang="zh-TW" dirty="0"/>
              <a:t>Every time we use SMBIOS protocol to add, remove or update string, SMBIOS Table will be re-created. </a:t>
            </a:r>
          </a:p>
          <a:p>
            <a:pPr lvl="2" eaLnBrk="0" hangingPunct="0">
              <a:spcBef>
                <a:spcPct val="20000"/>
              </a:spcBef>
              <a:buClr>
                <a:srgbClr val="125C0C"/>
              </a:buClr>
            </a:pPr>
            <a:r>
              <a:rPr lang="en-US" altLang="zh-TW" dirty="0"/>
              <a:t>SMBIOS Table is created </a:t>
            </a:r>
            <a:r>
              <a:rPr lang="en-US" altLang="zh-TW" dirty="0">
                <a:solidFill>
                  <a:schemeClr val="accent2"/>
                </a:solidFill>
              </a:rPr>
              <a:t>base on SMBIOS type order.</a:t>
            </a:r>
            <a:r>
              <a:rPr lang="en-US" altLang="zh-TW" dirty="0"/>
              <a:t> </a:t>
            </a:r>
          </a:p>
          <a:p>
            <a:pPr marL="800100" lvl="1" indent="-342900" eaLnBrk="0" hangingPunct="0">
              <a:spcBef>
                <a:spcPct val="20000"/>
              </a:spcBef>
              <a:buClr>
                <a:srgbClr val="125C0C"/>
              </a:buClr>
              <a:buFont typeface="Wingdings" pitchFamily="2" charset="2"/>
              <a:buAutoNum type="arabicPeriod"/>
            </a:pPr>
            <a:r>
              <a:rPr lang="en-US" altLang="zh-TW" dirty="0"/>
              <a:t>Install </a:t>
            </a:r>
            <a:r>
              <a:rPr lang="en-US" altLang="zh-TW" dirty="0" err="1"/>
              <a:t>gEfiSmbiosTableGuid</a:t>
            </a:r>
            <a:r>
              <a:rPr lang="en-US" altLang="zh-TW" dirty="0"/>
              <a:t> to configuration Table.</a:t>
            </a:r>
          </a:p>
        </p:txBody>
      </p:sp>
    </p:spTree>
    <p:extLst>
      <p:ext uri="{BB962C8B-B14F-4D97-AF65-F5344CB8AC3E}">
        <p14:creationId xmlns:p14="http://schemas.microsoft.com/office/powerpoint/2010/main" val="3333786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t>
            </a:r>
            <a:r>
              <a:rPr lang="en-US" altLang="zh-TW" dirty="0" err="1"/>
              <a:t>smbios</a:t>
            </a:r>
            <a:r>
              <a:rPr lang="en-US" altLang="zh-TW" dirty="0"/>
              <a:t> driver action</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5"/>
            <a:ext cx="7903029" cy="517392"/>
          </a:xfrm>
        </p:spPr>
        <p:txBody>
          <a:bodyPr>
            <a:normAutofit/>
          </a:bodyPr>
          <a:lstStyle/>
          <a:p>
            <a:pPr eaLnBrk="0" hangingPunct="0">
              <a:spcBef>
                <a:spcPct val="20000"/>
              </a:spcBef>
              <a:buClr>
                <a:srgbClr val="125C0C"/>
              </a:buClr>
            </a:pPr>
            <a:r>
              <a:rPr lang="en-US" altLang="zh-TW" sz="1800" dirty="0" err="1"/>
              <a:t>Insyde</a:t>
            </a:r>
            <a:r>
              <a:rPr lang="en-US" altLang="zh-TW" sz="1800" dirty="0"/>
              <a:t>\</a:t>
            </a:r>
            <a:r>
              <a:rPr lang="en-US" altLang="zh-TW" sz="1800" dirty="0" err="1"/>
              <a:t>InsydeModuePkg</a:t>
            </a:r>
            <a:r>
              <a:rPr lang="en-US" altLang="zh-TW" sz="1800" dirty="0"/>
              <a:t>\Universal\</a:t>
            </a:r>
            <a:r>
              <a:rPr lang="en-US" altLang="zh-TW" sz="1800" dirty="0" err="1"/>
              <a:t>Smbios</a:t>
            </a:r>
            <a:r>
              <a:rPr lang="en-US" altLang="zh-TW" sz="1800" dirty="0"/>
              <a:t>\</a:t>
            </a:r>
            <a:r>
              <a:rPr lang="en-US" altLang="zh-TW" sz="1800" dirty="0" err="1"/>
              <a:t>SmbiosDxe</a:t>
            </a:r>
            <a:r>
              <a:rPr lang="en-US" altLang="zh-TW" sz="1800" dirty="0"/>
              <a:t>\</a:t>
            </a:r>
            <a:r>
              <a:rPr lang="en-US" altLang="zh-TW" sz="1800" dirty="0" err="1"/>
              <a:t>SmbiosDxe.c</a:t>
            </a:r>
            <a:endParaRPr lang="en-US" altLang="zh-TW" sz="1800" dirty="0"/>
          </a:p>
        </p:txBody>
      </p:sp>
      <p:sp>
        <p:nvSpPr>
          <p:cNvPr id="6" name="Rectangle 5">
            <a:extLst>
              <a:ext uri="{FF2B5EF4-FFF2-40B4-BE49-F238E27FC236}">
                <a16:creationId xmlns:a16="http://schemas.microsoft.com/office/drawing/2014/main" id="{4AE18F47-9617-4CBA-9909-1587030F4E62}"/>
              </a:ext>
            </a:extLst>
          </p:cNvPr>
          <p:cNvSpPr/>
          <p:nvPr/>
        </p:nvSpPr>
        <p:spPr>
          <a:xfrm>
            <a:off x="838200" y="1915887"/>
            <a:ext cx="3189514" cy="598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SmbiosDriverEntryPoint</a:t>
            </a:r>
            <a:r>
              <a:rPr lang="en-US" dirty="0"/>
              <a:t> ()</a:t>
            </a:r>
          </a:p>
        </p:txBody>
      </p:sp>
      <p:sp>
        <p:nvSpPr>
          <p:cNvPr id="7" name="Rectangle 6">
            <a:extLst>
              <a:ext uri="{FF2B5EF4-FFF2-40B4-BE49-F238E27FC236}">
                <a16:creationId xmlns:a16="http://schemas.microsoft.com/office/drawing/2014/main" id="{56827EA3-30C4-442E-96B1-83E7CBE8B49C}"/>
              </a:ext>
            </a:extLst>
          </p:cNvPr>
          <p:cNvSpPr/>
          <p:nvPr/>
        </p:nvSpPr>
        <p:spPr>
          <a:xfrm>
            <a:off x="1213757" y="3973285"/>
            <a:ext cx="2438400" cy="1033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 2 list for SMBIOS</a:t>
            </a:r>
          </a:p>
          <a:p>
            <a:pPr marL="285750" indent="-285750">
              <a:buFont typeface="Arial" panose="020B0604020202020204" pitchFamily="34" charset="0"/>
              <a:buChar char="•"/>
            </a:pPr>
            <a:r>
              <a:rPr lang="en-US" i="1" dirty="0" err="1"/>
              <a:t>DataList</a:t>
            </a:r>
            <a:endParaRPr lang="en-US" i="1" dirty="0"/>
          </a:p>
          <a:p>
            <a:pPr marL="285750" indent="-285750">
              <a:buFont typeface="Arial" panose="020B0604020202020204" pitchFamily="34" charset="0"/>
              <a:buChar char="•"/>
            </a:pPr>
            <a:r>
              <a:rPr lang="en-US" i="1" dirty="0" err="1"/>
              <a:t>AllocatedHandleList</a:t>
            </a:r>
            <a:endParaRPr lang="en-US" i="1" dirty="0"/>
          </a:p>
        </p:txBody>
      </p:sp>
      <p:sp>
        <p:nvSpPr>
          <p:cNvPr id="8" name="Rectangle 7">
            <a:extLst>
              <a:ext uri="{FF2B5EF4-FFF2-40B4-BE49-F238E27FC236}">
                <a16:creationId xmlns:a16="http://schemas.microsoft.com/office/drawing/2014/main" id="{D83FDA43-D135-40AF-94BF-99CFBF687FA4}"/>
              </a:ext>
            </a:extLst>
          </p:cNvPr>
          <p:cNvSpPr/>
          <p:nvPr/>
        </p:nvSpPr>
        <p:spPr>
          <a:xfrm>
            <a:off x="1213757" y="5290457"/>
            <a:ext cx="2438400" cy="1033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RecordSmbios</a:t>
            </a:r>
            <a:r>
              <a:rPr lang="en-US" dirty="0"/>
              <a:t> ()</a:t>
            </a:r>
            <a:endParaRPr lang="en-US" i="1" dirty="0"/>
          </a:p>
        </p:txBody>
      </p:sp>
      <p:sp>
        <p:nvSpPr>
          <p:cNvPr id="9" name="Rectangle 8">
            <a:extLst>
              <a:ext uri="{FF2B5EF4-FFF2-40B4-BE49-F238E27FC236}">
                <a16:creationId xmlns:a16="http://schemas.microsoft.com/office/drawing/2014/main" id="{8B106905-FD87-4856-AC97-75E903A503FD}"/>
              </a:ext>
            </a:extLst>
          </p:cNvPr>
          <p:cNvSpPr/>
          <p:nvPr/>
        </p:nvSpPr>
        <p:spPr>
          <a:xfrm>
            <a:off x="4871357" y="1934234"/>
            <a:ext cx="4201883" cy="2068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t>RecordSmbios</a:t>
            </a:r>
            <a:r>
              <a:rPr lang="en-US" dirty="0"/>
              <a:t> () {</a:t>
            </a:r>
          </a:p>
          <a:p>
            <a:r>
              <a:rPr lang="en-US" dirty="0"/>
              <a:t>  …</a:t>
            </a:r>
          </a:p>
          <a:p>
            <a:r>
              <a:rPr lang="en-US" i="1" dirty="0"/>
              <a:t>  </a:t>
            </a:r>
            <a:r>
              <a:rPr lang="en-US" dirty="0"/>
              <a:t>RecordType0 ()</a:t>
            </a:r>
          </a:p>
          <a:p>
            <a:r>
              <a:rPr lang="en-US" i="1" dirty="0"/>
              <a:t>  …  </a:t>
            </a:r>
          </a:p>
          <a:p>
            <a:r>
              <a:rPr lang="en-US" dirty="0"/>
              <a:t>  </a:t>
            </a:r>
            <a:r>
              <a:rPr lang="en-US" dirty="0" err="1"/>
              <a:t>RecordEachType</a:t>
            </a:r>
            <a:r>
              <a:rPr lang="en-US" dirty="0"/>
              <a:t> ()</a:t>
            </a:r>
          </a:p>
          <a:p>
            <a:r>
              <a:rPr lang="en-US" i="1" dirty="0"/>
              <a:t>  …</a:t>
            </a:r>
          </a:p>
          <a:p>
            <a:r>
              <a:rPr lang="en-US" dirty="0"/>
              <a:t>}</a:t>
            </a:r>
          </a:p>
        </p:txBody>
      </p:sp>
      <p:sp>
        <p:nvSpPr>
          <p:cNvPr id="13" name="Rectangle 12">
            <a:extLst>
              <a:ext uri="{FF2B5EF4-FFF2-40B4-BE49-F238E27FC236}">
                <a16:creationId xmlns:a16="http://schemas.microsoft.com/office/drawing/2014/main" id="{59A77D1A-401D-445E-B258-6BA308B157E7}"/>
              </a:ext>
            </a:extLst>
          </p:cNvPr>
          <p:cNvSpPr/>
          <p:nvPr/>
        </p:nvSpPr>
        <p:spPr>
          <a:xfrm>
            <a:off x="4882245" y="4457539"/>
            <a:ext cx="2438400" cy="1033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Create new handle for this protocol</a:t>
            </a:r>
          </a:p>
          <a:p>
            <a:pPr algn="ctr"/>
            <a:r>
              <a:rPr lang="en-US" i="1" dirty="0" err="1"/>
              <a:t>gEfiSmbiosTableGuid</a:t>
            </a:r>
            <a:endParaRPr lang="en-US" i="1" dirty="0"/>
          </a:p>
        </p:txBody>
      </p:sp>
      <p:cxnSp>
        <p:nvCxnSpPr>
          <p:cNvPr id="41" name="Straight Arrow Connector 40">
            <a:extLst>
              <a:ext uri="{FF2B5EF4-FFF2-40B4-BE49-F238E27FC236}">
                <a16:creationId xmlns:a16="http://schemas.microsoft.com/office/drawing/2014/main" id="{2037460F-9582-4B68-913E-E61A798161D1}"/>
              </a:ext>
            </a:extLst>
          </p:cNvPr>
          <p:cNvCxnSpPr>
            <a:cxnSpLocks/>
            <a:stCxn id="6" idx="2"/>
            <a:endCxn id="69" idx="0"/>
          </p:cNvCxnSpPr>
          <p:nvPr/>
        </p:nvCxnSpPr>
        <p:spPr>
          <a:xfrm>
            <a:off x="2432957" y="2514600"/>
            <a:ext cx="0" cy="1962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CBC894F9-2151-4F68-AE03-130A81B96DD7}"/>
              </a:ext>
            </a:extLst>
          </p:cNvPr>
          <p:cNvCxnSpPr>
            <a:cxnSpLocks/>
            <a:stCxn id="7" idx="2"/>
            <a:endCxn id="8" idx="0"/>
          </p:cNvCxnSpPr>
          <p:nvPr/>
        </p:nvCxnSpPr>
        <p:spPr>
          <a:xfrm>
            <a:off x="2432957" y="5007107"/>
            <a:ext cx="0" cy="2833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51EF45A2-E62C-4267-9963-B4FB32BA81DC}"/>
              </a:ext>
            </a:extLst>
          </p:cNvPr>
          <p:cNvSpPr/>
          <p:nvPr/>
        </p:nvSpPr>
        <p:spPr>
          <a:xfrm>
            <a:off x="7761514" y="4457539"/>
            <a:ext cx="3592286" cy="1033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Create a event:</a:t>
            </a:r>
          </a:p>
          <a:p>
            <a:pPr algn="ctr"/>
            <a:r>
              <a:rPr lang="en-US" dirty="0"/>
              <a:t>While ready to boot, sort the  SMBIOS handle number first.</a:t>
            </a:r>
          </a:p>
        </p:txBody>
      </p:sp>
      <p:cxnSp>
        <p:nvCxnSpPr>
          <p:cNvPr id="59" name="Straight Arrow Connector 58">
            <a:extLst>
              <a:ext uri="{FF2B5EF4-FFF2-40B4-BE49-F238E27FC236}">
                <a16:creationId xmlns:a16="http://schemas.microsoft.com/office/drawing/2014/main" id="{5490C6E0-C1E5-420B-886F-8670B656698E}"/>
              </a:ext>
            </a:extLst>
          </p:cNvPr>
          <p:cNvCxnSpPr>
            <a:cxnSpLocks/>
            <a:stCxn id="13" idx="3"/>
            <a:endCxn id="58" idx="1"/>
          </p:cNvCxnSpPr>
          <p:nvPr/>
        </p:nvCxnSpPr>
        <p:spPr>
          <a:xfrm>
            <a:off x="7320645" y="4974450"/>
            <a:ext cx="44086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B6FAF6F8-DF14-4713-97DA-1D15F46AFD0B}"/>
              </a:ext>
            </a:extLst>
          </p:cNvPr>
          <p:cNvSpPr/>
          <p:nvPr/>
        </p:nvSpPr>
        <p:spPr>
          <a:xfrm>
            <a:off x="1213757" y="2710863"/>
            <a:ext cx="2438400" cy="1033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Install interface</a:t>
            </a:r>
          </a:p>
          <a:p>
            <a:pPr marL="285750" indent="-285750">
              <a:buFont typeface="Arial" panose="020B0604020202020204" pitchFamily="34" charset="0"/>
              <a:buChar char="•"/>
            </a:pPr>
            <a:r>
              <a:rPr lang="en-US" i="1" dirty="0"/>
              <a:t>Add </a:t>
            </a:r>
          </a:p>
          <a:p>
            <a:pPr marL="285750" indent="-285750">
              <a:buFont typeface="Arial" panose="020B0604020202020204" pitchFamily="34" charset="0"/>
              <a:buChar char="•"/>
            </a:pPr>
            <a:r>
              <a:rPr lang="en-US" i="1" dirty="0" err="1"/>
              <a:t>UpdateString</a:t>
            </a:r>
            <a:r>
              <a:rPr lang="en-US" i="1" dirty="0"/>
              <a:t> </a:t>
            </a:r>
          </a:p>
          <a:p>
            <a:pPr marL="285750" indent="-285750">
              <a:buFont typeface="Arial" panose="020B0604020202020204" pitchFamily="34" charset="0"/>
              <a:buChar char="•"/>
            </a:pPr>
            <a:r>
              <a:rPr lang="en-US" i="1" dirty="0"/>
              <a:t>Remove</a:t>
            </a:r>
          </a:p>
        </p:txBody>
      </p:sp>
      <p:cxnSp>
        <p:nvCxnSpPr>
          <p:cNvPr id="76" name="Straight Arrow Connector 75">
            <a:extLst>
              <a:ext uri="{FF2B5EF4-FFF2-40B4-BE49-F238E27FC236}">
                <a16:creationId xmlns:a16="http://schemas.microsoft.com/office/drawing/2014/main" id="{CA210607-E101-4DD1-AF4B-FE04B1D5C652}"/>
              </a:ext>
            </a:extLst>
          </p:cNvPr>
          <p:cNvCxnSpPr>
            <a:cxnSpLocks/>
            <a:stCxn id="69" idx="2"/>
            <a:endCxn id="7" idx="0"/>
          </p:cNvCxnSpPr>
          <p:nvPr/>
        </p:nvCxnSpPr>
        <p:spPr>
          <a:xfrm>
            <a:off x="2432957" y="3744685"/>
            <a:ext cx="0" cy="228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3CD6A9E5-EAC6-4048-AD66-72B88D84EF61}"/>
              </a:ext>
            </a:extLst>
          </p:cNvPr>
          <p:cNvCxnSpPr>
            <a:cxnSpLocks/>
            <a:stCxn id="8" idx="2"/>
            <a:endCxn id="13" idx="1"/>
          </p:cNvCxnSpPr>
          <p:nvPr/>
        </p:nvCxnSpPr>
        <p:spPr>
          <a:xfrm rot="5400000" flipH="1" flipV="1">
            <a:off x="2982686" y="4424721"/>
            <a:ext cx="1349829" cy="2449288"/>
          </a:xfrm>
          <a:prstGeom prst="bentConnector4">
            <a:avLst>
              <a:gd name="adj1" fmla="val -16935"/>
              <a:gd name="adj2" fmla="val 714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A25D375E-1E82-484C-B55C-2D1CF762E4A7}"/>
              </a:ext>
            </a:extLst>
          </p:cNvPr>
          <p:cNvCxnSpPr>
            <a:cxnSpLocks/>
            <a:stCxn id="8" idx="3"/>
            <a:endCxn id="9" idx="1"/>
          </p:cNvCxnSpPr>
          <p:nvPr/>
        </p:nvCxnSpPr>
        <p:spPr>
          <a:xfrm flipV="1">
            <a:off x="3652157" y="2968537"/>
            <a:ext cx="1219200" cy="2838831"/>
          </a:xfrm>
          <a:prstGeom prst="bentConnector3">
            <a:avLst>
              <a:gd name="adj1" fmla="val 2767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774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3" grpId="0" animBg="1"/>
      <p:bldP spid="58" grpId="0" animBg="1"/>
      <p:bldP spid="6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SMBIOS Protocol - </a:t>
            </a:r>
            <a:r>
              <a:rPr lang="en-US" altLang="zh-TW" dirty="0" err="1"/>
              <a:t>smbios</a:t>
            </a:r>
            <a:r>
              <a:rPr lang="en-US" altLang="zh-TW" dirty="0"/>
              <a:t> driver action</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5"/>
            <a:ext cx="7903029" cy="517392"/>
          </a:xfrm>
        </p:spPr>
        <p:txBody>
          <a:bodyPr>
            <a:normAutofit/>
          </a:bodyPr>
          <a:lstStyle/>
          <a:p>
            <a:pPr eaLnBrk="0" hangingPunct="0">
              <a:spcBef>
                <a:spcPct val="20000"/>
              </a:spcBef>
              <a:buClr>
                <a:srgbClr val="125C0C"/>
              </a:buClr>
            </a:pPr>
            <a:r>
              <a:rPr lang="en-US" altLang="zh-TW" sz="1800" dirty="0" err="1"/>
              <a:t>Insyde</a:t>
            </a:r>
            <a:r>
              <a:rPr lang="en-US" altLang="zh-TW" sz="1800" dirty="0"/>
              <a:t>\</a:t>
            </a:r>
            <a:r>
              <a:rPr lang="en-US" altLang="zh-TW" sz="1800" dirty="0" err="1"/>
              <a:t>InsydeModuePkg</a:t>
            </a:r>
            <a:r>
              <a:rPr lang="en-US" altLang="zh-TW" sz="1800" dirty="0"/>
              <a:t>\Universal\</a:t>
            </a:r>
            <a:r>
              <a:rPr lang="en-US" altLang="zh-TW" sz="1800" dirty="0" err="1"/>
              <a:t>Smbios</a:t>
            </a:r>
            <a:r>
              <a:rPr lang="en-US" altLang="zh-TW" sz="1800" dirty="0"/>
              <a:t>\</a:t>
            </a:r>
            <a:r>
              <a:rPr lang="en-US" altLang="zh-TW" sz="1800" dirty="0" err="1"/>
              <a:t>SmbiosDxe</a:t>
            </a:r>
            <a:r>
              <a:rPr lang="en-US" altLang="zh-TW" sz="1800" dirty="0"/>
              <a:t>\</a:t>
            </a:r>
            <a:r>
              <a:rPr lang="en-US" altLang="zh-TW" sz="1800" dirty="0" err="1"/>
              <a:t>RecordSmbios.c</a:t>
            </a:r>
            <a:endParaRPr lang="en-US" altLang="zh-TW" sz="1800" dirty="0"/>
          </a:p>
        </p:txBody>
      </p:sp>
      <p:sp>
        <p:nvSpPr>
          <p:cNvPr id="51" name="Rectangle 50">
            <a:extLst>
              <a:ext uri="{FF2B5EF4-FFF2-40B4-BE49-F238E27FC236}">
                <a16:creationId xmlns:a16="http://schemas.microsoft.com/office/drawing/2014/main" id="{1F1D34A5-661F-4891-BDB5-FC622D87892C}"/>
              </a:ext>
            </a:extLst>
          </p:cNvPr>
          <p:cNvSpPr/>
          <p:nvPr/>
        </p:nvSpPr>
        <p:spPr>
          <a:xfrm>
            <a:off x="838199" y="1915886"/>
            <a:ext cx="10874829" cy="4474027"/>
          </a:xfrm>
          <a:prstGeom prst="rect">
            <a:avLst/>
          </a:prstGeom>
          <a:solidFill>
            <a:schemeClr val="bg1">
              <a:lumMod val="50000"/>
            </a:schemeClr>
          </a:solidFill>
        </p:spPr>
        <p:style>
          <a:lnRef idx="1">
            <a:schemeClr val="accent3"/>
          </a:lnRef>
          <a:fillRef idx="2">
            <a:schemeClr val="accent3"/>
          </a:fillRef>
          <a:effectRef idx="1">
            <a:schemeClr val="accent3"/>
          </a:effectRef>
          <a:fontRef idx="minor">
            <a:schemeClr val="dk1"/>
          </a:fontRef>
        </p:style>
        <p:txBody>
          <a:bodyPr rtlCol="0" anchor="t"/>
          <a:lstStyle/>
          <a:p>
            <a:r>
              <a:rPr lang="en-US" dirty="0" err="1">
                <a:solidFill>
                  <a:schemeClr val="bg1"/>
                </a:solidFill>
              </a:rPr>
              <a:t>RecordEachType</a:t>
            </a:r>
            <a:r>
              <a:rPr lang="en-US" dirty="0">
                <a:solidFill>
                  <a:schemeClr val="bg1"/>
                </a:solidFill>
              </a:rPr>
              <a:t> () {</a:t>
            </a:r>
          </a:p>
          <a:p>
            <a:r>
              <a:rPr lang="en-US" dirty="0">
                <a:solidFill>
                  <a:schemeClr val="bg1"/>
                </a:solidFill>
              </a:rPr>
              <a:t>  …</a:t>
            </a:r>
          </a:p>
          <a:p>
            <a:r>
              <a:rPr lang="en-US" dirty="0">
                <a:solidFill>
                  <a:srgbClr val="FFFF00"/>
                </a:solidFill>
              </a:rPr>
              <a:t>  </a:t>
            </a:r>
            <a:r>
              <a:rPr lang="en-US" dirty="0" err="1">
                <a:solidFill>
                  <a:srgbClr val="FFFF00"/>
                </a:solidFill>
              </a:rPr>
              <a:t>OemSvcDxeGetSmbiosReplaceString</a:t>
            </a:r>
            <a:r>
              <a:rPr lang="en-US" dirty="0">
                <a:solidFill>
                  <a:srgbClr val="FFFF00"/>
                </a:solidFill>
              </a:rPr>
              <a:t> ()</a:t>
            </a:r>
          </a:p>
          <a:p>
            <a:r>
              <a:rPr lang="en-US" dirty="0">
                <a:solidFill>
                  <a:schemeClr val="bg1"/>
                </a:solidFill>
              </a:rPr>
              <a:t>  …</a:t>
            </a:r>
          </a:p>
          <a:p>
            <a:r>
              <a:rPr lang="en-US" dirty="0">
                <a:solidFill>
                  <a:schemeClr val="bg1"/>
                </a:solidFill>
              </a:rPr>
              <a:t>    if (</a:t>
            </a:r>
            <a:r>
              <a:rPr lang="en-US" dirty="0" err="1">
                <a:solidFill>
                  <a:schemeClr val="bg1"/>
                </a:solidFill>
              </a:rPr>
              <a:t>PcdGetBool</a:t>
            </a:r>
            <a:r>
              <a:rPr lang="en-US" dirty="0">
                <a:solidFill>
                  <a:schemeClr val="bg1"/>
                </a:solidFill>
              </a:rPr>
              <a:t> (PcdH2oDxeCpUpdateSmbiosRecordSupported)) {</a:t>
            </a:r>
          </a:p>
          <a:p>
            <a:r>
              <a:rPr lang="en-US" dirty="0">
                <a:solidFill>
                  <a:schemeClr val="bg1"/>
                </a:solidFill>
              </a:rPr>
              <a:t>      …</a:t>
            </a:r>
          </a:p>
          <a:p>
            <a:r>
              <a:rPr lang="en-US" dirty="0">
                <a:solidFill>
                  <a:schemeClr val="bg1"/>
                </a:solidFill>
              </a:rPr>
              <a:t>      //</a:t>
            </a:r>
          </a:p>
          <a:p>
            <a:r>
              <a:rPr lang="en-US" dirty="0">
                <a:solidFill>
                  <a:schemeClr val="bg1"/>
                </a:solidFill>
              </a:rPr>
              <a:t>      // H2o Checkpoint trigger to update SMBIOS</a:t>
            </a:r>
          </a:p>
          <a:p>
            <a:r>
              <a:rPr lang="en-US" dirty="0">
                <a:solidFill>
                  <a:schemeClr val="bg1"/>
                </a:solidFill>
              </a:rPr>
              <a:t>      //</a:t>
            </a:r>
          </a:p>
          <a:p>
            <a:r>
              <a:rPr lang="en-US" dirty="0">
                <a:solidFill>
                  <a:srgbClr val="FFFF00"/>
                </a:solidFill>
              </a:rPr>
              <a:t>      H2oCpTrigger (&amp;gH20DxeCpUpdateSmbiosRecord, &amp;</a:t>
            </a:r>
            <a:r>
              <a:rPr lang="en-US" dirty="0" err="1">
                <a:solidFill>
                  <a:srgbClr val="FFFF00"/>
                </a:solidFill>
              </a:rPr>
              <a:t>DxeUpdateSmbiosRecorddata</a:t>
            </a:r>
            <a:r>
              <a:rPr lang="en-US" dirty="0">
                <a:solidFill>
                  <a:srgbClr val="FFFF00"/>
                </a:solidFill>
              </a:rPr>
              <a:t>);</a:t>
            </a:r>
          </a:p>
          <a:p>
            <a:r>
              <a:rPr lang="en-US" dirty="0">
                <a:solidFill>
                  <a:schemeClr val="bg1"/>
                </a:solidFill>
              </a:rPr>
              <a:t>      …</a:t>
            </a:r>
          </a:p>
          <a:p>
            <a:r>
              <a:rPr lang="en-US" dirty="0">
                <a:solidFill>
                  <a:schemeClr val="bg1"/>
                </a:solidFill>
              </a:rPr>
              <a:t>      } </a:t>
            </a:r>
          </a:p>
          <a:p>
            <a:r>
              <a:rPr lang="en-US" dirty="0">
                <a:solidFill>
                  <a:schemeClr val="bg1"/>
                </a:solidFill>
              </a:rPr>
              <a:t>  …</a:t>
            </a:r>
          </a:p>
          <a:p>
            <a:r>
              <a:rPr lang="en-US" dirty="0">
                <a:solidFill>
                  <a:srgbClr val="FFFF00"/>
                </a:solidFill>
              </a:rPr>
              <a:t>  </a:t>
            </a:r>
            <a:r>
              <a:rPr lang="en-US" dirty="0" err="1">
                <a:solidFill>
                  <a:srgbClr val="FFFF00"/>
                </a:solidFill>
              </a:rPr>
              <a:t>OemSvcDxeUpdateSmbiosRecord</a:t>
            </a:r>
            <a:r>
              <a:rPr lang="en-US" dirty="0">
                <a:solidFill>
                  <a:srgbClr val="FFFF00"/>
                </a:solidFill>
              </a:rPr>
              <a:t> ()</a:t>
            </a:r>
          </a:p>
          <a:p>
            <a:r>
              <a:rPr lang="en-US" dirty="0">
                <a:solidFill>
                  <a:schemeClr val="bg1"/>
                </a:solidFill>
              </a:rPr>
              <a:t>  …</a:t>
            </a:r>
          </a:p>
          <a:p>
            <a:r>
              <a:rPr lang="en-US" dirty="0">
                <a:solidFill>
                  <a:schemeClr val="bg1"/>
                </a:solidFill>
              </a:rPr>
              <a:t>}</a:t>
            </a:r>
          </a:p>
        </p:txBody>
      </p:sp>
    </p:spTree>
    <p:extLst>
      <p:ext uri="{BB962C8B-B14F-4D97-AF65-F5344CB8AC3E}">
        <p14:creationId xmlns:p14="http://schemas.microsoft.com/office/powerpoint/2010/main" val="2331092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24</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Misc. SMBIOS Type Implementation</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Misc. SMBIOS Type Implementation</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pPr eaLnBrk="0" hangingPunct="0">
              <a:spcBef>
                <a:spcPct val="20000"/>
              </a:spcBef>
              <a:buClr>
                <a:srgbClr val="125C0C"/>
              </a:buClr>
            </a:pPr>
            <a:r>
              <a:rPr lang="en-US" altLang="zh-TW" sz="2200" dirty="0"/>
              <a:t>Goal</a:t>
            </a:r>
          </a:p>
          <a:p>
            <a:pPr marL="800100" lvl="1" indent="-342900" eaLnBrk="0" hangingPunct="0">
              <a:spcBef>
                <a:spcPct val="20000"/>
              </a:spcBef>
              <a:buClr>
                <a:srgbClr val="125C0C"/>
              </a:buClr>
              <a:buFont typeface="Wingdings" pitchFamily="2" charset="2"/>
              <a:buAutoNum type="arabicPeriod"/>
            </a:pPr>
            <a:r>
              <a:rPr lang="en-US" altLang="zh-TW" dirty="0">
                <a:solidFill>
                  <a:srgbClr val="404040"/>
                </a:solidFill>
                <a:ea typeface="新細明體" charset="-120"/>
                <a:cs typeface="Tahoma" pitchFamily="34" charset="0"/>
              </a:rPr>
              <a:t>Centralized management</a:t>
            </a:r>
            <a:r>
              <a:rPr lang="en-US" altLang="zh-TW" dirty="0"/>
              <a:t>.</a:t>
            </a:r>
          </a:p>
          <a:p>
            <a:pPr lvl="2" eaLnBrk="0" hangingPunct="0">
              <a:spcBef>
                <a:spcPct val="20000"/>
              </a:spcBef>
              <a:buClr>
                <a:srgbClr val="125C0C"/>
              </a:buClr>
            </a:pPr>
            <a:r>
              <a:rPr lang="en-US" altLang="zh-TW" dirty="0">
                <a:solidFill>
                  <a:srgbClr val="404040"/>
                </a:solidFill>
                <a:ea typeface="新細明體" charset="-120"/>
                <a:cs typeface="Tahoma" pitchFamily="34" charset="0"/>
              </a:rPr>
              <a:t>InsydeH2O processes  specific PCDs containing SMBIOS structure data</a:t>
            </a:r>
            <a:r>
              <a:rPr lang="en-US" altLang="zh-TW" dirty="0"/>
              <a:t> </a:t>
            </a:r>
          </a:p>
          <a:p>
            <a:pPr lvl="2" eaLnBrk="0" hangingPunct="0">
              <a:spcBef>
                <a:spcPct val="20000"/>
              </a:spcBef>
              <a:buClr>
                <a:srgbClr val="125C0C"/>
              </a:buClr>
            </a:pPr>
            <a:r>
              <a:rPr lang="en-US" altLang="zh-TW" dirty="0">
                <a:solidFill>
                  <a:srgbClr val="404040"/>
                </a:solidFill>
                <a:ea typeface="新細明體" charset="-120"/>
                <a:cs typeface="Tahoma" pitchFamily="34" charset="0"/>
              </a:rPr>
              <a:t>Add type, remove type, and modify type in one file.</a:t>
            </a:r>
          </a:p>
          <a:p>
            <a:pPr marL="1257300" lvl="2" indent="-342900" eaLnBrk="0" hangingPunct="0">
              <a:spcBef>
                <a:spcPct val="20000"/>
              </a:spcBef>
              <a:buClr>
                <a:srgbClr val="125C0C"/>
              </a:buClr>
              <a:buNone/>
            </a:pPr>
            <a:endParaRPr lang="en-US" altLang="zh-TW" dirty="0"/>
          </a:p>
          <a:p>
            <a:pPr marL="800100" lvl="1" indent="-342900" eaLnBrk="0" hangingPunct="0">
              <a:spcBef>
                <a:spcPct val="20000"/>
              </a:spcBef>
              <a:buClr>
                <a:srgbClr val="125C0C"/>
              </a:buClr>
              <a:buFont typeface="Wingdings" pitchFamily="2" charset="2"/>
              <a:buAutoNum type="arabicPeriod"/>
            </a:pPr>
            <a:r>
              <a:rPr lang="en-US" altLang="zh-TW" dirty="0">
                <a:solidFill>
                  <a:srgbClr val="404040"/>
                </a:solidFill>
                <a:ea typeface="新細明體" charset="-120"/>
                <a:cs typeface="Tahoma" pitchFamily="34" charset="0"/>
              </a:rPr>
              <a:t>Easy to customize MISC SMBIOS data</a:t>
            </a:r>
            <a:endParaRPr lang="en-US" altLang="zh-TW" dirty="0"/>
          </a:p>
        </p:txBody>
      </p:sp>
    </p:spTree>
    <p:extLst>
      <p:ext uri="{BB962C8B-B14F-4D97-AF65-F5344CB8AC3E}">
        <p14:creationId xmlns:p14="http://schemas.microsoft.com/office/powerpoint/2010/main" val="2152331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Misc. SMBIOS Type Implementation</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pPr eaLnBrk="0" hangingPunct="0">
              <a:spcBef>
                <a:spcPct val="20000"/>
              </a:spcBef>
              <a:buClr>
                <a:srgbClr val="125C0C"/>
              </a:buClr>
            </a:pPr>
            <a:r>
              <a:rPr lang="en-US" altLang="zh-TW" sz="2400" dirty="0"/>
              <a:t>Each type have three PCDs.</a:t>
            </a:r>
          </a:p>
          <a:p>
            <a:pPr marL="1371600" lvl="2" indent="-457200">
              <a:buNone/>
            </a:pPr>
            <a:r>
              <a:rPr lang="en-US" altLang="zh-TW" b="1" dirty="0" err="1">
                <a:solidFill>
                  <a:srgbClr val="0070C0"/>
                </a:solidFill>
              </a:rPr>
              <a:t>PcdActiveSmbiosTypeXXXX</a:t>
            </a:r>
            <a:endParaRPr lang="en-US" altLang="zh-TW" b="1" dirty="0">
              <a:solidFill>
                <a:srgbClr val="0070C0"/>
              </a:solidFill>
            </a:endParaRPr>
          </a:p>
          <a:p>
            <a:pPr marL="1371600" lvl="2" indent="-457200">
              <a:buNone/>
            </a:pPr>
            <a:r>
              <a:rPr lang="en-US" altLang="zh-TW" dirty="0">
                <a:solidFill>
                  <a:srgbClr val="404040"/>
                </a:solidFill>
                <a:ea typeface="新細明體" charset="-120"/>
              </a:rPr>
              <a:t>	-</a:t>
            </a:r>
            <a:r>
              <a:rPr lang="zh-TW" altLang="en-US" dirty="0">
                <a:solidFill>
                  <a:srgbClr val="404040"/>
                </a:solidFill>
                <a:ea typeface="新細明體" charset="-120"/>
              </a:rPr>
              <a:t> </a:t>
            </a:r>
            <a:r>
              <a:rPr lang="en-US" altLang="zh-TW" dirty="0"/>
              <a:t>Determines whether other SMBIOS PCDs for structure type XXX will be processed.</a:t>
            </a:r>
            <a:endParaRPr lang="en-US" altLang="zh-TW" dirty="0">
              <a:solidFill>
                <a:srgbClr val="404040"/>
              </a:solidFill>
              <a:ea typeface="新細明體" charset="-120"/>
              <a:cs typeface="Tahoma" pitchFamily="34" charset="0"/>
            </a:endParaRPr>
          </a:p>
          <a:p>
            <a:pPr marL="1371600" lvl="2" indent="-457200">
              <a:buNone/>
            </a:pPr>
            <a:r>
              <a:rPr lang="en-US" altLang="zh-TW" b="1" dirty="0" err="1">
                <a:solidFill>
                  <a:srgbClr val="0070C0"/>
                </a:solidFill>
              </a:rPr>
              <a:t>PcdTypeXXXRecord</a:t>
            </a:r>
            <a:r>
              <a:rPr lang="en-US" altLang="zh-TW" dirty="0"/>
              <a:t>, </a:t>
            </a:r>
            <a:r>
              <a:rPr lang="en-US" altLang="zh-TW" b="1" dirty="0" err="1">
                <a:solidFill>
                  <a:srgbClr val="0070C0"/>
                </a:solidFill>
              </a:rPr>
              <a:t>PcdTypeXXXRecordYYY</a:t>
            </a:r>
            <a:endParaRPr lang="en-US" altLang="zh-TW" dirty="0">
              <a:solidFill>
                <a:srgbClr val="0070C0"/>
              </a:solidFill>
              <a:ea typeface="新細明體" charset="-120"/>
              <a:cs typeface="Tahoma" pitchFamily="34" charset="0"/>
            </a:endParaRPr>
          </a:p>
          <a:p>
            <a:pPr marL="1371600" lvl="2" indent="-457200">
              <a:buNone/>
            </a:pPr>
            <a:r>
              <a:rPr lang="en-US" altLang="zh-TW" dirty="0">
                <a:solidFill>
                  <a:srgbClr val="404040"/>
                </a:solidFill>
                <a:ea typeface="新細明體" charset="-120"/>
                <a:cs typeface="Tahoma" pitchFamily="34" charset="0"/>
              </a:rPr>
              <a:t>	-</a:t>
            </a:r>
            <a:r>
              <a:rPr lang="en-US" altLang="zh-TW" dirty="0"/>
              <a:t> Provides the raw binary data for SMBIOS structure type XXX. For certain SMBIOS structure types, there may be more than one, in which case YYY (from 0-N) indicates which instance is being specified. The PCD structure has the same format as the SMBIOS structure, as defined in the SMBIOS specification, except that the strings are not included.</a:t>
            </a:r>
            <a:endParaRPr lang="en-US" altLang="zh-TW" dirty="0">
              <a:solidFill>
                <a:srgbClr val="404040"/>
              </a:solidFill>
              <a:ea typeface="新細明體" charset="-120"/>
              <a:cs typeface="Tahoma" pitchFamily="34" charset="0"/>
            </a:endParaRPr>
          </a:p>
          <a:p>
            <a:pPr marL="1371600" lvl="2" indent="-457200">
              <a:buNone/>
            </a:pPr>
            <a:r>
              <a:rPr lang="en-US" altLang="zh-TW" b="1" dirty="0" err="1">
                <a:solidFill>
                  <a:srgbClr val="0070C0"/>
                </a:solidFill>
              </a:rPr>
              <a:t>PcdTypeXXXStrings</a:t>
            </a:r>
            <a:r>
              <a:rPr lang="en-US" altLang="zh-TW" dirty="0"/>
              <a:t>, </a:t>
            </a:r>
            <a:r>
              <a:rPr lang="en-US" altLang="zh-TW" b="1" dirty="0" err="1">
                <a:solidFill>
                  <a:srgbClr val="0070C0"/>
                </a:solidFill>
              </a:rPr>
              <a:t>PcdTypeXXXStringsYYY</a:t>
            </a:r>
            <a:endParaRPr lang="en-US" altLang="zh-TW" dirty="0">
              <a:solidFill>
                <a:srgbClr val="0070C0"/>
              </a:solidFill>
              <a:ea typeface="新細明體" charset="-120"/>
              <a:cs typeface="Tahoma" pitchFamily="34" charset="0"/>
            </a:endParaRPr>
          </a:p>
          <a:p>
            <a:pPr marL="1371600" lvl="2" indent="-457200">
              <a:buNone/>
            </a:pPr>
            <a:r>
              <a:rPr lang="en-US" altLang="zh-TW" dirty="0">
                <a:solidFill>
                  <a:srgbClr val="404040"/>
                </a:solidFill>
                <a:ea typeface="新細明體" charset="-120"/>
                <a:cs typeface="Tahoma" pitchFamily="34" charset="0"/>
              </a:rPr>
              <a:t>	-</a:t>
            </a:r>
            <a:r>
              <a:rPr lang="en-US" altLang="zh-TW" dirty="0"/>
              <a:t> Provides the string data for the SMBIOS structure type XXX. For certain SMBIOS structure types, there may be more than one, in which case YYY (from 0-N) indicates which instance is being specified. If the string index in the corresponding record field is 0, then this string must be empty.</a:t>
            </a:r>
            <a:endParaRPr lang="en-US" altLang="zh-TW" dirty="0">
              <a:solidFill>
                <a:srgbClr val="404040"/>
              </a:solidFill>
              <a:ea typeface="新細明體" charset="-120"/>
              <a:cs typeface="Tahoma" pitchFamily="34" charset="0"/>
            </a:endParaRPr>
          </a:p>
        </p:txBody>
      </p:sp>
    </p:spTree>
    <p:extLst>
      <p:ext uri="{BB962C8B-B14F-4D97-AF65-F5344CB8AC3E}">
        <p14:creationId xmlns:p14="http://schemas.microsoft.com/office/powerpoint/2010/main" val="3517738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Misc. SMBIOS Type Implementation</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pPr eaLnBrk="0" hangingPunct="0">
              <a:spcBef>
                <a:spcPct val="20000"/>
              </a:spcBef>
              <a:buClr>
                <a:srgbClr val="125C0C"/>
              </a:buClr>
            </a:pPr>
            <a:r>
              <a:rPr lang="en-US" altLang="zh-TW" sz="2400" dirty="0"/>
              <a:t>Additional SMBIOS PCDs.</a:t>
            </a:r>
          </a:p>
          <a:p>
            <a:pPr marL="1371600" lvl="2" indent="-457200">
              <a:buNone/>
            </a:pPr>
            <a:r>
              <a:rPr lang="en-US" altLang="zh-TW" b="1" dirty="0" err="1">
                <a:solidFill>
                  <a:srgbClr val="0070C0"/>
                </a:solidFill>
              </a:rPr>
              <a:t>PcdSmbiosMaxMultiRecords</a:t>
            </a:r>
            <a:endParaRPr lang="en-US" altLang="zh-TW" b="1" dirty="0">
              <a:solidFill>
                <a:srgbClr val="0070C0"/>
              </a:solidFill>
            </a:endParaRPr>
          </a:p>
          <a:p>
            <a:pPr marL="1371600" lvl="2" indent="-457200">
              <a:buNone/>
            </a:pPr>
            <a:r>
              <a:rPr lang="en-US" altLang="zh-TW" dirty="0">
                <a:solidFill>
                  <a:srgbClr val="404040"/>
                </a:solidFill>
                <a:ea typeface="新細明體" charset="-120"/>
              </a:rPr>
              <a:t>	</a:t>
            </a:r>
            <a:r>
              <a:rPr lang="en-US" altLang="zh-TW" dirty="0" err="1">
                <a:solidFill>
                  <a:srgbClr val="FF0000"/>
                </a:solidFill>
                <a:latin typeface="Arial" pitchFamily="34" charset="0"/>
                <a:ea typeface="微軟正黑體" pitchFamily="34" charset="-120"/>
                <a:cs typeface="Mangal" pitchFamily="18" charset="0"/>
              </a:rPr>
              <a:t>gInsydeTokenSpaceGuid.PcdSmbiosMaxMultiRecords</a:t>
            </a:r>
            <a:r>
              <a:rPr lang="en-US" altLang="zh-TW" dirty="0">
                <a:solidFill>
                  <a:srgbClr val="FF0000"/>
                </a:solidFill>
                <a:latin typeface="Arial" pitchFamily="34" charset="0"/>
                <a:ea typeface="微軟正黑體" pitchFamily="34" charset="-120"/>
                <a:cs typeface="Mangal" pitchFamily="18" charset="0"/>
              </a:rPr>
              <a:t> | 32</a:t>
            </a:r>
          </a:p>
          <a:p>
            <a:pPr marL="1371600" lvl="2" indent="-457200">
              <a:buNone/>
            </a:pPr>
            <a:endParaRPr lang="en-US" altLang="zh-TW" dirty="0">
              <a:solidFill>
                <a:srgbClr val="404040"/>
              </a:solidFill>
              <a:ea typeface="新細明體" charset="-120"/>
              <a:cs typeface="Tahoma" pitchFamily="34" charset="0"/>
            </a:endParaRPr>
          </a:p>
          <a:p>
            <a:pPr marL="1371600" lvl="2" indent="-457200">
              <a:buNone/>
            </a:pPr>
            <a:r>
              <a:rPr lang="en-US" altLang="zh-TW" b="1" dirty="0" err="1">
                <a:solidFill>
                  <a:srgbClr val="0070C0"/>
                </a:solidFill>
              </a:rPr>
              <a:t>PcdSmbiosMultirecordsType</a:t>
            </a:r>
            <a:endParaRPr lang="en-US" altLang="zh-TW" b="1" dirty="0">
              <a:solidFill>
                <a:srgbClr val="0070C0"/>
              </a:solidFill>
            </a:endParaRPr>
          </a:p>
          <a:p>
            <a:pPr marL="1371600" lvl="2" indent="-457200">
              <a:buNone/>
            </a:pPr>
            <a:r>
              <a:rPr lang="en-US" altLang="zh-TW" dirty="0">
                <a:solidFill>
                  <a:srgbClr val="404040"/>
                </a:solidFill>
                <a:ea typeface="新細明體" charset="-120"/>
                <a:cs typeface="Tahoma" pitchFamily="34" charset="0"/>
              </a:rPr>
              <a:t>	</a:t>
            </a:r>
            <a:r>
              <a:rPr lang="en-US" altLang="zh-TW" dirty="0" err="1">
                <a:solidFill>
                  <a:srgbClr val="FF0000"/>
                </a:solidFill>
                <a:latin typeface="Arial" pitchFamily="34" charset="0"/>
                <a:ea typeface="微軟正黑體" pitchFamily="34" charset="-120"/>
                <a:cs typeface="Mangal" pitchFamily="18" charset="0"/>
              </a:rPr>
              <a:t>gInsydeTokenSpaceGuid.PcdSmbiosMultiRecordsType</a:t>
            </a:r>
            <a:r>
              <a:rPr lang="en-US" altLang="zh-TW" dirty="0">
                <a:solidFill>
                  <a:srgbClr val="FF0000"/>
                </a:solidFill>
                <a:latin typeface="Arial" pitchFamily="34" charset="0"/>
                <a:ea typeface="微軟正黑體" pitchFamily="34" charset="-120"/>
                <a:cs typeface="Mangal" pitchFamily="18" charset="0"/>
              </a:rPr>
              <a:t> | {2, 3, 4, 7, 8, 9, 17, 21, 22, 26, 27, 28, 29, 39, 41, 44}</a:t>
            </a:r>
          </a:p>
        </p:txBody>
      </p:sp>
    </p:spTree>
    <p:extLst>
      <p:ext uri="{BB962C8B-B14F-4D97-AF65-F5344CB8AC3E}">
        <p14:creationId xmlns:p14="http://schemas.microsoft.com/office/powerpoint/2010/main" val="3289572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Misc. SMBIOS Type Implementation</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fontScale="77500" lnSpcReduction="20000"/>
          </a:bodyPr>
          <a:lstStyle/>
          <a:p>
            <a:pPr eaLnBrk="0" hangingPunct="0">
              <a:lnSpc>
                <a:spcPct val="110000"/>
              </a:lnSpc>
              <a:spcBef>
                <a:spcPct val="20000"/>
              </a:spcBef>
              <a:buClr>
                <a:srgbClr val="125C0C"/>
              </a:buClr>
            </a:pPr>
            <a:r>
              <a:rPr lang="en-US" altLang="zh-TW" dirty="0"/>
              <a:t>Example</a:t>
            </a:r>
          </a:p>
          <a:p>
            <a:pPr marL="1066800" lvl="1" indent="-609600">
              <a:buFont typeface="+mj-lt"/>
              <a:buAutoNum type="arabicPeriod"/>
            </a:pPr>
            <a:r>
              <a:rPr lang="en-US" altLang="zh-TW" b="1" dirty="0">
                <a:solidFill>
                  <a:srgbClr val="0E03E3"/>
                </a:solidFill>
              </a:rPr>
              <a:t>Enable SMBIOS Structure</a:t>
            </a:r>
            <a:r>
              <a:rPr lang="en-US" altLang="zh-TW" b="1" dirty="0"/>
              <a:t> - </a:t>
            </a:r>
            <a:r>
              <a:rPr lang="en-US" altLang="zh-TW" dirty="0"/>
              <a:t>enable Type 0 PCD structures, add the following in </a:t>
            </a:r>
            <a:r>
              <a:rPr lang="en-US" altLang="zh-TW" dirty="0" err="1"/>
              <a:t>Project.dsc</a:t>
            </a:r>
            <a:r>
              <a:rPr lang="en-US" altLang="zh-TW" dirty="0"/>
              <a:t> or </a:t>
            </a:r>
            <a:r>
              <a:rPr lang="en-US" altLang="zh-TW" dirty="0" err="1"/>
              <a:t>Package.dsc</a:t>
            </a:r>
            <a:endParaRPr lang="en-US" altLang="zh-TW" b="1" dirty="0">
              <a:solidFill>
                <a:srgbClr val="0E03E3"/>
              </a:solidFill>
            </a:endParaRPr>
          </a:p>
          <a:p>
            <a:pPr marL="1066800" lvl="1" indent="-609600">
              <a:buNone/>
            </a:pPr>
            <a:r>
              <a:rPr lang="en-US" altLang="zh-TW" sz="1800" dirty="0"/>
              <a:t>	</a:t>
            </a:r>
            <a:r>
              <a:rPr lang="en-US" altLang="zh-TW" sz="1600" dirty="0"/>
              <a:t> </a:t>
            </a:r>
            <a:r>
              <a:rPr lang="en-US" altLang="zh-TW" sz="1600" dirty="0">
                <a:solidFill>
                  <a:srgbClr val="FF0000"/>
                </a:solidFill>
              </a:rPr>
              <a:t>gInsydeTokenSpaceGuid.PcdActiveSmbiosType000|TRUE</a:t>
            </a:r>
            <a:endParaRPr lang="en-US" altLang="zh-TW" sz="1600" dirty="0"/>
          </a:p>
          <a:p>
            <a:pPr marL="1066800" lvl="1" indent="-609600">
              <a:buFont typeface="+mj-lt"/>
              <a:buAutoNum type="arabicPeriod" startAt="2"/>
            </a:pPr>
            <a:r>
              <a:rPr lang="en-US" altLang="zh-TW" b="1" dirty="0">
                <a:solidFill>
                  <a:srgbClr val="0E03E3"/>
                </a:solidFill>
              </a:rPr>
              <a:t>Change SMBIOS Structure Data - </a:t>
            </a:r>
            <a:r>
              <a:rPr lang="en-US" altLang="zh-TW" dirty="0"/>
              <a:t>change the contents of the Type 0 SMBIOS structures</a:t>
            </a:r>
            <a:endParaRPr lang="en-US" altLang="zh-TW" b="1" dirty="0">
              <a:solidFill>
                <a:srgbClr val="0E03E3"/>
              </a:solidFill>
            </a:endParaRPr>
          </a:p>
          <a:p>
            <a:pPr marL="1066800" lvl="1" indent="-609600">
              <a:buNone/>
            </a:pPr>
            <a:r>
              <a:rPr lang="en-US" altLang="zh-TW" sz="1500" dirty="0"/>
              <a:t>	 </a:t>
            </a:r>
            <a:r>
              <a:rPr lang="en-US" altLang="zh-TW" sz="1500" dirty="0">
                <a:solidFill>
                  <a:srgbClr val="FF0000"/>
                </a:solidFill>
              </a:rPr>
              <a:t>gInsydeTokenSpaceGuid.PcdType000Record |{	                    \</a:t>
            </a:r>
          </a:p>
          <a:p>
            <a:pPr marL="1066800" lvl="1" indent="-609600">
              <a:buNone/>
            </a:pPr>
            <a:r>
              <a:rPr lang="en-US" altLang="zh-TW" sz="1500" dirty="0">
                <a:solidFill>
                  <a:srgbClr val="FF0000"/>
                </a:solidFill>
              </a:rPr>
              <a:t>		 0x00,				\ # Type</a:t>
            </a:r>
            <a:endParaRPr lang="en-US" altLang="zh-TW" sz="1500" dirty="0">
              <a:solidFill>
                <a:srgbClr val="FF0000"/>
              </a:solidFill>
              <a:ea typeface="新細明體" charset="-120"/>
              <a:cs typeface="Tahoma" pitchFamily="34" charset="0"/>
            </a:endParaRPr>
          </a:p>
          <a:p>
            <a:pPr marL="1066800" lvl="1" indent="-609600">
              <a:buNone/>
            </a:pPr>
            <a:r>
              <a:rPr lang="en-US" altLang="zh-TW" sz="1500" dirty="0">
                <a:solidFill>
                  <a:srgbClr val="FF0000"/>
                </a:solidFill>
                <a:ea typeface="新細明體" charset="-120"/>
                <a:cs typeface="Tahoma" pitchFamily="34" charset="0"/>
              </a:rPr>
              <a:t>		</a:t>
            </a:r>
            <a:r>
              <a:rPr lang="en-US" altLang="zh-TW" sz="1500" dirty="0">
                <a:solidFill>
                  <a:srgbClr val="FF0000"/>
                </a:solidFill>
              </a:rPr>
              <a:t> 0x00,                      			\ # Length</a:t>
            </a:r>
          </a:p>
          <a:p>
            <a:pPr marL="1066800" lvl="1" indent="-609600">
              <a:buNone/>
            </a:pPr>
            <a:r>
              <a:rPr lang="en-US" altLang="zh-TW" sz="1500" dirty="0">
                <a:solidFill>
                  <a:srgbClr val="FF0000"/>
                </a:solidFill>
              </a:rPr>
              <a:t>		 UINT16(0x0000),            		                     \ # Handle</a:t>
            </a:r>
          </a:p>
          <a:p>
            <a:pPr marL="1066800" lvl="1" indent="-609600">
              <a:buNone/>
            </a:pPr>
            <a:r>
              <a:rPr lang="en-US" altLang="zh-TW" sz="1500" dirty="0">
                <a:solidFill>
                  <a:srgbClr val="FF0000"/>
                </a:solidFill>
              </a:rPr>
              <a:t>		 0x01,                      			\ # Vendor</a:t>
            </a:r>
          </a:p>
          <a:p>
            <a:pPr marL="1066800" lvl="1" indent="-609600">
              <a:buNone/>
            </a:pPr>
            <a:r>
              <a:rPr lang="en-US" altLang="zh-TW" sz="1500" dirty="0">
                <a:solidFill>
                  <a:srgbClr val="FF0000"/>
                </a:solidFill>
              </a:rPr>
              <a:t>		 0x02,                      			\ # BIOS Version</a:t>
            </a:r>
          </a:p>
          <a:p>
            <a:pPr marL="1066800" lvl="1" indent="-609600">
              <a:buNone/>
            </a:pPr>
            <a:r>
              <a:rPr lang="en-US" altLang="zh-TW" sz="1500" dirty="0">
                <a:solidFill>
                  <a:srgbClr val="FF0000"/>
                </a:solidFill>
              </a:rPr>
              <a:t>		 UINT16(0xE000),            		                     \ # BIOS Starting Address Segment</a:t>
            </a:r>
          </a:p>
          <a:p>
            <a:pPr marL="1066800" lvl="1" indent="-609600">
              <a:buNone/>
            </a:pPr>
            <a:r>
              <a:rPr lang="en-US" altLang="zh-TW" sz="1500" dirty="0">
                <a:solidFill>
                  <a:srgbClr val="FF0000"/>
                </a:solidFill>
              </a:rPr>
              <a:t>		 0x03,                      			\ # BIOS Release Date</a:t>
            </a:r>
          </a:p>
          <a:p>
            <a:pPr marL="1066800" lvl="1" indent="-609600">
              <a:buNone/>
            </a:pPr>
            <a:r>
              <a:rPr lang="en-US" altLang="zh-TW" sz="1500" dirty="0">
                <a:solidFill>
                  <a:srgbClr val="FF0000"/>
                </a:solidFill>
              </a:rPr>
              <a:t>		 0x47,                      			\ # BIOS ROM Size</a:t>
            </a:r>
          </a:p>
          <a:p>
            <a:pPr marL="1066800" lvl="1" indent="-609600">
              <a:buNone/>
            </a:pPr>
            <a:r>
              <a:rPr lang="en-US" altLang="zh-TW" sz="1500" dirty="0">
                <a:solidFill>
                  <a:srgbClr val="FF0000"/>
                </a:solidFill>
              </a:rPr>
              <a:t>		 UINT64(0x000000004BF99880),		\ # BIOS Characteristics</a:t>
            </a:r>
          </a:p>
          <a:p>
            <a:pPr marL="1066800" lvl="1" indent="-609600">
              <a:buNone/>
            </a:pPr>
            <a:r>
              <a:rPr lang="en-US" altLang="zh-TW" sz="1500" dirty="0">
                <a:solidFill>
                  <a:srgbClr val="FF0000"/>
                </a:solidFill>
              </a:rPr>
              <a:t>		 UINT16(0x0D03),            		                    \ # BIOS Characteristics Extension Bytes</a:t>
            </a:r>
          </a:p>
          <a:p>
            <a:pPr marL="1066800" lvl="1" indent="-609600">
              <a:buNone/>
            </a:pPr>
            <a:r>
              <a:rPr lang="en-US" altLang="zh-TW" sz="1500" dirty="0">
                <a:solidFill>
                  <a:srgbClr val="FF0000"/>
                </a:solidFill>
              </a:rPr>
              <a:t>		 0x05,                      			\ # System BIOS Major Release</a:t>
            </a:r>
          </a:p>
          <a:p>
            <a:pPr marL="1066800" lvl="1" indent="-609600">
              <a:buNone/>
            </a:pPr>
            <a:r>
              <a:rPr lang="en-US" altLang="zh-TW" sz="1500" dirty="0">
                <a:solidFill>
                  <a:srgbClr val="FF0000"/>
                </a:solidFill>
              </a:rPr>
              <a:t>		 0x03,                      			\ # System BIOS Minor Release</a:t>
            </a:r>
            <a:endParaRPr lang="zh-TW" altLang="zh-TW" sz="1500" dirty="0">
              <a:solidFill>
                <a:srgbClr val="FF0000"/>
              </a:solidFill>
            </a:endParaRPr>
          </a:p>
          <a:p>
            <a:pPr marL="1066800" lvl="1" indent="-609600">
              <a:buNone/>
            </a:pPr>
            <a:r>
              <a:rPr lang="en-US" altLang="zh-TW" sz="1500" dirty="0">
                <a:solidFill>
                  <a:srgbClr val="FF0000"/>
                </a:solidFill>
              </a:rPr>
              <a:t>		 0xFF,                      			\ # Embedded Controller Firmware Major</a:t>
            </a:r>
          </a:p>
          <a:p>
            <a:pPr marL="1066800" lvl="1" indent="-609600">
              <a:buNone/>
            </a:pPr>
            <a:r>
              <a:rPr lang="en-US" altLang="zh-TW" sz="1500" dirty="0">
                <a:solidFill>
                  <a:srgbClr val="FF0000"/>
                </a:solidFill>
              </a:rPr>
              <a:t>		 0xFF                       			\ # Embedded Controller Firmware Minor</a:t>
            </a:r>
          </a:p>
          <a:p>
            <a:pPr marL="1066800" lvl="1" indent="-609600">
              <a:buNone/>
            </a:pPr>
            <a:r>
              <a:rPr lang="en-US" altLang="zh-TW" sz="1500" dirty="0">
                <a:solidFill>
                  <a:srgbClr val="FF0000"/>
                </a:solidFill>
              </a:rPr>
              <a:t>	}</a:t>
            </a:r>
          </a:p>
        </p:txBody>
      </p:sp>
    </p:spTree>
    <p:extLst>
      <p:ext uri="{BB962C8B-B14F-4D97-AF65-F5344CB8AC3E}">
        <p14:creationId xmlns:p14="http://schemas.microsoft.com/office/powerpoint/2010/main" val="2440602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Misc. SMBIOS Type Implementation</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pPr marL="1066800" lvl="1" indent="-609600">
              <a:buFont typeface="+mj-lt"/>
              <a:buAutoNum type="arabicPeriod" startAt="3"/>
            </a:pPr>
            <a:r>
              <a:rPr lang="en-US" altLang="zh-TW" b="1" dirty="0">
                <a:solidFill>
                  <a:srgbClr val="0E03E3"/>
                </a:solidFill>
              </a:rPr>
              <a:t>Change SMBIOS Structure Strings Using PCDs </a:t>
            </a:r>
            <a:r>
              <a:rPr lang="en-US" altLang="zh-TW" b="1" dirty="0"/>
              <a:t>- </a:t>
            </a:r>
            <a:r>
              <a:rPr lang="en-US" altLang="zh-TW" dirty="0"/>
              <a:t>there are three fields for strings: </a:t>
            </a:r>
            <a:r>
              <a:rPr lang="en-US" altLang="zh-TW" dirty="0">
                <a:solidFill>
                  <a:srgbClr val="FF0000"/>
                </a:solidFill>
              </a:rPr>
              <a:t>Vendor</a:t>
            </a:r>
            <a:r>
              <a:rPr lang="en-US" altLang="zh-TW" dirty="0"/>
              <a:t>, </a:t>
            </a:r>
            <a:r>
              <a:rPr lang="en-US" altLang="zh-TW" dirty="0">
                <a:solidFill>
                  <a:srgbClr val="FF0000"/>
                </a:solidFill>
              </a:rPr>
              <a:t>BIOS Version</a:t>
            </a:r>
            <a:r>
              <a:rPr lang="en-US" altLang="zh-TW" dirty="0"/>
              <a:t> and </a:t>
            </a:r>
            <a:r>
              <a:rPr lang="en-US" altLang="zh-TW" dirty="0">
                <a:solidFill>
                  <a:srgbClr val="FF0000"/>
                </a:solidFill>
              </a:rPr>
              <a:t>BIOS Release Data</a:t>
            </a:r>
            <a:r>
              <a:rPr lang="en-US" altLang="zh-TW" dirty="0"/>
              <a:t>. The order that the strings appear in the SMBIOS structure is the order that the strings must appear in the Type 0 SMBIOS string PCD</a:t>
            </a:r>
            <a:endParaRPr lang="en-US" altLang="zh-TW" b="1" dirty="0">
              <a:solidFill>
                <a:srgbClr val="0E03E3"/>
              </a:solidFill>
            </a:endParaRPr>
          </a:p>
          <a:p>
            <a:pPr marL="1066800" lvl="1" indent="-609600">
              <a:buNone/>
            </a:pPr>
            <a:r>
              <a:rPr lang="en-US" altLang="zh-TW" sz="2000" dirty="0"/>
              <a:t>	</a:t>
            </a:r>
            <a:r>
              <a:rPr lang="en-US" altLang="zh-TW" sz="1800" dirty="0"/>
              <a:t> </a:t>
            </a:r>
            <a:r>
              <a:rPr lang="en-US" altLang="zh-TW" sz="1800" dirty="0">
                <a:solidFill>
                  <a:srgbClr val="FF0000"/>
                </a:solidFill>
              </a:rPr>
              <a:t>#                                        		    Str#1         Str#2             Str#3</a:t>
            </a:r>
          </a:p>
          <a:p>
            <a:pPr marL="1066800" lvl="1" indent="-609600">
              <a:buNone/>
            </a:pPr>
            <a:r>
              <a:rPr lang="en-US" altLang="zh-TW" sz="1800" dirty="0">
                <a:solidFill>
                  <a:srgbClr val="FF0000"/>
                </a:solidFill>
              </a:rPr>
              <a:t>	 gInsydeTokenSpaceGuid.PcdType000Strings|"Insyde;05.42.35.0001;2019/07/19;"</a:t>
            </a:r>
          </a:p>
        </p:txBody>
      </p:sp>
    </p:spTree>
    <p:extLst>
      <p:ext uri="{BB962C8B-B14F-4D97-AF65-F5344CB8AC3E}">
        <p14:creationId xmlns:p14="http://schemas.microsoft.com/office/powerpoint/2010/main" val="1463730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1C9155-5F3A-464B-AA68-20803DE5F231}"/>
              </a:ext>
            </a:extLst>
          </p:cNvPr>
          <p:cNvSpPr>
            <a:spLocks noGrp="1"/>
          </p:cNvSpPr>
          <p:nvPr>
            <p:ph type="title"/>
          </p:nvPr>
        </p:nvSpPr>
        <p:spPr/>
        <p:txBody>
          <a:bodyPr/>
          <a:lstStyle/>
          <a:p>
            <a:r>
              <a:rPr lang="en-US" altLang="zh-TW" dirty="0"/>
              <a:t>Attention</a:t>
            </a:r>
            <a:endParaRPr lang="zh-TW" altLang="en-US" dirty="0"/>
          </a:p>
        </p:txBody>
      </p:sp>
      <p:sp>
        <p:nvSpPr>
          <p:cNvPr id="3" name="內容版面配置區 2">
            <a:extLst>
              <a:ext uri="{FF2B5EF4-FFF2-40B4-BE49-F238E27FC236}">
                <a16:creationId xmlns:a16="http://schemas.microsoft.com/office/drawing/2014/main" id="{093B9412-2DE1-474D-B77B-78F8952A5CD6}"/>
              </a:ext>
            </a:extLst>
          </p:cNvPr>
          <p:cNvSpPr>
            <a:spLocks noGrp="1"/>
          </p:cNvSpPr>
          <p:nvPr>
            <p:ph idx="1"/>
          </p:nvPr>
        </p:nvSpPr>
        <p:spPr/>
        <p:txBody>
          <a:bodyPr>
            <a:normAutofit lnSpcReduction="10000"/>
          </a:bodyPr>
          <a:lstStyle/>
          <a:p>
            <a:pPr hangingPunct="0">
              <a:lnSpc>
                <a:spcPct val="130000"/>
              </a:lnSpc>
              <a:spcBef>
                <a:spcPts val="500"/>
              </a:spcBef>
              <a:spcAft>
                <a:spcPts val="100"/>
              </a:spcAft>
              <a:buClr>
                <a:srgbClr val="125C0C"/>
              </a:buClr>
            </a:pPr>
            <a:r>
              <a:rPr lang="en-US" altLang="zh-TW" sz="2800" dirty="0">
                <a:solidFill>
                  <a:srgbClr val="262626"/>
                </a:solidFill>
                <a:latin typeface="Tahoma" pitchFamily="34" charset="0"/>
                <a:ea typeface="新細明體" pitchFamily="18" charset="-120"/>
                <a:cs typeface="Tahoma" pitchFamily="34" charset="0"/>
              </a:rPr>
              <a:t>All PCD must declared in </a:t>
            </a:r>
            <a:r>
              <a:rPr lang="en-US" altLang="zh-TW" sz="2800" dirty="0" err="1">
                <a:solidFill>
                  <a:srgbClr val="262626"/>
                </a:solidFill>
                <a:latin typeface="Tahoma" pitchFamily="34" charset="0"/>
                <a:ea typeface="新細明體" pitchFamily="18" charset="-120"/>
                <a:cs typeface="Tahoma" pitchFamily="34" charset="0"/>
              </a:rPr>
              <a:t>gSmbiosTokenSpaceGuid</a:t>
            </a:r>
            <a:r>
              <a:rPr lang="en-US" altLang="zh-TW" sz="2800" dirty="0">
                <a:solidFill>
                  <a:srgbClr val="262626"/>
                </a:solidFill>
                <a:latin typeface="Tahoma" pitchFamily="34" charset="0"/>
                <a:ea typeface="新細明體" pitchFamily="18" charset="-120"/>
                <a:cs typeface="Tahoma" pitchFamily="34" charset="0"/>
              </a:rPr>
              <a:t> space</a:t>
            </a:r>
          </a:p>
          <a:p>
            <a:pPr hangingPunct="0">
              <a:lnSpc>
                <a:spcPct val="130000"/>
              </a:lnSpc>
              <a:spcBef>
                <a:spcPts val="500"/>
              </a:spcBef>
              <a:spcAft>
                <a:spcPts val="100"/>
              </a:spcAft>
              <a:buClr>
                <a:srgbClr val="125C0C"/>
              </a:buClr>
            </a:pPr>
            <a:r>
              <a:rPr lang="en-US" altLang="zh-TW" sz="2800" dirty="0">
                <a:solidFill>
                  <a:srgbClr val="262626"/>
                </a:solidFill>
                <a:latin typeface="Tahoma" pitchFamily="34" charset="0"/>
                <a:ea typeface="新細明體" pitchFamily="18" charset="-120"/>
                <a:cs typeface="Tahoma" pitchFamily="34" charset="0"/>
              </a:rPr>
              <a:t>All PCD must descripted in </a:t>
            </a:r>
            <a:r>
              <a:rPr lang="en-US" altLang="zh-TW" sz="2800" dirty="0" err="1">
                <a:solidFill>
                  <a:srgbClr val="262626"/>
                </a:solidFill>
                <a:latin typeface="Tahoma" pitchFamily="34" charset="0"/>
                <a:ea typeface="新細明體" pitchFamily="18" charset="-120"/>
                <a:cs typeface="Tahoma" pitchFamily="34" charset="0"/>
              </a:rPr>
              <a:t>Project.dsc</a:t>
            </a:r>
            <a:r>
              <a:rPr lang="en-US" altLang="zh-TW" sz="2800" dirty="0">
                <a:solidFill>
                  <a:srgbClr val="262626"/>
                </a:solidFill>
                <a:latin typeface="Tahoma" pitchFamily="34" charset="0"/>
                <a:ea typeface="新細明體" pitchFamily="18" charset="-120"/>
                <a:cs typeface="Tahoma" pitchFamily="34" charset="0"/>
              </a:rPr>
              <a:t> even the PCD contain</a:t>
            </a:r>
          </a:p>
          <a:p>
            <a:pPr marL="342900" indent="-342900" hangingPunct="0">
              <a:lnSpc>
                <a:spcPct val="130000"/>
              </a:lnSpc>
              <a:spcBef>
                <a:spcPts val="500"/>
              </a:spcBef>
              <a:spcAft>
                <a:spcPts val="100"/>
              </a:spcAft>
              <a:buNone/>
            </a:pPr>
            <a:r>
              <a:rPr lang="en-US" altLang="zh-TW" sz="2800" dirty="0">
                <a:solidFill>
                  <a:srgbClr val="262626"/>
                </a:solidFill>
                <a:latin typeface="Tahoma" pitchFamily="34" charset="0"/>
                <a:ea typeface="新細明體" pitchFamily="18" charset="-120"/>
                <a:cs typeface="Tahoma" pitchFamily="34" charset="0"/>
              </a:rPr>
              <a:t>    default value</a:t>
            </a:r>
          </a:p>
          <a:p>
            <a:pPr hangingPunct="0">
              <a:lnSpc>
                <a:spcPct val="130000"/>
              </a:lnSpc>
              <a:spcBef>
                <a:spcPts val="500"/>
              </a:spcBef>
              <a:spcAft>
                <a:spcPts val="100"/>
              </a:spcAft>
              <a:buClr>
                <a:srgbClr val="125C0C"/>
              </a:buClr>
            </a:pPr>
            <a:r>
              <a:rPr lang="en-US" altLang="zh-TW" sz="2800" dirty="0">
                <a:solidFill>
                  <a:srgbClr val="262626"/>
                </a:solidFill>
                <a:latin typeface="Tahoma" pitchFamily="34" charset="0"/>
                <a:ea typeface="新細明體" pitchFamily="18" charset="-120"/>
                <a:cs typeface="Tahoma" pitchFamily="34" charset="0"/>
              </a:rPr>
              <a:t>Notice the byte order of record data by little endian</a:t>
            </a:r>
          </a:p>
          <a:p>
            <a:pPr hangingPunct="0">
              <a:lnSpc>
                <a:spcPct val="130000"/>
              </a:lnSpc>
              <a:spcBef>
                <a:spcPts val="500"/>
              </a:spcBef>
              <a:spcAft>
                <a:spcPts val="100"/>
              </a:spcAft>
              <a:buClr>
                <a:srgbClr val="125C0C"/>
              </a:buClr>
            </a:pPr>
            <a:r>
              <a:rPr lang="en-US" altLang="zh-TW" sz="2800" dirty="0">
                <a:solidFill>
                  <a:srgbClr val="262626"/>
                </a:solidFill>
                <a:latin typeface="Tahoma" pitchFamily="34" charset="0"/>
                <a:ea typeface="新細明體" pitchFamily="18" charset="-120"/>
                <a:cs typeface="Tahoma" pitchFamily="34" charset="0"/>
              </a:rPr>
              <a:t>All strings must end with ';'</a:t>
            </a:r>
          </a:p>
          <a:p>
            <a:pPr hangingPunct="0">
              <a:lnSpc>
                <a:spcPct val="130000"/>
              </a:lnSpc>
              <a:spcBef>
                <a:spcPts val="500"/>
              </a:spcBef>
              <a:spcAft>
                <a:spcPts val="100"/>
              </a:spcAft>
              <a:buClr>
                <a:srgbClr val="125C0C"/>
              </a:buClr>
            </a:pPr>
            <a:r>
              <a:rPr lang="en-US" altLang="zh-TW" sz="2800" dirty="0">
                <a:solidFill>
                  <a:srgbClr val="262626"/>
                </a:solidFill>
                <a:latin typeface="Tahoma" pitchFamily="34" charset="0"/>
                <a:ea typeface="新細明體" pitchFamily="18" charset="-120"/>
                <a:cs typeface="Tahoma" pitchFamily="34" charset="0"/>
              </a:rPr>
              <a:t>The value of field length and handle in head structure will</a:t>
            </a:r>
          </a:p>
          <a:p>
            <a:pPr marL="342900" indent="-342900" hangingPunct="0">
              <a:lnSpc>
                <a:spcPct val="130000"/>
              </a:lnSpc>
              <a:spcBef>
                <a:spcPts val="500"/>
              </a:spcBef>
              <a:spcAft>
                <a:spcPts val="100"/>
              </a:spcAft>
              <a:buNone/>
            </a:pPr>
            <a:r>
              <a:rPr lang="en-US" altLang="zh-TW" sz="2800" dirty="0">
                <a:solidFill>
                  <a:srgbClr val="262626"/>
                </a:solidFill>
                <a:latin typeface="Tahoma" pitchFamily="34" charset="0"/>
                <a:ea typeface="新細明體" pitchFamily="18" charset="-120"/>
                <a:cs typeface="Tahoma" pitchFamily="34" charset="0"/>
              </a:rPr>
              <a:t>    produced by C code</a:t>
            </a:r>
          </a:p>
          <a:p>
            <a:pPr hangingPunct="0">
              <a:lnSpc>
                <a:spcPct val="130000"/>
              </a:lnSpc>
              <a:spcBef>
                <a:spcPts val="500"/>
              </a:spcBef>
              <a:spcAft>
                <a:spcPts val="100"/>
              </a:spcAft>
              <a:buClr>
                <a:srgbClr val="125C0C"/>
              </a:buClr>
            </a:pPr>
            <a:r>
              <a:rPr lang="en-US" altLang="zh-TW" sz="2800" dirty="0">
                <a:solidFill>
                  <a:srgbClr val="262626"/>
                </a:solidFill>
                <a:latin typeface="Tahoma" pitchFamily="34" charset="0"/>
                <a:ea typeface="新細明體" pitchFamily="18" charset="-120"/>
                <a:cs typeface="Tahoma" pitchFamily="34" charset="0"/>
              </a:rPr>
              <a:t>The index number of string must assign by manual</a:t>
            </a:r>
          </a:p>
        </p:txBody>
      </p:sp>
    </p:spTree>
    <p:extLst>
      <p:ext uri="{BB962C8B-B14F-4D97-AF65-F5344CB8AC3E}">
        <p14:creationId xmlns:p14="http://schemas.microsoft.com/office/powerpoint/2010/main" val="3557295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20E27B9-5E25-4C9B-9782-AFCE3876EBE9}"/>
              </a:ext>
            </a:extLst>
          </p:cNvPr>
          <p:cNvSpPr>
            <a:spLocks noGrp="1"/>
          </p:cNvSpPr>
          <p:nvPr>
            <p:ph type="sldNum" sz="quarter" idx="12"/>
          </p:nvPr>
        </p:nvSpPr>
        <p:spPr/>
        <p:txBody>
          <a:bodyPr/>
          <a:lstStyle/>
          <a:p>
            <a:fld id="{711F1488-76AD-4E7F-AEC8-BF811B7D74A5}" type="slidenum">
              <a:rPr lang="en-US" smtClean="0"/>
              <a:pPr/>
              <a:t>31</a:t>
            </a:fld>
            <a:endParaRPr lang="en-US"/>
          </a:p>
        </p:txBody>
      </p:sp>
      <p:sp>
        <p:nvSpPr>
          <p:cNvPr id="3" name="標題 2">
            <a:extLst>
              <a:ext uri="{FF2B5EF4-FFF2-40B4-BE49-F238E27FC236}">
                <a16:creationId xmlns:a16="http://schemas.microsoft.com/office/drawing/2014/main" id="{774D0CA3-1540-43F7-90BC-39B13CB9C529}"/>
              </a:ext>
            </a:extLst>
          </p:cNvPr>
          <p:cNvSpPr>
            <a:spLocks noGrp="1"/>
          </p:cNvSpPr>
          <p:nvPr>
            <p:ph type="title"/>
          </p:nvPr>
        </p:nvSpPr>
        <p:spPr/>
        <p:txBody>
          <a:bodyPr/>
          <a:lstStyle/>
          <a:p>
            <a:r>
              <a:rPr lang="en-US" altLang="zh-TW" dirty="0"/>
              <a:t>How to Customize SMBIOS</a:t>
            </a:r>
            <a:endParaRPr lang="zh-TW" altLang="en-US" dirty="0"/>
          </a:p>
        </p:txBody>
      </p:sp>
    </p:spTree>
    <p:extLst>
      <p:ext uri="{BB962C8B-B14F-4D97-AF65-F5344CB8AC3E}">
        <p14:creationId xmlns:p14="http://schemas.microsoft.com/office/powerpoint/2010/main" val="1576858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95838-8835-40FC-876C-14E5E3895F5C}"/>
              </a:ext>
            </a:extLst>
          </p:cNvPr>
          <p:cNvSpPr>
            <a:spLocks noGrp="1"/>
          </p:cNvSpPr>
          <p:nvPr>
            <p:ph type="title"/>
          </p:nvPr>
        </p:nvSpPr>
        <p:spPr/>
        <p:txBody>
          <a:bodyPr/>
          <a:lstStyle/>
          <a:p>
            <a:r>
              <a:rPr lang="en-US" altLang="zh-TW" dirty="0"/>
              <a:t>How to Customize SMBIOS</a:t>
            </a:r>
            <a:endParaRPr lang="zh-TW" altLang="en-US" dirty="0"/>
          </a:p>
        </p:txBody>
      </p:sp>
      <p:sp>
        <p:nvSpPr>
          <p:cNvPr id="3" name="內容版面配置區 2">
            <a:extLst>
              <a:ext uri="{FF2B5EF4-FFF2-40B4-BE49-F238E27FC236}">
                <a16:creationId xmlns:a16="http://schemas.microsoft.com/office/drawing/2014/main" id="{C51F29FB-9809-4C5C-8443-B13BFCF66026}"/>
              </a:ext>
            </a:extLst>
          </p:cNvPr>
          <p:cNvSpPr>
            <a:spLocks noGrp="1"/>
          </p:cNvSpPr>
          <p:nvPr>
            <p:ph idx="1"/>
          </p:nvPr>
        </p:nvSpPr>
        <p:spPr/>
        <p:txBody>
          <a:bodyPr>
            <a:normAutofit fontScale="92500" lnSpcReduction="10000"/>
          </a:bodyPr>
          <a:lstStyle/>
          <a:p>
            <a:pPr eaLnBrk="0" hangingPunct="0">
              <a:spcBef>
                <a:spcPct val="20000"/>
              </a:spcBef>
              <a:buClr>
                <a:srgbClr val="125C0C"/>
              </a:buClr>
            </a:pPr>
            <a:r>
              <a:rPr lang="en-US" altLang="zh-TW" sz="2400" dirty="0"/>
              <a:t>The data within each SMBIOS structure can be specified using any of the following methods (from highest priority to lowest priority):</a:t>
            </a:r>
          </a:p>
          <a:p>
            <a:pPr lvl="1" eaLnBrk="0" hangingPunct="0">
              <a:spcBef>
                <a:spcPct val="20000"/>
              </a:spcBef>
              <a:buClr>
                <a:srgbClr val="125C0C"/>
              </a:buClr>
            </a:pPr>
            <a:r>
              <a:rPr lang="en-US" altLang="zh-TW" sz="2000" b="1" dirty="0" err="1">
                <a:solidFill>
                  <a:srgbClr val="0E03E3"/>
                </a:solidFill>
              </a:rPr>
              <a:t>OemSvcDxeUpdateSmbiosRecord</a:t>
            </a:r>
            <a:r>
              <a:rPr lang="en-US" altLang="zh-TW" sz="2000" b="1" dirty="0">
                <a:solidFill>
                  <a:srgbClr val="0E03E3"/>
                </a:solidFill>
              </a:rPr>
              <a:t>()</a:t>
            </a:r>
            <a:r>
              <a:rPr lang="en-US" altLang="zh-TW" sz="2000" dirty="0"/>
              <a:t>. This OEM service receives the entire SMBIOS structure, including strings, before they are installed in the SMBIOS table. So the data can be replaced at this point.</a:t>
            </a:r>
          </a:p>
          <a:p>
            <a:pPr lvl="1" eaLnBrk="0" hangingPunct="0">
              <a:spcBef>
                <a:spcPct val="20000"/>
              </a:spcBef>
              <a:buClr>
                <a:srgbClr val="125C0C"/>
              </a:buClr>
            </a:pPr>
            <a:r>
              <a:rPr lang="en-US" altLang="zh-TW" sz="2000" dirty="0"/>
              <a:t>If</a:t>
            </a:r>
            <a:r>
              <a:rPr lang="en-US" altLang="zh-TW" sz="2000" dirty="0">
                <a:solidFill>
                  <a:srgbClr val="0E03E3"/>
                </a:solidFill>
              </a:rPr>
              <a:t> </a:t>
            </a:r>
            <a:r>
              <a:rPr lang="en-US" altLang="zh-CN" sz="2000" dirty="0"/>
              <a:t>PCD</a:t>
            </a:r>
            <a:r>
              <a:rPr lang="en-US" altLang="zh-CN" sz="2000" dirty="0">
                <a:solidFill>
                  <a:srgbClr val="0E03E3"/>
                </a:solidFill>
              </a:rPr>
              <a:t> </a:t>
            </a:r>
            <a:r>
              <a:rPr lang="en-US" altLang="zh-TW" sz="2000" b="1" dirty="0">
                <a:solidFill>
                  <a:srgbClr val="0E03E3"/>
                </a:solidFill>
              </a:rPr>
              <a:t>PcdH2ODxeCpUpdateSmbiosRecordSupported </a:t>
            </a:r>
            <a:r>
              <a:rPr lang="en-US" altLang="zh-TW" sz="2000" dirty="0"/>
              <a:t>get set, </a:t>
            </a:r>
            <a:r>
              <a:rPr lang="en-US" altLang="zh-CN" sz="2000" dirty="0"/>
              <a:t>will use H2OCpTrigger () to trigger a callback event to update SMBIOS. (The SMBIOS updater callback must be register by H2OCpRegister () before call)</a:t>
            </a:r>
            <a:endParaRPr lang="zh-TW" altLang="zh-TW" sz="2000" b="1" dirty="0">
              <a:solidFill>
                <a:srgbClr val="0E03E3"/>
              </a:solidFill>
            </a:endParaRPr>
          </a:p>
          <a:p>
            <a:pPr lvl="1" eaLnBrk="0" hangingPunct="0">
              <a:spcBef>
                <a:spcPct val="20000"/>
              </a:spcBef>
              <a:buClr>
                <a:srgbClr val="125C0C"/>
              </a:buClr>
            </a:pPr>
            <a:r>
              <a:rPr lang="en-US" altLang="zh-TW" sz="2000" b="1" dirty="0" err="1">
                <a:solidFill>
                  <a:srgbClr val="0E03E3"/>
                </a:solidFill>
              </a:rPr>
              <a:t>OemSvcDxeGetSmbiosReplaceString</a:t>
            </a:r>
            <a:r>
              <a:rPr lang="en-US" altLang="zh-TW" sz="2000" b="1" dirty="0">
                <a:solidFill>
                  <a:srgbClr val="0E03E3"/>
                </a:solidFill>
              </a:rPr>
              <a:t>()</a:t>
            </a:r>
            <a:r>
              <a:rPr lang="en-US" altLang="zh-TW" sz="2000" dirty="0"/>
              <a:t>. This OEM service is passed the SMBIOS structure type and the string field offset within that structure, along with the current string and string size. The string is in the same format as described by the SMBIOS String PCDs. If it returns </a:t>
            </a:r>
            <a:r>
              <a:rPr lang="en-US" altLang="zh-TW" sz="2000" b="1" dirty="0"/>
              <a:t>EFI_MEDIA_UPDATED</a:t>
            </a:r>
            <a:r>
              <a:rPr lang="en-US" altLang="zh-TW" sz="2000" dirty="0"/>
              <a:t>, then the string returned from the service will be used.</a:t>
            </a:r>
          </a:p>
          <a:p>
            <a:pPr lvl="1" eaLnBrk="0" hangingPunct="0">
              <a:spcBef>
                <a:spcPct val="20000"/>
              </a:spcBef>
              <a:buClr>
                <a:srgbClr val="125C0C"/>
              </a:buClr>
            </a:pPr>
            <a:r>
              <a:rPr lang="en-US" altLang="zh-TW" sz="2000" b="1" dirty="0">
                <a:solidFill>
                  <a:srgbClr val="0E03E3"/>
                </a:solidFill>
              </a:rPr>
              <a:t>PNP Variable</a:t>
            </a:r>
            <a:r>
              <a:rPr lang="en-US" altLang="zh-TW" sz="2000" dirty="0"/>
              <a:t>. The variable </a:t>
            </a:r>
            <a:r>
              <a:rPr lang="en-US" altLang="zh-TW" sz="2000" dirty="0" err="1"/>
              <a:t>PnPRuntime</a:t>
            </a:r>
            <a:r>
              <a:rPr lang="en-US" altLang="zh-TW" sz="2000" dirty="0"/>
              <a:t> can specify the SMBIOS structure type, offset in that structure and new SMBIOS contents.</a:t>
            </a:r>
          </a:p>
          <a:p>
            <a:pPr lvl="1" eaLnBrk="0" hangingPunct="0">
              <a:spcBef>
                <a:spcPct val="20000"/>
              </a:spcBef>
              <a:buClr>
                <a:srgbClr val="125C0C"/>
              </a:buClr>
            </a:pPr>
            <a:r>
              <a:rPr lang="en-US" altLang="zh-TW" sz="2000" b="1" dirty="0">
                <a:solidFill>
                  <a:srgbClr val="0E03E3"/>
                </a:solidFill>
              </a:rPr>
              <a:t>PNP Region</a:t>
            </a:r>
            <a:r>
              <a:rPr lang="en-US" altLang="zh-TW" sz="2000" dirty="0"/>
              <a:t>. The PNP flash region can contain 0 or more SMBIOS update records. The format is the same as the PNP Variable.</a:t>
            </a:r>
          </a:p>
          <a:p>
            <a:pPr lvl="1" eaLnBrk="0" hangingPunct="0">
              <a:spcBef>
                <a:spcPct val="20000"/>
              </a:spcBef>
              <a:buClr>
                <a:srgbClr val="125C0C"/>
              </a:buClr>
            </a:pPr>
            <a:r>
              <a:rPr lang="en-US" altLang="zh-TW" sz="2000" b="1" dirty="0">
                <a:solidFill>
                  <a:srgbClr val="0E03E3"/>
                </a:solidFill>
              </a:rPr>
              <a:t>SMBIOS PCDs</a:t>
            </a:r>
            <a:r>
              <a:rPr lang="en-US" altLang="zh-TW" sz="2000" dirty="0"/>
              <a:t>. The SMBIOS PCDs can specify the contents for all.</a:t>
            </a:r>
            <a:endParaRPr lang="zh-TW" altLang="zh-TW" sz="2000" dirty="0"/>
          </a:p>
        </p:txBody>
      </p:sp>
    </p:spTree>
    <p:extLst>
      <p:ext uri="{BB962C8B-B14F-4D97-AF65-F5344CB8AC3E}">
        <p14:creationId xmlns:p14="http://schemas.microsoft.com/office/powerpoint/2010/main" val="2721450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95838-8835-40FC-876C-14E5E3895F5C}"/>
              </a:ext>
            </a:extLst>
          </p:cNvPr>
          <p:cNvSpPr>
            <a:spLocks noGrp="1"/>
          </p:cNvSpPr>
          <p:nvPr>
            <p:ph type="title"/>
          </p:nvPr>
        </p:nvSpPr>
        <p:spPr/>
        <p:txBody>
          <a:bodyPr/>
          <a:lstStyle/>
          <a:p>
            <a:r>
              <a:rPr lang="en-US" altLang="zh-TW" dirty="0" err="1"/>
              <a:t>OemSvcUpdateSmbiosRecord</a:t>
            </a:r>
            <a:endParaRPr lang="zh-TW" altLang="en-US" dirty="0"/>
          </a:p>
        </p:txBody>
      </p:sp>
      <p:sp>
        <p:nvSpPr>
          <p:cNvPr id="3" name="內容版面配置區 2">
            <a:extLst>
              <a:ext uri="{FF2B5EF4-FFF2-40B4-BE49-F238E27FC236}">
                <a16:creationId xmlns:a16="http://schemas.microsoft.com/office/drawing/2014/main" id="{C51F29FB-9809-4C5C-8443-B13BFCF66026}"/>
              </a:ext>
            </a:extLst>
          </p:cNvPr>
          <p:cNvSpPr>
            <a:spLocks noGrp="1"/>
          </p:cNvSpPr>
          <p:nvPr>
            <p:ph idx="1"/>
          </p:nvPr>
        </p:nvSpPr>
        <p:spPr/>
        <p:txBody>
          <a:bodyPr/>
          <a:lstStyle/>
          <a:p>
            <a:pPr eaLnBrk="0" hangingPunct="0">
              <a:spcBef>
                <a:spcPct val="20000"/>
              </a:spcBef>
              <a:buClr>
                <a:srgbClr val="125C0C"/>
              </a:buClr>
            </a:pPr>
            <a:r>
              <a:rPr lang="en-US" altLang="zh-TW" sz="2400" dirty="0"/>
              <a:t>This service will be call by each time add SMBIOS record. OEM can modify SMBIOS record in runtime.</a:t>
            </a:r>
          </a:p>
          <a:p>
            <a:pPr lvl="1" eaLnBrk="0" hangingPunct="0">
              <a:spcBef>
                <a:spcPct val="20000"/>
              </a:spcBef>
              <a:buClr>
                <a:srgbClr val="125C0C"/>
              </a:buClr>
            </a:pPr>
            <a:r>
              <a:rPr lang="en-US" altLang="zh-TW" sz="2000" dirty="0"/>
              <a:t>Example</a:t>
            </a:r>
          </a:p>
        </p:txBody>
      </p:sp>
      <p:sp>
        <p:nvSpPr>
          <p:cNvPr id="5" name="Text Box 5">
            <a:extLst>
              <a:ext uri="{FF2B5EF4-FFF2-40B4-BE49-F238E27FC236}">
                <a16:creationId xmlns:a16="http://schemas.microsoft.com/office/drawing/2014/main" id="{AE8BF567-BAC2-43E5-80E7-5501ABC16B80}"/>
              </a:ext>
            </a:extLst>
          </p:cNvPr>
          <p:cNvSpPr txBox="1">
            <a:spLocks noChangeArrowheads="1"/>
          </p:cNvSpPr>
          <p:nvPr/>
        </p:nvSpPr>
        <p:spPr bwMode="auto">
          <a:xfrm>
            <a:off x="4154996" y="2523051"/>
            <a:ext cx="3882008" cy="2862322"/>
          </a:xfrm>
          <a:prstGeom prst="rect">
            <a:avLst/>
          </a:prstGeom>
          <a:solidFill>
            <a:schemeClr val="bg1"/>
          </a:solidFill>
          <a:ln w="9525">
            <a:solidFill>
              <a:schemeClr val="tx1"/>
            </a:solidFill>
            <a:miter lim="800000"/>
            <a:headEnd/>
            <a:tailEnd/>
          </a:ln>
          <a:effectLst>
            <a:prstShdw prst="shdw17" dist="17961" dir="2700000">
              <a:schemeClr val="tx1">
                <a:gamma/>
                <a:shade val="60000"/>
                <a:invGamma/>
              </a:schemeClr>
            </a:prstShdw>
          </a:effectLst>
        </p:spPr>
        <p:txBody>
          <a:bodyPr wrap="square">
            <a:spAutoFit/>
          </a:bodyPr>
          <a:lstStyle/>
          <a:p>
            <a:pPr>
              <a:defRPr/>
            </a:pPr>
            <a:r>
              <a:rPr lang="en-US" altLang="zh-TW" sz="1200" dirty="0">
                <a:solidFill>
                  <a:srgbClr val="2FA626"/>
                </a:solidFill>
                <a:latin typeface="Calibri" pitchFamily="34" charset="0"/>
              </a:rPr>
              <a:t>EFI_STATUS</a:t>
            </a:r>
          </a:p>
          <a:p>
            <a:pPr>
              <a:defRPr/>
            </a:pPr>
            <a:r>
              <a:rPr lang="en-US" altLang="zh-TW" sz="1200" dirty="0" err="1">
                <a:solidFill>
                  <a:srgbClr val="0000FF"/>
                </a:solidFill>
                <a:latin typeface="Calibri" pitchFamily="34" charset="0"/>
              </a:rPr>
              <a:t>OemSvcDxeUpdateSmbiosRecord</a:t>
            </a:r>
            <a:r>
              <a:rPr lang="en-US" altLang="zh-TW" sz="1200" dirty="0">
                <a:solidFill>
                  <a:srgbClr val="0000FF"/>
                </a:solidFill>
                <a:latin typeface="Calibri" pitchFamily="34" charset="0"/>
              </a:rPr>
              <a:t> </a:t>
            </a:r>
            <a:r>
              <a:rPr lang="en-US" altLang="zh-TW" sz="1200" dirty="0">
                <a:latin typeface="Calibri" pitchFamily="34" charset="0"/>
              </a:rPr>
              <a:t>(</a:t>
            </a:r>
          </a:p>
          <a:p>
            <a:pPr>
              <a:defRPr/>
            </a:pPr>
            <a:r>
              <a:rPr lang="en-US" altLang="zh-TW" sz="1200" dirty="0">
                <a:solidFill>
                  <a:srgbClr val="0000FF"/>
                </a:solidFill>
                <a:latin typeface="Calibri" pitchFamily="34" charset="0"/>
              </a:rPr>
              <a:t>  </a:t>
            </a:r>
            <a:r>
              <a:rPr lang="en-US" altLang="zh-TW" sz="1200" dirty="0">
                <a:solidFill>
                  <a:srgbClr val="FF0000"/>
                </a:solidFill>
                <a:latin typeface="Calibri" pitchFamily="34" charset="0"/>
              </a:rPr>
              <a:t>IN</a:t>
            </a:r>
            <a:r>
              <a:rPr lang="en-US" altLang="zh-TW" sz="1200" dirty="0">
                <a:solidFill>
                  <a:srgbClr val="0000FF"/>
                </a:solidFill>
                <a:latin typeface="Calibri" pitchFamily="34" charset="0"/>
              </a:rPr>
              <a:t> </a:t>
            </a:r>
            <a:r>
              <a:rPr lang="en-US" altLang="zh-TW" sz="1200" dirty="0">
                <a:solidFill>
                  <a:srgbClr val="FF0000"/>
                </a:solidFill>
                <a:latin typeface="Calibri" pitchFamily="34" charset="0"/>
              </a:rPr>
              <a:t>OUT</a:t>
            </a:r>
            <a:r>
              <a:rPr lang="en-US" altLang="zh-TW" sz="1200" dirty="0">
                <a:solidFill>
                  <a:srgbClr val="0000FF"/>
                </a:solidFill>
                <a:latin typeface="Calibri" pitchFamily="34" charset="0"/>
              </a:rPr>
              <a:t> </a:t>
            </a:r>
            <a:r>
              <a:rPr lang="en-US" altLang="zh-TW" sz="1200" dirty="0">
                <a:solidFill>
                  <a:srgbClr val="2FA626"/>
                </a:solidFill>
                <a:latin typeface="Calibri" pitchFamily="34" charset="0"/>
              </a:rPr>
              <a:t>EFI_SMBIOS_TABLE_HEADER</a:t>
            </a:r>
            <a:r>
              <a:rPr lang="en-US" altLang="zh-TW" sz="1200" dirty="0">
                <a:solidFill>
                  <a:srgbClr val="0000FF"/>
                </a:solidFill>
                <a:latin typeface="Calibri" pitchFamily="34" charset="0"/>
              </a:rPr>
              <a:t> *</a:t>
            </a:r>
            <a:r>
              <a:rPr lang="en-US" altLang="zh-TW" sz="1200" dirty="0" err="1">
                <a:solidFill>
                  <a:srgbClr val="0000FF"/>
                </a:solidFill>
                <a:latin typeface="Calibri" pitchFamily="34" charset="0"/>
              </a:rPr>
              <a:t>RecordBuffer</a:t>
            </a:r>
            <a:endParaRPr lang="en-US" altLang="zh-TW" sz="1200" dirty="0">
              <a:solidFill>
                <a:srgbClr val="0000FF"/>
              </a:solidFill>
              <a:latin typeface="Calibri" pitchFamily="34" charset="0"/>
            </a:endParaRPr>
          </a:p>
          <a:p>
            <a:pPr>
              <a:defRPr/>
            </a:pPr>
            <a:r>
              <a:rPr lang="en-US" altLang="zh-TW" sz="1200" dirty="0">
                <a:latin typeface="Calibri" pitchFamily="34" charset="0"/>
              </a:rPr>
              <a:t>  )</a:t>
            </a:r>
          </a:p>
          <a:p>
            <a:pPr>
              <a:defRPr/>
            </a:pPr>
            <a:r>
              <a:rPr lang="en-US" altLang="zh-TW" sz="1200" dirty="0">
                <a:latin typeface="Calibri" pitchFamily="34" charset="0"/>
              </a:rPr>
              <a:t>{</a:t>
            </a:r>
          </a:p>
          <a:p>
            <a:pPr>
              <a:defRPr/>
            </a:pPr>
            <a:r>
              <a:rPr lang="en-US" altLang="zh-TW" sz="1200" dirty="0">
                <a:latin typeface="Calibri" pitchFamily="34" charset="0"/>
              </a:rPr>
              <a:t>    …</a:t>
            </a:r>
            <a:endParaRPr lang="en-US" altLang="zh-TW" sz="1200" dirty="0">
              <a:solidFill>
                <a:srgbClr val="FF0000"/>
              </a:solidFill>
              <a:latin typeface="Calibri" pitchFamily="34" charset="0"/>
            </a:endParaRPr>
          </a:p>
          <a:p>
            <a:pPr>
              <a:defRPr/>
            </a:pPr>
            <a:r>
              <a:rPr lang="en-US" altLang="zh-TW" sz="1200" dirty="0">
                <a:solidFill>
                  <a:srgbClr val="FF0000"/>
                </a:solidFill>
                <a:latin typeface="Calibri" pitchFamily="34" charset="0"/>
              </a:rPr>
              <a:t>    </a:t>
            </a:r>
            <a:r>
              <a:rPr lang="en-US" altLang="zh-TW" sz="1200" dirty="0">
                <a:latin typeface="Calibri" pitchFamily="34" charset="0"/>
              </a:rPr>
              <a:t>Status = EFI_UNSUPPORTED;</a:t>
            </a:r>
          </a:p>
          <a:p>
            <a:pPr>
              <a:defRPr/>
            </a:pPr>
            <a:r>
              <a:rPr lang="en-US" altLang="zh-TW" sz="1200" dirty="0">
                <a:solidFill>
                  <a:srgbClr val="FF0000"/>
                </a:solidFill>
                <a:latin typeface="Calibri" pitchFamily="34" charset="0"/>
              </a:rPr>
              <a:t>    switch (</a:t>
            </a:r>
            <a:r>
              <a:rPr lang="en-US" altLang="zh-TW" sz="1200" dirty="0" err="1">
                <a:solidFill>
                  <a:srgbClr val="FF0000"/>
                </a:solidFill>
                <a:latin typeface="Calibri" pitchFamily="34" charset="0"/>
              </a:rPr>
              <a:t>RecordBuffer</a:t>
            </a:r>
            <a:r>
              <a:rPr lang="en-US" altLang="zh-TW" sz="1200" dirty="0">
                <a:solidFill>
                  <a:srgbClr val="FF0000"/>
                </a:solidFill>
                <a:latin typeface="Calibri" pitchFamily="34" charset="0"/>
              </a:rPr>
              <a:t>-&gt;Type) {</a:t>
            </a:r>
          </a:p>
          <a:p>
            <a:pPr>
              <a:defRPr/>
            </a:pPr>
            <a:r>
              <a:rPr lang="en-US" altLang="zh-TW" sz="1200" dirty="0">
                <a:solidFill>
                  <a:srgbClr val="FF0000"/>
                </a:solidFill>
                <a:latin typeface="Calibri" pitchFamily="34" charset="0"/>
              </a:rPr>
              <a:t>       case EFI_SMBIOS_TYPE_SYSTEM_SLOTS:</a:t>
            </a:r>
          </a:p>
          <a:p>
            <a:pPr>
              <a:defRPr/>
            </a:pPr>
            <a:r>
              <a:rPr lang="en-US" altLang="zh-TW" sz="1200" dirty="0">
                <a:solidFill>
                  <a:srgbClr val="FF0000"/>
                </a:solidFill>
                <a:latin typeface="Calibri" pitchFamily="34" charset="0"/>
              </a:rPr>
              <a:t>           </a:t>
            </a:r>
            <a:r>
              <a:rPr lang="en-US" altLang="zh-TW" sz="1200" dirty="0" err="1">
                <a:solidFill>
                  <a:srgbClr val="FF0000"/>
                </a:solidFill>
                <a:latin typeface="Calibri" pitchFamily="34" charset="0"/>
              </a:rPr>
              <a:t>SetSlotStatus</a:t>
            </a:r>
            <a:r>
              <a:rPr lang="en-US" altLang="zh-TW" sz="1200" dirty="0">
                <a:solidFill>
                  <a:srgbClr val="FF0000"/>
                </a:solidFill>
                <a:latin typeface="Calibri" pitchFamily="34" charset="0"/>
              </a:rPr>
              <a:t>((SMBIOS_TABLE_TYPE9 *)</a:t>
            </a:r>
            <a:r>
              <a:rPr lang="en-US" altLang="zh-TW" sz="1200" dirty="0" err="1">
                <a:solidFill>
                  <a:srgbClr val="FF0000"/>
                </a:solidFill>
                <a:latin typeface="Calibri" pitchFamily="34" charset="0"/>
              </a:rPr>
              <a:t>RecordBuffer</a:t>
            </a:r>
            <a:r>
              <a:rPr lang="en-US" altLang="zh-TW" sz="1200" dirty="0">
                <a:solidFill>
                  <a:srgbClr val="FF0000"/>
                </a:solidFill>
                <a:latin typeface="Calibri" pitchFamily="34" charset="0"/>
              </a:rPr>
              <a:t>);</a:t>
            </a:r>
          </a:p>
          <a:p>
            <a:pPr>
              <a:defRPr/>
            </a:pPr>
            <a:r>
              <a:rPr lang="en-US" altLang="zh-TW" sz="1200" dirty="0">
                <a:solidFill>
                  <a:srgbClr val="FF0000"/>
                </a:solidFill>
                <a:latin typeface="Calibri" pitchFamily="34" charset="0"/>
              </a:rPr>
              <a:t>           </a:t>
            </a:r>
            <a:r>
              <a:rPr lang="en-US" altLang="zh-TW" sz="1200" dirty="0">
                <a:latin typeface="Calibri" pitchFamily="34" charset="0"/>
              </a:rPr>
              <a:t>Status = EFI_MEDIA_CHANGED;</a:t>
            </a:r>
          </a:p>
          <a:p>
            <a:pPr>
              <a:defRPr/>
            </a:pPr>
            <a:r>
              <a:rPr lang="en-US" altLang="zh-TW" sz="1200" dirty="0">
                <a:solidFill>
                  <a:srgbClr val="FF0000"/>
                </a:solidFill>
                <a:latin typeface="Calibri" pitchFamily="34" charset="0"/>
              </a:rPr>
              <a:t>           break;</a:t>
            </a:r>
          </a:p>
          <a:p>
            <a:pPr>
              <a:defRPr/>
            </a:pPr>
            <a:r>
              <a:rPr lang="en-US" altLang="zh-TW" sz="1200" dirty="0">
                <a:latin typeface="Calibri" pitchFamily="34" charset="0"/>
              </a:rPr>
              <a:t>    …</a:t>
            </a:r>
          </a:p>
          <a:p>
            <a:pPr>
              <a:defRPr/>
            </a:pPr>
            <a:r>
              <a:rPr lang="en-US" altLang="zh-TW" sz="1200" dirty="0">
                <a:latin typeface="Calibri" pitchFamily="34" charset="0"/>
              </a:rPr>
              <a:t>  return Status;</a:t>
            </a:r>
          </a:p>
          <a:p>
            <a:pPr>
              <a:defRPr/>
            </a:pPr>
            <a:r>
              <a:rPr lang="en-US" altLang="zh-TW" sz="1200" dirty="0">
                <a:latin typeface="Calibri" pitchFamily="34" charset="0"/>
              </a:rPr>
              <a:t>}</a:t>
            </a:r>
          </a:p>
        </p:txBody>
      </p:sp>
    </p:spTree>
    <p:extLst>
      <p:ext uri="{BB962C8B-B14F-4D97-AF65-F5344CB8AC3E}">
        <p14:creationId xmlns:p14="http://schemas.microsoft.com/office/powerpoint/2010/main" val="3183463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95838-8835-40FC-876C-14E5E3895F5C}"/>
              </a:ext>
            </a:extLst>
          </p:cNvPr>
          <p:cNvSpPr>
            <a:spLocks noGrp="1"/>
          </p:cNvSpPr>
          <p:nvPr>
            <p:ph type="title"/>
          </p:nvPr>
        </p:nvSpPr>
        <p:spPr/>
        <p:txBody>
          <a:bodyPr/>
          <a:lstStyle/>
          <a:p>
            <a:r>
              <a:rPr lang="en-US" altLang="zh-TW" dirty="0" err="1"/>
              <a:t>OemSvcDxeGetSmbiosReplaceString</a:t>
            </a:r>
            <a:endParaRPr lang="zh-TW" altLang="en-US" dirty="0"/>
          </a:p>
        </p:txBody>
      </p:sp>
      <p:sp>
        <p:nvSpPr>
          <p:cNvPr id="3" name="內容版面配置區 2">
            <a:extLst>
              <a:ext uri="{FF2B5EF4-FFF2-40B4-BE49-F238E27FC236}">
                <a16:creationId xmlns:a16="http://schemas.microsoft.com/office/drawing/2014/main" id="{C51F29FB-9809-4C5C-8443-B13BFCF66026}"/>
              </a:ext>
            </a:extLst>
          </p:cNvPr>
          <p:cNvSpPr>
            <a:spLocks noGrp="1"/>
          </p:cNvSpPr>
          <p:nvPr>
            <p:ph idx="1"/>
          </p:nvPr>
        </p:nvSpPr>
        <p:spPr/>
        <p:txBody>
          <a:bodyPr/>
          <a:lstStyle/>
          <a:p>
            <a:pPr eaLnBrk="0" hangingPunct="0">
              <a:spcBef>
                <a:spcPct val="20000"/>
              </a:spcBef>
              <a:buClr>
                <a:srgbClr val="125C0C"/>
              </a:buClr>
            </a:pPr>
            <a:r>
              <a:rPr lang="en-US" altLang="zh-TW" sz="2400" dirty="0"/>
              <a:t>This service will be call by each time process SMBIOS string. OEM can provide a way to get replace string for OEM depend.</a:t>
            </a:r>
          </a:p>
          <a:p>
            <a:pPr lvl="1" eaLnBrk="0" hangingPunct="0">
              <a:spcBef>
                <a:spcPct val="20000"/>
              </a:spcBef>
              <a:buClr>
                <a:srgbClr val="125C0C"/>
              </a:buClr>
            </a:pPr>
            <a:r>
              <a:rPr lang="en-US" altLang="zh-TW" sz="2000" dirty="0"/>
              <a:t>Example</a:t>
            </a:r>
          </a:p>
        </p:txBody>
      </p:sp>
      <p:sp>
        <p:nvSpPr>
          <p:cNvPr id="8" name="Text Box 5">
            <a:extLst>
              <a:ext uri="{FF2B5EF4-FFF2-40B4-BE49-F238E27FC236}">
                <a16:creationId xmlns:a16="http://schemas.microsoft.com/office/drawing/2014/main" id="{753B1A8D-2C89-4069-B02B-0457B063BA93}"/>
              </a:ext>
            </a:extLst>
          </p:cNvPr>
          <p:cNvSpPr txBox="1">
            <a:spLocks noChangeArrowheads="1"/>
          </p:cNvSpPr>
          <p:nvPr/>
        </p:nvSpPr>
        <p:spPr bwMode="auto">
          <a:xfrm>
            <a:off x="4154996" y="2523051"/>
            <a:ext cx="3882008" cy="2862322"/>
          </a:xfrm>
          <a:prstGeom prst="rect">
            <a:avLst/>
          </a:prstGeom>
          <a:solidFill>
            <a:schemeClr val="bg1"/>
          </a:solidFill>
          <a:ln w="9525">
            <a:solidFill>
              <a:schemeClr val="tx1"/>
            </a:solidFill>
            <a:miter lim="800000"/>
            <a:headEnd/>
            <a:tailEnd/>
          </a:ln>
          <a:effectLst>
            <a:prstShdw prst="shdw17" dist="17961" dir="2700000">
              <a:schemeClr val="tx1">
                <a:gamma/>
                <a:shade val="60000"/>
                <a:invGamma/>
              </a:schemeClr>
            </a:prstShdw>
          </a:effectLst>
        </p:spPr>
        <p:txBody>
          <a:bodyPr wrap="square">
            <a:spAutoFit/>
          </a:bodyPr>
          <a:lstStyle/>
          <a:p>
            <a:pPr>
              <a:defRPr/>
            </a:pPr>
            <a:r>
              <a:rPr lang="en-US" altLang="zh-TW" sz="1200" dirty="0">
                <a:solidFill>
                  <a:srgbClr val="2FA626"/>
                </a:solidFill>
                <a:latin typeface="Calibri" pitchFamily="34" charset="0"/>
              </a:rPr>
              <a:t>EFI_STATUS</a:t>
            </a:r>
          </a:p>
          <a:p>
            <a:pPr>
              <a:defRPr/>
            </a:pPr>
            <a:r>
              <a:rPr lang="en-US" altLang="zh-TW" sz="1200" dirty="0" err="1">
                <a:solidFill>
                  <a:srgbClr val="0000FF"/>
                </a:solidFill>
                <a:latin typeface="Calibri" pitchFamily="34" charset="0"/>
              </a:rPr>
              <a:t>OemSvcDxeGetSmbiosReplaceString</a:t>
            </a:r>
            <a:r>
              <a:rPr lang="en-US" altLang="zh-TW" sz="1200" dirty="0">
                <a:latin typeface="Calibri" pitchFamily="34" charset="0"/>
              </a:rPr>
              <a:t>(</a:t>
            </a:r>
          </a:p>
          <a:p>
            <a:pPr>
              <a:defRPr/>
            </a:pPr>
            <a:r>
              <a:rPr lang="en-US" altLang="zh-TW" sz="1200" dirty="0">
                <a:solidFill>
                  <a:srgbClr val="0000FF"/>
                </a:solidFill>
                <a:latin typeface="Calibri" pitchFamily="34" charset="0"/>
              </a:rPr>
              <a:t>  </a:t>
            </a:r>
            <a:r>
              <a:rPr lang="en-US" altLang="zh-TW" sz="1200" dirty="0">
                <a:solidFill>
                  <a:srgbClr val="FF0000"/>
                </a:solidFill>
                <a:latin typeface="Calibri" pitchFamily="34" charset="0"/>
              </a:rPr>
              <a:t> IN  </a:t>
            </a:r>
            <a:r>
              <a:rPr lang="en-US" altLang="zh-TW" sz="1200" dirty="0">
                <a:solidFill>
                  <a:srgbClr val="2FA626"/>
                </a:solidFill>
                <a:latin typeface="Calibri" pitchFamily="34" charset="0"/>
              </a:rPr>
              <a:t>EFI_SMBIOS_TYPE</a:t>
            </a:r>
            <a:r>
              <a:rPr lang="en-US" altLang="zh-TW" sz="1200" dirty="0">
                <a:solidFill>
                  <a:srgbClr val="FF0000"/>
                </a:solidFill>
                <a:latin typeface="Calibri" pitchFamily="34" charset="0"/>
              </a:rPr>
              <a:t>   	</a:t>
            </a:r>
            <a:r>
              <a:rPr lang="en-US" altLang="zh-TW" sz="1200" dirty="0">
                <a:solidFill>
                  <a:srgbClr val="0E03E3"/>
                </a:solidFill>
                <a:latin typeface="Calibri" pitchFamily="34" charset="0"/>
              </a:rPr>
              <a:t>Type</a:t>
            </a:r>
            <a:r>
              <a:rPr lang="en-US" altLang="zh-TW" sz="1200" dirty="0">
                <a:solidFill>
                  <a:srgbClr val="FF0000"/>
                </a:solidFill>
                <a:latin typeface="Calibri" pitchFamily="34" charset="0"/>
              </a:rPr>
              <a:t>,</a:t>
            </a:r>
          </a:p>
          <a:p>
            <a:pPr>
              <a:defRPr/>
            </a:pPr>
            <a:r>
              <a:rPr lang="en-US" altLang="zh-TW" sz="1200" dirty="0">
                <a:solidFill>
                  <a:srgbClr val="FF0000"/>
                </a:solidFill>
                <a:latin typeface="Calibri" pitchFamily="34" charset="0"/>
              </a:rPr>
              <a:t>  IN  </a:t>
            </a:r>
            <a:r>
              <a:rPr lang="en-US" altLang="zh-TW" sz="1200" dirty="0">
                <a:solidFill>
                  <a:srgbClr val="2FA626"/>
                </a:solidFill>
                <a:latin typeface="Calibri" pitchFamily="34" charset="0"/>
              </a:rPr>
              <a:t>UINT8</a:t>
            </a:r>
            <a:r>
              <a:rPr lang="en-US" altLang="zh-TW" sz="1200" dirty="0">
                <a:solidFill>
                  <a:srgbClr val="FF0000"/>
                </a:solidFill>
                <a:latin typeface="Calibri" pitchFamily="34" charset="0"/>
              </a:rPr>
              <a:t>             	</a:t>
            </a:r>
            <a:r>
              <a:rPr lang="en-US" altLang="zh-TW" sz="1200" dirty="0" err="1">
                <a:solidFill>
                  <a:srgbClr val="0E03E3"/>
                </a:solidFill>
                <a:latin typeface="Calibri" pitchFamily="34" charset="0"/>
              </a:rPr>
              <a:t>FieldOffset</a:t>
            </a:r>
            <a:r>
              <a:rPr lang="en-US" altLang="zh-TW" sz="1200" dirty="0">
                <a:solidFill>
                  <a:srgbClr val="FF0000"/>
                </a:solidFill>
                <a:latin typeface="Calibri" pitchFamily="34" charset="0"/>
              </a:rPr>
              <a:t>,</a:t>
            </a:r>
          </a:p>
          <a:p>
            <a:pPr>
              <a:defRPr/>
            </a:pPr>
            <a:r>
              <a:rPr lang="en-US" altLang="zh-TW" sz="1200" dirty="0">
                <a:solidFill>
                  <a:srgbClr val="FF0000"/>
                </a:solidFill>
                <a:latin typeface="Calibri" pitchFamily="34" charset="0"/>
              </a:rPr>
              <a:t>  OUT </a:t>
            </a:r>
            <a:r>
              <a:rPr lang="en-US" altLang="zh-TW" sz="1200" dirty="0">
                <a:solidFill>
                  <a:srgbClr val="2FA626"/>
                </a:solidFill>
                <a:latin typeface="Calibri" pitchFamily="34" charset="0"/>
              </a:rPr>
              <a:t>UINTN</a:t>
            </a:r>
            <a:r>
              <a:rPr lang="en-US" altLang="zh-TW" sz="1200" dirty="0">
                <a:solidFill>
                  <a:srgbClr val="FF0000"/>
                </a:solidFill>
                <a:latin typeface="Calibri" pitchFamily="34" charset="0"/>
              </a:rPr>
              <a:t>            	</a:t>
            </a:r>
            <a:r>
              <a:rPr lang="en-US" altLang="zh-TW" sz="1200" dirty="0">
                <a:solidFill>
                  <a:srgbClr val="0E03E3"/>
                </a:solidFill>
                <a:latin typeface="Calibri" pitchFamily="34" charset="0"/>
              </a:rPr>
              <a:t>*</a:t>
            </a:r>
            <a:r>
              <a:rPr lang="en-US" altLang="zh-TW" sz="1200" dirty="0" err="1">
                <a:solidFill>
                  <a:srgbClr val="0E03E3"/>
                </a:solidFill>
                <a:latin typeface="Calibri" pitchFamily="34" charset="0"/>
              </a:rPr>
              <a:t>StrLength</a:t>
            </a:r>
            <a:r>
              <a:rPr lang="en-US" altLang="zh-TW" sz="1200" dirty="0">
                <a:solidFill>
                  <a:srgbClr val="FF0000"/>
                </a:solidFill>
                <a:latin typeface="Calibri" pitchFamily="34" charset="0"/>
              </a:rPr>
              <a:t>,</a:t>
            </a:r>
          </a:p>
          <a:p>
            <a:pPr>
              <a:defRPr/>
            </a:pPr>
            <a:r>
              <a:rPr lang="en-US" altLang="zh-TW" sz="1200" dirty="0">
                <a:solidFill>
                  <a:srgbClr val="FF0000"/>
                </a:solidFill>
                <a:latin typeface="Calibri" pitchFamily="34" charset="0"/>
              </a:rPr>
              <a:t>  OUT </a:t>
            </a:r>
            <a:r>
              <a:rPr lang="en-US" altLang="zh-TW" sz="1200" dirty="0">
                <a:solidFill>
                  <a:srgbClr val="2FA626"/>
                </a:solidFill>
                <a:latin typeface="Calibri" pitchFamily="34" charset="0"/>
              </a:rPr>
              <a:t>CHAR8</a:t>
            </a:r>
            <a:r>
              <a:rPr lang="en-US" altLang="zh-TW" sz="1200" dirty="0">
                <a:solidFill>
                  <a:srgbClr val="FF0000"/>
                </a:solidFill>
                <a:latin typeface="Calibri" pitchFamily="34" charset="0"/>
              </a:rPr>
              <a:t>           	</a:t>
            </a:r>
            <a:r>
              <a:rPr lang="en-US" altLang="zh-TW" sz="1200" dirty="0">
                <a:solidFill>
                  <a:srgbClr val="0E03E3"/>
                </a:solidFill>
                <a:latin typeface="Calibri" pitchFamily="34" charset="0"/>
              </a:rPr>
              <a:t>**String</a:t>
            </a:r>
          </a:p>
          <a:p>
            <a:pPr>
              <a:defRPr/>
            </a:pPr>
            <a:r>
              <a:rPr lang="en-US" altLang="zh-TW" sz="1200" dirty="0">
                <a:latin typeface="Calibri" pitchFamily="34" charset="0"/>
              </a:rPr>
              <a:t>  )</a:t>
            </a:r>
          </a:p>
          <a:p>
            <a:pPr>
              <a:defRPr/>
            </a:pPr>
            <a:r>
              <a:rPr lang="en-US" altLang="zh-TW" sz="1200" dirty="0">
                <a:latin typeface="Calibri" pitchFamily="34" charset="0"/>
              </a:rPr>
              <a:t>{</a:t>
            </a:r>
          </a:p>
          <a:p>
            <a:pPr>
              <a:defRPr/>
            </a:pPr>
            <a:r>
              <a:rPr lang="en-US" altLang="zh-TW" sz="1200" dirty="0">
                <a:solidFill>
                  <a:srgbClr val="0E03E3"/>
                </a:solidFill>
                <a:latin typeface="Calibri" pitchFamily="34" charset="0"/>
              </a:rPr>
              <a:t> /*++</a:t>
            </a:r>
          </a:p>
          <a:p>
            <a:pPr>
              <a:defRPr/>
            </a:pPr>
            <a:r>
              <a:rPr lang="en-US" altLang="zh-TW" sz="1200" dirty="0">
                <a:solidFill>
                  <a:srgbClr val="0E03E3"/>
                </a:solidFill>
                <a:latin typeface="Calibri" pitchFamily="34" charset="0"/>
              </a:rPr>
              <a:t>    </a:t>
            </a:r>
            <a:r>
              <a:rPr lang="en-US" altLang="zh-TW" sz="1200" dirty="0" err="1">
                <a:solidFill>
                  <a:srgbClr val="0E03E3"/>
                </a:solidFill>
                <a:latin typeface="Calibri" pitchFamily="34" charset="0"/>
              </a:rPr>
              <a:t>Todo</a:t>
            </a:r>
            <a:r>
              <a:rPr lang="en-US" altLang="zh-TW" sz="1200" dirty="0">
                <a:solidFill>
                  <a:srgbClr val="0E03E3"/>
                </a:solidFill>
                <a:latin typeface="Calibri" pitchFamily="34" charset="0"/>
              </a:rPr>
              <a:t>:</a:t>
            </a:r>
          </a:p>
          <a:p>
            <a:pPr>
              <a:defRPr/>
            </a:pPr>
            <a:r>
              <a:rPr lang="en-US" altLang="zh-TW" sz="1200" dirty="0">
                <a:solidFill>
                  <a:srgbClr val="0E03E3"/>
                </a:solidFill>
                <a:latin typeface="Calibri" pitchFamily="34" charset="0"/>
              </a:rPr>
              <a:t>      Add project specific code in here.</a:t>
            </a:r>
          </a:p>
          <a:p>
            <a:pPr>
              <a:defRPr/>
            </a:pPr>
            <a:r>
              <a:rPr lang="en-US" altLang="zh-TW" sz="1200" dirty="0">
                <a:solidFill>
                  <a:srgbClr val="0E03E3"/>
                </a:solidFill>
                <a:latin typeface="Calibri" pitchFamily="34" charset="0"/>
              </a:rPr>
              <a:t>  --*/</a:t>
            </a:r>
          </a:p>
          <a:p>
            <a:pPr>
              <a:defRPr/>
            </a:pPr>
            <a:endParaRPr lang="en-US" altLang="zh-TW" sz="1200" dirty="0">
              <a:latin typeface="Calibri" pitchFamily="34" charset="0"/>
            </a:endParaRPr>
          </a:p>
          <a:p>
            <a:pPr>
              <a:defRPr/>
            </a:pPr>
            <a:r>
              <a:rPr lang="en-US" altLang="zh-TW" sz="1200" dirty="0">
                <a:latin typeface="Calibri" pitchFamily="34" charset="0"/>
              </a:rPr>
              <a:t>  return EFI_UNSUPPORTED;</a:t>
            </a:r>
          </a:p>
          <a:p>
            <a:pPr>
              <a:defRPr/>
            </a:pPr>
            <a:r>
              <a:rPr lang="en-US" altLang="zh-TW" sz="1200" dirty="0">
                <a:latin typeface="Calibri" pitchFamily="34" charset="0"/>
              </a:rPr>
              <a:t>}</a:t>
            </a:r>
          </a:p>
        </p:txBody>
      </p:sp>
    </p:spTree>
    <p:extLst>
      <p:ext uri="{BB962C8B-B14F-4D97-AF65-F5344CB8AC3E}">
        <p14:creationId xmlns:p14="http://schemas.microsoft.com/office/powerpoint/2010/main" val="3155192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35</a:t>
            </a:fld>
            <a:endParaRPr lang="en-US" dirty="0"/>
          </a:p>
        </p:txBody>
      </p:sp>
    </p:spTree>
    <p:extLst>
      <p:ext uri="{BB962C8B-B14F-4D97-AF65-F5344CB8AC3E}">
        <p14:creationId xmlns:p14="http://schemas.microsoft.com/office/powerpoint/2010/main" val="3530240819"/>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7574</TotalTime>
  <Words>2901</Words>
  <Application>Microsoft Office PowerPoint</Application>
  <PresentationFormat>Widescreen</PresentationFormat>
  <Paragraphs>359</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Segoe UI</vt:lpstr>
      <vt:lpstr>Tahoma</vt:lpstr>
      <vt:lpstr>Times New Roman</vt:lpstr>
      <vt:lpstr>Wingdings</vt:lpstr>
      <vt:lpstr>2018 Theme</vt:lpstr>
      <vt:lpstr>SMBIOS</vt:lpstr>
      <vt:lpstr>Copyright 2021 Insyde Software Corp., All Rights Reserved.</vt:lpstr>
      <vt:lpstr>Agenda</vt:lpstr>
      <vt:lpstr>Overview</vt:lpstr>
      <vt:lpstr>Overview</vt:lpstr>
      <vt:lpstr>Overview</vt:lpstr>
      <vt:lpstr>SMBIOS Structure</vt:lpstr>
      <vt:lpstr>SMBIOS Structure</vt:lpstr>
      <vt:lpstr>SMBIOS Structure</vt:lpstr>
      <vt:lpstr>SMBIOS Structure</vt:lpstr>
      <vt:lpstr>SMBIOS Protocol</vt:lpstr>
      <vt:lpstr>SMBIOS Protocol</vt:lpstr>
      <vt:lpstr>SMBIOS Protocol - Add</vt:lpstr>
      <vt:lpstr>SMBIOS Protocol - Add</vt:lpstr>
      <vt:lpstr>SMBIOS Protocol - UpdateString</vt:lpstr>
      <vt:lpstr>SMBIOS Protocol - UpdateString</vt:lpstr>
      <vt:lpstr>SMBIOS Protocol - GetNext</vt:lpstr>
      <vt:lpstr>SMBIOS Protocol - GetNext</vt:lpstr>
      <vt:lpstr>SMBIOS Protocol - Remove</vt:lpstr>
      <vt:lpstr>SMBIOS Protocol - Remove</vt:lpstr>
      <vt:lpstr>SMBIOS Protocol</vt:lpstr>
      <vt:lpstr>SMBIOS Protocol - smbios driver action</vt:lpstr>
      <vt:lpstr>SMBIOS Protocol - smbios driver action</vt:lpstr>
      <vt:lpstr>Misc. SMBIOS Type Implementation</vt:lpstr>
      <vt:lpstr>Misc. SMBIOS Type Implementation</vt:lpstr>
      <vt:lpstr>Misc. SMBIOS Type Implementation</vt:lpstr>
      <vt:lpstr>Misc. SMBIOS Type Implementation</vt:lpstr>
      <vt:lpstr>Misc. SMBIOS Type Implementation</vt:lpstr>
      <vt:lpstr>Misc. SMBIOS Type Implementation</vt:lpstr>
      <vt:lpstr>Attention</vt:lpstr>
      <vt:lpstr>How to Customize SMBIOS</vt:lpstr>
      <vt:lpstr>How to Customize SMBIOS</vt:lpstr>
      <vt:lpstr>OemSvcUpdateSmbiosRecord</vt:lpstr>
      <vt:lpstr>OemSvcDxeGetSmbiosReplaceString</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183</cp:revision>
  <dcterms:created xsi:type="dcterms:W3CDTF">2018-02-02T23:50:52Z</dcterms:created>
  <dcterms:modified xsi:type="dcterms:W3CDTF">2021-03-25T03:53:19Z</dcterms:modified>
</cp:coreProperties>
</file>