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19"/>
  </p:notesMasterIdLst>
  <p:sldIdLst>
    <p:sldId id="351" r:id="rId2"/>
    <p:sldId id="364" r:id="rId3"/>
    <p:sldId id="365" r:id="rId4"/>
    <p:sldId id="366" r:id="rId5"/>
    <p:sldId id="367" r:id="rId6"/>
    <p:sldId id="520" r:id="rId7"/>
    <p:sldId id="521" r:id="rId8"/>
    <p:sldId id="522" r:id="rId9"/>
    <p:sldId id="436" r:id="rId10"/>
    <p:sldId id="523" r:id="rId11"/>
    <p:sldId id="527" r:id="rId12"/>
    <p:sldId id="528" r:id="rId13"/>
    <p:sldId id="525" r:id="rId14"/>
    <p:sldId id="468" r:id="rId15"/>
    <p:sldId id="469" r:id="rId16"/>
    <p:sldId id="513" r:id="rId17"/>
    <p:sldId id="52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7" d="100"/>
          <a:sy n="67" d="100"/>
        </p:scale>
        <p:origin x="64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7/22/2022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2022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2022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2022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2022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2022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7/22/2022</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2022 </a:t>
            </a:r>
            <a:r>
              <a:rPr lang="en-US" dirty="0" err="1"/>
              <a:t>Insyde</a:t>
            </a:r>
            <a:r>
              <a:rPr lang="en-US" dirty="0"/>
              <a:t>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Microcode</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a:solidFill>
                  <a:schemeClr val="tx1"/>
                </a:solidFill>
              </a:rPr>
            </a:br>
            <a:r>
              <a:rPr lang="en-US">
                <a:solidFill>
                  <a:schemeClr val="tx1"/>
                </a:solidFill>
              </a:rPr>
              <a:t>July </a:t>
            </a:r>
            <a:r>
              <a:rPr lang="en-US" dirty="0">
                <a:solidFill>
                  <a:schemeClr val="tx1"/>
                </a:solidFill>
              </a:rPr>
              <a:t>2022</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591755406"/>
      </p:ext>
    </p:extLst>
  </p:cSld>
  <p:clrMapOvr>
    <a:masterClrMapping/>
  </p:clrMapOvr>
  <mc:AlternateContent xmlns:mc="http://schemas.openxmlformats.org/markup-compatibility/2006" xmlns:p14="http://schemas.microsoft.com/office/powerpoint/2010/main">
    <mc:Choice Requires="p14">
      <p:transition p14:dur="1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a:solidFill>
                  <a:srgbClr val="3F3F3F"/>
                </a:solidFill>
                <a:latin typeface="Segoe UI" panose="020B0502040204020203" pitchFamily="34" charset="0"/>
                <a:cs typeface="DejaVu Sans" charset="0"/>
              </a:rPr>
              <a:t>Copyright 2022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marL="228600" indent="-228240">
              <a:lnSpc>
                <a:spcPct val="90000"/>
              </a:lnSpc>
              <a:spcBef>
                <a:spcPts val="1001"/>
              </a:spcBef>
              <a:buClr>
                <a:srgbClr val="FFFFFF"/>
              </a:buClr>
              <a:buFont typeface="Arial"/>
              <a:buChar char="•"/>
            </a:pPr>
            <a:r>
              <a:rPr lang="en-US" altLang="zh-TW" sz="2800" b="0" strike="noStrike" spc="-1" dirty="0">
                <a:solidFill>
                  <a:srgbClr val="FFFFFF"/>
                </a:solidFill>
                <a:latin typeface="Segoe UI"/>
              </a:rPr>
              <a:t>Goals &amp; Target Audience</a:t>
            </a:r>
          </a:p>
          <a:p>
            <a:pPr indent="-228240">
              <a:spcBef>
                <a:spcPts val="1001"/>
              </a:spcBef>
              <a:buClr>
                <a:srgbClr val="FFFFFF"/>
              </a:buClr>
              <a:buFont typeface="Arial"/>
              <a:buChar char="•"/>
            </a:pPr>
            <a:r>
              <a:rPr lang="en-US" altLang="zh-TW" spc="-1" dirty="0">
                <a:solidFill>
                  <a:srgbClr val="FFFFFF"/>
                </a:solidFill>
                <a:latin typeface="Segoe UI"/>
              </a:rPr>
              <a:t>Boot Flow</a:t>
            </a:r>
          </a:p>
          <a:p>
            <a:r>
              <a:rPr lang="en-US" altLang="zh-TW" spc="-1" dirty="0">
                <a:solidFill>
                  <a:srgbClr val="FFFFFF"/>
                </a:solidFill>
                <a:latin typeface="Segoe UI"/>
              </a:rPr>
              <a:t>Related Files</a:t>
            </a:r>
          </a:p>
          <a:p>
            <a:r>
              <a:rPr lang="en-US" altLang="zh-TW" spc="-1" dirty="0">
                <a:solidFill>
                  <a:srgbClr val="FFFFFF"/>
                </a:solidFill>
                <a:latin typeface="Segoe UI"/>
              </a:rPr>
              <a:t>Customization Steps</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633686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Goals &amp; Target Audience</a:t>
            </a:r>
          </a:p>
        </p:txBody>
      </p:sp>
    </p:spTree>
    <p:extLst>
      <p:ext uri="{BB962C8B-B14F-4D97-AF65-F5344CB8AC3E}">
        <p14:creationId xmlns:p14="http://schemas.microsoft.com/office/powerpoint/2010/main" val="2937577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Goals &amp; Target Audience</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lnSpcReduction="10000"/>
          </a:bodyPr>
          <a:lstStyle/>
          <a:p>
            <a:r>
              <a:rPr lang="en-US" altLang="zh-TW" dirty="0"/>
              <a:t>Target Audience:</a:t>
            </a:r>
          </a:p>
          <a:p>
            <a:pPr lvl="1"/>
            <a:r>
              <a:rPr lang="en-US" altLang="zh-TW" dirty="0"/>
              <a:t>BIOS developers who use InsydeH2O 5.4 (EDK II) to create their firmware products.</a:t>
            </a:r>
          </a:p>
          <a:p>
            <a:pPr marL="0" indent="0">
              <a:buNone/>
            </a:pPr>
            <a:endParaRPr lang="en-US" altLang="zh-TW" dirty="0"/>
          </a:p>
          <a:p>
            <a:r>
              <a:rPr lang="en-US" altLang="zh-TW" dirty="0"/>
              <a:t>Goals:</a:t>
            </a:r>
          </a:p>
          <a:p>
            <a:pPr lvl="1"/>
            <a:r>
              <a:rPr lang="en-US" altLang="zh-TW" dirty="0"/>
              <a:t>Understand how to change the CPU Microcode for project requirement.</a:t>
            </a:r>
          </a:p>
          <a:p>
            <a:pPr lvl="1"/>
            <a:r>
              <a:rPr lang="en-US" altLang="zh-TW" dirty="0"/>
              <a:t>Understand the Microcode update stage during the POST.</a:t>
            </a:r>
          </a:p>
          <a:p>
            <a:endParaRPr lang="en-US" altLang="zh-TW" dirty="0"/>
          </a:p>
          <a:p>
            <a:r>
              <a:rPr lang="en-US" altLang="zh-TW" dirty="0"/>
              <a:t>Requirements:</a:t>
            </a:r>
          </a:p>
          <a:p>
            <a:pPr lvl="1"/>
            <a:r>
              <a:rPr lang="en-US" altLang="zh-TW" dirty="0"/>
              <a:t>InsydeH2O 5.4 source code</a:t>
            </a:r>
          </a:p>
          <a:p>
            <a:pPr lvl="1"/>
            <a:r>
              <a:rPr lang="en-US" altLang="zh-TW" dirty="0"/>
              <a:t>Microcode released from Intel</a:t>
            </a:r>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DFDF3EA1-8646-4C3B-829F-78D97579017C}"/>
              </a:ext>
            </a:extLst>
          </p:cNvPr>
          <p:cNvSpPr>
            <a:spLocks noGrp="1"/>
          </p:cNvSpPr>
          <p:nvPr>
            <p:ph type="sldNum" sz="quarter" idx="12"/>
          </p:nvPr>
        </p:nvSpPr>
        <p:spPr/>
        <p:txBody>
          <a:bodyPr/>
          <a:lstStyle/>
          <a:p>
            <a:fld id="{711F1488-76AD-4E7F-AEC8-BF811B7D74A5}" type="slidenum">
              <a:rPr lang="en-US" smtClean="0"/>
              <a:pPr/>
              <a:t>6</a:t>
            </a:fld>
            <a:endParaRPr lang="en-US"/>
          </a:p>
        </p:txBody>
      </p:sp>
      <p:sp>
        <p:nvSpPr>
          <p:cNvPr id="3" name="標題 2">
            <a:extLst>
              <a:ext uri="{FF2B5EF4-FFF2-40B4-BE49-F238E27FC236}">
                <a16:creationId xmlns:a16="http://schemas.microsoft.com/office/drawing/2014/main" id="{4F060D4A-40D5-4DA2-87B3-2A61E1A7EE49}"/>
              </a:ext>
            </a:extLst>
          </p:cNvPr>
          <p:cNvSpPr>
            <a:spLocks noGrp="1"/>
          </p:cNvSpPr>
          <p:nvPr>
            <p:ph type="title"/>
          </p:nvPr>
        </p:nvSpPr>
        <p:spPr/>
        <p:txBody>
          <a:bodyPr/>
          <a:lstStyle/>
          <a:p>
            <a:r>
              <a:rPr lang="en-US" altLang="zh-TW" dirty="0"/>
              <a:t>Boot Flow</a:t>
            </a:r>
            <a:endParaRPr lang="zh-TW" altLang="en-US" dirty="0"/>
          </a:p>
        </p:txBody>
      </p:sp>
    </p:spTree>
    <p:extLst>
      <p:ext uri="{BB962C8B-B14F-4D97-AF65-F5344CB8AC3E}">
        <p14:creationId xmlns:p14="http://schemas.microsoft.com/office/powerpoint/2010/main" val="28229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40EF74-C390-4D4B-AD55-E266BDAC5D89}"/>
              </a:ext>
            </a:extLst>
          </p:cNvPr>
          <p:cNvSpPr>
            <a:spLocks noGrp="1"/>
          </p:cNvSpPr>
          <p:nvPr>
            <p:ph type="title"/>
          </p:nvPr>
        </p:nvSpPr>
        <p:spPr/>
        <p:txBody>
          <a:bodyPr/>
          <a:lstStyle/>
          <a:p>
            <a:r>
              <a:rPr lang="en-US" altLang="zh-TW" dirty="0"/>
              <a:t>Boot Flow</a:t>
            </a:r>
            <a:endParaRPr lang="zh-TW" altLang="en-US" dirty="0"/>
          </a:p>
        </p:txBody>
      </p:sp>
      <p:grpSp>
        <p:nvGrpSpPr>
          <p:cNvPr id="4" name="群組 3">
            <a:extLst>
              <a:ext uri="{FF2B5EF4-FFF2-40B4-BE49-F238E27FC236}">
                <a16:creationId xmlns:a16="http://schemas.microsoft.com/office/drawing/2014/main" id="{9876F52A-D922-421C-A012-6D85C2C7F7D0}"/>
              </a:ext>
            </a:extLst>
          </p:cNvPr>
          <p:cNvGrpSpPr/>
          <p:nvPr/>
        </p:nvGrpSpPr>
        <p:grpSpPr>
          <a:xfrm>
            <a:off x="2241278" y="1153495"/>
            <a:ext cx="8119499" cy="5333531"/>
            <a:chOff x="2241278" y="1153495"/>
            <a:chExt cx="8119499" cy="5333531"/>
          </a:xfrm>
        </p:grpSpPr>
        <p:cxnSp>
          <p:nvCxnSpPr>
            <p:cNvPr id="5" name="圖案 87">
              <a:extLst>
                <a:ext uri="{FF2B5EF4-FFF2-40B4-BE49-F238E27FC236}">
                  <a16:creationId xmlns:a16="http://schemas.microsoft.com/office/drawing/2014/main" id="{6B59F16B-9A7A-455E-A6D4-BFA5A5322764}"/>
                </a:ext>
              </a:extLst>
            </p:cNvPr>
            <p:cNvCxnSpPr/>
            <p:nvPr/>
          </p:nvCxnSpPr>
          <p:spPr>
            <a:xfrm>
              <a:off x="3986964" y="2492876"/>
              <a:ext cx="238125" cy="1300163"/>
            </a:xfrm>
            <a:prstGeom prst="bentConnector2">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 name="直線接點 5">
              <a:extLst>
                <a:ext uri="{FF2B5EF4-FFF2-40B4-BE49-F238E27FC236}">
                  <a16:creationId xmlns:a16="http://schemas.microsoft.com/office/drawing/2014/main" id="{E9B10A84-DBCF-4FA1-BC28-BD34B16E376E}"/>
                </a:ext>
              </a:extLst>
            </p:cNvPr>
            <p:cNvCxnSpPr/>
            <p:nvPr/>
          </p:nvCxnSpPr>
          <p:spPr>
            <a:xfrm flipH="1">
              <a:off x="4420352" y="1807076"/>
              <a:ext cx="19050" cy="3598863"/>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 name="橢圓 6">
              <a:extLst>
                <a:ext uri="{FF2B5EF4-FFF2-40B4-BE49-F238E27FC236}">
                  <a16:creationId xmlns:a16="http://schemas.microsoft.com/office/drawing/2014/main" id="{F743067A-6152-417D-A713-6C3DEB1587F8}"/>
                </a:ext>
              </a:extLst>
            </p:cNvPr>
            <p:cNvSpPr/>
            <p:nvPr/>
          </p:nvSpPr>
          <p:spPr>
            <a:xfrm>
              <a:off x="3804402" y="4056564"/>
              <a:ext cx="1709737" cy="539750"/>
            </a:xfrm>
            <a:prstGeom prst="ellipse">
              <a:avLst/>
            </a:prstGeom>
            <a:solidFill>
              <a:srgbClr val="1218FA"/>
            </a:solidFill>
            <a:ln>
              <a:solidFill>
                <a:srgbClr val="1218F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400" b="1" dirty="0"/>
                <a:t>EFI Driver</a:t>
              </a:r>
              <a:br>
                <a:rPr lang="en-US" altLang="zh-TW" sz="1400" b="1" dirty="0"/>
              </a:br>
              <a:r>
                <a:rPr lang="en-US" altLang="zh-TW" sz="1400" b="1" dirty="0"/>
                <a:t>Dispatcher</a:t>
              </a:r>
              <a:endParaRPr lang="zh-TW" altLang="en-US" sz="1400" b="1" dirty="0"/>
            </a:p>
          </p:txBody>
        </p:sp>
        <p:sp>
          <p:nvSpPr>
            <p:cNvPr id="8" name="矩形 7">
              <a:extLst>
                <a:ext uri="{FF2B5EF4-FFF2-40B4-BE49-F238E27FC236}">
                  <a16:creationId xmlns:a16="http://schemas.microsoft.com/office/drawing/2014/main" id="{455208FA-82D6-4410-BEE4-9B32EB6E1BDE}"/>
                </a:ext>
              </a:extLst>
            </p:cNvPr>
            <p:cNvSpPr/>
            <p:nvPr/>
          </p:nvSpPr>
          <p:spPr>
            <a:xfrm>
              <a:off x="2261352" y="5496426"/>
              <a:ext cx="900112" cy="720725"/>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solidFill>
                    <a:schemeClr val="tx1"/>
                  </a:solidFill>
                </a:rPr>
                <a:t>Security</a:t>
              </a:r>
              <a:br>
                <a:rPr lang="en-US" altLang="zh-TW" sz="1200" b="1" dirty="0">
                  <a:solidFill>
                    <a:schemeClr val="tx1"/>
                  </a:solidFill>
                </a:rPr>
              </a:br>
              <a:r>
                <a:rPr lang="en-US" altLang="zh-TW" sz="1200" b="1" dirty="0">
                  <a:solidFill>
                    <a:schemeClr val="tx1"/>
                  </a:solidFill>
                </a:rPr>
                <a:t> (SEC)</a:t>
              </a:r>
              <a:endParaRPr lang="zh-TW" altLang="en-US" sz="1200" b="1" dirty="0">
                <a:solidFill>
                  <a:schemeClr val="tx1"/>
                </a:solidFill>
              </a:endParaRPr>
            </a:p>
          </p:txBody>
        </p:sp>
        <p:sp>
          <p:nvSpPr>
            <p:cNvPr id="9" name="文字方塊 5">
              <a:extLst>
                <a:ext uri="{FF2B5EF4-FFF2-40B4-BE49-F238E27FC236}">
                  <a16:creationId xmlns:a16="http://schemas.microsoft.com/office/drawing/2014/main" id="{FAB3CBCB-F6D1-4118-AEF4-F88A61E01E1E}"/>
                </a:ext>
              </a:extLst>
            </p:cNvPr>
            <p:cNvSpPr txBox="1">
              <a:spLocks noChangeArrowheads="1"/>
            </p:cNvSpPr>
            <p:nvPr/>
          </p:nvSpPr>
          <p:spPr bwMode="auto">
            <a:xfrm>
              <a:off x="2261352" y="6217151"/>
              <a:ext cx="900112" cy="269875"/>
            </a:xfrm>
            <a:prstGeom prst="rect">
              <a:avLst/>
            </a:prstGeom>
            <a:noFill/>
            <a:ln w="9525">
              <a:noFill/>
              <a:miter lim="800000"/>
              <a:headEnd/>
              <a:tailEnd/>
            </a:ln>
          </p:spPr>
          <p:txBody>
            <a:bodyPr wrap="none">
              <a:spAutoFit/>
            </a:bodyPr>
            <a:lstStyle/>
            <a:p>
              <a:pPr algn="ctr"/>
              <a:r>
                <a:rPr lang="en-US" altLang="zh-TW" sz="1400" b="1" dirty="0"/>
                <a:t>Power On</a:t>
              </a:r>
              <a:endParaRPr lang="zh-TW" altLang="en-US" sz="1400" b="1"/>
            </a:p>
          </p:txBody>
        </p:sp>
        <p:sp>
          <p:nvSpPr>
            <p:cNvPr id="10" name="文字方塊 6">
              <a:extLst>
                <a:ext uri="{FF2B5EF4-FFF2-40B4-BE49-F238E27FC236}">
                  <a16:creationId xmlns:a16="http://schemas.microsoft.com/office/drawing/2014/main" id="{2F8611AE-7FEA-4676-9994-AD54D727A4C9}"/>
                </a:ext>
              </a:extLst>
            </p:cNvPr>
            <p:cNvSpPr txBox="1">
              <a:spLocks noChangeArrowheads="1"/>
            </p:cNvSpPr>
            <p:nvPr/>
          </p:nvSpPr>
          <p:spPr bwMode="auto">
            <a:xfrm>
              <a:off x="9460664" y="6217151"/>
              <a:ext cx="900113" cy="269875"/>
            </a:xfrm>
            <a:prstGeom prst="rect">
              <a:avLst/>
            </a:prstGeom>
            <a:noFill/>
            <a:ln w="9525">
              <a:noFill/>
              <a:miter lim="800000"/>
              <a:headEnd/>
              <a:tailEnd/>
            </a:ln>
          </p:spPr>
          <p:txBody>
            <a:bodyPr wrap="none">
              <a:spAutoFit/>
            </a:bodyPr>
            <a:lstStyle/>
            <a:p>
              <a:pPr algn="ctr"/>
              <a:r>
                <a:rPr lang="en-US" altLang="zh-TW" sz="1400" b="1" dirty="0"/>
                <a:t>Shutdown</a:t>
              </a:r>
              <a:endParaRPr lang="zh-TW" altLang="en-US" sz="1400" b="1"/>
            </a:p>
          </p:txBody>
        </p:sp>
        <p:sp>
          <p:nvSpPr>
            <p:cNvPr id="11" name="文字方塊 10">
              <a:extLst>
                <a:ext uri="{FF2B5EF4-FFF2-40B4-BE49-F238E27FC236}">
                  <a16:creationId xmlns:a16="http://schemas.microsoft.com/office/drawing/2014/main" id="{8B62AF2C-57AA-4212-A049-91F38964080B}"/>
                </a:ext>
              </a:extLst>
            </p:cNvPr>
            <p:cNvSpPr txBox="1">
              <a:spLocks noChangeArrowheads="1"/>
            </p:cNvSpPr>
            <p:nvPr/>
          </p:nvSpPr>
          <p:spPr bwMode="auto">
            <a:xfrm>
              <a:off x="4061577" y="6217151"/>
              <a:ext cx="2339975" cy="269875"/>
            </a:xfrm>
            <a:prstGeom prst="rect">
              <a:avLst/>
            </a:prstGeom>
            <a:noFill/>
            <a:ln w="9525">
              <a:noFill/>
              <a:miter lim="800000"/>
              <a:headEnd/>
              <a:tailEnd/>
            </a:ln>
          </p:spPr>
          <p:txBody>
            <a:bodyPr wrap="none">
              <a:spAutoFit/>
            </a:bodyPr>
            <a:lstStyle/>
            <a:p>
              <a:pPr algn="ctr"/>
              <a:r>
                <a:rPr lang="en-US" altLang="zh-TW" sz="1400" b="1" dirty="0"/>
                <a:t>[..Platform Initialization..]</a:t>
              </a:r>
              <a:endParaRPr lang="zh-TW" altLang="en-US" sz="1400" b="1"/>
            </a:p>
          </p:txBody>
        </p:sp>
        <p:sp>
          <p:nvSpPr>
            <p:cNvPr id="12" name="文字方塊 11">
              <a:extLst>
                <a:ext uri="{FF2B5EF4-FFF2-40B4-BE49-F238E27FC236}">
                  <a16:creationId xmlns:a16="http://schemas.microsoft.com/office/drawing/2014/main" id="{C5E7F9AD-AEE7-457C-86F2-96EB9D74AEB7}"/>
                </a:ext>
              </a:extLst>
            </p:cNvPr>
            <p:cNvSpPr txBox="1">
              <a:spLocks noChangeArrowheads="1"/>
            </p:cNvSpPr>
            <p:nvPr/>
          </p:nvSpPr>
          <p:spPr bwMode="auto">
            <a:xfrm>
              <a:off x="7120689" y="6217151"/>
              <a:ext cx="1260475" cy="269875"/>
            </a:xfrm>
            <a:prstGeom prst="rect">
              <a:avLst/>
            </a:prstGeom>
            <a:noFill/>
            <a:ln w="9525">
              <a:noFill/>
              <a:miter lim="800000"/>
              <a:headEnd/>
              <a:tailEnd/>
            </a:ln>
          </p:spPr>
          <p:txBody>
            <a:bodyPr wrap="none">
              <a:spAutoFit/>
            </a:bodyPr>
            <a:lstStyle/>
            <a:p>
              <a:pPr algn="ctr"/>
              <a:r>
                <a:rPr lang="en-US" altLang="zh-TW" sz="1400" b="1" dirty="0"/>
                <a:t>[..OS Boot..]</a:t>
              </a:r>
              <a:endParaRPr lang="zh-TW" altLang="en-US" sz="1400" b="1"/>
            </a:p>
          </p:txBody>
        </p:sp>
        <p:cxnSp>
          <p:nvCxnSpPr>
            <p:cNvPr id="13" name="直線單箭頭接點 12">
              <a:extLst>
                <a:ext uri="{FF2B5EF4-FFF2-40B4-BE49-F238E27FC236}">
                  <a16:creationId xmlns:a16="http://schemas.microsoft.com/office/drawing/2014/main" id="{93214C7A-D5B8-4E3D-8437-AC98875FA7BB}"/>
                </a:ext>
              </a:extLst>
            </p:cNvPr>
            <p:cNvCxnSpPr>
              <a:stCxn id="9" idx="3"/>
              <a:endCxn id="11" idx="1"/>
            </p:cNvCxnSpPr>
            <p:nvPr/>
          </p:nvCxnSpPr>
          <p:spPr>
            <a:xfrm>
              <a:off x="3161464" y="6352089"/>
              <a:ext cx="90011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直線單箭頭接點 13">
              <a:extLst>
                <a:ext uri="{FF2B5EF4-FFF2-40B4-BE49-F238E27FC236}">
                  <a16:creationId xmlns:a16="http://schemas.microsoft.com/office/drawing/2014/main" id="{16CB1948-2CC6-454B-B2BD-1ED230508ACD}"/>
                </a:ext>
              </a:extLst>
            </p:cNvPr>
            <p:cNvCxnSpPr>
              <a:stCxn id="11" idx="3"/>
              <a:endCxn id="12" idx="1"/>
            </p:cNvCxnSpPr>
            <p:nvPr/>
          </p:nvCxnSpPr>
          <p:spPr>
            <a:xfrm>
              <a:off x="6401552" y="6352089"/>
              <a:ext cx="719137"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CF89915C-2897-4444-9353-CE6A17274759}"/>
                </a:ext>
              </a:extLst>
            </p:cNvPr>
            <p:cNvCxnSpPr>
              <a:stCxn id="12" idx="3"/>
              <a:endCxn id="10" idx="1"/>
            </p:cNvCxnSpPr>
            <p:nvPr/>
          </p:nvCxnSpPr>
          <p:spPr>
            <a:xfrm>
              <a:off x="8381164" y="6352089"/>
              <a:ext cx="1079500"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6AC83A76-21B3-447A-BC7E-9CCEE7DD10FF}"/>
                </a:ext>
              </a:extLst>
            </p:cNvPr>
            <p:cNvSpPr/>
            <p:nvPr/>
          </p:nvSpPr>
          <p:spPr>
            <a:xfrm>
              <a:off x="3161464" y="5496426"/>
              <a:ext cx="1258888" cy="720725"/>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solidFill>
                    <a:schemeClr val="tx1"/>
                  </a:solidFill>
                </a:rPr>
                <a:t>Pre EFI</a:t>
              </a:r>
              <a:br>
                <a:rPr lang="en-US" altLang="zh-TW" sz="1200" b="1" dirty="0">
                  <a:solidFill>
                    <a:schemeClr val="tx1"/>
                  </a:solidFill>
                </a:rPr>
              </a:br>
              <a:r>
                <a:rPr lang="en-US" altLang="zh-TW" sz="1200" b="1" dirty="0">
                  <a:solidFill>
                    <a:schemeClr val="tx1"/>
                  </a:solidFill>
                </a:rPr>
                <a:t>Initialization</a:t>
              </a:r>
            </a:p>
            <a:p>
              <a:pPr algn="ctr">
                <a:defRPr/>
              </a:pPr>
              <a:r>
                <a:rPr lang="en-US" altLang="zh-TW" sz="1200" b="1" dirty="0">
                  <a:solidFill>
                    <a:schemeClr val="tx1"/>
                  </a:solidFill>
                </a:rPr>
                <a:t>(PEI)</a:t>
              </a:r>
              <a:endParaRPr lang="zh-TW" altLang="en-US" sz="1200" b="1" dirty="0">
                <a:solidFill>
                  <a:schemeClr val="tx1"/>
                </a:solidFill>
              </a:endParaRPr>
            </a:p>
          </p:txBody>
        </p:sp>
        <p:sp>
          <p:nvSpPr>
            <p:cNvPr id="17" name="矩形 16">
              <a:extLst>
                <a:ext uri="{FF2B5EF4-FFF2-40B4-BE49-F238E27FC236}">
                  <a16:creationId xmlns:a16="http://schemas.microsoft.com/office/drawing/2014/main" id="{5C6E9E5B-C26E-4555-B4C8-BBA70D1C1D6B}"/>
                </a:ext>
              </a:extLst>
            </p:cNvPr>
            <p:cNvSpPr/>
            <p:nvPr/>
          </p:nvSpPr>
          <p:spPr>
            <a:xfrm>
              <a:off x="4420352" y="5496426"/>
              <a:ext cx="1620837" cy="720725"/>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solidFill>
                    <a:schemeClr val="tx1"/>
                  </a:solidFill>
                </a:rPr>
                <a:t>Driver Execution</a:t>
              </a:r>
              <a:br>
                <a:rPr lang="en-US" altLang="zh-TW" sz="1200" b="1" dirty="0">
                  <a:solidFill>
                    <a:schemeClr val="tx1"/>
                  </a:solidFill>
                </a:rPr>
              </a:br>
              <a:r>
                <a:rPr lang="en-US" altLang="zh-TW" sz="1200" b="1" dirty="0">
                  <a:solidFill>
                    <a:schemeClr val="tx1"/>
                  </a:solidFill>
                </a:rPr>
                <a:t>Environment</a:t>
              </a:r>
              <a:br>
                <a:rPr lang="en-US" altLang="zh-TW" sz="1200" b="1" dirty="0">
                  <a:solidFill>
                    <a:schemeClr val="tx1"/>
                  </a:solidFill>
                </a:rPr>
              </a:br>
              <a:r>
                <a:rPr lang="en-US" altLang="zh-TW" sz="1200" b="1" dirty="0">
                  <a:solidFill>
                    <a:schemeClr val="tx1"/>
                  </a:solidFill>
                </a:rPr>
                <a:t>(DXE)</a:t>
              </a:r>
              <a:endParaRPr lang="zh-TW" altLang="en-US" sz="1200" b="1" dirty="0">
                <a:solidFill>
                  <a:schemeClr val="tx1"/>
                </a:solidFill>
              </a:endParaRPr>
            </a:p>
          </p:txBody>
        </p:sp>
        <p:sp>
          <p:nvSpPr>
            <p:cNvPr id="18" name="矩形 17">
              <a:extLst>
                <a:ext uri="{FF2B5EF4-FFF2-40B4-BE49-F238E27FC236}">
                  <a16:creationId xmlns:a16="http://schemas.microsoft.com/office/drawing/2014/main" id="{A6B3C4A8-AC11-41DD-8E30-8081FE1E03E9}"/>
                </a:ext>
              </a:extLst>
            </p:cNvPr>
            <p:cNvSpPr/>
            <p:nvPr/>
          </p:nvSpPr>
          <p:spPr>
            <a:xfrm>
              <a:off x="6041189" y="5496426"/>
              <a:ext cx="900113" cy="720725"/>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solidFill>
                    <a:schemeClr val="tx1"/>
                  </a:solidFill>
                </a:rPr>
                <a:t>Boot Dev</a:t>
              </a:r>
              <a:br>
                <a:rPr lang="en-US" altLang="zh-TW" sz="1200" b="1" dirty="0">
                  <a:solidFill>
                    <a:schemeClr val="tx1"/>
                  </a:solidFill>
                </a:rPr>
              </a:br>
              <a:r>
                <a:rPr lang="en-US" altLang="zh-TW" sz="1200" b="1" dirty="0">
                  <a:solidFill>
                    <a:schemeClr val="tx1"/>
                  </a:solidFill>
                </a:rPr>
                <a:t>Select</a:t>
              </a:r>
              <a:br>
                <a:rPr lang="en-US" altLang="zh-TW" sz="1200" b="1" dirty="0">
                  <a:solidFill>
                    <a:schemeClr val="tx1"/>
                  </a:solidFill>
                </a:rPr>
              </a:br>
              <a:r>
                <a:rPr lang="en-US" altLang="zh-TW" sz="1200" b="1" dirty="0">
                  <a:solidFill>
                    <a:schemeClr val="tx1"/>
                  </a:solidFill>
                </a:rPr>
                <a:t>(BDS)</a:t>
              </a:r>
            </a:p>
          </p:txBody>
        </p:sp>
        <p:sp>
          <p:nvSpPr>
            <p:cNvPr id="19" name="矩形 18">
              <a:extLst>
                <a:ext uri="{FF2B5EF4-FFF2-40B4-BE49-F238E27FC236}">
                  <a16:creationId xmlns:a16="http://schemas.microsoft.com/office/drawing/2014/main" id="{F9BC22D5-7F77-4A97-996F-2831D09DA109}"/>
                </a:ext>
              </a:extLst>
            </p:cNvPr>
            <p:cNvSpPr/>
            <p:nvPr/>
          </p:nvSpPr>
          <p:spPr>
            <a:xfrm>
              <a:off x="6941302" y="5496426"/>
              <a:ext cx="1619250" cy="720725"/>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solidFill>
                    <a:schemeClr val="tx1"/>
                  </a:solidFill>
                </a:rPr>
                <a:t>UEFI &amp; OS</a:t>
              </a:r>
              <a:br>
                <a:rPr lang="en-US" altLang="zh-TW" sz="1200" b="1" dirty="0">
                  <a:solidFill>
                    <a:schemeClr val="tx1"/>
                  </a:solidFill>
                </a:rPr>
              </a:br>
              <a:r>
                <a:rPr lang="en-US" altLang="zh-TW" sz="1200" b="1" dirty="0">
                  <a:solidFill>
                    <a:schemeClr val="tx1"/>
                  </a:solidFill>
                </a:rPr>
                <a:t>Loader</a:t>
              </a:r>
              <a:br>
                <a:rPr lang="en-US" altLang="zh-TW" sz="1200" b="1" dirty="0">
                  <a:solidFill>
                    <a:schemeClr val="tx1"/>
                  </a:solidFill>
                </a:rPr>
              </a:br>
              <a:r>
                <a:rPr lang="en-US" altLang="zh-TW" sz="1200" b="1" dirty="0">
                  <a:solidFill>
                    <a:schemeClr val="tx1"/>
                  </a:solidFill>
                </a:rPr>
                <a:t>Handshake</a:t>
              </a:r>
              <a:endParaRPr lang="zh-TW" altLang="en-US" sz="1200" b="1" dirty="0">
                <a:solidFill>
                  <a:schemeClr val="tx1"/>
                </a:solidFill>
              </a:endParaRPr>
            </a:p>
          </p:txBody>
        </p:sp>
        <p:sp>
          <p:nvSpPr>
            <p:cNvPr id="20" name="矩形 19">
              <a:extLst>
                <a:ext uri="{FF2B5EF4-FFF2-40B4-BE49-F238E27FC236}">
                  <a16:creationId xmlns:a16="http://schemas.microsoft.com/office/drawing/2014/main" id="{3C5BB365-D18D-42D3-B477-A0FFC73397D7}"/>
                </a:ext>
              </a:extLst>
            </p:cNvPr>
            <p:cNvSpPr/>
            <p:nvPr/>
          </p:nvSpPr>
          <p:spPr>
            <a:xfrm>
              <a:off x="8560552" y="5496426"/>
              <a:ext cx="1620837" cy="720725"/>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solidFill>
                    <a:schemeClr val="tx1"/>
                  </a:solidFill>
                </a:rPr>
                <a:t>Runtime</a:t>
              </a:r>
              <a:br>
                <a:rPr lang="en-US" altLang="zh-TW" sz="1200" b="1" dirty="0">
                  <a:solidFill>
                    <a:schemeClr val="tx1"/>
                  </a:solidFill>
                </a:rPr>
              </a:br>
              <a:r>
                <a:rPr lang="en-US" altLang="zh-TW" sz="1200" b="1" dirty="0">
                  <a:solidFill>
                    <a:schemeClr val="tx1"/>
                  </a:solidFill>
                </a:rPr>
                <a:t>(RT)</a:t>
              </a:r>
              <a:endParaRPr lang="zh-TW" altLang="en-US" sz="1200" b="1" dirty="0">
                <a:solidFill>
                  <a:schemeClr val="tx1"/>
                </a:solidFill>
              </a:endParaRPr>
            </a:p>
          </p:txBody>
        </p:sp>
        <p:cxnSp>
          <p:nvCxnSpPr>
            <p:cNvPr id="21" name="直線接點 20">
              <a:extLst>
                <a:ext uri="{FF2B5EF4-FFF2-40B4-BE49-F238E27FC236}">
                  <a16:creationId xmlns:a16="http://schemas.microsoft.com/office/drawing/2014/main" id="{20F30D99-F13B-4469-9D00-940A1F8FB020}"/>
                </a:ext>
              </a:extLst>
            </p:cNvPr>
            <p:cNvCxnSpPr/>
            <p:nvPr/>
          </p:nvCxnSpPr>
          <p:spPr>
            <a:xfrm flipH="1">
              <a:off x="2261352" y="1807076"/>
              <a:ext cx="17462" cy="3598863"/>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45130872-77BC-4417-BE6A-07A00AE5D4DE}"/>
                </a:ext>
              </a:extLst>
            </p:cNvPr>
            <p:cNvCxnSpPr/>
            <p:nvPr/>
          </p:nvCxnSpPr>
          <p:spPr>
            <a:xfrm flipH="1">
              <a:off x="3161464" y="1807076"/>
              <a:ext cx="17463" cy="3598863"/>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F1E23A28-DC3A-4C9E-B140-77A1D94AB3B3}"/>
                </a:ext>
              </a:extLst>
            </p:cNvPr>
            <p:cNvCxnSpPr/>
            <p:nvPr/>
          </p:nvCxnSpPr>
          <p:spPr>
            <a:xfrm flipH="1">
              <a:off x="6041189" y="1807076"/>
              <a:ext cx="17463" cy="3598863"/>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291203DF-50CF-40E9-AE4C-CAA71C875533}"/>
                </a:ext>
              </a:extLst>
            </p:cNvPr>
            <p:cNvCxnSpPr/>
            <p:nvPr/>
          </p:nvCxnSpPr>
          <p:spPr>
            <a:xfrm flipH="1">
              <a:off x="6941302" y="1807076"/>
              <a:ext cx="17462" cy="3598863"/>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B1369E8C-52D4-49B8-9691-7DE44D2A5298}"/>
                </a:ext>
              </a:extLst>
            </p:cNvPr>
            <p:cNvCxnSpPr/>
            <p:nvPr/>
          </p:nvCxnSpPr>
          <p:spPr>
            <a:xfrm flipH="1">
              <a:off x="8560552" y="1807076"/>
              <a:ext cx="19050" cy="3598863"/>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4C607047-9C9F-4E81-A96F-67061B5FE376}"/>
                </a:ext>
              </a:extLst>
            </p:cNvPr>
            <p:cNvCxnSpPr/>
            <p:nvPr/>
          </p:nvCxnSpPr>
          <p:spPr>
            <a:xfrm flipH="1">
              <a:off x="10181389" y="1807076"/>
              <a:ext cx="17463" cy="3598863"/>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8E3362F1-B51A-42C0-B07B-6FCA4DCAABE6}"/>
                </a:ext>
              </a:extLst>
            </p:cNvPr>
            <p:cNvSpPr/>
            <p:nvPr/>
          </p:nvSpPr>
          <p:spPr>
            <a:xfrm>
              <a:off x="2332789" y="1716589"/>
              <a:ext cx="792163" cy="449262"/>
            </a:xfrm>
            <a:prstGeom prst="rect">
              <a:avLst/>
            </a:prstGeom>
            <a:solidFill>
              <a:srgbClr val="1218FA"/>
            </a:solidFill>
            <a:ln>
              <a:solidFill>
                <a:srgbClr val="1218F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t>Pre</a:t>
              </a:r>
              <a:br>
                <a:rPr lang="en-US" altLang="zh-TW" sz="1200" b="1" dirty="0"/>
              </a:br>
              <a:r>
                <a:rPr lang="en-US" altLang="zh-TW" sz="1200" b="1" dirty="0"/>
                <a:t>Verifier</a:t>
              </a:r>
              <a:endParaRPr lang="zh-TW" altLang="en-US" sz="1200" b="1" dirty="0"/>
            </a:p>
          </p:txBody>
        </p:sp>
        <p:sp>
          <p:nvSpPr>
            <p:cNvPr id="28" name="矩形 27">
              <a:extLst>
                <a:ext uri="{FF2B5EF4-FFF2-40B4-BE49-F238E27FC236}">
                  <a16:creationId xmlns:a16="http://schemas.microsoft.com/office/drawing/2014/main" id="{8859B81A-3324-40E7-A733-1653D5ACE93C}"/>
                </a:ext>
              </a:extLst>
            </p:cNvPr>
            <p:cNvSpPr/>
            <p:nvPr/>
          </p:nvSpPr>
          <p:spPr>
            <a:xfrm>
              <a:off x="3971089" y="4777289"/>
              <a:ext cx="1368425" cy="449262"/>
            </a:xfrm>
            <a:prstGeom prst="rect">
              <a:avLst/>
            </a:prstGeom>
            <a:solidFill>
              <a:srgbClr val="1218FA"/>
            </a:solidFill>
            <a:ln>
              <a:solidFill>
                <a:srgbClr val="1218F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t>Architectural</a:t>
              </a:r>
              <a:br>
                <a:rPr lang="en-US" altLang="zh-TW" sz="1200" b="1" dirty="0"/>
              </a:br>
              <a:r>
                <a:rPr lang="en-US" altLang="zh-TW" sz="1200" b="1" dirty="0"/>
                <a:t>Protocols</a:t>
              </a:r>
              <a:endParaRPr lang="zh-TW" altLang="en-US" sz="1200" b="1" dirty="0"/>
            </a:p>
          </p:txBody>
        </p:sp>
        <p:sp>
          <p:nvSpPr>
            <p:cNvPr id="29" name="矩形 28">
              <a:extLst>
                <a:ext uri="{FF2B5EF4-FFF2-40B4-BE49-F238E27FC236}">
                  <a16:creationId xmlns:a16="http://schemas.microsoft.com/office/drawing/2014/main" id="{50067DB5-6AA8-4F97-B51D-7434EB36B869}"/>
                </a:ext>
              </a:extLst>
            </p:cNvPr>
            <p:cNvSpPr/>
            <p:nvPr/>
          </p:nvSpPr>
          <p:spPr>
            <a:xfrm>
              <a:off x="7030202" y="4777289"/>
              <a:ext cx="1368425" cy="44926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t>Final OS</a:t>
              </a:r>
              <a:br>
                <a:rPr lang="en-US" altLang="zh-TW" sz="1200" b="1" dirty="0"/>
              </a:br>
              <a:r>
                <a:rPr lang="en-US" altLang="zh-TW" sz="1200" b="1" dirty="0"/>
                <a:t>Boot Loader</a:t>
              </a:r>
              <a:endParaRPr lang="zh-TW" altLang="en-US" sz="1200" b="1" dirty="0"/>
            </a:p>
          </p:txBody>
        </p:sp>
        <p:sp>
          <p:nvSpPr>
            <p:cNvPr id="30" name="矩形 29">
              <a:extLst>
                <a:ext uri="{FF2B5EF4-FFF2-40B4-BE49-F238E27FC236}">
                  <a16:creationId xmlns:a16="http://schemas.microsoft.com/office/drawing/2014/main" id="{34239914-C55C-4888-8C80-75E06EEDE256}"/>
                </a:ext>
              </a:extLst>
            </p:cNvPr>
            <p:cNvSpPr/>
            <p:nvPr/>
          </p:nvSpPr>
          <p:spPr>
            <a:xfrm>
              <a:off x="8651039" y="4777289"/>
              <a:ext cx="1368425" cy="44926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t>Final OS</a:t>
              </a:r>
              <a:br>
                <a:rPr lang="en-US" altLang="zh-TW" sz="1200" b="1" dirty="0"/>
              </a:br>
              <a:r>
                <a:rPr lang="en-US" altLang="zh-TW" sz="1200" b="1" dirty="0"/>
                <a:t>Environment</a:t>
              </a:r>
              <a:endParaRPr lang="zh-TW" altLang="en-US" sz="1200" b="1" dirty="0"/>
            </a:p>
          </p:txBody>
        </p:sp>
        <p:sp>
          <p:nvSpPr>
            <p:cNvPr id="31" name="矩形 30">
              <a:extLst>
                <a:ext uri="{FF2B5EF4-FFF2-40B4-BE49-F238E27FC236}">
                  <a16:creationId xmlns:a16="http://schemas.microsoft.com/office/drawing/2014/main" id="{94906BEC-8E02-4E3A-9DD2-B90B494FAC33}"/>
                </a:ext>
              </a:extLst>
            </p:cNvPr>
            <p:cNvSpPr/>
            <p:nvPr/>
          </p:nvSpPr>
          <p:spPr>
            <a:xfrm>
              <a:off x="3232902" y="2796089"/>
              <a:ext cx="792162" cy="450850"/>
            </a:xfrm>
            <a:prstGeom prst="rect">
              <a:avLst/>
            </a:prstGeom>
            <a:solidFill>
              <a:srgbClr val="1218FA"/>
            </a:solidFill>
            <a:ln>
              <a:solidFill>
                <a:srgbClr val="1218F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t>CPU</a:t>
              </a:r>
              <a:br>
                <a:rPr lang="en-US" altLang="zh-TW" sz="1200" b="1" dirty="0"/>
              </a:br>
              <a:r>
                <a:rPr lang="en-US" altLang="zh-TW" sz="1200" b="1" dirty="0"/>
                <a:t>Init</a:t>
              </a:r>
              <a:endParaRPr lang="zh-TW" altLang="en-US" sz="1200" b="1" dirty="0"/>
            </a:p>
          </p:txBody>
        </p:sp>
        <p:sp>
          <p:nvSpPr>
            <p:cNvPr id="32" name="矩形 31">
              <a:extLst>
                <a:ext uri="{FF2B5EF4-FFF2-40B4-BE49-F238E27FC236}">
                  <a16:creationId xmlns:a16="http://schemas.microsoft.com/office/drawing/2014/main" id="{9968B9A6-6F5D-4A60-B95B-B11C2714EBEB}"/>
                </a:ext>
              </a:extLst>
            </p:cNvPr>
            <p:cNvSpPr/>
            <p:nvPr/>
          </p:nvSpPr>
          <p:spPr>
            <a:xfrm>
              <a:off x="3232902" y="3335839"/>
              <a:ext cx="792162" cy="450850"/>
            </a:xfrm>
            <a:prstGeom prst="rect">
              <a:avLst/>
            </a:prstGeom>
            <a:solidFill>
              <a:srgbClr val="1218FA"/>
            </a:solidFill>
            <a:ln>
              <a:solidFill>
                <a:srgbClr val="1218F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t>Chipset</a:t>
              </a:r>
              <a:br>
                <a:rPr lang="en-US" altLang="zh-TW" sz="1200" b="1" dirty="0"/>
              </a:br>
              <a:r>
                <a:rPr lang="en-US" altLang="zh-TW" sz="1200" b="1" dirty="0"/>
                <a:t>Init</a:t>
              </a:r>
              <a:endParaRPr lang="zh-TW" altLang="en-US" sz="1200" b="1" dirty="0"/>
            </a:p>
          </p:txBody>
        </p:sp>
        <p:sp>
          <p:nvSpPr>
            <p:cNvPr id="33" name="矩形 32">
              <a:extLst>
                <a:ext uri="{FF2B5EF4-FFF2-40B4-BE49-F238E27FC236}">
                  <a16:creationId xmlns:a16="http://schemas.microsoft.com/office/drawing/2014/main" id="{326DBC16-13B7-49C5-A583-4266888339B3}"/>
                </a:ext>
              </a:extLst>
            </p:cNvPr>
            <p:cNvSpPr/>
            <p:nvPr/>
          </p:nvSpPr>
          <p:spPr>
            <a:xfrm>
              <a:off x="3232902" y="3877176"/>
              <a:ext cx="792162" cy="449263"/>
            </a:xfrm>
            <a:prstGeom prst="rect">
              <a:avLst/>
            </a:prstGeom>
            <a:solidFill>
              <a:srgbClr val="34B3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t>Board</a:t>
              </a:r>
              <a:br>
                <a:rPr lang="en-US" altLang="zh-TW" sz="1200" b="1" dirty="0"/>
              </a:br>
              <a:r>
                <a:rPr lang="en-US" altLang="zh-TW" sz="1200" b="1" dirty="0"/>
                <a:t>Init</a:t>
              </a:r>
              <a:endParaRPr lang="zh-TW" altLang="en-US" sz="1200" b="1" dirty="0"/>
            </a:p>
          </p:txBody>
        </p:sp>
        <p:sp>
          <p:nvSpPr>
            <p:cNvPr id="34" name="矩形 33">
              <a:extLst>
                <a:ext uri="{FF2B5EF4-FFF2-40B4-BE49-F238E27FC236}">
                  <a16:creationId xmlns:a16="http://schemas.microsoft.com/office/drawing/2014/main" id="{372E3D8F-EC99-41A0-BFE9-2450300DAE7D}"/>
                </a:ext>
              </a:extLst>
            </p:cNvPr>
            <p:cNvSpPr/>
            <p:nvPr/>
          </p:nvSpPr>
          <p:spPr>
            <a:xfrm>
              <a:off x="3232902" y="2256339"/>
              <a:ext cx="792162" cy="450850"/>
            </a:xfrm>
            <a:prstGeom prst="rect">
              <a:avLst/>
            </a:prstGeom>
            <a:solidFill>
              <a:srgbClr val="1218FA"/>
            </a:solidFill>
            <a:ln>
              <a:solidFill>
                <a:srgbClr val="1218F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t>PEI</a:t>
              </a:r>
              <a:br>
                <a:rPr lang="en-US" altLang="zh-TW" sz="1200" b="1" dirty="0"/>
              </a:br>
              <a:r>
                <a:rPr lang="en-US" altLang="zh-TW" sz="1200" b="1" dirty="0"/>
                <a:t>Core</a:t>
              </a:r>
              <a:endParaRPr lang="zh-TW" altLang="en-US" sz="1200" b="1" dirty="0"/>
            </a:p>
          </p:txBody>
        </p:sp>
        <p:sp>
          <p:nvSpPr>
            <p:cNvPr id="35" name="矩形 34">
              <a:extLst>
                <a:ext uri="{FF2B5EF4-FFF2-40B4-BE49-F238E27FC236}">
                  <a16:creationId xmlns:a16="http://schemas.microsoft.com/office/drawing/2014/main" id="{F2241D1E-DD2F-4422-8523-F4BF5128A3B8}"/>
                </a:ext>
              </a:extLst>
            </p:cNvPr>
            <p:cNvSpPr/>
            <p:nvPr/>
          </p:nvSpPr>
          <p:spPr>
            <a:xfrm>
              <a:off x="8651039" y="4056564"/>
              <a:ext cx="1368425" cy="44926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t>OS-Present</a:t>
              </a:r>
              <a:br>
                <a:rPr lang="en-US" altLang="zh-TW" sz="1200" b="1" dirty="0"/>
              </a:br>
              <a:r>
                <a:rPr lang="en-US" altLang="zh-TW" sz="1200" b="1" dirty="0"/>
                <a:t>App</a:t>
              </a:r>
              <a:endParaRPr lang="zh-TW" altLang="en-US" sz="1200" b="1" dirty="0"/>
            </a:p>
          </p:txBody>
        </p:sp>
        <p:sp>
          <p:nvSpPr>
            <p:cNvPr id="36" name="矩形 35">
              <a:extLst>
                <a:ext uri="{FF2B5EF4-FFF2-40B4-BE49-F238E27FC236}">
                  <a16:creationId xmlns:a16="http://schemas.microsoft.com/office/drawing/2014/main" id="{EC440257-83C8-4DFE-90A7-BDF0FF0A41F6}"/>
                </a:ext>
              </a:extLst>
            </p:cNvPr>
            <p:cNvSpPr/>
            <p:nvPr/>
          </p:nvSpPr>
          <p:spPr>
            <a:xfrm>
              <a:off x="7030202" y="2076951"/>
              <a:ext cx="1368425" cy="449263"/>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solidFill>
                    <a:schemeClr val="tx1"/>
                  </a:solidFill>
                </a:rPr>
                <a:t>OS-Absent</a:t>
              </a:r>
              <a:br>
                <a:rPr lang="en-US" altLang="zh-TW" sz="1200" b="1" dirty="0">
                  <a:solidFill>
                    <a:schemeClr val="tx1"/>
                  </a:solidFill>
                </a:rPr>
              </a:br>
              <a:r>
                <a:rPr lang="en-US" altLang="zh-TW" sz="1200" b="1" dirty="0">
                  <a:solidFill>
                    <a:schemeClr val="tx1"/>
                  </a:solidFill>
                </a:rPr>
                <a:t>App</a:t>
              </a:r>
              <a:endParaRPr lang="zh-TW" altLang="en-US" sz="1200" b="1" dirty="0">
                <a:solidFill>
                  <a:schemeClr val="tx1"/>
                </a:solidFill>
              </a:endParaRPr>
            </a:p>
          </p:txBody>
        </p:sp>
        <p:sp>
          <p:nvSpPr>
            <p:cNvPr id="37" name="矩形 36">
              <a:extLst>
                <a:ext uri="{FF2B5EF4-FFF2-40B4-BE49-F238E27FC236}">
                  <a16:creationId xmlns:a16="http://schemas.microsoft.com/office/drawing/2014/main" id="{1FB9B5F3-331B-4AAD-AB86-D7DE56F63C06}"/>
                </a:ext>
              </a:extLst>
            </p:cNvPr>
            <p:cNvSpPr/>
            <p:nvPr/>
          </p:nvSpPr>
          <p:spPr>
            <a:xfrm>
              <a:off x="7030202" y="2796089"/>
              <a:ext cx="1368425" cy="45085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solidFill>
                    <a:schemeClr val="tx1"/>
                  </a:solidFill>
                </a:rPr>
                <a:t>Transient OS</a:t>
              </a:r>
              <a:br>
                <a:rPr lang="en-US" altLang="zh-TW" sz="1200" b="1" dirty="0">
                  <a:solidFill>
                    <a:schemeClr val="tx1"/>
                  </a:solidFill>
                </a:rPr>
              </a:br>
              <a:r>
                <a:rPr lang="en-US" altLang="zh-TW" sz="1200" b="1" dirty="0">
                  <a:solidFill>
                    <a:schemeClr val="tx1"/>
                  </a:solidFill>
                </a:rPr>
                <a:t>Environment</a:t>
              </a:r>
              <a:endParaRPr lang="zh-TW" altLang="en-US" sz="1200" b="1" dirty="0">
                <a:solidFill>
                  <a:schemeClr val="tx1"/>
                </a:solidFill>
              </a:endParaRPr>
            </a:p>
          </p:txBody>
        </p:sp>
        <p:sp>
          <p:nvSpPr>
            <p:cNvPr id="38" name="矩形 37">
              <a:extLst>
                <a:ext uri="{FF2B5EF4-FFF2-40B4-BE49-F238E27FC236}">
                  <a16:creationId xmlns:a16="http://schemas.microsoft.com/office/drawing/2014/main" id="{E14D2E69-F204-4A88-91E1-DBE2DF7210D0}"/>
                </a:ext>
              </a:extLst>
            </p:cNvPr>
            <p:cNvSpPr/>
            <p:nvPr/>
          </p:nvSpPr>
          <p:spPr>
            <a:xfrm>
              <a:off x="7030202" y="3516814"/>
              <a:ext cx="1368425" cy="449262"/>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200" b="1" dirty="0">
                  <a:solidFill>
                    <a:schemeClr val="tx1"/>
                  </a:solidFill>
                </a:rPr>
                <a:t>Transient OS</a:t>
              </a:r>
              <a:br>
                <a:rPr lang="en-US" altLang="zh-TW" sz="1200" b="1" dirty="0">
                  <a:solidFill>
                    <a:schemeClr val="tx1"/>
                  </a:solidFill>
                </a:rPr>
              </a:br>
              <a:r>
                <a:rPr lang="en-US" altLang="zh-TW" sz="1200" b="1" dirty="0">
                  <a:solidFill>
                    <a:schemeClr val="tx1"/>
                  </a:solidFill>
                </a:rPr>
                <a:t>Boot Loader</a:t>
              </a:r>
              <a:endParaRPr lang="zh-TW" altLang="en-US" sz="1200" b="1" dirty="0">
                <a:solidFill>
                  <a:schemeClr val="tx1"/>
                </a:solidFill>
              </a:endParaRPr>
            </a:p>
          </p:txBody>
        </p:sp>
        <p:sp>
          <p:nvSpPr>
            <p:cNvPr id="39" name="Arc 35">
              <a:extLst>
                <a:ext uri="{FF2B5EF4-FFF2-40B4-BE49-F238E27FC236}">
                  <a16:creationId xmlns:a16="http://schemas.microsoft.com/office/drawing/2014/main" id="{2AE18461-61CD-4679-BC8A-9EB7877A7651}"/>
                </a:ext>
              </a:extLst>
            </p:cNvPr>
            <p:cNvSpPr>
              <a:spLocks/>
            </p:cNvSpPr>
            <p:nvPr/>
          </p:nvSpPr>
          <p:spPr bwMode="auto">
            <a:xfrm rot="-5400000">
              <a:off x="7614402" y="2616701"/>
              <a:ext cx="212725" cy="123825"/>
            </a:xfrm>
            <a:custGeom>
              <a:avLst/>
              <a:gdLst>
                <a:gd name="T0" fmla="*/ 2147483647 w 36690"/>
                <a:gd name="T1" fmla="*/ 2147483647 h 21600"/>
                <a:gd name="T2" fmla="*/ 0 w 36690"/>
                <a:gd name="T3" fmla="*/ 2147483647 h 21600"/>
                <a:gd name="T4" fmla="*/ 2147483647 w 36690"/>
                <a:gd name="T5" fmla="*/ 0 h 21600"/>
                <a:gd name="T6" fmla="*/ 0 60000 65536"/>
                <a:gd name="T7" fmla="*/ 0 60000 65536"/>
                <a:gd name="T8" fmla="*/ 0 60000 65536"/>
                <a:gd name="T9" fmla="*/ 0 w 36690"/>
                <a:gd name="T10" fmla="*/ 0 h 21600"/>
                <a:gd name="T11" fmla="*/ 36690 w 36690"/>
                <a:gd name="T12" fmla="*/ 21600 h 21600"/>
              </a:gdLst>
              <a:ahLst/>
              <a:cxnLst>
                <a:cxn ang="T6">
                  <a:pos x="T0" y="T1"/>
                </a:cxn>
                <a:cxn ang="T7">
                  <a:pos x="T2" y="T3"/>
                </a:cxn>
                <a:cxn ang="T8">
                  <a:pos x="T4" y="T5"/>
                </a:cxn>
              </a:cxnLst>
              <a:rect l="T9" t="T10" r="T11" b="T12"/>
              <a:pathLst>
                <a:path w="36690" h="21600" fill="none" extrusionOk="0">
                  <a:moveTo>
                    <a:pt x="36690" y="12023"/>
                  </a:moveTo>
                  <a:cubicBezTo>
                    <a:pt x="32680" y="18008"/>
                    <a:pt x="25950" y="21599"/>
                    <a:pt x="18746" y="21600"/>
                  </a:cubicBezTo>
                  <a:cubicBezTo>
                    <a:pt x="11000" y="21600"/>
                    <a:pt x="3848" y="17452"/>
                    <a:pt x="0" y="10730"/>
                  </a:cubicBezTo>
                </a:path>
                <a:path w="36690" h="21600" stroke="0" extrusionOk="0">
                  <a:moveTo>
                    <a:pt x="36690" y="12023"/>
                  </a:moveTo>
                  <a:cubicBezTo>
                    <a:pt x="32680" y="18008"/>
                    <a:pt x="25950" y="21599"/>
                    <a:pt x="18746" y="21600"/>
                  </a:cubicBezTo>
                  <a:cubicBezTo>
                    <a:pt x="11000" y="21600"/>
                    <a:pt x="3848" y="17452"/>
                    <a:pt x="0" y="10730"/>
                  </a:cubicBezTo>
                  <a:lnTo>
                    <a:pt x="18746" y="0"/>
                  </a:lnTo>
                  <a:close/>
                </a:path>
              </a:pathLst>
            </a:custGeom>
            <a:noFill/>
            <a:ln w="12700" cap="rnd">
              <a:solidFill>
                <a:schemeClr val="tx1"/>
              </a:solidFill>
              <a:round/>
              <a:headEnd type="none" w="sm" len="sm"/>
              <a:tailEnd type="stealth" w="med" len="med"/>
            </a:ln>
          </p:spPr>
          <p:txBody>
            <a:bodyPr/>
            <a:lstStyle/>
            <a:p>
              <a:endParaRPr lang="zh-TW" altLang="en-US"/>
            </a:p>
          </p:txBody>
        </p:sp>
        <p:sp>
          <p:nvSpPr>
            <p:cNvPr id="40" name="Arc 36">
              <a:extLst>
                <a:ext uri="{FF2B5EF4-FFF2-40B4-BE49-F238E27FC236}">
                  <a16:creationId xmlns:a16="http://schemas.microsoft.com/office/drawing/2014/main" id="{973ACFD6-EF58-4084-9EEB-82526AC61202}"/>
                </a:ext>
              </a:extLst>
            </p:cNvPr>
            <p:cNvSpPr>
              <a:spLocks/>
            </p:cNvSpPr>
            <p:nvPr/>
          </p:nvSpPr>
          <p:spPr bwMode="auto">
            <a:xfrm rot="5400000">
              <a:off x="7585827" y="2616701"/>
              <a:ext cx="212725" cy="123825"/>
            </a:xfrm>
            <a:custGeom>
              <a:avLst/>
              <a:gdLst>
                <a:gd name="T0" fmla="*/ 2147483647 w 36690"/>
                <a:gd name="T1" fmla="*/ 2147483647 h 21600"/>
                <a:gd name="T2" fmla="*/ 0 w 36690"/>
                <a:gd name="T3" fmla="*/ 2147483647 h 21600"/>
                <a:gd name="T4" fmla="*/ 2147483647 w 36690"/>
                <a:gd name="T5" fmla="*/ 0 h 21600"/>
                <a:gd name="T6" fmla="*/ 0 60000 65536"/>
                <a:gd name="T7" fmla="*/ 0 60000 65536"/>
                <a:gd name="T8" fmla="*/ 0 60000 65536"/>
                <a:gd name="T9" fmla="*/ 0 w 36690"/>
                <a:gd name="T10" fmla="*/ 0 h 21600"/>
                <a:gd name="T11" fmla="*/ 36690 w 36690"/>
                <a:gd name="T12" fmla="*/ 21600 h 21600"/>
              </a:gdLst>
              <a:ahLst/>
              <a:cxnLst>
                <a:cxn ang="T6">
                  <a:pos x="T0" y="T1"/>
                </a:cxn>
                <a:cxn ang="T7">
                  <a:pos x="T2" y="T3"/>
                </a:cxn>
                <a:cxn ang="T8">
                  <a:pos x="T4" y="T5"/>
                </a:cxn>
              </a:cxnLst>
              <a:rect l="T9" t="T10" r="T11" b="T12"/>
              <a:pathLst>
                <a:path w="36690" h="21600" fill="none" extrusionOk="0">
                  <a:moveTo>
                    <a:pt x="36690" y="12023"/>
                  </a:moveTo>
                  <a:cubicBezTo>
                    <a:pt x="32680" y="18008"/>
                    <a:pt x="25950" y="21599"/>
                    <a:pt x="18746" y="21600"/>
                  </a:cubicBezTo>
                  <a:cubicBezTo>
                    <a:pt x="11000" y="21600"/>
                    <a:pt x="3848" y="17452"/>
                    <a:pt x="0" y="10730"/>
                  </a:cubicBezTo>
                </a:path>
                <a:path w="36690" h="21600" stroke="0" extrusionOk="0">
                  <a:moveTo>
                    <a:pt x="36690" y="12023"/>
                  </a:moveTo>
                  <a:cubicBezTo>
                    <a:pt x="32680" y="18008"/>
                    <a:pt x="25950" y="21599"/>
                    <a:pt x="18746" y="21600"/>
                  </a:cubicBezTo>
                  <a:cubicBezTo>
                    <a:pt x="11000" y="21600"/>
                    <a:pt x="3848" y="17452"/>
                    <a:pt x="0" y="10730"/>
                  </a:cubicBezTo>
                  <a:lnTo>
                    <a:pt x="18746" y="0"/>
                  </a:lnTo>
                  <a:close/>
                </a:path>
              </a:pathLst>
            </a:custGeom>
            <a:noFill/>
            <a:ln w="12700" cap="rnd">
              <a:solidFill>
                <a:schemeClr val="tx1"/>
              </a:solidFill>
              <a:round/>
              <a:headEnd type="none" w="sm" len="sm"/>
              <a:tailEnd type="stealth" w="med" len="med"/>
            </a:ln>
          </p:spPr>
          <p:txBody>
            <a:bodyPr/>
            <a:lstStyle/>
            <a:p>
              <a:endParaRPr lang="zh-TW" altLang="en-US"/>
            </a:p>
          </p:txBody>
        </p:sp>
        <p:sp>
          <p:nvSpPr>
            <p:cNvPr id="41" name="Arc 35">
              <a:extLst>
                <a:ext uri="{FF2B5EF4-FFF2-40B4-BE49-F238E27FC236}">
                  <a16:creationId xmlns:a16="http://schemas.microsoft.com/office/drawing/2014/main" id="{41907322-D771-44A6-8ED7-57407D811615}"/>
                </a:ext>
              </a:extLst>
            </p:cNvPr>
            <p:cNvSpPr>
              <a:spLocks/>
            </p:cNvSpPr>
            <p:nvPr/>
          </p:nvSpPr>
          <p:spPr bwMode="auto">
            <a:xfrm rot="-5400000">
              <a:off x="7600114" y="3335839"/>
              <a:ext cx="212725" cy="123825"/>
            </a:xfrm>
            <a:custGeom>
              <a:avLst/>
              <a:gdLst>
                <a:gd name="T0" fmla="*/ 2147483647 w 36690"/>
                <a:gd name="T1" fmla="*/ 2147483647 h 21600"/>
                <a:gd name="T2" fmla="*/ 0 w 36690"/>
                <a:gd name="T3" fmla="*/ 2147483647 h 21600"/>
                <a:gd name="T4" fmla="*/ 2147483647 w 36690"/>
                <a:gd name="T5" fmla="*/ 0 h 21600"/>
                <a:gd name="T6" fmla="*/ 0 60000 65536"/>
                <a:gd name="T7" fmla="*/ 0 60000 65536"/>
                <a:gd name="T8" fmla="*/ 0 60000 65536"/>
                <a:gd name="T9" fmla="*/ 0 w 36690"/>
                <a:gd name="T10" fmla="*/ 0 h 21600"/>
                <a:gd name="T11" fmla="*/ 36690 w 36690"/>
                <a:gd name="T12" fmla="*/ 21600 h 21600"/>
              </a:gdLst>
              <a:ahLst/>
              <a:cxnLst>
                <a:cxn ang="T6">
                  <a:pos x="T0" y="T1"/>
                </a:cxn>
                <a:cxn ang="T7">
                  <a:pos x="T2" y="T3"/>
                </a:cxn>
                <a:cxn ang="T8">
                  <a:pos x="T4" y="T5"/>
                </a:cxn>
              </a:cxnLst>
              <a:rect l="T9" t="T10" r="T11" b="T12"/>
              <a:pathLst>
                <a:path w="36690" h="21600" fill="none" extrusionOk="0">
                  <a:moveTo>
                    <a:pt x="36690" y="12023"/>
                  </a:moveTo>
                  <a:cubicBezTo>
                    <a:pt x="32680" y="18008"/>
                    <a:pt x="25950" y="21599"/>
                    <a:pt x="18746" y="21600"/>
                  </a:cubicBezTo>
                  <a:cubicBezTo>
                    <a:pt x="11000" y="21600"/>
                    <a:pt x="3848" y="17452"/>
                    <a:pt x="0" y="10730"/>
                  </a:cubicBezTo>
                </a:path>
                <a:path w="36690" h="21600" stroke="0" extrusionOk="0">
                  <a:moveTo>
                    <a:pt x="36690" y="12023"/>
                  </a:moveTo>
                  <a:cubicBezTo>
                    <a:pt x="32680" y="18008"/>
                    <a:pt x="25950" y="21599"/>
                    <a:pt x="18746" y="21600"/>
                  </a:cubicBezTo>
                  <a:cubicBezTo>
                    <a:pt x="11000" y="21600"/>
                    <a:pt x="3848" y="17452"/>
                    <a:pt x="0" y="10730"/>
                  </a:cubicBezTo>
                  <a:lnTo>
                    <a:pt x="18746" y="0"/>
                  </a:lnTo>
                  <a:close/>
                </a:path>
              </a:pathLst>
            </a:custGeom>
            <a:noFill/>
            <a:ln w="12700" cap="rnd">
              <a:solidFill>
                <a:schemeClr val="tx1"/>
              </a:solidFill>
              <a:round/>
              <a:headEnd type="none" w="sm" len="sm"/>
              <a:tailEnd type="stealth" w="med" len="med"/>
            </a:ln>
          </p:spPr>
          <p:txBody>
            <a:bodyPr/>
            <a:lstStyle/>
            <a:p>
              <a:endParaRPr lang="zh-TW" altLang="en-US"/>
            </a:p>
          </p:txBody>
        </p:sp>
        <p:sp>
          <p:nvSpPr>
            <p:cNvPr id="42" name="Arc 36">
              <a:extLst>
                <a:ext uri="{FF2B5EF4-FFF2-40B4-BE49-F238E27FC236}">
                  <a16:creationId xmlns:a16="http://schemas.microsoft.com/office/drawing/2014/main" id="{6EE8114D-E6B4-48BF-8D09-7355A9BA87A6}"/>
                </a:ext>
              </a:extLst>
            </p:cNvPr>
            <p:cNvSpPr>
              <a:spLocks/>
            </p:cNvSpPr>
            <p:nvPr/>
          </p:nvSpPr>
          <p:spPr bwMode="auto">
            <a:xfrm rot="5400000">
              <a:off x="7571539" y="3335839"/>
              <a:ext cx="212725" cy="123825"/>
            </a:xfrm>
            <a:custGeom>
              <a:avLst/>
              <a:gdLst>
                <a:gd name="T0" fmla="*/ 2147483647 w 36690"/>
                <a:gd name="T1" fmla="*/ 2147483647 h 21600"/>
                <a:gd name="T2" fmla="*/ 0 w 36690"/>
                <a:gd name="T3" fmla="*/ 2147483647 h 21600"/>
                <a:gd name="T4" fmla="*/ 2147483647 w 36690"/>
                <a:gd name="T5" fmla="*/ 0 h 21600"/>
                <a:gd name="T6" fmla="*/ 0 60000 65536"/>
                <a:gd name="T7" fmla="*/ 0 60000 65536"/>
                <a:gd name="T8" fmla="*/ 0 60000 65536"/>
                <a:gd name="T9" fmla="*/ 0 w 36690"/>
                <a:gd name="T10" fmla="*/ 0 h 21600"/>
                <a:gd name="T11" fmla="*/ 36690 w 36690"/>
                <a:gd name="T12" fmla="*/ 21600 h 21600"/>
              </a:gdLst>
              <a:ahLst/>
              <a:cxnLst>
                <a:cxn ang="T6">
                  <a:pos x="T0" y="T1"/>
                </a:cxn>
                <a:cxn ang="T7">
                  <a:pos x="T2" y="T3"/>
                </a:cxn>
                <a:cxn ang="T8">
                  <a:pos x="T4" y="T5"/>
                </a:cxn>
              </a:cxnLst>
              <a:rect l="T9" t="T10" r="T11" b="T12"/>
              <a:pathLst>
                <a:path w="36690" h="21600" fill="none" extrusionOk="0">
                  <a:moveTo>
                    <a:pt x="36690" y="12023"/>
                  </a:moveTo>
                  <a:cubicBezTo>
                    <a:pt x="32680" y="18008"/>
                    <a:pt x="25950" y="21599"/>
                    <a:pt x="18746" y="21600"/>
                  </a:cubicBezTo>
                  <a:cubicBezTo>
                    <a:pt x="11000" y="21600"/>
                    <a:pt x="3848" y="17452"/>
                    <a:pt x="0" y="10730"/>
                  </a:cubicBezTo>
                </a:path>
                <a:path w="36690" h="21600" stroke="0" extrusionOk="0">
                  <a:moveTo>
                    <a:pt x="36690" y="12023"/>
                  </a:moveTo>
                  <a:cubicBezTo>
                    <a:pt x="32680" y="18008"/>
                    <a:pt x="25950" y="21599"/>
                    <a:pt x="18746" y="21600"/>
                  </a:cubicBezTo>
                  <a:cubicBezTo>
                    <a:pt x="11000" y="21600"/>
                    <a:pt x="3848" y="17452"/>
                    <a:pt x="0" y="10730"/>
                  </a:cubicBezTo>
                  <a:lnTo>
                    <a:pt x="18746" y="0"/>
                  </a:lnTo>
                  <a:close/>
                </a:path>
              </a:pathLst>
            </a:custGeom>
            <a:noFill/>
            <a:ln w="12700" cap="rnd">
              <a:solidFill>
                <a:schemeClr val="tx1"/>
              </a:solidFill>
              <a:round/>
              <a:headEnd type="none" w="sm" len="sm"/>
              <a:tailEnd type="stealth" w="med" len="med"/>
            </a:ln>
          </p:spPr>
          <p:txBody>
            <a:bodyPr/>
            <a:lstStyle/>
            <a:p>
              <a:endParaRPr lang="zh-TW" altLang="en-US"/>
            </a:p>
          </p:txBody>
        </p:sp>
        <p:sp>
          <p:nvSpPr>
            <p:cNvPr id="43" name="Arc 35">
              <a:extLst>
                <a:ext uri="{FF2B5EF4-FFF2-40B4-BE49-F238E27FC236}">
                  <a16:creationId xmlns:a16="http://schemas.microsoft.com/office/drawing/2014/main" id="{0787A655-52AB-41A1-8BD2-2E21E17EB063}"/>
                </a:ext>
              </a:extLst>
            </p:cNvPr>
            <p:cNvSpPr>
              <a:spLocks/>
            </p:cNvSpPr>
            <p:nvPr/>
          </p:nvSpPr>
          <p:spPr bwMode="auto">
            <a:xfrm rot="-5400000">
              <a:off x="9227302" y="4596314"/>
              <a:ext cx="212725" cy="123825"/>
            </a:xfrm>
            <a:custGeom>
              <a:avLst/>
              <a:gdLst>
                <a:gd name="T0" fmla="*/ 2147483647 w 36690"/>
                <a:gd name="T1" fmla="*/ 2147483647 h 21600"/>
                <a:gd name="T2" fmla="*/ 0 w 36690"/>
                <a:gd name="T3" fmla="*/ 2147483647 h 21600"/>
                <a:gd name="T4" fmla="*/ 2147483647 w 36690"/>
                <a:gd name="T5" fmla="*/ 0 h 21600"/>
                <a:gd name="T6" fmla="*/ 0 60000 65536"/>
                <a:gd name="T7" fmla="*/ 0 60000 65536"/>
                <a:gd name="T8" fmla="*/ 0 60000 65536"/>
                <a:gd name="T9" fmla="*/ 0 w 36690"/>
                <a:gd name="T10" fmla="*/ 0 h 21600"/>
                <a:gd name="T11" fmla="*/ 36690 w 36690"/>
                <a:gd name="T12" fmla="*/ 21600 h 21600"/>
              </a:gdLst>
              <a:ahLst/>
              <a:cxnLst>
                <a:cxn ang="T6">
                  <a:pos x="T0" y="T1"/>
                </a:cxn>
                <a:cxn ang="T7">
                  <a:pos x="T2" y="T3"/>
                </a:cxn>
                <a:cxn ang="T8">
                  <a:pos x="T4" y="T5"/>
                </a:cxn>
              </a:cxnLst>
              <a:rect l="T9" t="T10" r="T11" b="T12"/>
              <a:pathLst>
                <a:path w="36690" h="21600" fill="none" extrusionOk="0">
                  <a:moveTo>
                    <a:pt x="36690" y="12023"/>
                  </a:moveTo>
                  <a:cubicBezTo>
                    <a:pt x="32680" y="18008"/>
                    <a:pt x="25950" y="21599"/>
                    <a:pt x="18746" y="21600"/>
                  </a:cubicBezTo>
                  <a:cubicBezTo>
                    <a:pt x="11000" y="21600"/>
                    <a:pt x="3848" y="17452"/>
                    <a:pt x="0" y="10730"/>
                  </a:cubicBezTo>
                </a:path>
                <a:path w="36690" h="21600" stroke="0" extrusionOk="0">
                  <a:moveTo>
                    <a:pt x="36690" y="12023"/>
                  </a:moveTo>
                  <a:cubicBezTo>
                    <a:pt x="32680" y="18008"/>
                    <a:pt x="25950" y="21599"/>
                    <a:pt x="18746" y="21600"/>
                  </a:cubicBezTo>
                  <a:cubicBezTo>
                    <a:pt x="11000" y="21600"/>
                    <a:pt x="3848" y="17452"/>
                    <a:pt x="0" y="10730"/>
                  </a:cubicBezTo>
                  <a:lnTo>
                    <a:pt x="18746" y="0"/>
                  </a:lnTo>
                  <a:close/>
                </a:path>
              </a:pathLst>
            </a:custGeom>
            <a:noFill/>
            <a:ln w="12700" cap="rnd">
              <a:solidFill>
                <a:schemeClr val="tx1"/>
              </a:solidFill>
              <a:round/>
              <a:headEnd type="none" w="sm" len="sm"/>
              <a:tailEnd type="stealth" w="med" len="med"/>
            </a:ln>
          </p:spPr>
          <p:txBody>
            <a:bodyPr/>
            <a:lstStyle/>
            <a:p>
              <a:endParaRPr lang="zh-TW" altLang="en-US"/>
            </a:p>
          </p:txBody>
        </p:sp>
        <p:sp>
          <p:nvSpPr>
            <p:cNvPr id="44" name="Arc 36">
              <a:extLst>
                <a:ext uri="{FF2B5EF4-FFF2-40B4-BE49-F238E27FC236}">
                  <a16:creationId xmlns:a16="http://schemas.microsoft.com/office/drawing/2014/main" id="{C6FB5918-048F-429B-8D4C-D75F4BB0421F}"/>
                </a:ext>
              </a:extLst>
            </p:cNvPr>
            <p:cNvSpPr>
              <a:spLocks/>
            </p:cNvSpPr>
            <p:nvPr/>
          </p:nvSpPr>
          <p:spPr bwMode="auto">
            <a:xfrm rot="5400000">
              <a:off x="9198727" y="4596314"/>
              <a:ext cx="212725" cy="123825"/>
            </a:xfrm>
            <a:custGeom>
              <a:avLst/>
              <a:gdLst>
                <a:gd name="T0" fmla="*/ 2147483647 w 36690"/>
                <a:gd name="T1" fmla="*/ 2147483647 h 21600"/>
                <a:gd name="T2" fmla="*/ 0 w 36690"/>
                <a:gd name="T3" fmla="*/ 2147483647 h 21600"/>
                <a:gd name="T4" fmla="*/ 2147483647 w 36690"/>
                <a:gd name="T5" fmla="*/ 0 h 21600"/>
                <a:gd name="T6" fmla="*/ 0 60000 65536"/>
                <a:gd name="T7" fmla="*/ 0 60000 65536"/>
                <a:gd name="T8" fmla="*/ 0 60000 65536"/>
                <a:gd name="T9" fmla="*/ 0 w 36690"/>
                <a:gd name="T10" fmla="*/ 0 h 21600"/>
                <a:gd name="T11" fmla="*/ 36690 w 36690"/>
                <a:gd name="T12" fmla="*/ 21600 h 21600"/>
              </a:gdLst>
              <a:ahLst/>
              <a:cxnLst>
                <a:cxn ang="T6">
                  <a:pos x="T0" y="T1"/>
                </a:cxn>
                <a:cxn ang="T7">
                  <a:pos x="T2" y="T3"/>
                </a:cxn>
                <a:cxn ang="T8">
                  <a:pos x="T4" y="T5"/>
                </a:cxn>
              </a:cxnLst>
              <a:rect l="T9" t="T10" r="T11" b="T12"/>
              <a:pathLst>
                <a:path w="36690" h="21600" fill="none" extrusionOk="0">
                  <a:moveTo>
                    <a:pt x="36690" y="12023"/>
                  </a:moveTo>
                  <a:cubicBezTo>
                    <a:pt x="32680" y="18008"/>
                    <a:pt x="25950" y="21599"/>
                    <a:pt x="18746" y="21600"/>
                  </a:cubicBezTo>
                  <a:cubicBezTo>
                    <a:pt x="11000" y="21600"/>
                    <a:pt x="3848" y="17452"/>
                    <a:pt x="0" y="10730"/>
                  </a:cubicBezTo>
                </a:path>
                <a:path w="36690" h="21600" stroke="0" extrusionOk="0">
                  <a:moveTo>
                    <a:pt x="36690" y="12023"/>
                  </a:moveTo>
                  <a:cubicBezTo>
                    <a:pt x="32680" y="18008"/>
                    <a:pt x="25950" y="21599"/>
                    <a:pt x="18746" y="21600"/>
                  </a:cubicBezTo>
                  <a:cubicBezTo>
                    <a:pt x="11000" y="21600"/>
                    <a:pt x="3848" y="17452"/>
                    <a:pt x="0" y="10730"/>
                  </a:cubicBezTo>
                  <a:lnTo>
                    <a:pt x="18746" y="0"/>
                  </a:lnTo>
                  <a:close/>
                </a:path>
              </a:pathLst>
            </a:custGeom>
            <a:noFill/>
            <a:ln w="12700" cap="rnd">
              <a:solidFill>
                <a:schemeClr val="tx1"/>
              </a:solidFill>
              <a:round/>
              <a:headEnd type="none" w="sm" len="sm"/>
              <a:tailEnd type="stealth" w="med" len="med"/>
            </a:ln>
          </p:spPr>
          <p:txBody>
            <a:bodyPr/>
            <a:lstStyle/>
            <a:p>
              <a:endParaRPr lang="zh-TW" altLang="en-US"/>
            </a:p>
          </p:txBody>
        </p:sp>
        <p:grpSp>
          <p:nvGrpSpPr>
            <p:cNvPr id="45" name="Group 57">
              <a:extLst>
                <a:ext uri="{FF2B5EF4-FFF2-40B4-BE49-F238E27FC236}">
                  <a16:creationId xmlns:a16="http://schemas.microsoft.com/office/drawing/2014/main" id="{63505AB6-C853-416A-AE26-22D2B77A6E7C}"/>
                </a:ext>
              </a:extLst>
            </p:cNvPr>
            <p:cNvGrpSpPr>
              <a:grpSpLocks/>
            </p:cNvGrpSpPr>
            <p:nvPr/>
          </p:nvGrpSpPr>
          <p:grpSpPr bwMode="auto">
            <a:xfrm>
              <a:off x="4642602" y="2562726"/>
              <a:ext cx="1035050" cy="1185863"/>
              <a:chOff x="1674" y="1064"/>
              <a:chExt cx="652" cy="747"/>
            </a:xfrm>
          </p:grpSpPr>
          <p:sp>
            <p:nvSpPr>
              <p:cNvPr id="67" name="Rectangle 58">
                <a:extLst>
                  <a:ext uri="{FF2B5EF4-FFF2-40B4-BE49-F238E27FC236}">
                    <a16:creationId xmlns:a16="http://schemas.microsoft.com/office/drawing/2014/main" id="{BDAA5A7E-B5EB-4E37-80B1-BEB874359CC1}"/>
                  </a:ext>
                </a:extLst>
              </p:cNvPr>
              <p:cNvSpPr>
                <a:spLocks noChangeArrowheads="1"/>
              </p:cNvSpPr>
              <p:nvPr/>
            </p:nvSpPr>
            <p:spPr bwMode="ltGray">
              <a:xfrm>
                <a:off x="1816" y="1064"/>
                <a:ext cx="510" cy="532"/>
              </a:xfrm>
              <a:prstGeom prst="rect">
                <a:avLst/>
              </a:prstGeom>
              <a:solidFill>
                <a:schemeClr val="folHlink"/>
              </a:solidFill>
              <a:ln w="12700">
                <a:solidFill>
                  <a:schemeClr val="tx1"/>
                </a:solidFill>
                <a:miter lim="800000"/>
                <a:headEnd/>
                <a:tailEnd/>
              </a:ln>
            </p:spPr>
            <p:txBody>
              <a:bodyPr lIns="46038" tIns="46038" rIns="46038" bIns="46038" anchor="ctr"/>
              <a:lstStyle/>
              <a:p>
                <a:pPr algn="ctr" eaLnBrk="0" hangingPunct="0">
                  <a:lnSpc>
                    <a:spcPct val="85000"/>
                  </a:lnSpc>
                  <a:spcBef>
                    <a:spcPct val="50000"/>
                  </a:spcBef>
                  <a:defRPr/>
                </a:pPr>
                <a:endParaRPr lang="en-US" sz="1400" b="1" dirty="0">
                  <a:latin typeface="+mj-lt"/>
                  <a:cs typeface="Arial" charset="0"/>
                </a:endParaRPr>
              </a:p>
            </p:txBody>
          </p:sp>
          <p:sp>
            <p:nvSpPr>
              <p:cNvPr id="68" name="Rectangle 59">
                <a:extLst>
                  <a:ext uri="{FF2B5EF4-FFF2-40B4-BE49-F238E27FC236}">
                    <a16:creationId xmlns:a16="http://schemas.microsoft.com/office/drawing/2014/main" id="{9C109945-A463-435B-8A74-AACDFB506424}"/>
                  </a:ext>
                </a:extLst>
              </p:cNvPr>
              <p:cNvSpPr>
                <a:spLocks noChangeArrowheads="1"/>
              </p:cNvSpPr>
              <p:nvPr/>
            </p:nvSpPr>
            <p:spPr bwMode="ltGray">
              <a:xfrm>
                <a:off x="1785" y="1110"/>
                <a:ext cx="510" cy="531"/>
              </a:xfrm>
              <a:prstGeom prst="rect">
                <a:avLst/>
              </a:prstGeom>
              <a:solidFill>
                <a:schemeClr val="bg2"/>
              </a:solidFill>
              <a:ln w="12700">
                <a:solidFill>
                  <a:schemeClr val="tx1"/>
                </a:solidFill>
                <a:miter lim="800000"/>
                <a:headEnd/>
                <a:tailEnd/>
              </a:ln>
            </p:spPr>
            <p:txBody>
              <a:bodyPr lIns="46038" tIns="46038" rIns="46038" bIns="46038" anchor="ctr"/>
              <a:lstStyle/>
              <a:p>
                <a:pPr algn="ctr" eaLnBrk="0" hangingPunct="0">
                  <a:lnSpc>
                    <a:spcPct val="85000"/>
                  </a:lnSpc>
                  <a:spcBef>
                    <a:spcPct val="50000"/>
                  </a:spcBef>
                  <a:defRPr/>
                </a:pPr>
                <a:endParaRPr lang="en-US" sz="1400" b="1" dirty="0">
                  <a:latin typeface="+mj-lt"/>
                  <a:cs typeface="Arial" charset="0"/>
                </a:endParaRPr>
              </a:p>
            </p:txBody>
          </p:sp>
          <p:sp>
            <p:nvSpPr>
              <p:cNvPr id="69" name="Rectangle 60">
                <a:extLst>
                  <a:ext uri="{FF2B5EF4-FFF2-40B4-BE49-F238E27FC236}">
                    <a16:creationId xmlns:a16="http://schemas.microsoft.com/office/drawing/2014/main" id="{A546A96D-CDB2-4AD0-BC3D-DA07324FEA96}"/>
                  </a:ext>
                </a:extLst>
              </p:cNvPr>
              <p:cNvSpPr>
                <a:spLocks noChangeArrowheads="1"/>
              </p:cNvSpPr>
              <p:nvPr/>
            </p:nvSpPr>
            <p:spPr bwMode="ltGray">
              <a:xfrm>
                <a:off x="1751" y="1167"/>
                <a:ext cx="510" cy="532"/>
              </a:xfrm>
              <a:prstGeom prst="rect">
                <a:avLst/>
              </a:prstGeom>
              <a:solidFill>
                <a:schemeClr val="folHlink"/>
              </a:solidFill>
              <a:ln w="12700">
                <a:solidFill>
                  <a:schemeClr val="tx1"/>
                </a:solidFill>
                <a:miter lim="800000"/>
                <a:headEnd/>
                <a:tailEnd/>
              </a:ln>
            </p:spPr>
            <p:txBody>
              <a:bodyPr lIns="46038" tIns="46038" rIns="46038" bIns="46038" anchor="ctr"/>
              <a:lstStyle/>
              <a:p>
                <a:pPr algn="ctr" eaLnBrk="0" hangingPunct="0">
                  <a:lnSpc>
                    <a:spcPct val="85000"/>
                  </a:lnSpc>
                  <a:spcBef>
                    <a:spcPct val="50000"/>
                  </a:spcBef>
                  <a:defRPr/>
                </a:pPr>
                <a:endParaRPr lang="en-US" sz="1400" b="1" dirty="0">
                  <a:latin typeface="+mj-lt"/>
                  <a:cs typeface="Arial" charset="0"/>
                </a:endParaRPr>
              </a:p>
            </p:txBody>
          </p:sp>
          <p:sp>
            <p:nvSpPr>
              <p:cNvPr id="70" name="Rectangle 61">
                <a:extLst>
                  <a:ext uri="{FF2B5EF4-FFF2-40B4-BE49-F238E27FC236}">
                    <a16:creationId xmlns:a16="http://schemas.microsoft.com/office/drawing/2014/main" id="{84F6B370-BA8C-4369-82C5-C75FF3B70D02}"/>
                  </a:ext>
                </a:extLst>
              </p:cNvPr>
              <p:cNvSpPr>
                <a:spLocks noChangeArrowheads="1"/>
              </p:cNvSpPr>
              <p:nvPr/>
            </p:nvSpPr>
            <p:spPr bwMode="ltGray">
              <a:xfrm>
                <a:off x="1714" y="1222"/>
                <a:ext cx="511" cy="531"/>
              </a:xfrm>
              <a:prstGeom prst="rect">
                <a:avLst/>
              </a:prstGeom>
              <a:solidFill>
                <a:schemeClr val="bg2"/>
              </a:solidFill>
              <a:ln w="12700">
                <a:solidFill>
                  <a:schemeClr val="tx1"/>
                </a:solidFill>
                <a:miter lim="800000"/>
                <a:headEnd/>
                <a:tailEnd/>
              </a:ln>
            </p:spPr>
            <p:txBody>
              <a:bodyPr lIns="46038" tIns="46038" rIns="46038" bIns="46038" anchor="ctr"/>
              <a:lstStyle/>
              <a:p>
                <a:pPr algn="ctr" eaLnBrk="0" hangingPunct="0">
                  <a:lnSpc>
                    <a:spcPct val="85000"/>
                  </a:lnSpc>
                  <a:spcBef>
                    <a:spcPct val="50000"/>
                  </a:spcBef>
                  <a:defRPr/>
                </a:pPr>
                <a:endParaRPr lang="en-US" sz="1400" b="1" dirty="0">
                  <a:latin typeface="+mj-lt"/>
                  <a:cs typeface="Arial" charset="0"/>
                </a:endParaRPr>
              </a:p>
            </p:txBody>
          </p:sp>
          <p:sp>
            <p:nvSpPr>
              <p:cNvPr id="71" name="Rectangle 62">
                <a:extLst>
                  <a:ext uri="{FF2B5EF4-FFF2-40B4-BE49-F238E27FC236}">
                    <a16:creationId xmlns:a16="http://schemas.microsoft.com/office/drawing/2014/main" id="{CBC4D226-3551-4EF3-ADD4-19761FB8842B}"/>
                  </a:ext>
                </a:extLst>
              </p:cNvPr>
              <p:cNvSpPr>
                <a:spLocks noChangeArrowheads="1"/>
              </p:cNvSpPr>
              <p:nvPr/>
            </p:nvSpPr>
            <p:spPr bwMode="auto">
              <a:xfrm>
                <a:off x="1674" y="1279"/>
                <a:ext cx="510" cy="532"/>
              </a:xfrm>
              <a:prstGeom prst="rect">
                <a:avLst/>
              </a:prstGeom>
              <a:solidFill>
                <a:srgbClr val="FFCC00"/>
              </a:solidFill>
              <a:ln w="12700">
                <a:solidFill>
                  <a:schemeClr val="tx1"/>
                </a:solidFill>
                <a:miter lim="800000"/>
                <a:headEnd/>
                <a:tailEnd/>
              </a:ln>
            </p:spPr>
            <p:txBody>
              <a:bodyPr lIns="46038" tIns="46038" rIns="46038" bIns="46038" anchor="ctr"/>
              <a:lstStyle/>
              <a:p>
                <a:pPr algn="ctr" eaLnBrk="0" hangingPunct="0">
                  <a:spcBef>
                    <a:spcPts val="0"/>
                  </a:spcBef>
                  <a:defRPr/>
                </a:pPr>
                <a:r>
                  <a:rPr lang="en-US" sz="1200" b="1" dirty="0">
                    <a:latin typeface="+mn-lt"/>
                    <a:cs typeface="Arial" charset="0"/>
                  </a:rPr>
                  <a:t>Device,  Bus, or Service  Driver</a:t>
                </a:r>
              </a:p>
            </p:txBody>
          </p:sp>
        </p:grpSp>
        <p:sp>
          <p:nvSpPr>
            <p:cNvPr id="46" name="Arc 63">
              <a:extLst>
                <a:ext uri="{FF2B5EF4-FFF2-40B4-BE49-F238E27FC236}">
                  <a16:creationId xmlns:a16="http://schemas.microsoft.com/office/drawing/2014/main" id="{473C30AC-5A80-4269-B564-C5424D25AED8}"/>
                </a:ext>
              </a:extLst>
            </p:cNvPr>
            <p:cNvSpPr>
              <a:spLocks/>
            </p:cNvSpPr>
            <p:nvPr/>
          </p:nvSpPr>
          <p:spPr bwMode="auto">
            <a:xfrm rot="-5400000">
              <a:off x="5161714" y="3842252"/>
              <a:ext cx="306387" cy="182562"/>
            </a:xfrm>
            <a:custGeom>
              <a:avLst/>
              <a:gdLst>
                <a:gd name="T0" fmla="*/ 2147483647 w 36935"/>
                <a:gd name="T1" fmla="*/ 2147483647 h 21600"/>
                <a:gd name="T2" fmla="*/ 0 w 36935"/>
                <a:gd name="T3" fmla="*/ 2147483647 h 21600"/>
                <a:gd name="T4" fmla="*/ 2147483647 w 36935"/>
                <a:gd name="T5" fmla="*/ 0 h 21600"/>
                <a:gd name="T6" fmla="*/ 0 60000 65536"/>
                <a:gd name="T7" fmla="*/ 0 60000 65536"/>
                <a:gd name="T8" fmla="*/ 0 60000 65536"/>
                <a:gd name="T9" fmla="*/ 0 w 36935"/>
                <a:gd name="T10" fmla="*/ 0 h 21600"/>
                <a:gd name="T11" fmla="*/ 36935 w 36935"/>
                <a:gd name="T12" fmla="*/ 21600 h 21600"/>
              </a:gdLst>
              <a:ahLst/>
              <a:cxnLst>
                <a:cxn ang="T6">
                  <a:pos x="T0" y="T1"/>
                </a:cxn>
                <a:cxn ang="T7">
                  <a:pos x="T2" y="T3"/>
                </a:cxn>
                <a:cxn ang="T8">
                  <a:pos x="T4" y="T5"/>
                </a:cxn>
              </a:cxnLst>
              <a:rect l="T9" t="T10" r="T11" b="T12"/>
              <a:pathLst>
                <a:path w="36935" h="21600" fill="none" extrusionOk="0">
                  <a:moveTo>
                    <a:pt x="36935" y="11660"/>
                  </a:moveTo>
                  <a:cubicBezTo>
                    <a:pt x="32963" y="17854"/>
                    <a:pt x="26111" y="21599"/>
                    <a:pt x="18753" y="21600"/>
                  </a:cubicBezTo>
                  <a:cubicBezTo>
                    <a:pt x="11002" y="21600"/>
                    <a:pt x="3845" y="17447"/>
                    <a:pt x="-1" y="10718"/>
                  </a:cubicBezTo>
                </a:path>
                <a:path w="36935" h="21600" stroke="0" extrusionOk="0">
                  <a:moveTo>
                    <a:pt x="36935" y="11660"/>
                  </a:moveTo>
                  <a:cubicBezTo>
                    <a:pt x="32963" y="17854"/>
                    <a:pt x="26111" y="21599"/>
                    <a:pt x="18753" y="21600"/>
                  </a:cubicBezTo>
                  <a:cubicBezTo>
                    <a:pt x="11002" y="21600"/>
                    <a:pt x="3845" y="17447"/>
                    <a:pt x="-1" y="10718"/>
                  </a:cubicBezTo>
                  <a:lnTo>
                    <a:pt x="18753" y="0"/>
                  </a:lnTo>
                  <a:close/>
                </a:path>
              </a:pathLst>
            </a:custGeom>
            <a:noFill/>
            <a:ln w="12700" cap="rnd">
              <a:solidFill>
                <a:schemeClr val="tx1"/>
              </a:solidFill>
              <a:round/>
              <a:headEnd type="none" w="sm" len="sm"/>
              <a:tailEnd type="stealth" w="med" len="med"/>
            </a:ln>
          </p:spPr>
          <p:txBody>
            <a:bodyPr/>
            <a:lstStyle/>
            <a:p>
              <a:pPr>
                <a:defRPr/>
              </a:pPr>
              <a:endParaRPr lang="en-US" sz="1400" b="1" dirty="0">
                <a:latin typeface="+mj-lt"/>
                <a:cs typeface="Arial" charset="0"/>
              </a:endParaRPr>
            </a:p>
          </p:txBody>
        </p:sp>
        <p:sp>
          <p:nvSpPr>
            <p:cNvPr id="47" name="Arc 64">
              <a:extLst>
                <a:ext uri="{FF2B5EF4-FFF2-40B4-BE49-F238E27FC236}">
                  <a16:creationId xmlns:a16="http://schemas.microsoft.com/office/drawing/2014/main" id="{18C7711E-B489-49E5-93E9-0C1206E59AD2}"/>
                </a:ext>
              </a:extLst>
            </p:cNvPr>
            <p:cNvSpPr>
              <a:spLocks/>
            </p:cNvSpPr>
            <p:nvPr/>
          </p:nvSpPr>
          <p:spPr bwMode="auto">
            <a:xfrm rot="5400000">
              <a:off x="5118852" y="3842251"/>
              <a:ext cx="306387" cy="182563"/>
            </a:xfrm>
            <a:custGeom>
              <a:avLst/>
              <a:gdLst>
                <a:gd name="T0" fmla="*/ 2147483647 w 36935"/>
                <a:gd name="T1" fmla="*/ 2147483647 h 21600"/>
                <a:gd name="T2" fmla="*/ 0 w 36935"/>
                <a:gd name="T3" fmla="*/ 2147483647 h 21600"/>
                <a:gd name="T4" fmla="*/ 2147483647 w 36935"/>
                <a:gd name="T5" fmla="*/ 0 h 21600"/>
                <a:gd name="T6" fmla="*/ 0 60000 65536"/>
                <a:gd name="T7" fmla="*/ 0 60000 65536"/>
                <a:gd name="T8" fmla="*/ 0 60000 65536"/>
                <a:gd name="T9" fmla="*/ 0 w 36935"/>
                <a:gd name="T10" fmla="*/ 0 h 21600"/>
                <a:gd name="T11" fmla="*/ 36935 w 36935"/>
                <a:gd name="T12" fmla="*/ 21600 h 21600"/>
              </a:gdLst>
              <a:ahLst/>
              <a:cxnLst>
                <a:cxn ang="T6">
                  <a:pos x="T0" y="T1"/>
                </a:cxn>
                <a:cxn ang="T7">
                  <a:pos x="T2" y="T3"/>
                </a:cxn>
                <a:cxn ang="T8">
                  <a:pos x="T4" y="T5"/>
                </a:cxn>
              </a:cxnLst>
              <a:rect l="T9" t="T10" r="T11" b="T12"/>
              <a:pathLst>
                <a:path w="36935" h="21600" fill="none" extrusionOk="0">
                  <a:moveTo>
                    <a:pt x="36935" y="11660"/>
                  </a:moveTo>
                  <a:cubicBezTo>
                    <a:pt x="32963" y="17854"/>
                    <a:pt x="26111" y="21599"/>
                    <a:pt x="18753" y="21600"/>
                  </a:cubicBezTo>
                  <a:cubicBezTo>
                    <a:pt x="11002" y="21600"/>
                    <a:pt x="3845" y="17447"/>
                    <a:pt x="-1" y="10718"/>
                  </a:cubicBezTo>
                </a:path>
                <a:path w="36935" h="21600" stroke="0" extrusionOk="0">
                  <a:moveTo>
                    <a:pt x="36935" y="11660"/>
                  </a:moveTo>
                  <a:cubicBezTo>
                    <a:pt x="32963" y="17854"/>
                    <a:pt x="26111" y="21599"/>
                    <a:pt x="18753" y="21600"/>
                  </a:cubicBezTo>
                  <a:cubicBezTo>
                    <a:pt x="11002" y="21600"/>
                    <a:pt x="3845" y="17447"/>
                    <a:pt x="-1" y="10718"/>
                  </a:cubicBezTo>
                  <a:lnTo>
                    <a:pt x="18753" y="0"/>
                  </a:lnTo>
                  <a:close/>
                </a:path>
              </a:pathLst>
            </a:custGeom>
            <a:noFill/>
            <a:ln w="12700" cap="rnd">
              <a:solidFill>
                <a:schemeClr val="tx1"/>
              </a:solidFill>
              <a:round/>
              <a:headEnd type="none" w="sm" len="sm"/>
              <a:tailEnd type="stealth" w="med" len="med"/>
            </a:ln>
          </p:spPr>
          <p:txBody>
            <a:bodyPr/>
            <a:lstStyle/>
            <a:p>
              <a:pPr>
                <a:defRPr/>
              </a:pPr>
              <a:endParaRPr lang="en-US" sz="1400" b="1" dirty="0">
                <a:latin typeface="+mj-lt"/>
                <a:cs typeface="Arial" charset="0"/>
              </a:endParaRPr>
            </a:p>
          </p:txBody>
        </p:sp>
        <p:sp>
          <p:nvSpPr>
            <p:cNvPr id="48" name="橢圓 47">
              <a:extLst>
                <a:ext uri="{FF2B5EF4-FFF2-40B4-BE49-F238E27FC236}">
                  <a16:creationId xmlns:a16="http://schemas.microsoft.com/office/drawing/2014/main" id="{14B18638-B8DB-4DEA-9063-2009AB83D4B1}"/>
                </a:ext>
              </a:extLst>
            </p:cNvPr>
            <p:cNvSpPr/>
            <p:nvPr/>
          </p:nvSpPr>
          <p:spPr>
            <a:xfrm>
              <a:off x="5771314" y="4056564"/>
              <a:ext cx="1439863" cy="539750"/>
            </a:xfrm>
            <a:prstGeom prst="ellipse">
              <a:avLst/>
            </a:prstGeom>
            <a:solidFill>
              <a:srgbClr val="34B3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TW" sz="1400" b="1" dirty="0"/>
                <a:t>Boot</a:t>
              </a:r>
              <a:br>
                <a:rPr lang="en-US" altLang="zh-TW" sz="1400" b="1" dirty="0"/>
              </a:br>
              <a:r>
                <a:rPr lang="en-US" altLang="zh-TW" sz="1400" b="1" dirty="0"/>
                <a:t>Manager</a:t>
              </a:r>
              <a:endParaRPr lang="zh-TW" altLang="en-US" sz="1400" b="1" dirty="0"/>
            </a:p>
          </p:txBody>
        </p:sp>
        <p:cxnSp>
          <p:nvCxnSpPr>
            <p:cNvPr id="49" name="直線接點 48">
              <a:extLst>
                <a:ext uri="{FF2B5EF4-FFF2-40B4-BE49-F238E27FC236}">
                  <a16:creationId xmlns:a16="http://schemas.microsoft.com/office/drawing/2014/main" id="{FF712F5C-B713-4AAC-A839-F327B81C2462}"/>
                </a:ext>
              </a:extLst>
            </p:cNvPr>
            <p:cNvCxnSpPr/>
            <p:nvPr/>
          </p:nvCxnSpPr>
          <p:spPr>
            <a:xfrm flipH="1">
              <a:off x="6041189" y="2437314"/>
              <a:ext cx="17463" cy="1079500"/>
            </a:xfrm>
            <a:prstGeom prst="line">
              <a:avLst/>
            </a:prstGeom>
            <a:ln w="635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0B10BFD5-3B53-4508-BDB9-7A0FB53030D1}"/>
                </a:ext>
              </a:extLst>
            </p:cNvPr>
            <p:cNvCxnSpPr/>
            <p:nvPr/>
          </p:nvCxnSpPr>
          <p:spPr>
            <a:xfrm flipH="1">
              <a:off x="6041189" y="4777289"/>
              <a:ext cx="17463" cy="539750"/>
            </a:xfrm>
            <a:prstGeom prst="line">
              <a:avLst/>
            </a:prstGeom>
            <a:ln w="635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1" name="直線單箭頭接點 50">
              <a:extLst>
                <a:ext uri="{FF2B5EF4-FFF2-40B4-BE49-F238E27FC236}">
                  <a16:creationId xmlns:a16="http://schemas.microsoft.com/office/drawing/2014/main" id="{FE0BF205-5401-4466-A90C-E79CCF581D7F}"/>
                </a:ext>
              </a:extLst>
            </p:cNvPr>
            <p:cNvCxnSpPr>
              <a:stCxn id="7" idx="6"/>
              <a:endCxn id="48" idx="2"/>
            </p:cNvCxnSpPr>
            <p:nvPr/>
          </p:nvCxnSpPr>
          <p:spPr>
            <a:xfrm>
              <a:off x="5514139" y="4326439"/>
              <a:ext cx="25717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2" name="直線接點 51">
              <a:extLst>
                <a:ext uri="{FF2B5EF4-FFF2-40B4-BE49-F238E27FC236}">
                  <a16:creationId xmlns:a16="http://schemas.microsoft.com/office/drawing/2014/main" id="{8908E29A-E29B-420E-84BB-18E22C7AE8C2}"/>
                </a:ext>
              </a:extLst>
            </p:cNvPr>
            <p:cNvCxnSpPr>
              <a:stCxn id="7" idx="4"/>
              <a:endCxn id="28" idx="0"/>
            </p:cNvCxnSpPr>
            <p:nvPr/>
          </p:nvCxnSpPr>
          <p:spPr>
            <a:xfrm flipH="1">
              <a:off x="4655302" y="4596314"/>
              <a:ext cx="4762" cy="180975"/>
            </a:xfrm>
            <a:prstGeom prst="line">
              <a:avLst/>
            </a:prstGeom>
            <a:ln w="63500">
              <a:solidFill>
                <a:srgbClr val="1218FA"/>
              </a:solidFill>
              <a:prstDash val="solid"/>
            </a:ln>
          </p:spPr>
          <p:style>
            <a:lnRef idx="1">
              <a:schemeClr val="accent1"/>
            </a:lnRef>
            <a:fillRef idx="0">
              <a:schemeClr val="accent1"/>
            </a:fillRef>
            <a:effectRef idx="0">
              <a:schemeClr val="accent1"/>
            </a:effectRef>
            <a:fontRef idx="minor">
              <a:schemeClr val="tx1"/>
            </a:fontRef>
          </p:style>
        </p:cxnSp>
        <p:cxnSp>
          <p:nvCxnSpPr>
            <p:cNvPr id="53" name="直線單箭頭接點 52">
              <a:extLst>
                <a:ext uri="{FF2B5EF4-FFF2-40B4-BE49-F238E27FC236}">
                  <a16:creationId xmlns:a16="http://schemas.microsoft.com/office/drawing/2014/main" id="{5C7F1434-AE48-487F-AC0A-CBE5B2A0AE3D}"/>
                </a:ext>
              </a:extLst>
            </p:cNvPr>
            <p:cNvCxnSpPr>
              <a:stCxn id="29" idx="3"/>
              <a:endCxn id="30" idx="1"/>
            </p:cNvCxnSpPr>
            <p:nvPr/>
          </p:nvCxnSpPr>
          <p:spPr>
            <a:xfrm>
              <a:off x="8398627" y="5001126"/>
              <a:ext cx="252412"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4" name="Arc 41">
              <a:extLst>
                <a:ext uri="{FF2B5EF4-FFF2-40B4-BE49-F238E27FC236}">
                  <a16:creationId xmlns:a16="http://schemas.microsoft.com/office/drawing/2014/main" id="{12113E1E-4DE3-4316-B8EA-A65DE5577AE9}"/>
                </a:ext>
              </a:extLst>
            </p:cNvPr>
            <p:cNvSpPr>
              <a:spLocks/>
            </p:cNvSpPr>
            <p:nvPr/>
          </p:nvSpPr>
          <p:spPr bwMode="auto">
            <a:xfrm rot="-3420000">
              <a:off x="7127833" y="4025607"/>
              <a:ext cx="260350" cy="173038"/>
            </a:xfrm>
            <a:custGeom>
              <a:avLst/>
              <a:gdLst>
                <a:gd name="T0" fmla="*/ 2147483647 w 36819"/>
                <a:gd name="T1" fmla="*/ 2147483647 h 21600"/>
                <a:gd name="T2" fmla="*/ 0 w 36819"/>
                <a:gd name="T3" fmla="*/ 2147483647 h 21600"/>
                <a:gd name="T4" fmla="*/ 2147483647 w 36819"/>
                <a:gd name="T5" fmla="*/ 0 h 21600"/>
                <a:gd name="T6" fmla="*/ 0 60000 65536"/>
                <a:gd name="T7" fmla="*/ 0 60000 65536"/>
                <a:gd name="T8" fmla="*/ 0 60000 65536"/>
                <a:gd name="T9" fmla="*/ 0 w 36819"/>
                <a:gd name="T10" fmla="*/ 0 h 21600"/>
                <a:gd name="T11" fmla="*/ 36819 w 36819"/>
                <a:gd name="T12" fmla="*/ 21600 h 21600"/>
              </a:gdLst>
              <a:ahLst/>
              <a:cxnLst>
                <a:cxn ang="T6">
                  <a:pos x="T0" y="T1"/>
                </a:cxn>
                <a:cxn ang="T7">
                  <a:pos x="T2" y="T3"/>
                </a:cxn>
                <a:cxn ang="T8">
                  <a:pos x="T4" y="T5"/>
                </a:cxn>
              </a:cxnLst>
              <a:rect l="T9" t="T10" r="T11" b="T12"/>
              <a:pathLst>
                <a:path w="36819" h="21600" fill="none" extrusionOk="0">
                  <a:moveTo>
                    <a:pt x="36819" y="11905"/>
                  </a:moveTo>
                  <a:cubicBezTo>
                    <a:pt x="32820" y="17958"/>
                    <a:pt x="26050" y="21599"/>
                    <a:pt x="18796" y="21600"/>
                  </a:cubicBezTo>
                  <a:cubicBezTo>
                    <a:pt x="11014" y="21600"/>
                    <a:pt x="3833" y="17414"/>
                    <a:pt x="-1" y="10642"/>
                  </a:cubicBezTo>
                </a:path>
                <a:path w="36819" h="21600" stroke="0" extrusionOk="0">
                  <a:moveTo>
                    <a:pt x="36819" y="11905"/>
                  </a:moveTo>
                  <a:cubicBezTo>
                    <a:pt x="32820" y="17958"/>
                    <a:pt x="26050" y="21599"/>
                    <a:pt x="18796" y="21600"/>
                  </a:cubicBezTo>
                  <a:cubicBezTo>
                    <a:pt x="11014" y="21600"/>
                    <a:pt x="3833" y="17414"/>
                    <a:pt x="-1" y="10642"/>
                  </a:cubicBezTo>
                  <a:lnTo>
                    <a:pt x="18796" y="0"/>
                  </a:lnTo>
                  <a:close/>
                </a:path>
              </a:pathLst>
            </a:custGeom>
            <a:noFill/>
            <a:ln w="12700" cap="rnd">
              <a:solidFill>
                <a:schemeClr val="tx1"/>
              </a:solidFill>
              <a:round/>
              <a:headEnd type="none" w="sm" len="sm"/>
              <a:tailEnd type="stealth" w="med" len="med"/>
            </a:ln>
          </p:spPr>
          <p:txBody>
            <a:bodyPr/>
            <a:lstStyle/>
            <a:p>
              <a:endParaRPr lang="zh-TW" altLang="en-US"/>
            </a:p>
          </p:txBody>
        </p:sp>
        <p:sp>
          <p:nvSpPr>
            <p:cNvPr id="55" name="Arc 42">
              <a:extLst>
                <a:ext uri="{FF2B5EF4-FFF2-40B4-BE49-F238E27FC236}">
                  <a16:creationId xmlns:a16="http://schemas.microsoft.com/office/drawing/2014/main" id="{0735CC06-7F9F-4042-B9BE-19799016E1FD}"/>
                </a:ext>
              </a:extLst>
            </p:cNvPr>
            <p:cNvSpPr>
              <a:spLocks/>
            </p:cNvSpPr>
            <p:nvPr/>
          </p:nvSpPr>
          <p:spPr bwMode="auto">
            <a:xfrm rot="7380000">
              <a:off x="7096083" y="4003382"/>
              <a:ext cx="260350" cy="173038"/>
            </a:xfrm>
            <a:custGeom>
              <a:avLst/>
              <a:gdLst>
                <a:gd name="T0" fmla="*/ 2147483647 w 36819"/>
                <a:gd name="T1" fmla="*/ 2147483647 h 21600"/>
                <a:gd name="T2" fmla="*/ 0 w 36819"/>
                <a:gd name="T3" fmla="*/ 2147483647 h 21600"/>
                <a:gd name="T4" fmla="*/ 2147483647 w 36819"/>
                <a:gd name="T5" fmla="*/ 0 h 21600"/>
                <a:gd name="T6" fmla="*/ 0 60000 65536"/>
                <a:gd name="T7" fmla="*/ 0 60000 65536"/>
                <a:gd name="T8" fmla="*/ 0 60000 65536"/>
                <a:gd name="T9" fmla="*/ 0 w 36819"/>
                <a:gd name="T10" fmla="*/ 0 h 21600"/>
                <a:gd name="T11" fmla="*/ 36819 w 36819"/>
                <a:gd name="T12" fmla="*/ 21600 h 21600"/>
              </a:gdLst>
              <a:ahLst/>
              <a:cxnLst>
                <a:cxn ang="T6">
                  <a:pos x="T0" y="T1"/>
                </a:cxn>
                <a:cxn ang="T7">
                  <a:pos x="T2" y="T3"/>
                </a:cxn>
                <a:cxn ang="T8">
                  <a:pos x="T4" y="T5"/>
                </a:cxn>
              </a:cxnLst>
              <a:rect l="T9" t="T10" r="T11" b="T12"/>
              <a:pathLst>
                <a:path w="36819" h="21600" fill="none" extrusionOk="0">
                  <a:moveTo>
                    <a:pt x="36819" y="11905"/>
                  </a:moveTo>
                  <a:cubicBezTo>
                    <a:pt x="32820" y="17958"/>
                    <a:pt x="26050" y="21599"/>
                    <a:pt x="18796" y="21600"/>
                  </a:cubicBezTo>
                  <a:cubicBezTo>
                    <a:pt x="11014" y="21600"/>
                    <a:pt x="3833" y="17414"/>
                    <a:pt x="-1" y="10642"/>
                  </a:cubicBezTo>
                </a:path>
                <a:path w="36819" h="21600" stroke="0" extrusionOk="0">
                  <a:moveTo>
                    <a:pt x="36819" y="11905"/>
                  </a:moveTo>
                  <a:cubicBezTo>
                    <a:pt x="32820" y="17958"/>
                    <a:pt x="26050" y="21599"/>
                    <a:pt x="18796" y="21600"/>
                  </a:cubicBezTo>
                  <a:cubicBezTo>
                    <a:pt x="11014" y="21600"/>
                    <a:pt x="3833" y="17414"/>
                    <a:pt x="-1" y="10642"/>
                  </a:cubicBezTo>
                  <a:lnTo>
                    <a:pt x="18796" y="0"/>
                  </a:lnTo>
                  <a:close/>
                </a:path>
              </a:pathLst>
            </a:custGeom>
            <a:noFill/>
            <a:ln w="12700" cap="rnd">
              <a:solidFill>
                <a:schemeClr val="tx1"/>
              </a:solidFill>
              <a:round/>
              <a:headEnd type="none" w="sm" len="sm"/>
              <a:tailEnd type="stealth" w="med" len="med"/>
            </a:ln>
          </p:spPr>
          <p:txBody>
            <a:bodyPr/>
            <a:lstStyle/>
            <a:p>
              <a:endParaRPr lang="zh-TW" altLang="en-US"/>
            </a:p>
          </p:txBody>
        </p:sp>
        <p:cxnSp>
          <p:nvCxnSpPr>
            <p:cNvPr id="56" name="直線單箭頭接點 55">
              <a:extLst>
                <a:ext uri="{FF2B5EF4-FFF2-40B4-BE49-F238E27FC236}">
                  <a16:creationId xmlns:a16="http://schemas.microsoft.com/office/drawing/2014/main" id="{99D588AD-FA75-4ED2-BD79-DE6694733E8A}"/>
                </a:ext>
              </a:extLst>
            </p:cNvPr>
            <p:cNvCxnSpPr>
              <a:stCxn id="48" idx="5"/>
            </p:cNvCxnSpPr>
            <p:nvPr/>
          </p:nvCxnSpPr>
          <p:spPr>
            <a:xfrm>
              <a:off x="7000039" y="4516939"/>
              <a:ext cx="311150" cy="25558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7" name="圖案 79">
              <a:extLst>
                <a:ext uri="{FF2B5EF4-FFF2-40B4-BE49-F238E27FC236}">
                  <a16:creationId xmlns:a16="http://schemas.microsoft.com/office/drawing/2014/main" id="{9E0C4220-7073-449B-97EB-6EC2BD3D38F9}"/>
                </a:ext>
              </a:extLst>
            </p:cNvPr>
            <p:cNvCxnSpPr>
              <a:stCxn id="27" idx="3"/>
              <a:endCxn id="34" idx="0"/>
            </p:cNvCxnSpPr>
            <p:nvPr/>
          </p:nvCxnSpPr>
          <p:spPr>
            <a:xfrm>
              <a:off x="3124952" y="1942014"/>
              <a:ext cx="504825" cy="314325"/>
            </a:xfrm>
            <a:prstGeom prst="bentConnector2">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圖案 80">
              <a:extLst>
                <a:ext uri="{FF2B5EF4-FFF2-40B4-BE49-F238E27FC236}">
                  <a16:creationId xmlns:a16="http://schemas.microsoft.com/office/drawing/2014/main" id="{806FA683-1E9F-41C3-BB66-BF717D35AC78}"/>
                </a:ext>
              </a:extLst>
            </p:cNvPr>
            <p:cNvCxnSpPr>
              <a:stCxn id="60" idx="2"/>
            </p:cNvCxnSpPr>
            <p:nvPr/>
          </p:nvCxnSpPr>
          <p:spPr>
            <a:xfrm rot="5400000">
              <a:off x="6122945" y="2333333"/>
              <a:ext cx="350837" cy="412750"/>
            </a:xfrm>
            <a:prstGeom prst="bentConnector2">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9" name="文字方塊 81">
              <a:extLst>
                <a:ext uri="{FF2B5EF4-FFF2-40B4-BE49-F238E27FC236}">
                  <a16:creationId xmlns:a16="http://schemas.microsoft.com/office/drawing/2014/main" id="{9EFE2F4F-BA50-4C51-BC58-03D1E6CA39D7}"/>
                </a:ext>
              </a:extLst>
            </p:cNvPr>
            <p:cNvSpPr txBox="1">
              <a:spLocks noChangeArrowheads="1"/>
            </p:cNvSpPr>
            <p:nvPr/>
          </p:nvSpPr>
          <p:spPr bwMode="auto">
            <a:xfrm>
              <a:off x="3196389" y="1645151"/>
              <a:ext cx="673100" cy="307975"/>
            </a:xfrm>
            <a:prstGeom prst="rect">
              <a:avLst/>
            </a:prstGeom>
            <a:noFill/>
            <a:ln w="9525">
              <a:noFill/>
              <a:miter lim="800000"/>
              <a:headEnd/>
              <a:tailEnd/>
            </a:ln>
          </p:spPr>
          <p:txBody>
            <a:bodyPr wrap="none">
              <a:spAutoFit/>
            </a:bodyPr>
            <a:lstStyle/>
            <a:p>
              <a:pPr algn="ctr"/>
              <a:r>
                <a:rPr lang="en-US" altLang="zh-TW" sz="1400" b="1" dirty="0"/>
                <a:t>Verify</a:t>
              </a:r>
              <a:endParaRPr lang="zh-TW" altLang="en-US" sz="1400" b="1"/>
            </a:p>
          </p:txBody>
        </p:sp>
        <p:sp>
          <p:nvSpPr>
            <p:cNvPr id="60" name="文字方塊 82">
              <a:extLst>
                <a:ext uri="{FF2B5EF4-FFF2-40B4-BE49-F238E27FC236}">
                  <a16:creationId xmlns:a16="http://schemas.microsoft.com/office/drawing/2014/main" id="{75C62714-F639-4D26-800B-D8F79BB5B61F}"/>
                </a:ext>
              </a:extLst>
            </p:cNvPr>
            <p:cNvSpPr txBox="1">
              <a:spLocks noChangeArrowheads="1"/>
            </p:cNvSpPr>
            <p:nvPr/>
          </p:nvSpPr>
          <p:spPr bwMode="auto">
            <a:xfrm>
              <a:off x="5990389" y="1842001"/>
              <a:ext cx="1030288" cy="522288"/>
            </a:xfrm>
            <a:prstGeom prst="rect">
              <a:avLst/>
            </a:prstGeom>
            <a:noFill/>
            <a:ln w="9525">
              <a:noFill/>
              <a:miter lim="800000"/>
              <a:headEnd/>
              <a:tailEnd/>
            </a:ln>
          </p:spPr>
          <p:txBody>
            <a:bodyPr wrap="none">
              <a:spAutoFit/>
            </a:bodyPr>
            <a:lstStyle/>
            <a:p>
              <a:pPr algn="ctr"/>
              <a:r>
                <a:rPr lang="en-US" altLang="zh-TW" sz="1400" b="1" dirty="0"/>
                <a:t>EFI/UEFI</a:t>
              </a:r>
              <a:br>
                <a:rPr lang="en-US" altLang="zh-TW" sz="1400" b="1" dirty="0"/>
              </a:br>
              <a:r>
                <a:rPr lang="en-US" altLang="zh-TW" sz="1400" b="1" dirty="0"/>
                <a:t>Interfaces</a:t>
              </a:r>
              <a:endParaRPr lang="zh-TW" altLang="en-US" sz="1400" b="1"/>
            </a:p>
          </p:txBody>
        </p:sp>
        <p:cxnSp>
          <p:nvCxnSpPr>
            <p:cNvPr id="61" name="直線單箭頭接點 60">
              <a:extLst>
                <a:ext uri="{FF2B5EF4-FFF2-40B4-BE49-F238E27FC236}">
                  <a16:creationId xmlns:a16="http://schemas.microsoft.com/office/drawing/2014/main" id="{B0EFD771-8DEF-411E-B3A3-04B2EC339C2B}"/>
                </a:ext>
              </a:extLst>
            </p:cNvPr>
            <p:cNvCxnSpPr/>
            <p:nvPr/>
          </p:nvCxnSpPr>
          <p:spPr>
            <a:xfrm rot="8100000">
              <a:off x="3988552" y="3877176"/>
              <a:ext cx="26987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DEC4F8CA-293F-41AF-AB4A-65FD1CFD6ED3}"/>
                </a:ext>
              </a:extLst>
            </p:cNvPr>
            <p:cNvCxnSpPr/>
            <p:nvPr/>
          </p:nvCxnSpPr>
          <p:spPr>
            <a:xfrm rot="8100000">
              <a:off x="3988552" y="3335839"/>
              <a:ext cx="26987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3" name="直線單箭頭接點 62">
              <a:extLst>
                <a:ext uri="{FF2B5EF4-FFF2-40B4-BE49-F238E27FC236}">
                  <a16:creationId xmlns:a16="http://schemas.microsoft.com/office/drawing/2014/main" id="{6F792FDD-5815-4218-9F30-D93CE9B1269D}"/>
                </a:ext>
              </a:extLst>
            </p:cNvPr>
            <p:cNvCxnSpPr/>
            <p:nvPr/>
          </p:nvCxnSpPr>
          <p:spPr>
            <a:xfrm rot="8100000">
              <a:off x="3988552" y="2796089"/>
              <a:ext cx="26987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64" name="Oval 6">
              <a:extLst>
                <a:ext uri="{FF2B5EF4-FFF2-40B4-BE49-F238E27FC236}">
                  <a16:creationId xmlns:a16="http://schemas.microsoft.com/office/drawing/2014/main" id="{700B5630-864C-4EDA-8C44-CBB3255E6298}"/>
                </a:ext>
              </a:extLst>
            </p:cNvPr>
            <p:cNvSpPr>
              <a:spLocks noChangeArrowheads="1"/>
            </p:cNvSpPr>
            <p:nvPr/>
          </p:nvSpPr>
          <p:spPr bwMode="auto">
            <a:xfrm>
              <a:off x="2241278" y="1616391"/>
              <a:ext cx="936625" cy="647700"/>
            </a:xfrm>
            <a:prstGeom prst="ellipse">
              <a:avLst/>
            </a:prstGeom>
            <a:noFill/>
            <a:ln w="57240">
              <a:solidFill>
                <a:srgbClr val="FF0000"/>
              </a:solidFill>
              <a:miter lim="800000"/>
              <a:headEnd/>
              <a:tailEnd/>
            </a:ln>
          </p:spPr>
          <p:txBody>
            <a:bodyPr wrap="none" anchor="ctr"/>
            <a:lstStyle/>
            <a:p>
              <a:endParaRPr lang="zh-TW" altLang="en-US"/>
            </a:p>
          </p:txBody>
        </p:sp>
        <p:sp>
          <p:nvSpPr>
            <p:cNvPr id="65" name="Text Box 7">
              <a:extLst>
                <a:ext uri="{FF2B5EF4-FFF2-40B4-BE49-F238E27FC236}">
                  <a16:creationId xmlns:a16="http://schemas.microsoft.com/office/drawing/2014/main" id="{28DEBA60-6E98-4BCD-96E2-9E9B2763DB49}"/>
                </a:ext>
              </a:extLst>
            </p:cNvPr>
            <p:cNvSpPr txBox="1">
              <a:spLocks noChangeArrowheads="1"/>
            </p:cNvSpPr>
            <p:nvPr/>
          </p:nvSpPr>
          <p:spPr bwMode="auto">
            <a:xfrm>
              <a:off x="3879391" y="1153495"/>
              <a:ext cx="3275233" cy="463846"/>
            </a:xfrm>
            <a:prstGeom prst="rect">
              <a:avLst/>
            </a:prstGeom>
            <a:noFill/>
            <a:ln w="9525">
              <a:noFill/>
              <a:round/>
              <a:headEnd/>
              <a:tailEnd/>
            </a:ln>
          </p:spPr>
          <p:txBody>
            <a:bodyPr wrap="none" lIns="90000" tIns="46800" rIns="90000" bIns="46800">
              <a:spAutoFit/>
            </a:bodyPr>
            <a:lstStyle/>
            <a:p>
              <a:pPr defTabSz="449263">
                <a:buClr>
                  <a:srgbClr val="000000"/>
                </a:buClr>
                <a:buSzPct val="100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TW" sz="2400" dirty="0" err="1">
                  <a:solidFill>
                    <a:srgbClr val="FF0000"/>
                  </a:solidFill>
                </a:rPr>
                <a:t>ProcessorStartup.nasm</a:t>
              </a:r>
              <a:endParaRPr lang="zh-TW" altLang="en-US" sz="2400" dirty="0">
                <a:solidFill>
                  <a:srgbClr val="FF0000"/>
                </a:solidFill>
              </a:endParaRPr>
            </a:p>
          </p:txBody>
        </p:sp>
        <p:sp>
          <p:nvSpPr>
            <p:cNvPr id="66" name="Line 8">
              <a:extLst>
                <a:ext uri="{FF2B5EF4-FFF2-40B4-BE49-F238E27FC236}">
                  <a16:creationId xmlns:a16="http://schemas.microsoft.com/office/drawing/2014/main" id="{E36E8B34-B3A6-41DD-8FDB-B0A680E60145}"/>
                </a:ext>
              </a:extLst>
            </p:cNvPr>
            <p:cNvSpPr>
              <a:spLocks noChangeShapeType="1"/>
            </p:cNvSpPr>
            <p:nvPr/>
          </p:nvSpPr>
          <p:spPr bwMode="auto">
            <a:xfrm flipH="1">
              <a:off x="3124951" y="1425798"/>
              <a:ext cx="742767" cy="190593"/>
            </a:xfrm>
            <a:prstGeom prst="line">
              <a:avLst/>
            </a:prstGeom>
            <a:noFill/>
            <a:ln w="57240">
              <a:solidFill>
                <a:srgbClr val="FF0000"/>
              </a:solidFill>
              <a:miter lim="800000"/>
              <a:headEnd type="triangle" w="med" len="med"/>
              <a:tailEnd type="triangle" w="med" len="med"/>
            </a:ln>
          </p:spPr>
          <p:txBody>
            <a:bodyPr/>
            <a:lstStyle/>
            <a:p>
              <a:endParaRPr lang="zh-TW" altLang="en-US"/>
            </a:p>
          </p:txBody>
        </p:sp>
      </p:grpSp>
    </p:spTree>
    <p:extLst>
      <p:ext uri="{BB962C8B-B14F-4D97-AF65-F5344CB8AC3E}">
        <p14:creationId xmlns:p14="http://schemas.microsoft.com/office/powerpoint/2010/main" val="1333873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8</a:t>
            </a:fld>
            <a:endParaRPr lang="en-US" dirty="0"/>
          </a:p>
        </p:txBody>
      </p:sp>
      <p:sp>
        <p:nvSpPr>
          <p:cNvPr id="2" name="Title 1"/>
          <p:cNvSpPr>
            <a:spLocks noGrp="1"/>
          </p:cNvSpPr>
          <p:nvPr>
            <p:ph type="title"/>
          </p:nvPr>
        </p:nvSpPr>
        <p:spPr/>
        <p:txBody>
          <a:bodyPr/>
          <a:lstStyle/>
          <a:p>
            <a:r>
              <a:rPr lang="en-US" dirty="0"/>
              <a:t>Related Files</a:t>
            </a:r>
          </a:p>
        </p:txBody>
      </p:sp>
    </p:spTree>
    <p:extLst>
      <p:ext uri="{BB962C8B-B14F-4D97-AF65-F5344CB8AC3E}">
        <p14:creationId xmlns:p14="http://schemas.microsoft.com/office/powerpoint/2010/main" val="3556020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Related Files</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r>
              <a:rPr lang="en-US" altLang="zh-TW" b="1" dirty="0"/>
              <a:t>Intel/</a:t>
            </a:r>
            <a:r>
              <a:rPr lang="en-US" altLang="zh-TW" b="1" dirty="0" err="1"/>
              <a:t>EagleStream</a:t>
            </a:r>
            <a:r>
              <a:rPr lang="en-US" altLang="zh-TW" b="1" dirty="0"/>
              <a:t>/($CHIPSET_PKG)/</a:t>
            </a:r>
            <a:r>
              <a:rPr lang="en-US" altLang="zh-TW" b="1" dirty="0" err="1"/>
              <a:t>Package.dsc</a:t>
            </a:r>
            <a:endParaRPr lang="en-US" altLang="zh-TW" b="1" dirty="0"/>
          </a:p>
          <a:p>
            <a:r>
              <a:rPr lang="en-US" altLang="zh-TW" b="1" dirty="0"/>
              <a:t>Intel/</a:t>
            </a:r>
            <a:r>
              <a:rPr lang="en-US" altLang="zh-TW" b="1" dirty="0" err="1"/>
              <a:t>EagleStream</a:t>
            </a:r>
            <a:r>
              <a:rPr lang="en-US" altLang="zh-TW" b="1" dirty="0"/>
              <a:t>/($CHIPSET_PKG)/Binary/Microcode</a:t>
            </a:r>
            <a:endParaRPr lang="zh-TW" altLang="en-US" b="1" dirty="0">
              <a:solidFill>
                <a:srgbClr val="0070C0"/>
              </a:solidFill>
            </a:endParaRPr>
          </a:p>
          <a:p>
            <a:pPr lvl="1"/>
            <a:r>
              <a:rPr lang="en-US" altLang="zh-TW" b="1" dirty="0">
                <a:solidFill>
                  <a:srgbClr val="0070C0"/>
                </a:solidFill>
              </a:rPr>
              <a:t>Microcode1.inf</a:t>
            </a:r>
          </a:p>
          <a:p>
            <a:pPr lvl="1"/>
            <a:r>
              <a:rPr lang="en-US" altLang="zh-TW" b="1" dirty="0">
                <a:solidFill>
                  <a:srgbClr val="0070C0"/>
                </a:solidFill>
              </a:rPr>
              <a:t>Microcode2.inf</a:t>
            </a:r>
          </a:p>
          <a:p>
            <a:pPr lvl="1"/>
            <a:r>
              <a:rPr lang="en-US" altLang="zh-TW" b="1" dirty="0">
                <a:solidFill>
                  <a:srgbClr val="0070C0"/>
                </a:solidFill>
              </a:rPr>
              <a:t>*.INC</a:t>
            </a:r>
            <a:endParaRPr lang="en-US" altLang="zh-TW" b="1" dirty="0">
              <a:solidFill>
                <a:srgbClr val="FF0000"/>
              </a:solidFill>
            </a:endParaRPr>
          </a:p>
          <a:p>
            <a:r>
              <a:rPr lang="en-US" altLang="zh-TW" b="1" dirty="0"/>
              <a:t>Board/Intel/$(PROJECT_PKG)/</a:t>
            </a:r>
            <a:r>
              <a:rPr lang="en-US" altLang="zh-TW" b="1" dirty="0" err="1"/>
              <a:t>FlashRegionDefines.fdf</a:t>
            </a:r>
            <a:endParaRPr lang="en-US" altLang="zh-TW" b="1" dirty="0"/>
          </a:p>
          <a:p>
            <a:r>
              <a:rPr lang="en-US" altLang="zh-TW" b="1" dirty="0">
                <a:solidFill>
                  <a:srgbClr val="FF0000"/>
                </a:solidFill>
              </a:rPr>
              <a:t>Board/Intel/$(PROJECT_PKG)/</a:t>
            </a:r>
            <a:r>
              <a:rPr lang="en-US" altLang="zh-TW" b="1" dirty="0" err="1">
                <a:solidFill>
                  <a:srgbClr val="FF0000"/>
                </a:solidFill>
              </a:rPr>
              <a:t>Project.fdf</a:t>
            </a:r>
            <a:endParaRPr lang="en-US" altLang="zh-TW" b="1" dirty="0">
              <a:solidFill>
                <a:srgbClr val="FF0000"/>
              </a:solidFill>
            </a:endParaRPr>
          </a:p>
          <a:p>
            <a:r>
              <a:rPr lang="en-US" altLang="zh-TW" b="1" dirty="0"/>
              <a:t>Intel/</a:t>
            </a:r>
            <a:r>
              <a:rPr lang="en-US" altLang="zh-TW" b="1" dirty="0" err="1"/>
              <a:t>EagleStream</a:t>
            </a:r>
            <a:r>
              <a:rPr lang="en-US" altLang="zh-TW" b="1" dirty="0"/>
              <a:t>/</a:t>
            </a:r>
            <a:r>
              <a:rPr lang="en-US" altLang="zh-TW" b="1" dirty="0" err="1"/>
              <a:t>ServerSiliconPkg</a:t>
            </a:r>
            <a:r>
              <a:rPr lang="en-US" altLang="zh-TW" b="1" dirty="0"/>
              <a:t>/Library/</a:t>
            </a:r>
            <a:r>
              <a:rPr lang="en-US" altLang="zh-TW" b="1" dirty="0" err="1"/>
              <a:t>ProcessorStartup</a:t>
            </a:r>
            <a:r>
              <a:rPr lang="en-US" altLang="zh-TW" b="1" dirty="0"/>
              <a:t>/Ia32/</a:t>
            </a:r>
            <a:r>
              <a:rPr lang="en-US" altLang="zh-TW" b="1" dirty="0" err="1">
                <a:solidFill>
                  <a:srgbClr val="0070C0"/>
                </a:solidFill>
              </a:rPr>
              <a:t>ProcessorStartupSpr.nasm</a:t>
            </a:r>
            <a:endParaRPr lang="en-US" altLang="zh-TW" b="1" dirty="0"/>
          </a:p>
          <a:p>
            <a:pPr marL="360" indent="0">
              <a:lnSpc>
                <a:spcPct val="100000"/>
              </a:lnSpc>
              <a:buClr>
                <a:srgbClr val="FF0000"/>
              </a:buClr>
              <a:buNone/>
            </a:pPr>
            <a:endParaRPr lang="en-US" altLang="zh-TW" sz="1800" spc="-1" dirty="0">
              <a:uFill>
                <a:solidFill>
                  <a:srgbClr val="FFFFFF"/>
                </a:solidFill>
              </a:uFill>
            </a:endParaRPr>
          </a:p>
        </p:txBody>
      </p:sp>
    </p:spTree>
    <p:extLst>
      <p:ext uri="{BB962C8B-B14F-4D97-AF65-F5344CB8AC3E}">
        <p14:creationId xmlns:p14="http://schemas.microsoft.com/office/powerpoint/2010/main" val="3695652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Related Files</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fontScale="92500" lnSpcReduction="20000"/>
          </a:bodyPr>
          <a:lstStyle/>
          <a:p>
            <a:r>
              <a:rPr lang="en-US" altLang="zh-TW" b="1" dirty="0"/>
              <a:t>Intel/</a:t>
            </a:r>
            <a:r>
              <a:rPr lang="en-US" altLang="zh-TW" b="1" dirty="0" err="1"/>
              <a:t>EagleStream</a:t>
            </a:r>
            <a:r>
              <a:rPr lang="en-US" altLang="zh-TW" b="1" dirty="0"/>
              <a:t>/$(CHIPSET_PKG)/</a:t>
            </a:r>
            <a:r>
              <a:rPr lang="en-US" altLang="zh-TW" b="1" dirty="0" err="1"/>
              <a:t>Package.dsc</a:t>
            </a:r>
            <a:endParaRPr lang="en-US" altLang="zh-TW" b="1" dirty="0"/>
          </a:p>
          <a:p>
            <a:pPr marL="457200" lvl="1" indent="0">
              <a:buNone/>
            </a:pPr>
            <a:r>
              <a:rPr lang="en-US" altLang="zh-TW" b="1" dirty="0">
                <a:solidFill>
                  <a:srgbClr val="0070C0"/>
                </a:solidFill>
              </a:rPr>
              <a:t>[Components.$(DXE_ARCH)]</a:t>
            </a:r>
          </a:p>
          <a:p>
            <a:pPr marL="457200" lvl="1" indent="0">
              <a:buNone/>
            </a:pPr>
            <a:r>
              <a:rPr lang="en-US" altLang="zh-TW" b="1" dirty="0">
                <a:solidFill>
                  <a:srgbClr val="0070C0"/>
                </a:solidFill>
              </a:rPr>
              <a:t>  $(CHIPSET_PKG)/Binary/Microcode/Microcode1.inf</a:t>
            </a:r>
          </a:p>
          <a:p>
            <a:pPr marL="457200" lvl="1" indent="0">
              <a:buNone/>
            </a:pPr>
            <a:r>
              <a:rPr lang="en-US" altLang="zh-TW" b="1" dirty="0">
                <a:solidFill>
                  <a:srgbClr val="0070C0"/>
                </a:solidFill>
              </a:rPr>
              <a:t>  $(CHIPSET_PKG)/Binary/Microcode/Microcode2.inf</a:t>
            </a:r>
          </a:p>
          <a:p>
            <a:pPr marL="457200" lvl="1" indent="0">
              <a:buNone/>
            </a:pPr>
            <a:endParaRPr lang="en-US" altLang="zh-TW" dirty="0"/>
          </a:p>
          <a:p>
            <a:r>
              <a:rPr lang="en-US" altLang="zh-TW" b="1" dirty="0"/>
              <a:t>Intel/</a:t>
            </a:r>
            <a:r>
              <a:rPr lang="en-US" altLang="zh-TW" b="1" dirty="0" err="1"/>
              <a:t>EagleStream</a:t>
            </a:r>
            <a:r>
              <a:rPr lang="en-US" altLang="zh-TW" b="1" dirty="0"/>
              <a:t>/$(CHIPSET_PKG)/Binary/Microcode</a:t>
            </a:r>
            <a:endParaRPr lang="zh-TW" altLang="en-US" b="1" dirty="0">
              <a:solidFill>
                <a:srgbClr val="0070C0"/>
              </a:solidFill>
            </a:endParaRPr>
          </a:p>
          <a:p>
            <a:pPr lvl="1"/>
            <a:r>
              <a:rPr lang="en-US" altLang="zh-TW" b="1" dirty="0">
                <a:solidFill>
                  <a:srgbClr val="0070C0"/>
                </a:solidFill>
              </a:rPr>
              <a:t>Microcode#.inf</a:t>
            </a:r>
          </a:p>
          <a:p>
            <a:pPr lvl="1"/>
            <a:r>
              <a:rPr lang="en-US" altLang="zh-TW" b="1" dirty="0">
                <a:solidFill>
                  <a:srgbClr val="0070C0"/>
                </a:solidFill>
              </a:rPr>
              <a:t>*.INC</a:t>
            </a:r>
          </a:p>
          <a:p>
            <a:pPr marL="685800" lvl="2">
              <a:lnSpc>
                <a:spcPct val="100000"/>
              </a:lnSpc>
              <a:spcBef>
                <a:spcPts val="1000"/>
              </a:spcBef>
            </a:pPr>
            <a:r>
              <a:rPr lang="en-US" altLang="zh-TW" sz="2400" dirty="0"/>
              <a:t>Put the microcode (*.INC) into the folder</a:t>
            </a:r>
          </a:p>
          <a:p>
            <a:pPr marL="857250" lvl="2" indent="0">
              <a:buNone/>
            </a:pPr>
            <a:endParaRPr lang="en-US" altLang="zh-TW" sz="1200" b="1" dirty="0"/>
          </a:p>
          <a:p>
            <a:pPr marL="857250" lvl="2" indent="0">
              <a:buNone/>
            </a:pPr>
            <a:endParaRPr lang="en-US" altLang="zh-TW" sz="1200" b="1" dirty="0"/>
          </a:p>
          <a:p>
            <a:pPr marL="857250" lvl="2" indent="0">
              <a:buNone/>
            </a:pPr>
            <a:endParaRPr lang="en-US" altLang="zh-TW" sz="1200" b="1" dirty="0"/>
          </a:p>
          <a:p>
            <a:pPr marL="857250" lvl="2" indent="0">
              <a:buNone/>
            </a:pPr>
            <a:endParaRPr lang="en-US" altLang="zh-TW" sz="1200" b="1" dirty="0"/>
          </a:p>
          <a:p>
            <a:pPr marL="857250" lvl="2" indent="0">
              <a:buNone/>
            </a:pPr>
            <a:endParaRPr lang="en-US" altLang="zh-TW" sz="1200" b="1" dirty="0"/>
          </a:p>
          <a:p>
            <a:pPr marL="857250" lvl="2" indent="0">
              <a:buNone/>
            </a:pPr>
            <a:endParaRPr lang="en-US" altLang="zh-TW" sz="1200" b="1" dirty="0"/>
          </a:p>
          <a:p>
            <a:pPr marL="857250" lvl="2" indent="0">
              <a:buNone/>
            </a:pPr>
            <a:endParaRPr lang="en-US" altLang="zh-TW" sz="1200" b="1" dirty="0"/>
          </a:p>
          <a:p>
            <a:pPr marL="857250" lvl="2" indent="0">
              <a:buNone/>
            </a:pPr>
            <a:endParaRPr lang="en-US" altLang="zh-TW" sz="1200" b="1" dirty="0"/>
          </a:p>
          <a:p>
            <a:pPr marL="857250" lvl="2" indent="0">
              <a:buNone/>
            </a:pPr>
            <a:r>
              <a:rPr lang="en-US" altLang="zh-TW" sz="1200" b="1" dirty="0">
                <a:solidFill>
                  <a:srgbClr val="FF0000"/>
                </a:solidFill>
              </a:rPr>
              <a:t>.</a:t>
            </a:r>
          </a:p>
        </p:txBody>
      </p:sp>
      <p:sp>
        <p:nvSpPr>
          <p:cNvPr id="4" name="文字方塊 3">
            <a:extLst>
              <a:ext uri="{FF2B5EF4-FFF2-40B4-BE49-F238E27FC236}">
                <a16:creationId xmlns:a16="http://schemas.microsoft.com/office/drawing/2014/main" id="{108AD9CD-3567-E718-99E9-9BA5B1A23328}"/>
              </a:ext>
            </a:extLst>
          </p:cNvPr>
          <p:cNvSpPr txBox="1"/>
          <p:nvPr/>
        </p:nvSpPr>
        <p:spPr>
          <a:xfrm>
            <a:off x="5743575" y="4422637"/>
            <a:ext cx="5913714" cy="1754326"/>
          </a:xfrm>
          <a:prstGeom prst="rect">
            <a:avLst/>
          </a:prstGeom>
          <a:noFill/>
        </p:spPr>
        <p:txBody>
          <a:bodyPr wrap="square" rtlCol="0">
            <a:spAutoFit/>
          </a:bodyPr>
          <a:lstStyle/>
          <a:p>
            <a:pPr marL="857250" lvl="2" indent="0">
              <a:buNone/>
            </a:pPr>
            <a:r>
              <a:rPr lang="en-US" altLang="zh-TW" sz="1200" b="1" dirty="0"/>
              <a:t>[Defines]</a:t>
            </a:r>
          </a:p>
          <a:p>
            <a:pPr marL="857250" lvl="2" indent="0">
              <a:buNone/>
            </a:pPr>
            <a:r>
              <a:rPr lang="en-US" altLang="zh-TW" sz="1200" b="1" dirty="0"/>
              <a:t>  INF_VERSION              = 0x00010005</a:t>
            </a:r>
          </a:p>
          <a:p>
            <a:pPr marL="857250" lvl="2" indent="0">
              <a:buNone/>
            </a:pPr>
            <a:r>
              <a:rPr lang="en-US" altLang="zh-TW" sz="1200" b="1" dirty="0"/>
              <a:t>  BASE_NAME                = Microcode2</a:t>
            </a:r>
          </a:p>
          <a:p>
            <a:pPr marL="857250" lvl="2" indent="0">
              <a:buNone/>
            </a:pPr>
            <a:r>
              <a:rPr lang="en-US" altLang="zh-TW" sz="1200" b="1" dirty="0"/>
              <a:t>  FILE_GUID                    = B53105F3-3B4E-41FB-8310-108F64F0E297</a:t>
            </a:r>
          </a:p>
          <a:p>
            <a:pPr marL="857250" lvl="2" indent="0">
              <a:buNone/>
            </a:pPr>
            <a:r>
              <a:rPr lang="en-US" altLang="zh-TW" sz="1200" b="1" dirty="0"/>
              <a:t>  MODULE_TYPE            = USER_DEFINED</a:t>
            </a:r>
          </a:p>
          <a:p>
            <a:pPr marL="857250" lvl="2" indent="0">
              <a:buNone/>
            </a:pPr>
            <a:r>
              <a:rPr lang="en-US" altLang="zh-TW" sz="1200" b="1" dirty="0"/>
              <a:t>  VERSION_STRING       = 1.0</a:t>
            </a:r>
          </a:p>
          <a:p>
            <a:pPr marL="857250" lvl="2" indent="0">
              <a:buNone/>
            </a:pPr>
            <a:endParaRPr lang="en-US" altLang="zh-TW" sz="1200" b="1" dirty="0"/>
          </a:p>
          <a:p>
            <a:pPr marL="857250" lvl="2" indent="0">
              <a:buNone/>
            </a:pPr>
            <a:r>
              <a:rPr lang="en-US" altLang="zh-TW" sz="1200" b="1" dirty="0"/>
              <a:t>[Sources]</a:t>
            </a:r>
          </a:p>
          <a:p>
            <a:pPr marL="857250" lvl="2" indent="0">
              <a:buNone/>
            </a:pPr>
            <a:r>
              <a:rPr lang="en-US" altLang="zh-TW" sz="1200" b="1" dirty="0">
                <a:solidFill>
                  <a:srgbClr val="FF0000"/>
                </a:solidFill>
              </a:rPr>
              <a:t>  m_10_806f4_830002a0.inc</a:t>
            </a:r>
          </a:p>
        </p:txBody>
      </p:sp>
      <p:sp>
        <p:nvSpPr>
          <p:cNvPr id="5" name="文字方塊 4">
            <a:extLst>
              <a:ext uri="{FF2B5EF4-FFF2-40B4-BE49-F238E27FC236}">
                <a16:creationId xmlns:a16="http://schemas.microsoft.com/office/drawing/2014/main" id="{E2E09E70-2B77-D376-4F26-0833FAC15911}"/>
              </a:ext>
            </a:extLst>
          </p:cNvPr>
          <p:cNvSpPr txBox="1"/>
          <p:nvPr/>
        </p:nvSpPr>
        <p:spPr>
          <a:xfrm>
            <a:off x="182286" y="4422637"/>
            <a:ext cx="5913714" cy="1754326"/>
          </a:xfrm>
          <a:prstGeom prst="rect">
            <a:avLst/>
          </a:prstGeom>
          <a:noFill/>
        </p:spPr>
        <p:txBody>
          <a:bodyPr wrap="square" rtlCol="0">
            <a:spAutoFit/>
          </a:bodyPr>
          <a:lstStyle/>
          <a:p>
            <a:pPr marL="857250" lvl="2" indent="0">
              <a:buNone/>
            </a:pPr>
            <a:r>
              <a:rPr lang="en-US" altLang="zh-TW" sz="1200" b="1" dirty="0"/>
              <a:t>[Defines]</a:t>
            </a:r>
          </a:p>
          <a:p>
            <a:pPr marL="857250" lvl="2" indent="0">
              <a:buNone/>
            </a:pPr>
            <a:r>
              <a:rPr lang="en-US" altLang="zh-TW" sz="1200" b="1" dirty="0"/>
              <a:t>  INF_VERSION              = 0x00010005</a:t>
            </a:r>
          </a:p>
          <a:p>
            <a:pPr marL="857250" lvl="2" indent="0">
              <a:buNone/>
            </a:pPr>
            <a:r>
              <a:rPr lang="en-US" altLang="zh-TW" sz="1200" b="1" dirty="0"/>
              <a:t>  BASE_NAME                = Microcode1</a:t>
            </a:r>
          </a:p>
          <a:p>
            <a:pPr marL="857250" lvl="2" indent="0">
              <a:buNone/>
            </a:pPr>
            <a:r>
              <a:rPr lang="en-US" altLang="zh-TW" sz="1200" b="1" dirty="0"/>
              <a:t>  FILE_GUID                    = 197DB236-F856-4924-90F8-CDF12FB875F3</a:t>
            </a:r>
          </a:p>
          <a:p>
            <a:pPr marL="857250" lvl="2" indent="0">
              <a:buNone/>
            </a:pPr>
            <a:r>
              <a:rPr lang="en-US" altLang="zh-TW" sz="1200" b="1" dirty="0"/>
              <a:t>  MODULE_TYPE            = USER_DEFINED</a:t>
            </a:r>
          </a:p>
          <a:p>
            <a:pPr marL="857250" lvl="2" indent="0">
              <a:buNone/>
            </a:pPr>
            <a:r>
              <a:rPr lang="en-US" altLang="zh-TW" sz="1200" b="1" dirty="0"/>
              <a:t>  VERSION_STRING       = 1.0</a:t>
            </a:r>
          </a:p>
          <a:p>
            <a:pPr marL="857250" lvl="2" indent="0">
              <a:buNone/>
            </a:pPr>
            <a:endParaRPr lang="en-US" altLang="zh-TW" sz="1200" b="1" dirty="0"/>
          </a:p>
          <a:p>
            <a:pPr marL="857250" lvl="2" indent="0">
              <a:buNone/>
            </a:pPr>
            <a:r>
              <a:rPr lang="en-US" altLang="zh-TW" sz="1200" b="1" dirty="0"/>
              <a:t>[Sources]</a:t>
            </a:r>
          </a:p>
          <a:p>
            <a:pPr marL="857250" lvl="2" indent="0">
              <a:buNone/>
            </a:pPr>
            <a:r>
              <a:rPr lang="en-US" altLang="zh-TW" sz="1200" b="1" dirty="0">
                <a:solidFill>
                  <a:srgbClr val="FF0000"/>
                </a:solidFill>
              </a:rPr>
              <a:t>  m_87_806f3_8d000510.inc</a:t>
            </a:r>
          </a:p>
        </p:txBody>
      </p:sp>
    </p:spTree>
    <p:extLst>
      <p:ext uri="{BB962C8B-B14F-4D97-AF65-F5344CB8AC3E}">
        <p14:creationId xmlns:p14="http://schemas.microsoft.com/office/powerpoint/2010/main" val="1537232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D25D9-9A5A-7ED3-7026-ACF14F0C8A60}"/>
              </a:ext>
            </a:extLst>
          </p:cNvPr>
          <p:cNvSpPr>
            <a:spLocks noGrp="1"/>
          </p:cNvSpPr>
          <p:nvPr>
            <p:ph type="title"/>
          </p:nvPr>
        </p:nvSpPr>
        <p:spPr/>
        <p:txBody>
          <a:bodyPr/>
          <a:lstStyle/>
          <a:p>
            <a:r>
              <a:rPr lang="en-US" altLang="zh-TW" dirty="0"/>
              <a:t>Related Files</a:t>
            </a:r>
            <a:endParaRPr lang="zh-TW" altLang="en-US" dirty="0"/>
          </a:p>
        </p:txBody>
      </p:sp>
      <p:sp>
        <p:nvSpPr>
          <p:cNvPr id="3" name="內容版面配置區 2">
            <a:extLst>
              <a:ext uri="{FF2B5EF4-FFF2-40B4-BE49-F238E27FC236}">
                <a16:creationId xmlns:a16="http://schemas.microsoft.com/office/drawing/2014/main" id="{293DE346-68DE-64D8-EF3F-333C4E9D17EB}"/>
              </a:ext>
            </a:extLst>
          </p:cNvPr>
          <p:cNvSpPr>
            <a:spLocks noGrp="1"/>
          </p:cNvSpPr>
          <p:nvPr>
            <p:ph idx="1"/>
          </p:nvPr>
        </p:nvSpPr>
        <p:spPr/>
        <p:txBody>
          <a:bodyPr>
            <a:normAutofit/>
          </a:bodyPr>
          <a:lstStyle/>
          <a:p>
            <a:r>
              <a:rPr lang="en-US" altLang="zh-TW" b="1" dirty="0">
                <a:solidFill>
                  <a:srgbClr val="FF0000"/>
                </a:solidFill>
              </a:rPr>
              <a:t>Board/Intel/$(PROJECT_PKG)/</a:t>
            </a:r>
            <a:r>
              <a:rPr lang="en-US" altLang="zh-TW" b="1" dirty="0" err="1">
                <a:solidFill>
                  <a:srgbClr val="FF0000"/>
                </a:solidFill>
              </a:rPr>
              <a:t>FlashRegionDefines.fdf</a:t>
            </a:r>
            <a:endParaRPr lang="en-US" altLang="zh-TW" b="1" dirty="0">
              <a:solidFill>
                <a:srgbClr val="FF0000"/>
              </a:solidFill>
            </a:endParaRPr>
          </a:p>
          <a:p>
            <a:pPr marL="0" indent="0">
              <a:buNone/>
            </a:pPr>
            <a:r>
              <a:rPr lang="en-US" altLang="zh-TW" sz="1600" b="1" dirty="0"/>
              <a:t>DEFINE FLASH_REGION_NV_COMMON_STORE_SUBREGION_MICROCODE_OFFSET      =        	$(FLASH_REGION_INSYDE_BOOT_LOGO_OFFSET) + $(FLASH_REGION_INSYDE_BOOT_LOGO_SIZE)</a:t>
            </a:r>
          </a:p>
          <a:p>
            <a:pPr marL="0" indent="0">
              <a:buNone/>
            </a:pPr>
            <a:r>
              <a:rPr lang="en-US" altLang="zh-TW" sz="1600" b="1" dirty="0"/>
              <a:t>DEFINE FLASH_REGION_NV_COMMON_STORE_SUBREGION_MICROCODE2_OFFSET     = 	$(FLASH_REGION_NV_COMMON_STORE_SUBREGION_MICROCODE_OFFSET) + 	$(FLASH_REGION_NV_COMMON_STORE_SUBREGION_MICROCODE_SIZE)</a:t>
            </a:r>
          </a:p>
          <a:p>
            <a:pPr marL="0" indent="0">
              <a:buNone/>
            </a:pPr>
            <a:r>
              <a:rPr lang="en-US" altLang="zh-TW" sz="1600" b="1" dirty="0"/>
              <a:t>DEFINE FLASH_REGION_NV_COMMON_STORE_SUBREGION_MICROCODE_SIZE        = </a:t>
            </a:r>
            <a:r>
              <a:rPr lang="en-US" altLang="zh-TW" sz="1600" b="1" dirty="0">
                <a:solidFill>
                  <a:schemeClr val="accent6">
                    <a:lumMod val="60000"/>
                    <a:lumOff val="40000"/>
                  </a:schemeClr>
                </a:solidFill>
              </a:rPr>
              <a:t>0x00180000</a:t>
            </a:r>
          </a:p>
          <a:p>
            <a:pPr marL="0" indent="0">
              <a:buNone/>
            </a:pPr>
            <a:r>
              <a:rPr lang="en-US" altLang="zh-TW" sz="1600" b="1" dirty="0"/>
              <a:t>DEFINE FLASH_REGION_NV_COMMON_STORE_SUBREGION_MICROCODE2_SIZE       = </a:t>
            </a:r>
            <a:r>
              <a:rPr lang="en-US" altLang="zh-TW" sz="1600" b="1" dirty="0">
                <a:solidFill>
                  <a:schemeClr val="accent6">
                    <a:lumMod val="60000"/>
                    <a:lumOff val="40000"/>
                  </a:schemeClr>
                </a:solidFill>
              </a:rPr>
              <a:t>0x00180000</a:t>
            </a:r>
          </a:p>
          <a:p>
            <a:endParaRPr lang="zh-TW" altLang="en-US" dirty="0"/>
          </a:p>
        </p:txBody>
      </p:sp>
    </p:spTree>
    <p:extLst>
      <p:ext uri="{BB962C8B-B14F-4D97-AF65-F5344CB8AC3E}">
        <p14:creationId xmlns:p14="http://schemas.microsoft.com/office/powerpoint/2010/main" val="3697757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F98B3E-9351-A1BE-3B6A-1A2942194D3E}"/>
              </a:ext>
            </a:extLst>
          </p:cNvPr>
          <p:cNvSpPr>
            <a:spLocks noGrp="1"/>
          </p:cNvSpPr>
          <p:nvPr>
            <p:ph type="title"/>
          </p:nvPr>
        </p:nvSpPr>
        <p:spPr/>
        <p:txBody>
          <a:bodyPr/>
          <a:lstStyle/>
          <a:p>
            <a:r>
              <a:rPr lang="en-US" altLang="zh-TW" dirty="0"/>
              <a:t>Related Files</a:t>
            </a:r>
            <a:endParaRPr lang="zh-TW" altLang="en-US" dirty="0"/>
          </a:p>
        </p:txBody>
      </p:sp>
      <p:sp>
        <p:nvSpPr>
          <p:cNvPr id="3" name="內容版面配置區 2">
            <a:extLst>
              <a:ext uri="{FF2B5EF4-FFF2-40B4-BE49-F238E27FC236}">
                <a16:creationId xmlns:a16="http://schemas.microsoft.com/office/drawing/2014/main" id="{C0DA1C7B-AB69-55C2-5130-57D2071429D3}"/>
              </a:ext>
            </a:extLst>
          </p:cNvPr>
          <p:cNvSpPr>
            <a:spLocks noGrp="1"/>
          </p:cNvSpPr>
          <p:nvPr>
            <p:ph idx="1"/>
          </p:nvPr>
        </p:nvSpPr>
        <p:spPr/>
        <p:txBody>
          <a:bodyPr>
            <a:normAutofit fontScale="92500" lnSpcReduction="10000"/>
          </a:bodyPr>
          <a:lstStyle/>
          <a:p>
            <a:r>
              <a:rPr lang="en-US" altLang="zh-TW" b="1" dirty="0">
                <a:solidFill>
                  <a:srgbClr val="FF0000"/>
                </a:solidFill>
              </a:rPr>
              <a:t>Board/Intel/$(PROJECT_PKG)/</a:t>
            </a:r>
            <a:r>
              <a:rPr lang="en-US" altLang="zh-TW" b="1" dirty="0" err="1">
                <a:solidFill>
                  <a:srgbClr val="FF0000"/>
                </a:solidFill>
              </a:rPr>
              <a:t>Project.fdf</a:t>
            </a:r>
            <a:endParaRPr lang="en-US" altLang="zh-TW" b="1" dirty="0">
              <a:solidFill>
                <a:srgbClr val="FF0000"/>
              </a:solidFill>
            </a:endParaRPr>
          </a:p>
          <a:p>
            <a:pPr marL="0" indent="0">
              <a:buNone/>
            </a:pPr>
            <a:r>
              <a:rPr lang="en-US" altLang="zh-TW" sz="2000" b="1" dirty="0"/>
              <a:t>$(FLASH_REGION_NV_COMMON_STORE_SUBREGION_</a:t>
            </a:r>
            <a:r>
              <a:rPr lang="en-US" altLang="zh-TW" sz="2000" b="1" dirty="0">
                <a:solidFill>
                  <a:schemeClr val="accent6">
                    <a:lumMod val="60000"/>
                    <a:lumOff val="40000"/>
                  </a:schemeClr>
                </a:solidFill>
              </a:rPr>
              <a:t>MICROCODE_OFFSET</a:t>
            </a:r>
            <a:r>
              <a:rPr lang="en-US" altLang="zh-TW" sz="2000" b="1" dirty="0"/>
              <a:t>)|$(FLASH_REGION_NV_COMMON_STORE_SUBREGION_</a:t>
            </a:r>
            <a:r>
              <a:rPr lang="en-US" altLang="zh-TW" sz="2000" b="1" dirty="0">
                <a:solidFill>
                  <a:schemeClr val="accent6">
                    <a:lumMod val="60000"/>
                    <a:lumOff val="40000"/>
                  </a:schemeClr>
                </a:solidFill>
              </a:rPr>
              <a:t>MICROCODE_SIZE</a:t>
            </a:r>
            <a:r>
              <a:rPr lang="en-US" altLang="zh-TW" sz="2000" b="1" dirty="0"/>
              <a:t>)</a:t>
            </a:r>
          </a:p>
          <a:p>
            <a:pPr marL="0" indent="0">
              <a:buNone/>
            </a:pPr>
            <a:r>
              <a:rPr lang="en-US" altLang="zh-TW" sz="2000" b="1" dirty="0"/>
              <a:t>gInsydeTokenSpaceGuid.</a:t>
            </a:r>
            <a:r>
              <a:rPr lang="en-US" altLang="zh-TW" sz="2000" b="1" dirty="0">
                <a:solidFill>
                  <a:schemeClr val="accent2"/>
                </a:solidFill>
              </a:rPr>
              <a:t>PcdFlashNvStorageMicrocodeBase</a:t>
            </a:r>
            <a:r>
              <a:rPr lang="en-US" altLang="zh-TW" sz="2000" b="1" dirty="0"/>
              <a:t>|gInsydeTokenSpaceGuid.</a:t>
            </a:r>
            <a:r>
              <a:rPr lang="en-US" altLang="zh-TW" sz="2000" b="1" dirty="0">
                <a:solidFill>
                  <a:schemeClr val="accent2"/>
                </a:solidFill>
              </a:rPr>
              <a:t>PcdFlashNvStorageMicrocodeSize</a:t>
            </a:r>
          </a:p>
          <a:p>
            <a:pPr marL="0" indent="0">
              <a:buNone/>
            </a:pPr>
            <a:r>
              <a:rPr lang="en-US" altLang="zh-TW" sz="2000" b="1" dirty="0" err="1"/>
              <a:t>RegionType</a:t>
            </a:r>
            <a:r>
              <a:rPr lang="en-US" altLang="zh-TW" sz="2000" b="1" dirty="0"/>
              <a:t> = gH2OFlashMapRegionMicrocodeGuid</a:t>
            </a:r>
          </a:p>
          <a:p>
            <a:pPr marL="0" indent="0">
              <a:buNone/>
            </a:pPr>
            <a:r>
              <a:rPr lang="en-US" altLang="zh-TW" sz="2000" b="1" dirty="0"/>
              <a:t>FILE = $(OUTPUT_DIRECTORY)/$(TARGET)_$(TOOL_CHAIN_TAG)/X64/Microcode1.bin</a:t>
            </a:r>
          </a:p>
          <a:p>
            <a:endParaRPr lang="en-US" altLang="zh-TW" sz="2000" b="1" dirty="0"/>
          </a:p>
          <a:p>
            <a:pPr marL="0" indent="0">
              <a:buNone/>
            </a:pPr>
            <a:r>
              <a:rPr lang="en-US" altLang="zh-TW" sz="2000" b="1" dirty="0"/>
              <a:t>$(FLASH_REGION_NV_COMMON_STORE_SUBREGION_</a:t>
            </a:r>
            <a:r>
              <a:rPr lang="en-US" altLang="zh-TW" sz="2000" b="1" dirty="0">
                <a:solidFill>
                  <a:schemeClr val="accent6">
                    <a:lumMod val="60000"/>
                    <a:lumOff val="40000"/>
                  </a:schemeClr>
                </a:solidFill>
              </a:rPr>
              <a:t>MICROCODE2_OFFSET</a:t>
            </a:r>
            <a:r>
              <a:rPr lang="en-US" altLang="zh-TW" sz="2000" b="1" dirty="0"/>
              <a:t>)|$(FLASH_REGION_NV_COMMON_STORE_SUBREGION_</a:t>
            </a:r>
            <a:r>
              <a:rPr lang="en-US" altLang="zh-TW" sz="2000" b="1" dirty="0">
                <a:solidFill>
                  <a:schemeClr val="accent6">
                    <a:lumMod val="60000"/>
                    <a:lumOff val="40000"/>
                  </a:schemeClr>
                </a:solidFill>
              </a:rPr>
              <a:t>MICROCODE2_SIZE</a:t>
            </a:r>
            <a:r>
              <a:rPr lang="en-US" altLang="zh-TW" sz="2000" b="1" dirty="0"/>
              <a:t>)</a:t>
            </a:r>
          </a:p>
          <a:p>
            <a:pPr marL="0" indent="0">
              <a:buNone/>
            </a:pPr>
            <a:r>
              <a:rPr lang="en-US" altLang="zh-TW" sz="2000" b="1" dirty="0"/>
              <a:t>gCpuUncoreTokenSpaceGuid.</a:t>
            </a:r>
            <a:r>
              <a:rPr lang="en-US" altLang="zh-TW" sz="2000" b="1" dirty="0">
                <a:solidFill>
                  <a:schemeClr val="accent2"/>
                </a:solidFill>
              </a:rPr>
              <a:t>PcdFlashNvStorageMicrocode2Base</a:t>
            </a:r>
            <a:r>
              <a:rPr lang="en-US" altLang="zh-TW" sz="2000" b="1" dirty="0"/>
              <a:t>|gCpuUncoreTokenSpaceGuid.</a:t>
            </a:r>
            <a:r>
              <a:rPr lang="en-US" altLang="zh-TW" sz="2000" b="1" dirty="0">
                <a:solidFill>
                  <a:schemeClr val="accent2"/>
                </a:solidFill>
              </a:rPr>
              <a:t>PcdFlashNvStorageMicrocode2Size</a:t>
            </a:r>
          </a:p>
          <a:p>
            <a:pPr marL="0" indent="0">
              <a:buNone/>
            </a:pPr>
            <a:r>
              <a:rPr lang="en-US" altLang="zh-TW" sz="2000" b="1" dirty="0" err="1"/>
              <a:t>RegionType</a:t>
            </a:r>
            <a:r>
              <a:rPr lang="en-US" altLang="zh-TW" sz="2000" b="1" dirty="0"/>
              <a:t> = gH2OFlashMapRegionMicrocodeGuid | 0x1</a:t>
            </a:r>
          </a:p>
          <a:p>
            <a:pPr marL="0" indent="0">
              <a:buNone/>
            </a:pPr>
            <a:r>
              <a:rPr lang="en-US" altLang="zh-TW" sz="2000" b="1" dirty="0"/>
              <a:t>FILE = $(OUTPUT_DIRECTORY)/$(TARGET)_$(TOOL_CHAIN_TAG)/X64/Microcode2.bin</a:t>
            </a:r>
          </a:p>
          <a:p>
            <a:endParaRPr lang="zh-TW" altLang="en-US" dirty="0"/>
          </a:p>
        </p:txBody>
      </p:sp>
    </p:spTree>
    <p:extLst>
      <p:ext uri="{BB962C8B-B14F-4D97-AF65-F5344CB8AC3E}">
        <p14:creationId xmlns:p14="http://schemas.microsoft.com/office/powerpoint/2010/main" val="2067047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Related Files</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r>
              <a:rPr lang="en-US" altLang="zh-TW" b="1" dirty="0"/>
              <a:t>Intel/</a:t>
            </a:r>
            <a:r>
              <a:rPr lang="en-US" altLang="zh-TW" b="1" dirty="0" err="1"/>
              <a:t>EagleStream</a:t>
            </a:r>
            <a:r>
              <a:rPr lang="en-US" altLang="zh-TW" b="1" dirty="0"/>
              <a:t>/</a:t>
            </a:r>
            <a:r>
              <a:rPr lang="en-US" altLang="zh-TW" b="1" dirty="0" err="1"/>
              <a:t>ServerSiliconPkg</a:t>
            </a:r>
            <a:r>
              <a:rPr lang="en-US" altLang="zh-TW" b="1" dirty="0"/>
              <a:t>/Library/</a:t>
            </a:r>
            <a:r>
              <a:rPr lang="en-US" altLang="zh-TW" b="1" dirty="0" err="1"/>
              <a:t>ProcessorStartup</a:t>
            </a:r>
            <a:r>
              <a:rPr lang="en-US" altLang="zh-TW" b="1" dirty="0"/>
              <a:t>/Ia32/</a:t>
            </a:r>
            <a:r>
              <a:rPr lang="en-US" altLang="zh-TW" b="1" dirty="0">
                <a:solidFill>
                  <a:srgbClr val="0070C0"/>
                </a:solidFill>
              </a:rPr>
              <a:t> </a:t>
            </a:r>
            <a:r>
              <a:rPr lang="en-US" altLang="zh-TW" b="1" dirty="0" err="1">
                <a:solidFill>
                  <a:srgbClr val="0070C0"/>
                </a:solidFill>
              </a:rPr>
              <a:t>ProcessorStartupSpr.nasm</a:t>
            </a:r>
            <a:endParaRPr lang="en-US" altLang="zh-TW" b="1" dirty="0">
              <a:solidFill>
                <a:srgbClr val="0070C0"/>
              </a:solidFill>
            </a:endParaRPr>
          </a:p>
        </p:txBody>
      </p:sp>
      <p:grpSp>
        <p:nvGrpSpPr>
          <p:cNvPr id="4" name="群組 3">
            <a:extLst>
              <a:ext uri="{FF2B5EF4-FFF2-40B4-BE49-F238E27FC236}">
                <a16:creationId xmlns:a16="http://schemas.microsoft.com/office/drawing/2014/main" id="{FF26D039-148F-4AF0-AA65-27E8AD4FD049}"/>
              </a:ext>
            </a:extLst>
          </p:cNvPr>
          <p:cNvGrpSpPr/>
          <p:nvPr/>
        </p:nvGrpSpPr>
        <p:grpSpPr>
          <a:xfrm>
            <a:off x="894347" y="2279984"/>
            <a:ext cx="10390317" cy="3905786"/>
            <a:chOff x="894347" y="2279984"/>
            <a:chExt cx="10390317" cy="3905786"/>
          </a:xfrm>
        </p:grpSpPr>
        <p:sp>
          <p:nvSpPr>
            <p:cNvPr id="5" name="Rectangle 15">
              <a:extLst>
                <a:ext uri="{FF2B5EF4-FFF2-40B4-BE49-F238E27FC236}">
                  <a16:creationId xmlns:a16="http://schemas.microsoft.com/office/drawing/2014/main" id="{9BC55F53-3EBD-477F-805A-B0937E44F411}"/>
                </a:ext>
              </a:extLst>
            </p:cNvPr>
            <p:cNvSpPr>
              <a:spLocks noChangeArrowheads="1"/>
            </p:cNvSpPr>
            <p:nvPr/>
          </p:nvSpPr>
          <p:spPr bwMode="auto">
            <a:xfrm>
              <a:off x="894347" y="2279984"/>
              <a:ext cx="3730837" cy="1732552"/>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6" name="Rectangle 16">
              <a:extLst>
                <a:ext uri="{FF2B5EF4-FFF2-40B4-BE49-F238E27FC236}">
                  <a16:creationId xmlns:a16="http://schemas.microsoft.com/office/drawing/2014/main" id="{7576F695-19AC-470B-BD0D-DA3BAFCB5CBD}"/>
                </a:ext>
              </a:extLst>
            </p:cNvPr>
            <p:cNvSpPr>
              <a:spLocks noChangeArrowheads="1"/>
            </p:cNvSpPr>
            <p:nvPr/>
          </p:nvSpPr>
          <p:spPr bwMode="auto">
            <a:xfrm>
              <a:off x="894347" y="2279984"/>
              <a:ext cx="3730837"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200" dirty="0" err="1"/>
                <a:t>ProcessorStartupSpr.nasm</a:t>
              </a:r>
              <a:endParaRPr lang="zh-TW" altLang="en-US" sz="1200" dirty="0"/>
            </a:p>
          </p:txBody>
        </p:sp>
        <p:sp>
          <p:nvSpPr>
            <p:cNvPr id="7" name="Text Box 17">
              <a:extLst>
                <a:ext uri="{FF2B5EF4-FFF2-40B4-BE49-F238E27FC236}">
                  <a16:creationId xmlns:a16="http://schemas.microsoft.com/office/drawing/2014/main" id="{DBA73C42-1B4A-4B84-865D-DC96B7D21FC8}"/>
                </a:ext>
              </a:extLst>
            </p:cNvPr>
            <p:cNvSpPr txBox="1">
              <a:spLocks noChangeArrowheads="1"/>
            </p:cNvSpPr>
            <p:nvPr/>
          </p:nvSpPr>
          <p:spPr bwMode="auto">
            <a:xfrm>
              <a:off x="970547" y="2584784"/>
              <a:ext cx="3654637"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a:solidFill>
                    <a:schemeClr val="tx2"/>
                  </a:solidFill>
                </a:rPr>
                <a:t>global ASM_PFX</a:t>
              </a:r>
              <a:r>
                <a:rPr lang="en-US" altLang="zh-TW" sz="1200" dirty="0">
                  <a:solidFill>
                    <a:srgbClr val="5A9541"/>
                  </a:solidFill>
                </a:rPr>
                <a:t>(</a:t>
              </a:r>
              <a:r>
                <a:rPr lang="en-US" altLang="zh-TW" sz="1200" dirty="0" err="1">
                  <a:solidFill>
                    <a:schemeClr val="accent1"/>
                  </a:solidFill>
                </a:rPr>
                <a:t>ProcessorStartup</a:t>
              </a:r>
              <a:r>
                <a:rPr lang="en-US" altLang="zh-TW" sz="1200" dirty="0">
                  <a:solidFill>
                    <a:srgbClr val="5A9541"/>
                  </a:solidFill>
                </a:rPr>
                <a:t>)</a:t>
              </a:r>
            </a:p>
            <a:p>
              <a:r>
                <a:rPr lang="en-US" altLang="zh-TW" sz="1200" dirty="0">
                  <a:solidFill>
                    <a:schemeClr val="tx2"/>
                  </a:solidFill>
                </a:rPr>
                <a:t>ASM_PFX</a:t>
              </a:r>
              <a:r>
                <a:rPr lang="en-US" altLang="zh-TW" sz="1200" dirty="0">
                  <a:solidFill>
                    <a:srgbClr val="5A9541"/>
                  </a:solidFill>
                </a:rPr>
                <a:t>(</a:t>
              </a:r>
              <a:r>
                <a:rPr lang="en-US" altLang="zh-TW" sz="1200" dirty="0" err="1">
                  <a:solidFill>
                    <a:schemeClr val="accent1"/>
                  </a:solidFill>
                </a:rPr>
                <a:t>ProcessorStartup</a:t>
              </a:r>
              <a:r>
                <a:rPr lang="en-US" altLang="zh-TW" sz="1200" dirty="0">
                  <a:solidFill>
                    <a:srgbClr val="5A9541"/>
                  </a:solidFill>
                </a:rPr>
                <a:t>):</a:t>
              </a:r>
            </a:p>
            <a:p>
              <a:r>
                <a:rPr lang="en-US" altLang="zh-TW" sz="1200" dirty="0">
                  <a:solidFill>
                    <a:srgbClr val="5A9541"/>
                  </a:solidFill>
                </a:rPr>
                <a:t>  </a:t>
              </a:r>
              <a:r>
                <a:rPr lang="en-US" altLang="zh-TW" sz="1200" dirty="0">
                  <a:solidFill>
                    <a:schemeClr val="tx2"/>
                  </a:solidFill>
                </a:rPr>
                <a:t>…</a:t>
              </a:r>
            </a:p>
            <a:p>
              <a:r>
                <a:rPr lang="en-US" altLang="zh-TW" sz="1200" dirty="0">
                  <a:solidFill>
                    <a:srgbClr val="5A9541"/>
                  </a:solidFill>
                </a:rPr>
                <a:t>  </a:t>
              </a:r>
              <a:r>
                <a:rPr lang="en-US" altLang="zh-TW" sz="1200" dirty="0">
                  <a:solidFill>
                    <a:schemeClr val="tx2"/>
                  </a:solidFill>
                </a:rPr>
                <a:t>PORT80</a:t>
              </a:r>
              <a:r>
                <a:rPr lang="en-US" altLang="zh-TW" sz="1200" dirty="0">
                  <a:solidFill>
                    <a:srgbClr val="5A9541"/>
                  </a:solidFill>
                </a:rPr>
                <a:t> (</a:t>
              </a:r>
              <a:r>
                <a:rPr lang="en-US" altLang="zh-TW" sz="1200" dirty="0">
                  <a:solidFill>
                    <a:srgbClr val="FF0000"/>
                  </a:solidFill>
                </a:rPr>
                <a:t>MICROCODE_POST_CODE</a:t>
              </a:r>
              <a:r>
                <a:rPr lang="en-US" altLang="zh-TW" sz="1200" dirty="0">
                  <a:solidFill>
                    <a:srgbClr val="5A9541"/>
                  </a:solidFill>
                </a:rPr>
                <a:t>)</a:t>
              </a:r>
            </a:p>
            <a:p>
              <a:r>
                <a:rPr lang="en-US" altLang="zh-TW" sz="1200" dirty="0">
                  <a:solidFill>
                    <a:srgbClr val="5A9541"/>
                  </a:solidFill>
                </a:rPr>
                <a:t>  </a:t>
              </a:r>
              <a:r>
                <a:rPr lang="en-US" altLang="zh-TW" sz="1200" dirty="0">
                  <a:solidFill>
                    <a:schemeClr val="tx2"/>
                  </a:solidFill>
                </a:rPr>
                <a:t>…</a:t>
              </a:r>
            </a:p>
            <a:p>
              <a:r>
                <a:rPr lang="en-US" altLang="zh-TW" sz="1200" dirty="0"/>
                <a:t> CALL_MMX3 ASM_PFX(</a:t>
              </a:r>
              <a:r>
                <a:rPr lang="en-US" altLang="zh-TW" sz="1200" dirty="0" err="1">
                  <a:solidFill>
                    <a:schemeClr val="accent1"/>
                  </a:solidFill>
                </a:rPr>
                <a:t>LoadProcessorMicrocode</a:t>
              </a:r>
              <a:r>
                <a:rPr lang="en-US" altLang="zh-TW" sz="1200" dirty="0"/>
                <a:t>)</a:t>
              </a:r>
            </a:p>
            <a:p>
              <a:r>
                <a:rPr lang="en-US" altLang="zh-TW" sz="1200" dirty="0"/>
                <a:t>  …</a:t>
              </a:r>
            </a:p>
          </p:txBody>
        </p:sp>
        <p:sp>
          <p:nvSpPr>
            <p:cNvPr id="8" name="Rectangle 15">
              <a:extLst>
                <a:ext uri="{FF2B5EF4-FFF2-40B4-BE49-F238E27FC236}">
                  <a16:creationId xmlns:a16="http://schemas.microsoft.com/office/drawing/2014/main" id="{5F601845-762E-41D6-8BF8-BFA250A76BB2}"/>
                </a:ext>
              </a:extLst>
            </p:cNvPr>
            <p:cNvSpPr>
              <a:spLocks noChangeArrowheads="1"/>
            </p:cNvSpPr>
            <p:nvPr/>
          </p:nvSpPr>
          <p:spPr bwMode="auto">
            <a:xfrm>
              <a:off x="894347" y="4265195"/>
              <a:ext cx="3730837" cy="1158220"/>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9" name="Rectangle 16">
              <a:extLst>
                <a:ext uri="{FF2B5EF4-FFF2-40B4-BE49-F238E27FC236}">
                  <a16:creationId xmlns:a16="http://schemas.microsoft.com/office/drawing/2014/main" id="{0A11171A-23DA-4377-8410-57FF192461BE}"/>
                </a:ext>
              </a:extLst>
            </p:cNvPr>
            <p:cNvSpPr>
              <a:spLocks noChangeArrowheads="1"/>
            </p:cNvSpPr>
            <p:nvPr/>
          </p:nvSpPr>
          <p:spPr bwMode="auto">
            <a:xfrm>
              <a:off x="894347" y="4265195"/>
              <a:ext cx="3730837"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200" dirty="0" err="1"/>
                <a:t>ProcessorStartupCore.nasm</a:t>
              </a:r>
              <a:endParaRPr lang="zh-TW" altLang="en-US" sz="1200" dirty="0"/>
            </a:p>
          </p:txBody>
        </p:sp>
        <p:sp>
          <p:nvSpPr>
            <p:cNvPr id="10" name="Text Box 17">
              <a:extLst>
                <a:ext uri="{FF2B5EF4-FFF2-40B4-BE49-F238E27FC236}">
                  <a16:creationId xmlns:a16="http://schemas.microsoft.com/office/drawing/2014/main" id="{B9316E85-6564-445C-AAF9-496D73E21228}"/>
                </a:ext>
              </a:extLst>
            </p:cNvPr>
            <p:cNvSpPr txBox="1">
              <a:spLocks noChangeArrowheads="1"/>
            </p:cNvSpPr>
            <p:nvPr/>
          </p:nvSpPr>
          <p:spPr bwMode="auto">
            <a:xfrm>
              <a:off x="970547" y="4569995"/>
              <a:ext cx="365463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a:solidFill>
                    <a:schemeClr val="tx2"/>
                  </a:solidFill>
                </a:rPr>
                <a:t>global ASM_PFX</a:t>
              </a:r>
              <a:r>
                <a:rPr lang="en-US" altLang="zh-TW" sz="1200" dirty="0">
                  <a:solidFill>
                    <a:srgbClr val="5A9541"/>
                  </a:solidFill>
                </a:rPr>
                <a:t>(</a:t>
              </a:r>
              <a:r>
                <a:rPr lang="en-US" altLang="zh-TW" sz="1200" dirty="0" err="1">
                  <a:solidFill>
                    <a:schemeClr val="accent1"/>
                  </a:solidFill>
                </a:rPr>
                <a:t>LoadProcessorMicrocode</a:t>
              </a:r>
              <a:r>
                <a:rPr lang="en-US" altLang="zh-TW" sz="1200" dirty="0">
                  <a:solidFill>
                    <a:srgbClr val="5A9541"/>
                  </a:solidFill>
                </a:rPr>
                <a:t>)</a:t>
              </a:r>
            </a:p>
            <a:p>
              <a:r>
                <a:rPr lang="en-US" altLang="zh-TW" sz="1200" dirty="0">
                  <a:solidFill>
                    <a:schemeClr val="tx2"/>
                  </a:solidFill>
                </a:rPr>
                <a:t>ASM_PFX</a:t>
              </a:r>
              <a:r>
                <a:rPr lang="en-US" altLang="zh-TW" sz="1200" dirty="0">
                  <a:solidFill>
                    <a:srgbClr val="5A9541"/>
                  </a:solidFill>
                </a:rPr>
                <a:t>(</a:t>
              </a:r>
              <a:r>
                <a:rPr lang="en-US" altLang="zh-TW" sz="1200" dirty="0" err="1">
                  <a:solidFill>
                    <a:schemeClr val="accent1"/>
                  </a:solidFill>
                </a:rPr>
                <a:t>LoadProcessorMicrocode</a:t>
              </a:r>
              <a:r>
                <a:rPr lang="en-US" altLang="zh-TW" sz="1200" dirty="0">
                  <a:solidFill>
                    <a:srgbClr val="5A9541"/>
                  </a:solidFill>
                </a:rPr>
                <a:t>):</a:t>
              </a:r>
            </a:p>
            <a:p>
              <a:r>
                <a:rPr lang="en-US" altLang="zh-TW" sz="1200" dirty="0">
                  <a:solidFill>
                    <a:srgbClr val="5A9541"/>
                  </a:solidFill>
                </a:rPr>
                <a:t>  </a:t>
              </a:r>
              <a:r>
                <a:rPr lang="en-US" altLang="zh-TW" sz="1200" dirty="0">
                  <a:solidFill>
                    <a:schemeClr val="tx2"/>
                  </a:solidFill>
                </a:rPr>
                <a:t>CALL_MMX4  ASM_PFX</a:t>
              </a:r>
              <a:r>
                <a:rPr lang="en-US" altLang="zh-TW" sz="1200" dirty="0">
                  <a:solidFill>
                    <a:srgbClr val="5A9541"/>
                  </a:solidFill>
                </a:rPr>
                <a:t>(</a:t>
              </a:r>
              <a:r>
                <a:rPr lang="en-US" altLang="zh-TW" sz="1200" dirty="0" err="1">
                  <a:solidFill>
                    <a:schemeClr val="accent1"/>
                  </a:solidFill>
                </a:rPr>
                <a:t>OemFindMicrocode</a:t>
              </a:r>
              <a:r>
                <a:rPr lang="en-US" altLang="zh-TW" sz="1200" dirty="0">
                  <a:solidFill>
                    <a:srgbClr val="5A9541"/>
                  </a:solidFill>
                </a:rPr>
                <a:t>)</a:t>
              </a:r>
            </a:p>
            <a:p>
              <a:r>
                <a:rPr lang="en-US" altLang="zh-TW" sz="1200" dirty="0">
                  <a:solidFill>
                    <a:srgbClr val="5A9541"/>
                  </a:solidFill>
                </a:rPr>
                <a:t>  </a:t>
              </a:r>
              <a:r>
                <a:rPr lang="en-US" altLang="zh-TW" sz="1200" dirty="0">
                  <a:solidFill>
                    <a:schemeClr val="tx2"/>
                  </a:solidFill>
                </a:rPr>
                <a:t>…</a:t>
              </a:r>
            </a:p>
            <a:p>
              <a:r>
                <a:rPr lang="en-US" altLang="zh-TW" sz="1200" dirty="0">
                  <a:solidFill>
                    <a:srgbClr val="5A9541"/>
                  </a:solidFill>
                </a:rPr>
                <a:t> </a:t>
              </a:r>
              <a:endParaRPr lang="en-US" altLang="zh-TW" sz="1200" dirty="0"/>
            </a:p>
          </p:txBody>
        </p:sp>
        <p:sp>
          <p:nvSpPr>
            <p:cNvPr id="11" name="Rectangle 15">
              <a:extLst>
                <a:ext uri="{FF2B5EF4-FFF2-40B4-BE49-F238E27FC236}">
                  <a16:creationId xmlns:a16="http://schemas.microsoft.com/office/drawing/2014/main" id="{74FEF803-FDB7-4457-A077-830830F542C5}"/>
                </a:ext>
              </a:extLst>
            </p:cNvPr>
            <p:cNvSpPr>
              <a:spLocks noChangeArrowheads="1"/>
            </p:cNvSpPr>
            <p:nvPr/>
          </p:nvSpPr>
          <p:spPr bwMode="auto">
            <a:xfrm>
              <a:off x="6096000" y="2279984"/>
              <a:ext cx="5188664" cy="3905786"/>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2" name="Rectangle 16">
              <a:extLst>
                <a:ext uri="{FF2B5EF4-FFF2-40B4-BE49-F238E27FC236}">
                  <a16:creationId xmlns:a16="http://schemas.microsoft.com/office/drawing/2014/main" id="{CCFA4466-C7B9-44DF-9DBF-C62E2011C93B}"/>
                </a:ext>
              </a:extLst>
            </p:cNvPr>
            <p:cNvSpPr>
              <a:spLocks noChangeArrowheads="1"/>
            </p:cNvSpPr>
            <p:nvPr/>
          </p:nvSpPr>
          <p:spPr bwMode="auto">
            <a:xfrm>
              <a:off x="6096000" y="2279984"/>
              <a:ext cx="5188664"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200" dirty="0" err="1"/>
                <a:t>ProcessorStartupOem.nasm</a:t>
              </a:r>
              <a:endParaRPr lang="zh-TW" altLang="en-US" sz="1200" dirty="0"/>
            </a:p>
          </p:txBody>
        </p:sp>
        <p:sp>
          <p:nvSpPr>
            <p:cNvPr id="13" name="Text Box 17">
              <a:extLst>
                <a:ext uri="{FF2B5EF4-FFF2-40B4-BE49-F238E27FC236}">
                  <a16:creationId xmlns:a16="http://schemas.microsoft.com/office/drawing/2014/main" id="{DC1C040B-5F21-41D9-B5DE-52B8DC5BEC5F}"/>
                </a:ext>
              </a:extLst>
            </p:cNvPr>
            <p:cNvSpPr txBox="1">
              <a:spLocks noChangeArrowheads="1"/>
            </p:cNvSpPr>
            <p:nvPr/>
          </p:nvSpPr>
          <p:spPr bwMode="auto">
            <a:xfrm>
              <a:off x="6172199" y="2584784"/>
              <a:ext cx="5046290"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a:solidFill>
                    <a:schemeClr val="tx2"/>
                  </a:solidFill>
                </a:rPr>
                <a:t>global ASM_PFX</a:t>
              </a:r>
              <a:r>
                <a:rPr lang="en-US" altLang="zh-TW" sz="1200" dirty="0">
                  <a:solidFill>
                    <a:srgbClr val="5A9541"/>
                  </a:solidFill>
                </a:rPr>
                <a:t>(</a:t>
              </a:r>
              <a:r>
                <a:rPr lang="en-US" altLang="zh-TW" sz="1200" dirty="0" err="1">
                  <a:solidFill>
                    <a:schemeClr val="accent1"/>
                  </a:solidFill>
                </a:rPr>
                <a:t>OemFindMicrocode</a:t>
              </a:r>
              <a:r>
                <a:rPr lang="en-US" altLang="zh-TW" sz="1200" dirty="0">
                  <a:solidFill>
                    <a:srgbClr val="5A9541"/>
                  </a:solidFill>
                </a:rPr>
                <a:t>)</a:t>
              </a:r>
            </a:p>
            <a:p>
              <a:r>
                <a:rPr lang="en-US" altLang="zh-TW" sz="1200" dirty="0">
                  <a:solidFill>
                    <a:schemeClr val="tx2"/>
                  </a:solidFill>
                </a:rPr>
                <a:t>ASM_PFX</a:t>
              </a:r>
              <a:r>
                <a:rPr lang="en-US" altLang="zh-TW" sz="1200" dirty="0">
                  <a:solidFill>
                    <a:srgbClr val="5A9541"/>
                  </a:solidFill>
                </a:rPr>
                <a:t>(</a:t>
              </a:r>
              <a:r>
                <a:rPr lang="en-US" altLang="zh-TW" sz="1200" dirty="0" err="1">
                  <a:solidFill>
                    <a:schemeClr val="accent1"/>
                  </a:solidFill>
                </a:rPr>
                <a:t>OemFindMicrocode</a:t>
              </a:r>
              <a:r>
                <a:rPr lang="en-US" altLang="zh-TW" sz="1200" dirty="0">
                  <a:solidFill>
                    <a:srgbClr val="5A9541"/>
                  </a:solidFill>
                </a:rPr>
                <a:t>):</a:t>
              </a:r>
            </a:p>
            <a:p>
              <a:r>
                <a:rPr lang="en-US" altLang="zh-TW" sz="1200" dirty="0">
                  <a:solidFill>
                    <a:srgbClr val="5A9541"/>
                  </a:solidFill>
                </a:rPr>
                <a:t>  </a:t>
              </a:r>
              <a:r>
                <a:rPr lang="en-US" altLang="zh-TW" sz="1200" dirty="0">
                  <a:solidFill>
                    <a:schemeClr val="tx2"/>
                  </a:solidFill>
                </a:rPr>
                <a:t>mov   </a:t>
              </a:r>
              <a:r>
                <a:rPr lang="en-US" altLang="zh-TW" sz="1200" dirty="0" err="1">
                  <a:solidFill>
                    <a:schemeClr val="tx2"/>
                  </a:solidFill>
                </a:rPr>
                <a:t>esi</a:t>
              </a:r>
              <a:r>
                <a:rPr lang="en-US" altLang="zh-TW" sz="1200" dirty="0">
                  <a:solidFill>
                    <a:schemeClr val="tx2"/>
                  </a:solidFill>
                </a:rPr>
                <a:t>, [ASM_PFX(PcdGet32 (</a:t>
              </a:r>
              <a:r>
                <a:rPr lang="en-US" altLang="zh-TW" sz="1200" dirty="0" err="1">
                  <a:solidFill>
                    <a:srgbClr val="0070C0"/>
                  </a:solidFill>
                </a:rPr>
                <a:t>PcdFlashNvStorageMicrocodeBase</a:t>
              </a:r>
              <a:r>
                <a:rPr lang="en-US" altLang="zh-TW" sz="1200" dirty="0">
                  <a:solidFill>
                    <a:schemeClr val="tx2"/>
                  </a:solidFill>
                </a:rPr>
                <a:t>))]</a:t>
              </a:r>
            </a:p>
            <a:p>
              <a:r>
                <a:rPr lang="en-US" altLang="zh-TW" sz="1200" dirty="0">
                  <a:solidFill>
                    <a:srgbClr val="5A9541"/>
                  </a:solidFill>
                </a:rPr>
                <a:t>  </a:t>
              </a:r>
              <a:r>
                <a:rPr lang="en-US" altLang="zh-TW" sz="1200" dirty="0">
                  <a:solidFill>
                    <a:schemeClr val="tx2"/>
                  </a:solidFill>
                </a:rPr>
                <a:t>…</a:t>
              </a:r>
            </a:p>
            <a:p>
              <a:r>
                <a:rPr lang="en-US" altLang="zh-TW" sz="1200" dirty="0">
                  <a:solidFill>
                    <a:srgbClr val="FF0000"/>
                  </a:solidFill>
                </a:rPr>
                <a:t>; Check for valid microcode header</a:t>
              </a:r>
            </a:p>
            <a:p>
              <a:r>
                <a:rPr lang="en-US" altLang="zh-TW" sz="1200" dirty="0">
                  <a:solidFill>
                    <a:schemeClr val="tx2"/>
                  </a:solidFill>
                </a:rPr>
                <a:t>  …</a:t>
              </a:r>
            </a:p>
            <a:p>
              <a:r>
                <a:rPr lang="en-US" altLang="zh-TW" sz="1200" dirty="0">
                  <a:solidFill>
                    <a:srgbClr val="FF0000"/>
                  </a:solidFill>
                </a:rPr>
                <a:t>; Check if signature and platform ID match</a:t>
              </a:r>
            </a:p>
            <a:p>
              <a:r>
                <a:rPr lang="en-US" altLang="zh-TW" sz="1200" dirty="0"/>
                <a:t>  …</a:t>
              </a:r>
            </a:p>
            <a:p>
              <a:r>
                <a:rPr lang="en-US" altLang="zh-TW" sz="1200" dirty="0">
                  <a:solidFill>
                    <a:srgbClr val="FF0000"/>
                  </a:solidFill>
                </a:rPr>
                <a:t>; Check if extended header exists</a:t>
              </a:r>
            </a:p>
            <a:p>
              <a:r>
                <a:rPr lang="en-US" altLang="zh-TW" sz="1200" dirty="0">
                  <a:solidFill>
                    <a:srgbClr val="FF0000"/>
                  </a:solidFill>
                </a:rPr>
                <a:t>; First check if </a:t>
              </a:r>
              <a:r>
                <a:rPr lang="en-US" altLang="zh-TW" sz="1200" dirty="0" err="1">
                  <a:solidFill>
                    <a:srgbClr val="FF0000"/>
                  </a:solidFill>
                </a:rPr>
                <a:t>total_size</a:t>
              </a:r>
              <a:r>
                <a:rPr lang="en-US" altLang="zh-TW" sz="1200" dirty="0">
                  <a:solidFill>
                    <a:srgbClr val="FF0000"/>
                  </a:solidFill>
                </a:rPr>
                <a:t> and </a:t>
              </a:r>
              <a:r>
                <a:rPr lang="en-US" altLang="zh-TW" sz="1200" dirty="0" err="1">
                  <a:solidFill>
                    <a:srgbClr val="FF0000"/>
                  </a:solidFill>
                </a:rPr>
                <a:t>data_size</a:t>
              </a:r>
              <a:r>
                <a:rPr lang="en-US" altLang="zh-TW" sz="1200" dirty="0">
                  <a:solidFill>
                    <a:srgbClr val="FF0000"/>
                  </a:solidFill>
                </a:rPr>
                <a:t> are valid</a:t>
              </a:r>
            </a:p>
            <a:p>
              <a:r>
                <a:rPr lang="en-US" altLang="zh-TW" sz="1200" dirty="0"/>
                <a:t>  …</a:t>
              </a:r>
            </a:p>
            <a:p>
              <a:r>
                <a:rPr lang="en-US" altLang="zh-TW" sz="1200" dirty="0">
                  <a:solidFill>
                    <a:srgbClr val="FF0000"/>
                  </a:solidFill>
                </a:rPr>
                <a:t>; Get count of extended structures</a:t>
              </a:r>
            </a:p>
            <a:p>
              <a:r>
                <a:rPr lang="en-US" altLang="zh-TW" sz="1200" dirty="0"/>
                <a:t>  …</a:t>
              </a:r>
            </a:p>
            <a:p>
              <a:r>
                <a:rPr lang="en-US" altLang="zh-TW" sz="1200" dirty="0">
                  <a:solidFill>
                    <a:srgbClr val="FF0000"/>
                  </a:solidFill>
                </a:rPr>
                <a:t>; Check if extended signature and platform ID match</a:t>
              </a:r>
            </a:p>
            <a:p>
              <a:r>
                <a:rPr lang="en-US" altLang="zh-TW" sz="1200" dirty="0"/>
                <a:t>  …</a:t>
              </a:r>
            </a:p>
            <a:p>
              <a:r>
                <a:rPr lang="en-US" altLang="zh-TW" sz="1200" dirty="0">
                  <a:solidFill>
                    <a:srgbClr val="FF0000"/>
                  </a:solidFill>
                </a:rPr>
                <a:t>; Check if any more extended signatures exist</a:t>
              </a:r>
            </a:p>
            <a:p>
              <a:r>
                <a:rPr lang="en-US" altLang="zh-TW" sz="1200" dirty="0"/>
                <a:t>  …</a:t>
              </a:r>
            </a:p>
            <a:p>
              <a:r>
                <a:rPr lang="en-US" altLang="zh-TW" sz="1200" dirty="0">
                  <a:solidFill>
                    <a:srgbClr val="FF0000"/>
                  </a:solidFill>
                </a:rPr>
                <a:t>; Verify this microcode update is not already loaded</a:t>
              </a:r>
            </a:p>
            <a:p>
              <a:r>
                <a:rPr lang="en-US" altLang="zh-TW" sz="1200" dirty="0"/>
                <a:t>…</a:t>
              </a:r>
            </a:p>
          </p:txBody>
        </p:sp>
        <p:cxnSp>
          <p:nvCxnSpPr>
            <p:cNvPr id="14" name="接點: 弧形 13">
              <a:extLst>
                <a:ext uri="{FF2B5EF4-FFF2-40B4-BE49-F238E27FC236}">
                  <a16:creationId xmlns:a16="http://schemas.microsoft.com/office/drawing/2014/main" id="{B1F2F2ED-D663-411B-A082-590143E81F7E}"/>
                </a:ext>
              </a:extLst>
            </p:cNvPr>
            <p:cNvCxnSpPr>
              <a:cxnSpLocks/>
            </p:cNvCxnSpPr>
            <p:nvPr/>
          </p:nvCxnSpPr>
          <p:spPr>
            <a:xfrm>
              <a:off x="4625184" y="3650266"/>
              <a:ext cx="12700" cy="1044000"/>
            </a:xfrm>
            <a:prstGeom prst="curvedConnector3">
              <a:avLst>
                <a:gd name="adj1" fmla="val 279473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接點: 肘形 14">
              <a:extLst>
                <a:ext uri="{FF2B5EF4-FFF2-40B4-BE49-F238E27FC236}">
                  <a16:creationId xmlns:a16="http://schemas.microsoft.com/office/drawing/2014/main" id="{6014E74F-A2E5-4361-AC31-0D1017BBC463}"/>
                </a:ext>
              </a:extLst>
            </p:cNvPr>
            <p:cNvCxnSpPr>
              <a:cxnSpLocks/>
            </p:cNvCxnSpPr>
            <p:nvPr/>
          </p:nvCxnSpPr>
          <p:spPr>
            <a:xfrm flipV="1">
              <a:off x="4625184" y="2746972"/>
              <a:ext cx="1470816" cy="2340000"/>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50474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5CF7D70-4E3C-419C-A8EA-9842D88CF405}"/>
              </a:ext>
            </a:extLst>
          </p:cNvPr>
          <p:cNvSpPr>
            <a:spLocks noGrp="1"/>
          </p:cNvSpPr>
          <p:nvPr>
            <p:ph type="sldNum" sz="quarter" idx="12"/>
          </p:nvPr>
        </p:nvSpPr>
        <p:spPr/>
        <p:txBody>
          <a:bodyPr/>
          <a:lstStyle/>
          <a:p>
            <a:fld id="{711F1488-76AD-4E7F-AEC8-BF811B7D74A5}" type="slidenum">
              <a:rPr lang="en-US" smtClean="0"/>
              <a:pPr/>
              <a:t>14</a:t>
            </a:fld>
            <a:endParaRPr lang="en-US"/>
          </a:p>
        </p:txBody>
      </p:sp>
      <p:sp>
        <p:nvSpPr>
          <p:cNvPr id="3" name="標題 2">
            <a:extLst>
              <a:ext uri="{FF2B5EF4-FFF2-40B4-BE49-F238E27FC236}">
                <a16:creationId xmlns:a16="http://schemas.microsoft.com/office/drawing/2014/main" id="{8F8A4FC9-4886-4728-8F16-96DA3F161252}"/>
              </a:ext>
            </a:extLst>
          </p:cNvPr>
          <p:cNvSpPr>
            <a:spLocks noGrp="1"/>
          </p:cNvSpPr>
          <p:nvPr>
            <p:ph type="title"/>
          </p:nvPr>
        </p:nvSpPr>
        <p:spPr/>
        <p:txBody>
          <a:bodyPr/>
          <a:lstStyle/>
          <a:p>
            <a:r>
              <a:rPr lang="en-US" altLang="zh-TW" dirty="0"/>
              <a:t>Customization Steps</a:t>
            </a:r>
            <a:endParaRPr lang="zh-TW" altLang="en-US" dirty="0"/>
          </a:p>
        </p:txBody>
      </p:sp>
    </p:spTree>
    <p:extLst>
      <p:ext uri="{BB962C8B-B14F-4D97-AF65-F5344CB8AC3E}">
        <p14:creationId xmlns:p14="http://schemas.microsoft.com/office/powerpoint/2010/main" val="356936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Customization Steps</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a:xfrm>
            <a:off x="838200" y="1398494"/>
            <a:ext cx="10797330" cy="4778469"/>
          </a:xfrm>
        </p:spPr>
        <p:txBody>
          <a:bodyPr>
            <a:normAutofit/>
          </a:bodyPr>
          <a:lstStyle/>
          <a:p>
            <a:r>
              <a:rPr lang="en-US" altLang="zh-TW" dirty="0"/>
              <a:t>Step 1: Decide how much ROM space you want to reserve for Microcode.	</a:t>
            </a:r>
          </a:p>
          <a:p>
            <a:pPr lvl="1"/>
            <a:r>
              <a:rPr lang="en-US" altLang="zh-TW" b="1" dirty="0">
                <a:solidFill>
                  <a:srgbClr val="FF0000"/>
                </a:solidFill>
              </a:rPr>
              <a:t>Board/Intel/$(PROJECT_PKG)/</a:t>
            </a:r>
            <a:r>
              <a:rPr lang="en-US" altLang="zh-TW" b="1" dirty="0" err="1">
                <a:solidFill>
                  <a:srgbClr val="FF0000"/>
                </a:solidFill>
              </a:rPr>
              <a:t>FlashRegionDefines.fdf</a:t>
            </a:r>
            <a:endParaRPr lang="en-US" altLang="zh-TW" dirty="0"/>
          </a:p>
          <a:p>
            <a:r>
              <a:rPr lang="en-US" altLang="zh-TW" dirty="0"/>
              <a:t>Step 2: Decide which microcode you want to put into the firmware.</a:t>
            </a:r>
          </a:p>
          <a:p>
            <a:pPr lvl="1"/>
            <a:r>
              <a:rPr lang="en-US" altLang="zh-TW" sz="2300" b="1" dirty="0"/>
              <a:t>Intel/</a:t>
            </a:r>
            <a:r>
              <a:rPr lang="en-US" altLang="zh-TW" sz="2300" b="1" dirty="0" err="1"/>
              <a:t>EagleStream</a:t>
            </a:r>
            <a:r>
              <a:rPr lang="en-US" altLang="zh-TW" sz="2300" b="1" dirty="0"/>
              <a:t>/$(CHIPSET_PKG)/Binary/Microcode/</a:t>
            </a:r>
            <a:r>
              <a:rPr lang="en-US" altLang="zh-TW" sz="2300" b="1" dirty="0">
                <a:solidFill>
                  <a:srgbClr val="FF0000"/>
                </a:solidFill>
              </a:rPr>
              <a:t>Microcode#.inf</a:t>
            </a:r>
          </a:p>
          <a:p>
            <a:pPr lvl="1"/>
            <a:r>
              <a:rPr lang="en-US" altLang="zh-TW" sz="2300" dirty="0"/>
              <a:t>Put the microcode (*.INC) into the folder</a:t>
            </a:r>
          </a:p>
        </p:txBody>
      </p:sp>
    </p:spTree>
    <p:extLst>
      <p:ext uri="{BB962C8B-B14F-4D97-AF65-F5344CB8AC3E}">
        <p14:creationId xmlns:p14="http://schemas.microsoft.com/office/powerpoint/2010/main" val="2152331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Customization Steps</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p:txBody>
          <a:bodyPr>
            <a:normAutofit/>
          </a:bodyPr>
          <a:lstStyle/>
          <a:p>
            <a:r>
              <a:rPr lang="en-US" altLang="zh-TW" dirty="0"/>
              <a:t>If you want to put the Microcode into another place.</a:t>
            </a:r>
          </a:p>
          <a:p>
            <a:r>
              <a:rPr lang="en-US" altLang="zh-TW" dirty="0"/>
              <a:t>Declare using your Microcode module instead of original one.</a:t>
            </a:r>
          </a:p>
          <a:p>
            <a:r>
              <a:rPr lang="en-US" altLang="zh-TW" b="1" dirty="0">
                <a:solidFill>
                  <a:srgbClr val="FF0000"/>
                </a:solidFill>
              </a:rPr>
              <a:t>Board/Intel/$(PROJECT_PKG)/</a:t>
            </a:r>
            <a:r>
              <a:rPr lang="en-US" altLang="zh-TW" b="1" dirty="0" err="1">
                <a:solidFill>
                  <a:srgbClr val="FF0000"/>
                </a:solidFill>
              </a:rPr>
              <a:t>Project.dsc</a:t>
            </a:r>
            <a:endParaRPr lang="en-US" altLang="zh-TW" b="1" dirty="0">
              <a:solidFill>
                <a:srgbClr val="FF0000"/>
              </a:solidFill>
            </a:endParaRPr>
          </a:p>
          <a:p>
            <a:pPr marL="400050" lvl="1" indent="0">
              <a:buNone/>
            </a:pPr>
            <a:endParaRPr lang="en-US" altLang="zh-TW" sz="1600" b="1" dirty="0"/>
          </a:p>
          <a:p>
            <a:pPr marL="400050" lvl="1" indent="0">
              <a:buNone/>
            </a:pPr>
            <a:r>
              <a:rPr lang="en-US" altLang="zh-TW" sz="1600" b="1" dirty="0">
                <a:solidFill>
                  <a:srgbClr val="FF0000"/>
                </a:solidFill>
              </a:rPr>
              <a:t>[Components.$(DXE_ARCH)]</a:t>
            </a:r>
          </a:p>
          <a:p>
            <a:pPr marL="400050" lvl="1" indent="0">
              <a:buNone/>
            </a:pPr>
            <a:r>
              <a:rPr lang="en-US" altLang="zh-TW" sz="1600" b="1" dirty="0">
                <a:solidFill>
                  <a:srgbClr val="FF0000"/>
                </a:solidFill>
              </a:rPr>
              <a:t>…</a:t>
            </a:r>
          </a:p>
          <a:p>
            <a:pPr marL="457200" lvl="1" indent="0">
              <a:buNone/>
            </a:pPr>
            <a:r>
              <a:rPr lang="en-US" altLang="zh-TW" sz="1600" b="1" dirty="0">
                <a:solidFill>
                  <a:srgbClr val="FF0000"/>
                </a:solidFill>
              </a:rPr>
              <a:t>!disable </a:t>
            </a:r>
            <a:r>
              <a:rPr lang="en-US" altLang="zh-TW" sz="1600" b="1" dirty="0"/>
              <a:t>$(CHIPSET_PKG)/Binary/Microcode</a:t>
            </a:r>
            <a:r>
              <a:rPr lang="en-US" altLang="zh-TW" sz="1600" b="1"/>
              <a:t>/</a:t>
            </a:r>
            <a:r>
              <a:rPr lang="en-US" altLang="zh-TW" sz="1600" b="1">
                <a:solidFill>
                  <a:srgbClr val="FF0000"/>
                </a:solidFill>
              </a:rPr>
              <a:t>Microcode#.</a:t>
            </a:r>
            <a:r>
              <a:rPr lang="en-US" altLang="zh-TW" sz="1600" b="1" dirty="0">
                <a:solidFill>
                  <a:srgbClr val="FF0000"/>
                </a:solidFill>
              </a:rPr>
              <a:t>inf</a:t>
            </a:r>
          </a:p>
          <a:p>
            <a:pPr marL="400050" lvl="1" indent="0">
              <a:buNone/>
            </a:pPr>
            <a:endParaRPr lang="en-US" altLang="zh-TW" sz="1600" b="1" dirty="0">
              <a:solidFill>
                <a:srgbClr val="FF0000"/>
              </a:solidFill>
            </a:endParaRPr>
          </a:p>
          <a:p>
            <a:pPr marL="400050" lvl="1" indent="0">
              <a:buNone/>
            </a:pPr>
            <a:r>
              <a:rPr lang="en-US" altLang="zh-TW" sz="1600" b="1" dirty="0">
                <a:solidFill>
                  <a:srgbClr val="FF0000"/>
                </a:solidFill>
              </a:rPr>
              <a:t> $(PROJECT_PKG)/Binary/Microcode/MicrocodeUpdates.inf</a:t>
            </a:r>
          </a:p>
          <a:p>
            <a:pPr marL="400050" lvl="1" indent="0">
              <a:buNone/>
            </a:pPr>
            <a:r>
              <a:rPr lang="en-US" altLang="zh-TW" sz="1600" b="1" dirty="0">
                <a:solidFill>
                  <a:srgbClr val="FF0000"/>
                </a:solidFill>
              </a:rPr>
              <a:t>…</a:t>
            </a:r>
          </a:p>
        </p:txBody>
      </p:sp>
    </p:spTree>
    <p:extLst>
      <p:ext uri="{BB962C8B-B14F-4D97-AF65-F5344CB8AC3E}">
        <p14:creationId xmlns:p14="http://schemas.microsoft.com/office/powerpoint/2010/main" val="164342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17</a:t>
            </a:fld>
            <a:endParaRPr lang="en-US" dirty="0"/>
          </a:p>
        </p:txBody>
      </p:sp>
    </p:spTree>
    <p:extLst>
      <p:ext uri="{BB962C8B-B14F-4D97-AF65-F5344CB8AC3E}">
        <p14:creationId xmlns:p14="http://schemas.microsoft.com/office/powerpoint/2010/main" val="3830344802"/>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7229</TotalTime>
  <Words>1362</Words>
  <Application>Microsoft Office PowerPoint</Application>
  <PresentationFormat>寬螢幕</PresentationFormat>
  <Paragraphs>186</Paragraphs>
  <Slides>17</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17</vt:i4>
      </vt:variant>
    </vt:vector>
  </HeadingPairs>
  <TitlesOfParts>
    <vt:vector size="23" baseType="lpstr">
      <vt:lpstr>Arial</vt:lpstr>
      <vt:lpstr>Calibri</vt:lpstr>
      <vt:lpstr>Segoe UI</vt:lpstr>
      <vt:lpstr>Segoe UI Semibold</vt:lpstr>
      <vt:lpstr>Times New Roman</vt:lpstr>
      <vt:lpstr>2018 Theme</vt:lpstr>
      <vt:lpstr>Microcode</vt:lpstr>
      <vt:lpstr>Copyright 2022 Insyde Software Corp., All Rights Reserved.</vt:lpstr>
      <vt:lpstr>Agenda</vt:lpstr>
      <vt:lpstr>Goals &amp; Target Audience</vt:lpstr>
      <vt:lpstr>Goals &amp; Target Audience</vt:lpstr>
      <vt:lpstr>Boot Flow</vt:lpstr>
      <vt:lpstr>Boot Flow</vt:lpstr>
      <vt:lpstr>Related Files</vt:lpstr>
      <vt:lpstr>Related Files</vt:lpstr>
      <vt:lpstr>Related Files</vt:lpstr>
      <vt:lpstr>Related Files</vt:lpstr>
      <vt:lpstr>Related Files</vt:lpstr>
      <vt:lpstr>Related Files</vt:lpstr>
      <vt:lpstr>Customization Steps</vt:lpstr>
      <vt:lpstr>Customization Steps</vt:lpstr>
      <vt:lpstr>Customization Steps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鎮榮 楊</cp:lastModifiedBy>
  <cp:revision>122</cp:revision>
  <dcterms:created xsi:type="dcterms:W3CDTF">2018-02-02T23:50:52Z</dcterms:created>
  <dcterms:modified xsi:type="dcterms:W3CDTF">2022-07-22T06:14:29Z</dcterms:modified>
</cp:coreProperties>
</file>