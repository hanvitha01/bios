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37"/>
  </p:notesMasterIdLst>
  <p:sldIdLst>
    <p:sldId id="351" r:id="rId2"/>
    <p:sldId id="364" r:id="rId3"/>
    <p:sldId id="365" r:id="rId4"/>
    <p:sldId id="366" r:id="rId5"/>
    <p:sldId id="367" r:id="rId6"/>
    <p:sldId id="372" r:id="rId7"/>
    <p:sldId id="373" r:id="rId8"/>
    <p:sldId id="361" r:id="rId9"/>
    <p:sldId id="371" r:id="rId10"/>
    <p:sldId id="352" r:id="rId11"/>
    <p:sldId id="369" r:id="rId12"/>
    <p:sldId id="442" r:id="rId13"/>
    <p:sldId id="357" r:id="rId14"/>
    <p:sldId id="358" r:id="rId15"/>
    <p:sldId id="375" r:id="rId16"/>
    <p:sldId id="374" r:id="rId17"/>
    <p:sldId id="376" r:id="rId18"/>
    <p:sldId id="449" r:id="rId19"/>
    <p:sldId id="377" r:id="rId20"/>
    <p:sldId id="378" r:id="rId21"/>
    <p:sldId id="450" r:id="rId22"/>
    <p:sldId id="379" r:id="rId23"/>
    <p:sldId id="380" r:id="rId24"/>
    <p:sldId id="405" r:id="rId25"/>
    <p:sldId id="443" r:id="rId26"/>
    <p:sldId id="445" r:id="rId27"/>
    <p:sldId id="444" r:id="rId28"/>
    <p:sldId id="446" r:id="rId29"/>
    <p:sldId id="406" r:id="rId30"/>
    <p:sldId id="408" r:id="rId31"/>
    <p:sldId id="440" r:id="rId32"/>
    <p:sldId id="441" r:id="rId33"/>
    <p:sldId id="370" r:id="rId34"/>
    <p:sldId id="447" r:id="rId35"/>
    <p:sldId id="44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思賢 李" initials="思賢" lastIdx="1" clrIdx="0">
    <p:extLst>
      <p:ext uri="{19B8F6BF-5375-455C-9EA6-DF929625EA0E}">
        <p15:presenceInfo xmlns:p15="http://schemas.microsoft.com/office/powerpoint/2012/main" userId="cf633e71f0c534f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4/15/2021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4/15/2021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Eagle Stream Code Architecture Introduction</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altLang="zh-TW" dirty="0">
                <a:solidFill>
                  <a:schemeClr val="tx1"/>
                </a:solidFill>
              </a:rPr>
              <a:t>April</a:t>
            </a:r>
            <a:r>
              <a:rPr lang="en-US" dirty="0">
                <a:solidFill>
                  <a:schemeClr val="tx1"/>
                </a:solidFill>
              </a:rPr>
              <a:t>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59291078"/>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a:lnSpc>
                <a:spcPct val="100000"/>
              </a:lnSpc>
              <a:buClr>
                <a:srgbClr val="FFFFFF"/>
              </a:buClr>
            </a:pPr>
            <a:r>
              <a:rPr lang="en-US" altLang="zh-TW" dirty="0"/>
              <a:t>Goals &amp; Target Audience</a:t>
            </a:r>
          </a:p>
          <a:p>
            <a:pPr>
              <a:lnSpc>
                <a:spcPct val="100000"/>
              </a:lnSpc>
              <a:buClr>
                <a:srgbClr val="FFFFFF"/>
              </a:buClr>
            </a:pPr>
            <a:r>
              <a:rPr lang="en-US" altLang="zh-TW" dirty="0"/>
              <a:t>Introduce New Codebase Directory Structure (</a:t>
            </a:r>
            <a:r>
              <a:rPr lang="en-US" altLang="zh-TW" dirty="0" err="1"/>
              <a:t>Insyde</a:t>
            </a:r>
            <a:r>
              <a:rPr lang="en-US" altLang="zh-TW" dirty="0"/>
              <a:t> Kernel)</a:t>
            </a:r>
          </a:p>
          <a:p>
            <a:pPr>
              <a:lnSpc>
                <a:spcPct val="100000"/>
              </a:lnSpc>
              <a:buClr>
                <a:srgbClr val="FFFFFF"/>
              </a:buClr>
            </a:pPr>
            <a:r>
              <a:rPr lang="en-US" altLang="zh-TW" dirty="0"/>
              <a:t>Eagle Stream Code Architecture</a:t>
            </a:r>
          </a:p>
          <a:p>
            <a:pPr>
              <a:lnSpc>
                <a:spcPct val="100000"/>
              </a:lnSpc>
              <a:buClr>
                <a:srgbClr val="FFFFFF"/>
              </a:buClr>
            </a:pPr>
            <a:r>
              <a:rPr lang="en-US" altLang="zh-TW" dirty="0"/>
              <a:t>Introduce Multiple Workspaces</a:t>
            </a:r>
          </a:p>
          <a:p>
            <a:pPr>
              <a:lnSpc>
                <a:spcPct val="100000"/>
              </a:lnSpc>
              <a:buClr>
                <a:srgbClr val="FFFFFF"/>
              </a:buClr>
            </a:pPr>
            <a:r>
              <a:rPr lang="en-US" altLang="zh-TW" dirty="0"/>
              <a:t>Override Mechanism</a:t>
            </a:r>
          </a:p>
          <a:p>
            <a:pPr>
              <a:lnSpc>
                <a:spcPct val="100000"/>
              </a:lnSpc>
              <a:buClr>
                <a:srgbClr val="FFFFFF"/>
              </a:buClr>
            </a:pPr>
            <a:r>
              <a:rPr lang="en-US" altLang="zh-TW" dirty="0"/>
              <a:t>FSP</a:t>
            </a:r>
          </a:p>
          <a:p>
            <a:pPr>
              <a:lnSpc>
                <a:spcPct val="100000"/>
              </a:lnSpc>
              <a:buClr>
                <a:srgbClr val="FFFFFF"/>
              </a:buClr>
            </a:pPr>
            <a:r>
              <a:rPr lang="en-US" altLang="zh-TW" dirty="0"/>
              <a:t>Compile</a:t>
            </a:r>
          </a:p>
          <a:p>
            <a:endParaRPr lang="en-US" b="0" dirty="0"/>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397431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 &amp; Target Audience</a:t>
            </a:r>
          </a:p>
        </p:txBody>
      </p:sp>
    </p:spTree>
    <p:extLst>
      <p:ext uri="{BB962C8B-B14F-4D97-AF65-F5344CB8AC3E}">
        <p14:creationId xmlns:p14="http://schemas.microsoft.com/office/powerpoint/2010/main" val="3914860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 &amp; Target Audience</a:t>
            </a:r>
            <a:endParaRPr lang="zh-TW" altLang="en-US"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a:buClr>
                <a:srgbClr val="3F3F3F"/>
              </a:buClr>
            </a:pPr>
            <a:r>
              <a:rPr lang="en-US" altLang="zh-TW" dirty="0"/>
              <a:t>Target Audience:</a:t>
            </a:r>
          </a:p>
          <a:p>
            <a:pPr marL="685800" lvl="2">
              <a:spcBef>
                <a:spcPts val="1000"/>
              </a:spcBef>
              <a:buClr>
                <a:srgbClr val="3F3F3F"/>
              </a:buClr>
            </a:pPr>
            <a:r>
              <a:rPr lang="en-US" altLang="zh-TW" sz="2400" dirty="0"/>
              <a:t>BIOS developers who use Eagle Stream to create their firmware products.</a:t>
            </a:r>
          </a:p>
          <a:p>
            <a:pPr>
              <a:buClr>
                <a:srgbClr val="3F3F3F"/>
              </a:buClr>
            </a:pPr>
            <a:endParaRPr lang="en-US" altLang="zh-TW" dirty="0"/>
          </a:p>
          <a:p>
            <a:pPr>
              <a:buClr>
                <a:srgbClr val="3F3F3F"/>
              </a:buClr>
            </a:pPr>
            <a:r>
              <a:rPr lang="en-US" altLang="zh-TW" dirty="0"/>
              <a:t>Goals:</a:t>
            </a:r>
          </a:p>
          <a:p>
            <a:pPr marL="685800" lvl="2">
              <a:spcBef>
                <a:spcPts val="1000"/>
              </a:spcBef>
              <a:buClr>
                <a:srgbClr val="3F3F3F"/>
              </a:buClr>
            </a:pPr>
            <a:r>
              <a:rPr lang="en-US" altLang="zh-TW" sz="2400" dirty="0"/>
              <a:t>Be familiar with Eagle Stream code structure.</a:t>
            </a:r>
          </a:p>
          <a:p>
            <a:pPr>
              <a:buClr>
                <a:srgbClr val="3F3F3F"/>
              </a:buClr>
            </a:pPr>
            <a:endParaRPr lang="en-US" altLang="zh-TW" dirty="0"/>
          </a:p>
          <a:p>
            <a:pPr>
              <a:buClr>
                <a:srgbClr val="3F3F3F"/>
              </a:buClr>
            </a:pPr>
            <a:r>
              <a:rPr lang="en-US" altLang="zh-TW" dirty="0"/>
              <a:t>Requirements:</a:t>
            </a:r>
          </a:p>
          <a:p>
            <a:pPr marL="685800" lvl="2">
              <a:spcBef>
                <a:spcPts val="1000"/>
              </a:spcBef>
              <a:buClr>
                <a:srgbClr val="3F3F3F"/>
              </a:buClr>
            </a:pPr>
            <a:r>
              <a:rPr lang="en-US" altLang="zh-TW" sz="2400" dirty="0"/>
              <a:t>Eagle Stream source code</a:t>
            </a:r>
          </a:p>
          <a:p>
            <a:pPr marL="685800" lvl="2">
              <a:spcBef>
                <a:spcPts val="1000"/>
              </a:spcBef>
              <a:buClr>
                <a:srgbClr val="3F3F3F"/>
              </a:buClr>
            </a:pPr>
            <a:r>
              <a:rPr lang="en-US" altLang="zh-TW" sz="2400" dirty="0"/>
              <a:t>05.4x.yy.zzzz</a:t>
            </a:r>
          </a:p>
          <a:p>
            <a:endParaRPr lang="zh-TW" altLang="en-US" dirty="0"/>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altLang="zh-TW" dirty="0"/>
              <a:t>Introduce New Codebase Directory Structure (</a:t>
            </a:r>
            <a:r>
              <a:rPr lang="en-US" altLang="zh-TW" dirty="0" err="1"/>
              <a:t>Insyde</a:t>
            </a:r>
            <a:r>
              <a:rPr lang="en-US" altLang="zh-TW" dirty="0"/>
              <a:t> Kernel)</a:t>
            </a:r>
            <a:endParaRPr lang="en-US" dirty="0"/>
          </a:p>
        </p:txBody>
      </p:sp>
    </p:spTree>
    <p:extLst>
      <p:ext uri="{BB962C8B-B14F-4D97-AF65-F5344CB8AC3E}">
        <p14:creationId xmlns:p14="http://schemas.microsoft.com/office/powerpoint/2010/main" val="3710431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92E584-BE47-43D1-832C-FDC004D74170}"/>
              </a:ext>
            </a:extLst>
          </p:cNvPr>
          <p:cNvSpPr>
            <a:spLocks noGrp="1"/>
          </p:cNvSpPr>
          <p:nvPr>
            <p:ph type="title"/>
          </p:nvPr>
        </p:nvSpPr>
        <p:spPr/>
        <p:txBody>
          <a:bodyPr>
            <a:normAutofit fontScale="90000"/>
          </a:bodyPr>
          <a:lstStyle/>
          <a:p>
            <a:r>
              <a:rPr lang="en-US" altLang="zh-TW" dirty="0"/>
              <a:t>Introduce New Codebase Directory Structure (1/3)</a:t>
            </a:r>
            <a:endParaRPr lang="zh-TW" altLang="en-US" dirty="0"/>
          </a:p>
        </p:txBody>
      </p:sp>
      <p:sp>
        <p:nvSpPr>
          <p:cNvPr id="3" name="內容版面配置區 2">
            <a:extLst>
              <a:ext uri="{FF2B5EF4-FFF2-40B4-BE49-F238E27FC236}">
                <a16:creationId xmlns:a16="http://schemas.microsoft.com/office/drawing/2014/main" id="{C9F9B8E0-7855-4953-B324-E8345F6D678C}"/>
              </a:ext>
            </a:extLst>
          </p:cNvPr>
          <p:cNvSpPr>
            <a:spLocks noGrp="1"/>
          </p:cNvSpPr>
          <p:nvPr>
            <p:ph idx="1"/>
          </p:nvPr>
        </p:nvSpPr>
        <p:spPr/>
        <p:txBody>
          <a:bodyPr/>
          <a:lstStyle/>
          <a:p>
            <a:r>
              <a:rPr lang="en-US" altLang="zh-TW" dirty="0"/>
              <a:t>Support GIT source code control</a:t>
            </a:r>
          </a:p>
          <a:p>
            <a:endParaRPr lang="en-US" altLang="zh-TW" dirty="0"/>
          </a:p>
          <a:p>
            <a:r>
              <a:rPr lang="en-US" altLang="zh-TW" dirty="0"/>
              <a:t>GIT does NOT support to get code from 2 GIT repositories into 1 folder</a:t>
            </a:r>
          </a:p>
          <a:p>
            <a:pPr lvl="1"/>
            <a:r>
              <a:rPr lang="en-US" altLang="zh-TW" dirty="0"/>
              <a:t>A directory named .git that contains all of necessary repository files for 1 GIT repository</a:t>
            </a:r>
          </a:p>
          <a:p>
            <a:endParaRPr lang="en-US" altLang="zh-TW" dirty="0"/>
          </a:p>
          <a:p>
            <a:endParaRPr lang="en-US" altLang="zh-TW" dirty="0"/>
          </a:p>
          <a:p>
            <a:endParaRPr lang="en-US" altLang="zh-TW" dirty="0"/>
          </a:p>
          <a:p>
            <a:endParaRPr lang="zh-TW" altLang="en-US" dirty="0"/>
          </a:p>
        </p:txBody>
      </p:sp>
    </p:spTree>
    <p:extLst>
      <p:ext uri="{BB962C8B-B14F-4D97-AF65-F5344CB8AC3E}">
        <p14:creationId xmlns:p14="http://schemas.microsoft.com/office/powerpoint/2010/main" val="3301591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Introduce New Codebase Directory Structure (2/3)</a:t>
            </a:r>
            <a:endParaRPr lang="en-US" sz="2000" dirty="0"/>
          </a:p>
        </p:txBody>
      </p:sp>
      <p:sp>
        <p:nvSpPr>
          <p:cNvPr id="3" name="Content Placeholder 2"/>
          <p:cNvSpPr>
            <a:spLocks noGrp="1"/>
          </p:cNvSpPr>
          <p:nvPr>
            <p:ph idx="1"/>
          </p:nvPr>
        </p:nvSpPr>
        <p:spPr/>
        <p:txBody>
          <a:bodyPr>
            <a:normAutofit fontScale="92500" lnSpcReduction="20000"/>
          </a:bodyPr>
          <a:lstStyle/>
          <a:p>
            <a:r>
              <a:rPr lang="en-US" dirty="0"/>
              <a:t>New codebase directory structure prepare for coming GIT support</a:t>
            </a:r>
          </a:p>
          <a:p>
            <a:endParaRPr lang="en-US" dirty="0"/>
          </a:p>
          <a:p>
            <a:r>
              <a:rPr lang="en-US" dirty="0"/>
              <a:t>What does new codebase directory structure look like ?</a:t>
            </a:r>
          </a:p>
          <a:p>
            <a:pPr lvl="1"/>
            <a:r>
              <a:rPr lang="en-US" dirty="0" err="1"/>
              <a:t>BaseTools</a:t>
            </a:r>
            <a:r>
              <a:rPr lang="en-US" dirty="0"/>
              <a:t> : Build tool directory</a:t>
            </a:r>
          </a:p>
          <a:p>
            <a:pPr lvl="1"/>
            <a:r>
              <a:rPr lang="en-US" dirty="0"/>
              <a:t>EDK2 : All EDK2 packages</a:t>
            </a:r>
          </a:p>
          <a:p>
            <a:pPr lvl="1"/>
            <a:r>
              <a:rPr lang="en-US" dirty="0" err="1"/>
              <a:t>Insyde</a:t>
            </a:r>
            <a:r>
              <a:rPr lang="en-US" dirty="0"/>
              <a:t> : Most </a:t>
            </a:r>
            <a:r>
              <a:rPr lang="en-US" dirty="0" err="1"/>
              <a:t>InsydeXXX</a:t>
            </a:r>
            <a:r>
              <a:rPr lang="en-US" dirty="0"/>
              <a:t> packages (Kernel code)</a:t>
            </a:r>
          </a:p>
          <a:p>
            <a:pPr lvl="1"/>
            <a:r>
              <a:rPr lang="en-US" dirty="0" err="1"/>
              <a:t>Sio</a:t>
            </a:r>
            <a:r>
              <a:rPr lang="en-US" dirty="0"/>
              <a:t> : SIO packages</a:t>
            </a:r>
          </a:p>
          <a:p>
            <a:pPr lvl="1"/>
            <a:r>
              <a:rPr lang="en-US" dirty="0"/>
              <a:t>Intel(</a:t>
            </a:r>
            <a:r>
              <a:rPr lang="en-US" dirty="0" err="1"/>
              <a:t>Amd</a:t>
            </a:r>
            <a:r>
              <a:rPr lang="en-US" dirty="0"/>
              <a:t>)\chipset-name : Silicon related packages</a:t>
            </a:r>
          </a:p>
          <a:p>
            <a:pPr lvl="1"/>
            <a:r>
              <a:rPr lang="en-US" dirty="0" err="1"/>
              <a:t>Oem</a:t>
            </a:r>
            <a:r>
              <a:rPr lang="en-US" dirty="0"/>
              <a:t> : Feature and OEM feature packages</a:t>
            </a:r>
          </a:p>
          <a:p>
            <a:pPr lvl="2"/>
            <a:r>
              <a:rPr lang="en-US" dirty="0" err="1"/>
              <a:t>Oem</a:t>
            </a:r>
            <a:r>
              <a:rPr lang="en-US" dirty="0"/>
              <a:t>\feature-name : Feature packages</a:t>
            </a:r>
          </a:p>
          <a:p>
            <a:pPr lvl="2"/>
            <a:r>
              <a:rPr lang="en-US" dirty="0" err="1"/>
              <a:t>Oem</a:t>
            </a:r>
            <a:r>
              <a:rPr lang="en-US" dirty="0"/>
              <a:t>\</a:t>
            </a:r>
            <a:r>
              <a:rPr lang="en-US" dirty="0" err="1"/>
              <a:t>oem</a:t>
            </a:r>
            <a:r>
              <a:rPr lang="en-US" dirty="0"/>
              <a:t>-name : OEM packages</a:t>
            </a:r>
          </a:p>
          <a:p>
            <a:pPr lvl="1"/>
            <a:r>
              <a:rPr lang="en-US" dirty="0" err="1"/>
              <a:t>Crb</a:t>
            </a:r>
            <a:r>
              <a:rPr lang="en-US" dirty="0"/>
              <a:t> : Project board package</a:t>
            </a:r>
          </a:p>
          <a:p>
            <a:pPr lvl="2"/>
            <a:r>
              <a:rPr lang="en-US" dirty="0" err="1"/>
              <a:t>Crb</a:t>
            </a:r>
            <a:r>
              <a:rPr lang="en-US" dirty="0"/>
              <a:t>\Intel\chipset-</a:t>
            </a:r>
            <a:r>
              <a:rPr lang="en-US" dirty="0" err="1"/>
              <a:t>crb</a:t>
            </a:r>
            <a:r>
              <a:rPr lang="en-US" dirty="0"/>
              <a:t>-board</a:t>
            </a:r>
          </a:p>
          <a:p>
            <a:pPr lvl="2"/>
            <a:r>
              <a:rPr lang="en-US" dirty="0" err="1"/>
              <a:t>Crb</a:t>
            </a:r>
            <a:r>
              <a:rPr lang="en-US" dirty="0"/>
              <a:t>\</a:t>
            </a:r>
            <a:r>
              <a:rPr lang="en-US" dirty="0" err="1"/>
              <a:t>Oem</a:t>
            </a:r>
            <a:r>
              <a:rPr lang="en-US" dirty="0"/>
              <a:t>\feature-</a:t>
            </a:r>
            <a:r>
              <a:rPr lang="en-US" dirty="0" err="1"/>
              <a:t>crb</a:t>
            </a:r>
            <a:r>
              <a:rPr lang="en-US" dirty="0"/>
              <a:t>-board</a:t>
            </a:r>
          </a:p>
          <a:p>
            <a:pPr lvl="2"/>
            <a:r>
              <a:rPr lang="en-US" dirty="0" err="1"/>
              <a:t>Crb</a:t>
            </a:r>
            <a:r>
              <a:rPr lang="en-US" dirty="0"/>
              <a:t>\</a:t>
            </a:r>
            <a:r>
              <a:rPr lang="en-US" dirty="0" err="1"/>
              <a:t>Oem</a:t>
            </a:r>
            <a:r>
              <a:rPr lang="en-US" dirty="0"/>
              <a:t>\</a:t>
            </a:r>
            <a:r>
              <a:rPr lang="en-US" dirty="0" err="1"/>
              <a:t>oem</a:t>
            </a:r>
            <a:r>
              <a:rPr lang="en-US" dirty="0"/>
              <a:t>-</a:t>
            </a:r>
            <a:r>
              <a:rPr lang="en-US" dirty="0" err="1"/>
              <a:t>crb</a:t>
            </a:r>
            <a:r>
              <a:rPr lang="en-US" dirty="0"/>
              <a:t>-board</a:t>
            </a:r>
          </a:p>
          <a:p>
            <a:endParaRPr lang="en-US" dirty="0"/>
          </a:p>
        </p:txBody>
      </p:sp>
      <p:pic>
        <p:nvPicPr>
          <p:cNvPr id="12" name="圖片 11">
            <a:extLst>
              <a:ext uri="{FF2B5EF4-FFF2-40B4-BE49-F238E27FC236}">
                <a16:creationId xmlns:a16="http://schemas.microsoft.com/office/drawing/2014/main" id="{27CA808C-6303-4914-A9C8-0A1B0640D220}"/>
              </a:ext>
            </a:extLst>
          </p:cNvPr>
          <p:cNvPicPr>
            <a:picLocks noChangeAspect="1"/>
          </p:cNvPicPr>
          <p:nvPr/>
        </p:nvPicPr>
        <p:blipFill>
          <a:blip r:embed="rId2"/>
          <a:stretch>
            <a:fillRect/>
          </a:stretch>
        </p:blipFill>
        <p:spPr>
          <a:xfrm>
            <a:off x="8956426" y="2642424"/>
            <a:ext cx="2899514" cy="2101831"/>
          </a:xfrm>
          <a:prstGeom prst="rect">
            <a:avLst/>
          </a:prstGeom>
        </p:spPr>
      </p:pic>
      <p:sp>
        <p:nvSpPr>
          <p:cNvPr id="14" name="文字方塊 13">
            <a:extLst>
              <a:ext uri="{FF2B5EF4-FFF2-40B4-BE49-F238E27FC236}">
                <a16:creationId xmlns:a16="http://schemas.microsoft.com/office/drawing/2014/main" id="{962DF986-CDBB-4D5F-9108-12940491F9F1}"/>
              </a:ext>
            </a:extLst>
          </p:cNvPr>
          <p:cNvSpPr txBox="1"/>
          <p:nvPr/>
        </p:nvSpPr>
        <p:spPr>
          <a:xfrm>
            <a:off x="8451908" y="4744255"/>
            <a:ext cx="3740092" cy="369332"/>
          </a:xfrm>
          <a:prstGeom prst="rect">
            <a:avLst/>
          </a:prstGeom>
          <a:noFill/>
        </p:spPr>
        <p:txBody>
          <a:bodyPr wrap="square">
            <a:spAutoFit/>
          </a:bodyPr>
          <a:lstStyle/>
          <a:p>
            <a:r>
              <a:rPr lang="zh-TW" altLang="en-US" dirty="0"/>
              <a:t>New Codebase Directory Structure</a:t>
            </a:r>
          </a:p>
        </p:txBody>
      </p:sp>
    </p:spTree>
    <p:extLst>
      <p:ext uri="{BB962C8B-B14F-4D97-AF65-F5344CB8AC3E}">
        <p14:creationId xmlns:p14="http://schemas.microsoft.com/office/powerpoint/2010/main" val="104483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015D49-D93C-40BD-A63A-472A77AF185C}"/>
              </a:ext>
            </a:extLst>
          </p:cNvPr>
          <p:cNvSpPr>
            <a:spLocks noGrp="1"/>
          </p:cNvSpPr>
          <p:nvPr>
            <p:ph type="title"/>
          </p:nvPr>
        </p:nvSpPr>
        <p:spPr/>
        <p:txBody>
          <a:bodyPr>
            <a:normAutofit fontScale="90000"/>
          </a:bodyPr>
          <a:lstStyle/>
          <a:p>
            <a:r>
              <a:rPr lang="en-US" altLang="zh-TW" dirty="0"/>
              <a:t>Introduce New Codebase Directory Structure (3/3)</a:t>
            </a:r>
            <a:endParaRPr lang="zh-TW" altLang="en-US" dirty="0"/>
          </a:p>
        </p:txBody>
      </p:sp>
      <p:sp>
        <p:nvSpPr>
          <p:cNvPr id="3" name="內容版面配置區 2">
            <a:extLst>
              <a:ext uri="{FF2B5EF4-FFF2-40B4-BE49-F238E27FC236}">
                <a16:creationId xmlns:a16="http://schemas.microsoft.com/office/drawing/2014/main" id="{CD2880A3-C816-4B63-9FF9-D88506B9B7C0}"/>
              </a:ext>
            </a:extLst>
          </p:cNvPr>
          <p:cNvSpPr>
            <a:spLocks noGrp="1"/>
          </p:cNvSpPr>
          <p:nvPr>
            <p:ph idx="1"/>
          </p:nvPr>
        </p:nvSpPr>
        <p:spPr/>
        <p:txBody>
          <a:bodyPr>
            <a:normAutofit/>
          </a:bodyPr>
          <a:lstStyle/>
          <a:p>
            <a:r>
              <a:rPr lang="en-US" altLang="zh-TW" sz="2400" dirty="0"/>
              <a:t>Optional packages are located under corresponding Feature directory</a:t>
            </a:r>
          </a:p>
          <a:p>
            <a:pPr lvl="1"/>
            <a:r>
              <a:rPr lang="en-US" altLang="zh-TW" sz="2000" dirty="0"/>
              <a:t>EDK2\Feature</a:t>
            </a:r>
          </a:p>
          <a:p>
            <a:pPr lvl="1"/>
            <a:r>
              <a:rPr lang="en-US" altLang="zh-TW" sz="2000" dirty="0" err="1"/>
              <a:t>Insyde</a:t>
            </a:r>
            <a:r>
              <a:rPr lang="en-US" altLang="zh-TW" sz="2000" dirty="0"/>
              <a:t>\Feature</a:t>
            </a:r>
          </a:p>
          <a:p>
            <a:pPr lvl="1"/>
            <a:r>
              <a:rPr lang="en-US" altLang="zh-TW" sz="2000" dirty="0"/>
              <a:t>Intel\chipset-name\Feature</a:t>
            </a:r>
          </a:p>
          <a:p>
            <a:pPr lvl="1"/>
            <a:r>
              <a:rPr lang="en-US" altLang="zh-TW" sz="2000" dirty="0" err="1"/>
              <a:t>Oem</a:t>
            </a:r>
            <a:r>
              <a:rPr lang="en-US" altLang="zh-TW" sz="2000" dirty="0"/>
              <a:t>\feature-name\Feature</a:t>
            </a:r>
          </a:p>
          <a:p>
            <a:pPr lvl="1"/>
            <a:r>
              <a:rPr lang="en-US" altLang="zh-TW" sz="2000" dirty="0" err="1"/>
              <a:t>Oem</a:t>
            </a:r>
            <a:r>
              <a:rPr lang="en-US" altLang="zh-TW" sz="2000" dirty="0"/>
              <a:t>\</a:t>
            </a:r>
            <a:r>
              <a:rPr lang="en-US" altLang="zh-TW" sz="2000" dirty="0" err="1"/>
              <a:t>oem</a:t>
            </a:r>
            <a:r>
              <a:rPr lang="en-US" altLang="zh-TW" sz="2000" dirty="0"/>
              <a:t>-name\Feature</a:t>
            </a:r>
          </a:p>
          <a:p>
            <a:endParaRPr lang="en-US" altLang="zh-TW" sz="2400" dirty="0"/>
          </a:p>
          <a:p>
            <a:r>
              <a:rPr lang="en-US" altLang="zh-TW" sz="2400" dirty="0"/>
              <a:t>Example : Console redirection package</a:t>
            </a:r>
          </a:p>
          <a:p>
            <a:pPr lvl="1"/>
            <a:r>
              <a:rPr lang="en-US" altLang="zh-TW" sz="2000" dirty="0" err="1"/>
              <a:t>Insyde</a:t>
            </a:r>
            <a:r>
              <a:rPr lang="en-US" altLang="zh-TW" sz="2000" dirty="0"/>
              <a:t>\Feature\</a:t>
            </a:r>
            <a:r>
              <a:rPr lang="en-US" altLang="zh-TW" sz="2000" dirty="0" err="1"/>
              <a:t>InsydeCrPkg</a:t>
            </a:r>
            <a:r>
              <a:rPr lang="en-US" altLang="zh-TW" sz="2000" dirty="0"/>
              <a:t> from </a:t>
            </a:r>
            <a:r>
              <a:rPr lang="en-US" altLang="zh-TW" sz="2000" dirty="0" err="1"/>
              <a:t>InsydeCrPkg</a:t>
            </a:r>
            <a:r>
              <a:rPr lang="en-US" altLang="zh-TW" sz="2000" dirty="0"/>
              <a:t> GIT repository</a:t>
            </a:r>
          </a:p>
        </p:txBody>
      </p:sp>
    </p:spTree>
    <p:extLst>
      <p:ext uri="{BB962C8B-B14F-4D97-AF65-F5344CB8AC3E}">
        <p14:creationId xmlns:p14="http://schemas.microsoft.com/office/powerpoint/2010/main" val="1412474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10</a:t>
            </a:fld>
            <a:endParaRPr lang="en-US" dirty="0"/>
          </a:p>
        </p:txBody>
      </p:sp>
      <p:sp>
        <p:nvSpPr>
          <p:cNvPr id="2" name="Title 1"/>
          <p:cNvSpPr>
            <a:spLocks noGrp="1"/>
          </p:cNvSpPr>
          <p:nvPr>
            <p:ph type="title"/>
          </p:nvPr>
        </p:nvSpPr>
        <p:spPr/>
        <p:txBody>
          <a:bodyPr/>
          <a:lstStyle/>
          <a:p>
            <a:r>
              <a:rPr lang="en-US" dirty="0"/>
              <a:t>Eagle Stream Code Structure</a:t>
            </a:r>
          </a:p>
        </p:txBody>
      </p:sp>
    </p:spTree>
    <p:extLst>
      <p:ext uri="{BB962C8B-B14F-4D97-AF65-F5344CB8AC3E}">
        <p14:creationId xmlns:p14="http://schemas.microsoft.com/office/powerpoint/2010/main" val="4267046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30DD61-5CD0-45E8-90DA-B95054E81D28}"/>
              </a:ext>
            </a:extLst>
          </p:cNvPr>
          <p:cNvSpPr>
            <a:spLocks noGrp="1"/>
          </p:cNvSpPr>
          <p:nvPr>
            <p:ph type="title"/>
          </p:nvPr>
        </p:nvSpPr>
        <p:spPr/>
        <p:txBody>
          <a:bodyPr>
            <a:normAutofit/>
          </a:bodyPr>
          <a:lstStyle/>
          <a:p>
            <a:pPr>
              <a:lnSpc>
                <a:spcPct val="100000"/>
              </a:lnSpc>
            </a:pPr>
            <a:r>
              <a:rPr lang="en-US" altLang="zh-TW" sz="4000" b="1" strike="noStrike" spc="-1" dirty="0">
                <a:solidFill>
                  <a:srgbClr val="3F3F3F"/>
                </a:solidFill>
                <a:ea typeface="DejaVu Sans"/>
              </a:rPr>
              <a:t>InsydeH2O 5.x Code Structure</a:t>
            </a:r>
            <a:br>
              <a:rPr lang="en-US" altLang="zh-TW" sz="4000" b="0" strike="noStrike" spc="-1" dirty="0">
                <a:latin typeface="Arial"/>
              </a:rPr>
            </a:br>
            <a:r>
              <a:rPr lang="en-US" altLang="zh-TW" sz="2000" b="1" strike="noStrike" spc="-1" dirty="0">
                <a:solidFill>
                  <a:srgbClr val="3F3F3F"/>
                </a:solidFill>
                <a:ea typeface="DejaVu Sans"/>
              </a:rPr>
              <a:t>Terminology</a:t>
            </a:r>
            <a:endParaRPr lang="zh-TW" altLang="en-US" sz="2000" dirty="0"/>
          </a:p>
        </p:txBody>
      </p:sp>
      <p:sp>
        <p:nvSpPr>
          <p:cNvPr id="3" name="內容版面配置區 2">
            <a:extLst>
              <a:ext uri="{FF2B5EF4-FFF2-40B4-BE49-F238E27FC236}">
                <a16:creationId xmlns:a16="http://schemas.microsoft.com/office/drawing/2014/main" id="{A31C9251-465C-44B2-B540-007E19C91569}"/>
              </a:ext>
            </a:extLst>
          </p:cNvPr>
          <p:cNvSpPr>
            <a:spLocks noGrp="1"/>
          </p:cNvSpPr>
          <p:nvPr>
            <p:ph idx="1"/>
          </p:nvPr>
        </p:nvSpPr>
        <p:spPr/>
        <p:txBody>
          <a:bodyPr>
            <a:normAutofit/>
          </a:bodyPr>
          <a:lstStyle/>
          <a:p>
            <a:pPr marL="228600" indent="-223200">
              <a:lnSpc>
                <a:spcPct val="100000"/>
              </a:lnSpc>
              <a:buClr>
                <a:srgbClr val="3F3F3F"/>
              </a:buClr>
              <a:buFont typeface="Arial"/>
              <a:buChar char="•"/>
            </a:pPr>
            <a:r>
              <a:rPr lang="en-US" altLang="zh-TW" b="1" strike="noStrike" spc="-1" dirty="0">
                <a:solidFill>
                  <a:srgbClr val="3F3F3F"/>
                </a:solidFill>
                <a:ea typeface="DejaVu Sans"/>
              </a:rPr>
              <a:t>Reference Code Package</a:t>
            </a:r>
            <a:r>
              <a:rPr lang="en-US" altLang="zh-TW" b="0" strike="noStrike" spc="-1" dirty="0">
                <a:solidFill>
                  <a:srgbClr val="3F3F3F"/>
                </a:solidFill>
                <a:ea typeface="DejaVu Sans"/>
              </a:rPr>
              <a:t> – Vendor-maintained chipset support code.</a:t>
            </a:r>
            <a:endParaRPr lang="en-US" altLang="zh-TW" b="0" strike="noStrike" spc="-1" dirty="0"/>
          </a:p>
          <a:p>
            <a:pPr marL="228600" indent="-223200">
              <a:lnSpc>
                <a:spcPct val="100000"/>
              </a:lnSpc>
              <a:buClr>
                <a:srgbClr val="3F3F3F"/>
              </a:buClr>
              <a:buFont typeface="Arial"/>
              <a:buChar char="•"/>
            </a:pPr>
            <a:r>
              <a:rPr lang="en-US" altLang="zh-TW" b="1" strike="noStrike" spc="-1" dirty="0" err="1">
                <a:solidFill>
                  <a:srgbClr val="3F3F3F"/>
                </a:solidFill>
                <a:ea typeface="DejaVu Sans"/>
              </a:rPr>
              <a:t>Insyde</a:t>
            </a:r>
            <a:r>
              <a:rPr lang="en-US" altLang="zh-TW" b="1" strike="noStrike" spc="-1" dirty="0">
                <a:solidFill>
                  <a:srgbClr val="3F3F3F"/>
                </a:solidFill>
                <a:ea typeface="DejaVu Sans"/>
              </a:rPr>
              <a:t> Chipset Package </a:t>
            </a:r>
            <a:r>
              <a:rPr lang="en-US" altLang="zh-TW" b="0" strike="noStrike" spc="-1" dirty="0">
                <a:solidFill>
                  <a:srgbClr val="3F3F3F"/>
                </a:solidFill>
                <a:ea typeface="DejaVu Sans"/>
              </a:rPr>
              <a:t>– </a:t>
            </a:r>
            <a:r>
              <a:rPr lang="en-US" altLang="zh-TW" b="0" strike="noStrike" spc="-1" dirty="0" err="1">
                <a:solidFill>
                  <a:srgbClr val="3F3F3F"/>
                </a:solidFill>
                <a:ea typeface="DejaVu Sans"/>
              </a:rPr>
              <a:t>Insyde</a:t>
            </a:r>
            <a:r>
              <a:rPr lang="en-US" altLang="zh-TW" b="0" strike="noStrike" spc="-1" dirty="0">
                <a:solidFill>
                  <a:srgbClr val="3F3F3F"/>
                </a:solidFill>
                <a:ea typeface="DejaVu Sans"/>
              </a:rPr>
              <a:t>-maintained chipset support code.</a:t>
            </a:r>
            <a:endParaRPr lang="en-US" altLang="zh-TW" b="0" strike="noStrike" spc="-1" dirty="0"/>
          </a:p>
          <a:p>
            <a:pPr marL="228600" indent="-223200">
              <a:lnSpc>
                <a:spcPct val="100000"/>
              </a:lnSpc>
              <a:buClr>
                <a:srgbClr val="3F3F3F"/>
              </a:buClr>
              <a:buFont typeface="Arial"/>
              <a:buChar char="•"/>
            </a:pPr>
            <a:r>
              <a:rPr lang="en-US" altLang="zh-TW" b="1" strike="noStrike" spc="-1" dirty="0">
                <a:solidFill>
                  <a:srgbClr val="3F3F3F"/>
                </a:solidFill>
                <a:ea typeface="DejaVu Sans"/>
              </a:rPr>
              <a:t>Project Package </a:t>
            </a:r>
            <a:r>
              <a:rPr lang="en-US" altLang="zh-TW" b="0" strike="noStrike" spc="-1" dirty="0">
                <a:solidFill>
                  <a:srgbClr val="3F3F3F"/>
                </a:solidFill>
                <a:ea typeface="DejaVu Sans"/>
              </a:rPr>
              <a:t>– </a:t>
            </a:r>
            <a:r>
              <a:rPr lang="en-US" altLang="zh-TW" b="0" strike="noStrike" spc="-1" dirty="0" err="1">
                <a:solidFill>
                  <a:srgbClr val="3F3F3F"/>
                </a:solidFill>
                <a:ea typeface="DejaVu Sans"/>
              </a:rPr>
              <a:t>Insyde</a:t>
            </a:r>
            <a:r>
              <a:rPr lang="en-US" altLang="zh-TW" b="0" strike="noStrike" spc="-1" dirty="0">
                <a:solidFill>
                  <a:srgbClr val="3F3F3F"/>
                </a:solidFill>
                <a:ea typeface="DejaVu Sans"/>
              </a:rPr>
              <a:t> or OEM-maintained board support code.</a:t>
            </a:r>
            <a:endParaRPr lang="en-US" altLang="zh-TW" b="0" strike="noStrike" spc="-1" dirty="0"/>
          </a:p>
          <a:p>
            <a:pPr marL="228600" indent="-223200">
              <a:lnSpc>
                <a:spcPct val="100000"/>
              </a:lnSpc>
              <a:buClr>
                <a:srgbClr val="3F3F3F"/>
              </a:buClr>
              <a:buFont typeface="Arial"/>
              <a:buChar char="•"/>
            </a:pPr>
            <a:r>
              <a:rPr lang="en-US" altLang="zh-TW" b="1" strike="noStrike" spc="-1" dirty="0">
                <a:solidFill>
                  <a:srgbClr val="3F3F3F"/>
                </a:solidFill>
                <a:ea typeface="DejaVu Sans"/>
              </a:rPr>
              <a:t>Kernel Package </a:t>
            </a:r>
            <a:r>
              <a:rPr lang="en-US" altLang="zh-TW" b="0" strike="noStrike" spc="-1" dirty="0">
                <a:solidFill>
                  <a:srgbClr val="3F3F3F"/>
                </a:solidFill>
                <a:ea typeface="DejaVu Sans"/>
              </a:rPr>
              <a:t>– </a:t>
            </a:r>
            <a:r>
              <a:rPr lang="en-US" altLang="zh-TW" b="0" strike="noStrike" spc="-1" dirty="0" err="1">
                <a:solidFill>
                  <a:srgbClr val="3F3F3F"/>
                </a:solidFill>
                <a:ea typeface="DejaVu Sans"/>
              </a:rPr>
              <a:t>Insyde</a:t>
            </a:r>
            <a:r>
              <a:rPr lang="en-US" altLang="zh-TW" b="0" strike="noStrike" spc="-1" dirty="0">
                <a:solidFill>
                  <a:srgbClr val="3F3F3F"/>
                </a:solidFill>
                <a:ea typeface="DejaVu Sans"/>
              </a:rPr>
              <a:t>-maintained industry-standard or </a:t>
            </a:r>
            <a:r>
              <a:rPr lang="en-US" altLang="zh-TW" b="0" strike="noStrike" spc="-1" dirty="0" err="1">
                <a:solidFill>
                  <a:srgbClr val="3F3F3F"/>
                </a:solidFill>
                <a:ea typeface="DejaVu Sans"/>
              </a:rPr>
              <a:t>Insyde</a:t>
            </a:r>
            <a:r>
              <a:rPr lang="en-US" altLang="zh-TW" b="0" strike="noStrike" spc="-1" dirty="0">
                <a:solidFill>
                  <a:srgbClr val="3F3F3F"/>
                </a:solidFill>
                <a:ea typeface="DejaVu Sans"/>
              </a:rPr>
              <a:t>-standard support code.</a:t>
            </a:r>
            <a:endParaRPr lang="en-US" altLang="zh-TW" b="0" strike="noStrike" spc="-1" dirty="0"/>
          </a:p>
          <a:p>
            <a:endParaRPr lang="zh-TW" altLang="en-US" dirty="0"/>
          </a:p>
        </p:txBody>
      </p:sp>
    </p:spTree>
    <p:extLst>
      <p:ext uri="{BB962C8B-B14F-4D97-AF65-F5344CB8AC3E}">
        <p14:creationId xmlns:p14="http://schemas.microsoft.com/office/powerpoint/2010/main" val="788424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a:solidFill>
                  <a:srgbClr val="3F3F3F"/>
                </a:solidFill>
                <a:latin typeface="Segoe UI"/>
                <a:ea typeface="DejaVu Sans"/>
              </a:rPr>
              <a:t>Folder Introduction</a:t>
            </a:r>
            <a:endParaRPr lang="en-US" dirty="0"/>
          </a:p>
        </p:txBody>
      </p:sp>
      <p:sp>
        <p:nvSpPr>
          <p:cNvPr id="3" name="Content Placeholder 2"/>
          <p:cNvSpPr>
            <a:spLocks noGrp="1"/>
          </p:cNvSpPr>
          <p:nvPr>
            <p:ph idx="1"/>
          </p:nvPr>
        </p:nvSpPr>
        <p:spPr>
          <a:xfrm>
            <a:off x="4320330" y="1398494"/>
            <a:ext cx="7033470" cy="4778469"/>
          </a:xfrm>
        </p:spPr>
        <p:txBody>
          <a:bodyPr>
            <a:normAutofit fontScale="92500" lnSpcReduction="20000"/>
          </a:bodyPr>
          <a:lstStyle/>
          <a:p>
            <a:endParaRPr lang="en-US" altLang="zh-TW" dirty="0"/>
          </a:p>
          <a:p>
            <a:endParaRPr lang="en-US" altLang="zh-TW" dirty="0"/>
          </a:p>
          <a:p>
            <a:endParaRPr lang="en-US" altLang="zh-TW" dirty="0"/>
          </a:p>
          <a:p>
            <a:endParaRPr lang="en-US" altLang="zh-TW" dirty="0"/>
          </a:p>
          <a:p>
            <a:r>
              <a:rPr lang="en-US" altLang="zh-TW" dirty="0" err="1"/>
              <a:t>BaseTools</a:t>
            </a:r>
            <a:r>
              <a:rPr lang="en-US" altLang="zh-TW" dirty="0"/>
              <a:t>:	 Base tool related binaries</a:t>
            </a:r>
          </a:p>
          <a:p>
            <a:r>
              <a:rPr lang="en-US" altLang="zh-TW" dirty="0"/>
              <a:t>Board: CRB or Project board package</a:t>
            </a:r>
          </a:p>
          <a:p>
            <a:r>
              <a:rPr lang="en-US" altLang="zh-TW" dirty="0"/>
              <a:t>EDK2: EDK2 modules</a:t>
            </a:r>
          </a:p>
          <a:p>
            <a:r>
              <a:rPr lang="en-US" altLang="zh-TW" dirty="0" err="1"/>
              <a:t>Insyde</a:t>
            </a:r>
            <a:r>
              <a:rPr lang="en-US" altLang="zh-TW" dirty="0"/>
              <a:t>: </a:t>
            </a:r>
            <a:r>
              <a:rPr lang="en-US" altLang="zh-TW" dirty="0" err="1"/>
              <a:t>Insyde</a:t>
            </a:r>
            <a:r>
              <a:rPr lang="en-US" altLang="zh-TW" dirty="0"/>
              <a:t> kernel modules</a:t>
            </a:r>
          </a:p>
          <a:p>
            <a:r>
              <a:rPr lang="en-US" altLang="zh-TW" dirty="0"/>
              <a:t>Intel: Chipset related modules</a:t>
            </a:r>
          </a:p>
          <a:p>
            <a:r>
              <a:rPr lang="en-US" altLang="zh-TW" dirty="0" err="1"/>
              <a:t>SegFeature</a:t>
            </a:r>
            <a:r>
              <a:rPr lang="en-US" altLang="zh-TW" dirty="0"/>
              <a:t>: SEG feature Packages</a:t>
            </a:r>
          </a:p>
          <a:p>
            <a:r>
              <a:rPr lang="en-US" altLang="zh-TW" dirty="0" err="1"/>
              <a:t>Sio</a:t>
            </a:r>
            <a:r>
              <a:rPr lang="en-US" altLang="zh-TW" dirty="0"/>
              <a:t>: SIO related modules</a:t>
            </a:r>
          </a:p>
        </p:txBody>
      </p:sp>
      <p:grpSp>
        <p:nvGrpSpPr>
          <p:cNvPr id="11" name="群組 10">
            <a:extLst>
              <a:ext uri="{FF2B5EF4-FFF2-40B4-BE49-F238E27FC236}">
                <a16:creationId xmlns:a16="http://schemas.microsoft.com/office/drawing/2014/main" id="{4828C8BE-4F30-4385-914E-BBA1D32F991C}"/>
              </a:ext>
            </a:extLst>
          </p:cNvPr>
          <p:cNvGrpSpPr/>
          <p:nvPr/>
        </p:nvGrpSpPr>
        <p:grpSpPr>
          <a:xfrm>
            <a:off x="997727" y="1316230"/>
            <a:ext cx="2522247" cy="4710497"/>
            <a:chOff x="2541301" y="1416898"/>
            <a:chExt cx="2522247" cy="4710497"/>
          </a:xfrm>
        </p:grpSpPr>
        <p:pic>
          <p:nvPicPr>
            <p:cNvPr id="12" name="圖片 11">
              <a:extLst>
                <a:ext uri="{FF2B5EF4-FFF2-40B4-BE49-F238E27FC236}">
                  <a16:creationId xmlns:a16="http://schemas.microsoft.com/office/drawing/2014/main" id="{49F19DC2-E168-4F0C-8C4E-B545AA868348}"/>
                </a:ext>
              </a:extLst>
            </p:cNvPr>
            <p:cNvPicPr>
              <a:picLocks noChangeAspect="1"/>
            </p:cNvPicPr>
            <p:nvPr/>
          </p:nvPicPr>
          <p:blipFill>
            <a:blip r:embed="rId2"/>
            <a:stretch>
              <a:fillRect/>
            </a:stretch>
          </p:blipFill>
          <p:spPr>
            <a:xfrm>
              <a:off x="2541301" y="1416898"/>
              <a:ext cx="2522247" cy="4710497"/>
            </a:xfrm>
            <a:prstGeom prst="rect">
              <a:avLst/>
            </a:prstGeom>
          </p:spPr>
        </p:pic>
        <p:sp>
          <p:nvSpPr>
            <p:cNvPr id="13" name="CustomShape 5">
              <a:extLst>
                <a:ext uri="{FF2B5EF4-FFF2-40B4-BE49-F238E27FC236}">
                  <a16:creationId xmlns:a16="http://schemas.microsoft.com/office/drawing/2014/main" id="{D396B260-D4A8-49E5-9982-ECB275D3AA67}"/>
                </a:ext>
              </a:extLst>
            </p:cNvPr>
            <p:cNvSpPr/>
            <p:nvPr/>
          </p:nvSpPr>
          <p:spPr>
            <a:xfrm>
              <a:off x="2676088" y="3090205"/>
              <a:ext cx="2387460" cy="508671"/>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14" name="CustomShape 5">
              <a:extLst>
                <a:ext uri="{FF2B5EF4-FFF2-40B4-BE49-F238E27FC236}">
                  <a16:creationId xmlns:a16="http://schemas.microsoft.com/office/drawing/2014/main" id="{6C71EAAF-A6E9-414F-9222-D4B14D917190}"/>
                </a:ext>
              </a:extLst>
            </p:cNvPr>
            <p:cNvSpPr/>
            <p:nvPr/>
          </p:nvSpPr>
          <p:spPr>
            <a:xfrm>
              <a:off x="2676088" y="3913725"/>
              <a:ext cx="2387460" cy="1631398"/>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15" name="CustomShape 18">
              <a:extLst>
                <a:ext uri="{FF2B5EF4-FFF2-40B4-BE49-F238E27FC236}">
                  <a16:creationId xmlns:a16="http://schemas.microsoft.com/office/drawing/2014/main" id="{9463F180-073A-4DF0-A142-CC925B08F107}"/>
                </a:ext>
              </a:extLst>
            </p:cNvPr>
            <p:cNvSpPr/>
            <p:nvPr/>
          </p:nvSpPr>
          <p:spPr>
            <a:xfrm>
              <a:off x="2676088" y="1992838"/>
              <a:ext cx="2387460" cy="515868"/>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16" name="CustomShape 18">
              <a:extLst>
                <a:ext uri="{FF2B5EF4-FFF2-40B4-BE49-F238E27FC236}">
                  <a16:creationId xmlns:a16="http://schemas.microsoft.com/office/drawing/2014/main" id="{8A3A6602-4A2D-4AF9-A7D1-C98DA00FBBE4}"/>
                </a:ext>
              </a:extLst>
            </p:cNvPr>
            <p:cNvSpPr/>
            <p:nvPr/>
          </p:nvSpPr>
          <p:spPr>
            <a:xfrm>
              <a:off x="2676088" y="1427344"/>
              <a:ext cx="2387460" cy="243724"/>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17" name="CustomShape 9">
              <a:extLst>
                <a:ext uri="{FF2B5EF4-FFF2-40B4-BE49-F238E27FC236}">
                  <a16:creationId xmlns:a16="http://schemas.microsoft.com/office/drawing/2014/main" id="{DBC06D33-3BF0-4116-B6E3-0FF230077E93}"/>
                </a:ext>
              </a:extLst>
            </p:cNvPr>
            <p:cNvSpPr/>
            <p:nvPr/>
          </p:nvSpPr>
          <p:spPr>
            <a:xfrm>
              <a:off x="2676088" y="1707686"/>
              <a:ext cx="2387460" cy="229320"/>
            </a:xfrm>
            <a:prstGeom prst="rect">
              <a:avLst/>
            </a:prstGeom>
            <a:noFill/>
            <a:ln w="28440">
              <a:solidFill>
                <a:srgbClr val="FFBF00"/>
              </a:solidFill>
              <a:round/>
            </a:ln>
          </p:spPr>
          <p:style>
            <a:lnRef idx="0">
              <a:scrgbClr r="0" g="0" b="0"/>
            </a:lnRef>
            <a:fillRef idx="0">
              <a:scrgbClr r="0" g="0" b="0"/>
            </a:fillRef>
            <a:effectRef idx="0">
              <a:scrgbClr r="0" g="0" b="0"/>
            </a:effectRef>
            <a:fontRef idx="minor"/>
          </p:style>
        </p:sp>
        <p:sp>
          <p:nvSpPr>
            <p:cNvPr id="18" name="CustomShape 18">
              <a:extLst>
                <a:ext uri="{FF2B5EF4-FFF2-40B4-BE49-F238E27FC236}">
                  <a16:creationId xmlns:a16="http://schemas.microsoft.com/office/drawing/2014/main" id="{5786DB9F-B582-4C42-994C-C4B24385A084}"/>
                </a:ext>
              </a:extLst>
            </p:cNvPr>
            <p:cNvSpPr/>
            <p:nvPr/>
          </p:nvSpPr>
          <p:spPr>
            <a:xfrm>
              <a:off x="2676088" y="5575757"/>
              <a:ext cx="2387460" cy="243724"/>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19" name="CustomShape 8">
              <a:extLst>
                <a:ext uri="{FF2B5EF4-FFF2-40B4-BE49-F238E27FC236}">
                  <a16:creationId xmlns:a16="http://schemas.microsoft.com/office/drawing/2014/main" id="{6C8C588B-3F4E-4228-A856-B04BACAE93E3}"/>
                </a:ext>
              </a:extLst>
            </p:cNvPr>
            <p:cNvSpPr/>
            <p:nvPr/>
          </p:nvSpPr>
          <p:spPr>
            <a:xfrm>
              <a:off x="2676088" y="3642072"/>
              <a:ext cx="238746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sp>
          <p:nvSpPr>
            <p:cNvPr id="20" name="CustomShape 8">
              <a:extLst>
                <a:ext uri="{FF2B5EF4-FFF2-40B4-BE49-F238E27FC236}">
                  <a16:creationId xmlns:a16="http://schemas.microsoft.com/office/drawing/2014/main" id="{105C42C8-A1D8-4C53-9F62-234182F3C163}"/>
                </a:ext>
              </a:extLst>
            </p:cNvPr>
            <p:cNvSpPr/>
            <p:nvPr/>
          </p:nvSpPr>
          <p:spPr>
            <a:xfrm>
              <a:off x="2676088" y="5858504"/>
              <a:ext cx="238746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grpSp>
      <p:grpSp>
        <p:nvGrpSpPr>
          <p:cNvPr id="21" name="群組 20">
            <a:extLst>
              <a:ext uri="{FF2B5EF4-FFF2-40B4-BE49-F238E27FC236}">
                <a16:creationId xmlns:a16="http://schemas.microsoft.com/office/drawing/2014/main" id="{8370CB43-70D1-402A-9B37-3DBC34C4733C}"/>
              </a:ext>
            </a:extLst>
          </p:cNvPr>
          <p:cNvGrpSpPr/>
          <p:nvPr/>
        </p:nvGrpSpPr>
        <p:grpSpPr>
          <a:xfrm>
            <a:off x="5031603" y="1316230"/>
            <a:ext cx="2405284" cy="1317558"/>
            <a:chOff x="9112800" y="828361"/>
            <a:chExt cx="2405284" cy="1317558"/>
          </a:xfrm>
        </p:grpSpPr>
        <p:sp>
          <p:nvSpPr>
            <p:cNvPr id="22" name="CustomShape 5">
              <a:extLst>
                <a:ext uri="{FF2B5EF4-FFF2-40B4-BE49-F238E27FC236}">
                  <a16:creationId xmlns:a16="http://schemas.microsoft.com/office/drawing/2014/main" id="{F05EAB83-287D-4D67-AB09-42945DC9A54C}"/>
                </a:ext>
              </a:extLst>
            </p:cNvPr>
            <p:cNvSpPr/>
            <p:nvPr/>
          </p:nvSpPr>
          <p:spPr>
            <a:xfrm>
              <a:off x="9117120" y="866160"/>
              <a:ext cx="210600" cy="208800"/>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23" name="CustomShape 8">
              <a:extLst>
                <a:ext uri="{FF2B5EF4-FFF2-40B4-BE49-F238E27FC236}">
                  <a16:creationId xmlns:a16="http://schemas.microsoft.com/office/drawing/2014/main" id="{7AF70AC1-4071-44B8-BA6C-9F45568D286B}"/>
                </a:ext>
              </a:extLst>
            </p:cNvPr>
            <p:cNvSpPr/>
            <p:nvPr/>
          </p:nvSpPr>
          <p:spPr>
            <a:xfrm>
              <a:off x="9112800" y="1169280"/>
              <a:ext cx="21492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sp>
          <p:nvSpPr>
            <p:cNvPr id="24" name="CustomShape 9">
              <a:extLst>
                <a:ext uri="{FF2B5EF4-FFF2-40B4-BE49-F238E27FC236}">
                  <a16:creationId xmlns:a16="http://schemas.microsoft.com/office/drawing/2014/main" id="{107C40EE-A66B-4052-A6FD-55D2C49175A9}"/>
                </a:ext>
              </a:extLst>
            </p:cNvPr>
            <p:cNvSpPr/>
            <p:nvPr/>
          </p:nvSpPr>
          <p:spPr>
            <a:xfrm>
              <a:off x="9112800" y="1512360"/>
              <a:ext cx="214920" cy="229320"/>
            </a:xfrm>
            <a:prstGeom prst="rect">
              <a:avLst/>
            </a:prstGeom>
            <a:noFill/>
            <a:ln w="28440">
              <a:solidFill>
                <a:srgbClr val="FFBF00"/>
              </a:solidFill>
              <a:round/>
            </a:ln>
          </p:spPr>
          <p:style>
            <a:lnRef idx="0">
              <a:scrgbClr r="0" g="0" b="0"/>
            </a:lnRef>
            <a:fillRef idx="0">
              <a:scrgbClr r="0" g="0" b="0"/>
            </a:fillRef>
            <a:effectRef idx="0">
              <a:scrgbClr r="0" g="0" b="0"/>
            </a:effectRef>
            <a:fontRef idx="minor"/>
          </p:style>
        </p:sp>
        <p:sp>
          <p:nvSpPr>
            <p:cNvPr id="25" name="CustomShape 10">
              <a:extLst>
                <a:ext uri="{FF2B5EF4-FFF2-40B4-BE49-F238E27FC236}">
                  <a16:creationId xmlns:a16="http://schemas.microsoft.com/office/drawing/2014/main" id="{B69F22FA-ACEB-441C-A9B0-B56BB12D5E01}"/>
                </a:ext>
              </a:extLst>
            </p:cNvPr>
            <p:cNvSpPr/>
            <p:nvPr/>
          </p:nvSpPr>
          <p:spPr>
            <a:xfrm>
              <a:off x="9383519" y="1130041"/>
              <a:ext cx="1685081"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Chipset</a:t>
              </a:r>
              <a:endParaRPr lang="en-US" spc="-1" dirty="0">
                <a:latin typeface="Arial"/>
              </a:endParaRPr>
            </a:p>
          </p:txBody>
        </p:sp>
        <p:sp>
          <p:nvSpPr>
            <p:cNvPr id="26" name="CustomShape 11">
              <a:extLst>
                <a:ext uri="{FF2B5EF4-FFF2-40B4-BE49-F238E27FC236}">
                  <a16:creationId xmlns:a16="http://schemas.microsoft.com/office/drawing/2014/main" id="{0422425F-7B28-4F94-9327-651758F07D6C}"/>
                </a:ext>
              </a:extLst>
            </p:cNvPr>
            <p:cNvSpPr/>
            <p:nvPr/>
          </p:nvSpPr>
          <p:spPr>
            <a:xfrm>
              <a:off x="9364799" y="828361"/>
              <a:ext cx="1666723"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From Intel</a:t>
              </a:r>
              <a:endParaRPr lang="en-US" spc="-1" dirty="0">
                <a:latin typeface="Arial"/>
              </a:endParaRPr>
            </a:p>
          </p:txBody>
        </p:sp>
        <p:sp>
          <p:nvSpPr>
            <p:cNvPr id="27" name="CustomShape 12">
              <a:extLst>
                <a:ext uri="{FF2B5EF4-FFF2-40B4-BE49-F238E27FC236}">
                  <a16:creationId xmlns:a16="http://schemas.microsoft.com/office/drawing/2014/main" id="{E0B6F2B9-C8FE-4F9D-B50D-E5BD7C747AE8}"/>
                </a:ext>
              </a:extLst>
            </p:cNvPr>
            <p:cNvSpPr/>
            <p:nvPr/>
          </p:nvSpPr>
          <p:spPr>
            <a:xfrm>
              <a:off x="9400799" y="1454041"/>
              <a:ext cx="1513277"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Project</a:t>
              </a:r>
              <a:endParaRPr lang="en-US" spc="-1" dirty="0">
                <a:latin typeface="Arial"/>
              </a:endParaRPr>
            </a:p>
          </p:txBody>
        </p:sp>
        <p:sp>
          <p:nvSpPr>
            <p:cNvPr id="28" name="CustomShape 17">
              <a:extLst>
                <a:ext uri="{FF2B5EF4-FFF2-40B4-BE49-F238E27FC236}">
                  <a16:creationId xmlns:a16="http://schemas.microsoft.com/office/drawing/2014/main" id="{77935295-1794-4339-B833-B7962313F674}"/>
                </a:ext>
              </a:extLst>
            </p:cNvPr>
            <p:cNvSpPr/>
            <p:nvPr/>
          </p:nvSpPr>
          <p:spPr>
            <a:xfrm>
              <a:off x="9365160" y="1778041"/>
              <a:ext cx="2152924"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err="1">
                  <a:solidFill>
                    <a:srgbClr val="000000"/>
                  </a:solidFill>
                  <a:latin typeface="Arial"/>
                  <a:ea typeface="DejaVu Sans"/>
                </a:rPr>
                <a:t>Insyde</a:t>
              </a:r>
              <a:r>
                <a:rPr lang="en-US" spc="-1" dirty="0">
                  <a:solidFill>
                    <a:srgbClr val="000000"/>
                  </a:solidFill>
                  <a:latin typeface="Arial"/>
                  <a:ea typeface="DejaVu Sans"/>
                </a:rPr>
                <a:t> H2O Kernel</a:t>
              </a:r>
              <a:endParaRPr lang="en-US" spc="-1" dirty="0">
                <a:latin typeface="Arial"/>
              </a:endParaRPr>
            </a:p>
          </p:txBody>
        </p:sp>
        <p:sp>
          <p:nvSpPr>
            <p:cNvPr id="29" name="CustomShape 18">
              <a:extLst>
                <a:ext uri="{FF2B5EF4-FFF2-40B4-BE49-F238E27FC236}">
                  <a16:creationId xmlns:a16="http://schemas.microsoft.com/office/drawing/2014/main" id="{7FAA43E9-CE62-47DF-B343-9B0003BB528E}"/>
                </a:ext>
              </a:extLst>
            </p:cNvPr>
            <p:cNvSpPr/>
            <p:nvPr/>
          </p:nvSpPr>
          <p:spPr>
            <a:xfrm>
              <a:off x="9112800" y="1872360"/>
              <a:ext cx="214920" cy="229320"/>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781233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err="1">
                <a:solidFill>
                  <a:srgbClr val="3F3F3F"/>
                </a:solidFill>
                <a:latin typeface="Segoe UI"/>
                <a:ea typeface="DejaVu Sans"/>
              </a:rPr>
              <a:t>Insyde</a:t>
            </a:r>
            <a:r>
              <a:rPr lang="en-US" altLang="zh-TW" sz="2000" b="1" strike="noStrike" spc="-1" dirty="0">
                <a:solidFill>
                  <a:srgbClr val="3F3F3F"/>
                </a:solidFill>
                <a:latin typeface="Segoe UI"/>
                <a:ea typeface="DejaVu Sans"/>
              </a:rPr>
              <a:t> Source Code Structure – Eagle Stream</a:t>
            </a:r>
            <a:endParaRPr lang="en-US" sz="2000" dirty="0"/>
          </a:p>
        </p:txBody>
      </p:sp>
      <p:sp>
        <p:nvSpPr>
          <p:cNvPr id="3" name="Content Placeholder 2"/>
          <p:cNvSpPr>
            <a:spLocks noGrp="1"/>
          </p:cNvSpPr>
          <p:nvPr>
            <p:ph idx="1"/>
          </p:nvPr>
        </p:nvSpPr>
        <p:spPr>
          <a:xfrm>
            <a:off x="4320330" y="1398494"/>
            <a:ext cx="7566870" cy="4778469"/>
          </a:xfrm>
        </p:spPr>
        <p:txBody>
          <a:bodyPr>
            <a:normAutofit lnSpcReduction="10000"/>
          </a:bodyPr>
          <a:lstStyle/>
          <a:p>
            <a:pPr algn="l"/>
            <a:r>
              <a:rPr lang="en-US" altLang="zh-TW" sz="2000" dirty="0" err="1"/>
              <a:t>ClientOenSiliconPkg</a:t>
            </a:r>
            <a:r>
              <a:rPr lang="en-US" altLang="zh-TW" sz="2000" dirty="0"/>
              <a:t>: Eagle Stream usage limited to </a:t>
            </a:r>
            <a:r>
              <a:rPr lang="en-US" altLang="zh-TW" sz="2000" dirty="0" err="1"/>
              <a:t>TraceHub</a:t>
            </a:r>
            <a:r>
              <a:rPr lang="en-US" altLang="zh-TW" sz="2000" dirty="0"/>
              <a:t>, PCH PCIe Library at present</a:t>
            </a:r>
          </a:p>
          <a:p>
            <a:pPr algn="l"/>
            <a:r>
              <a:rPr lang="en-US" altLang="zh-TW" sz="2000" dirty="0" err="1"/>
              <a:t>CpRcPkg</a:t>
            </a:r>
            <a:r>
              <a:rPr lang="en-US" altLang="zh-TW" sz="2000" dirty="0"/>
              <a:t>: </a:t>
            </a:r>
            <a:r>
              <a:rPr lang="it-IT" altLang="zh-TW" sz="2000" dirty="0"/>
              <a:t>USRA, interface for silicon register accessing</a:t>
            </a:r>
          </a:p>
          <a:p>
            <a:pPr marL="0" indent="0">
              <a:buNone/>
            </a:pPr>
            <a:r>
              <a:rPr lang="en-US" altLang="zh-TW" sz="2000" dirty="0"/>
              <a:t>                   CCMRC</a:t>
            </a:r>
          </a:p>
          <a:p>
            <a:r>
              <a:rPr lang="en-US" altLang="zh-TW" sz="2000" dirty="0" err="1"/>
              <a:t>EagleStreamChipsetPkg</a:t>
            </a:r>
            <a:r>
              <a:rPr lang="en-US" altLang="zh-TW" sz="2000" dirty="0"/>
              <a:t>: </a:t>
            </a:r>
            <a:r>
              <a:rPr lang="en-US" altLang="zh-TW" sz="2000" dirty="0" err="1"/>
              <a:t>Insyde</a:t>
            </a:r>
            <a:r>
              <a:rPr lang="en-US" altLang="zh-TW" sz="2000" dirty="0"/>
              <a:t> Chipset support code</a:t>
            </a:r>
          </a:p>
          <a:p>
            <a:r>
              <a:rPr lang="en-US" altLang="zh-TW" sz="2000" dirty="0" err="1"/>
              <a:t>EagleStreamFspBinPkg</a:t>
            </a:r>
            <a:r>
              <a:rPr lang="en-US" altLang="zh-TW" sz="2000" dirty="0"/>
              <a:t>: FSP related header files and binaries that are auto-generated during building.</a:t>
            </a:r>
          </a:p>
          <a:p>
            <a:r>
              <a:rPr lang="en-US" altLang="zh-TW" sz="2000" dirty="0" err="1"/>
              <a:t>EagleStreamFspPkg</a:t>
            </a:r>
            <a:r>
              <a:rPr lang="en-US" altLang="zh-TW" sz="2000" dirty="0"/>
              <a:t>: Glue code to build Eagle Stream FSP Binary</a:t>
            </a:r>
          </a:p>
          <a:p>
            <a:r>
              <a:rPr lang="en-US" altLang="zh-TW" sz="2000" dirty="0" err="1"/>
              <a:t>ServerPlatformPkg</a:t>
            </a:r>
            <a:r>
              <a:rPr lang="en-US" altLang="zh-TW" sz="2000" dirty="0"/>
              <a:t>: Sever common features</a:t>
            </a:r>
          </a:p>
          <a:p>
            <a:pPr algn="l"/>
            <a:r>
              <a:rPr lang="en-US" altLang="zh-TW" sz="2000" dirty="0" err="1"/>
              <a:t>ServerRasPkg</a:t>
            </a:r>
            <a:r>
              <a:rPr lang="en-US" altLang="zh-TW" sz="2000" dirty="0"/>
              <a:t>: Server RAS implementation (exclude some Memory RAS features)</a:t>
            </a:r>
          </a:p>
          <a:p>
            <a:pPr algn="l"/>
            <a:r>
              <a:rPr lang="en-US" altLang="zh-TW" sz="2000" dirty="0" err="1"/>
              <a:t>ServerSecurityPkg</a:t>
            </a:r>
            <a:r>
              <a:rPr lang="en-US" altLang="zh-TW" sz="2000" dirty="0"/>
              <a:t>: Server security implementation 	</a:t>
            </a:r>
          </a:p>
          <a:p>
            <a:pPr algn="l"/>
            <a:r>
              <a:rPr lang="en-US" altLang="zh-TW" sz="2000" dirty="0" err="1"/>
              <a:t>ServerSiliconPkg</a:t>
            </a:r>
            <a:r>
              <a:rPr lang="en-US" altLang="zh-TW" sz="2000" dirty="0"/>
              <a:t>: Silicon package</a:t>
            </a:r>
            <a:endParaRPr lang="en-US" sz="2000" dirty="0"/>
          </a:p>
        </p:txBody>
      </p:sp>
      <p:pic>
        <p:nvPicPr>
          <p:cNvPr id="4" name="圖片 3">
            <a:extLst>
              <a:ext uri="{FF2B5EF4-FFF2-40B4-BE49-F238E27FC236}">
                <a16:creationId xmlns:a16="http://schemas.microsoft.com/office/drawing/2014/main" id="{BC8F8342-E326-4A80-B0B8-945A8C74B6D8}"/>
              </a:ext>
            </a:extLst>
          </p:cNvPr>
          <p:cNvPicPr>
            <a:picLocks noChangeAspect="1"/>
          </p:cNvPicPr>
          <p:nvPr/>
        </p:nvPicPr>
        <p:blipFill>
          <a:blip r:embed="rId2"/>
          <a:stretch>
            <a:fillRect/>
          </a:stretch>
        </p:blipFill>
        <p:spPr>
          <a:xfrm>
            <a:off x="1023588" y="1398494"/>
            <a:ext cx="2491400" cy="3182793"/>
          </a:xfrm>
          <a:prstGeom prst="rect">
            <a:avLst/>
          </a:prstGeom>
        </p:spPr>
      </p:pic>
    </p:spTree>
    <p:extLst>
      <p:ext uri="{BB962C8B-B14F-4D97-AF65-F5344CB8AC3E}">
        <p14:creationId xmlns:p14="http://schemas.microsoft.com/office/powerpoint/2010/main" val="337388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err="1">
                <a:solidFill>
                  <a:srgbClr val="3F3F3F"/>
                </a:solidFill>
                <a:latin typeface="Segoe UI"/>
                <a:ea typeface="DejaVu Sans"/>
              </a:rPr>
              <a:t>Insyde</a:t>
            </a:r>
            <a:r>
              <a:rPr lang="en-US" altLang="zh-TW" sz="2000" b="1" strike="noStrike" spc="-1" dirty="0">
                <a:solidFill>
                  <a:srgbClr val="3F3F3F"/>
                </a:solidFill>
                <a:latin typeface="Segoe UI"/>
                <a:ea typeface="DejaVu Sans"/>
              </a:rPr>
              <a:t> Source Code Structure – </a:t>
            </a:r>
            <a:r>
              <a:rPr lang="en-US" altLang="zh-TW" sz="2000" b="1" strike="noStrike" spc="-1" dirty="0" err="1">
                <a:solidFill>
                  <a:srgbClr val="3F3F3F"/>
                </a:solidFill>
                <a:latin typeface="Segoe UI"/>
                <a:ea typeface="DejaVu Sans"/>
              </a:rPr>
              <a:t>SegFeature</a:t>
            </a:r>
            <a:endParaRPr lang="en-US" sz="2000" dirty="0"/>
          </a:p>
        </p:txBody>
      </p:sp>
      <p:sp>
        <p:nvSpPr>
          <p:cNvPr id="3" name="Content Placeholder 2"/>
          <p:cNvSpPr>
            <a:spLocks noGrp="1"/>
          </p:cNvSpPr>
          <p:nvPr>
            <p:ph idx="1"/>
          </p:nvPr>
        </p:nvSpPr>
        <p:spPr>
          <a:xfrm>
            <a:off x="4320330" y="1398494"/>
            <a:ext cx="7033470" cy="4778469"/>
          </a:xfrm>
        </p:spPr>
        <p:txBody>
          <a:bodyPr>
            <a:normAutofit/>
          </a:bodyPr>
          <a:lstStyle/>
          <a:p>
            <a:pPr algn="l"/>
            <a:r>
              <a:rPr lang="en-US" altLang="zh-TW" sz="2200" dirty="0" err="1"/>
              <a:t>InsydeAdvBootPkg</a:t>
            </a:r>
            <a:r>
              <a:rPr lang="en-US" altLang="zh-TW" sz="2200" dirty="0"/>
              <a:t>: Codes for advanced boot options</a:t>
            </a:r>
          </a:p>
          <a:p>
            <a:pPr algn="l"/>
            <a:r>
              <a:rPr lang="en-US" altLang="zh-TW" sz="2200" dirty="0" err="1"/>
              <a:t>InsydeEventLogPkg</a:t>
            </a:r>
            <a:r>
              <a:rPr lang="en-US" altLang="zh-TW" sz="2200" dirty="0"/>
              <a:t>: Codes to handle BIOS logs</a:t>
            </a:r>
          </a:p>
          <a:p>
            <a:r>
              <a:rPr lang="en-US" altLang="zh-TW" sz="2200" dirty="0"/>
              <a:t>InsydeH2OUvePkg: Codes to support H2OUVE tool</a:t>
            </a:r>
          </a:p>
          <a:p>
            <a:r>
              <a:rPr lang="en-US" altLang="zh-TW" sz="2200" dirty="0" err="1"/>
              <a:t>InsydeIpmiPkg</a:t>
            </a:r>
            <a:r>
              <a:rPr lang="en-US" altLang="zh-TW" sz="2200" dirty="0"/>
              <a:t>: IPMI modules &amp; libraries</a:t>
            </a:r>
          </a:p>
          <a:p>
            <a:r>
              <a:rPr lang="en-US" altLang="zh-TW" sz="2200" dirty="0" err="1"/>
              <a:t>SegFeaturePkg</a:t>
            </a:r>
            <a:r>
              <a:rPr lang="en-US" altLang="zh-TW" sz="2200" dirty="0"/>
              <a:t>: Assist other SEG feature packages</a:t>
            </a:r>
            <a:endParaRPr lang="en-US" sz="2200" dirty="0"/>
          </a:p>
        </p:txBody>
      </p:sp>
      <p:pic>
        <p:nvPicPr>
          <p:cNvPr id="5" name="圖片 4">
            <a:extLst>
              <a:ext uri="{FF2B5EF4-FFF2-40B4-BE49-F238E27FC236}">
                <a16:creationId xmlns:a16="http://schemas.microsoft.com/office/drawing/2014/main" id="{C5461147-7560-472C-AA89-2F8C044CDDAB}"/>
              </a:ext>
            </a:extLst>
          </p:cNvPr>
          <p:cNvPicPr>
            <a:picLocks noChangeAspect="1"/>
          </p:cNvPicPr>
          <p:nvPr/>
        </p:nvPicPr>
        <p:blipFill>
          <a:blip r:embed="rId2"/>
          <a:stretch>
            <a:fillRect/>
          </a:stretch>
        </p:blipFill>
        <p:spPr>
          <a:xfrm>
            <a:off x="698951" y="1556725"/>
            <a:ext cx="2766060" cy="2260266"/>
          </a:xfrm>
          <a:prstGeom prst="rect">
            <a:avLst/>
          </a:prstGeom>
        </p:spPr>
      </p:pic>
    </p:spTree>
    <p:extLst>
      <p:ext uri="{BB962C8B-B14F-4D97-AF65-F5344CB8AC3E}">
        <p14:creationId xmlns:p14="http://schemas.microsoft.com/office/powerpoint/2010/main" val="4222018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15</a:t>
            </a:fld>
            <a:endParaRPr lang="en-US" dirty="0"/>
          </a:p>
        </p:txBody>
      </p:sp>
      <p:sp>
        <p:nvSpPr>
          <p:cNvPr id="2" name="Title 1"/>
          <p:cNvSpPr>
            <a:spLocks noGrp="1"/>
          </p:cNvSpPr>
          <p:nvPr>
            <p:ph type="title"/>
          </p:nvPr>
        </p:nvSpPr>
        <p:spPr/>
        <p:txBody>
          <a:bodyPr/>
          <a:lstStyle/>
          <a:p>
            <a:r>
              <a:rPr lang="en-US" dirty="0"/>
              <a:t>Introduce Multiple Workspaces</a:t>
            </a:r>
          </a:p>
        </p:txBody>
      </p:sp>
    </p:spTree>
    <p:extLst>
      <p:ext uri="{BB962C8B-B14F-4D97-AF65-F5344CB8AC3E}">
        <p14:creationId xmlns:p14="http://schemas.microsoft.com/office/powerpoint/2010/main" val="3335590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B61663-465B-4497-BD90-330F8DE921B4}"/>
              </a:ext>
            </a:extLst>
          </p:cNvPr>
          <p:cNvSpPr>
            <a:spLocks noGrp="1"/>
          </p:cNvSpPr>
          <p:nvPr>
            <p:ph type="title"/>
          </p:nvPr>
        </p:nvSpPr>
        <p:spPr/>
        <p:txBody>
          <a:bodyPr/>
          <a:lstStyle/>
          <a:p>
            <a:r>
              <a:rPr lang="en-US" altLang="zh-TW" dirty="0"/>
              <a:t>Introduce Multiple Workspaces (1/6)</a:t>
            </a:r>
            <a:endParaRPr lang="zh-TW" altLang="en-US" dirty="0"/>
          </a:p>
        </p:txBody>
      </p:sp>
      <p:sp>
        <p:nvSpPr>
          <p:cNvPr id="3" name="內容版面配置區 2">
            <a:extLst>
              <a:ext uri="{FF2B5EF4-FFF2-40B4-BE49-F238E27FC236}">
                <a16:creationId xmlns:a16="http://schemas.microsoft.com/office/drawing/2014/main" id="{058678A1-E182-4598-9C67-79242C577255}"/>
              </a:ext>
            </a:extLst>
          </p:cNvPr>
          <p:cNvSpPr>
            <a:spLocks noGrp="1"/>
          </p:cNvSpPr>
          <p:nvPr>
            <p:ph idx="1"/>
          </p:nvPr>
        </p:nvSpPr>
        <p:spPr/>
        <p:txBody>
          <a:bodyPr>
            <a:normAutofit fontScale="92500" lnSpcReduction="10000"/>
          </a:bodyPr>
          <a:lstStyle/>
          <a:p>
            <a:r>
              <a:rPr lang="en-US" altLang="zh-TW" dirty="0"/>
              <a:t>EDK2 build tools allows to set multiple paths that will be searched when attempting to resolve the location of packages</a:t>
            </a:r>
          </a:p>
          <a:p>
            <a:pPr lvl="1"/>
            <a:r>
              <a:rPr lang="en-US" altLang="zh-TW" dirty="0"/>
              <a:t>The new functionality is enabled through the addition of a new environment variable PACKAGES_PATH</a:t>
            </a:r>
          </a:p>
          <a:p>
            <a:endParaRPr lang="en-US" altLang="zh-TW" dirty="0"/>
          </a:p>
          <a:p>
            <a:r>
              <a:rPr lang="en-US" altLang="zh-TW" dirty="0"/>
              <a:t>PACKAGES_PATH environment variable is an ordered list of additional search paths</a:t>
            </a:r>
          </a:p>
          <a:p>
            <a:pPr lvl="1"/>
            <a:r>
              <a:rPr lang="en-US" altLang="zh-TW" dirty="0"/>
              <a:t>The first path in the list has the highest priority and the last path has the lowest priority</a:t>
            </a:r>
          </a:p>
          <a:p>
            <a:pPr lvl="1"/>
            <a:r>
              <a:rPr lang="en-US" altLang="zh-TW" dirty="0"/>
              <a:t>Paths using the default path separator of the host OS between each entry</a:t>
            </a:r>
          </a:p>
          <a:p>
            <a:pPr lvl="2"/>
            <a:r>
              <a:rPr lang="en-US" altLang="zh-TW" dirty="0"/>
              <a:t>‘;’ for Windows build environment and ‘:’ for Linux build environment</a:t>
            </a:r>
          </a:p>
          <a:p>
            <a:pPr lvl="1"/>
            <a:r>
              <a:rPr lang="en-US" altLang="zh-TW" dirty="0"/>
              <a:t>The path specified by the WORKSPACE environment variable always has the highest search priority over any PACKAGE_PATH entries</a:t>
            </a:r>
          </a:p>
          <a:p>
            <a:endParaRPr lang="zh-TW" altLang="en-US" dirty="0"/>
          </a:p>
        </p:txBody>
      </p:sp>
    </p:spTree>
    <p:extLst>
      <p:ext uri="{BB962C8B-B14F-4D97-AF65-F5344CB8AC3E}">
        <p14:creationId xmlns:p14="http://schemas.microsoft.com/office/powerpoint/2010/main" val="924757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0187-C506-4F34-A43A-313900745A85}"/>
              </a:ext>
            </a:extLst>
          </p:cNvPr>
          <p:cNvSpPr>
            <a:spLocks noGrp="1"/>
          </p:cNvSpPr>
          <p:nvPr>
            <p:ph type="title"/>
          </p:nvPr>
        </p:nvSpPr>
        <p:spPr/>
        <p:txBody>
          <a:bodyPr/>
          <a:lstStyle/>
          <a:p>
            <a:r>
              <a:rPr lang="en-US" altLang="zh-TW" dirty="0"/>
              <a:t>Introduce Multiple Workspaces</a:t>
            </a:r>
            <a:r>
              <a:rPr lang="zh-TW" altLang="en-US" dirty="0"/>
              <a:t> </a:t>
            </a:r>
            <a:r>
              <a:rPr lang="en-US" altLang="zh-TW" dirty="0"/>
              <a:t>(2/6)</a:t>
            </a:r>
            <a:endParaRPr lang="zh-TW" altLang="en-US" dirty="0"/>
          </a:p>
        </p:txBody>
      </p:sp>
      <p:sp>
        <p:nvSpPr>
          <p:cNvPr id="3" name="內容版面配置區 2">
            <a:extLst>
              <a:ext uri="{FF2B5EF4-FFF2-40B4-BE49-F238E27FC236}">
                <a16:creationId xmlns:a16="http://schemas.microsoft.com/office/drawing/2014/main" id="{34B10101-4F08-4AF6-AC49-BF4302F60F1A}"/>
              </a:ext>
            </a:extLst>
          </p:cNvPr>
          <p:cNvSpPr>
            <a:spLocks noGrp="1"/>
          </p:cNvSpPr>
          <p:nvPr>
            <p:ph idx="1"/>
          </p:nvPr>
        </p:nvSpPr>
        <p:spPr/>
        <p:txBody>
          <a:bodyPr>
            <a:normAutofit lnSpcReduction="10000"/>
          </a:bodyPr>
          <a:lstStyle/>
          <a:p>
            <a:r>
              <a:rPr lang="en-US" altLang="zh-TW" sz="2000" dirty="0"/>
              <a:t>PACKAGES_PATH is used for build tool to resolve the location of packages</a:t>
            </a:r>
          </a:p>
          <a:p>
            <a:endParaRPr lang="en-US" altLang="zh-TW" sz="2000" dirty="0"/>
          </a:p>
          <a:p>
            <a:r>
              <a:rPr lang="en-US" altLang="zh-TW" sz="2000" dirty="0"/>
              <a:t>Example 1:</a:t>
            </a:r>
            <a:br>
              <a:rPr lang="en-US" altLang="zh-TW" sz="2000" dirty="0"/>
            </a:br>
            <a:r>
              <a:rPr lang="en-US" altLang="zh-TW" sz="2000" dirty="0"/>
              <a:t>WORKSPACE=</a:t>
            </a:r>
            <a:r>
              <a:rPr lang="en-US" altLang="zh-TW" sz="2000" dirty="0">
                <a:solidFill>
                  <a:srgbClr val="FF0000"/>
                </a:solidFill>
              </a:rPr>
              <a:t>D:\Rev.5.4</a:t>
            </a:r>
            <a:br>
              <a:rPr lang="en-US" altLang="zh-TW" sz="2000" dirty="0"/>
            </a:br>
            <a:r>
              <a:rPr lang="en-US" altLang="zh-TW" sz="2000" dirty="0"/>
              <a:t>PACKAGES_PATH</a:t>
            </a:r>
            <a:r>
              <a:rPr lang="en-US" altLang="zh-TW" sz="2000" dirty="0">
                <a:solidFill>
                  <a:schemeClr val="accent1">
                    <a:lumMod val="60000"/>
                    <a:lumOff val="40000"/>
                  </a:schemeClr>
                </a:solidFill>
              </a:rPr>
              <a:t>=%WORKSPACE%\</a:t>
            </a:r>
            <a:r>
              <a:rPr lang="en-US" altLang="zh-TW" sz="2000" dirty="0" err="1">
                <a:solidFill>
                  <a:schemeClr val="accent1">
                    <a:lumMod val="60000"/>
                    <a:lumOff val="40000"/>
                  </a:schemeClr>
                </a:solidFill>
              </a:rPr>
              <a:t>Insyde</a:t>
            </a:r>
            <a:r>
              <a:rPr lang="en-US" altLang="zh-TW" sz="2000" dirty="0"/>
              <a:t>;</a:t>
            </a:r>
            <a:br>
              <a:rPr lang="en-US" altLang="zh-TW" sz="2000" dirty="0"/>
            </a:br>
            <a:r>
              <a:rPr lang="en-US" altLang="zh-TW" sz="2000" dirty="0"/>
              <a:t>                             </a:t>
            </a:r>
            <a:r>
              <a:rPr lang="en-US" altLang="zh-TW" sz="2000" dirty="0">
                <a:solidFill>
                  <a:schemeClr val="accent1">
                    <a:lumMod val="60000"/>
                    <a:lumOff val="40000"/>
                  </a:schemeClr>
                </a:solidFill>
              </a:rPr>
              <a:t>%WORKSPACE%\EDK2</a:t>
            </a:r>
            <a:br>
              <a:rPr lang="en-US" altLang="zh-TW" sz="2000" dirty="0"/>
            </a:br>
            <a:endParaRPr lang="en-US" altLang="zh-TW" sz="2000" dirty="0"/>
          </a:p>
          <a:p>
            <a:r>
              <a:rPr lang="en-US" altLang="zh-TW" sz="2000" dirty="0"/>
              <a:t>Q: In DSC or FDF file,</a:t>
            </a:r>
            <a:br>
              <a:rPr lang="en-US" altLang="zh-TW" sz="2000" dirty="0"/>
            </a:br>
            <a:r>
              <a:rPr lang="en-US" altLang="zh-TW" sz="2000" dirty="0"/>
              <a:t>    “</a:t>
            </a:r>
            <a:r>
              <a:rPr lang="en-US" altLang="zh-TW" sz="2000" dirty="0" err="1"/>
              <a:t>InsydeModulePkg</a:t>
            </a:r>
            <a:r>
              <a:rPr lang="en-US" altLang="zh-TW" sz="2000" dirty="0"/>
              <a:t>/Universal/</a:t>
            </a:r>
            <a:r>
              <a:rPr lang="en-US" altLang="zh-TW" sz="2000" dirty="0" err="1"/>
              <a:t>BdsDxe</a:t>
            </a:r>
            <a:r>
              <a:rPr lang="en-US" altLang="zh-TW" sz="2000" dirty="0"/>
              <a:t>/BdsDxe.inf”.</a:t>
            </a:r>
            <a:br>
              <a:rPr lang="en-US" altLang="zh-TW" sz="2000" dirty="0"/>
            </a:br>
            <a:br>
              <a:rPr lang="en-US" altLang="zh-TW" sz="2000" dirty="0"/>
            </a:br>
            <a:r>
              <a:rPr lang="en-US" altLang="zh-TW" sz="2000" dirty="0"/>
              <a:t>    How build tool resolve the location ?</a:t>
            </a:r>
          </a:p>
          <a:p>
            <a:r>
              <a:rPr lang="en-US" altLang="zh-TW" sz="2000" dirty="0"/>
              <a:t>A: Build tools bases on following priority to find the file</a:t>
            </a:r>
          </a:p>
          <a:p>
            <a:pPr marL="914400" lvl="1" indent="-457200">
              <a:buFont typeface="+mj-lt"/>
              <a:buAutoNum type="arabicPeriod"/>
            </a:pPr>
            <a:r>
              <a:rPr lang="en-US" altLang="zh-TW" sz="1800" dirty="0">
                <a:solidFill>
                  <a:srgbClr val="FF0000"/>
                </a:solidFill>
              </a:rPr>
              <a:t>D:\Rev.5.4</a:t>
            </a:r>
            <a:r>
              <a:rPr lang="en-US" altLang="zh-TW" sz="1800" dirty="0"/>
              <a:t>\InsydeModulePkg\Universal\BdsDxe\BdsDxe.inf --------------------[Not Found]</a:t>
            </a:r>
          </a:p>
          <a:p>
            <a:pPr marL="914400" lvl="1" indent="-457200">
              <a:buFont typeface="+mj-lt"/>
              <a:buAutoNum type="arabicPeriod"/>
            </a:pPr>
            <a:r>
              <a:rPr lang="en-US" altLang="zh-TW" sz="1800" dirty="0">
                <a:solidFill>
                  <a:schemeClr val="accent1">
                    <a:lumMod val="60000"/>
                    <a:lumOff val="40000"/>
                  </a:schemeClr>
                </a:solidFill>
              </a:rPr>
              <a:t>D:\Rev.5.4\Insyde</a:t>
            </a:r>
            <a:r>
              <a:rPr lang="en-US" altLang="zh-TW" sz="1800" dirty="0"/>
              <a:t>\InsydeModulePkg\Universal\BdsDxe\BdsDxe.inf ------------[Found]</a:t>
            </a:r>
          </a:p>
          <a:p>
            <a:pPr marL="914400" lvl="1" indent="-457200">
              <a:buFont typeface="+mj-lt"/>
              <a:buAutoNum type="arabicPeriod"/>
            </a:pPr>
            <a:r>
              <a:rPr lang="en-US" altLang="zh-TW" sz="1800" dirty="0">
                <a:solidFill>
                  <a:schemeClr val="accent1">
                    <a:lumMod val="60000"/>
                    <a:lumOff val="40000"/>
                  </a:schemeClr>
                </a:solidFill>
              </a:rPr>
              <a:t>D:\Rev.5.4\EDK2</a:t>
            </a:r>
            <a:r>
              <a:rPr lang="en-US" altLang="zh-TW" sz="1800" dirty="0"/>
              <a:t>\InsydeModulePkg\Universal\BdsDxe\BdsDxe.inf</a:t>
            </a:r>
            <a:endParaRPr lang="zh-TW" altLang="en-US" sz="1800" dirty="0"/>
          </a:p>
        </p:txBody>
      </p:sp>
      <p:pic>
        <p:nvPicPr>
          <p:cNvPr id="5" name="圖片 4">
            <a:extLst>
              <a:ext uri="{FF2B5EF4-FFF2-40B4-BE49-F238E27FC236}">
                <a16:creationId xmlns:a16="http://schemas.microsoft.com/office/drawing/2014/main" id="{E8B40070-5401-4807-804A-255330F73BCD}"/>
              </a:ext>
            </a:extLst>
          </p:cNvPr>
          <p:cNvPicPr>
            <a:picLocks noChangeAspect="1"/>
          </p:cNvPicPr>
          <p:nvPr/>
        </p:nvPicPr>
        <p:blipFill>
          <a:blip r:embed="rId2"/>
          <a:stretch>
            <a:fillRect/>
          </a:stretch>
        </p:blipFill>
        <p:spPr>
          <a:xfrm>
            <a:off x="7792976" y="2194741"/>
            <a:ext cx="2507290" cy="2468517"/>
          </a:xfrm>
          <a:prstGeom prst="rect">
            <a:avLst/>
          </a:prstGeom>
        </p:spPr>
      </p:pic>
    </p:spTree>
    <p:extLst>
      <p:ext uri="{BB962C8B-B14F-4D97-AF65-F5344CB8AC3E}">
        <p14:creationId xmlns:p14="http://schemas.microsoft.com/office/powerpoint/2010/main" val="719590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0187-C506-4F34-A43A-313900745A85}"/>
              </a:ext>
            </a:extLst>
          </p:cNvPr>
          <p:cNvSpPr>
            <a:spLocks noGrp="1"/>
          </p:cNvSpPr>
          <p:nvPr>
            <p:ph type="title"/>
          </p:nvPr>
        </p:nvSpPr>
        <p:spPr/>
        <p:txBody>
          <a:bodyPr/>
          <a:lstStyle/>
          <a:p>
            <a:r>
              <a:rPr lang="en-US" altLang="zh-TW" dirty="0"/>
              <a:t>Introduce Multiple Workspaces</a:t>
            </a:r>
            <a:r>
              <a:rPr lang="zh-TW" altLang="en-US" dirty="0"/>
              <a:t> </a:t>
            </a:r>
            <a:r>
              <a:rPr lang="en-US" altLang="zh-TW" dirty="0"/>
              <a:t>(3/6)</a:t>
            </a:r>
            <a:endParaRPr lang="zh-TW" altLang="en-US" dirty="0"/>
          </a:p>
        </p:txBody>
      </p:sp>
      <p:sp>
        <p:nvSpPr>
          <p:cNvPr id="3" name="內容版面配置區 2">
            <a:extLst>
              <a:ext uri="{FF2B5EF4-FFF2-40B4-BE49-F238E27FC236}">
                <a16:creationId xmlns:a16="http://schemas.microsoft.com/office/drawing/2014/main" id="{34B10101-4F08-4AF6-AC49-BF4302F60F1A}"/>
              </a:ext>
            </a:extLst>
          </p:cNvPr>
          <p:cNvSpPr>
            <a:spLocks noGrp="1"/>
          </p:cNvSpPr>
          <p:nvPr>
            <p:ph idx="1"/>
          </p:nvPr>
        </p:nvSpPr>
        <p:spPr/>
        <p:txBody>
          <a:bodyPr>
            <a:normAutofit fontScale="77500" lnSpcReduction="20000"/>
          </a:bodyPr>
          <a:lstStyle/>
          <a:p>
            <a:r>
              <a:rPr lang="en-US" altLang="zh-TW" dirty="0"/>
              <a:t>Example 2:</a:t>
            </a:r>
            <a:br>
              <a:rPr lang="en-US" altLang="zh-TW" dirty="0"/>
            </a:br>
            <a:r>
              <a:rPr lang="en-US" altLang="zh-TW" dirty="0"/>
              <a:t>WORKSPACE=</a:t>
            </a:r>
            <a:r>
              <a:rPr lang="en-US" altLang="zh-TW" dirty="0">
                <a:solidFill>
                  <a:schemeClr val="accent6">
                    <a:lumMod val="60000"/>
                    <a:lumOff val="40000"/>
                  </a:schemeClr>
                </a:solidFill>
              </a:rPr>
              <a:t>D:\Rev.5.4</a:t>
            </a:r>
            <a:br>
              <a:rPr lang="en-US" altLang="zh-TW" dirty="0">
                <a:solidFill>
                  <a:schemeClr val="accent6">
                    <a:lumMod val="60000"/>
                    <a:lumOff val="40000"/>
                  </a:schemeClr>
                </a:solidFill>
              </a:rPr>
            </a:br>
            <a:r>
              <a:rPr lang="en-US" altLang="zh-TW" dirty="0"/>
              <a:t>PACKAGES_PATH=</a:t>
            </a:r>
            <a:r>
              <a:rPr lang="en-US" altLang="zh-TW" dirty="0">
                <a:solidFill>
                  <a:schemeClr val="accent1">
                    <a:lumMod val="60000"/>
                    <a:lumOff val="40000"/>
                  </a:schemeClr>
                </a:solidFill>
              </a:rPr>
              <a:t>%WORKSPACE%\</a:t>
            </a:r>
            <a:r>
              <a:rPr lang="en-US" altLang="zh-TW" dirty="0" err="1">
                <a:solidFill>
                  <a:schemeClr val="accent1">
                    <a:lumMod val="60000"/>
                    <a:lumOff val="40000"/>
                  </a:schemeClr>
                </a:solidFill>
              </a:rPr>
              <a:t>Insyde</a:t>
            </a:r>
            <a:r>
              <a:rPr lang="en-US" altLang="zh-TW" dirty="0">
                <a:solidFill>
                  <a:schemeClr val="accent1">
                    <a:lumMod val="60000"/>
                    <a:lumOff val="40000"/>
                  </a:schemeClr>
                </a:solidFill>
              </a:rPr>
              <a:t>;</a:t>
            </a:r>
            <a:br>
              <a:rPr lang="en-US" altLang="zh-TW" dirty="0">
                <a:solidFill>
                  <a:schemeClr val="accent1">
                    <a:lumMod val="60000"/>
                    <a:lumOff val="40000"/>
                  </a:schemeClr>
                </a:solidFill>
              </a:rPr>
            </a:br>
            <a:r>
              <a:rPr lang="en-US" altLang="zh-TW" dirty="0">
                <a:solidFill>
                  <a:schemeClr val="accent1">
                    <a:lumMod val="60000"/>
                    <a:lumOff val="40000"/>
                  </a:schemeClr>
                </a:solidFill>
              </a:rPr>
              <a:t>                             </a:t>
            </a:r>
            <a:r>
              <a:rPr lang="zh-TW" altLang="en-US" dirty="0">
                <a:solidFill>
                  <a:schemeClr val="accent1">
                    <a:lumMod val="60000"/>
                    <a:lumOff val="40000"/>
                  </a:schemeClr>
                </a:solidFill>
              </a:rPr>
              <a:t> </a:t>
            </a:r>
            <a:r>
              <a:rPr lang="en-US" altLang="zh-TW" dirty="0">
                <a:solidFill>
                  <a:schemeClr val="accent1">
                    <a:lumMod val="60000"/>
                    <a:lumOff val="40000"/>
                  </a:schemeClr>
                </a:solidFill>
              </a:rPr>
              <a:t>%WORKSPACE%\EDK2</a:t>
            </a:r>
            <a:br>
              <a:rPr lang="en-US" altLang="zh-TW" dirty="0"/>
            </a:br>
            <a:endParaRPr lang="en-US" altLang="zh-TW" dirty="0"/>
          </a:p>
          <a:p>
            <a:r>
              <a:rPr lang="en-US" altLang="zh-TW" dirty="0"/>
              <a:t>Q: </a:t>
            </a:r>
            <a:r>
              <a:rPr lang="en-US" altLang="zh-TW" dirty="0" err="1"/>
              <a:t>MdeModulePkg</a:t>
            </a:r>
            <a:r>
              <a:rPr lang="en-US" altLang="zh-TW" dirty="0"/>
              <a:t>/Core/Pei/PeiMain.inf {</a:t>
            </a:r>
            <a:br>
              <a:rPr lang="en-US" altLang="zh-TW" dirty="0"/>
            </a:br>
            <a:r>
              <a:rPr lang="en-US" altLang="zh-TW" dirty="0"/>
              <a:t>      &lt;SOURCE_OVERRIDE_PATH&gt;</a:t>
            </a:r>
            <a:br>
              <a:rPr lang="en-US" altLang="zh-TW" dirty="0"/>
            </a:br>
            <a:r>
              <a:rPr lang="en-US" altLang="zh-TW" dirty="0"/>
              <a:t>         </a:t>
            </a:r>
            <a:r>
              <a:rPr lang="en-US" altLang="zh-TW" u="sng" dirty="0" err="1"/>
              <a:t>MdeModulePkg</a:t>
            </a:r>
            <a:r>
              <a:rPr lang="en-US" altLang="zh-TW" u="sng" dirty="0"/>
              <a:t>/Override/Core/Pei</a:t>
            </a:r>
            <a:br>
              <a:rPr lang="en-US" altLang="zh-TW" u="sng" dirty="0"/>
            </a:br>
            <a:r>
              <a:rPr lang="en-US" altLang="zh-TW" dirty="0"/>
              <a:t>     }</a:t>
            </a:r>
            <a:br>
              <a:rPr lang="en-US" altLang="zh-TW" dirty="0"/>
            </a:br>
            <a:br>
              <a:rPr lang="en-US" altLang="zh-TW" dirty="0"/>
            </a:br>
            <a:r>
              <a:rPr lang="en-US" altLang="zh-TW" dirty="0"/>
              <a:t>     How build tool resolve the location ?</a:t>
            </a:r>
          </a:p>
          <a:p>
            <a:r>
              <a:rPr lang="en-US" altLang="zh-TW" dirty="0"/>
              <a:t>A: Build tools bases on following priority to find the file.</a:t>
            </a:r>
          </a:p>
          <a:p>
            <a:pPr marL="914400" lvl="1" indent="-457200">
              <a:buFont typeface="+mj-lt"/>
              <a:buAutoNum type="arabicPeriod"/>
            </a:pPr>
            <a:r>
              <a:rPr lang="en-US" altLang="zh-TW" sz="2300" dirty="0">
                <a:solidFill>
                  <a:srgbClr val="FF0000"/>
                </a:solidFill>
              </a:rPr>
              <a:t>D:\Rev.5.4</a:t>
            </a:r>
            <a:r>
              <a:rPr lang="en-US" altLang="zh-TW" sz="2300" dirty="0"/>
              <a:t>\</a:t>
            </a:r>
            <a:r>
              <a:rPr lang="en-US" altLang="zh-TW" sz="2300" u="sng" dirty="0"/>
              <a:t>MdeModulePkg\Override\Core\Pei\PeiMain.c -------------------[Not Found]</a:t>
            </a:r>
          </a:p>
          <a:p>
            <a:pPr marL="914400" lvl="1" indent="-457200">
              <a:buFont typeface="+mj-lt"/>
              <a:buAutoNum type="arabicPeriod"/>
            </a:pPr>
            <a:r>
              <a:rPr lang="en-US" altLang="zh-TW" sz="2300" dirty="0">
                <a:solidFill>
                  <a:schemeClr val="accent1">
                    <a:lumMod val="60000"/>
                    <a:lumOff val="40000"/>
                  </a:schemeClr>
                </a:solidFill>
              </a:rPr>
              <a:t>D:\Rev.5.4\Insyde</a:t>
            </a:r>
            <a:r>
              <a:rPr lang="en-US" altLang="zh-TW" sz="2300" dirty="0"/>
              <a:t>\</a:t>
            </a:r>
            <a:r>
              <a:rPr lang="en-US" altLang="zh-TW" sz="2300" u="sng" dirty="0"/>
              <a:t>MdeModulePkg\Override\Core\Pei\PeiMain.c -----------[Not Found]</a:t>
            </a:r>
          </a:p>
          <a:p>
            <a:pPr marL="914400" lvl="1" indent="-457200">
              <a:buFont typeface="+mj-lt"/>
              <a:buAutoNum type="arabicPeriod"/>
            </a:pPr>
            <a:r>
              <a:rPr lang="en-US" altLang="zh-TW" sz="2300" dirty="0">
                <a:solidFill>
                  <a:schemeClr val="accent1">
                    <a:lumMod val="60000"/>
                    <a:lumOff val="40000"/>
                  </a:schemeClr>
                </a:solidFill>
              </a:rPr>
              <a:t>D:\Rev.5.4\EDK2</a:t>
            </a:r>
            <a:r>
              <a:rPr lang="en-US" altLang="zh-TW" sz="2300" dirty="0"/>
              <a:t>\</a:t>
            </a:r>
            <a:r>
              <a:rPr lang="en-US" altLang="zh-TW" sz="2300" u="sng" dirty="0"/>
              <a:t>MdeModulePkg\Override\Core\Pei\PeiMain.c ------------[Found]</a:t>
            </a:r>
          </a:p>
          <a:p>
            <a:pPr marL="914400" lvl="1" indent="-457200">
              <a:buFont typeface="+mj-lt"/>
              <a:buAutoNum type="arabicPeriod"/>
            </a:pPr>
            <a:r>
              <a:rPr lang="en-US" altLang="zh-TW" sz="2300" dirty="0">
                <a:solidFill>
                  <a:srgbClr val="FF0000"/>
                </a:solidFill>
              </a:rPr>
              <a:t>D:\Rev.5.4</a:t>
            </a:r>
            <a:r>
              <a:rPr lang="en-US" altLang="zh-TW" sz="2300" dirty="0"/>
              <a:t>\MdeModulePkg\Core\Pei\PeiMain.c</a:t>
            </a:r>
          </a:p>
          <a:p>
            <a:pPr marL="914400" lvl="1" indent="-457200">
              <a:buFont typeface="+mj-lt"/>
              <a:buAutoNum type="arabicPeriod"/>
            </a:pPr>
            <a:r>
              <a:rPr lang="en-US" altLang="zh-TW" sz="2300" dirty="0">
                <a:solidFill>
                  <a:schemeClr val="accent1">
                    <a:lumMod val="60000"/>
                    <a:lumOff val="40000"/>
                  </a:schemeClr>
                </a:solidFill>
              </a:rPr>
              <a:t>D:\Rev.5.4\Insyde</a:t>
            </a:r>
            <a:r>
              <a:rPr lang="en-US" altLang="zh-TW" sz="2300" dirty="0"/>
              <a:t>\MdeModulePkg\Core\Pei\PeiMain.c</a:t>
            </a:r>
          </a:p>
          <a:p>
            <a:pPr marL="914400" lvl="1" indent="-457200">
              <a:buFont typeface="+mj-lt"/>
              <a:buAutoNum type="arabicPeriod"/>
            </a:pPr>
            <a:r>
              <a:rPr lang="en-US" altLang="zh-TW" sz="2300" dirty="0">
                <a:solidFill>
                  <a:schemeClr val="accent1">
                    <a:lumMod val="60000"/>
                    <a:lumOff val="40000"/>
                  </a:schemeClr>
                </a:solidFill>
              </a:rPr>
              <a:t>D:\Rev.5.4\EDK2</a:t>
            </a:r>
            <a:r>
              <a:rPr lang="en-US" altLang="zh-TW" sz="2300" dirty="0"/>
              <a:t>\MdeModulePkg\Core\Pei\PeiMain.c</a:t>
            </a:r>
          </a:p>
        </p:txBody>
      </p:sp>
      <p:pic>
        <p:nvPicPr>
          <p:cNvPr id="6" name="圖片 5">
            <a:extLst>
              <a:ext uri="{FF2B5EF4-FFF2-40B4-BE49-F238E27FC236}">
                <a16:creationId xmlns:a16="http://schemas.microsoft.com/office/drawing/2014/main" id="{F4A4DCDB-7608-43F7-AD7A-3950196B1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9702" y="1398494"/>
            <a:ext cx="2804098" cy="2923421"/>
          </a:xfrm>
          <a:prstGeom prst="rect">
            <a:avLst/>
          </a:prstGeom>
          <a:ln>
            <a:solidFill>
              <a:srgbClr val="203428"/>
            </a:solidFill>
          </a:ln>
        </p:spPr>
      </p:pic>
    </p:spTree>
    <p:extLst>
      <p:ext uri="{BB962C8B-B14F-4D97-AF65-F5344CB8AC3E}">
        <p14:creationId xmlns:p14="http://schemas.microsoft.com/office/powerpoint/2010/main" val="3911552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F9D52D1-8360-4127-81A9-37C0D5DB4820}"/>
              </a:ext>
            </a:extLst>
          </p:cNvPr>
          <p:cNvSpPr>
            <a:spLocks noGrp="1"/>
          </p:cNvSpPr>
          <p:nvPr>
            <p:ph type="title"/>
          </p:nvPr>
        </p:nvSpPr>
        <p:spPr/>
        <p:txBody>
          <a:bodyPr/>
          <a:lstStyle/>
          <a:p>
            <a:r>
              <a:rPr lang="en-US" altLang="zh-TW" dirty="0"/>
              <a:t>Introduce Multiple Workspaces</a:t>
            </a:r>
            <a:r>
              <a:rPr lang="zh-TW" altLang="en-US" dirty="0"/>
              <a:t> </a:t>
            </a:r>
            <a:r>
              <a:rPr lang="en-US" altLang="zh-TW" dirty="0"/>
              <a:t>(4/6)</a:t>
            </a:r>
            <a:endParaRPr lang="zh-TW" altLang="en-US" dirty="0"/>
          </a:p>
        </p:txBody>
      </p:sp>
      <p:sp>
        <p:nvSpPr>
          <p:cNvPr id="3" name="內容版面配置區 2">
            <a:extLst>
              <a:ext uri="{FF2B5EF4-FFF2-40B4-BE49-F238E27FC236}">
                <a16:creationId xmlns:a16="http://schemas.microsoft.com/office/drawing/2014/main" id="{74D22C0A-D81C-4ADC-A7B9-5D9846AF13D8}"/>
              </a:ext>
            </a:extLst>
          </p:cNvPr>
          <p:cNvSpPr>
            <a:spLocks noGrp="1"/>
          </p:cNvSpPr>
          <p:nvPr>
            <p:ph idx="1"/>
          </p:nvPr>
        </p:nvSpPr>
        <p:spPr/>
        <p:txBody>
          <a:bodyPr>
            <a:normAutofit/>
          </a:bodyPr>
          <a:lstStyle/>
          <a:p>
            <a:r>
              <a:rPr lang="en-US" altLang="zh-TW" sz="2400" dirty="0"/>
              <a:t>Set</a:t>
            </a:r>
            <a:r>
              <a:rPr lang="zh-TW" altLang="en-US" sz="2400" dirty="0"/>
              <a:t> </a:t>
            </a:r>
            <a:r>
              <a:rPr lang="en-US" altLang="zh-TW" sz="2400" dirty="0"/>
              <a:t>the PACKAGES_PATH</a:t>
            </a:r>
            <a:r>
              <a:rPr lang="zh-TW" altLang="en-US" sz="2400" dirty="0"/>
              <a:t> </a:t>
            </a:r>
            <a:r>
              <a:rPr lang="en-US" altLang="zh-TW" sz="2400" dirty="0"/>
              <a:t>environment variable in ProjectSetup.bat</a:t>
            </a:r>
            <a:endParaRPr lang="zh-TW" altLang="en-US" sz="2400" dirty="0"/>
          </a:p>
        </p:txBody>
      </p:sp>
      <p:pic>
        <p:nvPicPr>
          <p:cNvPr id="7" name="圖片 6">
            <a:extLst>
              <a:ext uri="{FF2B5EF4-FFF2-40B4-BE49-F238E27FC236}">
                <a16:creationId xmlns:a16="http://schemas.microsoft.com/office/drawing/2014/main" id="{E30F4639-B88E-4555-A64E-6C32BABB12E1}"/>
              </a:ext>
            </a:extLst>
          </p:cNvPr>
          <p:cNvPicPr>
            <a:picLocks noChangeAspect="1"/>
          </p:cNvPicPr>
          <p:nvPr/>
        </p:nvPicPr>
        <p:blipFill>
          <a:blip r:embed="rId2"/>
          <a:stretch>
            <a:fillRect/>
          </a:stretch>
        </p:blipFill>
        <p:spPr>
          <a:xfrm>
            <a:off x="1082828" y="2119473"/>
            <a:ext cx="6047813" cy="2619053"/>
          </a:xfrm>
          <a:prstGeom prst="rect">
            <a:avLst/>
          </a:prstGeom>
        </p:spPr>
      </p:pic>
    </p:spTree>
    <p:extLst>
      <p:ext uri="{BB962C8B-B14F-4D97-AF65-F5344CB8AC3E}">
        <p14:creationId xmlns:p14="http://schemas.microsoft.com/office/powerpoint/2010/main" val="231394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489A8F-4BB9-4AFB-999C-4A679D235E98}"/>
              </a:ext>
            </a:extLst>
          </p:cNvPr>
          <p:cNvSpPr>
            <a:spLocks noGrp="1"/>
          </p:cNvSpPr>
          <p:nvPr>
            <p:ph type="title"/>
          </p:nvPr>
        </p:nvSpPr>
        <p:spPr/>
        <p:txBody>
          <a:bodyPr/>
          <a:lstStyle/>
          <a:p>
            <a:r>
              <a:rPr lang="en-US" altLang="zh-TW" dirty="0"/>
              <a:t>Introduce Multiple Workspaces (5/6)</a:t>
            </a:r>
            <a:endParaRPr lang="zh-TW" altLang="en-US" dirty="0"/>
          </a:p>
        </p:txBody>
      </p:sp>
      <p:sp>
        <p:nvSpPr>
          <p:cNvPr id="3" name="內容版面配置區 2">
            <a:extLst>
              <a:ext uri="{FF2B5EF4-FFF2-40B4-BE49-F238E27FC236}">
                <a16:creationId xmlns:a16="http://schemas.microsoft.com/office/drawing/2014/main" id="{60EAF0F7-0C0B-4F2F-BF10-BE4AA4BF3A66}"/>
              </a:ext>
            </a:extLst>
          </p:cNvPr>
          <p:cNvSpPr>
            <a:spLocks noGrp="1"/>
          </p:cNvSpPr>
          <p:nvPr>
            <p:ph idx="1"/>
          </p:nvPr>
        </p:nvSpPr>
        <p:spPr/>
        <p:txBody>
          <a:bodyPr>
            <a:normAutofit fontScale="77500" lnSpcReduction="20000"/>
          </a:bodyPr>
          <a:lstStyle/>
          <a:p>
            <a:r>
              <a:rPr lang="en-US" altLang="zh-TW" dirty="0"/>
              <a:t>PROJECT_REL_PATH environment variable (</a:t>
            </a:r>
            <a:r>
              <a:rPr lang="en-US" altLang="zh-TW" dirty="0" err="1"/>
              <a:t>Insyde</a:t>
            </a:r>
            <a:r>
              <a:rPr lang="en-US" altLang="zh-TW" dirty="0"/>
              <a:t> specific)</a:t>
            </a:r>
          </a:p>
          <a:p>
            <a:pPr lvl="1"/>
            <a:r>
              <a:rPr lang="en-US" altLang="zh-TW" dirty="0"/>
              <a:t>The directory, relative to WORKSPACE, of the directory that contains Project package</a:t>
            </a:r>
          </a:p>
          <a:p>
            <a:pPr lvl="1"/>
            <a:r>
              <a:rPr lang="en-US" altLang="zh-TW" dirty="0"/>
              <a:t>Example : “D:\Rev.5.4\Board\Intel\</a:t>
            </a:r>
            <a:r>
              <a:rPr lang="en-US" altLang="zh-TW" dirty="0" err="1"/>
              <a:t>EagleStreamMultiBoardPkg</a:t>
            </a:r>
            <a:r>
              <a:rPr lang="en-US" altLang="zh-TW" dirty="0"/>
              <a:t>”</a:t>
            </a:r>
          </a:p>
          <a:p>
            <a:pPr lvl="2"/>
            <a:r>
              <a:rPr lang="en-US" altLang="zh-TW" dirty="0"/>
              <a:t>WORKSPACE=D:\Rev.5.4</a:t>
            </a:r>
          </a:p>
          <a:p>
            <a:pPr lvl="2"/>
            <a:r>
              <a:rPr lang="en-US" altLang="zh-TW" dirty="0"/>
              <a:t>PROJECT_PKG=</a:t>
            </a:r>
            <a:r>
              <a:rPr lang="en-US" altLang="zh-TW" dirty="0" err="1"/>
              <a:t>EagleStreamMultiBoardPkg</a:t>
            </a:r>
            <a:endParaRPr lang="en-US" altLang="zh-TW" dirty="0"/>
          </a:p>
          <a:p>
            <a:pPr lvl="2"/>
            <a:r>
              <a:rPr lang="en-US" altLang="zh-TW" dirty="0"/>
              <a:t>PROJECT_REL_PATH=Board\Intel</a:t>
            </a:r>
          </a:p>
          <a:p>
            <a:endParaRPr lang="en-US" altLang="zh-TW" dirty="0"/>
          </a:p>
          <a:p>
            <a:r>
              <a:rPr lang="en-US" altLang="zh-TW" dirty="0"/>
              <a:t>CHIPSET_REL_PATH environment variable (</a:t>
            </a:r>
            <a:r>
              <a:rPr lang="en-US" altLang="zh-TW" dirty="0" err="1"/>
              <a:t>Insyde</a:t>
            </a:r>
            <a:r>
              <a:rPr lang="en-US" altLang="zh-TW" dirty="0"/>
              <a:t> specific)</a:t>
            </a:r>
          </a:p>
          <a:p>
            <a:pPr lvl="1"/>
            <a:r>
              <a:rPr lang="en-US" altLang="zh-TW" dirty="0"/>
              <a:t>The directory, relative to WORKSPACE, of the directory that contains chipset package</a:t>
            </a:r>
          </a:p>
          <a:p>
            <a:pPr lvl="1"/>
            <a:r>
              <a:rPr lang="en-US" altLang="zh-TW" dirty="0"/>
              <a:t>Example : "D:\Rev.5.4\Intel\EagleStream\EagleStreamChipsetPkg "</a:t>
            </a:r>
          </a:p>
          <a:p>
            <a:pPr lvl="2"/>
            <a:r>
              <a:rPr lang="en-US" altLang="zh-TW" dirty="0"/>
              <a:t>WORKSPACE=D:\Rev.5.4</a:t>
            </a:r>
          </a:p>
          <a:p>
            <a:pPr lvl="2"/>
            <a:r>
              <a:rPr lang="en-US" altLang="zh-TW" dirty="0"/>
              <a:t>CHIPSET_PKG=</a:t>
            </a:r>
            <a:r>
              <a:rPr lang="en-US" altLang="zh-TW" dirty="0" err="1"/>
              <a:t>EagleStreamChipsetPkg</a:t>
            </a:r>
            <a:endParaRPr lang="en-US" altLang="zh-TW" dirty="0"/>
          </a:p>
          <a:p>
            <a:pPr lvl="2"/>
            <a:r>
              <a:rPr lang="en-US" altLang="zh-TW" dirty="0"/>
              <a:t>CHIPSET_REL_PATH=Intel\</a:t>
            </a:r>
            <a:r>
              <a:rPr lang="en-US" altLang="zh-TW" dirty="0" err="1"/>
              <a:t>EagleStream</a:t>
            </a:r>
            <a:endParaRPr lang="en-US" altLang="zh-TW" dirty="0"/>
          </a:p>
          <a:p>
            <a:pPr lvl="2"/>
            <a:endParaRPr lang="en-US" altLang="zh-TW" dirty="0"/>
          </a:p>
          <a:p>
            <a:r>
              <a:rPr lang="en-US" altLang="zh-TW" dirty="0"/>
              <a:t>PROJECT_REL_PATH and CHIPSET_REL_PATH are used to correct the file path relative to the WORKSPACE for new directory structure in .bat, …, .</a:t>
            </a:r>
            <a:r>
              <a:rPr lang="en-US" altLang="zh-TW" dirty="0" err="1"/>
              <a:t>cmd</a:t>
            </a:r>
            <a:r>
              <a:rPr lang="en-US" altLang="zh-TW" dirty="0"/>
              <a:t> files</a:t>
            </a:r>
          </a:p>
        </p:txBody>
      </p:sp>
    </p:spTree>
    <p:extLst>
      <p:ext uri="{BB962C8B-B14F-4D97-AF65-F5344CB8AC3E}">
        <p14:creationId xmlns:p14="http://schemas.microsoft.com/office/powerpoint/2010/main" val="848222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489A8F-4BB9-4AFB-999C-4A679D235E98}"/>
              </a:ext>
            </a:extLst>
          </p:cNvPr>
          <p:cNvSpPr>
            <a:spLocks noGrp="1"/>
          </p:cNvSpPr>
          <p:nvPr>
            <p:ph type="title"/>
          </p:nvPr>
        </p:nvSpPr>
        <p:spPr/>
        <p:txBody>
          <a:bodyPr/>
          <a:lstStyle/>
          <a:p>
            <a:r>
              <a:rPr lang="en-US" altLang="zh-TW" dirty="0"/>
              <a:t>Introduce Multiple Workspaces (6/6)</a:t>
            </a:r>
            <a:endParaRPr lang="zh-TW" altLang="en-US" dirty="0"/>
          </a:p>
        </p:txBody>
      </p:sp>
      <p:sp>
        <p:nvSpPr>
          <p:cNvPr id="3" name="內容版面配置區 2">
            <a:extLst>
              <a:ext uri="{FF2B5EF4-FFF2-40B4-BE49-F238E27FC236}">
                <a16:creationId xmlns:a16="http://schemas.microsoft.com/office/drawing/2014/main" id="{60EAF0F7-0C0B-4F2F-BF10-BE4AA4BF3A66}"/>
              </a:ext>
            </a:extLst>
          </p:cNvPr>
          <p:cNvSpPr>
            <a:spLocks noGrp="1"/>
          </p:cNvSpPr>
          <p:nvPr>
            <p:ph idx="1"/>
          </p:nvPr>
        </p:nvSpPr>
        <p:spPr/>
        <p:txBody>
          <a:bodyPr>
            <a:normAutofit/>
          </a:bodyPr>
          <a:lstStyle/>
          <a:p>
            <a:r>
              <a:rPr lang="en-US" altLang="zh-TW" dirty="0"/>
              <a:t>Make codebase support multiple workspaces</a:t>
            </a:r>
          </a:p>
          <a:p>
            <a:pPr lvl="1"/>
            <a:r>
              <a:rPr lang="en-US" altLang="zh-TW" dirty="0"/>
              <a:t>PACKAGES_PATH used to correct build tool which attempts to resolve the location of packages</a:t>
            </a:r>
          </a:p>
          <a:p>
            <a:pPr lvl="1"/>
            <a:r>
              <a:rPr lang="en-US" altLang="zh-TW" dirty="0"/>
              <a:t>PROJECT_REL_PATH and CHIPSET_REL_PATH used to correct the file path which relative to the WORKSPACE in .bat, …, .</a:t>
            </a:r>
            <a:r>
              <a:rPr lang="en-US" altLang="zh-TW" dirty="0" err="1"/>
              <a:t>cmd</a:t>
            </a:r>
            <a:r>
              <a:rPr lang="en-US" altLang="zh-TW" dirty="0"/>
              <a:t> files.</a:t>
            </a:r>
          </a:p>
          <a:p>
            <a:endParaRPr lang="en-US" altLang="zh-TW" dirty="0"/>
          </a:p>
          <a:p>
            <a:pPr marL="228600" lvl="1">
              <a:spcBef>
                <a:spcPts val="1000"/>
              </a:spcBef>
            </a:pPr>
            <a:r>
              <a:rPr lang="en-US" altLang="zh-TW" dirty="0"/>
              <a:t>PACKAGES_PATH, PROJECT_REL_PATH and CHIPSET_REL_PATH environment variables are set after setting WORKSPACE in ProjectSetup.bat</a:t>
            </a:r>
          </a:p>
          <a:p>
            <a:pPr lvl="1"/>
            <a:r>
              <a:rPr lang="en-US" altLang="zh-TW" dirty="0"/>
              <a:t>PROJECT_REL_PATH and CHIPSET_REL_PATH value are obtained by GetProjectEnv.exe</a:t>
            </a:r>
          </a:p>
        </p:txBody>
      </p:sp>
    </p:spTree>
    <p:extLst>
      <p:ext uri="{BB962C8B-B14F-4D97-AF65-F5344CB8AC3E}">
        <p14:creationId xmlns:p14="http://schemas.microsoft.com/office/powerpoint/2010/main" val="2709421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22</a:t>
            </a:fld>
            <a:endParaRPr lang="en-US" dirty="0"/>
          </a:p>
        </p:txBody>
      </p:sp>
      <p:sp>
        <p:nvSpPr>
          <p:cNvPr id="2" name="Title 1"/>
          <p:cNvSpPr>
            <a:spLocks noGrp="1"/>
          </p:cNvSpPr>
          <p:nvPr>
            <p:ph type="title"/>
          </p:nvPr>
        </p:nvSpPr>
        <p:spPr/>
        <p:txBody>
          <a:bodyPr/>
          <a:lstStyle/>
          <a:p>
            <a:r>
              <a:rPr lang="en-US" altLang="zh-TW" dirty="0"/>
              <a:t>Override Mechanism</a:t>
            </a:r>
            <a:endParaRPr lang="en-US" dirty="0"/>
          </a:p>
        </p:txBody>
      </p:sp>
    </p:spTree>
    <p:extLst>
      <p:ext uri="{BB962C8B-B14F-4D97-AF65-F5344CB8AC3E}">
        <p14:creationId xmlns:p14="http://schemas.microsoft.com/office/powerpoint/2010/main" val="887828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Use Override</a:t>
            </a:r>
            <a:br>
              <a:rPr lang="en-US" dirty="0"/>
            </a:br>
            <a:r>
              <a:rPr lang="en-US" sz="2200" dirty="0" err="1"/>
              <a:t>Override</a:t>
            </a:r>
            <a:r>
              <a:rPr lang="en-US" sz="2200" dirty="0"/>
              <a:t> in </a:t>
            </a:r>
            <a:r>
              <a:rPr lang="en-US" sz="2200" dirty="0" err="1"/>
              <a:t>Project.dsc</a:t>
            </a:r>
            <a:endParaRPr lang="en-US" sz="2200" dirty="0"/>
          </a:p>
        </p:txBody>
      </p:sp>
      <p:grpSp>
        <p:nvGrpSpPr>
          <p:cNvPr id="25" name="群組 24">
            <a:extLst>
              <a:ext uri="{FF2B5EF4-FFF2-40B4-BE49-F238E27FC236}">
                <a16:creationId xmlns:a16="http://schemas.microsoft.com/office/drawing/2014/main" id="{6438FB66-2666-440C-B732-4F1980675EA1}"/>
              </a:ext>
            </a:extLst>
          </p:cNvPr>
          <p:cNvGrpSpPr/>
          <p:nvPr/>
        </p:nvGrpSpPr>
        <p:grpSpPr>
          <a:xfrm>
            <a:off x="1723800" y="1424160"/>
            <a:ext cx="8550260" cy="4669920"/>
            <a:chOff x="207000" y="1424160"/>
            <a:chExt cx="8550260" cy="4669920"/>
          </a:xfrm>
        </p:grpSpPr>
        <p:sp>
          <p:nvSpPr>
            <p:cNvPr id="26" name="CustomShape 2">
              <a:extLst>
                <a:ext uri="{FF2B5EF4-FFF2-40B4-BE49-F238E27FC236}">
                  <a16:creationId xmlns:a16="http://schemas.microsoft.com/office/drawing/2014/main" id="{87F7B913-5317-434F-A3D2-23F4CA712D1F}"/>
                </a:ext>
              </a:extLst>
            </p:cNvPr>
            <p:cNvSpPr/>
            <p:nvPr/>
          </p:nvSpPr>
          <p:spPr>
            <a:xfrm>
              <a:off x="207000" y="1424160"/>
              <a:ext cx="3139920" cy="783720"/>
            </a:xfrm>
            <a:prstGeom prst="roundRect">
              <a:avLst>
                <a:gd name="adj" fmla="val 10000"/>
              </a:avLst>
            </a:prstGeom>
            <a:solidFill>
              <a:schemeClr val="accent1">
                <a:hueOff val="0"/>
                <a:satOff val="0"/>
                <a:lumOff val="0"/>
                <a:alphaOff val="0"/>
              </a:schemeClr>
            </a:solidFill>
            <a:ln>
              <a:noFill/>
            </a:ln>
            <a:effectLst>
              <a:outerShdw blurRad="40000" dist="2304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2">
              <a:scrgbClr r="0" g="0" b="0"/>
            </a:effectRef>
            <a:fontRef idx="minor"/>
          </p:style>
          <p:txBody>
            <a:bodyPr lIns="48600" tIns="48600" rIns="25560" bIns="48600" anchor="ctr">
              <a:noAutofit/>
            </a:bodyPr>
            <a:lstStyle/>
            <a:p>
              <a:pPr algn="ctr">
                <a:lnSpc>
                  <a:spcPct val="90000"/>
                </a:lnSpc>
              </a:pPr>
              <a:r>
                <a:rPr lang="en-US" sz="2000" b="1" strike="noStrike" spc="-1">
                  <a:solidFill>
                    <a:srgbClr val="FFFFFF"/>
                  </a:solidFill>
                  <a:latin typeface="Segoe UI"/>
                  <a:ea typeface="DejaVu Sans"/>
                </a:rPr>
                <a:t>Syntax</a:t>
              </a:r>
              <a:endParaRPr lang="en-US" sz="2000" b="0" strike="noStrike" spc="-1">
                <a:latin typeface="Arial"/>
              </a:endParaRPr>
            </a:p>
          </p:txBody>
        </p:sp>
        <p:sp>
          <p:nvSpPr>
            <p:cNvPr id="27" name="CustomShape 3">
              <a:extLst>
                <a:ext uri="{FF2B5EF4-FFF2-40B4-BE49-F238E27FC236}">
                  <a16:creationId xmlns:a16="http://schemas.microsoft.com/office/drawing/2014/main" id="{4ADFE3C4-A89E-480E-B3F2-DCBF24172F22}"/>
                </a:ext>
              </a:extLst>
            </p:cNvPr>
            <p:cNvSpPr/>
            <p:nvPr/>
          </p:nvSpPr>
          <p:spPr>
            <a:xfrm rot="5400000">
              <a:off x="1710360" y="22780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28" name="CustomShape 4">
              <a:extLst>
                <a:ext uri="{FF2B5EF4-FFF2-40B4-BE49-F238E27FC236}">
                  <a16:creationId xmlns:a16="http://schemas.microsoft.com/office/drawing/2014/main" id="{B53C42AF-68A7-438A-A460-387A93B56271}"/>
                </a:ext>
              </a:extLst>
            </p:cNvPr>
            <p:cNvSpPr/>
            <p:nvPr/>
          </p:nvSpPr>
          <p:spPr>
            <a:xfrm>
              <a:off x="207000" y="24843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FF0000"/>
                  </a:solidFill>
                  <a:latin typeface="Segoe UI"/>
                  <a:ea typeface="DejaVu Sans"/>
                </a:rPr>
                <a:t>!disable</a:t>
              </a:r>
              <a:r>
                <a:rPr lang="en-US" sz="1600" b="1" strike="noStrike" spc="-1">
                  <a:solidFill>
                    <a:srgbClr val="3F3F3F"/>
                  </a:solidFill>
                  <a:latin typeface="Segoe UI"/>
                  <a:ea typeface="DejaVu Sans"/>
                </a:rPr>
                <a:t> </a:t>
              </a:r>
              <a:r>
                <a:rPr lang="en-US" sz="1600" b="1" strike="noStrike" spc="-1">
                  <a:solidFill>
                    <a:srgbClr val="004D2B"/>
                  </a:solidFill>
                  <a:latin typeface="Segoe UI"/>
                  <a:ea typeface="DejaVu Sans"/>
                </a:rPr>
                <a:t>Original_Path</a:t>
              </a:r>
              <a:r>
                <a:rPr lang="en-US" sz="1600" b="0" strike="noStrike" spc="-1">
                  <a:solidFill>
                    <a:srgbClr val="3F3F3F"/>
                  </a:solidFill>
                  <a:latin typeface="Segoe UI"/>
                  <a:ea typeface="DejaVu Sans"/>
                </a:rPr>
                <a:t>/</a:t>
              </a:r>
              <a:r>
                <a:rPr lang="en-US" sz="1600" b="0" strike="noStrike" spc="-1">
                  <a:solidFill>
                    <a:srgbClr val="0070C0"/>
                  </a:solidFill>
                  <a:latin typeface="Segoe UI"/>
                  <a:ea typeface="DejaVu Sans"/>
                </a:rPr>
                <a:t>Module.inf</a:t>
              </a:r>
              <a:endParaRPr lang="en-US" sz="1600" b="0" strike="noStrike" spc="-1">
                <a:latin typeface="Arial"/>
              </a:endParaRPr>
            </a:p>
          </p:txBody>
        </p:sp>
        <p:sp>
          <p:nvSpPr>
            <p:cNvPr id="29" name="CustomShape 5">
              <a:extLst>
                <a:ext uri="{FF2B5EF4-FFF2-40B4-BE49-F238E27FC236}">
                  <a16:creationId xmlns:a16="http://schemas.microsoft.com/office/drawing/2014/main" id="{A018D6E1-C05E-4C4D-8231-2D7167D6949B}"/>
                </a:ext>
              </a:extLst>
            </p:cNvPr>
            <p:cNvSpPr/>
            <p:nvPr/>
          </p:nvSpPr>
          <p:spPr>
            <a:xfrm rot="5400000">
              <a:off x="1710360" y="33382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0" name="CustomShape 6">
              <a:extLst>
                <a:ext uri="{FF2B5EF4-FFF2-40B4-BE49-F238E27FC236}">
                  <a16:creationId xmlns:a16="http://schemas.microsoft.com/office/drawing/2014/main" id="{299EE7BF-6971-457F-A36F-F2F63D198ABD}"/>
                </a:ext>
              </a:extLst>
            </p:cNvPr>
            <p:cNvSpPr/>
            <p:nvPr/>
          </p:nvSpPr>
          <p:spPr>
            <a:xfrm>
              <a:off x="207000" y="35445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004D2B"/>
                  </a:solidFill>
                  <a:latin typeface="Segoe UI"/>
                  <a:ea typeface="DejaVu Sans"/>
                </a:rPr>
                <a:t>Original_Path</a:t>
              </a:r>
              <a:r>
                <a:rPr lang="en-US" sz="1600" b="0" strike="noStrike" spc="-1">
                  <a:solidFill>
                    <a:srgbClr val="3F3F3F"/>
                  </a:solidFill>
                  <a:latin typeface="Segoe UI"/>
                  <a:ea typeface="DejaVu Sans"/>
                </a:rPr>
                <a:t>/</a:t>
              </a:r>
              <a:r>
                <a:rPr lang="en-US" sz="1600" b="0" strike="noStrike" spc="-1">
                  <a:solidFill>
                    <a:srgbClr val="0070C0"/>
                  </a:solidFill>
                  <a:latin typeface="Segoe UI"/>
                  <a:ea typeface="DejaVu Sans"/>
                </a:rPr>
                <a:t>Module.inf </a:t>
              </a:r>
              <a:r>
                <a:rPr lang="en-US" sz="1600" b="0" strike="noStrike" spc="-1">
                  <a:solidFill>
                    <a:srgbClr val="3F3F3F"/>
                  </a:solidFill>
                  <a:latin typeface="Segoe UI"/>
                  <a:ea typeface="DejaVu Sans"/>
                </a:rPr>
                <a:t> {</a:t>
              </a:r>
              <a:endParaRPr lang="en-US" sz="1600" b="0" strike="noStrike" spc="-1">
                <a:latin typeface="Arial"/>
              </a:endParaRPr>
            </a:p>
          </p:txBody>
        </p:sp>
        <p:sp>
          <p:nvSpPr>
            <p:cNvPr id="31" name="CustomShape 7">
              <a:extLst>
                <a:ext uri="{FF2B5EF4-FFF2-40B4-BE49-F238E27FC236}">
                  <a16:creationId xmlns:a16="http://schemas.microsoft.com/office/drawing/2014/main" id="{E8F3C8CB-0900-4875-87EB-52A5F50AD893}"/>
                </a:ext>
              </a:extLst>
            </p:cNvPr>
            <p:cNvSpPr/>
            <p:nvPr/>
          </p:nvSpPr>
          <p:spPr>
            <a:xfrm rot="5400000">
              <a:off x="1710360" y="43984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2" name="CustomShape 8">
              <a:extLst>
                <a:ext uri="{FF2B5EF4-FFF2-40B4-BE49-F238E27FC236}">
                  <a16:creationId xmlns:a16="http://schemas.microsoft.com/office/drawing/2014/main" id="{0AA157C3-83CD-4E62-A369-5ECBEA8C985D}"/>
                </a:ext>
              </a:extLst>
            </p:cNvPr>
            <p:cNvSpPr/>
            <p:nvPr/>
          </p:nvSpPr>
          <p:spPr>
            <a:xfrm>
              <a:off x="207000" y="4604760"/>
              <a:ext cx="3139920" cy="42948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32760" tIns="32760" rIns="20160" bIns="32760" anchor="ctr">
              <a:noAutofit/>
            </a:bodyPr>
            <a:lstStyle/>
            <a:p>
              <a:pPr algn="ctr">
                <a:lnSpc>
                  <a:spcPct val="90000"/>
                </a:lnSpc>
              </a:pPr>
              <a:r>
                <a:rPr lang="en-US" sz="1600" b="0" strike="noStrike" spc="-1">
                  <a:solidFill>
                    <a:srgbClr val="FF0000"/>
                  </a:solidFill>
                  <a:latin typeface="Segoe UI"/>
                  <a:ea typeface="DejaVu Sans"/>
                </a:rPr>
                <a:t>&lt;</a:t>
              </a:r>
              <a:r>
                <a:rPr lang="en-US" sz="1600" b="1" strike="noStrike" spc="-1">
                  <a:solidFill>
                    <a:srgbClr val="FF0000"/>
                  </a:solidFill>
                  <a:latin typeface="Segoe UI"/>
                  <a:ea typeface="DejaVu Sans"/>
                </a:rPr>
                <a:t>SOURCE_OVERRIDE_PATH</a:t>
              </a:r>
              <a:r>
                <a:rPr lang="en-US" sz="1600" b="0" strike="noStrike" spc="-1">
                  <a:solidFill>
                    <a:srgbClr val="FF0000"/>
                  </a:solidFill>
                  <a:latin typeface="Segoe UI"/>
                  <a:ea typeface="DejaVu Sans"/>
                </a:rPr>
                <a:t>&gt;</a:t>
              </a:r>
              <a:endParaRPr lang="en-US" sz="1600" b="0" strike="noStrike" spc="-1">
                <a:latin typeface="Arial"/>
              </a:endParaRPr>
            </a:p>
          </p:txBody>
        </p:sp>
        <p:sp>
          <p:nvSpPr>
            <p:cNvPr id="33" name="CustomShape 9">
              <a:extLst>
                <a:ext uri="{FF2B5EF4-FFF2-40B4-BE49-F238E27FC236}">
                  <a16:creationId xmlns:a16="http://schemas.microsoft.com/office/drawing/2014/main" id="{8B8B549D-3547-41BA-AE53-CF8DC6B0D486}"/>
                </a:ext>
              </a:extLst>
            </p:cNvPr>
            <p:cNvSpPr/>
            <p:nvPr/>
          </p:nvSpPr>
          <p:spPr>
            <a:xfrm rot="5400000">
              <a:off x="1710360" y="510444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4" name="CustomShape 10">
              <a:extLst>
                <a:ext uri="{FF2B5EF4-FFF2-40B4-BE49-F238E27FC236}">
                  <a16:creationId xmlns:a16="http://schemas.microsoft.com/office/drawing/2014/main" id="{947274A7-5034-49A9-9200-715489AEDCA7}"/>
                </a:ext>
              </a:extLst>
            </p:cNvPr>
            <p:cNvSpPr/>
            <p:nvPr/>
          </p:nvSpPr>
          <p:spPr>
            <a:xfrm>
              <a:off x="207000" y="53103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C00000"/>
                  </a:solidFill>
                  <a:latin typeface="Segoe UI"/>
                  <a:ea typeface="DejaVu Sans"/>
                </a:rPr>
                <a:t>Override_Path</a:t>
              </a:r>
              <a:r>
                <a:rPr lang="en-US" sz="1600" b="0" strike="noStrike" spc="-1">
                  <a:solidFill>
                    <a:srgbClr val="3F3F3F"/>
                  </a:solidFill>
                  <a:latin typeface="Segoe UI"/>
                  <a:ea typeface="DejaVu Sans"/>
                </a:rPr>
                <a:t>}</a:t>
              </a:r>
              <a:endParaRPr lang="en-US" sz="1600" b="0" strike="noStrike" spc="-1">
                <a:latin typeface="Arial"/>
              </a:endParaRPr>
            </a:p>
          </p:txBody>
        </p:sp>
        <p:sp>
          <p:nvSpPr>
            <p:cNvPr id="35" name="CustomShape 11">
              <a:extLst>
                <a:ext uri="{FF2B5EF4-FFF2-40B4-BE49-F238E27FC236}">
                  <a16:creationId xmlns:a16="http://schemas.microsoft.com/office/drawing/2014/main" id="{A69E8250-7688-4DF4-B0CE-ED961CD310C8}"/>
                </a:ext>
              </a:extLst>
            </p:cNvPr>
            <p:cNvSpPr/>
            <p:nvPr/>
          </p:nvSpPr>
          <p:spPr>
            <a:xfrm>
              <a:off x="3812040" y="1424160"/>
              <a:ext cx="4945220" cy="783720"/>
            </a:xfrm>
            <a:prstGeom prst="roundRect">
              <a:avLst>
                <a:gd name="adj" fmla="val 10000"/>
              </a:avLst>
            </a:prstGeom>
            <a:solidFill>
              <a:schemeClr val="accent1">
                <a:hueOff val="0"/>
                <a:satOff val="0"/>
                <a:lumOff val="0"/>
                <a:alphaOff val="0"/>
              </a:schemeClr>
            </a:solidFill>
            <a:ln>
              <a:noFill/>
            </a:ln>
            <a:effectLst>
              <a:outerShdw blurRad="40000" dist="2304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2">
              <a:scrgbClr r="0" g="0" b="0"/>
            </a:effectRef>
            <a:fontRef idx="minor"/>
          </p:style>
          <p:txBody>
            <a:bodyPr lIns="48600" tIns="48600" rIns="25560" bIns="48600" anchor="ctr">
              <a:noAutofit/>
            </a:bodyPr>
            <a:lstStyle/>
            <a:p>
              <a:pPr algn="ctr">
                <a:lnSpc>
                  <a:spcPct val="90000"/>
                </a:lnSpc>
              </a:pPr>
              <a:r>
                <a:rPr lang="en-US" sz="2000" b="1" strike="noStrike" spc="-1">
                  <a:solidFill>
                    <a:srgbClr val="FFFFFF"/>
                  </a:solidFill>
                  <a:latin typeface="Segoe UI"/>
                  <a:ea typeface="DejaVu Sans"/>
                </a:rPr>
                <a:t>Example</a:t>
              </a:r>
              <a:endParaRPr lang="en-US" sz="2000" b="0" strike="noStrike" spc="-1">
                <a:latin typeface="Arial"/>
              </a:endParaRPr>
            </a:p>
          </p:txBody>
        </p:sp>
        <p:sp>
          <p:nvSpPr>
            <p:cNvPr id="36" name="CustomShape 12">
              <a:extLst>
                <a:ext uri="{FF2B5EF4-FFF2-40B4-BE49-F238E27FC236}">
                  <a16:creationId xmlns:a16="http://schemas.microsoft.com/office/drawing/2014/main" id="{BAB8BA43-2678-4507-8B59-AEC7CB6EC668}"/>
                </a:ext>
              </a:extLst>
            </p:cNvPr>
            <p:cNvSpPr/>
            <p:nvPr/>
          </p:nvSpPr>
          <p:spPr>
            <a:xfrm rot="5400000">
              <a:off x="6216610" y="2294315"/>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7" name="CustomShape 13">
              <a:extLst>
                <a:ext uri="{FF2B5EF4-FFF2-40B4-BE49-F238E27FC236}">
                  <a16:creationId xmlns:a16="http://schemas.microsoft.com/office/drawing/2014/main" id="{21D28E48-CA55-4876-857D-476CECFEB8C4}"/>
                </a:ext>
              </a:extLst>
            </p:cNvPr>
            <p:cNvSpPr/>
            <p:nvPr/>
          </p:nvSpPr>
          <p:spPr>
            <a:xfrm>
              <a:off x="3812040" y="2484360"/>
              <a:ext cx="49452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1" strike="noStrike" spc="-1" dirty="0">
                  <a:solidFill>
                    <a:srgbClr val="FF0000"/>
                  </a:solidFill>
                  <a:latin typeface="Segoe UI"/>
                  <a:ea typeface="DejaVu Sans"/>
                </a:rPr>
                <a:t>!disable </a:t>
              </a:r>
              <a:r>
                <a:rPr lang="en-US" sz="1600" b="0" strike="noStrike" spc="-1" dirty="0" err="1">
                  <a:solidFill>
                    <a:srgbClr val="004D2B"/>
                  </a:solidFill>
                  <a:latin typeface="Segoe UI"/>
                  <a:ea typeface="DejaVu Sans"/>
                </a:rPr>
                <a:t>MdeModulePkg</a:t>
              </a:r>
              <a:r>
                <a:rPr lang="en-US" sz="1600" b="0" strike="noStrike" spc="-1" dirty="0">
                  <a:solidFill>
                    <a:srgbClr val="004D2B"/>
                  </a:solidFill>
                  <a:latin typeface="Segoe UI"/>
                  <a:ea typeface="DejaVu Sans"/>
                </a:rPr>
                <a:t>/Universal/</a:t>
              </a:r>
              <a:r>
                <a:rPr lang="en-US" sz="1600" b="0" strike="noStrike" spc="-1" dirty="0" err="1">
                  <a:solidFill>
                    <a:srgbClr val="004D2B"/>
                  </a:solidFill>
                  <a:latin typeface="Segoe UI"/>
                  <a:ea typeface="DejaVu Sans"/>
                </a:rPr>
                <a:t>StatusCodeHandler</a:t>
              </a:r>
              <a:r>
                <a:rPr lang="en-US" sz="1600" b="0" strike="noStrike" spc="-1" dirty="0">
                  <a:solidFill>
                    <a:srgbClr val="004D2B"/>
                  </a:solidFill>
                  <a:latin typeface="Segoe UI"/>
                  <a:ea typeface="DejaVu Sans"/>
                </a:rPr>
                <a:t>/</a:t>
              </a:r>
              <a:r>
                <a:rPr lang="en-US" sz="1600" b="0" strike="noStrike" spc="-1" dirty="0" err="1">
                  <a:solidFill>
                    <a:srgbClr val="004D2B"/>
                  </a:solidFill>
                  <a:latin typeface="Segoe UI"/>
                  <a:ea typeface="DejaVu Sans"/>
                </a:rPr>
                <a:t>Smm</a:t>
              </a:r>
              <a:r>
                <a:rPr lang="en-US" sz="1600" b="0" strike="noStrike" spc="-1" dirty="0">
                  <a:solidFill>
                    <a:srgbClr val="004D2B"/>
                  </a:solidFill>
                  <a:latin typeface="Segoe UI"/>
                  <a:ea typeface="DejaVu Sans"/>
                </a:rPr>
                <a:t>/</a:t>
              </a:r>
              <a:r>
                <a:rPr lang="en-US" sz="1600" spc="-1" dirty="0">
                  <a:solidFill>
                    <a:srgbClr val="0070C0"/>
                  </a:solidFill>
                  <a:latin typeface="Segoe UI"/>
                </a:rPr>
                <a:t>StatusCodeHandlerSmm.inf</a:t>
              </a:r>
            </a:p>
          </p:txBody>
        </p:sp>
        <p:sp>
          <p:nvSpPr>
            <p:cNvPr id="38" name="CustomShape 14">
              <a:extLst>
                <a:ext uri="{FF2B5EF4-FFF2-40B4-BE49-F238E27FC236}">
                  <a16:creationId xmlns:a16="http://schemas.microsoft.com/office/drawing/2014/main" id="{800B7D25-47F9-479B-8758-E4EDB11AB95D}"/>
                </a:ext>
              </a:extLst>
            </p:cNvPr>
            <p:cNvSpPr/>
            <p:nvPr/>
          </p:nvSpPr>
          <p:spPr>
            <a:xfrm rot="5400000">
              <a:off x="6216610" y="3321479"/>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9" name="CustomShape 15">
              <a:extLst>
                <a:ext uri="{FF2B5EF4-FFF2-40B4-BE49-F238E27FC236}">
                  <a16:creationId xmlns:a16="http://schemas.microsoft.com/office/drawing/2014/main" id="{70965F00-D0B1-49DB-8D39-711466F3ACA6}"/>
                </a:ext>
              </a:extLst>
            </p:cNvPr>
            <p:cNvSpPr/>
            <p:nvPr/>
          </p:nvSpPr>
          <p:spPr>
            <a:xfrm>
              <a:off x="3812040" y="3544560"/>
              <a:ext cx="49452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0" strike="noStrike" spc="-1" dirty="0" err="1">
                  <a:solidFill>
                    <a:srgbClr val="004D2B"/>
                  </a:solidFill>
                  <a:latin typeface="Segoe UI"/>
                  <a:ea typeface="DejaVu Sans"/>
                </a:rPr>
                <a:t>MdeModulePkg</a:t>
              </a:r>
              <a:r>
                <a:rPr lang="en-US" sz="1600" b="0" strike="noStrike" spc="-1" dirty="0">
                  <a:solidFill>
                    <a:srgbClr val="004D2B"/>
                  </a:solidFill>
                  <a:latin typeface="Segoe UI"/>
                  <a:ea typeface="DejaVu Sans"/>
                </a:rPr>
                <a:t>/Universal/</a:t>
              </a:r>
              <a:r>
                <a:rPr lang="en-US" sz="1600" b="0" strike="noStrike" spc="-1" dirty="0" err="1">
                  <a:solidFill>
                    <a:srgbClr val="004D2B"/>
                  </a:solidFill>
                  <a:latin typeface="Segoe UI"/>
                  <a:ea typeface="DejaVu Sans"/>
                </a:rPr>
                <a:t>StatusCodeHandler</a:t>
              </a:r>
              <a:r>
                <a:rPr lang="en-US" sz="1600" b="0" strike="noStrike" spc="-1" dirty="0">
                  <a:solidFill>
                    <a:srgbClr val="004D2B"/>
                  </a:solidFill>
                  <a:latin typeface="Segoe UI"/>
                  <a:ea typeface="DejaVu Sans"/>
                </a:rPr>
                <a:t>/</a:t>
              </a:r>
              <a:r>
                <a:rPr lang="en-US" sz="1600" b="0" strike="noStrike" spc="-1" dirty="0" err="1">
                  <a:solidFill>
                    <a:srgbClr val="004D2B"/>
                  </a:solidFill>
                  <a:latin typeface="Segoe UI"/>
                  <a:ea typeface="DejaVu Sans"/>
                </a:rPr>
                <a:t>Smm</a:t>
              </a:r>
              <a:r>
                <a:rPr lang="en-US" sz="1600" b="0" strike="noStrike" spc="-1" dirty="0">
                  <a:solidFill>
                    <a:srgbClr val="004D2B"/>
                  </a:solidFill>
                  <a:latin typeface="Segoe UI"/>
                  <a:ea typeface="DejaVu Sans"/>
                </a:rPr>
                <a:t>/</a:t>
              </a:r>
              <a:r>
                <a:rPr lang="en-US" sz="1600" spc="-1" dirty="0">
                  <a:solidFill>
                    <a:srgbClr val="0070C0"/>
                  </a:solidFill>
                  <a:latin typeface="Segoe UI"/>
                </a:rPr>
                <a:t>StatusCodeHandlerSmm.inf </a:t>
              </a:r>
              <a:r>
                <a:rPr lang="en-US" sz="1600" b="0" strike="noStrike" spc="-1" dirty="0">
                  <a:solidFill>
                    <a:srgbClr val="3F3F3F"/>
                  </a:solidFill>
                  <a:latin typeface="Segoe UI"/>
                  <a:ea typeface="DejaVu Sans"/>
                </a:rPr>
                <a:t>{</a:t>
              </a:r>
              <a:endParaRPr lang="en-US" sz="1600" b="0" strike="noStrike" spc="-1" dirty="0">
                <a:latin typeface="Arial"/>
              </a:endParaRPr>
            </a:p>
          </p:txBody>
        </p:sp>
        <p:sp>
          <p:nvSpPr>
            <p:cNvPr id="40" name="CustomShape 16">
              <a:extLst>
                <a:ext uri="{FF2B5EF4-FFF2-40B4-BE49-F238E27FC236}">
                  <a16:creationId xmlns:a16="http://schemas.microsoft.com/office/drawing/2014/main" id="{024C96FB-1B26-4A22-A9F4-CB26E84892E8}"/>
                </a:ext>
              </a:extLst>
            </p:cNvPr>
            <p:cNvSpPr/>
            <p:nvPr/>
          </p:nvSpPr>
          <p:spPr>
            <a:xfrm rot="5400000">
              <a:off x="6216610" y="43984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41" name="CustomShape 17">
              <a:extLst>
                <a:ext uri="{FF2B5EF4-FFF2-40B4-BE49-F238E27FC236}">
                  <a16:creationId xmlns:a16="http://schemas.microsoft.com/office/drawing/2014/main" id="{B5EAAA6C-068D-4667-A455-356F40E64575}"/>
                </a:ext>
              </a:extLst>
            </p:cNvPr>
            <p:cNvSpPr/>
            <p:nvPr/>
          </p:nvSpPr>
          <p:spPr>
            <a:xfrm>
              <a:off x="3812040" y="4604760"/>
              <a:ext cx="4945220" cy="42948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32760" tIns="32760" rIns="20160" bIns="32760" anchor="ctr">
              <a:noAutofit/>
            </a:bodyPr>
            <a:lstStyle/>
            <a:p>
              <a:pPr algn="ctr">
                <a:lnSpc>
                  <a:spcPct val="90000"/>
                </a:lnSpc>
              </a:pPr>
              <a:r>
                <a:rPr lang="en-US" sz="1600" b="1" strike="noStrike" spc="-1" dirty="0">
                  <a:solidFill>
                    <a:srgbClr val="FF0000"/>
                  </a:solidFill>
                  <a:latin typeface="Segoe UI"/>
                  <a:ea typeface="DejaVu Sans"/>
                </a:rPr>
                <a:t>&lt;SOURCE_OVERRIDE_PATH&gt;</a:t>
              </a:r>
              <a:endParaRPr lang="en-US" sz="1600" b="0" strike="noStrike" spc="-1" dirty="0">
                <a:latin typeface="Arial"/>
              </a:endParaRPr>
            </a:p>
          </p:txBody>
        </p:sp>
        <p:sp>
          <p:nvSpPr>
            <p:cNvPr id="42" name="CustomShape 18">
              <a:extLst>
                <a:ext uri="{FF2B5EF4-FFF2-40B4-BE49-F238E27FC236}">
                  <a16:creationId xmlns:a16="http://schemas.microsoft.com/office/drawing/2014/main" id="{31F51B9B-1777-4A0C-98A7-12767C25FA1F}"/>
                </a:ext>
              </a:extLst>
            </p:cNvPr>
            <p:cNvSpPr/>
            <p:nvPr/>
          </p:nvSpPr>
          <p:spPr>
            <a:xfrm rot="5400000">
              <a:off x="6216610" y="510444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43" name="CustomShape 19">
              <a:extLst>
                <a:ext uri="{FF2B5EF4-FFF2-40B4-BE49-F238E27FC236}">
                  <a16:creationId xmlns:a16="http://schemas.microsoft.com/office/drawing/2014/main" id="{8BA9664E-0BA5-4B0C-8937-3E92F35A1A05}"/>
                </a:ext>
              </a:extLst>
            </p:cNvPr>
            <p:cNvSpPr/>
            <p:nvPr/>
          </p:nvSpPr>
          <p:spPr>
            <a:xfrm>
              <a:off x="3788280" y="5310360"/>
              <a:ext cx="496898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0" strike="noStrike" spc="-1" dirty="0">
                  <a:solidFill>
                    <a:srgbClr val="C00000"/>
                  </a:solidFill>
                  <a:latin typeface="Segoe UI"/>
                  <a:ea typeface="DejaVu Sans"/>
                </a:rPr>
                <a:t>$(PROJECT_PKG)/Override/EDK2/</a:t>
              </a:r>
              <a:r>
                <a:rPr lang="en-US" sz="1600" b="0" strike="noStrike" spc="-1" dirty="0" err="1">
                  <a:solidFill>
                    <a:srgbClr val="C00000"/>
                  </a:solidFill>
                  <a:latin typeface="Segoe UI"/>
                  <a:ea typeface="DejaVu Sans"/>
                </a:rPr>
                <a:t>MdeModulePkg</a:t>
              </a:r>
              <a:r>
                <a:rPr lang="en-US" sz="1600" b="0" strike="noStrike" spc="-1" dirty="0">
                  <a:solidFill>
                    <a:srgbClr val="C00000"/>
                  </a:solidFill>
                  <a:latin typeface="Segoe UI"/>
                  <a:ea typeface="DejaVu Sans"/>
                </a:rPr>
                <a:t>/Universal/</a:t>
              </a:r>
              <a:r>
                <a:rPr lang="en-US" sz="1600" b="0" strike="noStrike" spc="-1" dirty="0" err="1">
                  <a:solidFill>
                    <a:srgbClr val="C00000"/>
                  </a:solidFill>
                  <a:latin typeface="Segoe UI"/>
                  <a:ea typeface="DejaVu Sans"/>
                </a:rPr>
                <a:t>StatusCodeHandler</a:t>
              </a:r>
              <a:r>
                <a:rPr lang="en-US" sz="1600" b="0" strike="noStrike" spc="-1" dirty="0">
                  <a:solidFill>
                    <a:srgbClr val="C00000"/>
                  </a:solidFill>
                  <a:latin typeface="Segoe UI"/>
                  <a:ea typeface="DejaVu Sans"/>
                </a:rPr>
                <a:t>/</a:t>
              </a:r>
              <a:r>
                <a:rPr lang="en-US" sz="1600" b="0" strike="noStrike" spc="-1" dirty="0" err="1">
                  <a:solidFill>
                    <a:srgbClr val="C00000"/>
                  </a:solidFill>
                  <a:latin typeface="Segoe UI"/>
                  <a:ea typeface="DejaVu Sans"/>
                </a:rPr>
                <a:t>Smm</a:t>
              </a:r>
              <a:r>
                <a:rPr lang="en-US" sz="1600" b="0" strike="noStrike" spc="-1" dirty="0">
                  <a:solidFill>
                    <a:srgbClr val="C00000"/>
                  </a:solidFill>
                  <a:latin typeface="Segoe UI"/>
                  <a:ea typeface="DejaVu Sans"/>
                </a:rPr>
                <a:t> </a:t>
              </a:r>
              <a:r>
                <a:rPr lang="en-US" sz="1600" b="0" strike="noStrike" spc="-1" dirty="0">
                  <a:solidFill>
                    <a:srgbClr val="3F3F3F"/>
                  </a:solidFill>
                  <a:latin typeface="Segoe UI"/>
                  <a:ea typeface="DejaVu Sans"/>
                </a:rPr>
                <a:t>}</a:t>
              </a:r>
              <a:endParaRPr lang="en-US" sz="1600" b="0" strike="noStrike" spc="-1" dirty="0">
                <a:latin typeface="Arial"/>
              </a:endParaRPr>
            </a:p>
          </p:txBody>
        </p:sp>
      </p:grpSp>
    </p:spTree>
    <p:extLst>
      <p:ext uri="{BB962C8B-B14F-4D97-AF65-F5344CB8AC3E}">
        <p14:creationId xmlns:p14="http://schemas.microsoft.com/office/powerpoint/2010/main" val="1086467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996D14-5CAD-4EA4-AF2C-5B6E7E62D9E1}"/>
              </a:ext>
            </a:extLst>
          </p:cNvPr>
          <p:cNvSpPr>
            <a:spLocks noGrp="1"/>
          </p:cNvSpPr>
          <p:nvPr>
            <p:ph type="title"/>
          </p:nvPr>
        </p:nvSpPr>
        <p:spPr/>
        <p:txBody>
          <a:bodyPr>
            <a:normAutofit/>
          </a:bodyPr>
          <a:lstStyle/>
          <a:p>
            <a:r>
              <a:rPr lang="en-US" altLang="zh-TW" dirty="0"/>
              <a:t>How to Use Override</a:t>
            </a:r>
            <a:br>
              <a:rPr lang="en-US" altLang="zh-TW" dirty="0"/>
            </a:br>
            <a:r>
              <a:rPr lang="en-US" altLang="zh-TW" sz="2000" dirty="0"/>
              <a:t>Example</a:t>
            </a:r>
            <a:endParaRPr lang="zh-TW" altLang="en-US" sz="2000" dirty="0"/>
          </a:p>
        </p:txBody>
      </p:sp>
      <p:sp>
        <p:nvSpPr>
          <p:cNvPr id="3" name="內容版面配置區 2">
            <a:extLst>
              <a:ext uri="{FF2B5EF4-FFF2-40B4-BE49-F238E27FC236}">
                <a16:creationId xmlns:a16="http://schemas.microsoft.com/office/drawing/2014/main" id="{CD930E4E-51FC-46C4-BAA0-B597DF86A218}"/>
              </a:ext>
            </a:extLst>
          </p:cNvPr>
          <p:cNvSpPr>
            <a:spLocks noGrp="1"/>
          </p:cNvSpPr>
          <p:nvPr>
            <p:ph idx="1"/>
          </p:nvPr>
        </p:nvSpPr>
        <p:spPr>
          <a:xfrm>
            <a:off x="838200" y="1398494"/>
            <a:ext cx="9295701" cy="4918416"/>
          </a:xfrm>
        </p:spPr>
        <p:txBody>
          <a:bodyPr>
            <a:normAutofit/>
          </a:bodyPr>
          <a:lstStyle/>
          <a:p>
            <a:pPr marL="228600" indent="-227160">
              <a:lnSpc>
                <a:spcPct val="100000"/>
              </a:lnSpc>
              <a:buClr>
                <a:srgbClr val="3F3F3F"/>
              </a:buClr>
              <a:buFont typeface="Arial"/>
              <a:buChar char="•"/>
            </a:pPr>
            <a:r>
              <a:rPr lang="en-US" altLang="zh-TW" sz="2400" b="0" strike="noStrike" spc="-1" dirty="0">
                <a:solidFill>
                  <a:srgbClr val="3F3F3F"/>
                </a:solidFill>
                <a:ea typeface="新細明體"/>
              </a:rPr>
              <a:t>The Override path use the New Codebase Directory Structure, so </a:t>
            </a:r>
            <a:r>
              <a:rPr lang="en-US" altLang="zh-TW" sz="2400" spc="-1" dirty="0">
                <a:solidFill>
                  <a:srgbClr val="3F3F3F"/>
                </a:solidFill>
                <a:ea typeface="新細明體"/>
              </a:rPr>
              <a:t>the path appended to $(PROJECT_PKG)/Override needs to use the relative path from WORKSPACE.</a:t>
            </a:r>
          </a:p>
          <a:p>
            <a:pPr marL="228600" indent="-227160">
              <a:lnSpc>
                <a:spcPct val="100000"/>
              </a:lnSpc>
              <a:buClr>
                <a:srgbClr val="3F3F3F"/>
              </a:buClr>
              <a:buFont typeface="Arial"/>
              <a:buChar char="•"/>
            </a:pPr>
            <a:endParaRPr lang="en-US" altLang="zh-TW" sz="1800" b="1" strike="noStrike" spc="-1" dirty="0">
              <a:solidFill>
                <a:srgbClr val="FF0000"/>
              </a:solidFill>
              <a:ea typeface="DejaVu Sans"/>
            </a:endParaRPr>
          </a:p>
          <a:p>
            <a:pPr marL="1440" indent="0">
              <a:lnSpc>
                <a:spcPct val="100000"/>
              </a:lnSpc>
              <a:spcBef>
                <a:spcPts val="300"/>
              </a:spcBef>
              <a:buNone/>
            </a:pPr>
            <a:r>
              <a:rPr lang="en-US" altLang="zh-TW" sz="1600" strike="noStrike" spc="-1" dirty="0">
                <a:solidFill>
                  <a:srgbClr val="FF0000"/>
                </a:solidFill>
                <a:ea typeface="DejaVu Sans"/>
              </a:rPr>
              <a:t>!disable </a:t>
            </a:r>
            <a:r>
              <a:rPr lang="en-US" altLang="zh-TW" sz="1600" strike="noStrike" spc="-1" dirty="0" err="1">
                <a:latin typeface="Segoe UI"/>
                <a:ea typeface="DejaVu Sans"/>
              </a:rPr>
              <a:t>MdeModulePkg</a:t>
            </a:r>
            <a:r>
              <a:rPr lang="en-US" altLang="zh-TW" sz="1600" strike="noStrike" spc="-1" dirty="0">
                <a:latin typeface="Segoe UI"/>
                <a:ea typeface="DejaVu Sans"/>
              </a:rPr>
              <a:t>/Universal/</a:t>
            </a:r>
            <a:r>
              <a:rPr lang="en-US" altLang="zh-TW" sz="1600" strike="noStrike" spc="-1" dirty="0" err="1">
                <a:latin typeface="Segoe UI"/>
                <a:ea typeface="DejaVu Sans"/>
              </a:rPr>
              <a:t>StatusCodeHandler</a:t>
            </a:r>
            <a:r>
              <a:rPr lang="en-US" altLang="zh-TW" sz="1600" strike="noStrike" spc="-1" dirty="0">
                <a:latin typeface="Segoe UI"/>
                <a:ea typeface="DejaVu Sans"/>
              </a:rPr>
              <a:t>/</a:t>
            </a:r>
            <a:r>
              <a:rPr lang="en-US" altLang="zh-TW" sz="1600" strike="noStrike" spc="-1" dirty="0" err="1">
                <a:latin typeface="Segoe UI"/>
                <a:ea typeface="DejaVu Sans"/>
              </a:rPr>
              <a:t>Smm</a:t>
            </a:r>
            <a:r>
              <a:rPr lang="en-US" altLang="zh-TW" sz="1600" strike="noStrike" spc="-1" dirty="0">
                <a:ea typeface="DejaVu Sans"/>
              </a:rPr>
              <a:t>/</a:t>
            </a:r>
            <a:r>
              <a:rPr lang="en-US" altLang="zh-TW" sz="1600" spc="-1" dirty="0">
                <a:latin typeface="Segoe UI"/>
              </a:rPr>
              <a:t>StatusCodeHandlerSmm</a:t>
            </a:r>
            <a:r>
              <a:rPr lang="en-US" altLang="zh-TW" sz="1600" strike="noStrike" spc="-1" dirty="0">
                <a:ea typeface="DejaVu Sans"/>
              </a:rPr>
              <a:t>.inf</a:t>
            </a:r>
            <a:endParaRPr lang="en-US" altLang="zh-TW" sz="1600" strike="noStrike" spc="-1" dirty="0"/>
          </a:p>
          <a:p>
            <a:pPr marL="1440" indent="0">
              <a:lnSpc>
                <a:spcPct val="100000"/>
              </a:lnSpc>
              <a:spcBef>
                <a:spcPts val="300"/>
              </a:spcBef>
              <a:buNone/>
            </a:pPr>
            <a:r>
              <a:rPr lang="en-US" altLang="zh-TW" sz="1600" strike="noStrike" spc="-1" dirty="0" err="1">
                <a:latin typeface="Segoe UI"/>
                <a:ea typeface="DejaVu Sans"/>
              </a:rPr>
              <a:t>MdeModulePkg</a:t>
            </a:r>
            <a:r>
              <a:rPr lang="en-US" altLang="zh-TW" sz="1600" strike="noStrike" spc="-1" dirty="0">
                <a:latin typeface="Segoe UI"/>
                <a:ea typeface="DejaVu Sans"/>
              </a:rPr>
              <a:t>/Universal/</a:t>
            </a:r>
            <a:r>
              <a:rPr lang="en-US" altLang="zh-TW" sz="1600" strike="noStrike" spc="-1" dirty="0" err="1">
                <a:latin typeface="Segoe UI"/>
                <a:ea typeface="DejaVu Sans"/>
              </a:rPr>
              <a:t>StatusCodeHandler</a:t>
            </a:r>
            <a:r>
              <a:rPr lang="en-US" altLang="zh-TW" sz="1600" strike="noStrike" spc="-1" dirty="0">
                <a:latin typeface="Segoe UI"/>
                <a:ea typeface="DejaVu Sans"/>
              </a:rPr>
              <a:t>/</a:t>
            </a:r>
            <a:r>
              <a:rPr lang="en-US" altLang="zh-TW" sz="1600" strike="noStrike" spc="-1" dirty="0" err="1">
                <a:latin typeface="Segoe UI"/>
                <a:ea typeface="DejaVu Sans"/>
              </a:rPr>
              <a:t>Smm</a:t>
            </a:r>
            <a:r>
              <a:rPr lang="en-US" altLang="zh-TW" sz="1600" strike="noStrike" spc="-1" dirty="0">
                <a:ea typeface="DejaVu Sans"/>
              </a:rPr>
              <a:t>/</a:t>
            </a:r>
            <a:r>
              <a:rPr lang="en-US" altLang="zh-TW" sz="1600" spc="-1" dirty="0">
                <a:latin typeface="Segoe UI"/>
              </a:rPr>
              <a:t>StatusCodeHandlerSmm</a:t>
            </a:r>
            <a:r>
              <a:rPr lang="en-US" altLang="zh-TW" sz="1600" strike="noStrike" spc="-1" dirty="0">
                <a:ea typeface="DejaVu Sans"/>
              </a:rPr>
              <a:t>.inf </a:t>
            </a:r>
            <a:r>
              <a:rPr lang="en-US" altLang="zh-TW" sz="1600" strike="noStrike" spc="-1" dirty="0">
                <a:solidFill>
                  <a:srgbClr val="5C5C5C"/>
                </a:solidFill>
                <a:ea typeface="DejaVu Sans"/>
              </a:rPr>
              <a:t>{</a:t>
            </a:r>
            <a:endParaRPr lang="en-US" altLang="zh-TW" sz="1600" strike="noStrike" spc="-1" dirty="0"/>
          </a:p>
          <a:p>
            <a:pPr marL="1440" indent="0">
              <a:lnSpc>
                <a:spcPct val="100000"/>
              </a:lnSpc>
              <a:spcBef>
                <a:spcPts val="300"/>
              </a:spcBef>
              <a:buNone/>
            </a:pPr>
            <a:r>
              <a:rPr lang="en-US" altLang="zh-TW" sz="1600" strike="noStrike" spc="-1" dirty="0">
                <a:solidFill>
                  <a:srgbClr val="5C5C5C"/>
                </a:solidFill>
                <a:ea typeface="DejaVu Sans"/>
              </a:rPr>
              <a:t>    </a:t>
            </a:r>
            <a:r>
              <a:rPr lang="en-US" altLang="zh-TW" sz="1600" strike="noStrike" spc="-1" dirty="0">
                <a:solidFill>
                  <a:srgbClr val="FF0000"/>
                </a:solidFill>
                <a:ea typeface="DejaVu Sans"/>
              </a:rPr>
              <a:t>&lt;SOURCE_OVERRIDE_PATH&gt;</a:t>
            </a:r>
            <a:r>
              <a:rPr lang="zh-TW" altLang="en-US" sz="1600" spc="-1" dirty="0">
                <a:solidFill>
                  <a:srgbClr val="5C5C5C"/>
                </a:solidFill>
                <a:ea typeface="DejaVu Sans"/>
              </a:rPr>
              <a:t> </a:t>
            </a:r>
            <a:endParaRPr lang="en-US" altLang="zh-TW" sz="1600" spc="-1" dirty="0">
              <a:solidFill>
                <a:srgbClr val="5C5C5C"/>
              </a:solidFill>
              <a:ea typeface="DejaVu Sans"/>
            </a:endParaRPr>
          </a:p>
          <a:p>
            <a:pPr marL="1440" indent="0">
              <a:lnSpc>
                <a:spcPct val="100000"/>
              </a:lnSpc>
              <a:spcBef>
                <a:spcPts val="300"/>
              </a:spcBef>
              <a:buNone/>
            </a:pPr>
            <a:r>
              <a:rPr lang="en-US" altLang="zh-TW" sz="1600" spc="-1" dirty="0">
                <a:solidFill>
                  <a:srgbClr val="5C5C5C"/>
                </a:solidFill>
                <a:ea typeface="DejaVu Sans"/>
              </a:rPr>
              <a:t>       $(PROJECT_PKG)/Override/</a:t>
            </a:r>
            <a:r>
              <a:rPr lang="en-US" altLang="zh-TW" sz="1600" b="1" spc="-1" dirty="0">
                <a:ea typeface="DejaVu Sans"/>
              </a:rPr>
              <a:t>EDK2/</a:t>
            </a:r>
            <a:r>
              <a:rPr lang="en-US" altLang="zh-TW" sz="1600" b="1" strike="noStrike" spc="-1" dirty="0" err="1">
                <a:latin typeface="Segoe UI"/>
                <a:ea typeface="DejaVu Sans"/>
              </a:rPr>
              <a:t>MdeModulePkg</a:t>
            </a:r>
            <a:r>
              <a:rPr lang="en-US" altLang="zh-TW" sz="1600" b="1" strike="noStrike" spc="-1" dirty="0">
                <a:latin typeface="Segoe UI"/>
                <a:ea typeface="DejaVu Sans"/>
              </a:rPr>
              <a:t>/Universal/</a:t>
            </a:r>
            <a:r>
              <a:rPr lang="en-US" altLang="zh-TW" sz="1600" b="1" strike="noStrike" spc="-1" dirty="0" err="1">
                <a:latin typeface="Segoe UI"/>
                <a:ea typeface="DejaVu Sans"/>
              </a:rPr>
              <a:t>StatusCodeHandler</a:t>
            </a:r>
            <a:r>
              <a:rPr lang="en-US" altLang="zh-TW" sz="1600" b="1" strike="noStrike" spc="-1" dirty="0">
                <a:latin typeface="Segoe UI"/>
                <a:ea typeface="DejaVu Sans"/>
              </a:rPr>
              <a:t>/</a:t>
            </a:r>
            <a:r>
              <a:rPr lang="en-US" altLang="zh-TW" sz="1600" b="1" strike="noStrike" spc="-1" dirty="0" err="1">
                <a:latin typeface="Segoe UI"/>
                <a:ea typeface="DejaVu Sans"/>
              </a:rPr>
              <a:t>Smm</a:t>
            </a:r>
            <a:endParaRPr lang="en-US" altLang="zh-TW" sz="1600" b="1" strike="noStrike" spc="-1" dirty="0"/>
          </a:p>
          <a:p>
            <a:pPr marL="1440" indent="0">
              <a:lnSpc>
                <a:spcPct val="100000"/>
              </a:lnSpc>
              <a:spcBef>
                <a:spcPts val="300"/>
              </a:spcBef>
              <a:buNone/>
            </a:pPr>
            <a:r>
              <a:rPr lang="en-US" altLang="zh-TW" sz="1600" strike="noStrike" spc="-1" dirty="0">
                <a:solidFill>
                  <a:srgbClr val="5C5C5C"/>
                </a:solidFill>
                <a:ea typeface="DejaVu Sans"/>
              </a:rPr>
              <a:t>}</a:t>
            </a:r>
          </a:p>
          <a:p>
            <a:pPr marL="1440" indent="0">
              <a:lnSpc>
                <a:spcPct val="100000"/>
              </a:lnSpc>
              <a:spcBef>
                <a:spcPts val="300"/>
              </a:spcBef>
              <a:buNone/>
            </a:pPr>
            <a:endParaRPr lang="en-US" altLang="zh-TW" sz="1600" spc="-1" dirty="0">
              <a:solidFill>
                <a:srgbClr val="5C5C5C"/>
              </a:solidFill>
            </a:endParaRPr>
          </a:p>
          <a:p>
            <a:pPr marL="344340" indent="-342900">
              <a:lnSpc>
                <a:spcPct val="100000"/>
              </a:lnSpc>
              <a:spcBef>
                <a:spcPts val="300"/>
              </a:spcBef>
            </a:pPr>
            <a:r>
              <a:rPr lang="en-US" altLang="zh-TW" sz="2400" spc="-1" dirty="0">
                <a:solidFill>
                  <a:srgbClr val="FF0000"/>
                </a:solidFill>
                <a:ea typeface="新細明體"/>
              </a:rPr>
              <a:t>Support Multiple SOURCE_OVERRIDE_PATH</a:t>
            </a:r>
          </a:p>
          <a:p>
            <a:pPr marL="458640" lvl="1" indent="0">
              <a:lnSpc>
                <a:spcPct val="100000"/>
              </a:lnSpc>
              <a:spcBef>
                <a:spcPts val="300"/>
              </a:spcBef>
              <a:buNone/>
            </a:pPr>
            <a:r>
              <a:rPr lang="en-US" altLang="zh-TW" sz="1600" baseline="-25000" dirty="0"/>
              <a:t> The bottom of the override path has higher priority then upper in DSC &lt;SOURCE_OVERRIDE_PATH&gt; section.</a:t>
            </a:r>
          </a:p>
          <a:p>
            <a:pPr marL="458640" lvl="1" indent="0">
              <a:lnSpc>
                <a:spcPct val="100000"/>
              </a:lnSpc>
              <a:spcBef>
                <a:spcPts val="300"/>
              </a:spcBef>
              <a:buNone/>
            </a:pPr>
            <a:r>
              <a:rPr lang="en-US" altLang="zh-TW" sz="1600" baseline="-25000" dirty="0"/>
              <a:t>                    &lt;SOURCE_OVERRIDE_PATH&gt;</a:t>
            </a:r>
          </a:p>
          <a:p>
            <a:pPr marL="458640" lvl="1" indent="0">
              <a:lnSpc>
                <a:spcPct val="100000"/>
              </a:lnSpc>
              <a:spcBef>
                <a:spcPts val="300"/>
              </a:spcBef>
              <a:buNone/>
            </a:pPr>
            <a:r>
              <a:rPr lang="en-US" altLang="zh-TW" sz="1600" baseline="-25000" dirty="0"/>
              <a:t>                      OVERRIDE_PATH1   </a:t>
            </a:r>
            <a:r>
              <a:rPr lang="en-US" altLang="zh-TW" sz="1600" baseline="-25000" dirty="0">
                <a:solidFill>
                  <a:schemeClr val="accent1"/>
                </a:solidFill>
              </a:rPr>
              <a:t>(Lowest priority</a:t>
            </a:r>
            <a:r>
              <a:rPr lang="en-US" altLang="zh-TW" sz="1600" baseline="-25000" dirty="0"/>
              <a:t>)</a:t>
            </a:r>
          </a:p>
          <a:p>
            <a:pPr marL="458640" lvl="1" indent="0">
              <a:lnSpc>
                <a:spcPct val="100000"/>
              </a:lnSpc>
              <a:spcBef>
                <a:spcPts val="300"/>
              </a:spcBef>
              <a:buNone/>
            </a:pPr>
            <a:r>
              <a:rPr lang="en-US" altLang="zh-TW" sz="1600" baseline="-25000" dirty="0"/>
              <a:t>                      OVERRIDE_PATH2</a:t>
            </a:r>
          </a:p>
          <a:p>
            <a:pPr marL="458640" lvl="1" indent="0">
              <a:lnSpc>
                <a:spcPct val="100000"/>
              </a:lnSpc>
              <a:spcBef>
                <a:spcPts val="300"/>
              </a:spcBef>
              <a:buNone/>
            </a:pPr>
            <a:r>
              <a:rPr lang="en-US" altLang="zh-TW" sz="1600" baseline="-25000" dirty="0"/>
              <a:t>                      ...</a:t>
            </a:r>
          </a:p>
          <a:p>
            <a:pPr marL="458640" lvl="1" indent="0">
              <a:lnSpc>
                <a:spcPct val="100000"/>
              </a:lnSpc>
              <a:spcBef>
                <a:spcPts val="300"/>
              </a:spcBef>
              <a:buNone/>
            </a:pPr>
            <a:r>
              <a:rPr lang="en-US" altLang="zh-TW" sz="1600" baseline="-25000" dirty="0"/>
              <a:t>                      OVERRIDE_PATHN   </a:t>
            </a:r>
            <a:r>
              <a:rPr lang="en-US" altLang="zh-TW" sz="1600" baseline="-25000" dirty="0">
                <a:solidFill>
                  <a:schemeClr val="accent1"/>
                </a:solidFill>
              </a:rPr>
              <a:t>(Highest priority)</a:t>
            </a:r>
            <a:endParaRPr lang="zh-TW" altLang="en-US" sz="1400" baseline="-25000" dirty="0">
              <a:solidFill>
                <a:schemeClr val="accent1"/>
              </a:solidFill>
            </a:endParaRPr>
          </a:p>
        </p:txBody>
      </p:sp>
      <p:pic>
        <p:nvPicPr>
          <p:cNvPr id="10" name="圖片 9">
            <a:extLst>
              <a:ext uri="{FF2B5EF4-FFF2-40B4-BE49-F238E27FC236}">
                <a16:creationId xmlns:a16="http://schemas.microsoft.com/office/drawing/2014/main" id="{002CAD8C-DA12-473B-BDA6-50C08BED2918}"/>
              </a:ext>
            </a:extLst>
          </p:cNvPr>
          <p:cNvPicPr>
            <a:picLocks noChangeAspect="1"/>
          </p:cNvPicPr>
          <p:nvPr/>
        </p:nvPicPr>
        <p:blipFill>
          <a:blip r:embed="rId2"/>
          <a:stretch>
            <a:fillRect/>
          </a:stretch>
        </p:blipFill>
        <p:spPr>
          <a:xfrm>
            <a:off x="9448635" y="2308033"/>
            <a:ext cx="1905165" cy="3596952"/>
          </a:xfrm>
          <a:prstGeom prst="rect">
            <a:avLst/>
          </a:prstGeom>
        </p:spPr>
      </p:pic>
    </p:spTree>
    <p:extLst>
      <p:ext uri="{BB962C8B-B14F-4D97-AF65-F5344CB8AC3E}">
        <p14:creationId xmlns:p14="http://schemas.microsoft.com/office/powerpoint/2010/main" val="760635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25</a:t>
            </a:fld>
            <a:endParaRPr lang="en-US" dirty="0"/>
          </a:p>
        </p:txBody>
      </p:sp>
      <p:sp>
        <p:nvSpPr>
          <p:cNvPr id="2" name="Title 1"/>
          <p:cNvSpPr>
            <a:spLocks noGrp="1"/>
          </p:cNvSpPr>
          <p:nvPr>
            <p:ph type="title"/>
          </p:nvPr>
        </p:nvSpPr>
        <p:spPr/>
        <p:txBody>
          <a:bodyPr/>
          <a:lstStyle/>
          <a:p>
            <a:r>
              <a:rPr lang="en-US" altLang="zh-TW" dirty="0"/>
              <a:t>FSP</a:t>
            </a:r>
            <a:endParaRPr lang="en-US" dirty="0"/>
          </a:p>
        </p:txBody>
      </p:sp>
    </p:spTree>
    <p:extLst>
      <p:ext uri="{BB962C8B-B14F-4D97-AF65-F5344CB8AC3E}">
        <p14:creationId xmlns:p14="http://schemas.microsoft.com/office/powerpoint/2010/main" val="2496701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B241BD-D42F-4657-9D5E-C1A1F097CA8F}"/>
              </a:ext>
            </a:extLst>
          </p:cNvPr>
          <p:cNvSpPr>
            <a:spLocks noGrp="1"/>
          </p:cNvSpPr>
          <p:nvPr>
            <p:ph type="title"/>
          </p:nvPr>
        </p:nvSpPr>
        <p:spPr/>
        <p:txBody>
          <a:bodyPr/>
          <a:lstStyle/>
          <a:p>
            <a:r>
              <a:rPr lang="en-US" altLang="zh-TW" dirty="0"/>
              <a:t>FSP (1/3)</a:t>
            </a:r>
            <a:endParaRPr lang="zh-TW" altLang="en-US" dirty="0"/>
          </a:p>
        </p:txBody>
      </p:sp>
      <p:sp>
        <p:nvSpPr>
          <p:cNvPr id="3" name="內容版面配置區 2">
            <a:extLst>
              <a:ext uri="{FF2B5EF4-FFF2-40B4-BE49-F238E27FC236}">
                <a16:creationId xmlns:a16="http://schemas.microsoft.com/office/drawing/2014/main" id="{295D0532-E64C-4518-ABA0-BDD7AE4991FA}"/>
              </a:ext>
            </a:extLst>
          </p:cNvPr>
          <p:cNvSpPr>
            <a:spLocks noGrp="1"/>
          </p:cNvSpPr>
          <p:nvPr>
            <p:ph idx="1"/>
          </p:nvPr>
        </p:nvSpPr>
        <p:spPr/>
        <p:txBody>
          <a:bodyPr>
            <a:normAutofit lnSpcReduction="10000"/>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pPr marL="0" indent="0">
              <a:buNone/>
            </a:pPr>
            <a:r>
              <a:rPr lang="en-US" altLang="zh-TW" dirty="0"/>
              <a:t>The Intel Firmware Support Package provides the</a:t>
            </a:r>
            <a:r>
              <a:rPr lang="zh-TW" altLang="en-US" dirty="0"/>
              <a:t> </a:t>
            </a:r>
            <a:r>
              <a:rPr lang="en-US" altLang="zh-TW" dirty="0"/>
              <a:t>program for initializing Intel silicon and it needs to</a:t>
            </a:r>
            <a:r>
              <a:rPr lang="zh-TW" altLang="en-US" dirty="0"/>
              <a:t> </a:t>
            </a:r>
            <a:r>
              <a:rPr lang="en-US" altLang="zh-TW" dirty="0"/>
              <a:t>be integrated into a firmware environment to work.</a:t>
            </a:r>
            <a:endParaRPr lang="zh-TW" altLang="en-US" dirty="0"/>
          </a:p>
        </p:txBody>
      </p:sp>
      <p:pic>
        <p:nvPicPr>
          <p:cNvPr id="13" name="圖片 12">
            <a:extLst>
              <a:ext uri="{FF2B5EF4-FFF2-40B4-BE49-F238E27FC236}">
                <a16:creationId xmlns:a16="http://schemas.microsoft.com/office/drawing/2014/main" id="{1C330B6C-364E-403B-989F-68000AEF5E33}"/>
              </a:ext>
            </a:extLst>
          </p:cNvPr>
          <p:cNvPicPr>
            <a:picLocks noChangeAspect="1"/>
          </p:cNvPicPr>
          <p:nvPr/>
        </p:nvPicPr>
        <p:blipFill>
          <a:blip r:embed="rId2"/>
          <a:stretch>
            <a:fillRect/>
          </a:stretch>
        </p:blipFill>
        <p:spPr>
          <a:xfrm>
            <a:off x="992333" y="2044824"/>
            <a:ext cx="2133785" cy="1775614"/>
          </a:xfrm>
          <a:prstGeom prst="rect">
            <a:avLst/>
          </a:prstGeom>
        </p:spPr>
      </p:pic>
      <p:sp>
        <p:nvSpPr>
          <p:cNvPr id="14" name="箭號: 有線條的向右箭號 13">
            <a:extLst>
              <a:ext uri="{FF2B5EF4-FFF2-40B4-BE49-F238E27FC236}">
                <a16:creationId xmlns:a16="http://schemas.microsoft.com/office/drawing/2014/main" id="{74D9D02B-9699-42C6-96DD-D1C4F19E7936}"/>
              </a:ext>
            </a:extLst>
          </p:cNvPr>
          <p:cNvSpPr/>
          <p:nvPr/>
        </p:nvSpPr>
        <p:spPr>
          <a:xfrm>
            <a:off x="3488770" y="2656703"/>
            <a:ext cx="834081" cy="545057"/>
          </a:xfrm>
          <a:prstGeom prst="striped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箭號: 有線條的向右箭號 14">
            <a:extLst>
              <a:ext uri="{FF2B5EF4-FFF2-40B4-BE49-F238E27FC236}">
                <a16:creationId xmlns:a16="http://schemas.microsoft.com/office/drawing/2014/main" id="{13CFC512-FEE1-4E10-AEF6-47DCBDBD2E9D}"/>
              </a:ext>
            </a:extLst>
          </p:cNvPr>
          <p:cNvSpPr/>
          <p:nvPr/>
        </p:nvSpPr>
        <p:spPr>
          <a:xfrm>
            <a:off x="7022756" y="2656703"/>
            <a:ext cx="834081" cy="545057"/>
          </a:xfrm>
          <a:prstGeom prst="striped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6145B64C-1AE5-4237-9F17-7C2CBFA11F3F}"/>
              </a:ext>
            </a:extLst>
          </p:cNvPr>
          <p:cNvSpPr/>
          <p:nvPr/>
        </p:nvSpPr>
        <p:spPr>
          <a:xfrm>
            <a:off x="4759409" y="2472030"/>
            <a:ext cx="1822622"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err="1"/>
              <a:t>FSP.bin</a:t>
            </a:r>
            <a:endParaRPr lang="zh-TW" altLang="en-US" sz="3200" dirty="0"/>
          </a:p>
        </p:txBody>
      </p:sp>
      <p:sp>
        <p:nvSpPr>
          <p:cNvPr id="17" name="矩形: 圓角 16">
            <a:extLst>
              <a:ext uri="{FF2B5EF4-FFF2-40B4-BE49-F238E27FC236}">
                <a16:creationId xmlns:a16="http://schemas.microsoft.com/office/drawing/2014/main" id="{FA08BF90-FF76-4143-B959-FECF8A2CB419}"/>
              </a:ext>
            </a:extLst>
          </p:cNvPr>
          <p:cNvSpPr/>
          <p:nvPr/>
        </p:nvSpPr>
        <p:spPr>
          <a:xfrm>
            <a:off x="8297562" y="2472031"/>
            <a:ext cx="1822622"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3200" dirty="0"/>
              <a:t>BIOS</a:t>
            </a:r>
            <a:endParaRPr lang="zh-TW" altLang="en-US" sz="3200" dirty="0"/>
          </a:p>
        </p:txBody>
      </p:sp>
      <p:sp>
        <p:nvSpPr>
          <p:cNvPr id="19" name="文字方塊 18">
            <a:extLst>
              <a:ext uri="{FF2B5EF4-FFF2-40B4-BE49-F238E27FC236}">
                <a16:creationId xmlns:a16="http://schemas.microsoft.com/office/drawing/2014/main" id="{481A09EE-7AB1-4900-8CBD-7DC211B56BE3}"/>
              </a:ext>
            </a:extLst>
          </p:cNvPr>
          <p:cNvSpPr txBox="1"/>
          <p:nvPr/>
        </p:nvSpPr>
        <p:spPr>
          <a:xfrm>
            <a:off x="3280251" y="2205107"/>
            <a:ext cx="1251121" cy="369332"/>
          </a:xfrm>
          <a:prstGeom prst="rect">
            <a:avLst/>
          </a:prstGeom>
          <a:noFill/>
        </p:spPr>
        <p:txBody>
          <a:bodyPr wrap="square">
            <a:spAutoFit/>
          </a:bodyPr>
          <a:lstStyle/>
          <a:p>
            <a:pPr algn="ctr"/>
            <a:r>
              <a:rPr lang="en-US" altLang="zh-TW" sz="1800" b="0" i="0" u="none" strike="noStrike" baseline="0" dirty="0">
                <a:latin typeface="SegoeUI"/>
              </a:rPr>
              <a:t>Generate</a:t>
            </a:r>
            <a:endParaRPr lang="zh-TW" altLang="en-US" dirty="0"/>
          </a:p>
        </p:txBody>
      </p:sp>
      <p:sp>
        <p:nvSpPr>
          <p:cNvPr id="20" name="文字方塊 19">
            <a:extLst>
              <a:ext uri="{FF2B5EF4-FFF2-40B4-BE49-F238E27FC236}">
                <a16:creationId xmlns:a16="http://schemas.microsoft.com/office/drawing/2014/main" id="{B2E0ABF8-99D0-49DB-9A78-50168481F954}"/>
              </a:ext>
            </a:extLst>
          </p:cNvPr>
          <p:cNvSpPr txBox="1"/>
          <p:nvPr/>
        </p:nvSpPr>
        <p:spPr>
          <a:xfrm>
            <a:off x="6814236" y="2205107"/>
            <a:ext cx="1251121" cy="369332"/>
          </a:xfrm>
          <a:prstGeom prst="rect">
            <a:avLst/>
          </a:prstGeom>
          <a:noFill/>
        </p:spPr>
        <p:txBody>
          <a:bodyPr wrap="square">
            <a:spAutoFit/>
          </a:bodyPr>
          <a:lstStyle/>
          <a:p>
            <a:pPr algn="ctr"/>
            <a:r>
              <a:rPr lang="en-US" altLang="zh-TW" sz="1800" b="0" i="0" u="none" strike="noStrike" baseline="0" dirty="0">
                <a:latin typeface="SegoeUI"/>
              </a:rPr>
              <a:t>Integrate</a:t>
            </a:r>
            <a:endParaRPr lang="zh-TW" altLang="en-US" dirty="0"/>
          </a:p>
        </p:txBody>
      </p:sp>
      <p:sp>
        <p:nvSpPr>
          <p:cNvPr id="23" name="文字方塊 22">
            <a:extLst>
              <a:ext uri="{FF2B5EF4-FFF2-40B4-BE49-F238E27FC236}">
                <a16:creationId xmlns:a16="http://schemas.microsoft.com/office/drawing/2014/main" id="{9A2CE963-665C-4CA2-9DA7-6986ADF7802B}"/>
              </a:ext>
            </a:extLst>
          </p:cNvPr>
          <p:cNvSpPr txBox="1"/>
          <p:nvPr/>
        </p:nvSpPr>
        <p:spPr>
          <a:xfrm>
            <a:off x="1090484" y="3787728"/>
            <a:ext cx="1547684" cy="646331"/>
          </a:xfrm>
          <a:prstGeom prst="rect">
            <a:avLst/>
          </a:prstGeom>
          <a:noFill/>
        </p:spPr>
        <p:txBody>
          <a:bodyPr wrap="square">
            <a:spAutoFit/>
          </a:bodyPr>
          <a:lstStyle/>
          <a:p>
            <a:pPr algn="ctr"/>
            <a:r>
              <a:rPr lang="en-US" altLang="zh-TW" sz="1800" b="0" i="0" u="none" strike="noStrike" baseline="0" dirty="0">
                <a:latin typeface="SegoeUI"/>
              </a:rPr>
              <a:t>Intel FSP</a:t>
            </a:r>
          </a:p>
          <a:p>
            <a:pPr algn="ctr"/>
            <a:r>
              <a:rPr lang="en-US" altLang="zh-TW" sz="1800" b="0" i="0" u="none" strike="noStrike" baseline="0" dirty="0">
                <a:latin typeface="SegoeUI"/>
              </a:rPr>
              <a:t>source code</a:t>
            </a:r>
            <a:endParaRPr lang="zh-TW" altLang="en-US" dirty="0"/>
          </a:p>
        </p:txBody>
      </p:sp>
    </p:spTree>
    <p:extLst>
      <p:ext uri="{BB962C8B-B14F-4D97-AF65-F5344CB8AC3E}">
        <p14:creationId xmlns:p14="http://schemas.microsoft.com/office/powerpoint/2010/main" val="4189821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E456EB-DC43-4026-B937-43CCCA3DC82A}"/>
              </a:ext>
            </a:extLst>
          </p:cNvPr>
          <p:cNvSpPr>
            <a:spLocks noGrp="1"/>
          </p:cNvSpPr>
          <p:nvPr>
            <p:ph type="title"/>
          </p:nvPr>
        </p:nvSpPr>
        <p:spPr/>
        <p:txBody>
          <a:bodyPr/>
          <a:lstStyle/>
          <a:p>
            <a:r>
              <a:rPr lang="en-US" altLang="zh-TW" dirty="0"/>
              <a:t>FSP (2/3)</a:t>
            </a:r>
            <a:endParaRPr lang="zh-TW" altLang="en-US" dirty="0"/>
          </a:p>
        </p:txBody>
      </p:sp>
      <p:sp>
        <p:nvSpPr>
          <p:cNvPr id="3" name="內容版面配置區 2">
            <a:extLst>
              <a:ext uri="{FF2B5EF4-FFF2-40B4-BE49-F238E27FC236}">
                <a16:creationId xmlns:a16="http://schemas.microsoft.com/office/drawing/2014/main" id="{9A408E7A-CAEB-4D54-A799-61AEBDB64842}"/>
              </a:ext>
            </a:extLst>
          </p:cNvPr>
          <p:cNvSpPr>
            <a:spLocks noGrp="1"/>
          </p:cNvSpPr>
          <p:nvPr>
            <p:ph idx="1"/>
          </p:nvPr>
        </p:nvSpPr>
        <p:spPr/>
        <p:txBody>
          <a:bodyPr>
            <a:normAutofit/>
          </a:bodyPr>
          <a:lstStyle/>
          <a:p>
            <a:pPr marL="0" indent="0">
              <a:buNone/>
            </a:pPr>
            <a:r>
              <a:rPr lang="en-US" altLang="zh-TW" sz="2400" b="0" i="0" u="none" strike="noStrike" baseline="0" dirty="0">
                <a:solidFill>
                  <a:srgbClr val="000000"/>
                </a:solidFill>
                <a:latin typeface="Intel Clear"/>
              </a:rPr>
              <a:t>The Intel® FSP binary follows the UEFI Platform Initialization Firmware Volume Specification format. </a:t>
            </a:r>
          </a:p>
          <a:p>
            <a:r>
              <a:rPr lang="en-US" altLang="zh-TW" sz="2400" b="0" i="0" u="none" strike="noStrike" baseline="0" dirty="0">
                <a:solidFill>
                  <a:srgbClr val="000000"/>
                </a:solidFill>
                <a:latin typeface="Intel Clear"/>
              </a:rPr>
              <a:t>Split into 3 separate FVs </a:t>
            </a:r>
          </a:p>
          <a:p>
            <a:pPr lvl="1"/>
            <a:r>
              <a:rPr lang="en-US" altLang="zh-TW" sz="1800" dirty="0"/>
              <a:t>FSP-T: Temporary RAM initialization phase</a:t>
            </a:r>
          </a:p>
          <a:p>
            <a:pPr marL="457200" lvl="1" indent="0">
              <a:buNone/>
            </a:pPr>
            <a:r>
              <a:rPr lang="en-US" altLang="zh-TW" sz="1800" dirty="0"/>
              <a:t>Primary purpose of this phase is to initialize the Temporary RAM.</a:t>
            </a:r>
          </a:p>
          <a:p>
            <a:pPr marL="457200" lvl="1" indent="0">
              <a:buNone/>
            </a:pPr>
            <a:endParaRPr lang="en-US" altLang="zh-TW" sz="1800" dirty="0"/>
          </a:p>
          <a:p>
            <a:pPr lvl="1"/>
            <a:r>
              <a:rPr lang="en-US" altLang="zh-TW" sz="1800" dirty="0"/>
              <a:t>FSP-M: Memory initialization phase</a:t>
            </a:r>
          </a:p>
          <a:p>
            <a:pPr marL="457200" lvl="1" indent="0">
              <a:buNone/>
            </a:pPr>
            <a:r>
              <a:rPr lang="en-US" altLang="zh-TW" sz="1800" dirty="0"/>
              <a:t>Primary purpose of this phase is to initialize the permanent memory</a:t>
            </a:r>
          </a:p>
          <a:p>
            <a:pPr marL="457200" lvl="1" indent="0">
              <a:buNone/>
            </a:pPr>
            <a:endParaRPr lang="en-US" altLang="zh-TW" sz="1800" dirty="0"/>
          </a:p>
          <a:p>
            <a:pPr lvl="1"/>
            <a:r>
              <a:rPr lang="en-US" altLang="zh-TW" sz="1800" dirty="0"/>
              <a:t>FSP-S: Silicon initialization phase</a:t>
            </a:r>
          </a:p>
          <a:p>
            <a:pPr marL="457200" lvl="1" indent="0">
              <a:buNone/>
            </a:pPr>
            <a:r>
              <a:rPr lang="en-US" altLang="zh-TW" sz="1800" dirty="0"/>
              <a:t>Primary purpose of this phase is to complete the silicon initialization</a:t>
            </a:r>
          </a:p>
          <a:p>
            <a:pPr marL="457200" lvl="1" indent="0">
              <a:buNone/>
            </a:pPr>
            <a:r>
              <a:rPr lang="en-US" altLang="zh-TW" sz="1800" dirty="0"/>
              <a:t>including CPU and IO controller initialization.</a:t>
            </a:r>
            <a:endParaRPr lang="zh-TW" altLang="en-US" sz="1800" dirty="0"/>
          </a:p>
        </p:txBody>
      </p:sp>
      <p:pic>
        <p:nvPicPr>
          <p:cNvPr id="5" name="圖片 4">
            <a:extLst>
              <a:ext uri="{FF2B5EF4-FFF2-40B4-BE49-F238E27FC236}">
                <a16:creationId xmlns:a16="http://schemas.microsoft.com/office/drawing/2014/main" id="{7F3E334C-99B0-49A1-90A0-0A4DD52CCAD2}"/>
              </a:ext>
            </a:extLst>
          </p:cNvPr>
          <p:cNvPicPr>
            <a:picLocks noChangeAspect="1"/>
          </p:cNvPicPr>
          <p:nvPr/>
        </p:nvPicPr>
        <p:blipFill>
          <a:blip r:embed="rId2"/>
          <a:stretch>
            <a:fillRect/>
          </a:stretch>
        </p:blipFill>
        <p:spPr>
          <a:xfrm>
            <a:off x="8680022" y="2037000"/>
            <a:ext cx="1961804" cy="3699164"/>
          </a:xfrm>
          <a:prstGeom prst="rect">
            <a:avLst/>
          </a:prstGeom>
        </p:spPr>
      </p:pic>
    </p:spTree>
    <p:extLst>
      <p:ext uri="{BB962C8B-B14F-4D97-AF65-F5344CB8AC3E}">
        <p14:creationId xmlns:p14="http://schemas.microsoft.com/office/powerpoint/2010/main" val="1790947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3BE016-6B17-48D1-8327-6FE2880EF038}"/>
              </a:ext>
            </a:extLst>
          </p:cNvPr>
          <p:cNvSpPr>
            <a:spLocks noGrp="1"/>
          </p:cNvSpPr>
          <p:nvPr>
            <p:ph type="title"/>
          </p:nvPr>
        </p:nvSpPr>
        <p:spPr/>
        <p:txBody>
          <a:bodyPr/>
          <a:lstStyle/>
          <a:p>
            <a:r>
              <a:rPr lang="en-US" altLang="zh-TW" dirty="0"/>
              <a:t>FSP (3/3)</a:t>
            </a:r>
            <a:endParaRPr lang="zh-TW" altLang="en-US" dirty="0"/>
          </a:p>
        </p:txBody>
      </p:sp>
      <p:sp>
        <p:nvSpPr>
          <p:cNvPr id="3" name="內容版面配置區 2">
            <a:extLst>
              <a:ext uri="{FF2B5EF4-FFF2-40B4-BE49-F238E27FC236}">
                <a16:creationId xmlns:a16="http://schemas.microsoft.com/office/drawing/2014/main" id="{71AEBBD5-1F2D-4EEF-AEE6-36950AB4F53F}"/>
              </a:ext>
            </a:extLst>
          </p:cNvPr>
          <p:cNvSpPr>
            <a:spLocks noGrp="1"/>
          </p:cNvSpPr>
          <p:nvPr>
            <p:ph idx="1"/>
          </p:nvPr>
        </p:nvSpPr>
        <p:spPr/>
        <p:txBody>
          <a:bodyPr/>
          <a:lstStyle/>
          <a:p>
            <a:r>
              <a:rPr lang="en-US" altLang="zh-TW" dirty="0"/>
              <a:t>FSP Binaries path: Intel\</a:t>
            </a:r>
            <a:r>
              <a:rPr lang="en-US" altLang="zh-TW" dirty="0" err="1"/>
              <a:t>EagleStream</a:t>
            </a:r>
            <a:r>
              <a:rPr lang="en-US" altLang="zh-TW" dirty="0"/>
              <a:t>\</a:t>
            </a:r>
            <a:r>
              <a:rPr lang="en-US" altLang="zh-TW" dirty="0" err="1"/>
              <a:t>EagleStreamFspBinPkg</a:t>
            </a:r>
            <a:endParaRPr lang="en-US" altLang="zh-TW" dirty="0"/>
          </a:p>
          <a:p>
            <a:endParaRPr lang="en-US" altLang="zh-TW" dirty="0"/>
          </a:p>
          <a:p>
            <a:r>
              <a:rPr lang="en-US" altLang="zh-TW" dirty="0" err="1"/>
              <a:t>EagleStreamFspPkg.dsc</a:t>
            </a:r>
            <a:r>
              <a:rPr lang="en-US" altLang="zh-TW" dirty="0"/>
              <a:t> and </a:t>
            </a:r>
            <a:r>
              <a:rPr lang="en-US" altLang="zh-TW" dirty="0" err="1"/>
              <a:t>EagleStreamFspPkg.fdf</a:t>
            </a:r>
            <a:r>
              <a:rPr lang="en-US" altLang="zh-TW" dirty="0"/>
              <a:t> describe the drivers and libraries that will be built and generated in FSP binaries</a:t>
            </a:r>
          </a:p>
          <a:p>
            <a:endParaRPr lang="en-US" altLang="zh-TW" dirty="0"/>
          </a:p>
          <a:p>
            <a:r>
              <a:rPr lang="en-US" altLang="zh-TW" dirty="0"/>
              <a:t>The PCD value used in the FSP binary file should be consistent with the project build</a:t>
            </a:r>
            <a:endParaRPr lang="zh-TW" altLang="en-US" dirty="0"/>
          </a:p>
        </p:txBody>
      </p:sp>
    </p:spTree>
    <p:extLst>
      <p:ext uri="{BB962C8B-B14F-4D97-AF65-F5344CB8AC3E}">
        <p14:creationId xmlns:p14="http://schemas.microsoft.com/office/powerpoint/2010/main" val="2149282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29</a:t>
            </a:fld>
            <a:endParaRPr lang="en-US" dirty="0"/>
          </a:p>
        </p:txBody>
      </p:sp>
      <p:sp>
        <p:nvSpPr>
          <p:cNvPr id="2" name="Title 1"/>
          <p:cNvSpPr>
            <a:spLocks noGrp="1"/>
          </p:cNvSpPr>
          <p:nvPr>
            <p:ph type="title"/>
          </p:nvPr>
        </p:nvSpPr>
        <p:spPr/>
        <p:txBody>
          <a:bodyPr/>
          <a:lstStyle/>
          <a:p>
            <a:r>
              <a:rPr lang="en-US" altLang="zh-TW" dirty="0"/>
              <a:t>Compile</a:t>
            </a:r>
            <a:endParaRPr lang="en-US" dirty="0"/>
          </a:p>
        </p:txBody>
      </p:sp>
    </p:spTree>
    <p:extLst>
      <p:ext uri="{BB962C8B-B14F-4D97-AF65-F5344CB8AC3E}">
        <p14:creationId xmlns:p14="http://schemas.microsoft.com/office/powerpoint/2010/main" val="1632734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9899BE-81A7-4633-9B6A-EC8022722008}"/>
              </a:ext>
            </a:extLst>
          </p:cNvPr>
          <p:cNvSpPr>
            <a:spLocks noGrp="1"/>
          </p:cNvSpPr>
          <p:nvPr>
            <p:ph type="title"/>
          </p:nvPr>
        </p:nvSpPr>
        <p:spPr/>
        <p:txBody>
          <a:bodyPr/>
          <a:lstStyle/>
          <a:p>
            <a:r>
              <a:rPr lang="en-US" altLang="zh-TW" dirty="0"/>
              <a:t>Compile</a:t>
            </a:r>
            <a:endParaRPr lang="zh-TW" altLang="en-US" dirty="0"/>
          </a:p>
        </p:txBody>
      </p:sp>
      <p:sp>
        <p:nvSpPr>
          <p:cNvPr id="3" name="內容版面配置區 2">
            <a:extLst>
              <a:ext uri="{FF2B5EF4-FFF2-40B4-BE49-F238E27FC236}">
                <a16:creationId xmlns:a16="http://schemas.microsoft.com/office/drawing/2014/main" id="{8E031438-CB48-4C3B-B9D9-8E8548E68CD1}"/>
              </a:ext>
            </a:extLst>
          </p:cNvPr>
          <p:cNvSpPr>
            <a:spLocks noGrp="1"/>
          </p:cNvSpPr>
          <p:nvPr>
            <p:ph idx="1"/>
          </p:nvPr>
        </p:nvSpPr>
        <p:spPr/>
        <p:txBody>
          <a:bodyPr/>
          <a:lstStyle/>
          <a:p>
            <a:r>
              <a:rPr lang="en-US" altLang="zh-TW" dirty="0"/>
              <a:t>Eagle Stream supports the Native build and the FSP build.</a:t>
            </a:r>
          </a:p>
          <a:p>
            <a:endParaRPr lang="en-US" altLang="zh-TW" dirty="0"/>
          </a:p>
          <a:p>
            <a:r>
              <a:rPr lang="en-US" altLang="zh-TW" dirty="0"/>
              <a:t>Use the FSP build binary to test and tag BIOS.</a:t>
            </a:r>
          </a:p>
          <a:p>
            <a:endParaRPr lang="en-US" altLang="zh-TW" dirty="0"/>
          </a:p>
          <a:p>
            <a:r>
              <a:rPr lang="en-US" altLang="zh-TW" dirty="0"/>
              <a:t>The Native build binary</a:t>
            </a:r>
            <a:r>
              <a:rPr lang="zh-TW" altLang="en-US" dirty="0"/>
              <a:t> </a:t>
            </a:r>
            <a:r>
              <a:rPr lang="en-US" altLang="zh-TW" dirty="0"/>
              <a:t>will still do some simple tests.</a:t>
            </a:r>
          </a:p>
        </p:txBody>
      </p:sp>
    </p:spTree>
    <p:extLst>
      <p:ext uri="{BB962C8B-B14F-4D97-AF65-F5344CB8AC3E}">
        <p14:creationId xmlns:p14="http://schemas.microsoft.com/office/powerpoint/2010/main" val="461490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normAutofit/>
          </a:bodyPr>
          <a:lstStyle/>
          <a:p>
            <a:r>
              <a:rPr lang="en-US" altLang="zh-TW" dirty="0"/>
              <a:t>How to Compile</a:t>
            </a:r>
            <a:br>
              <a:rPr lang="en-US" altLang="zh-TW" dirty="0"/>
            </a:br>
            <a:r>
              <a:rPr lang="en-US" altLang="zh-TW" sz="2400" dirty="0"/>
              <a:t>Native</a:t>
            </a:r>
            <a:endParaRPr lang="zh-TW" altLang="en-US" sz="2400"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800" b="1" strike="noStrike" spc="-1" dirty="0">
                <a:solidFill>
                  <a:srgbClr val="3F3F3F"/>
                </a:solidFill>
              </a:rPr>
              <a:t>Generate the Binary</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400" b="0" strike="noStrike" spc="-1" dirty="0">
                <a:solidFill>
                  <a:srgbClr val="3F3F3F"/>
                </a:solidFill>
              </a:rPr>
              <a:t>Double click ProjectBuild.bat</a:t>
            </a:r>
            <a:endParaRPr lang="en-US" altLang="zh-TW" sz="2400" b="0" strike="noStrike" spc="-1" dirty="0"/>
          </a:p>
          <a:p>
            <a:pPr marL="1143000" lvl="2" indent="-227880">
              <a:lnSpc>
                <a:spcPct val="90000"/>
              </a:lnSpc>
              <a:spcBef>
                <a:spcPts val="499"/>
              </a:spcBef>
              <a:buClr>
                <a:srgbClr val="3F3F3F"/>
              </a:buClr>
              <a:buFont typeface="Arial"/>
              <a:buChar char="•"/>
            </a:pPr>
            <a:r>
              <a:rPr lang="en-US" altLang="zh-TW" sz="2000" b="0" strike="noStrike" spc="-1" dirty="0">
                <a:solidFill>
                  <a:srgbClr val="3F3F3F"/>
                </a:solidFill>
              </a:rPr>
              <a:t>X64: Run “</a:t>
            </a:r>
            <a:r>
              <a:rPr lang="en-US" altLang="zh-TW" sz="2000" b="1" strike="noStrike" spc="-1" dirty="0" err="1">
                <a:solidFill>
                  <a:srgbClr val="FF0000"/>
                </a:solidFill>
              </a:rPr>
              <a:t>nmake</a:t>
            </a:r>
            <a:r>
              <a:rPr lang="en-US" altLang="zh-TW" sz="2000" b="1" strike="noStrike" spc="-1" dirty="0">
                <a:solidFill>
                  <a:srgbClr val="FF0000"/>
                </a:solidFill>
              </a:rPr>
              <a:t> uefi64</a:t>
            </a:r>
            <a:r>
              <a:rPr lang="en-US" altLang="zh-TW" sz="2000" b="0" strike="noStrike" spc="-1" dirty="0">
                <a:solidFill>
                  <a:srgbClr val="3F3F3F"/>
                </a:solidFill>
              </a:rPr>
              <a:t>” or “</a:t>
            </a:r>
            <a:r>
              <a:rPr lang="en-US" altLang="zh-TW" sz="2000" b="1" strike="noStrike" spc="-1" dirty="0" err="1">
                <a:solidFill>
                  <a:srgbClr val="FF0000"/>
                </a:solidFill>
              </a:rPr>
              <a:t>nmake</a:t>
            </a:r>
            <a:r>
              <a:rPr lang="en-US" altLang="zh-TW" sz="2000" b="1" strike="noStrike" spc="-1" dirty="0">
                <a:solidFill>
                  <a:srgbClr val="FF0000"/>
                </a:solidFill>
              </a:rPr>
              <a:t> </a:t>
            </a:r>
            <a:r>
              <a:rPr lang="en-US" altLang="zh-TW" sz="2000" b="1" strike="noStrike" spc="-1" dirty="0" err="1">
                <a:solidFill>
                  <a:srgbClr val="FF0000"/>
                </a:solidFill>
              </a:rPr>
              <a:t>efidebug</a:t>
            </a:r>
            <a:r>
              <a:rPr lang="en-US" altLang="zh-TW" sz="2000" b="0" strike="noStrike" spc="-1" dirty="0">
                <a:solidFill>
                  <a:srgbClr val="3F3F3F"/>
                </a:solidFill>
              </a:rPr>
              <a:t>”</a:t>
            </a:r>
            <a:endParaRPr lang="en-US" altLang="zh-TW" sz="2000" b="0" strike="noStrike" spc="-1" dirty="0"/>
          </a:p>
        </p:txBody>
      </p:sp>
      <p:pic>
        <p:nvPicPr>
          <p:cNvPr id="4" name="圖片 3">
            <a:extLst>
              <a:ext uri="{FF2B5EF4-FFF2-40B4-BE49-F238E27FC236}">
                <a16:creationId xmlns:a16="http://schemas.microsoft.com/office/drawing/2014/main" id="{D7983203-3D4A-4ABC-B59E-E9666EF7DBDE}"/>
              </a:ext>
            </a:extLst>
          </p:cNvPr>
          <p:cNvPicPr>
            <a:picLocks noChangeAspect="1"/>
          </p:cNvPicPr>
          <p:nvPr/>
        </p:nvPicPr>
        <p:blipFill>
          <a:blip r:embed="rId2"/>
          <a:stretch>
            <a:fillRect/>
          </a:stretch>
        </p:blipFill>
        <p:spPr>
          <a:xfrm>
            <a:off x="2440193" y="2646684"/>
            <a:ext cx="7106480" cy="3738342"/>
          </a:xfrm>
          <a:prstGeom prst="rect">
            <a:avLst/>
          </a:prstGeom>
          <a:ln>
            <a:solidFill>
              <a:srgbClr val="00B0F0"/>
            </a:solidFill>
          </a:ln>
        </p:spPr>
      </p:pic>
    </p:spTree>
    <p:extLst>
      <p:ext uri="{BB962C8B-B14F-4D97-AF65-F5344CB8AC3E}">
        <p14:creationId xmlns:p14="http://schemas.microsoft.com/office/powerpoint/2010/main" val="3330769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normAutofit/>
          </a:bodyPr>
          <a:lstStyle/>
          <a:p>
            <a:r>
              <a:rPr lang="en-US" altLang="zh-TW" dirty="0"/>
              <a:t>How to Compile</a:t>
            </a:r>
            <a:br>
              <a:rPr lang="en-US" altLang="zh-TW" dirty="0"/>
            </a:br>
            <a:r>
              <a:rPr lang="en-US" altLang="zh-TW" sz="2200" dirty="0"/>
              <a:t>FSP</a:t>
            </a:r>
            <a:endParaRPr lang="zh-TW" altLang="en-US" sz="2200"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880">
              <a:lnSpc>
                <a:spcPct val="90000"/>
              </a:lnSpc>
              <a:spcBef>
                <a:spcPts val="0"/>
              </a:spcBef>
              <a:buClr>
                <a:srgbClr val="3F3F3F"/>
              </a:buClr>
              <a:buFont typeface="Arial"/>
              <a:buChar char="•"/>
            </a:pPr>
            <a:r>
              <a:rPr lang="en-US" altLang="zh-TW" sz="2400" b="1" strike="noStrike" spc="-1" dirty="0">
                <a:solidFill>
                  <a:srgbClr val="3F3F3F"/>
                </a:solidFill>
              </a:rPr>
              <a:t>Generate the Binary</a:t>
            </a:r>
            <a:endParaRPr lang="en-US" altLang="zh-TW" sz="2400" b="0" strike="noStrike" spc="-1" dirty="0"/>
          </a:p>
          <a:p>
            <a:pPr marL="685800" lvl="1" indent="-227880">
              <a:lnSpc>
                <a:spcPct val="90000"/>
              </a:lnSpc>
              <a:spcBef>
                <a:spcPts val="0"/>
              </a:spcBef>
              <a:buClr>
                <a:srgbClr val="3F3F3F"/>
              </a:buClr>
              <a:buFont typeface="Arial"/>
              <a:buChar char="•"/>
            </a:pPr>
            <a:r>
              <a:rPr lang="en-US" altLang="zh-TW" sz="2000" b="0" strike="noStrike" spc="-1" dirty="0">
                <a:solidFill>
                  <a:srgbClr val="3F3F3F"/>
                </a:solidFill>
              </a:rPr>
              <a:t>Double click ProjectBuild.bat</a:t>
            </a:r>
            <a:endParaRPr lang="en-US" altLang="zh-TW" sz="2000" b="0" strike="noStrike" spc="-1" dirty="0"/>
          </a:p>
          <a:p>
            <a:pPr marL="1143000" lvl="2" indent="-227880">
              <a:lnSpc>
                <a:spcPct val="90000"/>
              </a:lnSpc>
              <a:spcBef>
                <a:spcPts val="0"/>
              </a:spcBef>
              <a:buClr>
                <a:srgbClr val="3F3F3F"/>
              </a:buClr>
              <a:buFont typeface="Arial"/>
              <a:buChar char="•"/>
            </a:pPr>
            <a:r>
              <a:rPr lang="en-US" altLang="zh-TW" sz="1800" b="0" strike="noStrike" spc="-1" dirty="0">
                <a:solidFill>
                  <a:srgbClr val="3F3F3F"/>
                </a:solidFill>
              </a:rPr>
              <a:t>X64: </a:t>
            </a:r>
          </a:p>
          <a:p>
            <a:pPr marL="1829520" lvl="3" indent="-457200">
              <a:spcBef>
                <a:spcPts val="0"/>
              </a:spcBef>
              <a:buClr>
                <a:srgbClr val="3F3F3F"/>
              </a:buClr>
              <a:buFont typeface="+mj-lt"/>
              <a:buAutoNum type="arabicPeriod"/>
            </a:pPr>
            <a:r>
              <a:rPr lang="en-US" altLang="zh-TW" sz="1400" b="0" strike="noStrike" spc="-1" dirty="0">
                <a:solidFill>
                  <a:srgbClr val="3F3F3F"/>
                </a:solidFill>
              </a:rPr>
              <a:t>Run “</a:t>
            </a:r>
            <a:r>
              <a:rPr lang="en-US" altLang="zh-TW" sz="1400" b="1" strike="noStrike" spc="-1" dirty="0">
                <a:solidFill>
                  <a:srgbClr val="FF0000"/>
                </a:solidFill>
              </a:rPr>
              <a:t>BuildFsp.cmd /d</a:t>
            </a:r>
            <a:r>
              <a:rPr lang="en-US" altLang="zh-TW" sz="1400" b="0" strike="noStrike" spc="-1" dirty="0">
                <a:solidFill>
                  <a:srgbClr val="3F3F3F"/>
                </a:solidFill>
              </a:rPr>
              <a:t>” or “</a:t>
            </a:r>
            <a:r>
              <a:rPr lang="en-US" altLang="zh-TW" sz="1400" b="1" strike="noStrike" spc="-1" dirty="0">
                <a:solidFill>
                  <a:srgbClr val="FF0000"/>
                </a:solidFill>
              </a:rPr>
              <a:t>BuildFsp.cmd /r</a:t>
            </a:r>
            <a:r>
              <a:rPr lang="en-US" altLang="zh-TW" sz="1400" b="0" strike="noStrike" spc="-1" dirty="0">
                <a:solidFill>
                  <a:srgbClr val="3F3F3F"/>
                </a:solidFill>
              </a:rPr>
              <a:t>” to generate the FSP binary</a:t>
            </a:r>
          </a:p>
          <a:p>
            <a:pPr marL="1829520" lvl="3" indent="-457200">
              <a:spcBef>
                <a:spcPts val="0"/>
              </a:spcBef>
              <a:buClr>
                <a:srgbClr val="3F3F3F"/>
              </a:buClr>
              <a:buFont typeface="+mj-lt"/>
              <a:buAutoNum type="arabicPeriod"/>
            </a:pPr>
            <a:endParaRPr lang="en-US" altLang="zh-TW" sz="1400"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1400" b="0" strike="noStrike" spc="-1" dirty="0">
              <a:solidFill>
                <a:srgbClr val="3F3F3F"/>
              </a:solidFill>
            </a:endParaRPr>
          </a:p>
          <a:p>
            <a:pPr marL="1829520" lvl="3" indent="-457200">
              <a:spcBef>
                <a:spcPts val="0"/>
              </a:spcBef>
              <a:buClr>
                <a:srgbClr val="3F3F3F"/>
              </a:buClr>
              <a:buFont typeface="+mj-lt"/>
              <a:buAutoNum type="arabicPeriod"/>
            </a:pPr>
            <a:endParaRPr lang="en-US" altLang="zh-TW" sz="700" spc="-1" dirty="0">
              <a:solidFill>
                <a:srgbClr val="3F3F3F"/>
              </a:solidFill>
            </a:endParaRPr>
          </a:p>
          <a:p>
            <a:pPr marL="1829520" lvl="3" indent="-457200">
              <a:spcBef>
                <a:spcPts val="0"/>
              </a:spcBef>
              <a:buClr>
                <a:srgbClr val="3F3F3F"/>
              </a:buClr>
              <a:buFont typeface="+mj-lt"/>
              <a:buAutoNum type="arabicPeriod"/>
            </a:pPr>
            <a:endParaRPr lang="en-US" altLang="zh-TW" sz="700" spc="-1" dirty="0">
              <a:solidFill>
                <a:srgbClr val="3F3F3F"/>
              </a:solidFill>
            </a:endParaRPr>
          </a:p>
          <a:p>
            <a:pPr marL="1829520" lvl="3" indent="-457200">
              <a:spcBef>
                <a:spcPts val="0"/>
              </a:spcBef>
              <a:buClr>
                <a:srgbClr val="3F3F3F"/>
              </a:buClr>
              <a:buFont typeface="+mj-lt"/>
              <a:buAutoNum type="arabicPeriod"/>
            </a:pPr>
            <a:endParaRPr lang="en-US" altLang="zh-TW" sz="700" spc="-1" dirty="0">
              <a:solidFill>
                <a:srgbClr val="3F3F3F"/>
              </a:solidFill>
            </a:endParaRPr>
          </a:p>
          <a:p>
            <a:pPr marL="1829520" lvl="3" indent="-457200">
              <a:spcBef>
                <a:spcPts val="0"/>
              </a:spcBef>
              <a:buClr>
                <a:srgbClr val="3F3F3F"/>
              </a:buClr>
              <a:buFont typeface="+mj-lt"/>
              <a:buAutoNum type="arabicPeriod"/>
            </a:pPr>
            <a:endParaRPr lang="en-US" altLang="zh-TW" sz="700" spc="-1" dirty="0">
              <a:solidFill>
                <a:srgbClr val="3F3F3F"/>
              </a:solidFill>
            </a:endParaRPr>
          </a:p>
          <a:p>
            <a:pPr marL="1829520" lvl="3" indent="-457200">
              <a:spcBef>
                <a:spcPts val="0"/>
              </a:spcBef>
              <a:buClr>
                <a:srgbClr val="3F3F3F"/>
              </a:buClr>
              <a:buFont typeface="+mj-lt"/>
              <a:buAutoNum type="arabicPeriod"/>
            </a:pPr>
            <a:r>
              <a:rPr lang="en-US" altLang="zh-TW" sz="1400" spc="-1" dirty="0">
                <a:solidFill>
                  <a:srgbClr val="3F3F3F"/>
                </a:solidFill>
              </a:rPr>
              <a:t>Run </a:t>
            </a:r>
            <a:r>
              <a:rPr lang="en-US" altLang="zh-TW" sz="1400" b="0" strike="noStrike" spc="-1" dirty="0">
                <a:solidFill>
                  <a:srgbClr val="3F3F3F"/>
                </a:solidFill>
              </a:rPr>
              <a:t>“</a:t>
            </a:r>
            <a:r>
              <a:rPr lang="en-US" altLang="zh-TW" sz="1400" b="1" strike="noStrike" spc="-1" dirty="0" err="1">
                <a:solidFill>
                  <a:srgbClr val="FF0000"/>
                </a:solidFill>
              </a:rPr>
              <a:t>nmake</a:t>
            </a:r>
            <a:r>
              <a:rPr lang="en-US" altLang="zh-TW" sz="1400" b="1" strike="noStrike" spc="-1" dirty="0">
                <a:solidFill>
                  <a:srgbClr val="FF0000"/>
                </a:solidFill>
              </a:rPr>
              <a:t> uefi64fsp</a:t>
            </a:r>
            <a:r>
              <a:rPr lang="en-US" altLang="zh-TW" sz="1400" b="0" strike="noStrike" spc="-1" dirty="0">
                <a:solidFill>
                  <a:srgbClr val="3F3F3F"/>
                </a:solidFill>
              </a:rPr>
              <a:t>” or “</a:t>
            </a:r>
            <a:r>
              <a:rPr lang="en-US" altLang="zh-TW" sz="1400" b="1" strike="noStrike" spc="-1" dirty="0" err="1">
                <a:solidFill>
                  <a:srgbClr val="FF0000"/>
                </a:solidFill>
              </a:rPr>
              <a:t>nmake</a:t>
            </a:r>
            <a:r>
              <a:rPr lang="en-US" altLang="zh-TW" sz="1400" b="1" strike="noStrike" spc="-1" dirty="0">
                <a:solidFill>
                  <a:srgbClr val="FF0000"/>
                </a:solidFill>
              </a:rPr>
              <a:t> </a:t>
            </a:r>
            <a:r>
              <a:rPr lang="en-US" altLang="zh-TW" sz="1400" b="1" strike="noStrike" spc="-1" dirty="0" err="1">
                <a:solidFill>
                  <a:srgbClr val="FF0000"/>
                </a:solidFill>
              </a:rPr>
              <a:t>efidebugfsp</a:t>
            </a:r>
            <a:r>
              <a:rPr lang="en-US" altLang="zh-TW" sz="1400" b="0" strike="noStrike" spc="-1" dirty="0">
                <a:solidFill>
                  <a:srgbClr val="3F3F3F"/>
                </a:solidFill>
              </a:rPr>
              <a:t>” to generate the full BIOS binary</a:t>
            </a:r>
          </a:p>
          <a:p>
            <a:pPr marL="1143000" lvl="2" indent="-227880">
              <a:lnSpc>
                <a:spcPct val="90000"/>
              </a:lnSpc>
              <a:spcBef>
                <a:spcPts val="499"/>
              </a:spcBef>
              <a:buClr>
                <a:srgbClr val="3F3F3F"/>
              </a:buClr>
              <a:buFont typeface="Arial"/>
              <a:buChar char="•"/>
            </a:pPr>
            <a:endParaRPr lang="en-US" altLang="zh-TW" b="0" strike="noStrike" spc="-1" dirty="0"/>
          </a:p>
        </p:txBody>
      </p:sp>
      <p:pic>
        <p:nvPicPr>
          <p:cNvPr id="6" name="圖片 5">
            <a:extLst>
              <a:ext uri="{FF2B5EF4-FFF2-40B4-BE49-F238E27FC236}">
                <a16:creationId xmlns:a16="http://schemas.microsoft.com/office/drawing/2014/main" id="{FBC7A638-6832-47F3-B0C0-A613F3D3EAAB}"/>
              </a:ext>
            </a:extLst>
          </p:cNvPr>
          <p:cNvPicPr>
            <a:picLocks noChangeAspect="1"/>
          </p:cNvPicPr>
          <p:nvPr/>
        </p:nvPicPr>
        <p:blipFill>
          <a:blip r:embed="rId2"/>
          <a:stretch>
            <a:fillRect/>
          </a:stretch>
        </p:blipFill>
        <p:spPr>
          <a:xfrm>
            <a:off x="2752762" y="2483141"/>
            <a:ext cx="4805719" cy="2038567"/>
          </a:xfrm>
          <a:prstGeom prst="rect">
            <a:avLst/>
          </a:prstGeom>
          <a:ln>
            <a:solidFill>
              <a:srgbClr val="00B0F0"/>
            </a:solidFill>
          </a:ln>
        </p:spPr>
      </p:pic>
      <p:pic>
        <p:nvPicPr>
          <p:cNvPr id="7" name="圖片 6">
            <a:extLst>
              <a:ext uri="{FF2B5EF4-FFF2-40B4-BE49-F238E27FC236}">
                <a16:creationId xmlns:a16="http://schemas.microsoft.com/office/drawing/2014/main" id="{7E31948E-4AEC-4485-98B7-3DB21AD1F97D}"/>
              </a:ext>
            </a:extLst>
          </p:cNvPr>
          <p:cNvPicPr>
            <a:picLocks noChangeAspect="1"/>
          </p:cNvPicPr>
          <p:nvPr/>
        </p:nvPicPr>
        <p:blipFill>
          <a:blip r:embed="rId3"/>
          <a:stretch>
            <a:fillRect/>
          </a:stretch>
        </p:blipFill>
        <p:spPr>
          <a:xfrm>
            <a:off x="2761152" y="4799333"/>
            <a:ext cx="4805718" cy="1974777"/>
          </a:xfrm>
          <a:prstGeom prst="rect">
            <a:avLst/>
          </a:prstGeom>
          <a:ln>
            <a:solidFill>
              <a:srgbClr val="00B0F0"/>
            </a:solidFill>
          </a:ln>
        </p:spPr>
      </p:pic>
    </p:spTree>
    <p:extLst>
      <p:ext uri="{BB962C8B-B14F-4D97-AF65-F5344CB8AC3E}">
        <p14:creationId xmlns:p14="http://schemas.microsoft.com/office/powerpoint/2010/main" val="1601615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33</a:t>
            </a:fld>
            <a:endParaRPr lang="en-US" dirty="0"/>
          </a:p>
        </p:txBody>
      </p:sp>
    </p:spTree>
    <p:extLst>
      <p:ext uri="{BB962C8B-B14F-4D97-AF65-F5344CB8AC3E}">
        <p14:creationId xmlns:p14="http://schemas.microsoft.com/office/powerpoint/2010/main" val="1931584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34</a:t>
            </a:fld>
            <a:endParaRPr lang="en-US" dirty="0"/>
          </a:p>
        </p:txBody>
      </p:sp>
      <p:sp>
        <p:nvSpPr>
          <p:cNvPr id="2" name="Title 1"/>
          <p:cNvSpPr>
            <a:spLocks noGrp="1"/>
          </p:cNvSpPr>
          <p:nvPr>
            <p:ph type="title"/>
          </p:nvPr>
        </p:nvSpPr>
        <p:spPr/>
        <p:txBody>
          <a:bodyPr/>
          <a:lstStyle/>
          <a:p>
            <a:r>
              <a:rPr lang="en-US" altLang="zh-TW" dirty="0"/>
              <a:t>Backup</a:t>
            </a:r>
            <a:endParaRPr lang="en-US" dirty="0"/>
          </a:p>
        </p:txBody>
      </p:sp>
    </p:spTree>
    <p:extLst>
      <p:ext uri="{BB962C8B-B14F-4D97-AF65-F5344CB8AC3E}">
        <p14:creationId xmlns:p14="http://schemas.microsoft.com/office/powerpoint/2010/main" val="995328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8760F3-3FF8-4B6F-BD35-5E496F8D929D}"/>
              </a:ext>
            </a:extLst>
          </p:cNvPr>
          <p:cNvSpPr>
            <a:spLocks noGrp="1"/>
          </p:cNvSpPr>
          <p:nvPr>
            <p:ph type="title"/>
          </p:nvPr>
        </p:nvSpPr>
        <p:spPr/>
        <p:txBody>
          <a:bodyPr/>
          <a:lstStyle/>
          <a:p>
            <a:r>
              <a:rPr lang="en-US" altLang="zh-TW" dirty="0"/>
              <a:t>Support structure PCD</a:t>
            </a:r>
            <a:endParaRPr lang="zh-TW" altLang="en-US" dirty="0"/>
          </a:p>
        </p:txBody>
      </p:sp>
      <p:pic>
        <p:nvPicPr>
          <p:cNvPr id="5" name="內容版面配置區 4">
            <a:extLst>
              <a:ext uri="{FF2B5EF4-FFF2-40B4-BE49-F238E27FC236}">
                <a16:creationId xmlns:a16="http://schemas.microsoft.com/office/drawing/2014/main" id="{2478A6FD-3376-42E4-AA05-5EFA06E85515}"/>
              </a:ext>
            </a:extLst>
          </p:cNvPr>
          <p:cNvPicPr>
            <a:picLocks noGrp="1" noChangeAspect="1"/>
          </p:cNvPicPr>
          <p:nvPr>
            <p:ph idx="1"/>
          </p:nvPr>
        </p:nvPicPr>
        <p:blipFill>
          <a:blip r:embed="rId2"/>
          <a:stretch>
            <a:fillRect/>
          </a:stretch>
        </p:blipFill>
        <p:spPr>
          <a:xfrm>
            <a:off x="2685245" y="1316230"/>
            <a:ext cx="5988972" cy="4921476"/>
          </a:xfrm>
        </p:spPr>
      </p:pic>
    </p:spTree>
    <p:extLst>
      <p:ext uri="{BB962C8B-B14F-4D97-AF65-F5344CB8AC3E}">
        <p14:creationId xmlns:p14="http://schemas.microsoft.com/office/powerpoint/2010/main" val="3034357305"/>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9749</TotalTime>
  <Words>2115</Words>
  <Application>Microsoft Office PowerPoint</Application>
  <PresentationFormat>寬螢幕</PresentationFormat>
  <Paragraphs>265</Paragraphs>
  <Slides>35</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35</vt:i4>
      </vt:variant>
    </vt:vector>
  </HeadingPairs>
  <TitlesOfParts>
    <vt:vector size="41" baseType="lpstr">
      <vt:lpstr>Intel Clear</vt:lpstr>
      <vt:lpstr>SegoeUI</vt:lpstr>
      <vt:lpstr>Arial</vt:lpstr>
      <vt:lpstr>Calibri</vt:lpstr>
      <vt:lpstr>Segoe UI</vt:lpstr>
      <vt:lpstr>2018 Theme</vt:lpstr>
      <vt:lpstr>Eagle Stream Code Architecture Introduction</vt:lpstr>
      <vt:lpstr>Copyright 2021 Insyde Software Corp., All Rights Reserved.</vt:lpstr>
      <vt:lpstr>Agenda</vt:lpstr>
      <vt:lpstr>Goal &amp; Target Audience</vt:lpstr>
      <vt:lpstr>Goal &amp; Target Audience</vt:lpstr>
      <vt:lpstr>Introduce New Codebase Directory Structure (Insyde Kernel)</vt:lpstr>
      <vt:lpstr>Introduce New Codebase Directory Structure (1/3)</vt:lpstr>
      <vt:lpstr>Introduce New Codebase Directory Structure (2/3)</vt:lpstr>
      <vt:lpstr>Introduce New Codebase Directory Structure (3/3)</vt:lpstr>
      <vt:lpstr>Eagle Stream Code Structure</vt:lpstr>
      <vt:lpstr>InsydeH2O 5.x Code Structure Terminology</vt:lpstr>
      <vt:lpstr>InydeH2O 5.4 Code Structure Folder Introduction</vt:lpstr>
      <vt:lpstr>InydeH2O 5.4 Code Structure Insyde Source Code Structure – Eagle Stream</vt:lpstr>
      <vt:lpstr>InydeH2O 5.4 Code Structure Insyde Source Code Structure – SegFeature</vt:lpstr>
      <vt:lpstr>Introduce Multiple Workspaces</vt:lpstr>
      <vt:lpstr>Introduce Multiple Workspaces (1/6)</vt:lpstr>
      <vt:lpstr>Introduce Multiple Workspaces (2/6)</vt:lpstr>
      <vt:lpstr>Introduce Multiple Workspaces (3/6)</vt:lpstr>
      <vt:lpstr>Introduce Multiple Workspaces (4/6)</vt:lpstr>
      <vt:lpstr>Introduce Multiple Workspaces (5/6)</vt:lpstr>
      <vt:lpstr>Introduce Multiple Workspaces (6/6)</vt:lpstr>
      <vt:lpstr>Override Mechanism</vt:lpstr>
      <vt:lpstr>How to Use Override Override in Project.dsc</vt:lpstr>
      <vt:lpstr>How to Use Override Example</vt:lpstr>
      <vt:lpstr>FSP</vt:lpstr>
      <vt:lpstr>FSP (1/3)</vt:lpstr>
      <vt:lpstr>FSP (2/3)</vt:lpstr>
      <vt:lpstr>FSP (3/3)</vt:lpstr>
      <vt:lpstr>Compile</vt:lpstr>
      <vt:lpstr>Compile</vt:lpstr>
      <vt:lpstr>How to Compile Native</vt:lpstr>
      <vt:lpstr>How to Compile FSP</vt:lpstr>
      <vt:lpstr>Thanks!</vt:lpstr>
      <vt:lpstr>Backup</vt:lpstr>
      <vt:lpstr>Support structure PCD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Issac Yen</cp:lastModifiedBy>
  <cp:revision>143</cp:revision>
  <dcterms:created xsi:type="dcterms:W3CDTF">2018-02-02T23:50:52Z</dcterms:created>
  <dcterms:modified xsi:type="dcterms:W3CDTF">2021-04-15T00:51:02Z</dcterms:modified>
</cp:coreProperties>
</file>