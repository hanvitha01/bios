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8"/>
  </p:notesMasterIdLst>
  <p:sldIdLst>
    <p:sldId id="351" r:id="rId2"/>
    <p:sldId id="364" r:id="rId3"/>
    <p:sldId id="365" r:id="rId4"/>
    <p:sldId id="366" r:id="rId5"/>
    <p:sldId id="367" r:id="rId6"/>
    <p:sldId id="368" r:id="rId7"/>
    <p:sldId id="436" r:id="rId8"/>
    <p:sldId id="437" r:id="rId9"/>
    <p:sldId id="438" r:id="rId10"/>
    <p:sldId id="439" r:id="rId11"/>
    <p:sldId id="440" r:id="rId12"/>
    <p:sldId id="441" r:id="rId13"/>
    <p:sldId id="442" r:id="rId14"/>
    <p:sldId id="443" r:id="rId15"/>
    <p:sldId id="352" r:id="rId16"/>
    <p:sldId id="361" r:id="rId17"/>
    <p:sldId id="444" r:id="rId18"/>
    <p:sldId id="374" r:id="rId19"/>
    <p:sldId id="434" r:id="rId20"/>
    <p:sldId id="445" r:id="rId21"/>
    <p:sldId id="446" r:id="rId22"/>
    <p:sldId id="447" r:id="rId23"/>
    <p:sldId id="448" r:id="rId24"/>
    <p:sldId id="449" r:id="rId25"/>
    <p:sldId id="450" r:id="rId26"/>
    <p:sldId id="45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3" d="100"/>
          <a:sy n="83" d="100"/>
        </p:scale>
        <p:origin x="114" y="6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5/16/2022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5/16/2022</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Build Environment</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040211496"/>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7880">
              <a:lnSpc>
                <a:spcPct val="90000"/>
              </a:lnSpc>
              <a:spcBef>
                <a:spcPts val="1001"/>
              </a:spcBef>
              <a:buClr>
                <a:srgbClr val="FFFFFF"/>
              </a:buClr>
              <a:buFont typeface="Arial"/>
              <a:buChar char="•"/>
            </a:pPr>
            <a:r>
              <a:rPr lang="en-US" altLang="zh-TW" dirty="0"/>
              <a:t>Build Tools</a:t>
            </a:r>
          </a:p>
          <a:p>
            <a:pPr marL="228600" indent="-227880">
              <a:lnSpc>
                <a:spcPct val="90000"/>
              </a:lnSpc>
              <a:spcBef>
                <a:spcPts val="1001"/>
              </a:spcBef>
              <a:buClr>
                <a:srgbClr val="FFFFFF"/>
              </a:buClr>
              <a:buFont typeface="Arial"/>
              <a:buChar char="•"/>
            </a:pPr>
            <a:r>
              <a:rPr lang="en-US" altLang="zh-TW" dirty="0"/>
              <a:t>How to Compile</a:t>
            </a:r>
          </a:p>
          <a:p>
            <a:pPr marL="228600" indent="-227880">
              <a:lnSpc>
                <a:spcPct val="90000"/>
              </a:lnSpc>
              <a:spcBef>
                <a:spcPts val="1001"/>
              </a:spcBef>
              <a:buClr>
                <a:srgbClr val="FFFFFF"/>
              </a:buClr>
              <a:buFont typeface="Arial"/>
              <a:buChar char="•"/>
            </a:pPr>
            <a:r>
              <a:rPr lang="en-US" altLang="zh-TW" dirty="0" err="1"/>
              <a:t>PreBuild</a:t>
            </a:r>
            <a:r>
              <a:rPr lang="en-US" altLang="zh-TW" dirty="0"/>
              <a:t> &amp; </a:t>
            </a:r>
            <a:r>
              <a:rPr lang="en-US" altLang="zh-TW" dirty="0" err="1"/>
              <a:t>PostBuild</a:t>
            </a:r>
            <a:endParaRPr lang="en-US" altLang="zh-TW" dirty="0"/>
          </a:p>
          <a:p>
            <a:pPr marL="228600" indent="-227880">
              <a:lnSpc>
                <a:spcPct val="90000"/>
              </a:lnSpc>
              <a:spcBef>
                <a:spcPts val="1001"/>
              </a:spcBef>
              <a:buClr>
                <a:srgbClr val="FFFFFF"/>
              </a:buClr>
              <a:buFont typeface="Arial"/>
              <a:buChar char="•"/>
            </a:pPr>
            <a:r>
              <a:rPr lang="en-US" altLang="zh-TW" dirty="0"/>
              <a:t>Build Process</a:t>
            </a:r>
          </a:p>
          <a:p>
            <a:pPr marL="228600" indent="-227880">
              <a:lnSpc>
                <a:spcPct val="90000"/>
              </a:lnSpc>
              <a:spcBef>
                <a:spcPts val="1001"/>
              </a:spcBef>
              <a:buClr>
                <a:srgbClr val="FFFFFF"/>
              </a:buClr>
              <a:buFont typeface="Arial"/>
              <a:buChar char="•"/>
            </a:pPr>
            <a:r>
              <a:rPr lang="en-US" altLang="zh-TW" dirty="0"/>
              <a:t>Meta-Data Files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072573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Build Tools</a:t>
            </a:r>
          </a:p>
        </p:txBody>
      </p:sp>
    </p:spTree>
    <p:extLst>
      <p:ext uri="{BB962C8B-B14F-4D97-AF65-F5344CB8AC3E}">
        <p14:creationId xmlns:p14="http://schemas.microsoft.com/office/powerpoint/2010/main" val="3525218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Build Tools</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1" strike="noStrike" spc="-1" dirty="0">
                <a:solidFill>
                  <a:srgbClr val="3F3F3F"/>
                </a:solidFill>
              </a:rPr>
              <a:t>Windows (Win7/Win8/Win10/…) </a:t>
            </a:r>
            <a:r>
              <a:rPr lang="en-US" altLang="zh-TW" sz="2800" b="0" strike="noStrike" spc="-1" dirty="0">
                <a:solidFill>
                  <a:srgbClr val="3F3F3F"/>
                </a:solidFill>
              </a:rPr>
              <a:t>Operating system</a:t>
            </a:r>
            <a:endParaRPr lang="en-US" altLang="zh-TW" sz="2800" b="0" strike="noStrike" spc="-1" dirty="0"/>
          </a:p>
          <a:p>
            <a:pPr>
              <a:lnSpc>
                <a:spcPct val="90000"/>
              </a:lnSpc>
              <a:spcBef>
                <a:spcPts val="1001"/>
              </a:spcBef>
            </a:pPr>
            <a:endParaRPr lang="en-US" altLang="zh-TW" sz="2800" b="0" strike="noStrike" spc="-1" dirty="0"/>
          </a:p>
          <a:p>
            <a:pPr marL="228600" indent="-227880">
              <a:lnSpc>
                <a:spcPct val="90000"/>
              </a:lnSpc>
              <a:spcBef>
                <a:spcPts val="1001"/>
              </a:spcBef>
              <a:buClr>
                <a:srgbClr val="3F3F3F"/>
              </a:buClr>
              <a:buFont typeface="Arial"/>
              <a:buChar char="•"/>
            </a:pPr>
            <a:r>
              <a:rPr lang="en-US" altLang="zh-TW" sz="2800" b="1" strike="noStrike" spc="-1" dirty="0">
                <a:solidFill>
                  <a:srgbClr val="3F3F3F"/>
                </a:solidFill>
              </a:rPr>
              <a:t>Microsoft Visual 2015(VC14)/2017/Windows Development Kit…</a:t>
            </a:r>
            <a:endParaRPr lang="en-US" altLang="zh-TW" sz="2800" b="0" strike="noStrike" spc="-1" dirty="0"/>
          </a:p>
          <a:p>
            <a:pPr>
              <a:lnSpc>
                <a:spcPct val="90000"/>
              </a:lnSpc>
              <a:spcBef>
                <a:spcPts val="1001"/>
              </a:spcBef>
            </a:pPr>
            <a:endParaRPr lang="en-US" altLang="zh-TW" sz="2800" b="0" strike="noStrike" spc="-1" dirty="0"/>
          </a:p>
          <a:p>
            <a:pPr marL="228600" indent="-227880">
              <a:lnSpc>
                <a:spcPct val="90000"/>
              </a:lnSpc>
              <a:spcBef>
                <a:spcPts val="1001"/>
              </a:spcBef>
              <a:buClr>
                <a:srgbClr val="3F3F3F"/>
              </a:buClr>
              <a:buFont typeface="Arial"/>
              <a:buChar char="•"/>
            </a:pPr>
            <a:r>
              <a:rPr lang="en-US" altLang="zh-TW" sz="2800" b="1" strike="noStrike" spc="-1" dirty="0">
                <a:solidFill>
                  <a:srgbClr val="3F3F3F"/>
                </a:solidFill>
              </a:rPr>
              <a:t>Intel ACPI(IASL) complier</a:t>
            </a:r>
            <a:endParaRPr lang="en-US" altLang="zh-TW" sz="2800" b="0" strike="noStrike" spc="-1" dirty="0"/>
          </a:p>
          <a:p>
            <a:pPr>
              <a:lnSpc>
                <a:spcPct val="90000"/>
              </a:lnSpc>
              <a:spcBef>
                <a:spcPts val="1001"/>
              </a:spcBef>
            </a:pPr>
            <a:endParaRPr lang="en-US" altLang="zh-TW" sz="2800" b="0" strike="noStrike" spc="-1" dirty="0"/>
          </a:p>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EDK II Build Tools (include in InsydeH2O)</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400" b="0" strike="noStrike" spc="-1" dirty="0">
                <a:solidFill>
                  <a:srgbClr val="3F3F3F"/>
                </a:solidFill>
              </a:rPr>
              <a:t>Process build files</a:t>
            </a:r>
            <a:endParaRPr lang="en-US" altLang="zh-TW" sz="2400" b="0" strike="noStrike" spc="-1" dirty="0"/>
          </a:p>
          <a:p>
            <a:pPr marL="685800" lvl="1" indent="-227880">
              <a:lnSpc>
                <a:spcPct val="90000"/>
              </a:lnSpc>
              <a:spcBef>
                <a:spcPts val="499"/>
              </a:spcBef>
              <a:buClr>
                <a:srgbClr val="3F3F3F"/>
              </a:buClr>
              <a:buFont typeface="Arial"/>
              <a:buChar char="•"/>
            </a:pPr>
            <a:r>
              <a:rPr lang="en-US" altLang="zh-TW" sz="2400" b="0" strike="noStrike" spc="-1" dirty="0">
                <a:solidFill>
                  <a:srgbClr val="3F3F3F"/>
                </a:solidFill>
              </a:rPr>
              <a:t>Create FV images</a:t>
            </a:r>
            <a:endParaRPr lang="en-US" altLang="zh-TW" sz="2400" b="0" strike="noStrike" spc="-1"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How to Compile</a:t>
            </a:r>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How to Compile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fontScale="55000" lnSpcReduction="20000"/>
          </a:bodyPr>
          <a:lstStyle/>
          <a:p>
            <a:pPr marL="228600" indent="-227880">
              <a:lnSpc>
                <a:spcPct val="90000"/>
              </a:lnSpc>
              <a:spcBef>
                <a:spcPts val="1001"/>
              </a:spcBef>
              <a:buClr>
                <a:srgbClr val="3F3F3F"/>
              </a:buClr>
              <a:buFont typeface="Arial"/>
              <a:buChar char="•"/>
            </a:pPr>
            <a:r>
              <a:rPr lang="en-US" altLang="zh-TW" sz="4400" b="1" strike="noStrike" spc="-1" dirty="0">
                <a:solidFill>
                  <a:srgbClr val="3F3F3F"/>
                </a:solidFill>
                <a:latin typeface="Segoe UI"/>
              </a:rPr>
              <a:t>ProjectSetup.bat</a:t>
            </a:r>
            <a:endParaRPr lang="en-US" altLang="zh-TW" sz="44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REM ---------------------------------------------------------------------------------------------</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REM Project dependent parameters</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REM ---------------------------------------------------------------------------------------------</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set TOOL_CHAIN=</a:t>
            </a:r>
            <a:r>
              <a:rPr lang="en-US" altLang="zh-TW" sz="2800" b="1" strike="noStrike" spc="-1" dirty="0">
                <a:solidFill>
                  <a:srgbClr val="FF0000"/>
                </a:solidFill>
                <a:latin typeface="Segoe UI"/>
              </a:rPr>
              <a:t>DEVTLS_VC14</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set ASL_PATH=%WORKSPACE%\%PROJECT_REL_PATH%\%PROJECT_PKG%\Tools\Bin\Asl\Acpi6.3</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set ARCH=IA32 X64</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set EFI_SOURCE_DIR=</a:t>
            </a:r>
            <a:r>
              <a:rPr lang="en-US" altLang="zh-TW" sz="2800" b="0" strike="noStrike" spc="-1" dirty="0" err="1">
                <a:solidFill>
                  <a:srgbClr val="3F3F3F"/>
                </a:solidFill>
                <a:latin typeface="Segoe UI"/>
              </a:rPr>
              <a:t>InsydeModulePkg</a:t>
            </a:r>
            <a:endParaRPr lang="en-US" altLang="zh-TW" sz="2800" b="0" strike="noStrike" spc="-1" dirty="0">
              <a:solidFill>
                <a:srgbClr val="3F3F3F"/>
              </a:solidFill>
              <a:latin typeface="Segoe UI"/>
            </a:endParaRPr>
          </a:p>
          <a:p>
            <a:pPr indent="0">
              <a:lnSpc>
                <a:spcPct val="90000"/>
              </a:lnSpc>
              <a:spcBef>
                <a:spcPts val="499"/>
              </a:spcBef>
              <a:buNone/>
            </a:pPr>
            <a:r>
              <a:rPr lang="en-US" altLang="zh-TW" sz="2800" b="0" strike="noStrike" spc="-1" dirty="0"/>
              <a:t>set PYTHON_DIR=c:\python27</a:t>
            </a:r>
          </a:p>
          <a:p>
            <a:pPr indent="0">
              <a:lnSpc>
                <a:spcPct val="90000"/>
              </a:lnSpc>
              <a:spcBef>
                <a:spcPts val="499"/>
              </a:spcBef>
              <a:buNone/>
            </a:pPr>
            <a:endParaRPr lang="en-US" altLang="zh-TW" sz="2800" b="0" strike="noStrike" spc="-1" dirty="0">
              <a:latin typeface="Arial"/>
            </a:endParaRPr>
          </a:p>
          <a:p>
            <a:pPr indent="0">
              <a:lnSpc>
                <a:spcPct val="90000"/>
              </a:lnSpc>
              <a:spcBef>
                <a:spcPts val="499"/>
              </a:spcBef>
              <a:buNone/>
            </a:pPr>
            <a:r>
              <a:rPr lang="en-US" altLang="zh-TW" spc="-1" dirty="0">
                <a:latin typeface="Arial"/>
              </a:rPr>
              <a:t>…</a:t>
            </a:r>
          </a:p>
          <a:p>
            <a:pPr indent="0">
              <a:lnSpc>
                <a:spcPct val="90000"/>
              </a:lnSpc>
              <a:spcBef>
                <a:spcPts val="499"/>
              </a:spcBef>
              <a:buNone/>
            </a:pPr>
            <a:r>
              <a:rPr lang="en-US" altLang="zh-TW" sz="2800" b="0" strike="noStrike" spc="-1" dirty="0">
                <a:latin typeface="Arial"/>
              </a:rPr>
              <a:t>…</a:t>
            </a:r>
          </a:p>
          <a:p>
            <a:pPr indent="0">
              <a:lnSpc>
                <a:spcPct val="90000"/>
              </a:lnSpc>
              <a:spcBef>
                <a:spcPts val="499"/>
              </a:spcBef>
              <a:buNone/>
            </a:pP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call %WORKSPACE%\</a:t>
            </a:r>
            <a:r>
              <a:rPr lang="en-US" altLang="zh-TW" sz="2800" b="0" strike="noStrike" spc="-1" dirty="0" err="1">
                <a:solidFill>
                  <a:srgbClr val="3F3F3F"/>
                </a:solidFill>
                <a:latin typeface="Segoe UI"/>
              </a:rPr>
              <a:t>BaseTools</a:t>
            </a:r>
            <a:r>
              <a:rPr lang="en-US" altLang="zh-TW" sz="2800" b="0" strike="noStrike" spc="-1" dirty="0">
                <a:solidFill>
                  <a:srgbClr val="3F3F3F"/>
                </a:solidFill>
                <a:latin typeface="Segoe UI"/>
              </a:rPr>
              <a:t>\H2ORev50.bat</a:t>
            </a:r>
            <a:endParaRPr lang="en-US" altLang="zh-TW" sz="2800" b="0" strike="noStrike" spc="-1" dirty="0">
              <a:latin typeface="Arial"/>
            </a:endParaRPr>
          </a:p>
          <a:p>
            <a:pPr marL="457200">
              <a:lnSpc>
                <a:spcPct val="90000"/>
              </a:lnSpc>
              <a:spcBef>
                <a:spcPts val="499"/>
              </a:spcBef>
            </a:pPr>
            <a:endParaRPr lang="en-US" altLang="zh-TW" sz="2800" b="0" strike="noStrike" spc="-1" dirty="0">
              <a:latin typeface="Arial"/>
            </a:endParaRPr>
          </a:p>
          <a:p>
            <a:pPr marL="457200">
              <a:lnSpc>
                <a:spcPct val="90000"/>
              </a:lnSpc>
              <a:spcBef>
                <a:spcPts val="499"/>
              </a:spcBef>
            </a:pPr>
            <a:endParaRPr lang="en-US" altLang="zh-TW" sz="2800" b="0" strike="noStrike" spc="-1" dirty="0">
              <a:latin typeface="Arial"/>
            </a:endParaRPr>
          </a:p>
          <a:p>
            <a:pPr marL="457200">
              <a:lnSpc>
                <a:spcPct val="90000"/>
              </a:lnSpc>
              <a:spcBef>
                <a:spcPts val="499"/>
              </a:spcBef>
            </a:pPr>
            <a:endParaRPr lang="en-US" altLang="zh-TW" sz="2800" b="0" strike="noStrike" spc="-1" dirty="0">
              <a:latin typeface="Arial"/>
            </a:endParaRPr>
          </a:p>
          <a:p>
            <a:pPr marL="228600" indent="-227880">
              <a:lnSpc>
                <a:spcPct val="100000"/>
              </a:lnSpc>
              <a:spcBef>
                <a:spcPts val="1001"/>
              </a:spcBef>
              <a:buClr>
                <a:srgbClr val="0070C0"/>
              </a:buClr>
              <a:buFont typeface="Arial"/>
              <a:buChar char="•"/>
            </a:pPr>
            <a:r>
              <a:rPr lang="en-US" altLang="zh-TW" sz="4400" b="1" strike="noStrike" spc="-1" dirty="0">
                <a:solidFill>
                  <a:srgbClr val="0070C0"/>
                </a:solidFill>
                <a:latin typeface="Segoe UI"/>
                <a:ea typeface="DejaVu Sans"/>
              </a:rPr>
              <a:t>If you install the compiler with default path setting, you can define the TOOL_CHAIN as the following example</a:t>
            </a:r>
            <a:endParaRPr lang="en-US" altLang="zh-TW" sz="4400" b="0" strike="noStrike" spc="-1" dirty="0">
              <a:latin typeface="Arial"/>
            </a:endParaRPr>
          </a:p>
          <a:p>
            <a:pPr>
              <a:lnSpc>
                <a:spcPct val="90000"/>
              </a:lnSpc>
              <a:spcBef>
                <a:spcPts val="1001"/>
              </a:spcBef>
            </a:pPr>
            <a:endParaRPr lang="en-US" altLang="zh-TW" sz="4400" b="0" strike="noStrike" spc="-1" dirty="0">
              <a:latin typeface="Arial"/>
            </a:endParaRPr>
          </a:p>
        </p:txBody>
      </p:sp>
    </p:spTree>
    <p:extLst>
      <p:ext uri="{BB962C8B-B14F-4D97-AF65-F5344CB8AC3E}">
        <p14:creationId xmlns:p14="http://schemas.microsoft.com/office/powerpoint/2010/main" val="3695652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How to Compile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b="1" strike="noStrike" spc="-1" dirty="0">
                <a:solidFill>
                  <a:srgbClr val="3F3F3F"/>
                </a:solidFill>
              </a:rPr>
              <a:t>TOOL_CHAIN</a:t>
            </a:r>
            <a:endParaRPr lang="en-US" altLang="zh-TW" b="0" strike="noStrike" spc="-1" dirty="0"/>
          </a:p>
          <a:p>
            <a:pPr>
              <a:lnSpc>
                <a:spcPct val="90000"/>
              </a:lnSpc>
              <a:spcBef>
                <a:spcPts val="1001"/>
              </a:spcBef>
            </a:pPr>
            <a:endParaRPr lang="en-US" altLang="zh-TW" b="0" strike="noStrike" spc="-1" dirty="0">
              <a:latin typeface="Arial"/>
            </a:endParaRPr>
          </a:p>
        </p:txBody>
      </p:sp>
      <p:grpSp>
        <p:nvGrpSpPr>
          <p:cNvPr id="4" name="群組 3">
            <a:extLst>
              <a:ext uri="{FF2B5EF4-FFF2-40B4-BE49-F238E27FC236}">
                <a16:creationId xmlns:a16="http://schemas.microsoft.com/office/drawing/2014/main" id="{FF73C9FD-3C70-431B-98D6-E29E39814590}"/>
              </a:ext>
            </a:extLst>
          </p:cNvPr>
          <p:cNvGrpSpPr/>
          <p:nvPr/>
        </p:nvGrpSpPr>
        <p:grpSpPr>
          <a:xfrm>
            <a:off x="1252380" y="1977774"/>
            <a:ext cx="9687240" cy="4786200"/>
            <a:chOff x="1571040" y="1927440"/>
            <a:chExt cx="9687240" cy="4786200"/>
          </a:xfrm>
        </p:grpSpPr>
        <p:sp>
          <p:nvSpPr>
            <p:cNvPr id="5" name="CustomShape 3">
              <a:extLst>
                <a:ext uri="{FF2B5EF4-FFF2-40B4-BE49-F238E27FC236}">
                  <a16:creationId xmlns:a16="http://schemas.microsoft.com/office/drawing/2014/main" id="{4F5032BB-75BA-4A95-8310-76BE410ACC76}"/>
                </a:ext>
              </a:extLst>
            </p:cNvPr>
            <p:cNvSpPr/>
            <p:nvPr/>
          </p:nvSpPr>
          <p:spPr>
            <a:xfrm>
              <a:off x="8518320" y="4375800"/>
              <a:ext cx="2739960" cy="2337840"/>
            </a:xfrm>
            <a:prstGeom prst="roundRect">
              <a:avLst>
                <a:gd name="adj" fmla="val 10000"/>
              </a:avLst>
            </a:prstGeom>
            <a:solidFill>
              <a:schemeClr val="accent1">
                <a:tint val="40000"/>
                <a:hueOff val="0"/>
                <a:satOff val="0"/>
                <a:lumOff val="0"/>
                <a:alphaOff val="0"/>
              </a:schemeClr>
            </a:solidFill>
            <a:ln>
              <a:noFill/>
            </a:ln>
          </p:spPr>
          <p:style>
            <a:lnRef idx="0">
              <a:scrgbClr r="0" g="0" b="0"/>
            </a:lnRef>
            <a:fillRef idx="0">
              <a:scrgbClr r="0" g="0" b="0"/>
            </a:fillRef>
            <a:effectRef idx="0">
              <a:scrgbClr r="0" g="0" b="0"/>
            </a:effectRef>
            <a:fontRef idx="minor"/>
          </p:style>
          <p:txBody>
            <a:bodyPr lIns="122040" tIns="122040" rIns="122040" bIns="1760040" anchor="ctr">
              <a:noAutofit/>
            </a:bodyPr>
            <a:lstStyle/>
            <a:p>
              <a:pPr algn="ctr">
                <a:lnSpc>
                  <a:spcPct val="90000"/>
                </a:lnSpc>
              </a:pPr>
              <a:r>
                <a:rPr lang="en-US" sz="3200" b="0" strike="noStrike" spc="-1">
                  <a:solidFill>
                    <a:srgbClr val="3F3F3F"/>
                  </a:solidFill>
                  <a:latin typeface="Segoe UI"/>
                  <a:ea typeface="DejaVu Sans"/>
                </a:rPr>
                <a:t>VS2015</a:t>
              </a:r>
              <a:endParaRPr lang="en-US" sz="3200" b="0" strike="noStrike" spc="-1">
                <a:latin typeface="Arial"/>
              </a:endParaRPr>
            </a:p>
          </p:txBody>
        </p:sp>
        <p:sp>
          <p:nvSpPr>
            <p:cNvPr id="6" name="CustomShape 4">
              <a:extLst>
                <a:ext uri="{FF2B5EF4-FFF2-40B4-BE49-F238E27FC236}">
                  <a16:creationId xmlns:a16="http://schemas.microsoft.com/office/drawing/2014/main" id="{ED354C78-E8C0-442B-AE3A-B78977DAF47D}"/>
                </a:ext>
              </a:extLst>
            </p:cNvPr>
            <p:cNvSpPr/>
            <p:nvPr/>
          </p:nvSpPr>
          <p:spPr>
            <a:xfrm>
              <a:off x="8792640" y="507852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a:solidFill>
                    <a:srgbClr val="FFC000"/>
                  </a:solidFill>
                  <a:latin typeface="Segoe UI"/>
                  <a:ea typeface="DejaVu Sans"/>
                </a:rPr>
                <a:t>32-bit Windows OS</a:t>
              </a:r>
              <a:endParaRPr lang="en-US" sz="2400" b="0" strike="noStrike" spc="-1">
                <a:latin typeface="Arial"/>
              </a:endParaRPr>
            </a:p>
          </p:txBody>
        </p:sp>
        <p:sp>
          <p:nvSpPr>
            <p:cNvPr id="7" name="CustomShape 5">
              <a:extLst>
                <a:ext uri="{FF2B5EF4-FFF2-40B4-BE49-F238E27FC236}">
                  <a16:creationId xmlns:a16="http://schemas.microsoft.com/office/drawing/2014/main" id="{6C9CE91C-05BA-40E7-9796-3322488C1EE6}"/>
                </a:ext>
              </a:extLst>
            </p:cNvPr>
            <p:cNvSpPr/>
            <p:nvPr/>
          </p:nvSpPr>
          <p:spPr>
            <a:xfrm>
              <a:off x="8792640" y="589248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a:solidFill>
                    <a:srgbClr val="F8C5AD"/>
                  </a:solidFill>
                  <a:latin typeface="Segoe UI"/>
                  <a:ea typeface="DejaVu Sans"/>
                </a:rPr>
                <a:t>Visual C++ 2015</a:t>
              </a:r>
              <a:endParaRPr lang="en-US" sz="2400" b="0" strike="noStrike" spc="-1">
                <a:latin typeface="Arial"/>
              </a:endParaRPr>
            </a:p>
          </p:txBody>
        </p:sp>
        <p:sp>
          <p:nvSpPr>
            <p:cNvPr id="8" name="CustomShape 6">
              <a:extLst>
                <a:ext uri="{FF2B5EF4-FFF2-40B4-BE49-F238E27FC236}">
                  <a16:creationId xmlns:a16="http://schemas.microsoft.com/office/drawing/2014/main" id="{B5A0495C-0BE8-4B8A-9859-FA8A19AF51AF}"/>
                </a:ext>
              </a:extLst>
            </p:cNvPr>
            <p:cNvSpPr/>
            <p:nvPr/>
          </p:nvSpPr>
          <p:spPr>
            <a:xfrm>
              <a:off x="8518320" y="1927440"/>
              <a:ext cx="2739960" cy="2337840"/>
            </a:xfrm>
            <a:prstGeom prst="roundRect">
              <a:avLst>
                <a:gd name="adj" fmla="val 10000"/>
              </a:avLst>
            </a:prstGeom>
            <a:solidFill>
              <a:schemeClr val="accent1">
                <a:tint val="40000"/>
                <a:hueOff val="0"/>
                <a:satOff val="0"/>
                <a:lumOff val="0"/>
                <a:alphaOff val="0"/>
              </a:schemeClr>
            </a:solidFill>
            <a:ln>
              <a:noFill/>
            </a:ln>
          </p:spPr>
          <p:style>
            <a:lnRef idx="0">
              <a:scrgbClr r="0" g="0" b="0"/>
            </a:lnRef>
            <a:fillRef idx="0">
              <a:scrgbClr r="0" g="0" b="0"/>
            </a:fillRef>
            <a:effectRef idx="0">
              <a:scrgbClr r="0" g="0" b="0"/>
            </a:effectRef>
            <a:fontRef idx="minor"/>
          </p:style>
          <p:txBody>
            <a:bodyPr lIns="122040" tIns="122040" rIns="122040" bIns="1760040" anchor="ctr">
              <a:noAutofit/>
            </a:bodyPr>
            <a:lstStyle/>
            <a:p>
              <a:pPr algn="ctr">
                <a:lnSpc>
                  <a:spcPct val="90000"/>
                </a:lnSpc>
              </a:pPr>
              <a:r>
                <a:rPr lang="en-US" sz="3200" b="0" strike="noStrike" spc="-1">
                  <a:solidFill>
                    <a:srgbClr val="3F3F3F"/>
                  </a:solidFill>
                  <a:latin typeface="Segoe UI"/>
                  <a:ea typeface="DejaVu Sans"/>
                </a:rPr>
                <a:t>VS2015x86</a:t>
              </a:r>
              <a:endParaRPr lang="en-US" sz="3200" b="0" strike="noStrike" spc="-1">
                <a:latin typeface="Arial"/>
              </a:endParaRPr>
            </a:p>
          </p:txBody>
        </p:sp>
        <p:sp>
          <p:nvSpPr>
            <p:cNvPr id="9" name="CustomShape 7">
              <a:extLst>
                <a:ext uri="{FF2B5EF4-FFF2-40B4-BE49-F238E27FC236}">
                  <a16:creationId xmlns:a16="http://schemas.microsoft.com/office/drawing/2014/main" id="{D8B5C412-39DD-40C7-A22D-9D006ED01DE4}"/>
                </a:ext>
              </a:extLst>
            </p:cNvPr>
            <p:cNvSpPr/>
            <p:nvPr/>
          </p:nvSpPr>
          <p:spPr>
            <a:xfrm>
              <a:off x="8792640" y="263016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dirty="0">
                  <a:solidFill>
                    <a:srgbClr val="FFFF00"/>
                  </a:solidFill>
                  <a:latin typeface="Segoe UI"/>
                  <a:ea typeface="DejaVu Sans"/>
                </a:rPr>
                <a:t>64-bit Windows OS</a:t>
              </a:r>
              <a:endParaRPr lang="en-US" sz="2400" b="0" strike="noStrike" spc="-1" dirty="0">
                <a:latin typeface="Arial"/>
              </a:endParaRPr>
            </a:p>
          </p:txBody>
        </p:sp>
        <p:sp>
          <p:nvSpPr>
            <p:cNvPr id="10" name="CustomShape 8">
              <a:extLst>
                <a:ext uri="{FF2B5EF4-FFF2-40B4-BE49-F238E27FC236}">
                  <a16:creationId xmlns:a16="http://schemas.microsoft.com/office/drawing/2014/main" id="{9E04DF97-072A-4BD2-8CEB-05DB48FAED20}"/>
                </a:ext>
              </a:extLst>
            </p:cNvPr>
            <p:cNvSpPr/>
            <p:nvPr/>
          </p:nvSpPr>
          <p:spPr>
            <a:xfrm>
              <a:off x="8792640" y="344412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dirty="0">
                  <a:solidFill>
                    <a:srgbClr val="F8C5AD"/>
                  </a:solidFill>
                  <a:latin typeface="Segoe UI"/>
                  <a:ea typeface="DejaVu Sans"/>
                </a:rPr>
                <a:t>Visual C++ 2015</a:t>
              </a:r>
              <a:endParaRPr lang="en-US" sz="2400" b="0" strike="noStrike" spc="-1" dirty="0">
                <a:latin typeface="Arial"/>
              </a:endParaRPr>
            </a:p>
          </p:txBody>
        </p:sp>
        <p:sp>
          <p:nvSpPr>
            <p:cNvPr id="11" name="CustomShape 9">
              <a:extLst>
                <a:ext uri="{FF2B5EF4-FFF2-40B4-BE49-F238E27FC236}">
                  <a16:creationId xmlns:a16="http://schemas.microsoft.com/office/drawing/2014/main" id="{EF371E9D-0AC3-4875-938B-B59288C783DE}"/>
                </a:ext>
              </a:extLst>
            </p:cNvPr>
            <p:cNvSpPr/>
            <p:nvPr/>
          </p:nvSpPr>
          <p:spPr>
            <a:xfrm>
              <a:off x="5044680" y="1927440"/>
              <a:ext cx="2739960" cy="2337840"/>
            </a:xfrm>
            <a:prstGeom prst="roundRect">
              <a:avLst>
                <a:gd name="adj" fmla="val 10000"/>
              </a:avLst>
            </a:prstGeom>
            <a:solidFill>
              <a:schemeClr val="accent1">
                <a:tint val="40000"/>
                <a:hueOff val="0"/>
                <a:satOff val="0"/>
                <a:lumOff val="0"/>
                <a:alphaOff val="0"/>
              </a:schemeClr>
            </a:solidFill>
            <a:ln>
              <a:noFill/>
            </a:ln>
          </p:spPr>
          <p:style>
            <a:lnRef idx="0">
              <a:scrgbClr r="0" g="0" b="0"/>
            </a:lnRef>
            <a:fillRef idx="0">
              <a:scrgbClr r="0" g="0" b="0"/>
            </a:fillRef>
            <a:effectRef idx="0">
              <a:scrgbClr r="0" g="0" b="0"/>
            </a:effectRef>
            <a:fontRef idx="minor"/>
          </p:style>
          <p:txBody>
            <a:bodyPr lIns="122040" tIns="122040" rIns="122040" bIns="1760040" anchor="ctr">
              <a:noAutofit/>
            </a:bodyPr>
            <a:lstStyle/>
            <a:p>
              <a:pPr algn="ctr">
                <a:lnSpc>
                  <a:spcPct val="90000"/>
                </a:lnSpc>
              </a:pPr>
              <a:r>
                <a:rPr lang="en-US" sz="3200" b="0" strike="noStrike" spc="-1">
                  <a:solidFill>
                    <a:srgbClr val="3F3F3F"/>
                  </a:solidFill>
                  <a:latin typeface="Segoe UI"/>
                  <a:ea typeface="DejaVu Sans"/>
                </a:rPr>
                <a:t>VS2017</a:t>
              </a:r>
              <a:endParaRPr lang="en-US" sz="3200" b="0" strike="noStrike" spc="-1">
                <a:latin typeface="Arial"/>
              </a:endParaRPr>
            </a:p>
          </p:txBody>
        </p:sp>
        <p:sp>
          <p:nvSpPr>
            <p:cNvPr id="12" name="CustomShape 10">
              <a:extLst>
                <a:ext uri="{FF2B5EF4-FFF2-40B4-BE49-F238E27FC236}">
                  <a16:creationId xmlns:a16="http://schemas.microsoft.com/office/drawing/2014/main" id="{48307741-7461-4C91-91E0-B864140F5980}"/>
                </a:ext>
              </a:extLst>
            </p:cNvPr>
            <p:cNvSpPr/>
            <p:nvPr/>
          </p:nvSpPr>
          <p:spPr>
            <a:xfrm>
              <a:off x="5319000" y="263016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a:solidFill>
                    <a:srgbClr val="FFFF00"/>
                  </a:solidFill>
                  <a:latin typeface="Segoe UI"/>
                  <a:ea typeface="DejaVu Sans"/>
                </a:rPr>
                <a:t>64-bit Windows OS</a:t>
              </a:r>
              <a:endParaRPr lang="en-US" sz="2400" b="0" strike="noStrike" spc="-1">
                <a:latin typeface="Arial"/>
              </a:endParaRPr>
            </a:p>
          </p:txBody>
        </p:sp>
        <p:sp>
          <p:nvSpPr>
            <p:cNvPr id="13" name="CustomShape 11">
              <a:extLst>
                <a:ext uri="{FF2B5EF4-FFF2-40B4-BE49-F238E27FC236}">
                  <a16:creationId xmlns:a16="http://schemas.microsoft.com/office/drawing/2014/main" id="{33526285-EBD5-4305-A391-FA6169DEF9F0}"/>
                </a:ext>
              </a:extLst>
            </p:cNvPr>
            <p:cNvSpPr/>
            <p:nvPr/>
          </p:nvSpPr>
          <p:spPr>
            <a:xfrm>
              <a:off x="5319000" y="344412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dirty="0">
                  <a:solidFill>
                    <a:srgbClr val="FF0000"/>
                  </a:solidFill>
                  <a:latin typeface="Segoe UI"/>
                  <a:ea typeface="DejaVu Sans"/>
                </a:rPr>
                <a:t>Visual C++ 2017</a:t>
              </a:r>
              <a:endParaRPr lang="en-US" sz="2400" b="0" strike="noStrike" spc="-1" dirty="0">
                <a:latin typeface="Arial"/>
              </a:endParaRPr>
            </a:p>
          </p:txBody>
        </p:sp>
        <p:sp>
          <p:nvSpPr>
            <p:cNvPr id="14" name="CustomShape 12">
              <a:extLst>
                <a:ext uri="{FF2B5EF4-FFF2-40B4-BE49-F238E27FC236}">
                  <a16:creationId xmlns:a16="http://schemas.microsoft.com/office/drawing/2014/main" id="{D8D5581E-3574-4BEE-AA80-589DC4348326}"/>
                </a:ext>
              </a:extLst>
            </p:cNvPr>
            <p:cNvSpPr/>
            <p:nvPr/>
          </p:nvSpPr>
          <p:spPr>
            <a:xfrm>
              <a:off x="1571040" y="1927440"/>
              <a:ext cx="2739960" cy="2337840"/>
            </a:xfrm>
            <a:prstGeom prst="roundRect">
              <a:avLst>
                <a:gd name="adj" fmla="val 10000"/>
              </a:avLst>
            </a:prstGeom>
            <a:solidFill>
              <a:schemeClr val="accent1">
                <a:tint val="40000"/>
                <a:hueOff val="0"/>
                <a:satOff val="0"/>
                <a:lumOff val="0"/>
                <a:alphaOff val="0"/>
              </a:schemeClr>
            </a:solidFill>
            <a:ln>
              <a:noFill/>
            </a:ln>
          </p:spPr>
          <p:style>
            <a:lnRef idx="0">
              <a:scrgbClr r="0" g="0" b="0"/>
            </a:lnRef>
            <a:fillRef idx="0">
              <a:scrgbClr r="0" g="0" b="0"/>
            </a:fillRef>
            <a:effectRef idx="0">
              <a:scrgbClr r="0" g="0" b="0"/>
            </a:effectRef>
            <a:fontRef idx="minor"/>
          </p:style>
          <p:txBody>
            <a:bodyPr lIns="122040" tIns="122040" rIns="122040" bIns="1760040" anchor="ctr">
              <a:noAutofit/>
            </a:bodyPr>
            <a:lstStyle/>
            <a:p>
              <a:pPr algn="ctr">
                <a:lnSpc>
                  <a:spcPct val="90000"/>
                </a:lnSpc>
              </a:pPr>
              <a:r>
                <a:rPr lang="en-US" sz="3000" b="0" strike="noStrike" spc="-1" dirty="0">
                  <a:solidFill>
                    <a:srgbClr val="3F3F3F"/>
                  </a:solidFill>
                  <a:latin typeface="Segoe UI"/>
                  <a:ea typeface="DejaVu Sans"/>
                </a:rPr>
                <a:t>DEVTLS_VC14</a:t>
              </a:r>
              <a:endParaRPr lang="en-US" sz="3000" b="0" strike="noStrike" spc="-1" dirty="0">
                <a:latin typeface="Arial"/>
              </a:endParaRPr>
            </a:p>
          </p:txBody>
        </p:sp>
        <p:sp>
          <p:nvSpPr>
            <p:cNvPr id="15" name="CustomShape 13">
              <a:extLst>
                <a:ext uri="{FF2B5EF4-FFF2-40B4-BE49-F238E27FC236}">
                  <a16:creationId xmlns:a16="http://schemas.microsoft.com/office/drawing/2014/main" id="{71E2F906-5DDA-4928-8104-36228933F55D}"/>
                </a:ext>
              </a:extLst>
            </p:cNvPr>
            <p:cNvSpPr/>
            <p:nvPr/>
          </p:nvSpPr>
          <p:spPr>
            <a:xfrm>
              <a:off x="1845360" y="263016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a:solidFill>
                    <a:srgbClr val="FFFF00"/>
                  </a:solidFill>
                  <a:latin typeface="Segoe UI"/>
                  <a:ea typeface="DejaVu Sans"/>
                </a:rPr>
                <a:t>64-bit Windows OS</a:t>
              </a:r>
              <a:endParaRPr lang="en-US" sz="2400" b="0" strike="noStrike" spc="-1">
                <a:latin typeface="Arial"/>
              </a:endParaRPr>
            </a:p>
          </p:txBody>
        </p:sp>
        <p:sp>
          <p:nvSpPr>
            <p:cNvPr id="16" name="CustomShape 14">
              <a:extLst>
                <a:ext uri="{FF2B5EF4-FFF2-40B4-BE49-F238E27FC236}">
                  <a16:creationId xmlns:a16="http://schemas.microsoft.com/office/drawing/2014/main" id="{0F9400CB-55D7-4C65-A13A-A6B177C111C6}"/>
                </a:ext>
              </a:extLst>
            </p:cNvPr>
            <p:cNvSpPr/>
            <p:nvPr/>
          </p:nvSpPr>
          <p:spPr>
            <a:xfrm>
              <a:off x="1845360" y="3444120"/>
              <a:ext cx="2191680" cy="703440"/>
            </a:xfrm>
            <a:prstGeom prst="roundRect">
              <a:avLst>
                <a:gd name="adj" fmla="val 10000"/>
              </a:avLst>
            </a:prstGeom>
            <a:solidFill>
              <a:schemeClr val="accent1">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81360" tIns="66240" rIns="60840" bIns="66600" anchor="ctr">
              <a:noAutofit/>
            </a:bodyPr>
            <a:lstStyle/>
            <a:p>
              <a:pPr algn="ctr">
                <a:lnSpc>
                  <a:spcPct val="90000"/>
                </a:lnSpc>
              </a:pPr>
              <a:r>
                <a:rPr lang="en-US" sz="2400" b="0" strike="noStrike" spc="-1">
                  <a:solidFill>
                    <a:srgbClr val="AFE09B"/>
                  </a:solidFill>
                  <a:latin typeface="Segoe UI"/>
                  <a:ea typeface="DejaVu Sans"/>
                </a:rPr>
                <a:t>Insyde DEVTLS</a:t>
              </a:r>
              <a:endParaRPr lang="en-US" sz="2400" b="0" strike="noStrike" spc="-1">
                <a:latin typeface="Arial"/>
              </a:endParaRPr>
            </a:p>
            <a:p>
              <a:pPr algn="ctr">
                <a:lnSpc>
                  <a:spcPct val="90000"/>
                </a:lnSpc>
              </a:pPr>
              <a:r>
                <a:rPr lang="en-US" sz="2400" b="0" strike="noStrike" spc="-1">
                  <a:solidFill>
                    <a:srgbClr val="AFE09B"/>
                  </a:solidFill>
                  <a:latin typeface="Segoe UI"/>
                  <a:ea typeface="DejaVu Sans"/>
                </a:rPr>
                <a:t>MSVC 2015</a:t>
              </a:r>
              <a:endParaRPr lang="en-US" sz="2400" b="0" strike="noStrike" spc="-1">
                <a:latin typeface="Arial"/>
              </a:endParaRPr>
            </a:p>
          </p:txBody>
        </p:sp>
      </p:grpSp>
    </p:spTree>
    <p:extLst>
      <p:ext uri="{BB962C8B-B14F-4D97-AF65-F5344CB8AC3E}">
        <p14:creationId xmlns:p14="http://schemas.microsoft.com/office/powerpoint/2010/main" val="3135081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How to Compile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1" strike="noStrike" spc="-1" dirty="0">
                <a:solidFill>
                  <a:srgbClr val="3F3F3F"/>
                </a:solidFill>
              </a:rPr>
              <a:t>Other Build tools</a:t>
            </a:r>
            <a:endParaRPr lang="en-US" altLang="zh-TW" sz="2800" b="0" strike="noStrike" spc="-1" dirty="0"/>
          </a:p>
        </p:txBody>
      </p:sp>
      <p:grpSp>
        <p:nvGrpSpPr>
          <p:cNvPr id="19" name="群組 18">
            <a:extLst>
              <a:ext uri="{FF2B5EF4-FFF2-40B4-BE49-F238E27FC236}">
                <a16:creationId xmlns:a16="http://schemas.microsoft.com/office/drawing/2014/main" id="{24A8DC55-491C-4FB8-A040-F322D0232CD9}"/>
              </a:ext>
            </a:extLst>
          </p:cNvPr>
          <p:cNvGrpSpPr/>
          <p:nvPr/>
        </p:nvGrpSpPr>
        <p:grpSpPr>
          <a:xfrm>
            <a:off x="1725120" y="2009520"/>
            <a:ext cx="8754480" cy="4078800"/>
            <a:chOff x="1725120" y="2009520"/>
            <a:chExt cx="8754480" cy="4078800"/>
          </a:xfrm>
        </p:grpSpPr>
        <p:sp>
          <p:nvSpPr>
            <p:cNvPr id="20" name="CustomShape 3">
              <a:extLst>
                <a:ext uri="{FF2B5EF4-FFF2-40B4-BE49-F238E27FC236}">
                  <a16:creationId xmlns:a16="http://schemas.microsoft.com/office/drawing/2014/main" id="{A8CA96BF-CEE0-4357-88F8-E794DC80DEB9}"/>
                </a:ext>
              </a:extLst>
            </p:cNvPr>
            <p:cNvSpPr/>
            <p:nvPr/>
          </p:nvSpPr>
          <p:spPr>
            <a:xfrm>
              <a:off x="1725120" y="2009520"/>
              <a:ext cx="4089600" cy="1024200"/>
            </a:xfrm>
            <a:prstGeom prst="rect">
              <a:avLst/>
            </a:prstGeom>
            <a:solidFill>
              <a:schemeClr val="accent1">
                <a:hueOff val="0"/>
                <a:satOff val="0"/>
                <a:lumOff val="0"/>
                <a:alphaOff val="0"/>
              </a:schemeClr>
            </a:solidFill>
            <a:ln>
              <a:solidFill>
                <a:schemeClr val="accent1">
                  <a:hueOff val="0"/>
                  <a:satOff val="0"/>
                  <a:lumOff val="0"/>
                  <a:alphaOff val="0"/>
                </a:schemeClr>
              </a:solidFill>
              <a:round/>
            </a:ln>
          </p:spPr>
          <p:style>
            <a:lnRef idx="2">
              <a:scrgbClr r="0" g="0" b="0"/>
            </a:lnRef>
            <a:fillRef idx="0">
              <a:scrgbClr r="0" g="0" b="0"/>
            </a:fillRef>
            <a:effectRef idx="0">
              <a:scrgbClr r="0" g="0" b="0"/>
            </a:effectRef>
            <a:fontRef idx="minor"/>
          </p:style>
          <p:txBody>
            <a:bodyPr lIns="185040" tIns="105840" rIns="185040" bIns="105840" anchor="ctr">
              <a:noAutofit/>
            </a:bodyPr>
            <a:lstStyle/>
            <a:p>
              <a:pPr algn="ctr">
                <a:lnSpc>
                  <a:spcPct val="90000"/>
                </a:lnSpc>
              </a:pPr>
              <a:r>
                <a:rPr lang="en-US" sz="2800" b="0" strike="noStrike" spc="-1">
                  <a:solidFill>
                    <a:srgbClr val="FFFFFF"/>
                  </a:solidFill>
                  <a:latin typeface="Segoe UI"/>
                  <a:ea typeface="DejaVu Sans"/>
                </a:rPr>
                <a:t>ARMGCC</a:t>
              </a:r>
              <a:endParaRPr lang="en-US" sz="2800" b="0" strike="noStrike" spc="-1">
                <a:latin typeface="Arial"/>
              </a:endParaRPr>
            </a:p>
          </p:txBody>
        </p:sp>
        <p:sp>
          <p:nvSpPr>
            <p:cNvPr id="21" name="CustomShape 4">
              <a:extLst>
                <a:ext uri="{FF2B5EF4-FFF2-40B4-BE49-F238E27FC236}">
                  <a16:creationId xmlns:a16="http://schemas.microsoft.com/office/drawing/2014/main" id="{813DD271-3C89-49A5-9B97-7DA556B842D0}"/>
                </a:ext>
              </a:extLst>
            </p:cNvPr>
            <p:cNvSpPr/>
            <p:nvPr/>
          </p:nvSpPr>
          <p:spPr>
            <a:xfrm>
              <a:off x="1725120" y="3035880"/>
              <a:ext cx="4089600" cy="1139760"/>
            </a:xfrm>
            <a:prstGeom prst="rect">
              <a:avLst/>
            </a:prstGeom>
            <a:solidFill>
              <a:schemeClr val="accent1">
                <a:alpha val="90000"/>
                <a:tint val="40000"/>
                <a:hueOff val="0"/>
                <a:satOff val="0"/>
                <a:lumOff val="0"/>
                <a:alphaOff val="0"/>
              </a:schemeClr>
            </a:solidFill>
            <a:ln>
              <a:solidFill>
                <a:schemeClr val="accent1">
                  <a:alpha val="90000"/>
                  <a:tint val="40000"/>
                  <a:hueOff val="0"/>
                  <a:satOff val="0"/>
                  <a:lumOff val="0"/>
                  <a:alphaOff val="0"/>
                </a:schemeClr>
              </a:solidFill>
              <a:round/>
            </a:ln>
          </p:spPr>
          <p:style>
            <a:lnRef idx="2">
              <a:scrgbClr r="0" g="0" b="0"/>
            </a:lnRef>
            <a:fillRef idx="0">
              <a:scrgbClr r="0" g="0" b="0"/>
            </a:fillRef>
            <a:effectRef idx="0">
              <a:scrgbClr r="0" g="0" b="0"/>
            </a:effectRef>
            <a:fontRef idx="minor"/>
          </p:style>
          <p:txBody>
            <a:bodyPr lIns="138600" tIns="138600" rIns="185040" bIns="208080">
              <a:noAutofit/>
            </a:bodyPr>
            <a:lstStyle/>
            <a:p>
              <a:pPr marL="228600" lvl="1" indent="-226440">
                <a:lnSpc>
                  <a:spcPct val="90000"/>
                </a:lnSpc>
                <a:buClr>
                  <a:srgbClr val="3F3F3F"/>
                </a:buClr>
                <a:buFont typeface="Symbol"/>
                <a:buChar char=""/>
              </a:pPr>
              <a:r>
                <a:rPr lang="en-US" sz="2600" b="0" strike="noStrike" spc="-1">
                  <a:solidFill>
                    <a:srgbClr val="3F3F3F"/>
                  </a:solidFill>
                  <a:latin typeface="Segoe UI"/>
                  <a:ea typeface="DejaVu Sans"/>
                </a:rPr>
                <a:t>TOOL_CHAIN=ARMGCC</a:t>
              </a:r>
              <a:endParaRPr lang="en-US" sz="2600" b="0" strike="noStrike" spc="-1">
                <a:latin typeface="Arial"/>
              </a:endParaRPr>
            </a:p>
          </p:txBody>
        </p:sp>
        <p:sp>
          <p:nvSpPr>
            <p:cNvPr id="22" name="CustomShape 5">
              <a:extLst>
                <a:ext uri="{FF2B5EF4-FFF2-40B4-BE49-F238E27FC236}">
                  <a16:creationId xmlns:a16="http://schemas.microsoft.com/office/drawing/2014/main" id="{86A0A69E-AFDD-4D07-8573-0991E21034AC}"/>
                </a:ext>
              </a:extLst>
            </p:cNvPr>
            <p:cNvSpPr/>
            <p:nvPr/>
          </p:nvSpPr>
          <p:spPr>
            <a:xfrm>
              <a:off x="6390000" y="2009520"/>
              <a:ext cx="4089600" cy="1024200"/>
            </a:xfrm>
            <a:prstGeom prst="rect">
              <a:avLst/>
            </a:prstGeom>
            <a:solidFill>
              <a:schemeClr val="accent1">
                <a:hueOff val="0"/>
                <a:satOff val="0"/>
                <a:lumOff val="0"/>
                <a:alphaOff val="0"/>
              </a:schemeClr>
            </a:solidFill>
            <a:ln>
              <a:solidFill>
                <a:schemeClr val="accent1">
                  <a:hueOff val="0"/>
                  <a:satOff val="0"/>
                  <a:lumOff val="0"/>
                  <a:alphaOff val="0"/>
                </a:schemeClr>
              </a:solidFill>
              <a:round/>
            </a:ln>
          </p:spPr>
          <p:style>
            <a:lnRef idx="2">
              <a:scrgbClr r="0" g="0" b="0"/>
            </a:lnRef>
            <a:fillRef idx="0">
              <a:scrgbClr r="0" g="0" b="0"/>
            </a:fillRef>
            <a:effectRef idx="0">
              <a:scrgbClr r="0" g="0" b="0"/>
            </a:effectRef>
            <a:fontRef idx="minor"/>
          </p:style>
          <p:txBody>
            <a:bodyPr lIns="185040" tIns="105840" rIns="185040" bIns="105840" anchor="ctr">
              <a:noAutofit/>
            </a:bodyPr>
            <a:lstStyle/>
            <a:p>
              <a:pPr algn="ctr">
                <a:lnSpc>
                  <a:spcPct val="100000"/>
                </a:lnSpc>
              </a:pPr>
              <a:r>
                <a:rPr lang="en-US" sz="2800" b="0" strike="noStrike" spc="-1">
                  <a:solidFill>
                    <a:srgbClr val="FFFFFF"/>
                  </a:solidFill>
                  <a:latin typeface="Segoe UI"/>
                  <a:ea typeface="DejaVu Sans"/>
                </a:rPr>
                <a:t>Microsoft Windows</a:t>
              </a:r>
              <a:endParaRPr lang="en-US" sz="2800" b="0" strike="noStrike" spc="-1">
                <a:latin typeface="Arial"/>
              </a:endParaRPr>
            </a:p>
            <a:p>
              <a:pPr algn="ctr">
                <a:lnSpc>
                  <a:spcPct val="90000"/>
                </a:lnSpc>
              </a:pPr>
              <a:r>
                <a:rPr lang="en-US" sz="2800" b="0" strike="noStrike" spc="-1">
                  <a:solidFill>
                    <a:srgbClr val="FFFFFF"/>
                  </a:solidFill>
                  <a:latin typeface="Segoe UI"/>
                  <a:ea typeface="DejaVu Sans"/>
                </a:rPr>
                <a:t> Driver Kit </a:t>
              </a:r>
              <a:endParaRPr lang="en-US" sz="2800" b="0" strike="noStrike" spc="-1">
                <a:latin typeface="Arial"/>
              </a:endParaRPr>
            </a:p>
          </p:txBody>
        </p:sp>
        <p:sp>
          <p:nvSpPr>
            <p:cNvPr id="23" name="CustomShape 6">
              <a:extLst>
                <a:ext uri="{FF2B5EF4-FFF2-40B4-BE49-F238E27FC236}">
                  <a16:creationId xmlns:a16="http://schemas.microsoft.com/office/drawing/2014/main" id="{83C80B65-DBDB-41B9-B9B5-AAB83254A0DB}"/>
                </a:ext>
              </a:extLst>
            </p:cNvPr>
            <p:cNvSpPr/>
            <p:nvPr/>
          </p:nvSpPr>
          <p:spPr>
            <a:xfrm>
              <a:off x="6390000" y="3035880"/>
              <a:ext cx="4089600" cy="1139760"/>
            </a:xfrm>
            <a:prstGeom prst="rect">
              <a:avLst/>
            </a:prstGeom>
            <a:solidFill>
              <a:schemeClr val="accent1">
                <a:alpha val="90000"/>
                <a:tint val="40000"/>
                <a:hueOff val="0"/>
                <a:satOff val="0"/>
                <a:lumOff val="0"/>
                <a:alphaOff val="0"/>
              </a:schemeClr>
            </a:solidFill>
            <a:ln>
              <a:solidFill>
                <a:schemeClr val="accent1">
                  <a:alpha val="90000"/>
                  <a:tint val="40000"/>
                  <a:hueOff val="0"/>
                  <a:satOff val="0"/>
                  <a:lumOff val="0"/>
                  <a:alphaOff val="0"/>
                </a:schemeClr>
              </a:solidFill>
              <a:round/>
            </a:ln>
          </p:spPr>
          <p:style>
            <a:lnRef idx="2">
              <a:scrgbClr r="0" g="0" b="0"/>
            </a:lnRef>
            <a:fillRef idx="0">
              <a:scrgbClr r="0" g="0" b="0"/>
            </a:fillRef>
            <a:effectRef idx="0">
              <a:scrgbClr r="0" g="0" b="0"/>
            </a:effectRef>
            <a:fontRef idx="minor"/>
          </p:style>
          <p:txBody>
            <a:bodyPr lIns="138600" tIns="138600" rIns="185040" bIns="208080">
              <a:noAutofit/>
            </a:bodyPr>
            <a:lstStyle/>
            <a:p>
              <a:pPr marL="228600" lvl="1" indent="-226440">
                <a:lnSpc>
                  <a:spcPct val="90000"/>
                </a:lnSpc>
                <a:buClr>
                  <a:srgbClr val="3F3F3F"/>
                </a:buClr>
                <a:buFont typeface="Symbol"/>
                <a:buChar char=""/>
              </a:pPr>
              <a:r>
                <a:rPr lang="en-US" sz="2600" b="0" strike="noStrike" spc="-1" dirty="0">
                  <a:solidFill>
                    <a:srgbClr val="3F3F3F"/>
                  </a:solidFill>
                  <a:latin typeface="Segoe UI"/>
                  <a:ea typeface="DejaVu Sans"/>
                </a:rPr>
                <a:t>TOOL_CHAIN=WINWDK</a:t>
              </a:r>
              <a:endParaRPr lang="en-US" sz="2600" b="0" strike="noStrike" spc="-1" dirty="0">
                <a:latin typeface="Arial"/>
              </a:endParaRPr>
            </a:p>
          </p:txBody>
        </p:sp>
        <p:sp>
          <p:nvSpPr>
            <p:cNvPr id="24" name="CustomShape 7">
              <a:extLst>
                <a:ext uri="{FF2B5EF4-FFF2-40B4-BE49-F238E27FC236}">
                  <a16:creationId xmlns:a16="http://schemas.microsoft.com/office/drawing/2014/main" id="{D072B201-FEF3-45C0-8B73-B1E078F4E41D}"/>
                </a:ext>
              </a:extLst>
            </p:cNvPr>
            <p:cNvSpPr/>
            <p:nvPr/>
          </p:nvSpPr>
          <p:spPr>
            <a:xfrm>
              <a:off x="2037240" y="5024520"/>
              <a:ext cx="8188920" cy="1063800"/>
            </a:xfrm>
            <a:prstGeom prst="rect">
              <a:avLst/>
            </a:prstGeom>
            <a:solidFill>
              <a:schemeClr val="accent4">
                <a:lumMod val="20000"/>
                <a:lumOff val="80000"/>
              </a:schemeClr>
            </a:solidFill>
            <a:ln>
              <a:solidFill>
                <a:schemeClr val="accent6">
                  <a:lumMod val="40000"/>
                  <a:lumOff val="60000"/>
                </a:schemeClr>
              </a:solidFill>
              <a:round/>
            </a:ln>
            <a:effectLst>
              <a:outerShdw blurRad="40000" dist="20160" dir="5400000" rotWithShape="0">
                <a:srgbClr val="000000">
                  <a:alpha val="38000"/>
                </a:srgbClr>
              </a:outerShdw>
            </a:effectLst>
          </p:spPr>
          <p:style>
            <a:lnRef idx="1">
              <a:schemeClr val="accent2"/>
            </a:lnRef>
            <a:fillRef idx="2">
              <a:schemeClr val="accent2"/>
            </a:fillRef>
            <a:effectRef idx="1">
              <a:schemeClr val="accent2"/>
            </a:effectRef>
            <a:fontRef idx="minor"/>
          </p:style>
          <p:txBody>
            <a:bodyPr lIns="90000" tIns="45000" rIns="90000" bIns="45000">
              <a:noAutofit/>
            </a:bodyPr>
            <a:lstStyle/>
            <a:p>
              <a:pPr marL="343080" indent="-340920">
                <a:lnSpc>
                  <a:spcPct val="100000"/>
                </a:lnSpc>
                <a:buClr>
                  <a:srgbClr val="6FCBFE"/>
                </a:buClr>
                <a:buFont typeface="Arial"/>
                <a:buChar char="•"/>
              </a:pPr>
              <a:r>
                <a:rPr lang="en-US" sz="2800" b="1" strike="noStrike" spc="-1" dirty="0">
                  <a:solidFill>
                    <a:srgbClr val="0070C0"/>
                  </a:solidFill>
                  <a:latin typeface="Segoe UI"/>
                  <a:ea typeface="DejaVu Sans"/>
                </a:rPr>
                <a:t>More build tools information are defined in: </a:t>
              </a:r>
              <a:r>
                <a:rPr lang="en-US" sz="2400" b="1" strike="noStrike" spc="-1" dirty="0">
                  <a:solidFill>
                    <a:srgbClr val="0070C0"/>
                  </a:solidFill>
                  <a:latin typeface="Segoe UI"/>
                  <a:ea typeface="DejaVu Sans"/>
                </a:rPr>
                <a:t> </a:t>
              </a:r>
              <a:endParaRPr lang="en-US" sz="2400" b="0" strike="noStrike" spc="-1" dirty="0">
                <a:latin typeface="Arial"/>
              </a:endParaRPr>
            </a:p>
            <a:p>
              <a:pPr>
                <a:lnSpc>
                  <a:spcPct val="100000"/>
                </a:lnSpc>
              </a:pPr>
              <a:r>
                <a:rPr lang="en-US" sz="900" b="0" strike="noStrike" spc="-1" dirty="0">
                  <a:solidFill>
                    <a:srgbClr val="6FCBFE"/>
                  </a:solidFill>
                  <a:latin typeface="Segoe UI"/>
                  <a:ea typeface="DejaVu Sans"/>
                </a:rPr>
                <a:t>   </a:t>
              </a:r>
              <a:endParaRPr lang="en-US" sz="900" b="0" strike="noStrike" spc="-1" dirty="0">
                <a:latin typeface="Arial"/>
              </a:endParaRPr>
            </a:p>
            <a:p>
              <a:pPr>
                <a:lnSpc>
                  <a:spcPct val="100000"/>
                </a:lnSpc>
              </a:pPr>
              <a:r>
                <a:rPr lang="en-US" sz="2200" b="1" strike="noStrike" spc="-1" dirty="0">
                  <a:solidFill>
                    <a:srgbClr val="400000"/>
                  </a:solidFill>
                  <a:latin typeface="Segoe UI"/>
                  <a:ea typeface="DejaVu Sans"/>
                </a:rPr>
                <a:t>	</a:t>
              </a:r>
              <a:r>
                <a:rPr lang="en-US" sz="2800" b="1" strike="noStrike" spc="-1" dirty="0">
                  <a:solidFill>
                    <a:srgbClr val="400000"/>
                  </a:solidFill>
                  <a:uFill>
                    <a:solidFill>
                      <a:srgbClr val="FFFFFF"/>
                    </a:solidFill>
                  </a:uFill>
                  <a:latin typeface="Segoe UI"/>
                  <a:ea typeface="DejaVu Sans"/>
                </a:rPr>
                <a:t>$(WORKSPACE)/Conf/tools_def.txt</a:t>
              </a:r>
              <a:r>
                <a:rPr lang="en-US" sz="2800" b="1" strike="noStrike" spc="-1" dirty="0">
                  <a:solidFill>
                    <a:srgbClr val="002060"/>
                  </a:solidFill>
                  <a:uFill>
                    <a:solidFill>
                      <a:srgbClr val="FFFFFF"/>
                    </a:solidFill>
                  </a:uFill>
                  <a:latin typeface="Segoe UI"/>
                  <a:ea typeface="DejaVu Sans"/>
                </a:rPr>
                <a:t> </a:t>
              </a:r>
              <a:endParaRPr lang="en-US" sz="2800" b="0" strike="noStrike" spc="-1" dirty="0">
                <a:latin typeface="Arial"/>
              </a:endParaRPr>
            </a:p>
          </p:txBody>
        </p:sp>
      </p:grpSp>
    </p:spTree>
    <p:extLst>
      <p:ext uri="{BB962C8B-B14F-4D97-AF65-F5344CB8AC3E}">
        <p14:creationId xmlns:p14="http://schemas.microsoft.com/office/powerpoint/2010/main" val="195857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How to Compile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fontScale="55000" lnSpcReduction="20000"/>
          </a:bodyPr>
          <a:lstStyle/>
          <a:p>
            <a:pPr marL="228600" indent="-227880">
              <a:lnSpc>
                <a:spcPct val="90000"/>
              </a:lnSpc>
              <a:spcBef>
                <a:spcPts val="1001"/>
              </a:spcBef>
              <a:buClr>
                <a:srgbClr val="3F3F3F"/>
              </a:buClr>
              <a:buFont typeface="Arial"/>
              <a:buChar char="•"/>
            </a:pPr>
            <a:r>
              <a:rPr lang="en-US" altLang="zh-TW" sz="4400" b="1" strike="noStrike" spc="-1" dirty="0">
                <a:solidFill>
                  <a:srgbClr val="3F3F3F"/>
                </a:solidFill>
                <a:latin typeface="Segoe UI"/>
              </a:rPr>
              <a:t>ProjectSetup.bat</a:t>
            </a:r>
            <a:endParaRPr lang="en-US" altLang="zh-TW" sz="44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REM ---------------------------------------------------------------------------------------------</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REM Project dependent parameters</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REM ---------------------------------------------------------------------------------------------</a:t>
            </a:r>
            <a:endParaRPr lang="en-US" altLang="zh-TW" sz="2800" b="0" strike="noStrike" spc="-1" dirty="0">
              <a:latin typeface="Arial"/>
            </a:endParaRPr>
          </a:p>
          <a:p>
            <a:pPr indent="0">
              <a:lnSpc>
                <a:spcPct val="90000"/>
              </a:lnSpc>
              <a:spcBef>
                <a:spcPts val="499"/>
              </a:spcBef>
              <a:buNone/>
            </a:pPr>
            <a:r>
              <a:rPr lang="en-US" altLang="zh-TW" sz="2800" b="1" strike="noStrike" spc="-1" dirty="0">
                <a:solidFill>
                  <a:srgbClr val="FF0000"/>
                </a:solidFill>
                <a:latin typeface="Segoe UI"/>
              </a:rPr>
              <a:t>REM set TOOL_CHAIN=DEVTLS_VC14</a:t>
            </a:r>
            <a:endParaRPr lang="en-US" altLang="zh-TW" sz="2800" b="1" strike="noStrike" spc="-1" dirty="0">
              <a:solidFill>
                <a:srgbClr val="FF0000"/>
              </a:solidFill>
              <a:latin typeface="Arial"/>
            </a:endParaRPr>
          </a:p>
          <a:p>
            <a:pPr indent="0">
              <a:lnSpc>
                <a:spcPct val="90000"/>
              </a:lnSpc>
              <a:spcBef>
                <a:spcPts val="499"/>
              </a:spcBef>
              <a:buNone/>
            </a:pPr>
            <a:r>
              <a:rPr lang="en-US" altLang="zh-TW" sz="2800" b="0" strike="noStrike" spc="-1" dirty="0">
                <a:solidFill>
                  <a:srgbClr val="3F3F3F"/>
                </a:solidFill>
                <a:latin typeface="Segoe UI"/>
              </a:rPr>
              <a:t>set ASL_PATH=%WORKSPACE%\%PROJECT_REL_PATH%\%PROJECT_PKG%\Tools\Bin\Asl\Acpi6.3</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set ARCH=IA32 X64</a:t>
            </a: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set EFI_SOURCE_DIR=</a:t>
            </a:r>
            <a:r>
              <a:rPr lang="en-US" altLang="zh-TW" sz="2800" b="0" strike="noStrike" spc="-1" dirty="0" err="1">
                <a:solidFill>
                  <a:srgbClr val="3F3F3F"/>
                </a:solidFill>
                <a:latin typeface="Segoe UI"/>
              </a:rPr>
              <a:t>InsydeModulePkg</a:t>
            </a:r>
            <a:endParaRPr lang="en-US" altLang="zh-TW" sz="2800" b="0" strike="noStrike" spc="-1" dirty="0">
              <a:solidFill>
                <a:srgbClr val="3F3F3F"/>
              </a:solidFill>
              <a:latin typeface="Segoe UI"/>
            </a:endParaRPr>
          </a:p>
          <a:p>
            <a:pPr indent="0">
              <a:lnSpc>
                <a:spcPct val="90000"/>
              </a:lnSpc>
              <a:spcBef>
                <a:spcPts val="499"/>
              </a:spcBef>
              <a:buNone/>
            </a:pPr>
            <a:r>
              <a:rPr lang="en-US" altLang="zh-TW" sz="2800" b="0" strike="noStrike" spc="-1" dirty="0"/>
              <a:t>set PYTHON_DIR=c:\python27</a:t>
            </a:r>
          </a:p>
          <a:p>
            <a:pPr indent="0">
              <a:lnSpc>
                <a:spcPct val="90000"/>
              </a:lnSpc>
              <a:spcBef>
                <a:spcPts val="499"/>
              </a:spcBef>
              <a:buNone/>
            </a:pPr>
            <a:endParaRPr lang="en-US" altLang="zh-TW" sz="2800" b="0" strike="noStrike" spc="-1" dirty="0">
              <a:latin typeface="Arial"/>
            </a:endParaRPr>
          </a:p>
          <a:p>
            <a:pPr indent="0">
              <a:lnSpc>
                <a:spcPct val="90000"/>
              </a:lnSpc>
              <a:spcBef>
                <a:spcPts val="499"/>
              </a:spcBef>
              <a:buNone/>
            </a:pPr>
            <a:r>
              <a:rPr lang="en-US" altLang="zh-TW" spc="-1" dirty="0">
                <a:latin typeface="Arial"/>
              </a:rPr>
              <a:t>…</a:t>
            </a:r>
          </a:p>
          <a:p>
            <a:pPr indent="0">
              <a:lnSpc>
                <a:spcPct val="90000"/>
              </a:lnSpc>
              <a:spcBef>
                <a:spcPts val="499"/>
              </a:spcBef>
              <a:buNone/>
            </a:pPr>
            <a:r>
              <a:rPr lang="en-US" altLang="zh-TW" sz="2800" b="0" strike="noStrike" spc="-1" dirty="0">
                <a:latin typeface="Arial"/>
              </a:rPr>
              <a:t>…</a:t>
            </a:r>
          </a:p>
          <a:p>
            <a:pPr indent="0">
              <a:lnSpc>
                <a:spcPct val="90000"/>
              </a:lnSpc>
              <a:spcBef>
                <a:spcPts val="499"/>
              </a:spcBef>
              <a:buNone/>
            </a:pPr>
            <a:endParaRPr lang="en-US" altLang="zh-TW" sz="2800" b="0" strike="noStrike" spc="-1" dirty="0">
              <a:latin typeface="Arial"/>
            </a:endParaRPr>
          </a:p>
          <a:p>
            <a:pPr indent="0">
              <a:lnSpc>
                <a:spcPct val="90000"/>
              </a:lnSpc>
              <a:spcBef>
                <a:spcPts val="499"/>
              </a:spcBef>
              <a:buNone/>
            </a:pPr>
            <a:r>
              <a:rPr lang="en-US" altLang="zh-TW" sz="2800" b="0" strike="noStrike" spc="-1" dirty="0">
                <a:solidFill>
                  <a:srgbClr val="3F3F3F"/>
                </a:solidFill>
                <a:latin typeface="Segoe UI"/>
              </a:rPr>
              <a:t>call %WORKSPACE%\</a:t>
            </a:r>
            <a:r>
              <a:rPr lang="en-US" altLang="zh-TW" sz="2800" b="0" strike="noStrike" spc="-1" dirty="0" err="1">
                <a:solidFill>
                  <a:srgbClr val="3F3F3F"/>
                </a:solidFill>
                <a:latin typeface="Segoe UI"/>
              </a:rPr>
              <a:t>BaseTools</a:t>
            </a:r>
            <a:r>
              <a:rPr lang="en-US" altLang="zh-TW" sz="2800" b="0" strike="noStrike" spc="-1" dirty="0">
                <a:solidFill>
                  <a:srgbClr val="3F3F3F"/>
                </a:solidFill>
                <a:latin typeface="Segoe UI"/>
              </a:rPr>
              <a:t>\H2ORev50.bat</a:t>
            </a:r>
            <a:endParaRPr lang="en-US" altLang="zh-TW" sz="2800" b="0" strike="noStrike" spc="-1" dirty="0">
              <a:latin typeface="Arial"/>
            </a:endParaRPr>
          </a:p>
          <a:p>
            <a:pPr marL="457200">
              <a:lnSpc>
                <a:spcPct val="90000"/>
              </a:lnSpc>
              <a:spcBef>
                <a:spcPts val="499"/>
              </a:spcBef>
            </a:pPr>
            <a:endParaRPr lang="en-US" altLang="zh-TW" sz="2800" b="0" strike="noStrike" spc="-1" dirty="0">
              <a:latin typeface="Arial"/>
            </a:endParaRPr>
          </a:p>
          <a:p>
            <a:pPr marL="457200">
              <a:lnSpc>
                <a:spcPct val="90000"/>
              </a:lnSpc>
              <a:spcBef>
                <a:spcPts val="499"/>
              </a:spcBef>
            </a:pPr>
            <a:endParaRPr lang="en-US" altLang="zh-TW" sz="2800" b="0" strike="noStrike" spc="-1" dirty="0">
              <a:latin typeface="Arial"/>
            </a:endParaRPr>
          </a:p>
          <a:p>
            <a:pPr marL="457200">
              <a:lnSpc>
                <a:spcPct val="90000"/>
              </a:lnSpc>
              <a:spcBef>
                <a:spcPts val="499"/>
              </a:spcBef>
            </a:pPr>
            <a:endParaRPr lang="en-US" altLang="zh-TW" sz="2800" b="0" strike="noStrike" spc="-1" dirty="0">
              <a:latin typeface="Arial"/>
            </a:endParaRPr>
          </a:p>
          <a:p>
            <a:pPr marL="228600" indent="-227880">
              <a:lnSpc>
                <a:spcPct val="100000"/>
              </a:lnSpc>
              <a:spcBef>
                <a:spcPts val="1001"/>
              </a:spcBef>
              <a:buClr>
                <a:srgbClr val="0070C0"/>
              </a:buClr>
              <a:buFont typeface="Arial"/>
              <a:buChar char="•"/>
            </a:pPr>
            <a:r>
              <a:rPr lang="en-US" altLang="zh-TW" sz="4400" b="1" strike="noStrike" spc="-1" dirty="0">
                <a:solidFill>
                  <a:srgbClr val="0070C0"/>
                </a:solidFill>
                <a:latin typeface="Segoe UI"/>
                <a:ea typeface="DejaVu Sans"/>
              </a:rPr>
              <a:t>Remove the TOOL_CHAIN definition, our batch file will try to search the one you install to your system</a:t>
            </a:r>
            <a:endParaRPr lang="en-US" altLang="zh-TW" sz="4400" b="0" strike="noStrike" spc="-1" dirty="0">
              <a:latin typeface="Arial"/>
            </a:endParaRPr>
          </a:p>
        </p:txBody>
      </p:sp>
    </p:spTree>
    <p:extLst>
      <p:ext uri="{BB962C8B-B14F-4D97-AF65-F5344CB8AC3E}">
        <p14:creationId xmlns:p14="http://schemas.microsoft.com/office/powerpoint/2010/main" val="842609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How to Compile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1" strike="noStrike" spc="-1" dirty="0">
                <a:solidFill>
                  <a:srgbClr val="3F3F3F"/>
                </a:solidFill>
              </a:rPr>
              <a:t>Generate the Binary</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400" b="0" strike="noStrike" spc="-1" dirty="0">
                <a:solidFill>
                  <a:srgbClr val="3F3F3F"/>
                </a:solidFill>
              </a:rPr>
              <a:t>Double click ProjectBuild.bat</a:t>
            </a:r>
            <a:endParaRPr lang="en-US" altLang="zh-TW" sz="2400" b="0" strike="noStrike" spc="-1" dirty="0"/>
          </a:p>
          <a:p>
            <a:pPr marL="1143000" lvl="2" indent="-227880">
              <a:lnSpc>
                <a:spcPct val="90000"/>
              </a:lnSpc>
              <a:spcBef>
                <a:spcPts val="499"/>
              </a:spcBef>
              <a:buClr>
                <a:srgbClr val="3F3F3F"/>
              </a:buClr>
              <a:buFont typeface="Arial"/>
              <a:buChar char="•"/>
            </a:pPr>
            <a:r>
              <a:rPr lang="en-US" altLang="zh-TW" sz="2000" b="0" strike="noStrike" spc="-1" dirty="0">
                <a:solidFill>
                  <a:srgbClr val="3F3F3F"/>
                </a:solidFill>
              </a:rPr>
              <a:t>X64: Run “</a:t>
            </a:r>
            <a:r>
              <a:rPr lang="en-US" altLang="zh-TW" sz="2000" b="1" strike="noStrike" spc="-1" dirty="0" err="1">
                <a:solidFill>
                  <a:srgbClr val="FF0000"/>
                </a:solidFill>
              </a:rPr>
              <a:t>nmake</a:t>
            </a:r>
            <a:r>
              <a:rPr lang="en-US" altLang="zh-TW" sz="2000" b="1" strike="noStrike" spc="-1" dirty="0">
                <a:solidFill>
                  <a:srgbClr val="FF0000"/>
                </a:solidFill>
              </a:rPr>
              <a:t> uefi64</a:t>
            </a:r>
            <a:r>
              <a:rPr lang="en-US" altLang="zh-TW" sz="2000" b="0" strike="noStrike" spc="-1" dirty="0">
                <a:solidFill>
                  <a:srgbClr val="3F3F3F"/>
                </a:solidFill>
              </a:rPr>
              <a:t>” or “</a:t>
            </a:r>
            <a:r>
              <a:rPr lang="en-US" altLang="zh-TW" sz="2000" b="1" strike="noStrike" spc="-1" dirty="0" err="1">
                <a:solidFill>
                  <a:srgbClr val="FF0000"/>
                </a:solidFill>
              </a:rPr>
              <a:t>nmake</a:t>
            </a:r>
            <a:r>
              <a:rPr lang="en-US" altLang="zh-TW" sz="2000" b="1" strike="noStrike" spc="-1" dirty="0">
                <a:solidFill>
                  <a:srgbClr val="FF0000"/>
                </a:solidFill>
              </a:rPr>
              <a:t> </a:t>
            </a:r>
            <a:r>
              <a:rPr lang="en-US" altLang="zh-TW" sz="2000" b="1" strike="noStrike" spc="-1" dirty="0" err="1">
                <a:solidFill>
                  <a:srgbClr val="FF0000"/>
                </a:solidFill>
              </a:rPr>
              <a:t>efidebug</a:t>
            </a:r>
            <a:r>
              <a:rPr lang="en-US" altLang="zh-TW" sz="2000" b="0" strike="noStrike" spc="-1" dirty="0">
                <a:solidFill>
                  <a:srgbClr val="3F3F3F"/>
                </a:solidFill>
              </a:rPr>
              <a:t>”</a:t>
            </a:r>
            <a:endParaRPr lang="en-US" altLang="zh-TW" sz="2000" b="0" strike="noStrike" spc="-1" dirty="0"/>
          </a:p>
        </p:txBody>
      </p:sp>
      <p:pic>
        <p:nvPicPr>
          <p:cNvPr id="4" name="圖片 3">
            <a:extLst>
              <a:ext uri="{FF2B5EF4-FFF2-40B4-BE49-F238E27FC236}">
                <a16:creationId xmlns:a16="http://schemas.microsoft.com/office/drawing/2014/main" id="{D7983203-3D4A-4ABC-B59E-E9666EF7DBDE}"/>
              </a:ext>
            </a:extLst>
          </p:cNvPr>
          <p:cNvPicPr>
            <a:picLocks noChangeAspect="1"/>
          </p:cNvPicPr>
          <p:nvPr/>
        </p:nvPicPr>
        <p:blipFill>
          <a:blip r:embed="rId2"/>
          <a:stretch>
            <a:fillRect/>
          </a:stretch>
        </p:blipFill>
        <p:spPr>
          <a:xfrm>
            <a:off x="2440193" y="2646684"/>
            <a:ext cx="7106480" cy="3738342"/>
          </a:xfrm>
          <a:prstGeom prst="rect">
            <a:avLst/>
          </a:prstGeom>
          <a:ln>
            <a:solidFill>
              <a:srgbClr val="00B0F0"/>
            </a:solidFill>
          </a:ln>
        </p:spPr>
      </p:pic>
    </p:spTree>
    <p:extLst>
      <p:ext uri="{BB962C8B-B14F-4D97-AF65-F5344CB8AC3E}">
        <p14:creationId xmlns:p14="http://schemas.microsoft.com/office/powerpoint/2010/main" val="3330769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normAutofit/>
          </a:bodyPr>
          <a:lstStyle/>
          <a:p>
            <a:r>
              <a:rPr lang="en-US" altLang="zh-TW" dirty="0"/>
              <a:t>How to Compile</a:t>
            </a:r>
            <a:br>
              <a:rPr lang="en-US" altLang="zh-TW" dirty="0"/>
            </a:br>
            <a:r>
              <a:rPr lang="en-US" altLang="zh-TW" sz="2200" dirty="0"/>
              <a:t>FSP</a:t>
            </a:r>
            <a:endParaRPr lang="zh-TW" altLang="en-US" sz="2200"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0"/>
              </a:spcBef>
              <a:buClr>
                <a:srgbClr val="3F3F3F"/>
              </a:buClr>
              <a:buFont typeface="Arial"/>
              <a:buChar char="•"/>
            </a:pPr>
            <a:r>
              <a:rPr lang="en-US" altLang="zh-TW" sz="2400" b="1" strike="noStrike" spc="-1" dirty="0">
                <a:solidFill>
                  <a:srgbClr val="3F3F3F"/>
                </a:solidFill>
              </a:rPr>
              <a:t>Generate the Binary</a:t>
            </a:r>
            <a:endParaRPr lang="en-US" altLang="zh-TW" sz="2400" b="0" strike="noStrike" spc="-1" dirty="0"/>
          </a:p>
          <a:p>
            <a:pPr marL="685800" lvl="1" indent="-227880">
              <a:lnSpc>
                <a:spcPct val="90000"/>
              </a:lnSpc>
              <a:spcBef>
                <a:spcPts val="0"/>
              </a:spcBef>
              <a:buClr>
                <a:srgbClr val="3F3F3F"/>
              </a:buClr>
              <a:buFont typeface="Arial"/>
              <a:buChar char="•"/>
            </a:pPr>
            <a:r>
              <a:rPr lang="en-US" altLang="zh-TW" sz="2000" b="0" strike="noStrike" spc="-1" dirty="0">
                <a:solidFill>
                  <a:srgbClr val="3F3F3F"/>
                </a:solidFill>
              </a:rPr>
              <a:t>Double click ProjectBuild.bat</a:t>
            </a:r>
            <a:endParaRPr lang="en-US" altLang="zh-TW" sz="2000" b="0" strike="noStrike" spc="-1" dirty="0"/>
          </a:p>
          <a:p>
            <a:pPr marL="1143000" lvl="2" indent="-227880">
              <a:lnSpc>
                <a:spcPct val="90000"/>
              </a:lnSpc>
              <a:spcBef>
                <a:spcPts val="0"/>
              </a:spcBef>
              <a:buClr>
                <a:srgbClr val="3F3F3F"/>
              </a:buClr>
              <a:buFont typeface="Arial"/>
              <a:buChar char="•"/>
            </a:pPr>
            <a:r>
              <a:rPr lang="en-US" altLang="zh-TW" sz="1800" b="0" strike="noStrike" spc="-1" dirty="0">
                <a:solidFill>
                  <a:srgbClr val="3F3F3F"/>
                </a:solidFill>
              </a:rPr>
              <a:t>X64: </a:t>
            </a:r>
          </a:p>
          <a:p>
            <a:pPr marL="1829520" lvl="3" indent="-457200">
              <a:spcBef>
                <a:spcPts val="0"/>
              </a:spcBef>
              <a:buClr>
                <a:srgbClr val="3F3F3F"/>
              </a:buClr>
              <a:buFont typeface="+mj-lt"/>
              <a:buAutoNum type="arabicPeriod"/>
            </a:pPr>
            <a:r>
              <a:rPr lang="en-US" altLang="zh-TW" sz="1400" b="0" strike="noStrike" spc="-1" dirty="0">
                <a:solidFill>
                  <a:srgbClr val="3F3F3F"/>
                </a:solidFill>
              </a:rPr>
              <a:t>Run “</a:t>
            </a:r>
            <a:r>
              <a:rPr lang="en-US" altLang="zh-TW" sz="1400" b="1" strike="noStrike" spc="-1" dirty="0">
                <a:solidFill>
                  <a:srgbClr val="FF0000"/>
                </a:solidFill>
              </a:rPr>
              <a:t>BuildFsp.cmd /d</a:t>
            </a:r>
            <a:r>
              <a:rPr lang="en-US" altLang="zh-TW" sz="1400" b="0" strike="noStrike" spc="-1" dirty="0">
                <a:solidFill>
                  <a:srgbClr val="3F3F3F"/>
                </a:solidFill>
              </a:rPr>
              <a:t>” or “</a:t>
            </a:r>
            <a:r>
              <a:rPr lang="en-US" altLang="zh-TW" sz="1400" b="1" strike="noStrike" spc="-1" dirty="0">
                <a:solidFill>
                  <a:srgbClr val="FF0000"/>
                </a:solidFill>
              </a:rPr>
              <a:t>BuildFsp.cmd /r</a:t>
            </a:r>
            <a:r>
              <a:rPr lang="en-US" altLang="zh-TW" sz="1400" b="0" strike="noStrike" spc="-1" dirty="0">
                <a:solidFill>
                  <a:srgbClr val="3F3F3F"/>
                </a:solidFill>
              </a:rPr>
              <a:t>” to generate the FSP binary</a:t>
            </a:r>
          </a:p>
          <a:p>
            <a:pPr marL="1829520" lvl="3" indent="-457200">
              <a:spcBef>
                <a:spcPts val="0"/>
              </a:spcBef>
              <a:buClr>
                <a:srgbClr val="3F3F3F"/>
              </a:buClr>
              <a:buFont typeface="+mj-lt"/>
              <a:buAutoNum type="arabicPeriod"/>
            </a:pPr>
            <a:endParaRPr lang="en-US" altLang="zh-TW" sz="1400"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r>
              <a:rPr lang="en-US" altLang="zh-TW" sz="1400" spc="-1" dirty="0">
                <a:solidFill>
                  <a:srgbClr val="3F3F3F"/>
                </a:solidFill>
              </a:rPr>
              <a:t>Run </a:t>
            </a:r>
            <a:r>
              <a:rPr lang="en-US" altLang="zh-TW" sz="1400" b="0" strike="noStrike" spc="-1" dirty="0">
                <a:solidFill>
                  <a:srgbClr val="3F3F3F"/>
                </a:solidFill>
              </a:rPr>
              <a:t>“</a:t>
            </a:r>
            <a:r>
              <a:rPr lang="en-US" altLang="zh-TW" sz="1400" b="1" strike="noStrike" spc="-1" dirty="0" err="1">
                <a:solidFill>
                  <a:srgbClr val="FF0000"/>
                </a:solidFill>
              </a:rPr>
              <a:t>nmake</a:t>
            </a:r>
            <a:r>
              <a:rPr lang="en-US" altLang="zh-TW" sz="1400" b="1" strike="noStrike" spc="-1" dirty="0">
                <a:solidFill>
                  <a:srgbClr val="FF0000"/>
                </a:solidFill>
              </a:rPr>
              <a:t> uefi64fsp</a:t>
            </a:r>
            <a:r>
              <a:rPr lang="en-US" altLang="zh-TW" sz="1400" b="0" strike="noStrike" spc="-1" dirty="0">
                <a:solidFill>
                  <a:srgbClr val="3F3F3F"/>
                </a:solidFill>
              </a:rPr>
              <a:t>” or “</a:t>
            </a:r>
            <a:r>
              <a:rPr lang="en-US" altLang="zh-TW" sz="1400" b="1" strike="noStrike" spc="-1" dirty="0" err="1">
                <a:solidFill>
                  <a:srgbClr val="FF0000"/>
                </a:solidFill>
              </a:rPr>
              <a:t>nmake</a:t>
            </a:r>
            <a:r>
              <a:rPr lang="en-US" altLang="zh-TW" sz="1400" b="1" strike="noStrike" spc="-1" dirty="0">
                <a:solidFill>
                  <a:srgbClr val="FF0000"/>
                </a:solidFill>
              </a:rPr>
              <a:t> </a:t>
            </a:r>
            <a:r>
              <a:rPr lang="en-US" altLang="zh-TW" sz="1400" b="1" strike="noStrike" spc="-1" dirty="0" err="1">
                <a:solidFill>
                  <a:srgbClr val="FF0000"/>
                </a:solidFill>
              </a:rPr>
              <a:t>efidebugfsp</a:t>
            </a:r>
            <a:r>
              <a:rPr lang="en-US" altLang="zh-TW" sz="1400" b="0" strike="noStrike" spc="-1" dirty="0">
                <a:solidFill>
                  <a:srgbClr val="3F3F3F"/>
                </a:solidFill>
              </a:rPr>
              <a:t>” to generate the full BIOS binary</a:t>
            </a:r>
          </a:p>
          <a:p>
            <a:pPr marL="1143000" lvl="2" indent="-227880">
              <a:lnSpc>
                <a:spcPct val="90000"/>
              </a:lnSpc>
              <a:spcBef>
                <a:spcPts val="499"/>
              </a:spcBef>
              <a:buClr>
                <a:srgbClr val="3F3F3F"/>
              </a:buClr>
              <a:buFont typeface="Arial"/>
              <a:buChar char="•"/>
            </a:pPr>
            <a:endParaRPr lang="en-US" altLang="zh-TW" b="0" strike="noStrike" spc="-1" dirty="0"/>
          </a:p>
        </p:txBody>
      </p:sp>
      <p:pic>
        <p:nvPicPr>
          <p:cNvPr id="6" name="圖片 5">
            <a:extLst>
              <a:ext uri="{FF2B5EF4-FFF2-40B4-BE49-F238E27FC236}">
                <a16:creationId xmlns:a16="http://schemas.microsoft.com/office/drawing/2014/main" id="{FBC7A638-6832-47F3-B0C0-A613F3D3EAAB}"/>
              </a:ext>
            </a:extLst>
          </p:cNvPr>
          <p:cNvPicPr>
            <a:picLocks noChangeAspect="1"/>
          </p:cNvPicPr>
          <p:nvPr/>
        </p:nvPicPr>
        <p:blipFill>
          <a:blip r:embed="rId2"/>
          <a:stretch>
            <a:fillRect/>
          </a:stretch>
        </p:blipFill>
        <p:spPr>
          <a:xfrm>
            <a:off x="2752762" y="2483141"/>
            <a:ext cx="4805719" cy="2038567"/>
          </a:xfrm>
          <a:prstGeom prst="rect">
            <a:avLst/>
          </a:prstGeom>
          <a:ln>
            <a:solidFill>
              <a:srgbClr val="00B0F0"/>
            </a:solidFill>
          </a:ln>
        </p:spPr>
      </p:pic>
      <p:pic>
        <p:nvPicPr>
          <p:cNvPr id="7" name="圖片 6">
            <a:extLst>
              <a:ext uri="{FF2B5EF4-FFF2-40B4-BE49-F238E27FC236}">
                <a16:creationId xmlns:a16="http://schemas.microsoft.com/office/drawing/2014/main" id="{7E31948E-4AEC-4485-98B7-3DB21AD1F97D}"/>
              </a:ext>
            </a:extLst>
          </p:cNvPr>
          <p:cNvPicPr>
            <a:picLocks noChangeAspect="1"/>
          </p:cNvPicPr>
          <p:nvPr/>
        </p:nvPicPr>
        <p:blipFill>
          <a:blip r:embed="rId3"/>
          <a:stretch>
            <a:fillRect/>
          </a:stretch>
        </p:blipFill>
        <p:spPr>
          <a:xfrm>
            <a:off x="2761152" y="4799333"/>
            <a:ext cx="4805718" cy="1974777"/>
          </a:xfrm>
          <a:prstGeom prst="rect">
            <a:avLst/>
          </a:prstGeom>
          <a:ln>
            <a:solidFill>
              <a:srgbClr val="00B0F0"/>
            </a:solidFill>
          </a:ln>
        </p:spPr>
      </p:pic>
    </p:spTree>
    <p:extLst>
      <p:ext uri="{BB962C8B-B14F-4D97-AF65-F5344CB8AC3E}">
        <p14:creationId xmlns:p14="http://schemas.microsoft.com/office/powerpoint/2010/main" val="1601615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normAutofit/>
          </a:bodyPr>
          <a:lstStyle/>
          <a:p>
            <a:r>
              <a:rPr lang="en-US" altLang="zh-TW" dirty="0"/>
              <a:t>How to Compile</a:t>
            </a:r>
            <a:endParaRPr lang="zh-TW" altLang="en-US" sz="2200"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1" strike="noStrike" spc="-1" dirty="0">
                <a:solidFill>
                  <a:srgbClr val="3F3F3F"/>
                </a:solidFill>
                <a:latin typeface="Segoe UI"/>
              </a:rPr>
              <a:t>Build Result</a:t>
            </a:r>
            <a:endParaRPr lang="en-US" altLang="zh-TW" sz="2800" b="0" strike="noStrike" spc="-1" dirty="0">
              <a:latin typeface="Arial"/>
            </a:endParaRPr>
          </a:p>
          <a:p>
            <a:pPr marL="685800" lvl="1" indent="-227880">
              <a:lnSpc>
                <a:spcPct val="90000"/>
              </a:lnSpc>
              <a:spcBef>
                <a:spcPts val="499"/>
              </a:spcBef>
              <a:buClr>
                <a:srgbClr val="3F3F3F"/>
              </a:buClr>
              <a:buFont typeface="Arial"/>
              <a:buChar char="•"/>
            </a:pPr>
            <a:r>
              <a:rPr lang="en-US" altLang="zh-TW" sz="2000" b="0" strike="noStrike" spc="-1" dirty="0">
                <a:solidFill>
                  <a:srgbClr val="3F3F3F"/>
                </a:solidFill>
                <a:latin typeface="Segoe UI"/>
              </a:rPr>
              <a:t>If building successfully, it will generate the binary in </a:t>
            </a:r>
            <a:endParaRPr lang="en-US" altLang="zh-TW" sz="2000" b="0" strike="noStrike" spc="-1" dirty="0">
              <a:latin typeface="Arial"/>
            </a:endParaRPr>
          </a:p>
          <a:p>
            <a:pPr>
              <a:lnSpc>
                <a:spcPct val="100000"/>
              </a:lnSpc>
              <a:spcBef>
                <a:spcPts val="1001"/>
              </a:spcBef>
            </a:pPr>
            <a:r>
              <a:rPr lang="en-US" altLang="zh-TW" sz="2000" b="0" strike="noStrike" spc="-1" dirty="0">
                <a:solidFill>
                  <a:srgbClr val="3F3F3F"/>
                </a:solidFill>
                <a:latin typeface="Segoe UI"/>
                <a:ea typeface="DejaVu Sans"/>
              </a:rPr>
              <a:t>	$(WORKSPACE)/Build/$(PROJECT_PKG)/$(BUILD_TARGET)_$(TOOL_CHAIN)/</a:t>
            </a:r>
            <a:endParaRPr lang="en-US" altLang="zh-TW" sz="2000" b="0" strike="noStrike" spc="-1" dirty="0">
              <a:latin typeface="Arial"/>
            </a:endParaRPr>
          </a:p>
          <a:p>
            <a:pPr marL="1143000" lvl="2" indent="-227880">
              <a:lnSpc>
                <a:spcPct val="100000"/>
              </a:lnSpc>
              <a:spcBef>
                <a:spcPts val="499"/>
              </a:spcBef>
              <a:buClr>
                <a:srgbClr val="3F3F3F"/>
              </a:buClr>
              <a:buFont typeface="Arial"/>
              <a:buChar char="•"/>
            </a:pPr>
            <a:r>
              <a:rPr lang="en-US" altLang="zh-TW" sz="1800" b="0" strike="noStrike" spc="-1" dirty="0">
                <a:solidFill>
                  <a:srgbClr val="3F3F3F"/>
                </a:solidFill>
                <a:latin typeface="Arial"/>
                <a:ea typeface="DejaVu Sans"/>
              </a:rPr>
              <a:t>FV: Subdirectory for the resultant firmware volumes</a:t>
            </a:r>
            <a:endParaRPr lang="en-US" altLang="zh-TW" sz="1800" b="0" strike="noStrike" spc="-1" dirty="0">
              <a:latin typeface="Arial"/>
            </a:endParaRPr>
          </a:p>
          <a:p>
            <a:pPr marL="1143000" lvl="2" indent="-227880">
              <a:lnSpc>
                <a:spcPct val="100000"/>
              </a:lnSpc>
              <a:spcBef>
                <a:spcPts val="499"/>
              </a:spcBef>
              <a:buClr>
                <a:srgbClr val="3F3F3F"/>
              </a:buClr>
              <a:buFont typeface="Arial"/>
              <a:buChar char="•"/>
            </a:pPr>
            <a:r>
              <a:rPr lang="en-US" altLang="zh-TW" sz="1800" b="0" strike="noStrike" spc="-1" dirty="0">
                <a:solidFill>
                  <a:srgbClr val="3F3F3F"/>
                </a:solidFill>
                <a:latin typeface="Arial"/>
                <a:ea typeface="DejaVu Sans"/>
              </a:rPr>
              <a:t>IA32: Location where the 32-bit output files (*.obj) are deposited</a:t>
            </a:r>
            <a:endParaRPr lang="en-US" altLang="zh-TW" sz="1800" b="0" strike="noStrike" spc="-1" dirty="0">
              <a:latin typeface="Arial"/>
            </a:endParaRPr>
          </a:p>
          <a:p>
            <a:pPr marL="1143000" lvl="2" indent="-227880">
              <a:lnSpc>
                <a:spcPct val="100000"/>
              </a:lnSpc>
              <a:spcBef>
                <a:spcPts val="499"/>
              </a:spcBef>
              <a:buClr>
                <a:srgbClr val="3F3F3F"/>
              </a:buClr>
              <a:buFont typeface="Arial"/>
              <a:buChar char="•"/>
            </a:pPr>
            <a:r>
              <a:rPr lang="en-US" altLang="zh-TW" sz="1800" b="0" strike="noStrike" spc="-1" dirty="0">
                <a:solidFill>
                  <a:srgbClr val="3F3F3F"/>
                </a:solidFill>
                <a:latin typeface="Arial"/>
                <a:ea typeface="DejaVu Sans"/>
              </a:rPr>
              <a:t>X64: Location where the 64-bit output files are deposited (For 64-bit platform)</a:t>
            </a:r>
            <a:endParaRPr lang="en-US" altLang="zh-TW" sz="1800" b="0" strike="noStrike" spc="-1" dirty="0">
              <a:latin typeface="Arial"/>
            </a:endParaRPr>
          </a:p>
          <a:p>
            <a:pPr marL="457200">
              <a:lnSpc>
                <a:spcPct val="90000"/>
              </a:lnSpc>
              <a:spcBef>
                <a:spcPts val="499"/>
              </a:spcBef>
            </a:pPr>
            <a:endParaRPr lang="en-US" altLang="zh-TW" sz="1800" b="0" strike="noStrike" spc="-1" dirty="0">
              <a:latin typeface="Arial"/>
            </a:endParaRPr>
          </a:p>
        </p:txBody>
      </p:sp>
      <p:pic>
        <p:nvPicPr>
          <p:cNvPr id="5" name="圖片 4">
            <a:extLst>
              <a:ext uri="{FF2B5EF4-FFF2-40B4-BE49-F238E27FC236}">
                <a16:creationId xmlns:a16="http://schemas.microsoft.com/office/drawing/2014/main" id="{3CC4F8C9-1951-4D06-88F2-2DCB2E4674BB}"/>
              </a:ext>
            </a:extLst>
          </p:cNvPr>
          <p:cNvPicPr>
            <a:picLocks noChangeAspect="1"/>
          </p:cNvPicPr>
          <p:nvPr/>
        </p:nvPicPr>
        <p:blipFill>
          <a:blip r:embed="rId2"/>
          <a:stretch>
            <a:fillRect/>
          </a:stretch>
        </p:blipFill>
        <p:spPr>
          <a:xfrm>
            <a:off x="3127105" y="3650129"/>
            <a:ext cx="5937789" cy="2859583"/>
          </a:xfrm>
          <a:prstGeom prst="rect">
            <a:avLst/>
          </a:prstGeom>
          <a:ln>
            <a:solidFill>
              <a:srgbClr val="00B0F0"/>
            </a:solidFill>
          </a:ln>
        </p:spPr>
      </p:pic>
    </p:spTree>
    <p:extLst>
      <p:ext uri="{BB962C8B-B14F-4D97-AF65-F5344CB8AC3E}">
        <p14:creationId xmlns:p14="http://schemas.microsoft.com/office/powerpoint/2010/main" val="1449829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normAutofit/>
          </a:bodyPr>
          <a:lstStyle/>
          <a:p>
            <a:r>
              <a:rPr lang="en-US" altLang="zh-TW" dirty="0"/>
              <a:t>How </a:t>
            </a:r>
            <a:r>
              <a:rPr lang="en-US" altLang="zh-TW"/>
              <a:t>to Compile</a:t>
            </a:r>
            <a:endParaRPr lang="zh-TW" altLang="en-US" sz="2200"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1" strike="noStrike" spc="-1" dirty="0">
                <a:solidFill>
                  <a:srgbClr val="3F3F3F"/>
                </a:solidFill>
                <a:latin typeface="Segoe UI"/>
              </a:rPr>
              <a:t>Cleaning Build Tips</a:t>
            </a:r>
            <a:endParaRPr lang="en-US" altLang="zh-TW" sz="2800" b="0" strike="noStrike" spc="-1" dirty="0">
              <a:latin typeface="Arial"/>
            </a:endParaRPr>
          </a:p>
          <a:p>
            <a:pPr marL="685800" lvl="1" indent="-227880">
              <a:lnSpc>
                <a:spcPct val="90000"/>
              </a:lnSpc>
              <a:spcBef>
                <a:spcPts val="499"/>
              </a:spcBef>
              <a:buClr>
                <a:srgbClr val="3F3F3F"/>
              </a:buClr>
              <a:buFont typeface="Arial"/>
              <a:buChar char="•"/>
            </a:pPr>
            <a:r>
              <a:rPr lang="en-US" altLang="zh-TW" sz="2000" b="0" strike="noStrike" spc="-1" dirty="0">
                <a:solidFill>
                  <a:srgbClr val="3F3F3F"/>
                </a:solidFill>
                <a:latin typeface="Segoe UI"/>
              </a:rPr>
              <a:t>The </a:t>
            </a:r>
            <a:r>
              <a:rPr lang="en-US" altLang="zh-TW" sz="2000" b="0" strike="noStrike" spc="-1" dirty="0" err="1">
                <a:solidFill>
                  <a:srgbClr val="3F3F3F"/>
                </a:solidFill>
                <a:latin typeface="Segoe UI"/>
              </a:rPr>
              <a:t>makefiles</a:t>
            </a:r>
            <a:r>
              <a:rPr lang="en-US" altLang="zh-TW" sz="2000" b="0" strike="noStrike" spc="-1" dirty="0">
                <a:solidFill>
                  <a:srgbClr val="3F3F3F"/>
                </a:solidFill>
                <a:latin typeface="Segoe UI"/>
              </a:rPr>
              <a:t> for all major build tips include a </a:t>
            </a:r>
            <a:r>
              <a:rPr lang="en-US" altLang="zh-TW" sz="2000" b="1" strike="noStrike" spc="-1" dirty="0">
                <a:solidFill>
                  <a:srgbClr val="3F3F3F"/>
                </a:solidFill>
                <a:latin typeface="Segoe UI"/>
              </a:rPr>
              <a:t>clean</a:t>
            </a:r>
            <a:r>
              <a:rPr lang="en-US" altLang="zh-TW" sz="2000" b="0" strike="noStrike" spc="-1" dirty="0">
                <a:solidFill>
                  <a:srgbClr val="3F3F3F"/>
                </a:solidFill>
                <a:latin typeface="Segoe UI"/>
              </a:rPr>
              <a:t> target that completely removes the binaries from previous builds.</a:t>
            </a:r>
            <a:endParaRPr lang="en-US" altLang="zh-TW" sz="2000" b="0" strike="noStrike" spc="-1" dirty="0">
              <a:latin typeface="Arial"/>
            </a:endParaRPr>
          </a:p>
          <a:p>
            <a:pPr marL="685800" lvl="1" indent="-227880">
              <a:lnSpc>
                <a:spcPct val="90000"/>
              </a:lnSpc>
              <a:spcBef>
                <a:spcPts val="499"/>
              </a:spcBef>
              <a:buClr>
                <a:srgbClr val="3F3F3F"/>
              </a:buClr>
              <a:buFont typeface="Arial"/>
              <a:buChar char="•"/>
            </a:pPr>
            <a:r>
              <a:rPr lang="en-US" altLang="zh-TW" sz="2000" b="0" strike="noStrike" spc="-1" dirty="0">
                <a:solidFill>
                  <a:srgbClr val="3F3F3F"/>
                </a:solidFill>
                <a:latin typeface="Segoe UI"/>
              </a:rPr>
              <a:t>Simply enter </a:t>
            </a:r>
            <a:r>
              <a:rPr lang="en-US" altLang="zh-TW" sz="2000" b="1" strike="noStrike" spc="-1" dirty="0" err="1">
                <a:solidFill>
                  <a:srgbClr val="3F3F3F"/>
                </a:solidFill>
                <a:latin typeface="Segoe UI"/>
              </a:rPr>
              <a:t>nmake</a:t>
            </a:r>
            <a:r>
              <a:rPr lang="en-US" altLang="zh-TW" sz="2000" b="1" strike="noStrike" spc="-1" dirty="0">
                <a:solidFill>
                  <a:srgbClr val="3F3F3F"/>
                </a:solidFill>
                <a:latin typeface="Segoe UI"/>
              </a:rPr>
              <a:t> clean </a:t>
            </a:r>
            <a:r>
              <a:rPr lang="en-US" altLang="zh-TW" sz="2000" b="0" strike="noStrike" spc="-1" dirty="0">
                <a:solidFill>
                  <a:srgbClr val="3F3F3F"/>
                </a:solidFill>
                <a:latin typeface="Segoe UI"/>
              </a:rPr>
              <a:t>into the build tip directory, corresponding to the prompt in a Command Prompt box.</a:t>
            </a:r>
            <a:endParaRPr lang="en-US" altLang="zh-TW" sz="2000" b="0" strike="noStrike" spc="-1" dirty="0">
              <a:latin typeface="Arial"/>
            </a:endParaRPr>
          </a:p>
        </p:txBody>
      </p:sp>
      <p:pic>
        <p:nvPicPr>
          <p:cNvPr id="4" name="圖片 3">
            <a:extLst>
              <a:ext uri="{FF2B5EF4-FFF2-40B4-BE49-F238E27FC236}">
                <a16:creationId xmlns:a16="http://schemas.microsoft.com/office/drawing/2014/main" id="{6BD4FAC1-4500-453D-9620-95DC973F1975}"/>
              </a:ext>
            </a:extLst>
          </p:cNvPr>
          <p:cNvPicPr>
            <a:picLocks noChangeAspect="1"/>
          </p:cNvPicPr>
          <p:nvPr/>
        </p:nvPicPr>
        <p:blipFill>
          <a:blip r:embed="rId2"/>
          <a:stretch>
            <a:fillRect/>
          </a:stretch>
        </p:blipFill>
        <p:spPr>
          <a:xfrm>
            <a:off x="3183818" y="3102810"/>
            <a:ext cx="5824363" cy="3427735"/>
          </a:xfrm>
          <a:prstGeom prst="rect">
            <a:avLst/>
          </a:prstGeom>
          <a:ln>
            <a:solidFill>
              <a:srgbClr val="00B0F0"/>
            </a:solidFill>
          </a:ln>
        </p:spPr>
      </p:pic>
    </p:spTree>
    <p:extLst>
      <p:ext uri="{BB962C8B-B14F-4D97-AF65-F5344CB8AC3E}">
        <p14:creationId xmlns:p14="http://schemas.microsoft.com/office/powerpoint/2010/main" val="2171371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15</a:t>
            </a:fld>
            <a:endParaRPr lang="en-US" dirty="0"/>
          </a:p>
        </p:txBody>
      </p:sp>
      <p:sp>
        <p:nvSpPr>
          <p:cNvPr id="2" name="Title 1"/>
          <p:cNvSpPr>
            <a:spLocks noGrp="1"/>
          </p:cNvSpPr>
          <p:nvPr>
            <p:ph type="title"/>
          </p:nvPr>
        </p:nvSpPr>
        <p:spPr/>
        <p:txBody>
          <a:bodyPr/>
          <a:lstStyle/>
          <a:p>
            <a:r>
              <a:rPr lang="en-US" dirty="0" err="1"/>
              <a:t>PreBuild</a:t>
            </a:r>
            <a:r>
              <a:rPr lang="en-US" dirty="0"/>
              <a:t> &amp; </a:t>
            </a:r>
            <a:r>
              <a:rPr lang="en-US" dirty="0" err="1"/>
              <a:t>PostBuild</a:t>
            </a:r>
            <a:endParaRPr lang="en-US" dirty="0"/>
          </a:p>
        </p:txBody>
      </p:sp>
    </p:spTree>
    <p:extLst>
      <p:ext uri="{BB962C8B-B14F-4D97-AF65-F5344CB8AC3E}">
        <p14:creationId xmlns:p14="http://schemas.microsoft.com/office/powerpoint/2010/main" val="4267046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PreBuild</a:t>
            </a:r>
            <a:r>
              <a:rPr lang="en-US" dirty="0"/>
              <a:t> &amp; </a:t>
            </a:r>
            <a:r>
              <a:rPr lang="en-US" dirty="0" err="1"/>
              <a:t>PostBuild</a:t>
            </a:r>
            <a:endParaRPr lang="en-US" sz="2000" dirty="0"/>
          </a:p>
        </p:txBody>
      </p:sp>
      <p:grpSp>
        <p:nvGrpSpPr>
          <p:cNvPr id="4" name="群組 3">
            <a:extLst>
              <a:ext uri="{FF2B5EF4-FFF2-40B4-BE49-F238E27FC236}">
                <a16:creationId xmlns:a16="http://schemas.microsoft.com/office/drawing/2014/main" id="{7EC7B1DB-5A95-48B5-BBAD-47CBDEAE526D}"/>
              </a:ext>
            </a:extLst>
          </p:cNvPr>
          <p:cNvGrpSpPr/>
          <p:nvPr/>
        </p:nvGrpSpPr>
        <p:grpSpPr>
          <a:xfrm>
            <a:off x="1718280" y="1316160"/>
            <a:ext cx="8759160" cy="5130720"/>
            <a:chOff x="1718280" y="1316160"/>
            <a:chExt cx="8759160" cy="5130720"/>
          </a:xfrm>
        </p:grpSpPr>
        <p:sp>
          <p:nvSpPr>
            <p:cNvPr id="5" name="CustomShape 2">
              <a:extLst>
                <a:ext uri="{FF2B5EF4-FFF2-40B4-BE49-F238E27FC236}">
                  <a16:creationId xmlns:a16="http://schemas.microsoft.com/office/drawing/2014/main" id="{A5322293-7D52-47F1-944E-AAAA21A21830}"/>
                </a:ext>
              </a:extLst>
            </p:cNvPr>
            <p:cNvSpPr/>
            <p:nvPr/>
          </p:nvSpPr>
          <p:spPr>
            <a:xfrm>
              <a:off x="1718280" y="147060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100000"/>
                </a:lnSpc>
                <a:buClr>
                  <a:srgbClr val="3F3F3F"/>
                </a:buClr>
                <a:buFont typeface="Arial"/>
                <a:buChar char="•"/>
              </a:pPr>
              <a:r>
                <a:rPr lang="en-US" sz="2800" b="0" strike="noStrike" spc="-1">
                  <a:solidFill>
                    <a:srgbClr val="3F3F3F"/>
                  </a:solidFill>
                  <a:latin typeface="Segoe UI"/>
                  <a:ea typeface="DejaVu Sans"/>
                </a:rPr>
                <a:t>ProjectPreBuild.bat</a:t>
              </a:r>
              <a:endParaRPr lang="en-US" sz="2800" b="0" strike="noStrike" spc="-1">
                <a:latin typeface="Arial"/>
              </a:endParaRPr>
            </a:p>
          </p:txBody>
        </p:sp>
        <p:sp>
          <p:nvSpPr>
            <p:cNvPr id="6" name="CustomShape 3">
              <a:extLst>
                <a:ext uri="{FF2B5EF4-FFF2-40B4-BE49-F238E27FC236}">
                  <a16:creationId xmlns:a16="http://schemas.microsoft.com/office/drawing/2014/main" id="{BA01BF76-5637-4F27-9998-DED5344DE276}"/>
                </a:ext>
              </a:extLst>
            </p:cNvPr>
            <p:cNvSpPr/>
            <p:nvPr/>
          </p:nvSpPr>
          <p:spPr>
            <a:xfrm>
              <a:off x="1792800" y="1316160"/>
              <a:ext cx="6947280" cy="1127160"/>
            </a:xfrm>
            <a:prstGeom prst="roundRect">
              <a:avLst>
                <a:gd name="adj" fmla="val 10000"/>
              </a:avLst>
            </a:prstGeom>
            <a:solidFill>
              <a:schemeClr val="accent5">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4560" tIns="124560" rIns="90000" bIns="124560" anchor="ctr">
              <a:noAutofit/>
            </a:bodyPr>
            <a:lstStyle/>
            <a:p>
              <a:pPr>
                <a:lnSpc>
                  <a:spcPct val="90000"/>
                </a:lnSpc>
              </a:pPr>
              <a:r>
                <a:rPr lang="en-US" sz="2400" b="1" strike="noStrike" spc="-1">
                  <a:solidFill>
                    <a:srgbClr val="FFFFFF"/>
                  </a:solidFill>
                  <a:latin typeface="Segoe UI"/>
                  <a:ea typeface="DejaVu Sans"/>
                </a:rPr>
                <a:t>ProjectPreBuild.bat</a:t>
              </a:r>
              <a:endParaRPr lang="en-US" sz="2400" b="0" strike="noStrike" spc="-1">
                <a:latin typeface="Arial"/>
              </a:endParaRPr>
            </a:p>
            <a:p>
              <a:pPr marL="228600" lvl="1" indent="-226440">
                <a:lnSpc>
                  <a:spcPct val="90000"/>
                </a:lnSpc>
                <a:buClr>
                  <a:srgbClr val="FFFFFF"/>
                </a:buClr>
                <a:buFont typeface="Symbol"/>
                <a:buChar char=""/>
              </a:pPr>
              <a:r>
                <a:rPr lang="en-US" sz="2000" b="0" strike="noStrike" spc="-1">
                  <a:solidFill>
                    <a:srgbClr val="FFFFFF"/>
                  </a:solidFill>
                  <a:latin typeface="Segoe UI"/>
                  <a:ea typeface="DejaVu Sans"/>
                </a:rPr>
                <a:t>Commands before calling ChipsetPreBuild.bat</a:t>
              </a:r>
              <a:endParaRPr lang="en-US" sz="2000" b="0" strike="noStrike" spc="-1">
                <a:latin typeface="Arial"/>
              </a:endParaRPr>
            </a:p>
          </p:txBody>
        </p:sp>
        <p:sp>
          <p:nvSpPr>
            <p:cNvPr id="7" name="CustomShape 4">
              <a:extLst>
                <a:ext uri="{FF2B5EF4-FFF2-40B4-BE49-F238E27FC236}">
                  <a16:creationId xmlns:a16="http://schemas.microsoft.com/office/drawing/2014/main" id="{A9BC7F17-ED8B-4CD2-808F-7FEE13D157B2}"/>
                </a:ext>
              </a:extLst>
            </p:cNvPr>
            <p:cNvSpPr/>
            <p:nvPr/>
          </p:nvSpPr>
          <p:spPr>
            <a:xfrm>
              <a:off x="2374920" y="2650680"/>
              <a:ext cx="6947280" cy="1127160"/>
            </a:xfrm>
            <a:prstGeom prst="roundRect">
              <a:avLst>
                <a:gd name="adj" fmla="val 10000"/>
              </a:avLst>
            </a:prstGeom>
            <a:solidFill>
              <a:schemeClr val="accent5">
                <a:hueOff val="3070625"/>
                <a:satOff val="0"/>
                <a:lumOff val="-1699"/>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4560" tIns="124560" rIns="90000" bIns="124560" anchor="ctr">
              <a:noAutofit/>
            </a:bodyPr>
            <a:lstStyle/>
            <a:p>
              <a:pPr>
                <a:lnSpc>
                  <a:spcPct val="90000"/>
                </a:lnSpc>
              </a:pPr>
              <a:r>
                <a:rPr lang="en-US" sz="2400" b="1" strike="noStrike" spc="-1">
                  <a:solidFill>
                    <a:srgbClr val="FFFFFF"/>
                  </a:solidFill>
                  <a:latin typeface="Segoe UI"/>
                  <a:ea typeface="DejaVu Sans"/>
                </a:rPr>
                <a:t>ChipsetPreBuild.bat</a:t>
              </a:r>
              <a:endParaRPr lang="en-US" sz="2400" b="0" strike="noStrike" spc="-1">
                <a:latin typeface="Arial"/>
              </a:endParaRPr>
            </a:p>
            <a:p>
              <a:pPr marL="228600" lvl="1" indent="-226440">
                <a:lnSpc>
                  <a:spcPct val="90000"/>
                </a:lnSpc>
                <a:buClr>
                  <a:srgbClr val="FFFFFF"/>
                </a:buClr>
                <a:buFont typeface="Symbol"/>
                <a:buChar char=""/>
              </a:pPr>
              <a:r>
                <a:rPr lang="en-US" sz="2000" b="0" strike="noStrike" spc="-1">
                  <a:solidFill>
                    <a:srgbClr val="FFFFFF"/>
                  </a:solidFill>
                  <a:latin typeface="Segoe UI"/>
                  <a:ea typeface="DejaVu Sans"/>
                </a:rPr>
                <a:t>Called by ProjectPreBuild.bat</a:t>
              </a:r>
              <a:endParaRPr lang="en-US" sz="2000" b="0" strike="noStrike" spc="-1">
                <a:latin typeface="Arial"/>
              </a:endParaRPr>
            </a:p>
          </p:txBody>
        </p:sp>
        <p:sp>
          <p:nvSpPr>
            <p:cNvPr id="8" name="CustomShape 5">
              <a:extLst>
                <a:ext uri="{FF2B5EF4-FFF2-40B4-BE49-F238E27FC236}">
                  <a16:creationId xmlns:a16="http://schemas.microsoft.com/office/drawing/2014/main" id="{A4E0609E-A438-4BC0-BA8F-2AE2D6FA8C24}"/>
                </a:ext>
              </a:extLst>
            </p:cNvPr>
            <p:cNvSpPr/>
            <p:nvPr/>
          </p:nvSpPr>
          <p:spPr>
            <a:xfrm>
              <a:off x="2948400" y="3985200"/>
              <a:ext cx="6947280" cy="1127160"/>
            </a:xfrm>
            <a:prstGeom prst="roundRect">
              <a:avLst>
                <a:gd name="adj" fmla="val 10000"/>
              </a:avLst>
            </a:prstGeom>
            <a:solidFill>
              <a:schemeClr val="accent5">
                <a:hueOff val="6141250"/>
                <a:satOff val="0"/>
                <a:lumOff val="-3399"/>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4560" tIns="124560" rIns="90000" bIns="124560" anchor="ctr">
              <a:noAutofit/>
            </a:bodyPr>
            <a:lstStyle/>
            <a:p>
              <a:pPr>
                <a:lnSpc>
                  <a:spcPct val="90000"/>
                </a:lnSpc>
              </a:pPr>
              <a:r>
                <a:rPr lang="en-US" sz="2400" b="1" strike="noStrike" spc="-1">
                  <a:solidFill>
                    <a:srgbClr val="FFFFFF"/>
                  </a:solidFill>
                  <a:latin typeface="Segoe UI"/>
                  <a:ea typeface="DejaVu Sans"/>
                </a:rPr>
                <a:t>ProjectPreBuild.bat</a:t>
              </a:r>
              <a:endParaRPr lang="en-US" sz="2400" b="0" strike="noStrike" spc="-1">
                <a:latin typeface="Arial"/>
              </a:endParaRPr>
            </a:p>
            <a:p>
              <a:pPr marL="228600" lvl="1" indent="-226440">
                <a:lnSpc>
                  <a:spcPct val="90000"/>
                </a:lnSpc>
                <a:buClr>
                  <a:srgbClr val="FFFFFF"/>
                </a:buClr>
                <a:buFont typeface="Symbol"/>
                <a:buChar char=""/>
              </a:pPr>
              <a:r>
                <a:rPr lang="en-US" sz="2000" b="0" strike="noStrike" spc="-1">
                  <a:solidFill>
                    <a:srgbClr val="FFFFFF"/>
                  </a:solidFill>
                  <a:latin typeface="Segoe UI"/>
                  <a:ea typeface="DejaVu Sans"/>
                </a:rPr>
                <a:t>Commands after finishing ChipsetPreBuild.bat</a:t>
              </a:r>
              <a:endParaRPr lang="en-US" sz="2000" b="0" strike="noStrike" spc="-1">
                <a:latin typeface="Arial"/>
              </a:endParaRPr>
            </a:p>
          </p:txBody>
        </p:sp>
        <p:sp>
          <p:nvSpPr>
            <p:cNvPr id="9" name="CustomShape 6">
              <a:extLst>
                <a:ext uri="{FF2B5EF4-FFF2-40B4-BE49-F238E27FC236}">
                  <a16:creationId xmlns:a16="http://schemas.microsoft.com/office/drawing/2014/main" id="{EC2E663E-17B8-4399-B53E-B45B6590B4E8}"/>
                </a:ext>
              </a:extLst>
            </p:cNvPr>
            <p:cNvSpPr/>
            <p:nvPr/>
          </p:nvSpPr>
          <p:spPr>
            <a:xfrm>
              <a:off x="3530160" y="5319720"/>
              <a:ext cx="6947280" cy="1127160"/>
            </a:xfrm>
            <a:prstGeom prst="roundRect">
              <a:avLst>
                <a:gd name="adj" fmla="val 10000"/>
              </a:avLst>
            </a:prstGeom>
            <a:solidFill>
              <a:schemeClr val="accent5">
                <a:hueOff val="9211875"/>
                <a:satOff val="0"/>
                <a:lumOff val="-5098"/>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4560" tIns="124560" rIns="90000" bIns="124560" anchor="ctr">
              <a:noAutofit/>
            </a:bodyPr>
            <a:lstStyle/>
            <a:p>
              <a:pPr>
                <a:lnSpc>
                  <a:spcPct val="90000"/>
                </a:lnSpc>
              </a:pPr>
              <a:r>
                <a:rPr lang="en-US" sz="2400" b="1" strike="noStrike" spc="-1">
                  <a:solidFill>
                    <a:srgbClr val="FFFFFF"/>
                  </a:solidFill>
                  <a:latin typeface="Segoe UI"/>
                  <a:ea typeface="DejaVu Sans"/>
                </a:rPr>
                <a:t>Build modules/Generate FD</a:t>
              </a:r>
              <a:endParaRPr lang="en-US" sz="2400" b="0" strike="noStrike" spc="-1">
                <a:latin typeface="Arial"/>
              </a:endParaRPr>
            </a:p>
          </p:txBody>
        </p:sp>
        <p:sp>
          <p:nvSpPr>
            <p:cNvPr id="10" name="CustomShape 7">
              <a:extLst>
                <a:ext uri="{FF2B5EF4-FFF2-40B4-BE49-F238E27FC236}">
                  <a16:creationId xmlns:a16="http://schemas.microsoft.com/office/drawing/2014/main" id="{84AA4FED-2FAA-4B5B-9481-08EBCB85F62F}"/>
                </a:ext>
              </a:extLst>
            </p:cNvPr>
            <p:cNvSpPr/>
            <p:nvPr/>
          </p:nvSpPr>
          <p:spPr>
            <a:xfrm>
              <a:off x="8008200" y="2180880"/>
              <a:ext cx="731880" cy="731880"/>
            </a:xfrm>
            <a:prstGeom prst="downArrow">
              <a:avLst>
                <a:gd name="adj1" fmla="val 55000"/>
                <a:gd name="adj2" fmla="val 45000"/>
              </a:avLst>
            </a:prstGeom>
            <a:solidFill>
              <a:schemeClr val="accent5">
                <a:tint val="40000"/>
                <a:alpha val="90000"/>
                <a:hueOff val="0"/>
                <a:satOff val="0"/>
                <a:lumOff val="0"/>
                <a:alphaOff val="0"/>
              </a:schemeClr>
            </a:solidFill>
            <a:ln>
              <a:solidFill>
                <a:schemeClr val="accent5">
                  <a:tint val="40000"/>
                  <a:alpha val="90000"/>
                  <a:hueOff val="0"/>
                  <a:satOff val="0"/>
                  <a:lumOff val="0"/>
                  <a:alphaOff val="0"/>
                </a:schemeClr>
              </a:solidFill>
              <a:round/>
            </a:ln>
          </p:spPr>
          <p:style>
            <a:lnRef idx="2">
              <a:scrgbClr r="0" g="0" b="0"/>
            </a:lnRef>
            <a:fillRef idx="0">
              <a:scrgbClr r="0" g="0" b="0"/>
            </a:fillRef>
            <a:effectRef idx="0">
              <a:scrgbClr r="0" g="0" b="0"/>
            </a:effectRef>
            <a:fontRef idx="minor"/>
          </p:style>
        </p:sp>
        <p:sp>
          <p:nvSpPr>
            <p:cNvPr id="11" name="CustomShape 8">
              <a:extLst>
                <a:ext uri="{FF2B5EF4-FFF2-40B4-BE49-F238E27FC236}">
                  <a16:creationId xmlns:a16="http://schemas.microsoft.com/office/drawing/2014/main" id="{6AE06C70-5B37-4ADA-865B-0558AED2218E}"/>
                </a:ext>
              </a:extLst>
            </p:cNvPr>
            <p:cNvSpPr/>
            <p:nvPr/>
          </p:nvSpPr>
          <p:spPr>
            <a:xfrm>
              <a:off x="8590320" y="3515400"/>
              <a:ext cx="731880" cy="731880"/>
            </a:xfrm>
            <a:prstGeom prst="downArrow">
              <a:avLst>
                <a:gd name="adj1" fmla="val 55000"/>
                <a:gd name="adj2" fmla="val 45000"/>
              </a:avLst>
            </a:prstGeom>
            <a:solidFill>
              <a:schemeClr val="accent5">
                <a:tint val="40000"/>
                <a:alpha val="90000"/>
                <a:hueOff val="4163968"/>
                <a:satOff val="-2806"/>
                <a:lumOff val="-460"/>
                <a:alphaOff val="0"/>
              </a:schemeClr>
            </a:solidFill>
            <a:ln>
              <a:solidFill>
                <a:schemeClr val="accent5">
                  <a:tint val="40000"/>
                  <a:alpha val="90000"/>
                  <a:hueOff val="0"/>
                  <a:satOff val="0"/>
                  <a:lumOff val="0"/>
                  <a:alphaOff val="0"/>
                </a:schemeClr>
              </a:solidFill>
              <a:round/>
            </a:ln>
          </p:spPr>
          <p:style>
            <a:lnRef idx="2">
              <a:scrgbClr r="0" g="0" b="0"/>
            </a:lnRef>
            <a:fillRef idx="0">
              <a:scrgbClr r="0" g="0" b="0"/>
            </a:fillRef>
            <a:effectRef idx="0">
              <a:scrgbClr r="0" g="0" b="0"/>
            </a:effectRef>
            <a:fontRef idx="minor"/>
          </p:style>
        </p:sp>
        <p:sp>
          <p:nvSpPr>
            <p:cNvPr id="12" name="CustomShape 9">
              <a:extLst>
                <a:ext uri="{FF2B5EF4-FFF2-40B4-BE49-F238E27FC236}">
                  <a16:creationId xmlns:a16="http://schemas.microsoft.com/office/drawing/2014/main" id="{60078C27-57FF-4348-B703-C689E4F57F33}"/>
                </a:ext>
              </a:extLst>
            </p:cNvPr>
            <p:cNvSpPr/>
            <p:nvPr/>
          </p:nvSpPr>
          <p:spPr>
            <a:xfrm>
              <a:off x="9163800" y="4849920"/>
              <a:ext cx="731880" cy="731880"/>
            </a:xfrm>
            <a:prstGeom prst="downArrow">
              <a:avLst>
                <a:gd name="adj1" fmla="val 55000"/>
                <a:gd name="adj2" fmla="val 45000"/>
              </a:avLst>
            </a:prstGeom>
            <a:solidFill>
              <a:schemeClr val="accent5">
                <a:tint val="40000"/>
                <a:alpha val="90000"/>
                <a:hueOff val="8327936"/>
                <a:satOff val="-5613"/>
                <a:lumOff val="-921"/>
                <a:alphaOff val="0"/>
              </a:schemeClr>
            </a:solidFill>
            <a:ln>
              <a:solidFill>
                <a:schemeClr val="accent5">
                  <a:tint val="40000"/>
                  <a:alpha val="90000"/>
                  <a:hueOff val="0"/>
                  <a:satOff val="0"/>
                  <a:lumOff val="0"/>
                  <a:alphaOff val="0"/>
                </a:schemeClr>
              </a:solidFill>
              <a:round/>
            </a:ln>
          </p:spPr>
          <p:style>
            <a:lnRef idx="2">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104483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PreBuild</a:t>
            </a:r>
            <a:r>
              <a:rPr lang="en-US" dirty="0"/>
              <a:t> &amp; </a:t>
            </a:r>
            <a:r>
              <a:rPr lang="en-US" dirty="0" err="1"/>
              <a:t>PostBuild</a:t>
            </a:r>
            <a:endParaRPr lang="en-US" sz="2000" dirty="0"/>
          </a:p>
        </p:txBody>
      </p:sp>
      <p:grpSp>
        <p:nvGrpSpPr>
          <p:cNvPr id="13" name="群組 12">
            <a:extLst>
              <a:ext uri="{FF2B5EF4-FFF2-40B4-BE49-F238E27FC236}">
                <a16:creationId xmlns:a16="http://schemas.microsoft.com/office/drawing/2014/main" id="{651EBEF3-9685-40A7-9186-CDADECDB78B6}"/>
              </a:ext>
            </a:extLst>
          </p:cNvPr>
          <p:cNvGrpSpPr/>
          <p:nvPr/>
        </p:nvGrpSpPr>
        <p:grpSpPr>
          <a:xfrm>
            <a:off x="1725480" y="1232640"/>
            <a:ext cx="8787960" cy="5130720"/>
            <a:chOff x="1725480" y="1232640"/>
            <a:chExt cx="8787960" cy="5130720"/>
          </a:xfrm>
        </p:grpSpPr>
        <p:sp>
          <p:nvSpPr>
            <p:cNvPr id="14" name="CustomShape 3">
              <a:extLst>
                <a:ext uri="{FF2B5EF4-FFF2-40B4-BE49-F238E27FC236}">
                  <a16:creationId xmlns:a16="http://schemas.microsoft.com/office/drawing/2014/main" id="{0AF66C50-9BD4-41B4-AE48-992101768C4E}"/>
                </a:ext>
              </a:extLst>
            </p:cNvPr>
            <p:cNvSpPr/>
            <p:nvPr/>
          </p:nvSpPr>
          <p:spPr>
            <a:xfrm>
              <a:off x="1725480" y="1387080"/>
              <a:ext cx="8754480" cy="4922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28600" indent="-226440">
                <a:lnSpc>
                  <a:spcPct val="100000"/>
                </a:lnSpc>
                <a:buClr>
                  <a:srgbClr val="3F3F3F"/>
                </a:buClr>
                <a:buFont typeface="Arial"/>
                <a:buChar char="•"/>
              </a:pPr>
              <a:r>
                <a:rPr lang="en-US" sz="2800" b="0" strike="noStrike" spc="-1">
                  <a:solidFill>
                    <a:srgbClr val="3F3F3F"/>
                  </a:solidFill>
                  <a:latin typeface="Segoe UI"/>
                  <a:ea typeface="DejaVu Sans"/>
                </a:rPr>
                <a:t>ProjectPostBuild.bat</a:t>
              </a:r>
              <a:endParaRPr lang="en-US" sz="2800" b="0" strike="noStrike" spc="-1">
                <a:latin typeface="Arial"/>
              </a:endParaRPr>
            </a:p>
          </p:txBody>
        </p:sp>
        <p:sp>
          <p:nvSpPr>
            <p:cNvPr id="15" name="CustomShape 4">
              <a:extLst>
                <a:ext uri="{FF2B5EF4-FFF2-40B4-BE49-F238E27FC236}">
                  <a16:creationId xmlns:a16="http://schemas.microsoft.com/office/drawing/2014/main" id="{6C8351F5-7D68-4411-BF8D-8AD755CB283E}"/>
                </a:ext>
              </a:extLst>
            </p:cNvPr>
            <p:cNvSpPr/>
            <p:nvPr/>
          </p:nvSpPr>
          <p:spPr>
            <a:xfrm>
              <a:off x="1828800" y="1232640"/>
              <a:ext cx="6947280" cy="1127160"/>
            </a:xfrm>
            <a:prstGeom prst="roundRect">
              <a:avLst>
                <a:gd name="adj" fmla="val 10000"/>
              </a:avLst>
            </a:prstGeom>
            <a:solidFill>
              <a:schemeClr val="accent5">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4560" tIns="124560" rIns="90000" bIns="124560" anchor="ctr">
              <a:noAutofit/>
            </a:bodyPr>
            <a:lstStyle/>
            <a:p>
              <a:pPr>
                <a:lnSpc>
                  <a:spcPct val="90000"/>
                </a:lnSpc>
              </a:pPr>
              <a:r>
                <a:rPr lang="en-US" sz="2400" b="1" strike="noStrike" spc="-1">
                  <a:solidFill>
                    <a:srgbClr val="FFFFFF"/>
                  </a:solidFill>
                  <a:latin typeface="Segoe UI"/>
                  <a:ea typeface="DejaVu Sans"/>
                </a:rPr>
                <a:t>Build modules/Generate FD</a:t>
              </a:r>
              <a:endParaRPr lang="en-US" sz="2400" b="0" strike="noStrike" spc="-1">
                <a:latin typeface="Arial"/>
              </a:endParaRPr>
            </a:p>
          </p:txBody>
        </p:sp>
        <p:sp>
          <p:nvSpPr>
            <p:cNvPr id="16" name="CustomShape 5">
              <a:extLst>
                <a:ext uri="{FF2B5EF4-FFF2-40B4-BE49-F238E27FC236}">
                  <a16:creationId xmlns:a16="http://schemas.microsoft.com/office/drawing/2014/main" id="{DF665CE9-4559-4C05-B64F-B1F070EE567F}"/>
                </a:ext>
              </a:extLst>
            </p:cNvPr>
            <p:cNvSpPr/>
            <p:nvPr/>
          </p:nvSpPr>
          <p:spPr>
            <a:xfrm>
              <a:off x="2410560" y="2567160"/>
              <a:ext cx="6947280" cy="1127160"/>
            </a:xfrm>
            <a:prstGeom prst="roundRect">
              <a:avLst>
                <a:gd name="adj" fmla="val 10000"/>
              </a:avLst>
            </a:prstGeom>
            <a:solidFill>
              <a:schemeClr val="accent5">
                <a:hueOff val="3070625"/>
                <a:satOff val="0"/>
                <a:lumOff val="-1699"/>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09440" tIns="109440" rIns="76320" bIns="109440" anchor="ctr">
              <a:noAutofit/>
            </a:bodyPr>
            <a:lstStyle/>
            <a:p>
              <a:pPr>
                <a:lnSpc>
                  <a:spcPct val="90000"/>
                </a:lnSpc>
              </a:pPr>
              <a:r>
                <a:rPr lang="en-US" sz="2400" b="1" strike="noStrike" spc="-1">
                  <a:solidFill>
                    <a:srgbClr val="FFFFFF"/>
                  </a:solidFill>
                  <a:latin typeface="Segoe UI"/>
                  <a:ea typeface="DejaVu Sans"/>
                </a:rPr>
                <a:t>ProjectPostBuild.bat</a:t>
              </a:r>
              <a:endParaRPr lang="en-US" sz="2400" b="0" strike="noStrike" spc="-1">
                <a:latin typeface="Arial"/>
              </a:endParaRPr>
            </a:p>
            <a:p>
              <a:pPr marL="228600" lvl="1" indent="-226440">
                <a:lnSpc>
                  <a:spcPct val="90000"/>
                </a:lnSpc>
                <a:buClr>
                  <a:srgbClr val="FFFFFF"/>
                </a:buClr>
                <a:buFont typeface="Symbol"/>
                <a:buChar char=""/>
              </a:pPr>
              <a:r>
                <a:rPr lang="en-US" sz="2000" b="0" strike="noStrike" spc="-1">
                  <a:solidFill>
                    <a:srgbClr val="FFFFFF"/>
                  </a:solidFill>
                  <a:latin typeface="Segoe UI"/>
                  <a:ea typeface="DejaVu Sans"/>
                </a:rPr>
                <a:t>Commands before calling ChipsetPostBuild.bat</a:t>
              </a:r>
              <a:endParaRPr lang="en-US" sz="2000" b="0" strike="noStrike" spc="-1">
                <a:latin typeface="Arial"/>
              </a:endParaRPr>
            </a:p>
          </p:txBody>
        </p:sp>
        <p:sp>
          <p:nvSpPr>
            <p:cNvPr id="17" name="CustomShape 6">
              <a:extLst>
                <a:ext uri="{FF2B5EF4-FFF2-40B4-BE49-F238E27FC236}">
                  <a16:creationId xmlns:a16="http://schemas.microsoft.com/office/drawing/2014/main" id="{7D5C4522-E0AD-4067-992D-60C10D2162C5}"/>
                </a:ext>
              </a:extLst>
            </p:cNvPr>
            <p:cNvSpPr/>
            <p:nvPr/>
          </p:nvSpPr>
          <p:spPr>
            <a:xfrm>
              <a:off x="2984040" y="3901680"/>
              <a:ext cx="6947280" cy="1127160"/>
            </a:xfrm>
            <a:prstGeom prst="roundRect">
              <a:avLst>
                <a:gd name="adj" fmla="val 10000"/>
              </a:avLst>
            </a:prstGeom>
            <a:solidFill>
              <a:schemeClr val="accent5">
                <a:hueOff val="6141250"/>
                <a:satOff val="0"/>
                <a:lumOff val="-3399"/>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09440" tIns="109440" rIns="76320" bIns="109440" anchor="ctr">
              <a:noAutofit/>
            </a:bodyPr>
            <a:lstStyle/>
            <a:p>
              <a:pPr>
                <a:lnSpc>
                  <a:spcPct val="90000"/>
                </a:lnSpc>
              </a:pPr>
              <a:r>
                <a:rPr lang="en-US" sz="2400" b="1" strike="noStrike" spc="-1">
                  <a:solidFill>
                    <a:srgbClr val="FFFFFF"/>
                  </a:solidFill>
                  <a:latin typeface="Segoe UI"/>
                  <a:ea typeface="DejaVu Sans"/>
                </a:rPr>
                <a:t>ChipsetPostBuild.bat</a:t>
              </a:r>
              <a:endParaRPr lang="en-US" sz="2400" b="0" strike="noStrike" spc="-1">
                <a:latin typeface="Arial"/>
              </a:endParaRPr>
            </a:p>
            <a:p>
              <a:pPr marL="228600" lvl="1" indent="-226440">
                <a:lnSpc>
                  <a:spcPct val="90000"/>
                </a:lnSpc>
                <a:buClr>
                  <a:srgbClr val="FFFFFF"/>
                </a:buClr>
                <a:buFont typeface="Symbol"/>
                <a:buChar char=""/>
              </a:pPr>
              <a:r>
                <a:rPr lang="en-US" sz="2000" b="0" strike="noStrike" spc="-1">
                  <a:solidFill>
                    <a:srgbClr val="FFFFFF"/>
                  </a:solidFill>
                  <a:latin typeface="Segoe UI"/>
                  <a:ea typeface="DejaVu Sans"/>
                </a:rPr>
                <a:t>Called by ProjectPostBuild.bat</a:t>
              </a:r>
              <a:endParaRPr lang="en-US" sz="2000" b="0" strike="noStrike" spc="-1">
                <a:latin typeface="Arial"/>
              </a:endParaRPr>
            </a:p>
          </p:txBody>
        </p:sp>
        <p:sp>
          <p:nvSpPr>
            <p:cNvPr id="18" name="CustomShape 7">
              <a:extLst>
                <a:ext uri="{FF2B5EF4-FFF2-40B4-BE49-F238E27FC236}">
                  <a16:creationId xmlns:a16="http://schemas.microsoft.com/office/drawing/2014/main" id="{7D5B47C7-25FA-49C7-B3EE-B29A9FB4A070}"/>
                </a:ext>
              </a:extLst>
            </p:cNvPr>
            <p:cNvSpPr/>
            <p:nvPr/>
          </p:nvSpPr>
          <p:spPr>
            <a:xfrm>
              <a:off x="3566160" y="5236200"/>
              <a:ext cx="6947280" cy="1127160"/>
            </a:xfrm>
            <a:prstGeom prst="roundRect">
              <a:avLst>
                <a:gd name="adj" fmla="val 10000"/>
              </a:avLst>
            </a:prstGeom>
            <a:solidFill>
              <a:schemeClr val="accent5">
                <a:hueOff val="9211875"/>
                <a:satOff val="0"/>
                <a:lumOff val="-5098"/>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09440" tIns="109440" rIns="76320" bIns="109440" anchor="ctr">
              <a:noAutofit/>
            </a:bodyPr>
            <a:lstStyle/>
            <a:p>
              <a:pPr>
                <a:lnSpc>
                  <a:spcPct val="90000"/>
                </a:lnSpc>
              </a:pPr>
              <a:r>
                <a:rPr lang="en-US" sz="2400" b="1" strike="noStrike" spc="-1">
                  <a:solidFill>
                    <a:srgbClr val="FFFFFF"/>
                  </a:solidFill>
                  <a:latin typeface="Segoe UI"/>
                  <a:ea typeface="DejaVu Sans"/>
                </a:rPr>
                <a:t>ProjectPostBuild.bat</a:t>
              </a:r>
              <a:endParaRPr lang="en-US" sz="2400" b="0" strike="noStrike" spc="-1">
                <a:latin typeface="Arial"/>
              </a:endParaRPr>
            </a:p>
            <a:p>
              <a:pPr marL="228600" lvl="1" indent="-226440">
                <a:lnSpc>
                  <a:spcPct val="90000"/>
                </a:lnSpc>
                <a:buClr>
                  <a:srgbClr val="FFFFFF"/>
                </a:buClr>
                <a:buFont typeface="Symbol"/>
                <a:buChar char=""/>
              </a:pPr>
              <a:r>
                <a:rPr lang="en-US" sz="2000" b="0" strike="noStrike" spc="-1">
                  <a:solidFill>
                    <a:srgbClr val="FFFFFF"/>
                  </a:solidFill>
                  <a:latin typeface="Segoe UI"/>
                  <a:ea typeface="DejaVu Sans"/>
                </a:rPr>
                <a:t>Commands after finishing ChipsetPostBuild.bat</a:t>
              </a:r>
              <a:endParaRPr lang="en-US" sz="2000" b="0" strike="noStrike" spc="-1">
                <a:latin typeface="Arial"/>
              </a:endParaRPr>
            </a:p>
          </p:txBody>
        </p:sp>
        <p:sp>
          <p:nvSpPr>
            <p:cNvPr id="19" name="CustomShape 8">
              <a:extLst>
                <a:ext uri="{FF2B5EF4-FFF2-40B4-BE49-F238E27FC236}">
                  <a16:creationId xmlns:a16="http://schemas.microsoft.com/office/drawing/2014/main" id="{0508388B-9ACC-46AB-AD8F-4B534720F1DC}"/>
                </a:ext>
              </a:extLst>
            </p:cNvPr>
            <p:cNvSpPr/>
            <p:nvPr/>
          </p:nvSpPr>
          <p:spPr>
            <a:xfrm>
              <a:off x="8044200" y="2097360"/>
              <a:ext cx="731880" cy="731880"/>
            </a:xfrm>
            <a:prstGeom prst="downArrow">
              <a:avLst>
                <a:gd name="adj1" fmla="val 55000"/>
                <a:gd name="adj2" fmla="val 45000"/>
              </a:avLst>
            </a:prstGeom>
            <a:solidFill>
              <a:schemeClr val="accent5">
                <a:tint val="40000"/>
                <a:alpha val="90000"/>
                <a:hueOff val="0"/>
                <a:satOff val="0"/>
                <a:lumOff val="0"/>
                <a:alphaOff val="0"/>
              </a:schemeClr>
            </a:solidFill>
            <a:ln>
              <a:solidFill>
                <a:schemeClr val="accent5">
                  <a:tint val="40000"/>
                  <a:alpha val="90000"/>
                  <a:hueOff val="0"/>
                  <a:satOff val="0"/>
                  <a:lumOff val="0"/>
                  <a:alphaOff val="0"/>
                </a:schemeClr>
              </a:solidFill>
              <a:round/>
            </a:ln>
          </p:spPr>
          <p:style>
            <a:lnRef idx="2">
              <a:scrgbClr r="0" g="0" b="0"/>
            </a:lnRef>
            <a:fillRef idx="0">
              <a:scrgbClr r="0" g="0" b="0"/>
            </a:fillRef>
            <a:effectRef idx="0">
              <a:scrgbClr r="0" g="0" b="0"/>
            </a:effectRef>
            <a:fontRef idx="minor"/>
          </p:style>
        </p:sp>
        <p:sp>
          <p:nvSpPr>
            <p:cNvPr id="20" name="CustomShape 9">
              <a:extLst>
                <a:ext uri="{FF2B5EF4-FFF2-40B4-BE49-F238E27FC236}">
                  <a16:creationId xmlns:a16="http://schemas.microsoft.com/office/drawing/2014/main" id="{80B819BE-BE79-4561-8211-ACD3B5061A6C}"/>
                </a:ext>
              </a:extLst>
            </p:cNvPr>
            <p:cNvSpPr/>
            <p:nvPr/>
          </p:nvSpPr>
          <p:spPr>
            <a:xfrm>
              <a:off x="8626320" y="3431880"/>
              <a:ext cx="731880" cy="731880"/>
            </a:xfrm>
            <a:prstGeom prst="downArrow">
              <a:avLst>
                <a:gd name="adj1" fmla="val 55000"/>
                <a:gd name="adj2" fmla="val 45000"/>
              </a:avLst>
            </a:prstGeom>
            <a:solidFill>
              <a:schemeClr val="accent5">
                <a:tint val="40000"/>
                <a:alpha val="90000"/>
                <a:hueOff val="4163968"/>
                <a:satOff val="-2806"/>
                <a:lumOff val="-460"/>
                <a:alphaOff val="0"/>
              </a:schemeClr>
            </a:solidFill>
            <a:ln>
              <a:solidFill>
                <a:schemeClr val="accent5">
                  <a:tint val="40000"/>
                  <a:alpha val="90000"/>
                  <a:hueOff val="0"/>
                  <a:satOff val="0"/>
                  <a:lumOff val="0"/>
                  <a:alphaOff val="0"/>
                </a:schemeClr>
              </a:solidFill>
              <a:round/>
            </a:ln>
          </p:spPr>
          <p:style>
            <a:lnRef idx="2">
              <a:scrgbClr r="0" g="0" b="0"/>
            </a:lnRef>
            <a:fillRef idx="0">
              <a:scrgbClr r="0" g="0" b="0"/>
            </a:fillRef>
            <a:effectRef idx="0">
              <a:scrgbClr r="0" g="0" b="0"/>
            </a:effectRef>
            <a:fontRef idx="minor"/>
          </p:style>
        </p:sp>
        <p:sp>
          <p:nvSpPr>
            <p:cNvPr id="21" name="CustomShape 10">
              <a:extLst>
                <a:ext uri="{FF2B5EF4-FFF2-40B4-BE49-F238E27FC236}">
                  <a16:creationId xmlns:a16="http://schemas.microsoft.com/office/drawing/2014/main" id="{F8FEAB14-5E86-4DA9-B825-BB4E193F0B3C}"/>
                </a:ext>
              </a:extLst>
            </p:cNvPr>
            <p:cNvSpPr/>
            <p:nvPr/>
          </p:nvSpPr>
          <p:spPr>
            <a:xfrm>
              <a:off x="9199440" y="4766400"/>
              <a:ext cx="731880" cy="731880"/>
            </a:xfrm>
            <a:prstGeom prst="downArrow">
              <a:avLst>
                <a:gd name="adj1" fmla="val 55000"/>
                <a:gd name="adj2" fmla="val 45000"/>
              </a:avLst>
            </a:prstGeom>
            <a:solidFill>
              <a:schemeClr val="accent5">
                <a:tint val="40000"/>
                <a:alpha val="90000"/>
                <a:hueOff val="8327936"/>
                <a:satOff val="-5613"/>
                <a:lumOff val="-921"/>
                <a:alphaOff val="0"/>
              </a:schemeClr>
            </a:solidFill>
            <a:ln>
              <a:solidFill>
                <a:schemeClr val="accent5">
                  <a:tint val="40000"/>
                  <a:alpha val="90000"/>
                  <a:hueOff val="0"/>
                  <a:satOff val="0"/>
                  <a:lumOff val="0"/>
                  <a:alphaOff val="0"/>
                </a:schemeClr>
              </a:solidFill>
              <a:round/>
            </a:ln>
          </p:spPr>
          <p:style>
            <a:lnRef idx="2">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4046676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18</a:t>
            </a:fld>
            <a:endParaRPr lang="en-US" dirty="0"/>
          </a:p>
        </p:txBody>
      </p:sp>
      <p:sp>
        <p:nvSpPr>
          <p:cNvPr id="2" name="Title 1"/>
          <p:cNvSpPr>
            <a:spLocks noGrp="1"/>
          </p:cNvSpPr>
          <p:nvPr>
            <p:ph type="title"/>
          </p:nvPr>
        </p:nvSpPr>
        <p:spPr/>
        <p:txBody>
          <a:bodyPr/>
          <a:lstStyle/>
          <a:p>
            <a:r>
              <a:rPr lang="en-US" altLang="zh-TW" dirty="0"/>
              <a:t>Build Process</a:t>
            </a:r>
            <a:endParaRPr lang="en-US" dirty="0"/>
          </a:p>
        </p:txBody>
      </p:sp>
    </p:spTree>
    <p:extLst>
      <p:ext uri="{BB962C8B-B14F-4D97-AF65-F5344CB8AC3E}">
        <p14:creationId xmlns:p14="http://schemas.microsoft.com/office/powerpoint/2010/main" val="2114555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Build Process</a:t>
            </a:r>
            <a:endParaRPr lang="en-US" sz="2000" dirty="0"/>
          </a:p>
        </p:txBody>
      </p:sp>
      <p:grpSp>
        <p:nvGrpSpPr>
          <p:cNvPr id="6" name="Group 3">
            <a:extLst>
              <a:ext uri="{FF2B5EF4-FFF2-40B4-BE49-F238E27FC236}">
                <a16:creationId xmlns:a16="http://schemas.microsoft.com/office/drawing/2014/main" id="{4B1BAF78-4FE5-4154-AD6C-EED23C612637}"/>
              </a:ext>
            </a:extLst>
          </p:cNvPr>
          <p:cNvGrpSpPr/>
          <p:nvPr/>
        </p:nvGrpSpPr>
        <p:grpSpPr>
          <a:xfrm>
            <a:off x="1829520" y="949320"/>
            <a:ext cx="8532360" cy="5468400"/>
            <a:chOff x="1829520" y="949320"/>
            <a:chExt cx="8532360" cy="5468400"/>
          </a:xfrm>
        </p:grpSpPr>
        <p:sp>
          <p:nvSpPr>
            <p:cNvPr id="7" name="CustomShape 4">
              <a:extLst>
                <a:ext uri="{FF2B5EF4-FFF2-40B4-BE49-F238E27FC236}">
                  <a16:creationId xmlns:a16="http://schemas.microsoft.com/office/drawing/2014/main" id="{5E1DC91C-FF3C-47FA-9737-81E359F9BA12}"/>
                </a:ext>
              </a:extLst>
            </p:cNvPr>
            <p:cNvSpPr/>
            <p:nvPr/>
          </p:nvSpPr>
          <p:spPr>
            <a:xfrm>
              <a:off x="2210400" y="1482840"/>
              <a:ext cx="1369440" cy="362880"/>
            </a:xfrm>
            <a:prstGeom prst="rect">
              <a:avLst/>
            </a:prstGeom>
            <a:solidFill>
              <a:srgbClr val="CCFF33"/>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INF files</a:t>
              </a:r>
              <a:endParaRPr lang="en-US" sz="1800" b="0" strike="noStrike" spc="-1">
                <a:latin typeface="Arial"/>
              </a:endParaRPr>
            </a:p>
          </p:txBody>
        </p:sp>
        <p:sp>
          <p:nvSpPr>
            <p:cNvPr id="8" name="CustomShape 5">
              <a:extLst>
                <a:ext uri="{FF2B5EF4-FFF2-40B4-BE49-F238E27FC236}">
                  <a16:creationId xmlns:a16="http://schemas.microsoft.com/office/drawing/2014/main" id="{D26C852E-1001-443A-975F-F13061020DB3}"/>
                </a:ext>
              </a:extLst>
            </p:cNvPr>
            <p:cNvSpPr/>
            <p:nvPr/>
          </p:nvSpPr>
          <p:spPr>
            <a:xfrm>
              <a:off x="2210400" y="2174760"/>
              <a:ext cx="1369440" cy="362880"/>
            </a:xfrm>
            <a:prstGeom prst="rect">
              <a:avLst/>
            </a:prstGeom>
            <a:solidFill>
              <a:srgbClr val="CCFF33"/>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DEC files</a:t>
              </a:r>
              <a:endParaRPr lang="en-US" sz="1800" b="0" strike="noStrike" spc="-1">
                <a:latin typeface="Arial"/>
              </a:endParaRPr>
            </a:p>
          </p:txBody>
        </p:sp>
        <p:sp>
          <p:nvSpPr>
            <p:cNvPr id="9" name="CustomShape 6">
              <a:extLst>
                <a:ext uri="{FF2B5EF4-FFF2-40B4-BE49-F238E27FC236}">
                  <a16:creationId xmlns:a16="http://schemas.microsoft.com/office/drawing/2014/main" id="{1000C3A6-7BA4-48A7-A1FA-439CC6070AEE}"/>
                </a:ext>
              </a:extLst>
            </p:cNvPr>
            <p:cNvSpPr/>
            <p:nvPr/>
          </p:nvSpPr>
          <p:spPr>
            <a:xfrm>
              <a:off x="2210400" y="2778120"/>
              <a:ext cx="1369440" cy="362880"/>
            </a:xfrm>
            <a:prstGeom prst="rect">
              <a:avLst/>
            </a:prstGeom>
            <a:solidFill>
              <a:srgbClr val="CCFF33"/>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DSC files</a:t>
              </a:r>
              <a:endParaRPr lang="en-US" sz="1800" b="0" strike="noStrike" spc="-1">
                <a:latin typeface="Arial"/>
              </a:endParaRPr>
            </a:p>
          </p:txBody>
        </p:sp>
        <p:sp>
          <p:nvSpPr>
            <p:cNvPr id="10" name="CustomShape 7">
              <a:extLst>
                <a:ext uri="{FF2B5EF4-FFF2-40B4-BE49-F238E27FC236}">
                  <a16:creationId xmlns:a16="http://schemas.microsoft.com/office/drawing/2014/main" id="{BEA05056-6C0A-48D7-B818-9FA479F425DE}"/>
                </a:ext>
              </a:extLst>
            </p:cNvPr>
            <p:cNvSpPr/>
            <p:nvPr/>
          </p:nvSpPr>
          <p:spPr>
            <a:xfrm>
              <a:off x="2210400" y="3463920"/>
              <a:ext cx="1369440" cy="362880"/>
            </a:xfrm>
            <a:prstGeom prst="rect">
              <a:avLst/>
            </a:prstGeom>
            <a:solidFill>
              <a:srgbClr val="CCFF33"/>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dirty="0">
                  <a:solidFill>
                    <a:srgbClr val="3F3F3F"/>
                  </a:solidFill>
                  <a:latin typeface="Consolas"/>
                  <a:ea typeface="DejaVu Sans"/>
                </a:rPr>
                <a:t>FDF files</a:t>
              </a:r>
              <a:endParaRPr lang="en-US" sz="1800" b="0" strike="noStrike" spc="-1" dirty="0">
                <a:latin typeface="Arial"/>
              </a:endParaRPr>
            </a:p>
          </p:txBody>
        </p:sp>
        <p:sp>
          <p:nvSpPr>
            <p:cNvPr id="11" name="CustomShape 8">
              <a:extLst>
                <a:ext uri="{FF2B5EF4-FFF2-40B4-BE49-F238E27FC236}">
                  <a16:creationId xmlns:a16="http://schemas.microsoft.com/office/drawing/2014/main" id="{ED349DD6-161A-4523-85ED-25CE3EABE0A9}"/>
                </a:ext>
              </a:extLst>
            </p:cNvPr>
            <p:cNvSpPr/>
            <p:nvPr/>
          </p:nvSpPr>
          <p:spPr>
            <a:xfrm>
              <a:off x="1829520" y="4073400"/>
              <a:ext cx="1978920" cy="911520"/>
            </a:xfrm>
            <a:prstGeom prst="rect">
              <a:avLst/>
            </a:prstGeom>
            <a:solidFill>
              <a:srgbClr val="CCFF33"/>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Tools_def.txt</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Target.txt</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Build_rule.txt</a:t>
              </a:r>
              <a:endParaRPr lang="en-US" sz="1800" b="0" strike="noStrike" spc="-1">
                <a:latin typeface="Arial"/>
              </a:endParaRPr>
            </a:p>
          </p:txBody>
        </p:sp>
        <p:sp>
          <p:nvSpPr>
            <p:cNvPr id="12" name="CustomShape 9">
              <a:extLst>
                <a:ext uri="{FF2B5EF4-FFF2-40B4-BE49-F238E27FC236}">
                  <a16:creationId xmlns:a16="http://schemas.microsoft.com/office/drawing/2014/main" id="{C705E58B-5C45-4538-A47F-AF7E0211C303}"/>
                </a:ext>
              </a:extLst>
            </p:cNvPr>
            <p:cNvSpPr/>
            <p:nvPr/>
          </p:nvSpPr>
          <p:spPr>
            <a:xfrm>
              <a:off x="4442040" y="2384640"/>
              <a:ext cx="1382760" cy="901440"/>
            </a:xfrm>
            <a:prstGeom prst="ellipse">
              <a:avLst/>
            </a:prstGeom>
            <a:solidFill>
              <a:srgbClr val="66FFCC"/>
            </a:solidFill>
            <a:ln w="9360">
              <a:solidFill>
                <a:schemeClr val="tx1"/>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3F3F3F"/>
                  </a:solidFill>
                  <a:latin typeface="Segoe UI"/>
                  <a:ea typeface="DejaVu Sans"/>
                </a:rPr>
                <a:t>Parsing</a:t>
              </a:r>
              <a:endParaRPr lang="en-US" sz="1800" b="0" strike="noStrike" spc="-1">
                <a:latin typeface="Arial"/>
              </a:endParaRPr>
            </a:p>
            <a:p>
              <a:pPr algn="ctr">
                <a:lnSpc>
                  <a:spcPct val="100000"/>
                </a:lnSpc>
              </a:pPr>
              <a:r>
                <a:rPr lang="en-US" sz="1800" b="0" strike="noStrike" spc="-1">
                  <a:solidFill>
                    <a:srgbClr val="3F3F3F"/>
                  </a:solidFill>
                  <a:latin typeface="Segoe UI"/>
                  <a:ea typeface="DejaVu Sans"/>
                </a:rPr>
                <a:t>Tool</a:t>
              </a:r>
              <a:endParaRPr lang="en-US" sz="1800" b="0" strike="noStrike" spc="-1">
                <a:latin typeface="Arial"/>
              </a:endParaRPr>
            </a:p>
          </p:txBody>
        </p:sp>
        <p:sp>
          <p:nvSpPr>
            <p:cNvPr id="13" name="Line 10">
              <a:extLst>
                <a:ext uri="{FF2B5EF4-FFF2-40B4-BE49-F238E27FC236}">
                  <a16:creationId xmlns:a16="http://schemas.microsoft.com/office/drawing/2014/main" id="{83C15D1C-0964-49F8-89B2-5CCE15841923}"/>
                </a:ext>
              </a:extLst>
            </p:cNvPr>
            <p:cNvSpPr/>
            <p:nvPr/>
          </p:nvSpPr>
          <p:spPr>
            <a:xfrm flipV="1">
              <a:off x="3727440" y="3159000"/>
              <a:ext cx="951840" cy="129528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14" name="Line 11">
              <a:extLst>
                <a:ext uri="{FF2B5EF4-FFF2-40B4-BE49-F238E27FC236}">
                  <a16:creationId xmlns:a16="http://schemas.microsoft.com/office/drawing/2014/main" id="{E0A557C8-1D9E-490D-9724-7E4B8AC1D2A6}"/>
                </a:ext>
              </a:extLst>
            </p:cNvPr>
            <p:cNvSpPr/>
            <p:nvPr/>
          </p:nvSpPr>
          <p:spPr>
            <a:xfrm>
              <a:off x="3489480" y="1635120"/>
              <a:ext cx="1110600" cy="91440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15" name="Line 12">
              <a:extLst>
                <a:ext uri="{FF2B5EF4-FFF2-40B4-BE49-F238E27FC236}">
                  <a16:creationId xmlns:a16="http://schemas.microsoft.com/office/drawing/2014/main" id="{2EF23F0F-4587-49C4-8914-D83B344FA7E5}"/>
                </a:ext>
              </a:extLst>
            </p:cNvPr>
            <p:cNvSpPr/>
            <p:nvPr/>
          </p:nvSpPr>
          <p:spPr>
            <a:xfrm>
              <a:off x="3489480" y="2320920"/>
              <a:ext cx="951840" cy="45720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16" name="Line 13">
              <a:extLst>
                <a:ext uri="{FF2B5EF4-FFF2-40B4-BE49-F238E27FC236}">
                  <a16:creationId xmlns:a16="http://schemas.microsoft.com/office/drawing/2014/main" id="{3BB24908-4E95-4E78-A261-F519C5E4F5F2}"/>
                </a:ext>
              </a:extLst>
            </p:cNvPr>
            <p:cNvSpPr/>
            <p:nvPr/>
          </p:nvSpPr>
          <p:spPr>
            <a:xfrm>
              <a:off x="3489480" y="2930400"/>
              <a:ext cx="951840" cy="36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17" name="Line 14">
              <a:extLst>
                <a:ext uri="{FF2B5EF4-FFF2-40B4-BE49-F238E27FC236}">
                  <a16:creationId xmlns:a16="http://schemas.microsoft.com/office/drawing/2014/main" id="{9D57E093-4A2C-4DB7-833D-439CF0A62A17}"/>
                </a:ext>
              </a:extLst>
            </p:cNvPr>
            <p:cNvSpPr/>
            <p:nvPr/>
          </p:nvSpPr>
          <p:spPr>
            <a:xfrm flipV="1">
              <a:off x="3489480" y="3082680"/>
              <a:ext cx="1031400" cy="53352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18" name="CustomShape 15">
              <a:extLst>
                <a:ext uri="{FF2B5EF4-FFF2-40B4-BE49-F238E27FC236}">
                  <a16:creationId xmlns:a16="http://schemas.microsoft.com/office/drawing/2014/main" id="{8B86A6B2-283B-4AF1-BA68-C9E56DFEDBBB}"/>
                </a:ext>
              </a:extLst>
            </p:cNvPr>
            <p:cNvSpPr/>
            <p:nvPr/>
          </p:nvSpPr>
          <p:spPr>
            <a:xfrm>
              <a:off x="6401520" y="1635120"/>
              <a:ext cx="1369440" cy="637200"/>
            </a:xfrm>
            <a:prstGeom prst="rect">
              <a:avLst/>
            </a:prstGeom>
            <a:solidFill>
              <a:srgbClr val="C0C0C0"/>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Platform</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Makefile</a:t>
              </a:r>
              <a:endParaRPr lang="en-US" sz="1800" b="0" strike="noStrike" spc="-1">
                <a:latin typeface="Arial"/>
              </a:endParaRPr>
            </a:p>
          </p:txBody>
        </p:sp>
        <p:sp>
          <p:nvSpPr>
            <p:cNvPr id="19" name="CustomShape 16">
              <a:extLst>
                <a:ext uri="{FF2B5EF4-FFF2-40B4-BE49-F238E27FC236}">
                  <a16:creationId xmlns:a16="http://schemas.microsoft.com/office/drawing/2014/main" id="{CB7BB419-F4C9-4F2D-A860-A99C09153097}"/>
                </a:ext>
              </a:extLst>
            </p:cNvPr>
            <p:cNvSpPr/>
            <p:nvPr/>
          </p:nvSpPr>
          <p:spPr>
            <a:xfrm>
              <a:off x="6401520" y="2473200"/>
              <a:ext cx="1369440" cy="637200"/>
            </a:xfrm>
            <a:prstGeom prst="rect">
              <a:avLst/>
            </a:prstGeom>
            <a:solidFill>
              <a:srgbClr val="C0C0C0"/>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Module</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Makefiles</a:t>
              </a:r>
              <a:endParaRPr lang="en-US" sz="1800" b="0" strike="noStrike" spc="-1">
                <a:latin typeface="Arial"/>
              </a:endParaRPr>
            </a:p>
          </p:txBody>
        </p:sp>
        <p:sp>
          <p:nvSpPr>
            <p:cNvPr id="20" name="CustomShape 17">
              <a:extLst>
                <a:ext uri="{FF2B5EF4-FFF2-40B4-BE49-F238E27FC236}">
                  <a16:creationId xmlns:a16="http://schemas.microsoft.com/office/drawing/2014/main" id="{F6B8BD94-6F1A-4F1C-85AE-C023A58B2063}"/>
                </a:ext>
              </a:extLst>
            </p:cNvPr>
            <p:cNvSpPr/>
            <p:nvPr/>
          </p:nvSpPr>
          <p:spPr>
            <a:xfrm>
              <a:off x="6401520" y="3311640"/>
              <a:ext cx="1369440" cy="637200"/>
            </a:xfrm>
            <a:prstGeom prst="rect">
              <a:avLst/>
            </a:prstGeom>
            <a:solidFill>
              <a:srgbClr val="C0C0C0"/>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Auto-Gen</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Files</a:t>
              </a:r>
              <a:endParaRPr lang="en-US" sz="1800" b="0" strike="noStrike" spc="-1">
                <a:latin typeface="Arial"/>
              </a:endParaRPr>
            </a:p>
          </p:txBody>
        </p:sp>
        <p:sp>
          <p:nvSpPr>
            <p:cNvPr id="21" name="Line 18">
              <a:extLst>
                <a:ext uri="{FF2B5EF4-FFF2-40B4-BE49-F238E27FC236}">
                  <a16:creationId xmlns:a16="http://schemas.microsoft.com/office/drawing/2014/main" id="{935405AD-3294-49E2-98C9-0F3FFB4AB32D}"/>
                </a:ext>
              </a:extLst>
            </p:cNvPr>
            <p:cNvSpPr/>
            <p:nvPr/>
          </p:nvSpPr>
          <p:spPr>
            <a:xfrm flipV="1">
              <a:off x="5639040" y="1939680"/>
              <a:ext cx="761760" cy="60984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22" name="Line 19">
              <a:extLst>
                <a:ext uri="{FF2B5EF4-FFF2-40B4-BE49-F238E27FC236}">
                  <a16:creationId xmlns:a16="http://schemas.microsoft.com/office/drawing/2014/main" id="{6DD77858-BCA7-4600-9BCE-913FF7194A3A}"/>
                </a:ext>
              </a:extLst>
            </p:cNvPr>
            <p:cNvSpPr/>
            <p:nvPr/>
          </p:nvSpPr>
          <p:spPr>
            <a:xfrm>
              <a:off x="5810400" y="2779560"/>
              <a:ext cx="590400" cy="36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23" name="Line 20">
              <a:extLst>
                <a:ext uri="{FF2B5EF4-FFF2-40B4-BE49-F238E27FC236}">
                  <a16:creationId xmlns:a16="http://schemas.microsoft.com/office/drawing/2014/main" id="{729FB406-1FBB-4F91-B023-D07D63E050D9}"/>
                </a:ext>
              </a:extLst>
            </p:cNvPr>
            <p:cNvSpPr/>
            <p:nvPr/>
          </p:nvSpPr>
          <p:spPr>
            <a:xfrm>
              <a:off x="5639040" y="3159000"/>
              <a:ext cx="761760" cy="45720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24" name="CustomShape 21">
              <a:extLst>
                <a:ext uri="{FF2B5EF4-FFF2-40B4-BE49-F238E27FC236}">
                  <a16:creationId xmlns:a16="http://schemas.microsoft.com/office/drawing/2014/main" id="{C3423536-3BE1-4D9C-A660-319AA521F9B5}"/>
                </a:ext>
              </a:extLst>
            </p:cNvPr>
            <p:cNvSpPr/>
            <p:nvPr/>
          </p:nvSpPr>
          <p:spPr>
            <a:xfrm>
              <a:off x="8230320" y="949320"/>
              <a:ext cx="1826640" cy="362880"/>
            </a:xfrm>
            <a:prstGeom prst="rect">
              <a:avLst/>
            </a:prstGeom>
            <a:solidFill>
              <a:srgbClr val="CCFF33"/>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Source Files</a:t>
              </a:r>
              <a:endParaRPr lang="en-US" sz="1800" b="0" strike="noStrike" spc="-1">
                <a:latin typeface="Arial"/>
              </a:endParaRPr>
            </a:p>
          </p:txBody>
        </p:sp>
        <p:sp>
          <p:nvSpPr>
            <p:cNvPr id="25" name="CustomShape 22">
              <a:extLst>
                <a:ext uri="{FF2B5EF4-FFF2-40B4-BE49-F238E27FC236}">
                  <a16:creationId xmlns:a16="http://schemas.microsoft.com/office/drawing/2014/main" id="{E5FFF87D-6981-4A3B-B6E5-783E5DA3DF33}"/>
                </a:ext>
              </a:extLst>
            </p:cNvPr>
            <p:cNvSpPr/>
            <p:nvPr/>
          </p:nvSpPr>
          <p:spPr>
            <a:xfrm>
              <a:off x="8534880" y="2156040"/>
              <a:ext cx="1328040" cy="901440"/>
            </a:xfrm>
            <a:prstGeom prst="ellipse">
              <a:avLst/>
            </a:prstGeom>
            <a:solidFill>
              <a:srgbClr val="66FFCC"/>
            </a:solidFill>
            <a:ln w="9360">
              <a:solidFill>
                <a:schemeClr val="tx1"/>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3F3F3F"/>
                  </a:solidFill>
                  <a:latin typeface="Segoe UI"/>
                  <a:ea typeface="DejaVu Sans"/>
                </a:rPr>
                <a:t>Build</a:t>
              </a:r>
              <a:endParaRPr lang="en-US" sz="1800" b="0" strike="noStrike" spc="-1">
                <a:latin typeface="Arial"/>
              </a:endParaRPr>
            </a:p>
            <a:p>
              <a:pPr algn="ctr">
                <a:lnSpc>
                  <a:spcPct val="100000"/>
                </a:lnSpc>
              </a:pPr>
              <a:r>
                <a:rPr lang="en-US" sz="1800" b="0" strike="noStrike" spc="-1">
                  <a:solidFill>
                    <a:srgbClr val="3F3F3F"/>
                  </a:solidFill>
                  <a:latin typeface="Segoe UI"/>
                  <a:ea typeface="DejaVu Sans"/>
                </a:rPr>
                <a:t>Binary</a:t>
              </a:r>
              <a:endParaRPr lang="en-US" sz="1800" b="0" strike="noStrike" spc="-1">
                <a:latin typeface="Arial"/>
              </a:endParaRPr>
            </a:p>
          </p:txBody>
        </p:sp>
        <p:sp>
          <p:nvSpPr>
            <p:cNvPr id="26" name="Line 23">
              <a:extLst>
                <a:ext uri="{FF2B5EF4-FFF2-40B4-BE49-F238E27FC236}">
                  <a16:creationId xmlns:a16="http://schemas.microsoft.com/office/drawing/2014/main" id="{9EF7EA4F-D23A-4643-A28C-00C93CA1E535}"/>
                </a:ext>
              </a:extLst>
            </p:cNvPr>
            <p:cNvSpPr/>
            <p:nvPr/>
          </p:nvSpPr>
          <p:spPr>
            <a:xfrm>
              <a:off x="7772400" y="1863720"/>
              <a:ext cx="838080" cy="502920"/>
            </a:xfrm>
            <a:prstGeom prst="line">
              <a:avLst/>
            </a:prstGeom>
            <a:ln w="25560">
              <a:solidFill>
                <a:srgbClr val="FF0000"/>
              </a:solidFill>
              <a:round/>
              <a:tailEnd type="triangle" w="med" len="med"/>
            </a:ln>
          </p:spPr>
          <p:style>
            <a:lnRef idx="0">
              <a:scrgbClr r="0" g="0" b="0"/>
            </a:lnRef>
            <a:fillRef idx="0">
              <a:scrgbClr r="0" g="0" b="0"/>
            </a:fillRef>
            <a:effectRef idx="0">
              <a:scrgbClr r="0" g="0" b="0"/>
            </a:effectRef>
            <a:fontRef idx="minor"/>
          </p:style>
        </p:sp>
        <p:sp>
          <p:nvSpPr>
            <p:cNvPr id="27" name="Line 24">
              <a:extLst>
                <a:ext uri="{FF2B5EF4-FFF2-40B4-BE49-F238E27FC236}">
                  <a16:creationId xmlns:a16="http://schemas.microsoft.com/office/drawing/2014/main" id="{12712E15-BCE8-4CBC-8D3D-375295F35252}"/>
                </a:ext>
              </a:extLst>
            </p:cNvPr>
            <p:cNvSpPr/>
            <p:nvPr/>
          </p:nvSpPr>
          <p:spPr>
            <a:xfrm flipV="1">
              <a:off x="7772400" y="2701800"/>
              <a:ext cx="762120" cy="76320"/>
            </a:xfrm>
            <a:prstGeom prst="line">
              <a:avLst/>
            </a:prstGeom>
            <a:ln w="25560">
              <a:solidFill>
                <a:srgbClr val="FF0000"/>
              </a:solidFill>
              <a:round/>
              <a:tailEnd type="triangle" w="med" len="med"/>
            </a:ln>
          </p:spPr>
          <p:style>
            <a:lnRef idx="0">
              <a:scrgbClr r="0" g="0" b="0"/>
            </a:lnRef>
            <a:fillRef idx="0">
              <a:scrgbClr r="0" g="0" b="0"/>
            </a:fillRef>
            <a:effectRef idx="0">
              <a:scrgbClr r="0" g="0" b="0"/>
            </a:effectRef>
            <a:fontRef idx="minor"/>
          </p:style>
        </p:sp>
        <p:sp>
          <p:nvSpPr>
            <p:cNvPr id="28" name="Line 25">
              <a:extLst>
                <a:ext uri="{FF2B5EF4-FFF2-40B4-BE49-F238E27FC236}">
                  <a16:creationId xmlns:a16="http://schemas.microsoft.com/office/drawing/2014/main" id="{E5EA6BD9-5789-4A43-8FF8-C6B471EBCBCA}"/>
                </a:ext>
              </a:extLst>
            </p:cNvPr>
            <p:cNvSpPr/>
            <p:nvPr/>
          </p:nvSpPr>
          <p:spPr>
            <a:xfrm flipV="1">
              <a:off x="7772400" y="2930400"/>
              <a:ext cx="990720" cy="609480"/>
            </a:xfrm>
            <a:prstGeom prst="line">
              <a:avLst/>
            </a:prstGeom>
            <a:ln w="25560">
              <a:solidFill>
                <a:srgbClr val="FF0000"/>
              </a:solidFill>
              <a:round/>
              <a:tailEnd type="triangle" w="med" len="med"/>
            </a:ln>
          </p:spPr>
          <p:style>
            <a:lnRef idx="0">
              <a:scrgbClr r="0" g="0" b="0"/>
            </a:lnRef>
            <a:fillRef idx="0">
              <a:scrgbClr r="0" g="0" b="0"/>
            </a:fillRef>
            <a:effectRef idx="0">
              <a:scrgbClr r="0" g="0" b="0"/>
            </a:effectRef>
            <a:fontRef idx="minor"/>
          </p:style>
        </p:sp>
        <p:sp>
          <p:nvSpPr>
            <p:cNvPr id="29" name="Line 26">
              <a:extLst>
                <a:ext uri="{FF2B5EF4-FFF2-40B4-BE49-F238E27FC236}">
                  <a16:creationId xmlns:a16="http://schemas.microsoft.com/office/drawing/2014/main" id="{2670F191-50E2-48BB-80EE-A076418F218B}"/>
                </a:ext>
              </a:extLst>
            </p:cNvPr>
            <p:cNvSpPr/>
            <p:nvPr/>
          </p:nvSpPr>
          <p:spPr>
            <a:xfrm>
              <a:off x="9144000" y="1330200"/>
              <a:ext cx="76320" cy="838080"/>
            </a:xfrm>
            <a:prstGeom prst="line">
              <a:avLst/>
            </a:prstGeom>
            <a:ln w="25560">
              <a:solidFill>
                <a:srgbClr val="FF0000"/>
              </a:solidFill>
              <a:round/>
              <a:tailEnd type="triangle" w="med" len="med"/>
            </a:ln>
          </p:spPr>
          <p:style>
            <a:lnRef idx="0">
              <a:scrgbClr r="0" g="0" b="0"/>
            </a:lnRef>
            <a:fillRef idx="0">
              <a:scrgbClr r="0" g="0" b="0"/>
            </a:fillRef>
            <a:effectRef idx="0">
              <a:scrgbClr r="0" g="0" b="0"/>
            </a:effectRef>
            <a:fontRef idx="minor"/>
          </p:style>
        </p:sp>
        <p:sp>
          <p:nvSpPr>
            <p:cNvPr id="30" name="CustomShape 27">
              <a:extLst>
                <a:ext uri="{FF2B5EF4-FFF2-40B4-BE49-F238E27FC236}">
                  <a16:creationId xmlns:a16="http://schemas.microsoft.com/office/drawing/2014/main" id="{93241D15-60CE-4060-8DD4-645ECAFF4600}"/>
                </a:ext>
              </a:extLst>
            </p:cNvPr>
            <p:cNvSpPr/>
            <p:nvPr/>
          </p:nvSpPr>
          <p:spPr>
            <a:xfrm>
              <a:off x="8001720" y="3909960"/>
              <a:ext cx="2360160" cy="911520"/>
            </a:xfrm>
            <a:prstGeom prst="rect">
              <a:avLst/>
            </a:prstGeom>
            <a:solidFill>
              <a:srgbClr val="C0C0C0"/>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PE/COFF Binary</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(.efi,.acpi,.com,</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.aml,.bin) Files</a:t>
              </a:r>
              <a:endParaRPr lang="en-US" sz="1800" b="0" strike="noStrike" spc="-1">
                <a:latin typeface="Arial"/>
              </a:endParaRPr>
            </a:p>
          </p:txBody>
        </p:sp>
        <p:sp>
          <p:nvSpPr>
            <p:cNvPr id="31" name="Line 28">
              <a:extLst>
                <a:ext uri="{FF2B5EF4-FFF2-40B4-BE49-F238E27FC236}">
                  <a16:creationId xmlns:a16="http://schemas.microsoft.com/office/drawing/2014/main" id="{534FDA2A-3EEB-4CD9-B080-8340FF71295C}"/>
                </a:ext>
              </a:extLst>
            </p:cNvPr>
            <p:cNvSpPr/>
            <p:nvPr/>
          </p:nvSpPr>
          <p:spPr>
            <a:xfrm>
              <a:off x="9207720" y="3054240"/>
              <a:ext cx="360" cy="838080"/>
            </a:xfrm>
            <a:prstGeom prst="line">
              <a:avLst/>
            </a:prstGeom>
            <a:ln w="50760">
              <a:solidFill>
                <a:srgbClr val="FF0000"/>
              </a:solidFill>
              <a:round/>
              <a:tailEnd type="triangle" w="med" len="med"/>
            </a:ln>
          </p:spPr>
          <p:style>
            <a:lnRef idx="0">
              <a:scrgbClr r="0" g="0" b="0"/>
            </a:lnRef>
            <a:fillRef idx="0">
              <a:scrgbClr r="0" g="0" b="0"/>
            </a:fillRef>
            <a:effectRef idx="0">
              <a:scrgbClr r="0" g="0" b="0"/>
            </a:effectRef>
            <a:fontRef idx="minor"/>
          </p:style>
        </p:sp>
        <p:sp>
          <p:nvSpPr>
            <p:cNvPr id="32" name="CustomShape 29">
              <a:extLst>
                <a:ext uri="{FF2B5EF4-FFF2-40B4-BE49-F238E27FC236}">
                  <a16:creationId xmlns:a16="http://schemas.microsoft.com/office/drawing/2014/main" id="{3BEA5B80-4C7C-42BC-B056-FABC1401C309}"/>
                </a:ext>
              </a:extLst>
            </p:cNvPr>
            <p:cNvSpPr/>
            <p:nvPr/>
          </p:nvSpPr>
          <p:spPr>
            <a:xfrm>
              <a:off x="1981800" y="5140440"/>
              <a:ext cx="1826640" cy="362880"/>
            </a:xfrm>
            <a:prstGeom prst="rect">
              <a:avLst/>
            </a:prstGeom>
            <a:solidFill>
              <a:srgbClr val="CCFF33"/>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Binary Files</a:t>
              </a:r>
              <a:endParaRPr lang="en-US" sz="1800" b="0" strike="noStrike" spc="-1">
                <a:latin typeface="Arial"/>
              </a:endParaRPr>
            </a:p>
          </p:txBody>
        </p:sp>
        <p:sp>
          <p:nvSpPr>
            <p:cNvPr id="33" name="CustomShape 30">
              <a:extLst>
                <a:ext uri="{FF2B5EF4-FFF2-40B4-BE49-F238E27FC236}">
                  <a16:creationId xmlns:a16="http://schemas.microsoft.com/office/drawing/2014/main" id="{627D8707-FB5C-4E03-B0D4-7FBC9AD7069B}"/>
                </a:ext>
              </a:extLst>
            </p:cNvPr>
            <p:cNvSpPr/>
            <p:nvPr/>
          </p:nvSpPr>
          <p:spPr>
            <a:xfrm>
              <a:off x="4725000" y="4594320"/>
              <a:ext cx="1750320" cy="901440"/>
            </a:xfrm>
            <a:prstGeom prst="ellipse">
              <a:avLst/>
            </a:prstGeom>
            <a:solidFill>
              <a:srgbClr val="66FFCC"/>
            </a:solidFill>
            <a:ln w="9360">
              <a:solidFill>
                <a:schemeClr val="tx1"/>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3F3F3F"/>
                  </a:solidFill>
                  <a:latin typeface="Segoe UI"/>
                  <a:ea typeface="DejaVu Sans"/>
                </a:rPr>
                <a:t>Flash</a:t>
              </a:r>
              <a:endParaRPr lang="en-US" sz="1800" b="0" strike="noStrike" spc="-1">
                <a:latin typeface="Arial"/>
              </a:endParaRPr>
            </a:p>
            <a:p>
              <a:pPr algn="ctr">
                <a:lnSpc>
                  <a:spcPct val="100000"/>
                </a:lnSpc>
              </a:pPr>
              <a:r>
                <a:rPr lang="en-US" sz="1800" b="0" strike="noStrike" spc="-1">
                  <a:solidFill>
                    <a:srgbClr val="3F3F3F"/>
                  </a:solidFill>
                  <a:latin typeface="Segoe UI"/>
                  <a:ea typeface="DejaVu Sans"/>
                </a:rPr>
                <a:t>Build Tool</a:t>
              </a:r>
              <a:endParaRPr lang="en-US" sz="1800" b="0" strike="noStrike" spc="-1">
                <a:latin typeface="Arial"/>
              </a:endParaRPr>
            </a:p>
          </p:txBody>
        </p:sp>
        <p:sp>
          <p:nvSpPr>
            <p:cNvPr id="34" name="Line 31">
              <a:extLst>
                <a:ext uri="{FF2B5EF4-FFF2-40B4-BE49-F238E27FC236}">
                  <a16:creationId xmlns:a16="http://schemas.microsoft.com/office/drawing/2014/main" id="{282EF633-6359-4A09-AD1B-CB38BBE24459}"/>
                </a:ext>
              </a:extLst>
            </p:cNvPr>
            <p:cNvSpPr/>
            <p:nvPr/>
          </p:nvSpPr>
          <p:spPr>
            <a:xfrm>
              <a:off x="3810240" y="4454280"/>
              <a:ext cx="990360" cy="457200"/>
            </a:xfrm>
            <a:prstGeom prst="line">
              <a:avLst/>
            </a:prstGeom>
            <a:ln w="25560">
              <a:solidFill>
                <a:srgbClr val="800080"/>
              </a:solidFill>
              <a:round/>
              <a:tailEnd type="triangle" w="med" len="med"/>
            </a:ln>
          </p:spPr>
          <p:style>
            <a:lnRef idx="0">
              <a:scrgbClr r="0" g="0" b="0"/>
            </a:lnRef>
            <a:fillRef idx="0">
              <a:scrgbClr r="0" g="0" b="0"/>
            </a:fillRef>
            <a:effectRef idx="0">
              <a:scrgbClr r="0" g="0" b="0"/>
            </a:effectRef>
            <a:fontRef idx="minor"/>
          </p:style>
        </p:sp>
        <p:sp>
          <p:nvSpPr>
            <p:cNvPr id="35" name="Line 32">
              <a:extLst>
                <a:ext uri="{FF2B5EF4-FFF2-40B4-BE49-F238E27FC236}">
                  <a16:creationId xmlns:a16="http://schemas.microsoft.com/office/drawing/2014/main" id="{922AAF7F-4C31-45C1-BC34-8D4D872714A7}"/>
                </a:ext>
              </a:extLst>
            </p:cNvPr>
            <p:cNvSpPr/>
            <p:nvPr/>
          </p:nvSpPr>
          <p:spPr>
            <a:xfrm>
              <a:off x="3581640" y="3616200"/>
              <a:ext cx="1371600" cy="1143000"/>
            </a:xfrm>
            <a:prstGeom prst="line">
              <a:avLst/>
            </a:prstGeom>
            <a:ln w="25560">
              <a:solidFill>
                <a:srgbClr val="800080"/>
              </a:solidFill>
              <a:round/>
              <a:tailEnd type="triangle" w="med" len="med"/>
            </a:ln>
          </p:spPr>
          <p:style>
            <a:lnRef idx="0">
              <a:scrgbClr r="0" g="0" b="0"/>
            </a:lnRef>
            <a:fillRef idx="0">
              <a:scrgbClr r="0" g="0" b="0"/>
            </a:fillRef>
            <a:effectRef idx="0">
              <a:scrgbClr r="0" g="0" b="0"/>
            </a:effectRef>
            <a:fontRef idx="minor"/>
          </p:style>
        </p:sp>
        <p:sp>
          <p:nvSpPr>
            <p:cNvPr id="36" name="Line 33">
              <a:extLst>
                <a:ext uri="{FF2B5EF4-FFF2-40B4-BE49-F238E27FC236}">
                  <a16:creationId xmlns:a16="http://schemas.microsoft.com/office/drawing/2014/main" id="{CB3D9458-DCA8-4279-97F0-FE247CAE41CF}"/>
                </a:ext>
              </a:extLst>
            </p:cNvPr>
            <p:cNvSpPr/>
            <p:nvPr/>
          </p:nvSpPr>
          <p:spPr>
            <a:xfrm flipV="1">
              <a:off x="3810240" y="5140080"/>
              <a:ext cx="914400" cy="152640"/>
            </a:xfrm>
            <a:prstGeom prst="line">
              <a:avLst/>
            </a:prstGeom>
            <a:ln w="25560">
              <a:solidFill>
                <a:srgbClr val="800080"/>
              </a:solidFill>
              <a:round/>
              <a:tailEnd type="triangle" w="med" len="med"/>
            </a:ln>
          </p:spPr>
          <p:style>
            <a:lnRef idx="0">
              <a:scrgbClr r="0" g="0" b="0"/>
            </a:lnRef>
            <a:fillRef idx="0">
              <a:scrgbClr r="0" g="0" b="0"/>
            </a:fillRef>
            <a:effectRef idx="0">
              <a:scrgbClr r="0" g="0" b="0"/>
            </a:effectRef>
            <a:fontRef idx="minor"/>
          </p:style>
        </p:sp>
        <p:sp>
          <p:nvSpPr>
            <p:cNvPr id="37" name="Line 34">
              <a:extLst>
                <a:ext uri="{FF2B5EF4-FFF2-40B4-BE49-F238E27FC236}">
                  <a16:creationId xmlns:a16="http://schemas.microsoft.com/office/drawing/2014/main" id="{65B2951E-E067-4D3C-BB29-C2AF31F3CE5B}"/>
                </a:ext>
              </a:extLst>
            </p:cNvPr>
            <p:cNvSpPr/>
            <p:nvPr/>
          </p:nvSpPr>
          <p:spPr>
            <a:xfrm flipH="1">
              <a:off x="6324840" y="4378320"/>
              <a:ext cx="1600200" cy="380880"/>
            </a:xfrm>
            <a:prstGeom prst="line">
              <a:avLst/>
            </a:prstGeom>
            <a:ln w="25560">
              <a:solidFill>
                <a:srgbClr val="800080"/>
              </a:solidFill>
              <a:round/>
              <a:tailEnd type="triangle" w="med" len="med"/>
            </a:ln>
          </p:spPr>
          <p:style>
            <a:lnRef idx="0">
              <a:scrgbClr r="0" g="0" b="0"/>
            </a:lnRef>
            <a:fillRef idx="0">
              <a:scrgbClr r="0" g="0" b="0"/>
            </a:fillRef>
            <a:effectRef idx="0">
              <a:scrgbClr r="0" g="0" b="0"/>
            </a:effectRef>
            <a:fontRef idx="minor"/>
          </p:style>
        </p:sp>
        <p:sp>
          <p:nvSpPr>
            <p:cNvPr id="38" name="CustomShape 35">
              <a:extLst>
                <a:ext uri="{FF2B5EF4-FFF2-40B4-BE49-F238E27FC236}">
                  <a16:creationId xmlns:a16="http://schemas.microsoft.com/office/drawing/2014/main" id="{6835E6AE-57A6-4DC5-9B0E-C4D36F91D4DF}"/>
                </a:ext>
              </a:extLst>
            </p:cNvPr>
            <p:cNvSpPr/>
            <p:nvPr/>
          </p:nvSpPr>
          <p:spPr>
            <a:xfrm>
              <a:off x="7849080" y="5369040"/>
              <a:ext cx="2360160" cy="63720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1800" b="0" strike="noStrike" spc="-1">
                  <a:solidFill>
                    <a:srgbClr val="3F3F3F"/>
                  </a:solidFill>
                  <a:latin typeface="Consolas"/>
                  <a:ea typeface="DejaVu Sans"/>
                </a:rPr>
                <a:t>Flash Image </a:t>
              </a:r>
              <a:endParaRPr lang="en-US" sz="1800" b="0" strike="noStrike" spc="-1">
                <a:latin typeface="Arial"/>
              </a:endParaRPr>
            </a:p>
            <a:p>
              <a:pPr algn="ctr">
                <a:lnSpc>
                  <a:spcPct val="100000"/>
                </a:lnSpc>
              </a:pPr>
              <a:r>
                <a:rPr lang="en-US" sz="1800" b="0" strike="noStrike" spc="-1">
                  <a:solidFill>
                    <a:srgbClr val="3F3F3F"/>
                  </a:solidFill>
                  <a:latin typeface="Consolas"/>
                  <a:ea typeface="DejaVu Sans"/>
                </a:rPr>
                <a:t>.FD Files</a:t>
              </a:r>
              <a:endParaRPr lang="en-US" sz="1800" b="0" strike="noStrike" spc="-1">
                <a:latin typeface="Arial"/>
              </a:endParaRPr>
            </a:p>
          </p:txBody>
        </p:sp>
        <p:sp>
          <p:nvSpPr>
            <p:cNvPr id="39" name="Line 36">
              <a:extLst>
                <a:ext uri="{FF2B5EF4-FFF2-40B4-BE49-F238E27FC236}">
                  <a16:creationId xmlns:a16="http://schemas.microsoft.com/office/drawing/2014/main" id="{CA217200-6432-4350-8A8E-87AD6ACCE80C}"/>
                </a:ext>
              </a:extLst>
            </p:cNvPr>
            <p:cNvSpPr/>
            <p:nvPr/>
          </p:nvSpPr>
          <p:spPr>
            <a:xfrm>
              <a:off x="6477120" y="5216400"/>
              <a:ext cx="1371600" cy="533520"/>
            </a:xfrm>
            <a:prstGeom prst="line">
              <a:avLst/>
            </a:prstGeom>
            <a:ln w="50760">
              <a:solidFill>
                <a:srgbClr val="800080"/>
              </a:solidFill>
              <a:round/>
              <a:tailEnd type="triangle" w="med" len="med"/>
            </a:ln>
          </p:spPr>
          <p:style>
            <a:lnRef idx="0">
              <a:scrgbClr r="0" g="0" b="0"/>
            </a:lnRef>
            <a:fillRef idx="0">
              <a:scrgbClr r="0" g="0" b="0"/>
            </a:fillRef>
            <a:effectRef idx="0">
              <a:scrgbClr r="0" g="0" b="0"/>
            </a:effectRef>
            <a:fontRef idx="minor"/>
          </p:style>
        </p:sp>
        <p:sp>
          <p:nvSpPr>
            <p:cNvPr id="40" name="Line 37">
              <a:extLst>
                <a:ext uri="{FF2B5EF4-FFF2-40B4-BE49-F238E27FC236}">
                  <a16:creationId xmlns:a16="http://schemas.microsoft.com/office/drawing/2014/main" id="{1E9A84EB-E1F2-4A0B-B9B4-A9ED95EBDB92}"/>
                </a:ext>
              </a:extLst>
            </p:cNvPr>
            <p:cNvSpPr/>
            <p:nvPr/>
          </p:nvSpPr>
          <p:spPr>
            <a:xfrm>
              <a:off x="1981440" y="5827680"/>
              <a:ext cx="533160" cy="360"/>
            </a:xfrm>
            <a:prstGeom prst="line">
              <a:avLst/>
            </a:prstGeom>
            <a:ln w="25560">
              <a:solidFill>
                <a:srgbClr val="0000FF"/>
              </a:solidFill>
              <a:round/>
              <a:tailEnd type="triangle" w="med" len="med"/>
            </a:ln>
          </p:spPr>
          <p:style>
            <a:lnRef idx="0">
              <a:scrgbClr r="0" g="0" b="0"/>
            </a:lnRef>
            <a:fillRef idx="0">
              <a:scrgbClr r="0" g="0" b="0"/>
            </a:fillRef>
            <a:effectRef idx="0">
              <a:scrgbClr r="0" g="0" b="0"/>
            </a:effectRef>
            <a:fontRef idx="minor"/>
          </p:style>
        </p:sp>
        <p:sp>
          <p:nvSpPr>
            <p:cNvPr id="41" name="CustomShape 38">
              <a:extLst>
                <a:ext uri="{FF2B5EF4-FFF2-40B4-BE49-F238E27FC236}">
                  <a16:creationId xmlns:a16="http://schemas.microsoft.com/office/drawing/2014/main" id="{2AF04642-9B8F-4ADC-B596-72F6CA89529B}"/>
                </a:ext>
              </a:extLst>
            </p:cNvPr>
            <p:cNvSpPr/>
            <p:nvPr/>
          </p:nvSpPr>
          <p:spPr>
            <a:xfrm>
              <a:off x="2531880" y="5673600"/>
              <a:ext cx="1787040" cy="362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Auto-Gen Stage</a:t>
              </a:r>
              <a:endParaRPr lang="en-US" sz="1800" b="0" strike="noStrike" spc="-1">
                <a:latin typeface="Arial"/>
              </a:endParaRPr>
            </a:p>
          </p:txBody>
        </p:sp>
        <p:sp>
          <p:nvSpPr>
            <p:cNvPr id="42" name="Line 39">
              <a:extLst>
                <a:ext uri="{FF2B5EF4-FFF2-40B4-BE49-F238E27FC236}">
                  <a16:creationId xmlns:a16="http://schemas.microsoft.com/office/drawing/2014/main" id="{19BF0F32-F5E6-4427-B7A2-2D9DCE5BFFCB}"/>
                </a:ext>
              </a:extLst>
            </p:cNvPr>
            <p:cNvSpPr/>
            <p:nvPr/>
          </p:nvSpPr>
          <p:spPr>
            <a:xfrm>
              <a:off x="1981440" y="6208560"/>
              <a:ext cx="533160" cy="360"/>
            </a:xfrm>
            <a:prstGeom prst="line">
              <a:avLst/>
            </a:prstGeom>
            <a:ln w="25560">
              <a:solidFill>
                <a:srgbClr val="FF0000"/>
              </a:solidFill>
              <a:round/>
              <a:tailEnd type="triangle" w="med" len="med"/>
            </a:ln>
          </p:spPr>
          <p:style>
            <a:lnRef idx="0">
              <a:scrgbClr r="0" g="0" b="0"/>
            </a:lnRef>
            <a:fillRef idx="0">
              <a:scrgbClr r="0" g="0" b="0"/>
            </a:fillRef>
            <a:effectRef idx="0">
              <a:scrgbClr r="0" g="0" b="0"/>
            </a:effectRef>
            <a:fontRef idx="minor"/>
          </p:style>
        </p:sp>
        <p:sp>
          <p:nvSpPr>
            <p:cNvPr id="43" name="CustomShape 40">
              <a:extLst>
                <a:ext uri="{FF2B5EF4-FFF2-40B4-BE49-F238E27FC236}">
                  <a16:creationId xmlns:a16="http://schemas.microsoft.com/office/drawing/2014/main" id="{BBA968E0-0EA4-43DC-8D96-1724766BBCCD}"/>
                </a:ext>
              </a:extLst>
            </p:cNvPr>
            <p:cNvSpPr/>
            <p:nvPr/>
          </p:nvSpPr>
          <p:spPr>
            <a:xfrm>
              <a:off x="2539440" y="6054840"/>
              <a:ext cx="1352880" cy="362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Make Stage</a:t>
              </a:r>
              <a:endParaRPr lang="en-US" sz="1800" b="0" strike="noStrike" spc="-1">
                <a:latin typeface="Arial"/>
              </a:endParaRPr>
            </a:p>
          </p:txBody>
        </p:sp>
        <p:sp>
          <p:nvSpPr>
            <p:cNvPr id="44" name="Line 41">
              <a:extLst>
                <a:ext uri="{FF2B5EF4-FFF2-40B4-BE49-F238E27FC236}">
                  <a16:creationId xmlns:a16="http://schemas.microsoft.com/office/drawing/2014/main" id="{8797F767-F634-4A62-A7BA-A3F1059A03FA}"/>
                </a:ext>
              </a:extLst>
            </p:cNvPr>
            <p:cNvSpPr/>
            <p:nvPr/>
          </p:nvSpPr>
          <p:spPr>
            <a:xfrm>
              <a:off x="4496040" y="6256080"/>
              <a:ext cx="533160" cy="360"/>
            </a:xfrm>
            <a:prstGeom prst="line">
              <a:avLst/>
            </a:prstGeom>
            <a:ln w="25560">
              <a:solidFill>
                <a:srgbClr val="800080"/>
              </a:solidFill>
              <a:round/>
              <a:tailEnd type="triangle" w="med" len="med"/>
            </a:ln>
          </p:spPr>
          <p:style>
            <a:lnRef idx="0">
              <a:scrgbClr r="0" g="0" b="0"/>
            </a:lnRef>
            <a:fillRef idx="0">
              <a:scrgbClr r="0" g="0" b="0"/>
            </a:fillRef>
            <a:effectRef idx="0">
              <a:scrgbClr r="0" g="0" b="0"/>
            </a:effectRef>
            <a:fontRef idx="minor"/>
          </p:style>
        </p:sp>
        <p:sp>
          <p:nvSpPr>
            <p:cNvPr id="45" name="CustomShape 42">
              <a:extLst>
                <a:ext uri="{FF2B5EF4-FFF2-40B4-BE49-F238E27FC236}">
                  <a16:creationId xmlns:a16="http://schemas.microsoft.com/office/drawing/2014/main" id="{4A850C73-CF2F-4C83-B76D-044777538912}"/>
                </a:ext>
              </a:extLst>
            </p:cNvPr>
            <p:cNvSpPr/>
            <p:nvPr/>
          </p:nvSpPr>
          <p:spPr>
            <a:xfrm>
              <a:off x="5059800" y="6054840"/>
              <a:ext cx="1925640" cy="362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Image-Gen Stage</a:t>
              </a:r>
              <a:endParaRPr lang="en-US" sz="1800" b="0" strike="noStrike" spc="-1">
                <a:latin typeface="Arial"/>
              </a:endParaRPr>
            </a:p>
          </p:txBody>
        </p:sp>
      </p:grpSp>
    </p:spTree>
    <p:extLst>
      <p:ext uri="{BB962C8B-B14F-4D97-AF65-F5344CB8AC3E}">
        <p14:creationId xmlns:p14="http://schemas.microsoft.com/office/powerpoint/2010/main" val="1529963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1D40AC96-0AA2-4D22-B804-D26BF3E1B9DC}"/>
              </a:ext>
            </a:extLst>
          </p:cNvPr>
          <p:cNvSpPr>
            <a:spLocks noGrp="1"/>
          </p:cNvSpPr>
          <p:nvPr>
            <p:ph type="sldNum" sz="quarter" idx="12"/>
          </p:nvPr>
        </p:nvSpPr>
        <p:spPr/>
        <p:txBody>
          <a:bodyPr/>
          <a:lstStyle/>
          <a:p>
            <a:fld id="{711F1488-76AD-4E7F-AEC8-BF811B7D74A5}" type="slidenum">
              <a:rPr lang="en-US" smtClean="0"/>
              <a:pPr/>
              <a:t>20</a:t>
            </a:fld>
            <a:endParaRPr lang="en-US"/>
          </a:p>
        </p:txBody>
      </p:sp>
      <p:sp>
        <p:nvSpPr>
          <p:cNvPr id="3" name="標題 2">
            <a:extLst>
              <a:ext uri="{FF2B5EF4-FFF2-40B4-BE49-F238E27FC236}">
                <a16:creationId xmlns:a16="http://schemas.microsoft.com/office/drawing/2014/main" id="{A38C1195-D854-4315-86ED-5ECC0C0DB4A2}"/>
              </a:ext>
            </a:extLst>
          </p:cNvPr>
          <p:cNvSpPr>
            <a:spLocks noGrp="1"/>
          </p:cNvSpPr>
          <p:nvPr>
            <p:ph type="title"/>
          </p:nvPr>
        </p:nvSpPr>
        <p:spPr/>
        <p:txBody>
          <a:bodyPr/>
          <a:lstStyle/>
          <a:p>
            <a:r>
              <a:rPr lang="en-US" altLang="zh-TW" dirty="0"/>
              <a:t>Meta-Data Files</a:t>
            </a:r>
            <a:endParaRPr lang="zh-TW" altLang="en-US" dirty="0"/>
          </a:p>
        </p:txBody>
      </p:sp>
    </p:spTree>
    <p:extLst>
      <p:ext uri="{BB962C8B-B14F-4D97-AF65-F5344CB8AC3E}">
        <p14:creationId xmlns:p14="http://schemas.microsoft.com/office/powerpoint/2010/main" val="1982692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660431-0318-4513-B63A-378078286AE4}"/>
              </a:ext>
            </a:extLst>
          </p:cNvPr>
          <p:cNvSpPr>
            <a:spLocks noGrp="1"/>
          </p:cNvSpPr>
          <p:nvPr>
            <p:ph type="title"/>
          </p:nvPr>
        </p:nvSpPr>
        <p:spPr/>
        <p:txBody>
          <a:bodyPr/>
          <a:lstStyle/>
          <a:p>
            <a:r>
              <a:rPr lang="en-US" altLang="zh-TW" dirty="0"/>
              <a:t>Meta-Data Files – target.txt</a:t>
            </a:r>
            <a:endParaRPr lang="zh-TW" altLang="en-US" dirty="0"/>
          </a:p>
        </p:txBody>
      </p:sp>
      <p:sp>
        <p:nvSpPr>
          <p:cNvPr id="3" name="內容版面配置區 2">
            <a:extLst>
              <a:ext uri="{FF2B5EF4-FFF2-40B4-BE49-F238E27FC236}">
                <a16:creationId xmlns:a16="http://schemas.microsoft.com/office/drawing/2014/main" id="{6DF2BF58-2093-487C-9751-4C260D51BA65}"/>
              </a:ext>
            </a:extLst>
          </p:cNvPr>
          <p:cNvSpPr>
            <a:spLocks noGrp="1"/>
          </p:cNvSpPr>
          <p:nvPr>
            <p:ph idx="1"/>
          </p:nvPr>
        </p:nvSpPr>
        <p:spPr/>
        <p:txBody>
          <a:bodyPr/>
          <a:lstStyle/>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target.txt: Defines the top level default configuration</a:t>
            </a:r>
            <a:endParaRPr lang="en-US" altLang="zh-TW" sz="2800" b="0" strike="noStrike" spc="-1" dirty="0"/>
          </a:p>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Set the default build target configuration for the EDK2build tools</a:t>
            </a:r>
            <a:endParaRPr lang="en-US" altLang="zh-TW" sz="2800" b="0" strike="noStrike" spc="-1" dirty="0"/>
          </a:p>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This configuration file sets up the following configurations</a:t>
            </a:r>
            <a:endParaRPr lang="en-US" altLang="zh-TW" sz="2800" b="0" strike="noStrike" spc="-1" dirty="0"/>
          </a:p>
          <a:p>
            <a:pPr marL="741240" lvl="1" indent="-281880">
              <a:lnSpc>
                <a:spcPct val="100000"/>
              </a:lnSpc>
              <a:spcBef>
                <a:spcPts val="499"/>
              </a:spcBef>
              <a:buClr>
                <a:srgbClr val="3F3F3F"/>
              </a:buClr>
              <a:buFont typeface="Tahoma"/>
              <a:buChar char="-"/>
            </a:pPr>
            <a:r>
              <a:rPr lang="en-US" altLang="zh-TW" sz="2000" b="0" strike="noStrike" spc="-1" dirty="0">
                <a:solidFill>
                  <a:srgbClr val="3F3F3F"/>
                </a:solidFill>
                <a:ea typeface="DejaVu Sans"/>
              </a:rPr>
              <a:t>ACTIVE_PLATFORM	</a:t>
            </a:r>
            <a:r>
              <a:rPr lang="en-US" altLang="zh-TW" sz="2000" b="0" strike="noStrike" spc="-1" dirty="0">
                <a:solidFill>
                  <a:srgbClr val="3F3F3F"/>
                </a:solidFill>
                <a:latin typeface="Symbol"/>
                <a:ea typeface="DejaVu Sans"/>
              </a:rPr>
              <a:t> </a:t>
            </a:r>
            <a:r>
              <a:rPr lang="en-US" altLang="zh-TW" sz="2000" b="0" strike="noStrike" spc="-1" dirty="0">
                <a:solidFill>
                  <a:srgbClr val="3F3F3F"/>
                </a:solidFill>
                <a:ea typeface="DejaVu Sans"/>
              </a:rPr>
              <a:t>	</a:t>
            </a:r>
            <a:r>
              <a:rPr lang="en-US" altLang="zh-TW" sz="2000" b="1" strike="noStrike" spc="-1" dirty="0">
                <a:solidFill>
                  <a:srgbClr val="0070C0"/>
                </a:solidFill>
                <a:ea typeface="DejaVu Sans"/>
              </a:rPr>
              <a:t>Platform DSC File</a:t>
            </a:r>
            <a:endParaRPr lang="en-US" altLang="zh-TW" sz="2000" b="0" strike="noStrike" spc="-1" dirty="0"/>
          </a:p>
          <a:p>
            <a:pPr marL="741240" lvl="1" indent="-281880">
              <a:lnSpc>
                <a:spcPct val="100000"/>
              </a:lnSpc>
              <a:spcBef>
                <a:spcPts val="499"/>
              </a:spcBef>
              <a:buClr>
                <a:srgbClr val="3F3F3F"/>
              </a:buClr>
              <a:buFont typeface="Tahoma"/>
              <a:buChar char="-"/>
            </a:pPr>
            <a:r>
              <a:rPr lang="en-US" altLang="zh-TW" sz="2000" b="0" strike="noStrike" spc="-1" dirty="0">
                <a:solidFill>
                  <a:srgbClr val="3F3F3F"/>
                </a:solidFill>
                <a:ea typeface="DejaVu Sans"/>
              </a:rPr>
              <a:t>TARGET			</a:t>
            </a:r>
            <a:r>
              <a:rPr lang="en-US" altLang="zh-TW" sz="2000" b="0" strike="noStrike" spc="-1" dirty="0">
                <a:solidFill>
                  <a:srgbClr val="3F3F3F"/>
                </a:solidFill>
                <a:latin typeface="Symbol"/>
                <a:ea typeface="DejaVu Sans"/>
              </a:rPr>
              <a:t> </a:t>
            </a:r>
            <a:r>
              <a:rPr lang="en-US" altLang="zh-TW" sz="2000" b="0" strike="noStrike" spc="-1" dirty="0">
                <a:solidFill>
                  <a:srgbClr val="3F3F3F"/>
                </a:solidFill>
                <a:ea typeface="DejaVu Sans"/>
              </a:rPr>
              <a:t>	</a:t>
            </a:r>
            <a:r>
              <a:rPr lang="en-US" altLang="zh-TW" sz="2000" b="1" strike="noStrike" spc="-1" dirty="0">
                <a:solidFill>
                  <a:srgbClr val="0070C0"/>
                </a:solidFill>
                <a:ea typeface="DejaVu Sans"/>
              </a:rPr>
              <a:t>RELEASE/DEBUG</a:t>
            </a:r>
            <a:endParaRPr lang="en-US" altLang="zh-TW" sz="2000" b="0" strike="noStrike" spc="-1" dirty="0"/>
          </a:p>
          <a:p>
            <a:pPr marL="741240" lvl="1" indent="-281880">
              <a:lnSpc>
                <a:spcPct val="100000"/>
              </a:lnSpc>
              <a:spcBef>
                <a:spcPts val="499"/>
              </a:spcBef>
              <a:buClr>
                <a:srgbClr val="3F3F3F"/>
              </a:buClr>
              <a:buFont typeface="Tahoma"/>
              <a:buChar char="-"/>
            </a:pPr>
            <a:r>
              <a:rPr lang="en-US" altLang="zh-TW" sz="2000" b="0" strike="noStrike" spc="-1" dirty="0">
                <a:solidFill>
                  <a:srgbClr val="3F3F3F"/>
                </a:solidFill>
                <a:ea typeface="DejaVu Sans"/>
              </a:rPr>
              <a:t>TARGET_ARCH		</a:t>
            </a:r>
            <a:r>
              <a:rPr lang="en-US" altLang="zh-TW" sz="2000" b="0" strike="noStrike" spc="-1" dirty="0">
                <a:solidFill>
                  <a:srgbClr val="3F3F3F"/>
                </a:solidFill>
                <a:latin typeface="Symbol"/>
                <a:ea typeface="DejaVu Sans"/>
              </a:rPr>
              <a:t> </a:t>
            </a:r>
            <a:r>
              <a:rPr lang="en-US" altLang="zh-TW" sz="2000" b="0" strike="noStrike" spc="-1" dirty="0">
                <a:solidFill>
                  <a:srgbClr val="3F3F3F"/>
                </a:solidFill>
                <a:ea typeface="DejaVu Sans"/>
              </a:rPr>
              <a:t>	</a:t>
            </a:r>
            <a:r>
              <a:rPr lang="en-US" altLang="zh-TW" sz="2000" b="1" strike="noStrike" spc="-1" dirty="0">
                <a:solidFill>
                  <a:srgbClr val="0070C0"/>
                </a:solidFill>
                <a:ea typeface="DejaVu Sans"/>
              </a:rPr>
              <a:t>IA32/X64/EBC/IPF/ARM</a:t>
            </a:r>
            <a:endParaRPr lang="en-US" altLang="zh-TW" sz="2000" b="0" strike="noStrike" spc="-1" dirty="0"/>
          </a:p>
          <a:p>
            <a:pPr marL="741240" lvl="1" indent="-281880">
              <a:lnSpc>
                <a:spcPct val="100000"/>
              </a:lnSpc>
              <a:spcBef>
                <a:spcPts val="499"/>
              </a:spcBef>
              <a:buClr>
                <a:srgbClr val="3F3F3F"/>
              </a:buClr>
              <a:buFont typeface="Tahoma"/>
              <a:buChar char="-"/>
            </a:pPr>
            <a:r>
              <a:rPr lang="en-US" altLang="zh-TW" sz="2000" b="0" strike="noStrike" spc="-1" dirty="0">
                <a:solidFill>
                  <a:srgbClr val="3F3F3F"/>
                </a:solidFill>
                <a:ea typeface="DejaVu Sans"/>
              </a:rPr>
              <a:t>TOOL_CHAIN_CONF	</a:t>
            </a:r>
            <a:r>
              <a:rPr lang="en-US" altLang="zh-TW" sz="2000" b="0" strike="noStrike" spc="-1" dirty="0">
                <a:solidFill>
                  <a:srgbClr val="3F3F3F"/>
                </a:solidFill>
                <a:latin typeface="Symbol"/>
                <a:ea typeface="DejaVu Sans"/>
              </a:rPr>
              <a:t> </a:t>
            </a:r>
            <a:r>
              <a:rPr lang="en-US" altLang="zh-TW" sz="2000" b="0" strike="noStrike" spc="-1" dirty="0">
                <a:solidFill>
                  <a:srgbClr val="3F3F3F"/>
                </a:solidFill>
                <a:ea typeface="DejaVu Sans"/>
              </a:rPr>
              <a:t>	</a:t>
            </a:r>
            <a:r>
              <a:rPr lang="en-US" altLang="zh-TW" sz="2000" b="1" strike="noStrike" spc="-1" dirty="0">
                <a:solidFill>
                  <a:srgbClr val="0070C0"/>
                </a:solidFill>
                <a:ea typeface="DejaVu Sans"/>
              </a:rPr>
              <a:t>Conf/tool_def.txt</a:t>
            </a:r>
            <a:endParaRPr lang="en-US" altLang="zh-TW" sz="2000" b="0" strike="noStrike" spc="-1" dirty="0"/>
          </a:p>
          <a:p>
            <a:pPr marL="741240" lvl="1" indent="-281880">
              <a:lnSpc>
                <a:spcPct val="100000"/>
              </a:lnSpc>
              <a:spcBef>
                <a:spcPts val="499"/>
              </a:spcBef>
              <a:buClr>
                <a:srgbClr val="3F3F3F"/>
              </a:buClr>
              <a:buFont typeface="Tahoma"/>
              <a:buChar char="-"/>
            </a:pPr>
            <a:r>
              <a:rPr lang="en-US" altLang="zh-TW" sz="2000" b="0" strike="noStrike" spc="-1" dirty="0">
                <a:solidFill>
                  <a:srgbClr val="3F3F3F"/>
                </a:solidFill>
                <a:ea typeface="DejaVu Sans"/>
              </a:rPr>
              <a:t>TOOL_CHAIN_TAG	</a:t>
            </a:r>
            <a:r>
              <a:rPr lang="en-US" altLang="zh-TW" sz="2000" b="0" strike="noStrike" spc="-1" dirty="0">
                <a:solidFill>
                  <a:srgbClr val="3F3F3F"/>
                </a:solidFill>
                <a:latin typeface="Symbol"/>
                <a:ea typeface="DejaVu Sans"/>
              </a:rPr>
              <a:t> </a:t>
            </a:r>
            <a:r>
              <a:rPr lang="en-US" altLang="zh-TW" sz="2000" b="0" strike="noStrike" spc="-1" dirty="0">
                <a:solidFill>
                  <a:srgbClr val="3F3F3F"/>
                </a:solidFill>
                <a:ea typeface="DejaVu Sans"/>
              </a:rPr>
              <a:t>	</a:t>
            </a:r>
            <a:r>
              <a:rPr lang="en-US" altLang="zh-TW" sz="2000" b="1" strike="noStrike" spc="-1" dirty="0">
                <a:solidFill>
                  <a:srgbClr val="0070C0"/>
                </a:solidFill>
                <a:ea typeface="DejaVu Sans"/>
              </a:rPr>
              <a:t>Tool Chain Tag Name</a:t>
            </a:r>
            <a:endParaRPr lang="en-US" altLang="zh-TW" sz="2000" b="0" strike="noStrike" spc="-1" dirty="0"/>
          </a:p>
          <a:p>
            <a:pPr marL="741240" lvl="1" indent="-281880">
              <a:lnSpc>
                <a:spcPct val="100000"/>
              </a:lnSpc>
              <a:spcBef>
                <a:spcPts val="499"/>
              </a:spcBef>
              <a:buClr>
                <a:srgbClr val="3F3F3F"/>
              </a:buClr>
              <a:buFont typeface="Tahoma"/>
              <a:buChar char="-"/>
            </a:pPr>
            <a:r>
              <a:rPr lang="en-US" altLang="zh-TW" sz="2000" b="0" strike="noStrike" spc="-1" dirty="0">
                <a:solidFill>
                  <a:srgbClr val="3F3F3F"/>
                </a:solidFill>
                <a:ea typeface="DejaVu Sans"/>
              </a:rPr>
              <a:t>BUILD_RULE_CONF	</a:t>
            </a:r>
            <a:r>
              <a:rPr lang="en-US" altLang="zh-TW" sz="2000" b="0" strike="noStrike" spc="-1" dirty="0">
                <a:solidFill>
                  <a:srgbClr val="3F3F3F"/>
                </a:solidFill>
                <a:latin typeface="Symbol"/>
                <a:ea typeface="DejaVu Sans"/>
              </a:rPr>
              <a:t> </a:t>
            </a:r>
            <a:r>
              <a:rPr lang="en-US" altLang="zh-TW" sz="2000" b="0" strike="noStrike" spc="-1" dirty="0">
                <a:solidFill>
                  <a:srgbClr val="3F3F3F"/>
                </a:solidFill>
                <a:ea typeface="DejaVu Sans"/>
              </a:rPr>
              <a:t>	</a:t>
            </a:r>
            <a:r>
              <a:rPr lang="en-US" altLang="zh-TW" sz="2000" b="1" strike="noStrike" spc="-1" dirty="0">
                <a:solidFill>
                  <a:srgbClr val="0070C0"/>
                </a:solidFill>
                <a:ea typeface="DejaVu Sans"/>
              </a:rPr>
              <a:t>Conf/build_rule.txt</a:t>
            </a:r>
            <a:endParaRPr lang="en-US" altLang="zh-TW" sz="2000" b="0" strike="noStrike" spc="-1" dirty="0"/>
          </a:p>
          <a:p>
            <a:pPr marL="741240" lvl="1" indent="-281880">
              <a:lnSpc>
                <a:spcPct val="100000"/>
              </a:lnSpc>
              <a:spcBef>
                <a:spcPts val="499"/>
              </a:spcBef>
              <a:buClr>
                <a:srgbClr val="3F3F3F"/>
              </a:buClr>
              <a:buFont typeface="Tahoma"/>
              <a:buChar char="-"/>
            </a:pPr>
            <a:r>
              <a:rPr lang="en-US" altLang="zh-TW" sz="2000" b="0" strike="noStrike" spc="-1" dirty="0">
                <a:solidFill>
                  <a:srgbClr val="3F3F3F"/>
                </a:solidFill>
                <a:ea typeface="DejaVu Sans"/>
              </a:rPr>
              <a:t>MAX_CONCURRENT_THREAD_NUMBER</a:t>
            </a:r>
            <a:endParaRPr lang="en-US" altLang="zh-TW" sz="2000" b="0" strike="noStrike" spc="-1" dirty="0"/>
          </a:p>
          <a:p>
            <a:pPr>
              <a:lnSpc>
                <a:spcPct val="90000"/>
              </a:lnSpc>
              <a:spcBef>
                <a:spcPts val="1001"/>
              </a:spcBef>
            </a:pPr>
            <a:endParaRPr lang="en-US" altLang="zh-TW" sz="2000" b="0" strike="noStrike" spc="-1" dirty="0"/>
          </a:p>
        </p:txBody>
      </p:sp>
    </p:spTree>
    <p:extLst>
      <p:ext uri="{BB962C8B-B14F-4D97-AF65-F5344CB8AC3E}">
        <p14:creationId xmlns:p14="http://schemas.microsoft.com/office/powerpoint/2010/main" val="1595687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660431-0318-4513-B63A-378078286AE4}"/>
              </a:ext>
            </a:extLst>
          </p:cNvPr>
          <p:cNvSpPr>
            <a:spLocks noGrp="1"/>
          </p:cNvSpPr>
          <p:nvPr>
            <p:ph type="title"/>
          </p:nvPr>
        </p:nvSpPr>
        <p:spPr/>
        <p:txBody>
          <a:bodyPr/>
          <a:lstStyle/>
          <a:p>
            <a:r>
              <a:rPr lang="en-US" altLang="zh-TW" dirty="0"/>
              <a:t>Meta-Data Files – target.txt</a:t>
            </a:r>
            <a:endParaRPr lang="zh-TW" altLang="en-US" dirty="0"/>
          </a:p>
        </p:txBody>
      </p:sp>
      <p:sp>
        <p:nvSpPr>
          <p:cNvPr id="3" name="內容版面配置區 2">
            <a:extLst>
              <a:ext uri="{FF2B5EF4-FFF2-40B4-BE49-F238E27FC236}">
                <a16:creationId xmlns:a16="http://schemas.microsoft.com/office/drawing/2014/main" id="{6DF2BF58-2093-487C-9751-4C260D51BA65}"/>
              </a:ext>
            </a:extLst>
          </p:cNvPr>
          <p:cNvSpPr>
            <a:spLocks noGrp="1"/>
          </p:cNvSpPr>
          <p:nvPr>
            <p:ph idx="1"/>
          </p:nvPr>
        </p:nvSpPr>
        <p:spPr/>
        <p:txBody>
          <a:bodyPr>
            <a:normAutofit fontScale="62500" lnSpcReduction="20000"/>
          </a:bodyPr>
          <a:lstStyle/>
          <a:p>
            <a:pPr marL="228600" indent="-227880">
              <a:lnSpc>
                <a:spcPct val="90000"/>
              </a:lnSpc>
              <a:spcBef>
                <a:spcPts val="1001"/>
              </a:spcBef>
              <a:buClr>
                <a:srgbClr val="3F3F3F"/>
              </a:buClr>
              <a:buFont typeface="Arial"/>
              <a:buChar char="•"/>
            </a:pPr>
            <a:r>
              <a:rPr lang="en-US" altLang="zh-TW" sz="4000" b="0" strike="noStrike" spc="-1" dirty="0">
                <a:solidFill>
                  <a:srgbClr val="3F3F3F"/>
                </a:solidFill>
              </a:rPr>
              <a:t>“target.txt” will be update during build process</a:t>
            </a:r>
            <a:endParaRPr lang="en-US" altLang="zh-TW" sz="4000" b="0" strike="noStrike" spc="-1" dirty="0"/>
          </a:p>
          <a:p>
            <a:pPr marL="685800" lvl="1" indent="-227880">
              <a:lnSpc>
                <a:spcPct val="90000"/>
              </a:lnSpc>
              <a:spcBef>
                <a:spcPts val="499"/>
              </a:spcBef>
              <a:buClr>
                <a:srgbClr val="3F3F3F"/>
              </a:buClr>
              <a:buFont typeface="Arial"/>
              <a:buChar char="•"/>
            </a:pPr>
            <a:r>
              <a:rPr lang="en-US" altLang="zh-TW" sz="2900" b="0" strike="noStrike" spc="-1" dirty="0" err="1">
                <a:solidFill>
                  <a:srgbClr val="3F3F3F"/>
                </a:solidFill>
              </a:rPr>
              <a:t>BaseTools</a:t>
            </a:r>
            <a:r>
              <a:rPr lang="en-US" altLang="zh-TW" sz="2900" b="0" strike="noStrike" spc="-1" dirty="0">
                <a:solidFill>
                  <a:srgbClr val="3F3F3F"/>
                </a:solidFill>
              </a:rPr>
              <a:t>\Conf\</a:t>
            </a:r>
            <a:r>
              <a:rPr lang="en-US" altLang="zh-TW" sz="2900" b="0" strike="noStrike" spc="-1" dirty="0" err="1">
                <a:solidFill>
                  <a:srgbClr val="3F3F3F"/>
                </a:solidFill>
              </a:rPr>
              <a:t>Makefile</a:t>
            </a:r>
            <a:endParaRPr lang="en-US" altLang="zh-TW" sz="2900" b="0" strike="noStrike" spc="-1" dirty="0"/>
          </a:p>
          <a:p>
            <a:pPr marL="457200">
              <a:lnSpc>
                <a:spcPct val="90000"/>
              </a:lnSpc>
              <a:spcBef>
                <a:spcPts val="499"/>
              </a:spcBef>
            </a:pPr>
            <a:endParaRPr lang="en-US" altLang="zh-TW" sz="2900" b="0" strike="noStrike" spc="-1" dirty="0"/>
          </a:p>
          <a:p>
            <a:pPr indent="0">
              <a:lnSpc>
                <a:spcPct val="100000"/>
              </a:lnSpc>
              <a:spcBef>
                <a:spcPts val="1001"/>
              </a:spcBef>
              <a:buNone/>
            </a:pPr>
            <a:r>
              <a:rPr lang="en-US" altLang="zh-TW" sz="2600" b="1" strike="noStrike" spc="-1" dirty="0" err="1">
                <a:solidFill>
                  <a:srgbClr val="EE6F31"/>
                </a:solidFill>
                <a:ea typeface="DejaVu Sans"/>
              </a:rPr>
              <a:t>gen_release_target</a:t>
            </a:r>
            <a:r>
              <a:rPr lang="en-US" altLang="zh-TW" sz="2600" b="1" strike="noStrike" spc="-1" dirty="0">
                <a:solidFill>
                  <a:srgbClr val="EE6F31"/>
                </a:solidFill>
                <a:ea typeface="DejaVu Sans"/>
              </a:rPr>
              <a: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 @echo ACTIVE_PLATFORM = Build/$(PROJECT_PKG)/</a:t>
            </a:r>
            <a:r>
              <a:rPr lang="en-US" altLang="zh-TW" sz="2600" b="1" strike="noStrike" spc="-1" dirty="0" err="1">
                <a:solidFill>
                  <a:srgbClr val="3F3F3F"/>
                </a:solidFill>
                <a:ea typeface="DejaVu Sans"/>
              </a:rPr>
              <a:t>Project.dsc</a:t>
            </a:r>
            <a:r>
              <a:rPr lang="en-US" altLang="zh-TW" sz="2600" b="1" strike="noStrike" spc="-1" dirty="0">
                <a:solidFill>
                  <a:srgbClr val="3F3F3F"/>
                </a:solidFill>
                <a:ea typeface="DejaVu Sans"/>
              </a:rPr>
              <a:t> &gt;  $(WORKSPACE)\Conf\target.txt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 @echo TARGET_ARCH = $(ARCH)                                                      &gt;&gt; $(WORKSPACE)\Conf\target.txt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 @echo TARGET = RELEASE                                                                 &gt;&gt; $(WORKSPACE)\Conf\target.txt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 @echo TOOL_CHAIN_CONF = Conf/tools_def.txt                            &gt;&gt; $(WORKSPACE)\Conf\target.txt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 @echo TOOL_CHAIN_TAG = $(TOOL_CHAIN)                                   &gt;&gt; $(WORKSPACE)\Conf\target.txt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 @echo MAX_CONCURRENT_THREAD_NUMBER = $(</a:t>
            </a:r>
            <a:r>
              <a:rPr lang="en-US" altLang="zh-TW" sz="2600" b="1" strike="noStrike" spc="-1" dirty="0">
                <a:solidFill>
                  <a:srgbClr val="FF0000"/>
                </a:solidFill>
                <a:ea typeface="DejaVu Sans"/>
              </a:rPr>
              <a:t>NUMBER_OF_PROCESSORS</a:t>
            </a:r>
            <a:r>
              <a:rPr lang="en-US" altLang="zh-TW" sz="2600" b="1" strike="noStrike" spc="-1" dirty="0">
                <a:solidFill>
                  <a:srgbClr val="3F3F3F"/>
                </a:solidFill>
                <a:ea typeface="DejaVu Sans"/>
              </a:rPr>
              <a:t>) &gt;&gt; $(WORKSPACE)\Conf\target.txt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  @echo BUILD_RULE_CONF = Conf/build_rule.txt                           &gt;&gt; $(WORKSPACE)\Conf\target.txt</a:t>
            </a:r>
            <a:endParaRPr lang="en-US" altLang="zh-TW" sz="2600" b="0" strike="noStrike" spc="-1" dirty="0"/>
          </a:p>
          <a:p>
            <a:pPr indent="0">
              <a:lnSpc>
                <a:spcPct val="100000"/>
              </a:lnSpc>
              <a:spcBef>
                <a:spcPts val="1001"/>
              </a:spcBef>
              <a:buNone/>
            </a:pPr>
            <a:r>
              <a:rPr lang="en-US" altLang="zh-TW" sz="2600" b="1" strike="noStrike" spc="-1" dirty="0" err="1">
                <a:solidFill>
                  <a:srgbClr val="EE6F31"/>
                </a:solidFill>
                <a:ea typeface="DejaVu Sans"/>
              </a:rPr>
              <a:t>gen_debug_target</a:t>
            </a:r>
            <a:r>
              <a:rPr lang="en-US" altLang="zh-TW" sz="2600" b="1" strike="noStrike" spc="-1" dirty="0">
                <a:solidFill>
                  <a:srgbClr val="EE6F31"/>
                </a:solidFill>
                <a:ea typeface="DejaVu Sans"/>
              </a:rPr>
              <a:t>:</a:t>
            </a:r>
            <a:endParaRPr lang="en-US" altLang="zh-TW" sz="2600" b="0" strike="noStrike" spc="-1" dirty="0"/>
          </a:p>
          <a:p>
            <a:pPr indent="0">
              <a:lnSpc>
                <a:spcPct val="100000"/>
              </a:lnSpc>
              <a:spcBef>
                <a:spcPts val="1001"/>
              </a:spcBef>
              <a:buNone/>
            </a:pPr>
            <a:r>
              <a:rPr lang="en-US" altLang="zh-TW" sz="2600" b="1" strike="noStrike" spc="-1" dirty="0">
                <a:solidFill>
                  <a:srgbClr val="3F3F3F"/>
                </a:solidFill>
                <a:ea typeface="DejaVu Sans"/>
              </a:rPr>
              <a:t>…</a:t>
            </a:r>
            <a:endParaRPr lang="en-US" altLang="zh-TW" sz="2600" b="0" strike="noStrike" spc="-1" dirty="0"/>
          </a:p>
        </p:txBody>
      </p:sp>
    </p:spTree>
    <p:extLst>
      <p:ext uri="{BB962C8B-B14F-4D97-AF65-F5344CB8AC3E}">
        <p14:creationId xmlns:p14="http://schemas.microsoft.com/office/powerpoint/2010/main" val="2925581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660431-0318-4513-B63A-378078286AE4}"/>
              </a:ext>
            </a:extLst>
          </p:cNvPr>
          <p:cNvSpPr>
            <a:spLocks noGrp="1"/>
          </p:cNvSpPr>
          <p:nvPr>
            <p:ph type="title"/>
          </p:nvPr>
        </p:nvSpPr>
        <p:spPr/>
        <p:txBody>
          <a:bodyPr/>
          <a:lstStyle/>
          <a:p>
            <a:r>
              <a:rPr lang="en-US" altLang="zh-TW" dirty="0"/>
              <a:t>Meta-Data Files – tools_def.txt</a:t>
            </a:r>
            <a:endParaRPr lang="zh-TW" altLang="en-US" dirty="0"/>
          </a:p>
        </p:txBody>
      </p:sp>
      <p:sp>
        <p:nvSpPr>
          <p:cNvPr id="3" name="內容版面配置區 2">
            <a:extLst>
              <a:ext uri="{FF2B5EF4-FFF2-40B4-BE49-F238E27FC236}">
                <a16:creationId xmlns:a16="http://schemas.microsoft.com/office/drawing/2014/main" id="{6DF2BF58-2093-487C-9751-4C260D51BA65}"/>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400" b="0" strike="noStrike" spc="-1" dirty="0">
                <a:solidFill>
                  <a:srgbClr val="3F3F3F"/>
                </a:solidFill>
              </a:rPr>
              <a:t>Provide multiple tool chain support</a:t>
            </a:r>
            <a:endParaRPr lang="en-US" altLang="zh-TW" sz="2400" b="0" strike="noStrike" spc="-1" dirty="0"/>
          </a:p>
          <a:p>
            <a:pPr marL="228600" indent="-227880">
              <a:lnSpc>
                <a:spcPct val="90000"/>
              </a:lnSpc>
              <a:spcBef>
                <a:spcPts val="1001"/>
              </a:spcBef>
              <a:buClr>
                <a:srgbClr val="3F3F3F"/>
              </a:buClr>
              <a:buFont typeface="Arial"/>
              <a:buChar char="•"/>
            </a:pPr>
            <a:r>
              <a:rPr lang="en-US" altLang="zh-TW" sz="2400" b="0" strike="noStrike" spc="-1" dirty="0">
                <a:solidFill>
                  <a:srgbClr val="3F3F3F"/>
                </a:solidFill>
              </a:rPr>
              <a:t>Define the location of tool chains and tool flags</a:t>
            </a:r>
            <a:endParaRPr lang="en-US" altLang="zh-TW" sz="2400" b="0" strike="noStrike" spc="-1" dirty="0"/>
          </a:p>
          <a:p>
            <a:pPr marL="228600" indent="-227880">
              <a:lnSpc>
                <a:spcPct val="90000"/>
              </a:lnSpc>
              <a:spcBef>
                <a:spcPts val="1001"/>
              </a:spcBef>
              <a:buClr>
                <a:srgbClr val="3F3F3F"/>
              </a:buClr>
              <a:buFont typeface="Arial"/>
              <a:buChar char="•"/>
            </a:pPr>
            <a:r>
              <a:rPr lang="en-US" altLang="zh-TW" sz="2400" b="0" strike="noStrike" spc="-1" dirty="0">
                <a:solidFill>
                  <a:srgbClr val="3F3F3F"/>
                </a:solidFill>
              </a:rPr>
              <a:t>Each tool chain can have its own profile</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r>
              <a:rPr lang="en-US" altLang="zh-TW" sz="2400" b="0" strike="noStrike" spc="-1" dirty="0">
                <a:solidFill>
                  <a:srgbClr val="3F3F3F"/>
                </a:solidFill>
                <a:ea typeface="DejaVu Sans"/>
              </a:rPr>
              <a:t>TARGET_TOOLCHAIN_ARCH_COMMANDTYPE_ATTRIBUTE = &lt;string&gt;</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endParaRPr lang="en-US" altLang="zh-TW" sz="2400" b="0" strike="noStrike" spc="-1" dirty="0"/>
          </a:p>
        </p:txBody>
      </p:sp>
      <p:grpSp>
        <p:nvGrpSpPr>
          <p:cNvPr id="19" name="群組 18">
            <a:extLst>
              <a:ext uri="{FF2B5EF4-FFF2-40B4-BE49-F238E27FC236}">
                <a16:creationId xmlns:a16="http://schemas.microsoft.com/office/drawing/2014/main" id="{0A1B900C-4187-4A19-ABA9-1B929F6C5D20}"/>
              </a:ext>
            </a:extLst>
          </p:cNvPr>
          <p:cNvGrpSpPr/>
          <p:nvPr/>
        </p:nvGrpSpPr>
        <p:grpSpPr>
          <a:xfrm>
            <a:off x="1141044" y="3254011"/>
            <a:ext cx="7717730" cy="2066810"/>
            <a:chOff x="990042" y="3505680"/>
            <a:chExt cx="7717730" cy="2066810"/>
          </a:xfrm>
        </p:grpSpPr>
        <p:sp>
          <p:nvSpPr>
            <p:cNvPr id="4" name="CustomShape 3">
              <a:extLst>
                <a:ext uri="{FF2B5EF4-FFF2-40B4-BE49-F238E27FC236}">
                  <a16:creationId xmlns:a16="http://schemas.microsoft.com/office/drawing/2014/main" id="{1D45DD85-AFA4-481E-8C40-149EACD28EF8}"/>
                </a:ext>
              </a:extLst>
            </p:cNvPr>
            <p:cNvSpPr/>
            <p:nvPr/>
          </p:nvSpPr>
          <p:spPr>
            <a:xfrm>
              <a:off x="990042" y="3505680"/>
              <a:ext cx="1071318" cy="358200"/>
            </a:xfrm>
            <a:prstGeom prst="rect">
              <a:avLst/>
            </a:prstGeom>
            <a:noFill/>
            <a:ln w="28440" cap="rnd">
              <a:solidFill>
                <a:srgbClr val="FF0000"/>
              </a:solidFill>
              <a:custDash>
                <a:ds d="400000" sp="300000"/>
              </a:custDash>
              <a:miter/>
            </a:ln>
          </p:spPr>
          <p:style>
            <a:lnRef idx="0">
              <a:scrgbClr r="0" g="0" b="0"/>
            </a:lnRef>
            <a:fillRef idx="0">
              <a:scrgbClr r="0" g="0" b="0"/>
            </a:fillRef>
            <a:effectRef idx="0">
              <a:scrgbClr r="0" g="0" b="0"/>
            </a:effectRef>
            <a:fontRef idx="minor"/>
          </p:style>
        </p:sp>
        <p:sp>
          <p:nvSpPr>
            <p:cNvPr id="5" name="CustomShape 4">
              <a:extLst>
                <a:ext uri="{FF2B5EF4-FFF2-40B4-BE49-F238E27FC236}">
                  <a16:creationId xmlns:a16="http://schemas.microsoft.com/office/drawing/2014/main" id="{0F586B3E-EB7A-4236-8599-C8A62D54F5BD}"/>
                </a:ext>
              </a:extLst>
            </p:cNvPr>
            <p:cNvSpPr/>
            <p:nvPr/>
          </p:nvSpPr>
          <p:spPr>
            <a:xfrm>
              <a:off x="3938561" y="3505680"/>
              <a:ext cx="807809" cy="358200"/>
            </a:xfrm>
            <a:prstGeom prst="rect">
              <a:avLst/>
            </a:prstGeom>
            <a:noFill/>
            <a:ln w="28440" cap="rnd">
              <a:solidFill>
                <a:srgbClr val="FF0000"/>
              </a:solidFill>
              <a:custDash>
                <a:ds d="400000" sp="300000"/>
              </a:custDash>
              <a:miter/>
            </a:ln>
          </p:spPr>
          <p:style>
            <a:lnRef idx="0">
              <a:scrgbClr r="0" g="0" b="0"/>
            </a:lnRef>
            <a:fillRef idx="0">
              <a:scrgbClr r="0" g="0" b="0"/>
            </a:fillRef>
            <a:effectRef idx="0">
              <a:scrgbClr r="0" g="0" b="0"/>
            </a:effectRef>
            <a:fontRef idx="minor"/>
          </p:style>
        </p:sp>
        <p:sp>
          <p:nvSpPr>
            <p:cNvPr id="6" name="CustomShape 5">
              <a:extLst>
                <a:ext uri="{FF2B5EF4-FFF2-40B4-BE49-F238E27FC236}">
                  <a16:creationId xmlns:a16="http://schemas.microsoft.com/office/drawing/2014/main" id="{E6A3B52D-8A11-4C7B-BC89-C0AB7C085D47}"/>
                </a:ext>
              </a:extLst>
            </p:cNvPr>
            <p:cNvSpPr/>
            <p:nvPr/>
          </p:nvSpPr>
          <p:spPr>
            <a:xfrm>
              <a:off x="4834384" y="3505680"/>
              <a:ext cx="2292466" cy="358200"/>
            </a:xfrm>
            <a:prstGeom prst="rect">
              <a:avLst/>
            </a:prstGeom>
            <a:noFill/>
            <a:ln w="28440" cap="rnd">
              <a:solidFill>
                <a:srgbClr val="FF0000"/>
              </a:solidFill>
              <a:custDash>
                <a:ds d="400000" sp="300000"/>
              </a:custDash>
              <a:miter/>
            </a:ln>
          </p:spPr>
          <p:style>
            <a:lnRef idx="0">
              <a:scrgbClr r="0" g="0" b="0"/>
            </a:lnRef>
            <a:fillRef idx="0">
              <a:scrgbClr r="0" g="0" b="0"/>
            </a:fillRef>
            <a:effectRef idx="0">
              <a:scrgbClr r="0" g="0" b="0"/>
            </a:effectRef>
            <a:fontRef idx="minor"/>
          </p:style>
        </p:sp>
        <p:sp>
          <p:nvSpPr>
            <p:cNvPr id="7" name="CustomShape 6">
              <a:extLst>
                <a:ext uri="{FF2B5EF4-FFF2-40B4-BE49-F238E27FC236}">
                  <a16:creationId xmlns:a16="http://schemas.microsoft.com/office/drawing/2014/main" id="{6B9E198C-56A2-4AE7-8F70-D9343A7E5FAC}"/>
                </a:ext>
              </a:extLst>
            </p:cNvPr>
            <p:cNvSpPr/>
            <p:nvPr/>
          </p:nvSpPr>
          <p:spPr>
            <a:xfrm>
              <a:off x="7214864" y="3515040"/>
              <a:ext cx="1492908" cy="358200"/>
            </a:xfrm>
            <a:prstGeom prst="rect">
              <a:avLst/>
            </a:prstGeom>
            <a:noFill/>
            <a:ln w="28440" cap="rnd">
              <a:solidFill>
                <a:srgbClr val="FF0000"/>
              </a:solidFill>
              <a:custDash>
                <a:ds d="400000" sp="300000"/>
              </a:custDash>
              <a:miter/>
            </a:ln>
          </p:spPr>
          <p:style>
            <a:lnRef idx="0">
              <a:scrgbClr r="0" g="0" b="0"/>
            </a:lnRef>
            <a:fillRef idx="0">
              <a:scrgbClr r="0" g="0" b="0"/>
            </a:fillRef>
            <a:effectRef idx="0">
              <a:scrgbClr r="0" g="0" b="0"/>
            </a:effectRef>
            <a:fontRef idx="minor"/>
          </p:style>
        </p:sp>
        <p:sp>
          <p:nvSpPr>
            <p:cNvPr id="8" name="CustomShape 7">
              <a:extLst>
                <a:ext uri="{FF2B5EF4-FFF2-40B4-BE49-F238E27FC236}">
                  <a16:creationId xmlns:a16="http://schemas.microsoft.com/office/drawing/2014/main" id="{A1CCE625-A9AB-476E-9A06-36FCD525E7D3}"/>
                </a:ext>
              </a:extLst>
            </p:cNvPr>
            <p:cNvSpPr/>
            <p:nvPr/>
          </p:nvSpPr>
          <p:spPr>
            <a:xfrm>
              <a:off x="2166152" y="3505680"/>
              <a:ext cx="1667617" cy="358200"/>
            </a:xfrm>
            <a:prstGeom prst="rect">
              <a:avLst/>
            </a:prstGeom>
            <a:noFill/>
            <a:ln w="28440" cap="rnd">
              <a:solidFill>
                <a:srgbClr val="FF0000"/>
              </a:solidFill>
              <a:custDash>
                <a:ds d="400000" sp="300000"/>
              </a:custDash>
              <a:miter/>
            </a:ln>
          </p:spPr>
          <p:style>
            <a:lnRef idx="0">
              <a:scrgbClr r="0" g="0" b="0"/>
            </a:lnRef>
            <a:fillRef idx="0">
              <a:scrgbClr r="0" g="0" b="0"/>
            </a:fillRef>
            <a:effectRef idx="0">
              <a:scrgbClr r="0" g="0" b="0"/>
            </a:effectRef>
            <a:fontRef idx="minor"/>
          </p:style>
        </p:sp>
        <p:sp>
          <p:nvSpPr>
            <p:cNvPr id="9" name="Line 8">
              <a:extLst>
                <a:ext uri="{FF2B5EF4-FFF2-40B4-BE49-F238E27FC236}">
                  <a16:creationId xmlns:a16="http://schemas.microsoft.com/office/drawing/2014/main" id="{860C0F5E-BD98-4A38-BD8A-42D2D8F92108}"/>
                </a:ext>
              </a:extLst>
            </p:cNvPr>
            <p:cNvSpPr/>
            <p:nvPr/>
          </p:nvSpPr>
          <p:spPr>
            <a:xfrm flipH="1">
              <a:off x="1523880" y="3901320"/>
              <a:ext cx="10080" cy="388080"/>
            </a:xfrm>
            <a:prstGeom prst="line">
              <a:avLst/>
            </a:prstGeom>
            <a:ln w="28440">
              <a:solidFill>
                <a:srgbClr val="FF0000"/>
              </a:solidFill>
              <a:miter/>
              <a:tailEnd type="triangle" w="med" len="med"/>
            </a:ln>
          </p:spPr>
          <p:style>
            <a:lnRef idx="0">
              <a:scrgbClr r="0" g="0" b="0"/>
            </a:lnRef>
            <a:fillRef idx="0">
              <a:scrgbClr r="0" g="0" b="0"/>
            </a:fillRef>
            <a:effectRef idx="0">
              <a:scrgbClr r="0" g="0" b="0"/>
            </a:effectRef>
            <a:fontRef idx="minor"/>
          </p:style>
        </p:sp>
        <p:sp>
          <p:nvSpPr>
            <p:cNvPr id="10" name="CustomShape 9">
              <a:extLst>
                <a:ext uri="{FF2B5EF4-FFF2-40B4-BE49-F238E27FC236}">
                  <a16:creationId xmlns:a16="http://schemas.microsoft.com/office/drawing/2014/main" id="{50C064CC-5B0E-49DE-9553-1E15841FEF1C}"/>
                </a:ext>
              </a:extLst>
            </p:cNvPr>
            <p:cNvSpPr/>
            <p:nvPr/>
          </p:nvSpPr>
          <p:spPr>
            <a:xfrm>
              <a:off x="2485620" y="4171680"/>
              <a:ext cx="1022040" cy="130896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2000" b="0" strike="noStrike" spc="-1" dirty="0">
                  <a:solidFill>
                    <a:srgbClr val="3F3F3F"/>
                  </a:solidFill>
                  <a:ea typeface="DejaVu Sans"/>
                </a:rPr>
                <a:t>VS2015</a:t>
              </a:r>
              <a:endParaRPr lang="en-US" sz="2000" b="0" strike="noStrike" spc="-1" dirty="0"/>
            </a:p>
            <a:p>
              <a:pPr>
                <a:lnSpc>
                  <a:spcPct val="100000"/>
                </a:lnSpc>
              </a:pPr>
              <a:r>
                <a:rPr lang="en-US" sz="2000" b="0" strike="noStrike" spc="-1" dirty="0">
                  <a:solidFill>
                    <a:srgbClr val="3F3F3F"/>
                  </a:solidFill>
                  <a:ea typeface="DejaVu Sans"/>
                </a:rPr>
                <a:t>VS2017</a:t>
              </a:r>
              <a:endParaRPr lang="en-US" sz="2000" b="0" strike="noStrike" spc="-1" dirty="0"/>
            </a:p>
            <a:p>
              <a:pPr>
                <a:lnSpc>
                  <a:spcPct val="100000"/>
                </a:lnSpc>
              </a:pPr>
              <a:r>
                <a:rPr lang="en-US" sz="2000" b="0" strike="noStrike" spc="-1" dirty="0">
                  <a:solidFill>
                    <a:srgbClr val="3F3F3F"/>
                  </a:solidFill>
                  <a:ea typeface="DejaVu Sans"/>
                </a:rPr>
                <a:t>UNIXGCC</a:t>
              </a:r>
              <a:endParaRPr lang="en-US" sz="2000" b="0" strike="noStrike" spc="-1" dirty="0"/>
            </a:p>
            <a:p>
              <a:pPr>
                <a:lnSpc>
                  <a:spcPct val="100000"/>
                </a:lnSpc>
              </a:pPr>
              <a:r>
                <a:rPr lang="en-US" sz="2000" b="0" strike="noStrike" spc="-1" dirty="0">
                  <a:solidFill>
                    <a:srgbClr val="3F3F3F"/>
                  </a:solidFill>
                  <a:ea typeface="DejaVu Sans"/>
                </a:rPr>
                <a:t>DEVTLS</a:t>
              </a:r>
              <a:endParaRPr lang="en-US" sz="2000" b="0" strike="noStrike" spc="-1" dirty="0"/>
            </a:p>
            <a:p>
              <a:pPr>
                <a:lnSpc>
                  <a:spcPct val="100000"/>
                </a:lnSpc>
              </a:pPr>
              <a:r>
                <a:rPr lang="en-US" sz="2000" b="0" strike="noStrike" spc="-1" dirty="0">
                  <a:solidFill>
                    <a:srgbClr val="3F3F3F"/>
                  </a:solidFill>
                  <a:ea typeface="DejaVu Sans"/>
                </a:rPr>
                <a:t>…</a:t>
              </a:r>
              <a:endParaRPr lang="en-US" sz="2000" b="0" strike="noStrike" spc="-1" dirty="0"/>
            </a:p>
          </p:txBody>
        </p:sp>
        <p:sp>
          <p:nvSpPr>
            <p:cNvPr id="11" name="Line 10">
              <a:extLst>
                <a:ext uri="{FF2B5EF4-FFF2-40B4-BE49-F238E27FC236}">
                  <a16:creationId xmlns:a16="http://schemas.microsoft.com/office/drawing/2014/main" id="{95FA4E15-6652-4CB1-A799-F0652C11A46A}"/>
                </a:ext>
              </a:extLst>
            </p:cNvPr>
            <p:cNvSpPr/>
            <p:nvPr/>
          </p:nvSpPr>
          <p:spPr>
            <a:xfrm>
              <a:off x="2998424" y="3911040"/>
              <a:ext cx="1440" cy="287280"/>
            </a:xfrm>
            <a:prstGeom prst="line">
              <a:avLst/>
            </a:prstGeom>
            <a:ln w="28440">
              <a:solidFill>
                <a:srgbClr val="FF0000"/>
              </a:solidFill>
              <a:miter/>
              <a:tailEnd type="triangle" w="med" len="med"/>
            </a:ln>
          </p:spPr>
          <p:style>
            <a:lnRef idx="0">
              <a:scrgbClr r="0" g="0" b="0"/>
            </a:lnRef>
            <a:fillRef idx="0">
              <a:scrgbClr r="0" g="0" b="0"/>
            </a:fillRef>
            <a:effectRef idx="0">
              <a:scrgbClr r="0" g="0" b="0"/>
            </a:effectRef>
            <a:fontRef idx="minor"/>
          </p:style>
        </p:sp>
        <p:sp>
          <p:nvSpPr>
            <p:cNvPr id="12" name="CustomShape 11">
              <a:extLst>
                <a:ext uri="{FF2B5EF4-FFF2-40B4-BE49-F238E27FC236}">
                  <a16:creationId xmlns:a16="http://schemas.microsoft.com/office/drawing/2014/main" id="{0878B8A8-7B97-4B2E-BB78-59CBBF128BF4}"/>
                </a:ext>
              </a:extLst>
            </p:cNvPr>
            <p:cNvSpPr/>
            <p:nvPr/>
          </p:nvSpPr>
          <p:spPr>
            <a:xfrm>
              <a:off x="1052280" y="4289400"/>
              <a:ext cx="944280" cy="578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2000" b="0" strike="noStrike" spc="-1" dirty="0">
                  <a:solidFill>
                    <a:srgbClr val="3F3F3F"/>
                  </a:solidFill>
                  <a:ea typeface="DejaVu Sans"/>
                </a:rPr>
                <a:t>RELEASE</a:t>
              </a:r>
              <a:endParaRPr lang="en-US" sz="2000" b="0" strike="noStrike" spc="-1" dirty="0"/>
            </a:p>
            <a:p>
              <a:pPr>
                <a:lnSpc>
                  <a:spcPct val="100000"/>
                </a:lnSpc>
              </a:pPr>
              <a:r>
                <a:rPr lang="en-US" sz="2000" b="0" strike="noStrike" spc="-1" dirty="0">
                  <a:solidFill>
                    <a:srgbClr val="3F3F3F"/>
                  </a:solidFill>
                  <a:ea typeface="DejaVu Sans"/>
                </a:rPr>
                <a:t>DEBUG</a:t>
              </a:r>
              <a:endParaRPr lang="en-US" sz="2000" b="0" strike="noStrike" spc="-1" dirty="0"/>
            </a:p>
          </p:txBody>
        </p:sp>
        <p:sp>
          <p:nvSpPr>
            <p:cNvPr id="13" name="CustomShape 12">
              <a:extLst>
                <a:ext uri="{FF2B5EF4-FFF2-40B4-BE49-F238E27FC236}">
                  <a16:creationId xmlns:a16="http://schemas.microsoft.com/office/drawing/2014/main" id="{DEEA1768-F5C9-405D-AA0E-8F6516348B45}"/>
                </a:ext>
              </a:extLst>
            </p:cNvPr>
            <p:cNvSpPr/>
            <p:nvPr/>
          </p:nvSpPr>
          <p:spPr>
            <a:xfrm>
              <a:off x="4122400" y="4155840"/>
              <a:ext cx="560160" cy="1157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2000" b="0" strike="noStrike" spc="-1" dirty="0">
                  <a:solidFill>
                    <a:srgbClr val="3F3F3F"/>
                  </a:solidFill>
                  <a:ea typeface="DejaVu Sans"/>
                </a:rPr>
                <a:t>IA32</a:t>
              </a:r>
              <a:endParaRPr lang="en-US" sz="2000" b="0" strike="noStrike" spc="-1" dirty="0"/>
            </a:p>
            <a:p>
              <a:pPr>
                <a:lnSpc>
                  <a:spcPct val="100000"/>
                </a:lnSpc>
              </a:pPr>
              <a:r>
                <a:rPr lang="en-US" sz="2000" b="0" strike="noStrike" spc="-1" dirty="0">
                  <a:solidFill>
                    <a:srgbClr val="3F3F3F"/>
                  </a:solidFill>
                  <a:ea typeface="DejaVu Sans"/>
                </a:rPr>
                <a:t>X64</a:t>
              </a:r>
              <a:endParaRPr lang="en-US" sz="2000" b="0" strike="noStrike" spc="-1" dirty="0"/>
            </a:p>
            <a:p>
              <a:pPr>
                <a:lnSpc>
                  <a:spcPct val="100000"/>
                </a:lnSpc>
              </a:pPr>
              <a:r>
                <a:rPr lang="en-US" sz="2000" b="0" strike="noStrike" spc="-1" dirty="0">
                  <a:solidFill>
                    <a:srgbClr val="3F3F3F"/>
                  </a:solidFill>
                  <a:ea typeface="DejaVu Sans"/>
                </a:rPr>
                <a:t>IPF</a:t>
              </a:r>
              <a:endParaRPr lang="en-US" sz="2000" b="0" strike="noStrike" spc="-1" dirty="0"/>
            </a:p>
            <a:p>
              <a:pPr>
                <a:lnSpc>
                  <a:spcPct val="100000"/>
                </a:lnSpc>
              </a:pPr>
              <a:r>
                <a:rPr lang="en-US" sz="2000" b="0" strike="noStrike" spc="-1" dirty="0">
                  <a:solidFill>
                    <a:srgbClr val="3F3F3F"/>
                  </a:solidFill>
                  <a:ea typeface="DejaVu Sans"/>
                </a:rPr>
                <a:t>ARM</a:t>
              </a:r>
              <a:endParaRPr lang="en-US" sz="2000" b="0" strike="noStrike" spc="-1" dirty="0"/>
            </a:p>
            <a:p>
              <a:pPr>
                <a:lnSpc>
                  <a:spcPct val="100000"/>
                </a:lnSpc>
              </a:pPr>
              <a:r>
                <a:rPr lang="en-US" sz="2000" b="0" strike="noStrike" spc="-1" dirty="0">
                  <a:solidFill>
                    <a:srgbClr val="3F3F3F"/>
                  </a:solidFill>
                  <a:ea typeface="DejaVu Sans"/>
                </a:rPr>
                <a:t>…</a:t>
              </a:r>
              <a:endParaRPr lang="en-US" sz="2000" b="0" strike="noStrike" spc="-1" dirty="0"/>
            </a:p>
          </p:txBody>
        </p:sp>
        <p:sp>
          <p:nvSpPr>
            <p:cNvPr id="14" name="Line 13">
              <a:extLst>
                <a:ext uri="{FF2B5EF4-FFF2-40B4-BE49-F238E27FC236}">
                  <a16:creationId xmlns:a16="http://schemas.microsoft.com/office/drawing/2014/main" id="{ED55D47A-86BA-4E56-AE64-A72A3DD6D635}"/>
                </a:ext>
              </a:extLst>
            </p:cNvPr>
            <p:cNvSpPr/>
            <p:nvPr/>
          </p:nvSpPr>
          <p:spPr>
            <a:xfrm>
              <a:off x="4402480" y="3915386"/>
              <a:ext cx="1800" cy="287280"/>
            </a:xfrm>
            <a:prstGeom prst="line">
              <a:avLst/>
            </a:prstGeom>
            <a:ln w="28440">
              <a:solidFill>
                <a:srgbClr val="FF0000"/>
              </a:solidFill>
              <a:miter/>
              <a:tailEnd type="triangle" w="med" len="med"/>
            </a:ln>
          </p:spPr>
          <p:style>
            <a:lnRef idx="0">
              <a:scrgbClr r="0" g="0" b="0"/>
            </a:lnRef>
            <a:fillRef idx="0">
              <a:scrgbClr r="0" g="0" b="0"/>
            </a:fillRef>
            <a:effectRef idx="0">
              <a:scrgbClr r="0" g="0" b="0"/>
            </a:effectRef>
            <a:fontRef idx="minor"/>
          </p:style>
        </p:sp>
        <p:sp>
          <p:nvSpPr>
            <p:cNvPr id="15" name="CustomShape 14">
              <a:extLst>
                <a:ext uri="{FF2B5EF4-FFF2-40B4-BE49-F238E27FC236}">
                  <a16:creationId xmlns:a16="http://schemas.microsoft.com/office/drawing/2014/main" id="{A8243164-E404-4BEB-9A8E-AF123DAEECF5}"/>
                </a:ext>
              </a:extLst>
            </p:cNvPr>
            <p:cNvSpPr/>
            <p:nvPr/>
          </p:nvSpPr>
          <p:spPr>
            <a:xfrm>
              <a:off x="5636637" y="4201610"/>
              <a:ext cx="685080" cy="137088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2000" b="0" strike="noStrike" spc="-1" dirty="0">
                  <a:solidFill>
                    <a:srgbClr val="3F3F3F"/>
                  </a:solidFill>
                  <a:ea typeface="DejaVu Sans"/>
                </a:rPr>
                <a:t>CC</a:t>
              </a:r>
              <a:endParaRPr lang="en-US" sz="2000" b="0" strike="noStrike" spc="-1" dirty="0"/>
            </a:p>
            <a:p>
              <a:pPr>
                <a:lnSpc>
                  <a:spcPct val="100000"/>
                </a:lnSpc>
              </a:pPr>
              <a:r>
                <a:rPr lang="en-US" sz="2000" b="0" strike="noStrike" spc="-1" dirty="0">
                  <a:solidFill>
                    <a:srgbClr val="3F3F3F"/>
                  </a:solidFill>
                  <a:ea typeface="DejaVu Sans"/>
                </a:rPr>
                <a:t>ASM</a:t>
              </a:r>
              <a:endParaRPr lang="en-US" sz="2000" b="0" strike="noStrike" spc="-1" dirty="0"/>
            </a:p>
            <a:p>
              <a:pPr>
                <a:lnSpc>
                  <a:spcPct val="100000"/>
                </a:lnSpc>
              </a:pPr>
              <a:r>
                <a:rPr lang="en-US" sz="2000" b="0" strike="noStrike" spc="-1" dirty="0">
                  <a:solidFill>
                    <a:srgbClr val="3F3F3F"/>
                  </a:solidFill>
                  <a:ea typeface="DejaVu Sans"/>
                </a:rPr>
                <a:t>MAKE</a:t>
              </a:r>
              <a:endParaRPr lang="en-US" sz="2000" b="0" strike="noStrike" spc="-1" dirty="0"/>
            </a:p>
            <a:p>
              <a:pPr>
                <a:lnSpc>
                  <a:spcPct val="100000"/>
                </a:lnSpc>
              </a:pPr>
              <a:r>
                <a:rPr lang="en-US" sz="2000" b="0" strike="noStrike" spc="-1" dirty="0">
                  <a:solidFill>
                    <a:srgbClr val="3F3F3F"/>
                  </a:solidFill>
                  <a:ea typeface="DejaVu Sans"/>
                </a:rPr>
                <a:t>VFRPP</a:t>
              </a:r>
              <a:endParaRPr lang="en-US" sz="2000" b="0" strike="noStrike" spc="-1" dirty="0"/>
            </a:p>
            <a:p>
              <a:pPr>
                <a:lnSpc>
                  <a:spcPct val="100000"/>
                </a:lnSpc>
              </a:pPr>
              <a:r>
                <a:rPr lang="en-US" sz="2000" b="0" strike="noStrike" spc="-1" dirty="0">
                  <a:solidFill>
                    <a:srgbClr val="3F3F3F"/>
                  </a:solidFill>
                  <a:ea typeface="DejaVu Sans"/>
                </a:rPr>
                <a:t>ASLCC</a:t>
              </a:r>
              <a:endParaRPr lang="en-US" sz="2000" b="0" strike="noStrike" spc="-1" dirty="0"/>
            </a:p>
            <a:p>
              <a:pPr>
                <a:lnSpc>
                  <a:spcPct val="100000"/>
                </a:lnSpc>
              </a:pPr>
              <a:r>
                <a:rPr lang="en-US" sz="2000" b="0" strike="noStrike" spc="-1" dirty="0">
                  <a:solidFill>
                    <a:srgbClr val="3F3F3F"/>
                  </a:solidFill>
                  <a:ea typeface="DejaVu Sans"/>
                </a:rPr>
                <a:t>…</a:t>
              </a:r>
              <a:endParaRPr lang="en-US" sz="2000" b="0" strike="noStrike" spc="-1" dirty="0"/>
            </a:p>
          </p:txBody>
        </p:sp>
        <p:sp>
          <p:nvSpPr>
            <p:cNvPr id="16" name="Line 15">
              <a:extLst>
                <a:ext uri="{FF2B5EF4-FFF2-40B4-BE49-F238E27FC236}">
                  <a16:creationId xmlns:a16="http://schemas.microsoft.com/office/drawing/2014/main" id="{A5AC7E4D-C657-4553-88FC-BA39F2BE884A}"/>
                </a:ext>
              </a:extLst>
            </p:cNvPr>
            <p:cNvSpPr/>
            <p:nvPr/>
          </p:nvSpPr>
          <p:spPr>
            <a:xfrm>
              <a:off x="5979177" y="3915664"/>
              <a:ext cx="1440" cy="287280"/>
            </a:xfrm>
            <a:prstGeom prst="line">
              <a:avLst/>
            </a:prstGeom>
            <a:ln w="28440">
              <a:solidFill>
                <a:srgbClr val="FF0000"/>
              </a:solidFill>
              <a:miter/>
              <a:tailEnd type="triangle" w="med" len="med"/>
            </a:ln>
          </p:spPr>
          <p:style>
            <a:lnRef idx="0">
              <a:scrgbClr r="0" g="0" b="0"/>
            </a:lnRef>
            <a:fillRef idx="0">
              <a:scrgbClr r="0" g="0" b="0"/>
            </a:fillRef>
            <a:effectRef idx="0">
              <a:scrgbClr r="0" g="0" b="0"/>
            </a:effectRef>
            <a:fontRef idx="minor"/>
          </p:style>
        </p:sp>
        <p:sp>
          <p:nvSpPr>
            <p:cNvPr id="17" name="CustomShape 16">
              <a:extLst>
                <a:ext uri="{FF2B5EF4-FFF2-40B4-BE49-F238E27FC236}">
                  <a16:creationId xmlns:a16="http://schemas.microsoft.com/office/drawing/2014/main" id="{D246433D-DB35-43F7-8438-AE5CE90AF7A1}"/>
                </a:ext>
              </a:extLst>
            </p:cNvPr>
            <p:cNvSpPr/>
            <p:nvPr/>
          </p:nvSpPr>
          <p:spPr>
            <a:xfrm>
              <a:off x="7587458" y="4200672"/>
              <a:ext cx="747720" cy="115776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2000" b="0" strike="noStrike" spc="-1" dirty="0">
                  <a:solidFill>
                    <a:srgbClr val="3F3F3F"/>
                  </a:solidFill>
                  <a:ea typeface="DejaVu Sans"/>
                </a:rPr>
                <a:t>FLAGS</a:t>
              </a:r>
              <a:endParaRPr lang="en-US" sz="2000" b="0" strike="noStrike" spc="-1" dirty="0"/>
            </a:p>
            <a:p>
              <a:pPr>
                <a:lnSpc>
                  <a:spcPct val="100000"/>
                </a:lnSpc>
              </a:pPr>
              <a:r>
                <a:rPr lang="en-US" sz="2000" b="0" strike="noStrike" spc="-1" dirty="0">
                  <a:solidFill>
                    <a:srgbClr val="3F3F3F"/>
                  </a:solidFill>
                  <a:ea typeface="DejaVu Sans"/>
                </a:rPr>
                <a:t>PATH</a:t>
              </a:r>
              <a:endParaRPr lang="en-US" sz="2000" b="0" strike="noStrike" spc="-1" dirty="0"/>
            </a:p>
            <a:p>
              <a:pPr>
                <a:lnSpc>
                  <a:spcPct val="100000"/>
                </a:lnSpc>
              </a:pPr>
              <a:r>
                <a:rPr lang="en-US" sz="2000" b="0" strike="noStrike" spc="-1" dirty="0">
                  <a:solidFill>
                    <a:srgbClr val="3F3F3F"/>
                  </a:solidFill>
                  <a:ea typeface="DejaVu Sans"/>
                </a:rPr>
                <a:t>FAMILY</a:t>
              </a:r>
              <a:endParaRPr lang="en-US" sz="2000" b="0" strike="noStrike" spc="-1" dirty="0"/>
            </a:p>
            <a:p>
              <a:pPr>
                <a:lnSpc>
                  <a:spcPct val="100000"/>
                </a:lnSpc>
              </a:pPr>
              <a:r>
                <a:rPr lang="en-US" sz="2000" b="0" strike="noStrike" spc="-1" dirty="0">
                  <a:solidFill>
                    <a:srgbClr val="3F3F3F"/>
                  </a:solidFill>
                  <a:ea typeface="DejaVu Sans"/>
                </a:rPr>
                <a:t>DLL</a:t>
              </a:r>
              <a:endParaRPr lang="en-US" sz="2000" b="0" strike="noStrike" spc="-1" dirty="0"/>
            </a:p>
            <a:p>
              <a:pPr>
                <a:lnSpc>
                  <a:spcPct val="100000"/>
                </a:lnSpc>
              </a:pPr>
              <a:r>
                <a:rPr lang="en-US" sz="2000" b="0" strike="noStrike" spc="-1" dirty="0">
                  <a:solidFill>
                    <a:srgbClr val="3F3F3F"/>
                  </a:solidFill>
                  <a:ea typeface="DejaVu Sans"/>
                </a:rPr>
                <a:t>…</a:t>
              </a:r>
              <a:endParaRPr lang="en-US" sz="2000" b="0" strike="noStrike" spc="-1" dirty="0"/>
            </a:p>
          </p:txBody>
        </p:sp>
        <p:sp>
          <p:nvSpPr>
            <p:cNvPr id="18" name="Line 17">
              <a:extLst>
                <a:ext uri="{FF2B5EF4-FFF2-40B4-BE49-F238E27FC236}">
                  <a16:creationId xmlns:a16="http://schemas.microsoft.com/office/drawing/2014/main" id="{54E2190D-B10A-44C2-8F39-EDAC2A1B4D24}"/>
                </a:ext>
              </a:extLst>
            </p:cNvPr>
            <p:cNvSpPr/>
            <p:nvPr/>
          </p:nvSpPr>
          <p:spPr>
            <a:xfrm>
              <a:off x="7961318" y="3911040"/>
              <a:ext cx="1800" cy="287280"/>
            </a:xfrm>
            <a:prstGeom prst="line">
              <a:avLst/>
            </a:prstGeom>
            <a:ln w="28440">
              <a:solidFill>
                <a:srgbClr val="FF0000"/>
              </a:solidFill>
              <a:miter/>
              <a:tailEnd type="triangle" w="med" len="me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214208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660431-0318-4513-B63A-378078286AE4}"/>
              </a:ext>
            </a:extLst>
          </p:cNvPr>
          <p:cNvSpPr>
            <a:spLocks noGrp="1"/>
          </p:cNvSpPr>
          <p:nvPr>
            <p:ph type="title"/>
          </p:nvPr>
        </p:nvSpPr>
        <p:spPr/>
        <p:txBody>
          <a:bodyPr/>
          <a:lstStyle/>
          <a:p>
            <a:r>
              <a:rPr lang="en-US" altLang="zh-TW" dirty="0"/>
              <a:t>Meta-Data Files – tools_def.txt</a:t>
            </a:r>
            <a:endParaRPr lang="zh-TW" altLang="en-US" dirty="0"/>
          </a:p>
        </p:txBody>
      </p:sp>
      <p:sp>
        <p:nvSpPr>
          <p:cNvPr id="3" name="內容版面配置區 2">
            <a:extLst>
              <a:ext uri="{FF2B5EF4-FFF2-40B4-BE49-F238E27FC236}">
                <a16:creationId xmlns:a16="http://schemas.microsoft.com/office/drawing/2014/main" id="{6DF2BF58-2093-487C-9751-4C260D51BA65}"/>
              </a:ext>
            </a:extLst>
          </p:cNvPr>
          <p:cNvSpPr>
            <a:spLocks noGrp="1"/>
          </p:cNvSpPr>
          <p:nvPr>
            <p:ph idx="1"/>
          </p:nvPr>
        </p:nvSpPr>
        <p:spPr/>
        <p:txBody>
          <a:bodyPr>
            <a:normAutofit fontScale="47500" lnSpcReduction="20000"/>
          </a:bodyPr>
          <a:lstStyle/>
          <a:p>
            <a:pPr marL="228600" indent="-227880">
              <a:lnSpc>
                <a:spcPct val="90000"/>
              </a:lnSpc>
              <a:spcBef>
                <a:spcPts val="1001"/>
              </a:spcBef>
              <a:buClr>
                <a:srgbClr val="3F3F3F"/>
              </a:buClr>
              <a:buFont typeface="Arial"/>
              <a:buChar char="•"/>
            </a:pPr>
            <a:r>
              <a:rPr lang="en-US" altLang="zh-TW" sz="6600" b="0" strike="noStrike" spc="-1" dirty="0">
                <a:solidFill>
                  <a:srgbClr val="3F3F3F"/>
                </a:solidFill>
              </a:rPr>
              <a:t>Record Statement Parsing Priority</a:t>
            </a:r>
            <a:endParaRPr lang="en-US" altLang="zh-TW" sz="66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TARGET_TOOLCHAIN_ARCH_COMMANDTYPE_ATTRIBUTE (Highest)</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******_TOOLCHAIN_ARCH_COMMANDTYPE_ATTRIBUTE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TARGET_*********_ARCH_COMMANDTYPE_ATTRIBUTE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******_*********_ARCH_COMMANDTYPE_ATTRIBUTE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TARGET_TOOLCHAIN_****_COMMANDTYPE_ATTRIBUTE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******_TOOLCHAIN_****_COMMANDTYPE_ATTRIBUTE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TARGET_*********_****_COMMANDTYPE_ATTRIBUTE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******_*********_****_COMMANDTYPE_ATTRIBUTE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TARGET_TOOLCHAIN_ARCH_***********_ATTRIBUTE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******_TOOLCHAIN_ARCH_***********_ATTRIBUTE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TARGET_*********_ARCH_***********_ATTRIBUTE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******_*********_ARCH_***********_ATTRIBUTE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TARGET_TOOLCHAIN_****_***********_ATTRIBUTE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******_TOOLCHAIN_****_***********_ATTRIBUTE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TARGET_*********_****_***********_ATTRIBUTE</a:t>
            </a:r>
            <a:endParaRPr lang="en-US" altLang="zh-TW" sz="2400" b="0" strike="noStrike" spc="-1" dirty="0"/>
          </a:p>
          <a:p>
            <a:pPr marL="0" indent="0">
              <a:lnSpc>
                <a:spcPct val="100000"/>
              </a:lnSpc>
              <a:spcBef>
                <a:spcPts val="1001"/>
              </a:spcBef>
              <a:buNone/>
            </a:pPr>
            <a:r>
              <a:rPr lang="en-US" altLang="zh-TW" sz="2400" b="1" strike="noStrike" spc="-1" dirty="0">
                <a:solidFill>
                  <a:srgbClr val="0070C0"/>
                </a:solidFill>
                <a:ea typeface="DejaVu Sans"/>
              </a:rPr>
              <a:t>******_*********_****_***********_ATTRIBUTE (Lowest)</a:t>
            </a:r>
            <a:endParaRPr lang="en-US" altLang="zh-TW" sz="2400" b="0" strike="noStrike" spc="-1" dirty="0"/>
          </a:p>
        </p:txBody>
      </p:sp>
    </p:spTree>
    <p:extLst>
      <p:ext uri="{BB962C8B-B14F-4D97-AF65-F5344CB8AC3E}">
        <p14:creationId xmlns:p14="http://schemas.microsoft.com/office/powerpoint/2010/main" val="948411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660431-0318-4513-B63A-378078286AE4}"/>
              </a:ext>
            </a:extLst>
          </p:cNvPr>
          <p:cNvSpPr>
            <a:spLocks noGrp="1"/>
          </p:cNvSpPr>
          <p:nvPr>
            <p:ph type="title"/>
          </p:nvPr>
        </p:nvSpPr>
        <p:spPr/>
        <p:txBody>
          <a:bodyPr/>
          <a:lstStyle/>
          <a:p>
            <a:r>
              <a:rPr lang="en-US" altLang="zh-TW" dirty="0"/>
              <a:t>Meta-Data Files – build_rule.txt</a:t>
            </a:r>
            <a:endParaRPr lang="zh-TW" altLang="en-US" dirty="0"/>
          </a:p>
        </p:txBody>
      </p:sp>
      <p:sp>
        <p:nvSpPr>
          <p:cNvPr id="3" name="內容版面配置區 2">
            <a:extLst>
              <a:ext uri="{FF2B5EF4-FFF2-40B4-BE49-F238E27FC236}">
                <a16:creationId xmlns:a16="http://schemas.microsoft.com/office/drawing/2014/main" id="{6DF2BF58-2093-487C-9751-4C260D51BA65}"/>
              </a:ext>
            </a:extLst>
          </p:cNvPr>
          <p:cNvSpPr>
            <a:spLocks noGrp="1"/>
          </p:cNvSpPr>
          <p:nvPr>
            <p:ph idx="1"/>
          </p:nvPr>
        </p:nvSpPr>
        <p:spPr/>
        <p:txBody>
          <a:bodyPr>
            <a:normAutofit fontScale="25000" lnSpcReduction="20000"/>
          </a:bodyPr>
          <a:lstStyle/>
          <a:p>
            <a:pPr marL="228600" indent="-227880">
              <a:lnSpc>
                <a:spcPct val="90000"/>
              </a:lnSpc>
              <a:spcBef>
                <a:spcPts val="1001"/>
              </a:spcBef>
              <a:buClr>
                <a:srgbClr val="3F3F3F"/>
              </a:buClr>
              <a:buFont typeface="Arial"/>
              <a:buChar char="•"/>
            </a:pPr>
            <a:r>
              <a:rPr lang="en-US" altLang="zh-TW" sz="8800" b="0" strike="noStrike" spc="-1" dirty="0">
                <a:solidFill>
                  <a:srgbClr val="3F3F3F"/>
                </a:solidFill>
                <a:latin typeface="Segoe UI"/>
              </a:rPr>
              <a:t>Specifies how different format of files are processed</a:t>
            </a:r>
            <a:endParaRPr lang="en-US" altLang="zh-TW" sz="8800" b="0" strike="noStrike" spc="-1" dirty="0">
              <a:latin typeface="Arial"/>
            </a:endParaRPr>
          </a:p>
          <a:p>
            <a:pPr marL="228600" indent="-227880">
              <a:lnSpc>
                <a:spcPct val="90000"/>
              </a:lnSpc>
              <a:spcBef>
                <a:spcPts val="1001"/>
              </a:spcBef>
              <a:buClr>
                <a:srgbClr val="3F3F3F"/>
              </a:buClr>
              <a:buFont typeface="Arial"/>
              <a:buChar char="•"/>
            </a:pPr>
            <a:r>
              <a:rPr lang="en-US" altLang="zh-TW" sz="8800" b="0" strike="noStrike" spc="-1" dirty="0">
                <a:solidFill>
                  <a:srgbClr val="3F3F3F"/>
                </a:solidFill>
                <a:latin typeface="Segoe UI"/>
              </a:rPr>
              <a:t>Provide build rules to create </a:t>
            </a:r>
            <a:r>
              <a:rPr lang="en-US" altLang="zh-TW" sz="8800" b="0" strike="noStrike" spc="-1" dirty="0" err="1">
                <a:solidFill>
                  <a:srgbClr val="3F3F3F"/>
                </a:solidFill>
                <a:latin typeface="Segoe UI"/>
              </a:rPr>
              <a:t>Makefile</a:t>
            </a:r>
            <a:endParaRPr lang="en-US" altLang="zh-TW" sz="88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Syntax</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 &lt;File-Type&gt;[.&lt;Build-Type&gt;][.&lt;Arch&gt;][, &lt;File-Type&gt;[.&lt;Build-Type&gt;][.&lt;Arch&gt;]] "]" &lt;EOL&gt; </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a:t>
            </a:r>
            <a:r>
              <a:rPr lang="en-US" altLang="zh-TW" sz="6600" b="1" strike="noStrike" spc="-1" dirty="0" err="1">
                <a:solidFill>
                  <a:srgbClr val="0070C0"/>
                </a:solidFill>
                <a:latin typeface="Segoe UI"/>
                <a:ea typeface="DejaVu Sans"/>
              </a:rPr>
              <a:t>InputFile</a:t>
            </a:r>
            <a:r>
              <a:rPr lang="en-US" altLang="zh-TW" sz="6600" b="1" strike="noStrike" spc="-1" dirty="0">
                <a:solidFill>
                  <a:srgbClr val="0070C0"/>
                </a:solidFill>
                <a:latin typeface="Segoe UI"/>
                <a:ea typeface="DejaVu Sans"/>
              </a:rPr>
              <a:t>[.&lt;</a:t>
            </a:r>
            <a:r>
              <a:rPr lang="en-US" altLang="zh-TW" sz="6600" b="1" strike="noStrike" spc="-1" dirty="0" err="1">
                <a:solidFill>
                  <a:srgbClr val="0070C0"/>
                </a:solidFill>
                <a:latin typeface="Segoe UI"/>
                <a:ea typeface="DejaVu Sans"/>
              </a:rPr>
              <a:t>ToolChainFamily</a:t>
            </a:r>
            <a:r>
              <a:rPr lang="en-US" altLang="zh-TW" sz="6600" b="1" strike="noStrike" spc="-1" dirty="0">
                <a:solidFill>
                  <a:srgbClr val="0070C0"/>
                </a:solidFill>
                <a:latin typeface="Segoe UI"/>
                <a:ea typeface="DejaVu Sans"/>
              </a:rPr>
              <a:t>&gt;]&gt; &lt;EOL&gt;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(?|*).&lt;File-Extension&gt; [(\n|,) (?|*).&lt;File-Extension&gt;]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a:t>
            </a:r>
            <a:r>
              <a:rPr lang="en-US" altLang="zh-TW" sz="6600" b="1" strike="noStrike" spc="-1" dirty="0" err="1">
                <a:solidFill>
                  <a:srgbClr val="0070C0"/>
                </a:solidFill>
                <a:latin typeface="Segoe UI"/>
                <a:ea typeface="DejaVu Sans"/>
              </a:rPr>
              <a:t>OutputFile</a:t>
            </a:r>
            <a:r>
              <a:rPr lang="en-US" altLang="zh-TW" sz="6600" b="1" strike="noStrike" spc="-1" dirty="0">
                <a:solidFill>
                  <a:srgbClr val="0070C0"/>
                </a:solidFill>
                <a:latin typeface="Segoe UI"/>
                <a:ea typeface="DejaVu Sans"/>
              </a:rPr>
              <a:t>[.&lt;</a:t>
            </a:r>
            <a:r>
              <a:rPr lang="en-US" altLang="zh-TW" sz="6600" b="1" strike="noStrike" spc="-1" dirty="0" err="1">
                <a:solidFill>
                  <a:srgbClr val="0070C0"/>
                </a:solidFill>
                <a:latin typeface="Segoe UI"/>
                <a:ea typeface="DejaVu Sans"/>
              </a:rPr>
              <a:t>ToolChainFamily</a:t>
            </a:r>
            <a:r>
              <a:rPr lang="en-US" altLang="zh-TW" sz="6600" b="1" strike="noStrike" spc="-1" dirty="0">
                <a:solidFill>
                  <a:srgbClr val="0070C0"/>
                </a:solidFill>
                <a:latin typeface="Segoe UI"/>
                <a:ea typeface="DejaVu Sans"/>
              </a:rPr>
              <a:t>&gt;]&gt; &lt;EOL&gt;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a:t>
            </a:r>
            <a:r>
              <a:rPr lang="en-US" altLang="zh-TW" sz="6600" b="1" strike="noStrike" spc="-1" dirty="0" err="1">
                <a:solidFill>
                  <a:srgbClr val="0070C0"/>
                </a:solidFill>
                <a:latin typeface="Segoe UI"/>
                <a:ea typeface="DejaVu Sans"/>
              </a:rPr>
              <a:t>FileFullPath</a:t>
            </a:r>
            <a:r>
              <a:rPr lang="en-US" altLang="zh-TW" sz="6600" b="1" strike="noStrike" spc="-1" dirty="0">
                <a:solidFill>
                  <a:srgbClr val="0070C0"/>
                </a:solidFill>
                <a:latin typeface="Segoe UI"/>
                <a:ea typeface="DejaVu Sans"/>
              </a:rPr>
              <a:t>&gt;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a:t>
            </a:r>
            <a:r>
              <a:rPr lang="en-US" altLang="zh-TW" sz="6600" b="1" strike="noStrike" spc="-1" dirty="0" err="1">
                <a:solidFill>
                  <a:srgbClr val="0070C0"/>
                </a:solidFill>
                <a:latin typeface="Segoe UI"/>
                <a:ea typeface="DejaVu Sans"/>
              </a:rPr>
              <a:t>ExtraDependency</a:t>
            </a:r>
            <a:r>
              <a:rPr lang="en-US" altLang="zh-TW" sz="6600" b="1" strike="noStrike" spc="-1" dirty="0">
                <a:solidFill>
                  <a:srgbClr val="0070C0"/>
                </a:solidFill>
                <a:latin typeface="Segoe UI"/>
                <a:ea typeface="DejaVu Sans"/>
              </a:rPr>
              <a:t>&gt;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a:t>
            </a:r>
            <a:r>
              <a:rPr lang="en-US" altLang="zh-TW" sz="6600" b="1" strike="noStrike" spc="-1" dirty="0" err="1">
                <a:solidFill>
                  <a:srgbClr val="0070C0"/>
                </a:solidFill>
                <a:latin typeface="Segoe UI"/>
                <a:ea typeface="DejaVu Sans"/>
              </a:rPr>
              <a:t>FileFullPath</a:t>
            </a:r>
            <a:r>
              <a:rPr lang="en-US" altLang="zh-TW" sz="6600" b="1" strike="noStrike" spc="-1" dirty="0">
                <a:solidFill>
                  <a:srgbClr val="0070C0"/>
                </a:solidFill>
                <a:latin typeface="Segoe UI"/>
                <a:ea typeface="DejaVu Sans"/>
              </a:rPr>
              <a:t>&gt;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&lt;Command[.&lt;</a:t>
            </a:r>
            <a:r>
              <a:rPr lang="en-US" altLang="zh-TW" sz="6600" b="1" strike="noStrike" spc="-1" dirty="0" err="1">
                <a:solidFill>
                  <a:srgbClr val="0070C0"/>
                </a:solidFill>
                <a:latin typeface="Segoe UI"/>
                <a:ea typeface="DejaVu Sans"/>
              </a:rPr>
              <a:t>ToolChainFamily</a:t>
            </a:r>
            <a:r>
              <a:rPr lang="en-US" altLang="zh-TW" sz="6600" b="1" strike="noStrike" spc="-1" dirty="0">
                <a:solidFill>
                  <a:srgbClr val="0070C0"/>
                </a:solidFill>
                <a:latin typeface="Segoe UI"/>
                <a:ea typeface="DejaVu Sans"/>
              </a:rPr>
              <a:t>&gt;]&gt; &lt;EOL&gt;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&lt;Command1&gt;</a:t>
            </a:r>
            <a:endParaRPr lang="en-US" altLang="zh-TW" sz="6600" b="0" strike="noStrike" spc="-1" dirty="0">
              <a:latin typeface="Arial"/>
            </a:endParaRPr>
          </a:p>
          <a:p>
            <a:pPr marL="0" indent="0">
              <a:lnSpc>
                <a:spcPct val="100000"/>
              </a:lnSpc>
              <a:spcBef>
                <a:spcPts val="1001"/>
              </a:spcBef>
              <a:buNone/>
            </a:pPr>
            <a:r>
              <a:rPr lang="en-US" altLang="zh-TW" sz="6600" b="1" strike="noStrike" spc="-1" dirty="0">
                <a:solidFill>
                  <a:srgbClr val="0070C0"/>
                </a:solidFill>
                <a:latin typeface="Segoe UI"/>
                <a:ea typeface="DejaVu Sans"/>
              </a:rPr>
              <a:t>#       [&lt;Command2&gt;] </a:t>
            </a:r>
            <a:endParaRPr lang="en-US" altLang="zh-TW" sz="6600" b="0" strike="noStrike" spc="-1" dirty="0">
              <a:latin typeface="Arial"/>
            </a:endParaRPr>
          </a:p>
        </p:txBody>
      </p:sp>
    </p:spTree>
    <p:extLst>
      <p:ext uri="{BB962C8B-B14F-4D97-AF65-F5344CB8AC3E}">
        <p14:creationId xmlns:p14="http://schemas.microsoft.com/office/powerpoint/2010/main" val="1034205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26</a:t>
            </a:fld>
            <a:endParaRPr lang="en-US" dirty="0"/>
          </a:p>
        </p:txBody>
      </p:sp>
    </p:spTree>
    <p:extLst>
      <p:ext uri="{BB962C8B-B14F-4D97-AF65-F5344CB8AC3E}">
        <p14:creationId xmlns:p14="http://schemas.microsoft.com/office/powerpoint/2010/main" val="1848910780"/>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7144</TotalTime>
  <Words>1585</Words>
  <Application>Microsoft Office PowerPoint</Application>
  <PresentationFormat>Widescreen</PresentationFormat>
  <Paragraphs>274</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Consolas</vt:lpstr>
      <vt:lpstr>Segoe UI</vt:lpstr>
      <vt:lpstr>Symbol</vt:lpstr>
      <vt:lpstr>Tahoma</vt:lpstr>
      <vt:lpstr>2018 Theme</vt:lpstr>
      <vt:lpstr>Build Environment</vt:lpstr>
      <vt:lpstr>Copyright 2021 Insyde Software Corp., All Rights Reserved.</vt:lpstr>
      <vt:lpstr>Agenda</vt:lpstr>
      <vt:lpstr>Build Tools</vt:lpstr>
      <vt:lpstr>Build Tools</vt:lpstr>
      <vt:lpstr>How to Compile</vt:lpstr>
      <vt:lpstr>How to Compile</vt:lpstr>
      <vt:lpstr>How to Compile</vt:lpstr>
      <vt:lpstr>How to Compile</vt:lpstr>
      <vt:lpstr>How to Compile</vt:lpstr>
      <vt:lpstr>How to Compile</vt:lpstr>
      <vt:lpstr>How to Compile FSP</vt:lpstr>
      <vt:lpstr>How to Compile</vt:lpstr>
      <vt:lpstr>How to Compile</vt:lpstr>
      <vt:lpstr>PreBuild &amp; PostBuild</vt:lpstr>
      <vt:lpstr>PreBuild &amp; PostBuild</vt:lpstr>
      <vt:lpstr>PreBuild &amp; PostBuild</vt:lpstr>
      <vt:lpstr>Build Process</vt:lpstr>
      <vt:lpstr>Build Process</vt:lpstr>
      <vt:lpstr>Meta-Data Files</vt:lpstr>
      <vt:lpstr>Meta-Data Files – target.txt</vt:lpstr>
      <vt:lpstr>Meta-Data Files – target.txt</vt:lpstr>
      <vt:lpstr>Meta-Data Files – tools_def.txt</vt:lpstr>
      <vt:lpstr>Meta-Data Files – tools_def.txt</vt:lpstr>
      <vt:lpstr>Meta-Data Files – build_rule.txt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Junan Yeap</cp:lastModifiedBy>
  <cp:revision>110</cp:revision>
  <dcterms:created xsi:type="dcterms:W3CDTF">2018-02-02T23:50:52Z</dcterms:created>
  <dcterms:modified xsi:type="dcterms:W3CDTF">2022-05-16T00:42:31Z</dcterms:modified>
</cp:coreProperties>
</file>